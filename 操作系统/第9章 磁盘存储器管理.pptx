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8"/>
  </p:notesMasterIdLst>
  <p:sldIdLst>
    <p:sldId id="505" r:id="rId3"/>
    <p:sldId id="312" r:id="rId4"/>
    <p:sldId id="315" r:id="rId5"/>
    <p:sldId id="296" r:id="rId6"/>
    <p:sldId id="444" r:id="rId7"/>
    <p:sldId id="297" r:id="rId8"/>
    <p:sldId id="445" r:id="rId9"/>
    <p:sldId id="447" r:id="rId10"/>
    <p:sldId id="446" r:id="rId11"/>
    <p:sldId id="448" r:id="rId12"/>
    <p:sldId id="450" r:id="rId13"/>
    <p:sldId id="451" r:id="rId14"/>
    <p:sldId id="452" r:id="rId15"/>
    <p:sldId id="453" r:id="rId16"/>
    <p:sldId id="454" r:id="rId17"/>
    <p:sldId id="455" r:id="rId18"/>
    <p:sldId id="319" r:id="rId19"/>
    <p:sldId id="456" r:id="rId20"/>
    <p:sldId id="457" r:id="rId21"/>
    <p:sldId id="506" r:id="rId22"/>
    <p:sldId id="458" r:id="rId23"/>
    <p:sldId id="449" r:id="rId24"/>
    <p:sldId id="461" r:id="rId25"/>
    <p:sldId id="460" r:id="rId26"/>
    <p:sldId id="462" r:id="rId27"/>
    <p:sldId id="463" r:id="rId28"/>
    <p:sldId id="305" r:id="rId29"/>
    <p:sldId id="459" r:id="rId30"/>
    <p:sldId id="464" r:id="rId31"/>
    <p:sldId id="466" r:id="rId32"/>
    <p:sldId id="468" r:id="rId33"/>
    <p:sldId id="467" r:id="rId34"/>
    <p:sldId id="362" r:id="rId35"/>
    <p:sldId id="465" r:id="rId36"/>
    <p:sldId id="300" r:id="rId37"/>
    <p:sldId id="363" r:id="rId38"/>
    <p:sldId id="301" r:id="rId39"/>
    <p:sldId id="470" r:id="rId40"/>
    <p:sldId id="471" r:id="rId41"/>
    <p:sldId id="304" r:id="rId42"/>
    <p:sldId id="469" r:id="rId43"/>
    <p:sldId id="473" r:id="rId44"/>
    <p:sldId id="474" r:id="rId45"/>
    <p:sldId id="472" r:id="rId46"/>
    <p:sldId id="476" r:id="rId47"/>
    <p:sldId id="477" r:id="rId48"/>
    <p:sldId id="370" r:id="rId49"/>
    <p:sldId id="479" r:id="rId50"/>
    <p:sldId id="480" r:id="rId51"/>
    <p:sldId id="478" r:id="rId52"/>
    <p:sldId id="475" r:id="rId53"/>
    <p:sldId id="481" r:id="rId54"/>
    <p:sldId id="482" r:id="rId55"/>
    <p:sldId id="369" r:id="rId56"/>
    <p:sldId id="483" r:id="rId57"/>
    <p:sldId id="484" r:id="rId58"/>
    <p:sldId id="364" r:id="rId59"/>
    <p:sldId id="485" r:id="rId60"/>
    <p:sldId id="486" r:id="rId61"/>
    <p:sldId id="438" r:id="rId62"/>
    <p:sldId id="309" r:id="rId63"/>
    <p:sldId id="487" r:id="rId64"/>
    <p:sldId id="440" r:id="rId65"/>
    <p:sldId id="488" r:id="rId66"/>
    <p:sldId id="489" r:id="rId67"/>
  </p:sldIdLst>
  <p:sldSz cx="12192000" cy="6858000"/>
  <p:notesSz cx="6858000" cy="9144000"/>
  <p:custDataLst>
    <p:tags r:id="rId7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00FF"/>
    <a:srgbClr val="FFC000"/>
    <a:srgbClr val="00005C"/>
    <a:srgbClr val="06D24C"/>
    <a:srgbClr val="035920"/>
    <a:srgbClr val="F6F5F3"/>
    <a:srgbClr val="04862F"/>
    <a:srgbClr val="07DB4E"/>
    <a:srgbClr val="0839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182" autoAdjust="0"/>
  </p:normalViewPr>
  <p:slideViewPr>
    <p:cSldViewPr snapToGrid="0" showGuides="1">
      <p:cViewPr varScale="1">
        <p:scale>
          <a:sx n="114" d="100"/>
          <a:sy n="114" d="100"/>
        </p:scale>
        <p:origin x="-420" y="-108"/>
      </p:cViewPr>
      <p:guideLst>
        <p:guide orient="horz" pos="2160"/>
        <p:guide pos="3840"/>
      </p:guideLst>
    </p:cSldViewPr>
  </p:slid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2" Type="http://schemas.openxmlformats.org/officeDocument/2006/relationships/tags" Target="tags/tag39.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 Target="slides/slide5.xml"/><Relationship Id="rId69" Type="http://schemas.openxmlformats.org/officeDocument/2006/relationships/presProps" Target="presProps.xml"/><Relationship Id="rId68" Type="http://schemas.openxmlformats.org/officeDocument/2006/relationships/notesMaster" Target="notesMasters/notesMaster1.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1.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2.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4.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userDrawn="1">
  <p:cSld name="标题幻灯片">
    <p:bg>
      <p:bgPr>
        <a:solidFill>
          <a:srgbClr val="00002E"/>
        </a:solidFill>
        <a:effectLst/>
      </p:bgPr>
    </p:bg>
    <p:spTree>
      <p:nvGrpSpPr>
        <p:cNvPr id="1" name=""/>
        <p:cNvGrpSpPr/>
        <p:nvPr/>
      </p:nvGrpSpPr>
      <p:grpSpPr>
        <a:xfrm>
          <a:off x="0" y="0"/>
          <a:ext cx="0" cy="0"/>
          <a:chOff x="0" y="0"/>
          <a:chExt cx="0" cy="0"/>
        </a:xfrm>
      </p:grpSpPr>
      <p:sp>
        <p:nvSpPr>
          <p:cNvPr id="8"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23" name="任意多边形: 形状 22"/>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20" name="任意多边形: 形状 19"/>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2" name="文本占位符 13"/>
          <p:cNvSpPr>
            <a:spLocks noGrp="1"/>
          </p:cNvSpPr>
          <p:nvPr>
            <p:ph type="body" sz="quarter" idx="10" hasCustomPrompt="1"/>
          </p:nvPr>
        </p:nvSpPr>
        <p:spPr>
          <a:xfrm>
            <a:off x="669925" y="5306656"/>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3" name="文本占位符 13"/>
          <p:cNvSpPr>
            <a:spLocks noGrp="1"/>
          </p:cNvSpPr>
          <p:nvPr>
            <p:ph type="body" sz="quarter" idx="11" hasCustomPrompt="1"/>
          </p:nvPr>
        </p:nvSpPr>
        <p:spPr>
          <a:xfrm>
            <a:off x="669925" y="5602927"/>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9801" name="副标题 2"/>
          <p:cNvSpPr>
            <a:spLocks noGrp="1"/>
          </p:cNvSpPr>
          <p:nvPr>
            <p:ph type="subTitle" idx="1"/>
          </p:nvPr>
        </p:nvSpPr>
        <p:spPr>
          <a:xfrm>
            <a:off x="669925" y="4456729"/>
            <a:ext cx="10850563" cy="558799"/>
          </a:xfrm>
        </p:spPr>
        <p:txBody>
          <a:bodyPr anchor="t" anchorCtr="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9802" name="标题 1"/>
          <p:cNvSpPr>
            <a:spLocks noGrp="1"/>
          </p:cNvSpPr>
          <p:nvPr>
            <p:ph type="ctrTitle"/>
          </p:nvPr>
        </p:nvSpPr>
        <p:spPr>
          <a:xfrm>
            <a:off x="669925" y="1028701"/>
            <a:ext cx="10850563" cy="3136900"/>
          </a:xfrm>
        </p:spPr>
        <p:txBody>
          <a:bodyPr anchor="b" anchorCtr="0">
            <a:normAutofit/>
          </a:bodyPr>
          <a:lstStyle>
            <a:lvl1pPr algn="l">
              <a:defRPr sz="4000">
                <a:solidFill>
                  <a:schemeClr val="bg1"/>
                </a:solidFill>
              </a:defRPr>
            </a:lvl1pPr>
          </a:lstStyle>
          <a:p>
            <a:r>
              <a:rPr lang="en-US" dirty="0"/>
              <a:t>Click to edit Master title style</a:t>
            </a:r>
            <a:endParaRPr lang="zh-CN" altLang="en-US" dirty="0"/>
          </a:p>
        </p:txBody>
      </p:sp>
      <p:pic>
        <p:nvPicPr>
          <p:cNvPr id="4" name="图片 3"/>
          <p:cNvPicPr>
            <a:picLocks noChangeAspect="1"/>
          </p:cNvPicPr>
          <p:nvPr userDrawn="1">
            <p:custDataLst>
              <p:tags r:id="rId3"/>
            </p:custDataLst>
          </p:nvPr>
        </p:nvPicPr>
        <p:blipFill>
          <a:blip r:embed="rId4"/>
          <a:stretch>
            <a:fillRect/>
          </a:stretch>
        </p:blipFill>
        <p:spPr>
          <a:xfrm>
            <a:off x="10061575" y="31115"/>
            <a:ext cx="2019300" cy="762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showMasterSp="0" userDrawn="1">
  <p:cSld name="节标题">
    <p:spTree>
      <p:nvGrpSpPr>
        <p:cNvPr id="1" name=""/>
        <p:cNvGrpSpPr/>
        <p:nvPr/>
      </p:nvGrpSpPr>
      <p:grpSpPr>
        <a:xfrm>
          <a:off x="0" y="0"/>
          <a:ext cx="0" cy="0"/>
          <a:chOff x="0" y="0"/>
          <a:chExt cx="0" cy="0"/>
        </a:xfrm>
      </p:grpSpPr>
      <p:sp>
        <p:nvSpPr>
          <p:cNvPr id="7" name="Freeform 22_1"/>
          <p:cNvSpPr>
            <a:spLocks noChangeArrowheads="1"/>
          </p:cNvSpPr>
          <p:nvPr userDrawn="1"/>
        </p:nvSpPr>
        <p:spPr bwMode="auto">
          <a:xfrm>
            <a:off x="190500" y="3192312"/>
            <a:ext cx="12192000" cy="3429000"/>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dpi="0" rotWithShape="1">
            <a:blip r:embed="rId2">
              <a:alphaModFix amt="60000"/>
            </a:blip>
            <a:srcRect/>
            <a:stretch>
              <a:fillRect t="-93255" b="-31457"/>
            </a:stretch>
          </a:blipFill>
          <a:ln>
            <a:noFill/>
          </a:ln>
        </p:spPr>
        <p:txBody>
          <a:bodyPr vert="horz" wrap="square" lIns="91440" tIns="45720" rIns="91440" bIns="45720" numCol="1" anchor="t" anchorCtr="0" compatLnSpc="1">
            <a:noAutofit/>
          </a:bodyPr>
          <a:lstStyle/>
          <a:p>
            <a:endParaRPr lang="zh-CN" altLang="en-US" dirty="0"/>
          </a:p>
        </p:txBody>
      </p:sp>
      <p:sp>
        <p:nvSpPr>
          <p:cNvPr id="20" name="标题 1"/>
          <p:cNvSpPr>
            <a:spLocks noGrp="1"/>
          </p:cNvSpPr>
          <p:nvPr>
            <p:ph type="title"/>
          </p:nvPr>
        </p:nvSpPr>
        <p:spPr>
          <a:xfrm>
            <a:off x="2488168" y="2033814"/>
            <a:ext cx="5419185" cy="895350"/>
          </a:xfrm>
        </p:spPr>
        <p:txBody>
          <a:bodyPr anchor="b">
            <a:normAutofit/>
          </a:bodyPr>
          <a:lstStyle>
            <a:lvl1pPr algn="l">
              <a:defRPr sz="2400" b="1">
                <a:solidFill>
                  <a:schemeClr val="accent3"/>
                </a:solidFill>
              </a:defRPr>
            </a:lvl1pPr>
          </a:lstStyle>
          <a:p>
            <a:r>
              <a:rPr lang="en-US" dirty="0"/>
              <a:t>Click to edit Master title style</a:t>
            </a:r>
            <a:endParaRPr lang="zh-CN" altLang="en-US" dirty="0"/>
          </a:p>
        </p:txBody>
      </p:sp>
      <p:sp>
        <p:nvSpPr>
          <p:cNvPr id="21" name="文本占位符 2"/>
          <p:cNvSpPr>
            <a:spLocks noGrp="1"/>
          </p:cNvSpPr>
          <p:nvPr>
            <p:ph type="body" idx="1"/>
          </p:nvPr>
        </p:nvSpPr>
        <p:spPr>
          <a:xfrm>
            <a:off x="2489284" y="2929164"/>
            <a:ext cx="5419185" cy="1015623"/>
          </a:xfrm>
        </p:spPr>
        <p:txBody>
          <a:bodyPr anchor="t">
            <a:normAutofit/>
          </a:bodyPr>
          <a:lstStyle>
            <a:lvl1pPr marL="0" indent="0" algn="l">
              <a:lnSpc>
                <a:spcPct val="100000"/>
              </a:lnSpc>
              <a:buNone/>
              <a:defRPr sz="11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endParaRPr lang="en-US" dirty="0"/>
          </a:p>
        </p:txBody>
      </p:sp>
      <p:pic>
        <p:nvPicPr>
          <p:cNvPr id="4" name="图片 3"/>
          <p:cNvPicPr>
            <a:picLocks noChangeAspect="1"/>
          </p:cNvPicPr>
          <p:nvPr userDrawn="1">
            <p:custDataLst>
              <p:tags r:id="rId3"/>
            </p:custDataLst>
          </p:nvPr>
        </p:nvPicPr>
        <p:blipFill>
          <a:blip r:embed="rId4"/>
          <a:stretch>
            <a:fillRect/>
          </a:stretch>
        </p:blipFill>
        <p:spPr>
          <a:xfrm>
            <a:off x="10061575" y="31115"/>
            <a:ext cx="2019300" cy="762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任意多边形: 形状 6"/>
          <p:cNvSpPr/>
          <p:nvPr userDrawn="1"/>
        </p:nvSpPr>
        <p:spPr>
          <a:xfrm>
            <a:off x="-9525" y="-9525"/>
            <a:ext cx="10095230"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userDrawn="1"/>
        </p:nvSpPr>
        <p:spPr>
          <a:xfrm>
            <a:off x="11520488" y="6486465"/>
            <a:ext cx="671512" cy="400110"/>
          </a:xfrm>
          <a:prstGeom prst="rect">
            <a:avLst/>
          </a:prstGeom>
          <a:noFill/>
        </p:spPr>
        <p:txBody>
          <a:bodyPr wrap="square" rtlCol="0">
            <a:spAutoFit/>
          </a:bodyPr>
          <a:lstStyle/>
          <a:p>
            <a:pPr algn="ctr"/>
            <a:fld id="{379552D3-A968-4710-B841-1063F5B640DF}" type="slidenum">
              <a:rPr lang="zh-CN" altLang="en-US" sz="2000" b="1" smtClean="0">
                <a:solidFill>
                  <a:schemeClr val="accent2">
                    <a:lumMod val="50000"/>
                  </a:schemeClr>
                </a:solidFill>
              </a:rPr>
            </a:fld>
            <a:endParaRPr lang="zh-CN" altLang="en-US" b="1" dirty="0">
              <a:solidFill>
                <a:schemeClr val="accent2">
                  <a:lumMod val="50000"/>
                </a:schemeClr>
              </a:solidFill>
            </a:endParaRP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34410" y="24187"/>
            <a:ext cx="527050" cy="5270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E6F26766-F62E-419D-BB7F-91C9CEBCA24E}" type="datetime1">
              <a:rPr lang="zh-CN" altLang="en-US" smtClean="0"/>
            </a:fld>
            <a:endParaRPr lang="zh-CN" altLang="en-US"/>
          </a:p>
        </p:txBody>
      </p:sp>
      <p:sp>
        <p:nvSpPr>
          <p:cNvPr id="4" name="Footer Placeholder 3"/>
          <p:cNvSpPr>
            <a:spLocks noGrp="1"/>
          </p:cNvSpPr>
          <p:nvPr>
            <p:ph type="ftr" sz="quarter" idx="11"/>
          </p:nvPr>
        </p:nvSpPr>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4" name="图片 3"/>
          <p:cNvPicPr>
            <a:picLocks noChangeAspect="1"/>
          </p:cNvPicPr>
          <p:nvPr userDrawn="1">
            <p:custDataLst>
              <p:tags r:id="rId2"/>
            </p:custDataLst>
          </p:nvPr>
        </p:nvPicPr>
        <p:blipFill>
          <a:blip r:embed="rId3"/>
          <a:stretch>
            <a:fillRect/>
          </a:stretch>
        </p:blipFill>
        <p:spPr>
          <a:xfrm>
            <a:off x="10061575" y="31115"/>
            <a:ext cx="2019300" cy="762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bg>
      <p:bgPr>
        <a:solidFill>
          <a:schemeClr val="accent3"/>
        </a:solidFill>
        <a:effectLst/>
      </p:bgPr>
    </p:bg>
    <p:spTree>
      <p:nvGrpSpPr>
        <p:cNvPr id="1" name=""/>
        <p:cNvGrpSpPr/>
        <p:nvPr/>
      </p:nvGrpSpPr>
      <p:grpSpPr>
        <a:xfrm>
          <a:off x="0" y="0"/>
          <a:ext cx="0" cy="0"/>
          <a:chOff x="0" y="0"/>
          <a:chExt cx="0" cy="0"/>
        </a:xfrm>
      </p:grpSpPr>
      <p:sp>
        <p:nvSpPr>
          <p:cNvPr id="5"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10" name="任意多边形: 形状 9"/>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13" name="标题 1"/>
          <p:cNvSpPr>
            <a:spLocks noGrp="1"/>
          </p:cNvSpPr>
          <p:nvPr>
            <p:ph type="ctrTitle" hasCustomPrompt="1"/>
          </p:nvPr>
        </p:nvSpPr>
        <p:spPr>
          <a:xfrm>
            <a:off x="4034971" y="2163199"/>
            <a:ext cx="6536871" cy="2390427"/>
          </a:xfrm>
        </p:spPr>
        <p:txBody>
          <a:bodyPr anchor="b">
            <a:normAutofit/>
          </a:bodyPr>
          <a:lstStyle>
            <a:lvl1pPr marL="0" indent="0" algn="ctr">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p:ph type="body" sz="quarter" idx="18" hasCustomPrompt="1"/>
          </p:nvPr>
        </p:nvSpPr>
        <p:spPr>
          <a:xfrm>
            <a:off x="4034971" y="5238353"/>
            <a:ext cx="6536871" cy="310871"/>
          </a:xfrm>
        </p:spPr>
        <p:txBody>
          <a:bodyPr vert="horz" lIns="91440" tIns="45720" rIns="91440" bIns="45720" rtlCol="0">
            <a:normAutofit/>
          </a:bodyPr>
          <a:lstStyle>
            <a:lvl1pPr marL="0" indent="0" algn="ctr">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endParaRPr lang="en-US" altLang="zh-CN" dirty="0"/>
          </a:p>
        </p:txBody>
      </p:sp>
      <p:sp>
        <p:nvSpPr>
          <p:cNvPr id="6" name="文本占位符 13"/>
          <p:cNvSpPr>
            <a:spLocks noGrp="1"/>
          </p:cNvSpPr>
          <p:nvPr>
            <p:ph type="body" sz="quarter" idx="10" hasCustomPrompt="1"/>
          </p:nvPr>
        </p:nvSpPr>
        <p:spPr>
          <a:xfrm>
            <a:off x="4034973" y="4942082"/>
            <a:ext cx="6536871" cy="296271"/>
          </a:xfrm>
        </p:spPr>
        <p:txBody>
          <a:bodyPr vert="horz" anchor="ctr">
            <a:noAutofit/>
          </a:bodyPr>
          <a:lstStyle>
            <a:lvl1pPr marL="0" indent="0" algn="ct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1" name="任意多边形: 形状 10"/>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pic>
        <p:nvPicPr>
          <p:cNvPr id="4" name="图片 3"/>
          <p:cNvPicPr>
            <a:picLocks noChangeAspect="1"/>
          </p:cNvPicPr>
          <p:nvPr userDrawn="1">
            <p:custDataLst>
              <p:tags r:id="rId3"/>
            </p:custDataLst>
          </p:nvPr>
        </p:nvPicPr>
        <p:blipFill>
          <a:blip r:embed="rId4"/>
          <a:stretch>
            <a:fillRect/>
          </a:stretch>
        </p:blipFill>
        <p:spPr>
          <a:xfrm>
            <a:off x="10061575" y="31115"/>
            <a:ext cx="2019300" cy="762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2.png"/><Relationship Id="rId7" Type="http://schemas.openxmlformats.org/officeDocument/2006/relationships/tags" Target="../tags/tag5.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zh-CN" altLang="en-US" dirty="0"/>
          </a:p>
        </p:txBody>
      </p: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7FE44A0-2E53-457E-9AC0-11D6EE9FA3B5}" type="datetime1">
              <a:rPr lang="zh-CN" altLang="en-US" smtClean="0"/>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zh-CN" altLang="en-US"/>
              <a:t>请在插入菜单</a:t>
            </a:r>
            <a:r>
              <a:rPr lang="en-US" altLang="zh-CN"/>
              <a:t>—</a:t>
            </a:r>
            <a:r>
              <a:rPr lang="zh-CN" altLang="en-US"/>
              <a:t>页眉和页脚中修改此文本</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fld>
            <a:endParaRPr lang="zh-CN" altLang="en-US"/>
          </a:p>
        </p:txBody>
      </p:sp>
      <p:pic>
        <p:nvPicPr>
          <p:cNvPr id="4" name="图片 3"/>
          <p:cNvPicPr>
            <a:picLocks noChangeAspect="1"/>
          </p:cNvPicPr>
          <p:nvPr userDrawn="1">
            <p:custDataLst>
              <p:tags r:id="rId7"/>
            </p:custDataLst>
          </p:nvPr>
        </p:nvPicPr>
        <p:blipFill>
          <a:blip r:embed="rId8"/>
          <a:stretch>
            <a:fillRect/>
          </a:stretch>
        </p:blipFill>
        <p:spPr>
          <a:xfrm>
            <a:off x="10061575" y="31115"/>
            <a:ext cx="2019300" cy="762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tags" Target="../tags/tag7.xml"/><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tags" Target="../tags/tag6.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3.png"/><Relationship Id="rId2" Type="http://schemas.openxmlformats.org/officeDocument/2006/relationships/tags" Target="../tags/tag8.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png"/><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2" Type="http://schemas.openxmlformats.org/officeDocument/2006/relationships/slideLayout" Target="../slideLayouts/slideLayout3.xml"/><Relationship Id="rId21" Type="http://schemas.openxmlformats.org/officeDocument/2006/relationships/tags" Target="../tags/tag29.xml"/><Relationship Id="rId20" Type="http://schemas.openxmlformats.org/officeDocument/2006/relationships/tags" Target="../tags/tag28.xml"/><Relationship Id="rId2" Type="http://schemas.openxmlformats.org/officeDocument/2006/relationships/tags" Target="../tags/tag10.xml"/><Relationship Id="rId19" Type="http://schemas.openxmlformats.org/officeDocument/2006/relationships/tags" Target="../tags/tag27.xml"/><Relationship Id="rId18" Type="http://schemas.openxmlformats.org/officeDocument/2006/relationships/tags" Target="../tags/tag26.xml"/><Relationship Id="rId17" Type="http://schemas.openxmlformats.org/officeDocument/2006/relationships/tags" Target="../tags/tag25.xml"/><Relationship Id="rId16" Type="http://schemas.openxmlformats.org/officeDocument/2006/relationships/tags" Target="../tags/tag24.xml"/><Relationship Id="rId15" Type="http://schemas.openxmlformats.org/officeDocument/2006/relationships/tags" Target="../tags/tag23.xml"/><Relationship Id="rId14" Type="http://schemas.openxmlformats.org/officeDocument/2006/relationships/tags" Target="../tags/tag22.xml"/><Relationship Id="rId13" Type="http://schemas.openxmlformats.org/officeDocument/2006/relationships/tags" Target="../tags/tag21.xml"/><Relationship Id="rId12" Type="http://schemas.openxmlformats.org/officeDocument/2006/relationships/tags" Target="../tags/tag20.xml"/><Relationship Id="rId11" Type="http://schemas.openxmlformats.org/officeDocument/2006/relationships/tags" Target="../tags/tag19.xml"/><Relationship Id="rId10" Type="http://schemas.openxmlformats.org/officeDocument/2006/relationships/tags" Target="../tags/tag18.xml"/><Relationship Id="rId1" Type="http://schemas.openxmlformats.org/officeDocument/2006/relationships/tags" Target="../tags/tag9.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0.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0.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1.jpeg"/><Relationship Id="rId1" Type="http://schemas.openxmlformats.org/officeDocument/2006/relationships/tags" Target="../tags/tag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2.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1.jpe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42.xml.rels><?xml version="1.0" encoding="UTF-8" standalone="yes"?>
<Relationships xmlns="http://schemas.openxmlformats.org/package/2006/relationships"><Relationship Id="rId7"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jpeg"/><Relationship Id="rId4" Type="http://schemas.openxmlformats.org/officeDocument/2006/relationships/image" Target="../media/image21.jpeg"/><Relationship Id="rId3" Type="http://schemas.openxmlformats.org/officeDocument/2006/relationships/image" Target="../media/image24.jpeg"/><Relationship Id="rId2" Type="http://schemas.openxmlformats.org/officeDocument/2006/relationships/tags" Target="../tags/tag34.xml"/><Relationship Id="rId1"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7.png"/><Relationship Id="rId1" Type="http://schemas.openxmlformats.org/officeDocument/2006/relationships/image" Target="../media/image3.png"/></Relationships>
</file>

<file path=ppt/slides/_rels/slide44.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25.jpeg"/><Relationship Id="rId3" Type="http://schemas.openxmlformats.org/officeDocument/2006/relationships/image" Target="../media/image21.jpeg"/><Relationship Id="rId2" Type="http://schemas.openxmlformats.org/officeDocument/2006/relationships/image" Target="../media/image24.jpeg"/><Relationship Id="rId1" Type="http://schemas.openxmlformats.org/officeDocument/2006/relationships/tags" Target="../tags/tag35.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8.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9.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jpeg"/></Relationships>
</file>

<file path=ppt/slides/_rels/slide48.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25.jpeg"/><Relationship Id="rId3" Type="http://schemas.openxmlformats.org/officeDocument/2006/relationships/image" Target="../media/image21.jpeg"/><Relationship Id="rId2" Type="http://schemas.openxmlformats.org/officeDocument/2006/relationships/image" Target="../media/image24.jpeg"/><Relationship Id="rId1" Type="http://schemas.openxmlformats.org/officeDocument/2006/relationships/tags" Target="../tags/tag36.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jpe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1.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38.xml"/><Relationship Id="rId2" Type="http://schemas.openxmlformats.org/officeDocument/2006/relationships/image" Target="../media/image3.png"/><Relationship Id="rId1" Type="http://schemas.openxmlformats.org/officeDocument/2006/relationships/image" Target="../media/image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123" name="think-cell Slide" r:id="rId2" imgW="9525" imgH="9525" progId="TCLayout.ActiveDocument.1">
                  <p:embed/>
                </p:oleObj>
              </mc:Choice>
              <mc:Fallback>
                <p:oleObj name="think-cell Slide" r:id="rId2" imgW="9525" imgH="9525" progId="TCLayout.ActiveDocument.1">
                  <p:embed/>
                  <p:pic>
                    <p:nvPicPr>
                      <p:cNvPr id="0" name="图片 2118"/>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2" name="矩形 1" hidden="1"/>
          <p:cNvSpPr/>
          <p:nvPr>
            <p:custDataLst>
              <p:tags r:id="rId4"/>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4" name="标题 3"/>
          <p:cNvSpPr>
            <a:spLocks noGrp="1"/>
          </p:cNvSpPr>
          <p:nvPr>
            <p:ph type="ctrTitle"/>
          </p:nvPr>
        </p:nvSpPr>
        <p:spPr>
          <a:xfrm>
            <a:off x="669925" y="1319455"/>
            <a:ext cx="10850563" cy="3136900"/>
          </a:xfrm>
        </p:spPr>
        <p:txBody>
          <a:bodyPr>
            <a:normAutofit/>
          </a:bodyPr>
          <a:lstStyle/>
          <a:p>
            <a:r>
              <a:rPr lang="zh-CN" altLang="en-US" sz="4800" dirty="0"/>
              <a:t>第</a:t>
            </a:r>
            <a:r>
              <a:rPr lang="en-US" altLang="zh-CN" sz="4800" dirty="0"/>
              <a:t>9</a:t>
            </a:r>
            <a:r>
              <a:rPr lang="zh-CN" altLang="en-US" sz="4800" dirty="0"/>
              <a:t>章 磁盘存储器管理</a:t>
            </a:r>
            <a:endParaRPr lang="zh-CN" altLang="en-US" sz="2000" b="0" dirty="0"/>
          </a:p>
        </p:txBody>
      </p:sp>
      <p:pic>
        <p:nvPicPr>
          <p:cNvPr id="25" name="图片 24"/>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611186" y="488949"/>
            <a:ext cx="631826" cy="631826"/>
          </a:xfrm>
          <a:prstGeom prst="rect">
            <a:avLst/>
          </a:prstGeom>
        </p:spPr>
      </p:pic>
      <p:sp>
        <p:nvSpPr>
          <p:cNvPr id="17" name="矩形: 圆角 21"/>
          <p:cNvSpPr/>
          <p:nvPr/>
        </p:nvSpPr>
        <p:spPr>
          <a:xfrm>
            <a:off x="800099" y="4579447"/>
            <a:ext cx="4235540" cy="459272"/>
          </a:xfrm>
          <a:prstGeom prst="roundRect">
            <a:avLst>
              <a:gd name="adj"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主讲教师：韦平</a:t>
            </a:r>
            <a:endParaRPr lang="en-US" altLang="zh-CN" b="1" dirty="0">
              <a:solidFill>
                <a:schemeClr val="tx1"/>
              </a:solidFill>
            </a:endParaRPr>
          </a:p>
        </p:txBody>
      </p:sp>
      <p:sp>
        <p:nvSpPr>
          <p:cNvPr id="6" name="矩形 5"/>
          <p:cNvSpPr/>
          <p:nvPr/>
        </p:nvSpPr>
        <p:spPr>
          <a:xfrm>
            <a:off x="933450" y="5034280"/>
            <a:ext cx="6122035" cy="1918335"/>
          </a:xfrm>
          <a:prstGeom prst="rect">
            <a:avLst/>
          </a:prstGeom>
        </p:spPr>
        <p:txBody>
          <a:bodyPr wrap="square">
            <a:spAutoFit/>
          </a:bodyPr>
          <a:lstStyle/>
          <a:p>
            <a:pPr algn="l">
              <a:lnSpc>
                <a:spcPct val="132000"/>
              </a:lnSpc>
            </a:pPr>
            <a:r>
              <a:rPr lang="zh-CN" altLang="en-US" dirty="0">
                <a:solidFill>
                  <a:srgbClr val="0000FF"/>
                </a:solidFill>
                <a:latin typeface="Times New Roman" panose="02020603050405020304" charset="0"/>
                <a:ea typeface="微软雅黑" panose="020B0503020204020204" pitchFamily="34" charset="-122"/>
                <a:cs typeface="+mn-ea"/>
                <a:sym typeface="Times New Roman" panose="02020603050405020304" charset="0"/>
              </a:rPr>
              <a:t>学院：软件学院</a:t>
            </a:r>
            <a:endParaRPr lang="en-US" altLang="zh-CN" dirty="0">
              <a:solidFill>
                <a:srgbClr val="0000FF"/>
              </a:solidFill>
              <a:latin typeface="Times New Roman" panose="02020603050405020304" charset="0"/>
              <a:ea typeface="微软雅黑" panose="020B0503020204020204" pitchFamily="34" charset="-122"/>
              <a:cs typeface="+mn-ea"/>
              <a:sym typeface="Times New Roman" panose="02020603050405020304" charset="0"/>
            </a:endParaRPr>
          </a:p>
          <a:p>
            <a:pPr algn="l">
              <a:lnSpc>
                <a:spcPct val="132000"/>
              </a:lnSpc>
            </a:pPr>
            <a:r>
              <a:rPr lang="zh-CN" altLang="en-US" dirty="0">
                <a:solidFill>
                  <a:srgbClr val="0000FF"/>
                </a:solidFill>
                <a:latin typeface="Times New Roman" panose="02020603050405020304" charset="0"/>
                <a:ea typeface="微软雅黑" panose="020B0503020204020204" pitchFamily="34" charset="-122"/>
                <a:cs typeface="+mn-ea"/>
                <a:sym typeface="Times New Roman" panose="02020603050405020304" charset="0"/>
              </a:rPr>
              <a:t>邮箱：</a:t>
            </a:r>
            <a:r>
              <a:rPr lang="en-US" altLang="zh-CN" dirty="0">
                <a:solidFill>
                  <a:srgbClr val="0000FF"/>
                </a:solidFill>
                <a:latin typeface="Times New Roman" panose="02020603050405020304" charset="0"/>
                <a:ea typeface="微软雅黑" panose="020B0503020204020204" pitchFamily="34" charset="-122"/>
                <a:cs typeface="+mn-ea"/>
                <a:sym typeface="Times New Roman" panose="02020603050405020304" charset="0"/>
              </a:rPr>
              <a:t>weip@ynu.edu.cn</a:t>
            </a:r>
            <a:endParaRPr lang="en-US" altLang="zh-CN" dirty="0">
              <a:solidFill>
                <a:srgbClr val="0000FF"/>
              </a:solidFill>
              <a:latin typeface="Times New Roman" panose="02020603050405020304" charset="0"/>
              <a:ea typeface="微软雅黑" panose="020B0503020204020204" pitchFamily="34" charset="-122"/>
              <a:cs typeface="+mn-ea"/>
              <a:sym typeface="Times New Roman" panose="02020603050405020304" charset="0"/>
            </a:endParaRPr>
          </a:p>
          <a:p>
            <a:pPr algn="l">
              <a:lnSpc>
                <a:spcPct val="132000"/>
              </a:lnSpc>
            </a:pPr>
            <a:r>
              <a:rPr lang="zh-CN" altLang="en-US" dirty="0">
                <a:solidFill>
                  <a:srgbClr val="0000FF"/>
                </a:solidFill>
                <a:latin typeface="Times New Roman" panose="02020603050405020304" charset="0"/>
                <a:ea typeface="微软雅黑" panose="020B0503020204020204" pitchFamily="34" charset="-122"/>
                <a:cs typeface="+mn-ea"/>
                <a:sym typeface="Times New Roman" panose="02020603050405020304" charset="0"/>
              </a:rPr>
              <a:t>办公地点：软件学院</a:t>
            </a:r>
            <a:r>
              <a:rPr lang="en-US" altLang="zh-CN" dirty="0">
                <a:solidFill>
                  <a:srgbClr val="0000FF"/>
                </a:solidFill>
                <a:latin typeface="Times New Roman" panose="02020603050405020304" charset="0"/>
                <a:ea typeface="微软雅黑" panose="020B0503020204020204" pitchFamily="34" charset="-122"/>
                <a:cs typeface="+mn-ea"/>
                <a:sym typeface="Times New Roman" panose="02020603050405020304" charset="0"/>
              </a:rPr>
              <a:t>1323</a:t>
            </a:r>
            <a:endParaRPr lang="en-US" altLang="zh-CN" dirty="0">
              <a:solidFill>
                <a:srgbClr val="0000FF"/>
              </a:solidFill>
              <a:latin typeface="Times New Roman" panose="02020603050405020304" charset="0"/>
              <a:ea typeface="微软雅黑" panose="020B0503020204020204" pitchFamily="34" charset="-122"/>
              <a:cs typeface="+mn-ea"/>
              <a:sym typeface="Times New Roman" panose="02020603050405020304" charset="0"/>
            </a:endParaRPr>
          </a:p>
          <a:p>
            <a:pPr algn="l">
              <a:lnSpc>
                <a:spcPct val="132000"/>
              </a:lnSpc>
            </a:pPr>
            <a:r>
              <a:rPr lang="zh-CN" altLang="en-US" dirty="0">
                <a:solidFill>
                  <a:srgbClr val="0000FF"/>
                </a:solidFill>
                <a:latin typeface="Times New Roman" panose="02020603050405020304" charset="0"/>
                <a:ea typeface="微软雅黑" panose="020B0503020204020204" pitchFamily="34" charset="-122"/>
                <a:cs typeface="+mn-ea"/>
                <a:sym typeface="Times New Roman" panose="02020603050405020304" charset="0"/>
              </a:rPr>
              <a:t>办公电话：</a:t>
            </a:r>
            <a:r>
              <a:rPr lang="en-US" altLang="zh-CN" dirty="0">
                <a:solidFill>
                  <a:srgbClr val="0000FF"/>
                </a:solidFill>
                <a:latin typeface="Times New Roman" panose="02020603050405020304" charset="0"/>
                <a:ea typeface="微软雅黑" panose="020B0503020204020204" pitchFamily="34" charset="-122"/>
                <a:cs typeface="+mn-ea"/>
                <a:sym typeface="Times New Roman" panose="02020603050405020304" charset="0"/>
              </a:rPr>
              <a:t>15121079110</a:t>
            </a:r>
            <a:endParaRPr lang="en-US" altLang="zh-CN" dirty="0">
              <a:solidFill>
                <a:srgbClr val="0000FF"/>
              </a:solidFill>
              <a:latin typeface="Times New Roman" panose="02020603050405020304" charset="0"/>
              <a:ea typeface="微软雅黑" panose="020B0503020204020204" pitchFamily="34" charset="-122"/>
              <a:cs typeface="+mn-ea"/>
              <a:sym typeface="Times New Roman" panose="02020603050405020304" charset="0"/>
            </a:endParaRPr>
          </a:p>
          <a:p>
            <a:pPr algn="l">
              <a:lnSpc>
                <a:spcPct val="132000"/>
              </a:lnSpc>
            </a:pPr>
            <a:endParaRPr lang="en-US" altLang="zh-CN" dirty="0">
              <a:solidFill>
                <a:srgbClr val="0000FF"/>
              </a:solidFill>
              <a:latin typeface="Times New Roman" panose="02020603050405020304" charset="0"/>
              <a:ea typeface="微软雅黑" panose="020B0503020204020204" pitchFamily="34" charset="-122"/>
              <a:cs typeface="+mn-ea"/>
              <a:sym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第9章 知识导图"/>
          <p:cNvPicPr>
            <a:picLocks noChangeAspect="1"/>
          </p:cNvPicPr>
          <p:nvPr/>
        </p:nvPicPr>
        <p:blipFill>
          <a:blip r:embed="rId1"/>
          <a:srcRect b="1580"/>
          <a:stretch>
            <a:fillRect/>
          </a:stretch>
        </p:blipFill>
        <p:spPr>
          <a:xfrm>
            <a:off x="4864735" y="828675"/>
            <a:ext cx="6333490" cy="5973445"/>
          </a:xfrm>
          <a:prstGeom prst="rect">
            <a:avLst/>
          </a:prstGeom>
        </p:spPr>
      </p:pic>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2539478" cy="523220"/>
          </a:xfrm>
          <a:prstGeom prst="rect">
            <a:avLst/>
          </a:prstGeom>
        </p:spPr>
        <p:txBody>
          <a:bodyPr wrap="none">
            <a:spAutoFit/>
          </a:bodyPr>
          <a:lstStyle/>
          <a:p>
            <a:r>
              <a:rPr lang="zh-CN" altLang="en-US" sz="2800" b="1" dirty="0">
                <a:solidFill>
                  <a:schemeClr val="bg1"/>
                </a:solidFill>
              </a:rPr>
              <a:t>第</a:t>
            </a:r>
            <a:r>
              <a:rPr lang="en-US" altLang="zh-CN" sz="2800" b="1" dirty="0">
                <a:solidFill>
                  <a:schemeClr val="bg1"/>
                </a:solidFill>
              </a:rPr>
              <a:t>9</a:t>
            </a:r>
            <a:r>
              <a:rPr lang="zh-CN" altLang="en-US" sz="2800" b="1" dirty="0">
                <a:solidFill>
                  <a:schemeClr val="bg1"/>
                </a:solidFill>
              </a:rPr>
              <a:t>章知识导图</a:t>
            </a:r>
            <a:endParaRPr lang="zh-CN" altLang="en-US" sz="2800" b="1" dirty="0">
              <a:solidFill>
                <a:schemeClr val="bg1"/>
              </a:solidFill>
            </a:endParaRPr>
          </a:p>
        </p:txBody>
      </p:sp>
      <p:graphicFrame>
        <p:nvGraphicFramePr>
          <p:cNvPr id="30" name="表格 29"/>
          <p:cNvGraphicFramePr/>
          <p:nvPr>
            <p:custDataLst>
              <p:tags r:id="rId2"/>
            </p:custDataLst>
          </p:nvPr>
        </p:nvGraphicFramePr>
        <p:xfrm>
          <a:off x="462431" y="1634204"/>
          <a:ext cx="4173963" cy="4789452"/>
        </p:xfrm>
        <a:graphic>
          <a:graphicData uri="http://schemas.openxmlformats.org/drawingml/2006/table">
            <a:tbl>
              <a:tblPr firstRow="1" bandRow="1">
                <a:tableStyleId>{72833802-FEF1-4C79-8D5D-14CF1EAF98D9}</a:tableStyleId>
              </a:tblPr>
              <a:tblGrid>
                <a:gridCol w="1221039"/>
                <a:gridCol w="2952924"/>
              </a:tblGrid>
              <a:tr h="399121">
                <a:tc>
                  <a:txBody>
                    <a:bodyPr/>
                    <a:lstStyle/>
                    <a:p>
                      <a:pPr marL="71755" indent="0" algn="ctr" defTabSz="914400" rtl="0" eaLnBrk="1" latinLnBrk="0" hangingPunct="1">
                        <a:lnSpc>
                          <a:spcPct val="100000"/>
                        </a:lnSpc>
                        <a:spcBef>
                          <a:spcPts val="300"/>
                        </a:spcBef>
                        <a:spcAft>
                          <a:spcPts val="300"/>
                        </a:spcAft>
                        <a:buNone/>
                      </a:pPr>
                      <a:r>
                        <a:rPr lang="en-US" sz="2000" b="0" kern="1200" dirty="0">
                          <a:solidFill>
                            <a:schemeClr val="tx1"/>
                          </a:solidFill>
                          <a:latin typeface="微软雅黑 (正文)"/>
                          <a:ea typeface="+mn-ea"/>
                          <a:cs typeface="+mn-cs"/>
                        </a:rPr>
                        <a:t>第1章</a:t>
                      </a:r>
                      <a:endParaRPr lang="en-US" altLang="en-US" sz="2000" b="0" kern="1200" dirty="0">
                        <a:solidFill>
                          <a:schemeClr val="tx1"/>
                        </a:solidFill>
                        <a:latin typeface="微软雅黑 (正文)"/>
                        <a:ea typeface="+mn-ea"/>
                        <a:cs typeface="+mn-cs"/>
                      </a:endParaRPr>
                    </a:p>
                  </a:txBody>
                  <a:tcPr marL="98738" marR="98738" marT="0" marB="0" anchor="ctr">
                    <a:solidFill>
                      <a:schemeClr val="bg1"/>
                    </a:solidFill>
                  </a:tcPr>
                </a:tc>
                <a:tc>
                  <a:txBody>
                    <a:bodyPr/>
                    <a:lstStyle/>
                    <a:p>
                      <a:pPr marL="0" indent="0" algn="l" defTabSz="914400" rtl="0" eaLnBrk="1" latinLnBrk="0" hangingPunct="1">
                        <a:lnSpc>
                          <a:spcPct val="100000"/>
                        </a:lnSpc>
                        <a:spcBef>
                          <a:spcPts val="300"/>
                        </a:spcBef>
                        <a:spcAft>
                          <a:spcPts val="300"/>
                        </a:spcAft>
                        <a:buNone/>
                      </a:pPr>
                      <a:r>
                        <a:rPr lang="en-US" sz="2000" b="0" kern="1200" dirty="0">
                          <a:solidFill>
                            <a:schemeClr val="tx1"/>
                          </a:solidFill>
                          <a:latin typeface="微软雅黑 (正文)"/>
                          <a:ea typeface="+mn-ea"/>
                          <a:cs typeface="+mn-cs"/>
                        </a:rPr>
                        <a:t> </a:t>
                      </a:r>
                      <a:r>
                        <a:rPr lang="en-US" sz="2000" b="0" kern="1200" dirty="0" err="1">
                          <a:solidFill>
                            <a:schemeClr val="tx1"/>
                          </a:solidFill>
                          <a:latin typeface="微软雅黑 (正文)"/>
                          <a:ea typeface="+mn-ea"/>
                          <a:cs typeface="+mn-cs"/>
                        </a:rPr>
                        <a:t>操作系统引论</a:t>
                      </a:r>
                      <a:endParaRPr lang="en-US" altLang="en-US" sz="2000" b="0" kern="1200" dirty="0">
                        <a:solidFill>
                          <a:schemeClr val="tx1"/>
                        </a:solidFill>
                        <a:latin typeface="微软雅黑 (正文)"/>
                        <a:ea typeface="+mn-ea"/>
                        <a:cs typeface="+mn-cs"/>
                      </a:endParaRPr>
                    </a:p>
                  </a:txBody>
                  <a:tcPr marL="98738" marR="98738" marT="0" marB="0" anchor="ctr">
                    <a:solidFill>
                      <a:schemeClr val="bg1"/>
                    </a:solidFill>
                  </a:tcPr>
                </a:tc>
              </a:tr>
              <a:tr h="399121">
                <a:tc>
                  <a:txBody>
                    <a:bodyPr/>
                    <a:lstStyle/>
                    <a:p>
                      <a:pPr marL="71755" indent="0" algn="ctr">
                        <a:lnSpc>
                          <a:spcPct val="100000"/>
                        </a:lnSpc>
                        <a:spcBef>
                          <a:spcPts val="300"/>
                        </a:spcBef>
                        <a:spcAft>
                          <a:spcPts val="300"/>
                        </a:spcAft>
                        <a:buNone/>
                      </a:pPr>
                      <a:r>
                        <a:rPr lang="en-US" sz="2000" dirty="0">
                          <a:latin typeface="微软雅黑 (正文)"/>
                        </a:rPr>
                        <a:t>第2章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进程的描述与控制</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b="0" dirty="0">
                          <a:solidFill>
                            <a:schemeClr val="tx1"/>
                          </a:solidFill>
                          <a:latin typeface="微软雅黑 (正文)"/>
                        </a:rPr>
                        <a:t>第3章</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tc>
                  <a:txBody>
                    <a:bodyPr/>
                    <a:lstStyle/>
                    <a:p>
                      <a:pPr marL="71755" indent="0" algn="l">
                        <a:lnSpc>
                          <a:spcPct val="100000"/>
                        </a:lnSpc>
                        <a:spcBef>
                          <a:spcPts val="300"/>
                        </a:spcBef>
                        <a:spcAft>
                          <a:spcPts val="300"/>
                        </a:spcAft>
                        <a:buNone/>
                      </a:pPr>
                      <a:r>
                        <a:rPr lang="en-US" sz="2000" b="0" dirty="0" err="1">
                          <a:solidFill>
                            <a:schemeClr val="tx1"/>
                          </a:solidFill>
                          <a:latin typeface="微软雅黑 (正文)"/>
                        </a:rPr>
                        <a:t>处理机调度与死锁</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tr>
              <a:tr h="399121">
                <a:tc>
                  <a:txBody>
                    <a:bodyPr/>
                    <a:lstStyle/>
                    <a:p>
                      <a:pPr marL="71755" indent="0" algn="ctr">
                        <a:lnSpc>
                          <a:spcPct val="100000"/>
                        </a:lnSpc>
                        <a:spcBef>
                          <a:spcPts val="300"/>
                        </a:spcBef>
                        <a:spcAft>
                          <a:spcPts val="300"/>
                        </a:spcAft>
                        <a:buNone/>
                      </a:pPr>
                      <a:r>
                        <a:rPr lang="en-US" sz="2000" dirty="0">
                          <a:latin typeface="微软雅黑 (正文)"/>
                        </a:rPr>
                        <a:t>第4章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进程同步</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第5章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存储器管理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微软雅黑 (正文)"/>
                        </a:rPr>
                        <a:t>第6章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虚拟存储器</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第7章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输入</a:t>
                      </a:r>
                      <a:r>
                        <a:rPr lang="en-US" sz="2000" dirty="0">
                          <a:latin typeface="微软雅黑 (正文)"/>
                        </a:rPr>
                        <a:t>/</a:t>
                      </a:r>
                      <a:r>
                        <a:rPr lang="en-US" sz="2000" dirty="0" err="1">
                          <a:latin typeface="微软雅黑 (正文)"/>
                        </a:rPr>
                        <a:t>输出系统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第8章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文件管理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b="1" dirty="0">
                          <a:solidFill>
                            <a:schemeClr val="bg1"/>
                          </a:solidFill>
                          <a:latin typeface="微软雅黑 (正文)"/>
                        </a:rPr>
                        <a:t>第9章</a:t>
                      </a:r>
                      <a:endParaRPr lang="en-US" altLang="en-US" sz="2000" b="1" dirty="0">
                        <a:solidFill>
                          <a:schemeClr val="bg1"/>
                        </a:solidFill>
                        <a:latin typeface="微软雅黑 (正文)"/>
                        <a:ea typeface="华文楷体" panose="02010600040101010101" charset="-122"/>
                        <a:cs typeface="华文楷体" panose="02010600040101010101" charset="-122"/>
                      </a:endParaRPr>
                    </a:p>
                  </a:txBody>
                  <a:tcPr marL="98738" marR="98738" marT="0" marB="0" anchor="ctr">
                    <a:solidFill>
                      <a:srgbClr val="FFC000"/>
                    </a:solidFill>
                  </a:tcPr>
                </a:tc>
                <a:tc>
                  <a:txBody>
                    <a:bodyPr/>
                    <a:lstStyle/>
                    <a:p>
                      <a:pPr marL="71755" indent="0" algn="l">
                        <a:lnSpc>
                          <a:spcPct val="100000"/>
                        </a:lnSpc>
                        <a:spcBef>
                          <a:spcPts val="300"/>
                        </a:spcBef>
                        <a:spcAft>
                          <a:spcPts val="300"/>
                        </a:spcAft>
                        <a:buNone/>
                      </a:pPr>
                      <a:r>
                        <a:rPr lang="en-US" sz="2000" b="1" dirty="0" err="1">
                          <a:solidFill>
                            <a:schemeClr val="bg1"/>
                          </a:solidFill>
                          <a:latin typeface="微软雅黑 (正文)"/>
                        </a:rPr>
                        <a:t>磁盘存储器管理</a:t>
                      </a:r>
                      <a:endParaRPr lang="en-US" altLang="en-US" sz="2000" b="1" dirty="0">
                        <a:solidFill>
                          <a:schemeClr val="bg1"/>
                        </a:solidFill>
                        <a:latin typeface="微软雅黑 (正文)"/>
                        <a:ea typeface="华文楷体" panose="02010600040101010101" charset="-122"/>
                        <a:cs typeface="华文楷体" panose="02010600040101010101" charset="-122"/>
                      </a:endParaRPr>
                    </a:p>
                  </a:txBody>
                  <a:tcPr marL="98738" marR="98738" marT="0" marB="0" anchor="ctr">
                    <a:solidFill>
                      <a:srgbClr val="FFC000"/>
                    </a:solidFill>
                  </a:tcPr>
                </a:tc>
              </a:tr>
              <a:tr h="399121">
                <a:tc>
                  <a:txBody>
                    <a:bodyPr/>
                    <a:lstStyle/>
                    <a:p>
                      <a:pPr marL="71755" indent="0" algn="ctr">
                        <a:lnSpc>
                          <a:spcPct val="100000"/>
                        </a:lnSpc>
                        <a:spcBef>
                          <a:spcPts val="300"/>
                        </a:spcBef>
                        <a:spcAft>
                          <a:spcPts val="300"/>
                        </a:spcAft>
                        <a:buNone/>
                      </a:pPr>
                      <a:r>
                        <a:rPr lang="en-US" sz="2000">
                          <a:latin typeface="微软雅黑 (正文)"/>
                        </a:rPr>
                        <a:t>第10章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多处理机操作系统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第11章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虚拟化和云计算</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第12章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保护和安全</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bl>
          </a:graphicData>
        </a:graphic>
      </p:graphicFrame>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476238"/>
            <a:ext cx="4500146" cy="461665"/>
          </a:xfrm>
          <a:prstGeom prst="rect">
            <a:avLst/>
          </a:prstGeom>
        </p:spPr>
        <p:txBody>
          <a:bodyPr wrap="square">
            <a:spAutoFit/>
          </a:bodyPr>
          <a:lstStyle/>
          <a:p>
            <a:r>
              <a:rPr lang="en-US" altLang="zh-CN" sz="2400" b="1" dirty="0">
                <a:solidFill>
                  <a:srgbClr val="0000FF"/>
                </a:solidFill>
                <a:latin typeface="+mj-ea"/>
                <a:ea typeface="+mj-ea"/>
              </a:rPr>
              <a:t>9.1 </a:t>
            </a:r>
            <a:r>
              <a:rPr lang="zh-CN" altLang="en-US" sz="2400" b="1" dirty="0">
                <a:solidFill>
                  <a:srgbClr val="0000FF"/>
                </a:solidFill>
                <a:latin typeface="+mj-ea"/>
                <a:ea typeface="+mj-ea"/>
              </a:rPr>
              <a:t>外存的组织方式</a:t>
            </a:r>
            <a:endParaRPr lang="zh-CN" altLang="en-US" sz="2400" b="1" dirty="0">
              <a:solidFill>
                <a:srgbClr val="0000FF"/>
              </a:solidFill>
              <a:latin typeface="+mj-ea"/>
              <a:ea typeface="+mj-ea"/>
            </a:endParaRPr>
          </a:p>
        </p:txBody>
      </p:sp>
      <p:sp>
        <p:nvSpPr>
          <p:cNvPr id="23" name="矩形 22"/>
          <p:cNvSpPr/>
          <p:nvPr/>
        </p:nvSpPr>
        <p:spPr>
          <a:xfrm>
            <a:off x="1696469" y="2114413"/>
            <a:ext cx="3682150" cy="461665"/>
          </a:xfrm>
          <a:prstGeom prst="rect">
            <a:avLst/>
          </a:prstGeom>
        </p:spPr>
        <p:txBody>
          <a:bodyPr wrap="square">
            <a:spAutoFit/>
          </a:bodyPr>
          <a:lstStyle/>
          <a:p>
            <a:r>
              <a:rPr lang="en-US" altLang="zh-CN" sz="2400" dirty="0">
                <a:latin typeface="+mj-ea"/>
              </a:rPr>
              <a:t>9.1.1 </a:t>
            </a:r>
            <a:r>
              <a:rPr lang="zh-CN" altLang="en-US" sz="2400" dirty="0">
                <a:latin typeface="+mj-ea"/>
              </a:rPr>
              <a:t>连续组织方式</a:t>
            </a:r>
            <a:endParaRPr lang="en-US" altLang="zh-CN" sz="2400" dirty="0">
              <a:latin typeface="+mj-ea"/>
            </a:endParaRPr>
          </a:p>
        </p:txBody>
      </p:sp>
      <p:sp>
        <p:nvSpPr>
          <p:cNvPr id="24" name="矩形 23"/>
          <p:cNvSpPr/>
          <p:nvPr/>
        </p:nvSpPr>
        <p:spPr>
          <a:xfrm>
            <a:off x="1696468" y="2733538"/>
            <a:ext cx="3488967" cy="461665"/>
          </a:xfrm>
          <a:prstGeom prst="rect">
            <a:avLst/>
          </a:prstGeom>
        </p:spPr>
        <p:txBody>
          <a:bodyPr wrap="square">
            <a:spAutoFit/>
          </a:bodyPr>
          <a:lstStyle/>
          <a:p>
            <a:r>
              <a:rPr lang="en-US" altLang="zh-CN" sz="2400" dirty="0">
                <a:latin typeface="+mj-ea"/>
              </a:rPr>
              <a:t>9.1.2 </a:t>
            </a:r>
            <a:r>
              <a:rPr lang="zh-CN" altLang="en-US" sz="2400" dirty="0">
                <a:latin typeface="+mj-ea"/>
              </a:rPr>
              <a:t>链接组织方式</a:t>
            </a:r>
            <a:endParaRPr lang="en-US" altLang="zh-CN" sz="2400" dirty="0">
              <a:latin typeface="+mj-ea"/>
            </a:endParaRPr>
          </a:p>
        </p:txBody>
      </p:sp>
      <p:sp>
        <p:nvSpPr>
          <p:cNvPr id="25" name="矩形 24"/>
          <p:cNvSpPr/>
          <p:nvPr/>
        </p:nvSpPr>
        <p:spPr>
          <a:xfrm>
            <a:off x="1696468" y="3352663"/>
            <a:ext cx="3488967" cy="461665"/>
          </a:xfrm>
          <a:prstGeom prst="rect">
            <a:avLst/>
          </a:prstGeom>
        </p:spPr>
        <p:txBody>
          <a:bodyPr wrap="square">
            <a:spAutoFit/>
          </a:bodyPr>
          <a:lstStyle/>
          <a:p>
            <a:r>
              <a:rPr lang="en-US" altLang="zh-CN" sz="2400" dirty="0">
                <a:latin typeface="+mj-ea"/>
              </a:rPr>
              <a:t>9.1.1 </a:t>
            </a:r>
            <a:r>
              <a:rPr lang="zh-CN" altLang="en-US" sz="2400" dirty="0">
                <a:latin typeface="+mj-ea"/>
              </a:rPr>
              <a:t>索引组织方式</a:t>
            </a:r>
            <a:endParaRPr lang="en-US" altLang="zh-CN" sz="2400" dirty="0">
              <a:latin typeface="+mj-ea"/>
            </a:endParaRPr>
          </a:p>
        </p:txBody>
      </p:sp>
      <p:sp>
        <p:nvSpPr>
          <p:cNvPr id="27" name="矩形 26"/>
          <p:cNvSpPr/>
          <p:nvPr/>
        </p:nvSpPr>
        <p:spPr>
          <a:xfrm>
            <a:off x="1696469" y="3971788"/>
            <a:ext cx="5478772" cy="461665"/>
          </a:xfrm>
          <a:prstGeom prst="rect">
            <a:avLst/>
          </a:prstGeom>
        </p:spPr>
        <p:txBody>
          <a:bodyPr wrap="square">
            <a:spAutoFit/>
          </a:bodyPr>
          <a:lstStyle/>
          <a:p>
            <a:r>
              <a:rPr lang="en-US" altLang="zh-CN" sz="2400" dirty="0">
                <a:latin typeface="+mj-ea"/>
              </a:rPr>
              <a:t>9.2 </a:t>
            </a:r>
            <a:r>
              <a:rPr lang="zh-CN" altLang="en-US" sz="2400" dirty="0">
                <a:latin typeface="+mj-ea"/>
              </a:rPr>
              <a:t>文件存储空间的管理</a:t>
            </a:r>
            <a:endParaRPr lang="zh-CN" altLang="en-US" sz="2400" dirty="0">
              <a:latin typeface="+mj-ea"/>
            </a:endParaRPr>
          </a:p>
        </p:txBody>
      </p:sp>
      <p:sp>
        <p:nvSpPr>
          <p:cNvPr id="28" name="矩形 27"/>
          <p:cNvSpPr/>
          <p:nvPr/>
        </p:nvSpPr>
        <p:spPr>
          <a:xfrm>
            <a:off x="1696468" y="4590913"/>
            <a:ext cx="4769645" cy="461665"/>
          </a:xfrm>
          <a:prstGeom prst="rect">
            <a:avLst/>
          </a:prstGeom>
        </p:spPr>
        <p:txBody>
          <a:bodyPr wrap="square">
            <a:spAutoFit/>
          </a:bodyPr>
          <a:lstStyle/>
          <a:p>
            <a:r>
              <a:rPr lang="en-US" altLang="zh-CN" sz="2400" dirty="0">
                <a:latin typeface="+mj-ea"/>
              </a:rPr>
              <a:t>9.3 </a:t>
            </a:r>
            <a:r>
              <a:rPr lang="zh-CN" altLang="en-US" sz="2400" dirty="0">
                <a:latin typeface="+mj-ea"/>
              </a:rPr>
              <a:t>提高磁盘</a:t>
            </a:r>
            <a:r>
              <a:rPr lang="en-US" altLang="zh-CN" sz="2400" dirty="0">
                <a:latin typeface="+mj-ea"/>
              </a:rPr>
              <a:t>I/O</a:t>
            </a:r>
            <a:r>
              <a:rPr lang="zh-CN" altLang="en-US" sz="2400" dirty="0">
                <a:latin typeface="+mj-ea"/>
              </a:rPr>
              <a:t>速度的途径</a:t>
            </a:r>
            <a:endParaRPr lang="zh-CN" altLang="en-US" sz="2400" dirty="0">
              <a:latin typeface="+mj-ea"/>
            </a:endParaRPr>
          </a:p>
        </p:txBody>
      </p:sp>
      <p:sp>
        <p:nvSpPr>
          <p:cNvPr id="29" name="矩形 28"/>
          <p:cNvSpPr/>
          <p:nvPr/>
        </p:nvSpPr>
        <p:spPr>
          <a:xfrm>
            <a:off x="1696468" y="5210038"/>
            <a:ext cx="4620355" cy="461665"/>
          </a:xfrm>
          <a:prstGeom prst="rect">
            <a:avLst/>
          </a:prstGeom>
        </p:spPr>
        <p:txBody>
          <a:bodyPr wrap="square">
            <a:spAutoFit/>
          </a:bodyPr>
          <a:lstStyle/>
          <a:p>
            <a:r>
              <a:rPr lang="en-US" altLang="zh-CN" sz="2400" dirty="0">
                <a:latin typeface="+mj-ea"/>
              </a:rPr>
              <a:t>9.4 </a:t>
            </a:r>
            <a:r>
              <a:rPr lang="zh-CN" altLang="en-US" sz="2400" dirty="0">
                <a:latin typeface="+mj-ea"/>
              </a:rPr>
              <a:t>提高磁盘可靠性的技术</a:t>
            </a:r>
            <a:endParaRPr lang="zh-CN" altLang="en-US" sz="2400" dirty="0">
              <a:latin typeface="+mj-ea"/>
            </a:endParaRPr>
          </a:p>
        </p:txBody>
      </p:sp>
      <p:sp>
        <p:nvSpPr>
          <p:cNvPr id="3" name="矩形 2"/>
          <p:cNvSpPr/>
          <p:nvPr/>
        </p:nvSpPr>
        <p:spPr>
          <a:xfrm>
            <a:off x="6466113" y="2386337"/>
            <a:ext cx="5191691" cy="646331"/>
          </a:xfrm>
          <a:prstGeom prst="rect">
            <a:avLst/>
          </a:prstGeom>
        </p:spPr>
        <p:txBody>
          <a:bodyPr wrap="square">
            <a:spAutoFit/>
          </a:bodyPr>
          <a:lstStyle/>
          <a:p>
            <a:r>
              <a:rPr lang="zh-CN" altLang="en-US" sz="3600" dirty="0">
                <a:solidFill>
                  <a:srgbClr val="000000"/>
                </a:solidFill>
              </a:rPr>
              <a:t>第</a:t>
            </a:r>
            <a:r>
              <a:rPr lang="en-US" altLang="zh-CN" sz="3600" dirty="0">
                <a:solidFill>
                  <a:srgbClr val="000000"/>
                </a:solidFill>
              </a:rPr>
              <a:t>9</a:t>
            </a:r>
            <a:r>
              <a:rPr lang="zh-CN" altLang="en-US" sz="3600" dirty="0">
                <a:solidFill>
                  <a:srgbClr val="000000"/>
                </a:solidFill>
              </a:rPr>
              <a:t>章    磁盘存储器管理</a:t>
            </a:r>
            <a:endParaRPr lang="zh-CN" altLang="en-US" sz="3600" dirty="0"/>
          </a:p>
        </p:txBody>
      </p:sp>
      <p:cxnSp>
        <p:nvCxnSpPr>
          <p:cNvPr id="5" name="直接连接符 4"/>
          <p:cNvCxnSpPr/>
          <p:nvPr/>
        </p:nvCxnSpPr>
        <p:spPr>
          <a:xfrm>
            <a:off x="6640497" y="3190471"/>
            <a:ext cx="490662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43922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2436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7983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831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2439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6210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62820"/>
            <a:ext cx="527050" cy="527050"/>
          </a:xfrm>
          <a:prstGeom prst="rect">
            <a:avLst/>
          </a:prstGeom>
          <a:ln>
            <a:noFill/>
          </a:ln>
          <a:effectLst>
            <a:softEdge rad="0"/>
          </a:effectLst>
        </p:spPr>
      </p:pic>
      <p:sp>
        <p:nvSpPr>
          <p:cNvPr id="33" name="矩形 32"/>
          <p:cNvSpPr/>
          <p:nvPr/>
        </p:nvSpPr>
        <p:spPr>
          <a:xfrm>
            <a:off x="1696468" y="5863246"/>
            <a:ext cx="4219140" cy="461665"/>
          </a:xfrm>
          <a:prstGeom prst="rect">
            <a:avLst/>
          </a:prstGeom>
        </p:spPr>
        <p:txBody>
          <a:bodyPr wrap="square">
            <a:spAutoFit/>
          </a:bodyPr>
          <a:lstStyle/>
          <a:p>
            <a:r>
              <a:rPr lang="en-US" altLang="zh-CN" sz="2400" dirty="0">
                <a:latin typeface="+mj-ea"/>
              </a:rPr>
              <a:t>9.5 </a:t>
            </a:r>
            <a:r>
              <a:rPr lang="zh-CN" altLang="en-US" sz="2400" dirty="0">
                <a:latin typeface="+mj-ea"/>
              </a:rPr>
              <a:t>存储新技术</a:t>
            </a:r>
            <a:endParaRPr lang="zh-CN" altLang="en-US" sz="2400" dirty="0">
              <a:latin typeface="+mj-ea"/>
            </a:endParaRPr>
          </a:p>
        </p:txBody>
      </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7" y="5816028"/>
            <a:ext cx="527050" cy="527050"/>
          </a:xfrm>
          <a:prstGeom prst="rect">
            <a:avLst/>
          </a:prstGeom>
          <a:ln>
            <a:noFill/>
          </a:ln>
          <a:effectLst>
            <a:softEdge rad="0"/>
          </a:effectLst>
        </p:spPr>
      </p:pic>
      <p:sp>
        <p:nvSpPr>
          <p:cNvPr id="35" name="矩形 34"/>
          <p:cNvSpPr/>
          <p:nvPr/>
        </p:nvSpPr>
        <p:spPr>
          <a:xfrm>
            <a:off x="6754405" y="5837115"/>
            <a:ext cx="4219140" cy="461665"/>
          </a:xfrm>
          <a:prstGeom prst="rect">
            <a:avLst/>
          </a:prstGeom>
        </p:spPr>
        <p:txBody>
          <a:bodyPr wrap="square">
            <a:spAutoFit/>
          </a:bodyPr>
          <a:lstStyle/>
          <a:p>
            <a:r>
              <a:rPr lang="en-US" altLang="zh-CN" sz="2400" dirty="0">
                <a:latin typeface="+mj-ea"/>
              </a:rPr>
              <a:t>9.6 </a:t>
            </a:r>
            <a:r>
              <a:rPr lang="zh-CN" altLang="en-US" sz="2400" dirty="0">
                <a:latin typeface="+mj-ea"/>
              </a:rPr>
              <a:t>数据一致性控制</a:t>
            </a:r>
            <a:endParaRPr lang="zh-CN" altLang="en-US" sz="2400" dirty="0">
              <a:latin typeface="+mj-ea"/>
            </a:endParaRPr>
          </a:p>
        </p:txBody>
      </p:sp>
      <p:pic>
        <p:nvPicPr>
          <p:cNvPr id="36" name="图片 3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227354" y="5789897"/>
            <a:ext cx="527050" cy="527050"/>
          </a:xfrm>
          <a:prstGeom prst="rect">
            <a:avLst/>
          </a:prstGeom>
          <a:ln>
            <a:noFill/>
          </a:ln>
          <a:effectLst>
            <a:softEdge rad="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第</a:t>
            </a:r>
            <a:r>
              <a:rPr lang="en-US" altLang="zh-CN" sz="2800" b="1" dirty="0">
                <a:solidFill>
                  <a:schemeClr val="bg1"/>
                </a:solidFill>
              </a:rPr>
              <a:t>9</a:t>
            </a:r>
            <a:r>
              <a:rPr lang="zh-CN" altLang="en-US" sz="2800" b="1" dirty="0">
                <a:solidFill>
                  <a:schemeClr val="bg1"/>
                </a:solidFill>
              </a:rPr>
              <a:t>章 磁盘存储器管理</a:t>
            </a:r>
            <a:endParaRPr lang="zh-CN" altLang="en-US" sz="2800" b="1" dirty="0">
              <a:solidFill>
                <a:schemeClr val="bg1"/>
              </a:solidFill>
            </a:endParaRPr>
          </a:p>
        </p:txBody>
      </p:sp>
      <p:sp>
        <p:nvSpPr>
          <p:cNvPr id="4" name="文本框 3"/>
          <p:cNvSpPr txBox="1"/>
          <p:nvPr/>
        </p:nvSpPr>
        <p:spPr>
          <a:xfrm>
            <a:off x="1496960" y="1585520"/>
            <a:ext cx="7200554" cy="477054"/>
          </a:xfrm>
          <a:prstGeom prst="rect">
            <a:avLst/>
          </a:prstGeom>
          <a:noFill/>
        </p:spPr>
        <p:txBody>
          <a:bodyPr wrap="square" rtlCol="0">
            <a:spAutoFit/>
          </a:bodyPr>
          <a:lstStyle/>
          <a:p>
            <a:r>
              <a:rPr lang="zh-CN" altLang="en-US" sz="2500" dirty="0"/>
              <a:t>文件的物理结构直接与外存的组织方式有关。</a:t>
            </a:r>
            <a:endParaRPr lang="zh-CN" altLang="en-US" sz="2500" dirty="0"/>
          </a:p>
        </p:txBody>
      </p:sp>
      <p:sp>
        <p:nvSpPr>
          <p:cNvPr id="9" name="文本框 8"/>
          <p:cNvSpPr txBox="1"/>
          <p:nvPr/>
        </p:nvSpPr>
        <p:spPr>
          <a:xfrm>
            <a:off x="1496960" y="4976206"/>
            <a:ext cx="6706041" cy="477054"/>
          </a:xfrm>
          <a:prstGeom prst="rect">
            <a:avLst/>
          </a:prstGeom>
          <a:noFill/>
        </p:spPr>
        <p:txBody>
          <a:bodyPr wrap="square" rtlCol="0">
            <a:spAutoFit/>
          </a:bodyPr>
          <a:lstStyle/>
          <a:p>
            <a:r>
              <a:rPr lang="zh-CN" altLang="en-US" sz="2500" dirty="0"/>
              <a:t>现代</a:t>
            </a:r>
            <a:r>
              <a:rPr lang="en-US" altLang="zh-CN" sz="2500" dirty="0"/>
              <a:t>OS</a:t>
            </a:r>
            <a:r>
              <a:rPr lang="zh-CN" altLang="en-US" sz="2500" dirty="0"/>
              <a:t>，可能会采用多种类型的外存组织方式。</a:t>
            </a:r>
            <a:endParaRPr lang="zh-CN" altLang="en-US" sz="2500" dirty="0"/>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69054" y="1566973"/>
            <a:ext cx="527050" cy="527050"/>
          </a:xfrm>
          <a:prstGeom prst="rect">
            <a:avLst/>
          </a:prstGeom>
          <a:ln>
            <a:noFill/>
          </a:ln>
          <a:effectLst>
            <a:softEdge rad="0"/>
          </a:effectLst>
        </p:spPr>
      </p:pic>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69054" y="2580619"/>
            <a:ext cx="527050" cy="527050"/>
          </a:xfrm>
          <a:prstGeom prst="rect">
            <a:avLst/>
          </a:prstGeom>
          <a:ln>
            <a:noFill/>
          </a:ln>
          <a:effectLst>
            <a:softEdge rad="0"/>
          </a:effectLst>
        </p:spPr>
      </p:pic>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69054" y="4897338"/>
            <a:ext cx="527050" cy="527050"/>
          </a:xfrm>
          <a:prstGeom prst="rect">
            <a:avLst/>
          </a:prstGeom>
          <a:ln>
            <a:noFill/>
          </a:ln>
          <a:effectLst>
            <a:softEdge rad="0"/>
          </a:effectLst>
        </p:spPr>
      </p:pic>
      <p:sp>
        <p:nvSpPr>
          <p:cNvPr id="10" name="文本框 9"/>
          <p:cNvSpPr txBox="1"/>
          <p:nvPr/>
        </p:nvSpPr>
        <p:spPr>
          <a:xfrm>
            <a:off x="1496960" y="2627720"/>
            <a:ext cx="7200554" cy="477054"/>
          </a:xfrm>
          <a:prstGeom prst="rect">
            <a:avLst/>
          </a:prstGeom>
          <a:noFill/>
        </p:spPr>
        <p:txBody>
          <a:bodyPr wrap="square" rtlCol="0">
            <a:spAutoFit/>
          </a:bodyPr>
          <a:lstStyle/>
          <a:p>
            <a:r>
              <a:rPr lang="zh-CN" altLang="en-US" sz="2500" dirty="0"/>
              <a:t>不同的外存组织方式，将形成不同的文件物理结构。</a:t>
            </a:r>
            <a:endParaRPr lang="zh-CN" altLang="en-US" sz="2500" dirty="0"/>
          </a:p>
        </p:txBody>
      </p:sp>
      <p:sp>
        <p:nvSpPr>
          <p:cNvPr id="11" name="íşļîḓé"/>
          <p:cNvSpPr/>
          <p:nvPr/>
        </p:nvSpPr>
        <p:spPr bwMode="auto">
          <a:xfrm>
            <a:off x="1496960" y="3104773"/>
            <a:ext cx="9301649" cy="1541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u="sng" dirty="0">
                <a:solidFill>
                  <a:srgbClr val="0000FF"/>
                </a:solidFill>
              </a:rPr>
              <a:t>连续组织方式</a:t>
            </a:r>
            <a:r>
              <a:rPr lang="zh-CN" altLang="en-US" sz="2400" dirty="0"/>
              <a:t>：形成的文件物理结构是</a:t>
            </a:r>
            <a:r>
              <a:rPr lang="zh-CN" altLang="en-US" sz="2400" u="sng" dirty="0">
                <a:solidFill>
                  <a:srgbClr val="0000FF"/>
                </a:solidFill>
              </a:rPr>
              <a:t>顺序式文件结构</a:t>
            </a:r>
            <a:r>
              <a:rPr lang="zh-CN" altLang="en-US" sz="2400" dirty="0"/>
              <a:t>。</a:t>
            </a:r>
            <a:endParaRPr lang="zh-CN" altLang="en-US" sz="24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u="sng" dirty="0"/>
              <a:t>链接组织方式</a:t>
            </a:r>
            <a:r>
              <a:rPr lang="zh-CN" altLang="en-US" sz="2400" dirty="0"/>
              <a:t>：形成的文件物理结构是</a:t>
            </a:r>
            <a:r>
              <a:rPr lang="zh-CN" altLang="en-US" sz="2400" u="sng" dirty="0"/>
              <a:t>链接式文件结构</a:t>
            </a:r>
            <a:r>
              <a:rPr lang="zh-CN" altLang="en-US" sz="2400" dirty="0"/>
              <a:t>。</a:t>
            </a:r>
            <a:endParaRPr lang="zh-CN" altLang="en-US" sz="24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u="sng" dirty="0">
                <a:solidFill>
                  <a:srgbClr val="FF0000"/>
                </a:solidFill>
              </a:rPr>
              <a:t>索引组织方式</a:t>
            </a:r>
            <a:r>
              <a:rPr lang="zh-CN" altLang="en-US" sz="2400" dirty="0"/>
              <a:t>：形成的文件物理结构是</a:t>
            </a:r>
            <a:r>
              <a:rPr lang="zh-CN" altLang="en-US" sz="2400" u="sng" dirty="0">
                <a:solidFill>
                  <a:srgbClr val="FF0000"/>
                </a:solidFill>
              </a:rPr>
              <a:t>索引式文件结构</a:t>
            </a:r>
            <a:r>
              <a:rPr lang="zh-CN" altLang="en-US" sz="2400" dirty="0"/>
              <a:t>。</a:t>
            </a:r>
            <a:endParaRPr lang="zh-CN" alt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476238"/>
            <a:ext cx="4500146" cy="461665"/>
          </a:xfrm>
          <a:prstGeom prst="rect">
            <a:avLst/>
          </a:prstGeom>
        </p:spPr>
        <p:txBody>
          <a:bodyPr wrap="square">
            <a:spAutoFit/>
          </a:bodyPr>
          <a:lstStyle/>
          <a:p>
            <a:r>
              <a:rPr lang="en-US" altLang="zh-CN" sz="2400" dirty="0">
                <a:latin typeface="+mj-ea"/>
                <a:ea typeface="+mj-ea"/>
              </a:rPr>
              <a:t>9.1 </a:t>
            </a:r>
            <a:r>
              <a:rPr lang="zh-CN" altLang="en-US" sz="2400" dirty="0">
                <a:latin typeface="+mj-ea"/>
                <a:ea typeface="+mj-ea"/>
              </a:rPr>
              <a:t>外存的组织方式</a:t>
            </a:r>
            <a:endParaRPr lang="zh-CN" altLang="en-US" sz="2400" dirty="0">
              <a:latin typeface="+mj-ea"/>
              <a:ea typeface="+mj-ea"/>
            </a:endParaRPr>
          </a:p>
        </p:txBody>
      </p:sp>
      <p:sp>
        <p:nvSpPr>
          <p:cNvPr id="23" name="矩形 22"/>
          <p:cNvSpPr/>
          <p:nvPr/>
        </p:nvSpPr>
        <p:spPr>
          <a:xfrm>
            <a:off x="1696469" y="2114413"/>
            <a:ext cx="3682150" cy="461665"/>
          </a:xfrm>
          <a:prstGeom prst="rect">
            <a:avLst/>
          </a:prstGeom>
        </p:spPr>
        <p:txBody>
          <a:bodyPr wrap="square">
            <a:spAutoFit/>
          </a:bodyPr>
          <a:lstStyle/>
          <a:p>
            <a:r>
              <a:rPr lang="en-US" altLang="zh-CN" sz="2400" b="1" dirty="0">
                <a:solidFill>
                  <a:srgbClr val="0000FF"/>
                </a:solidFill>
                <a:latin typeface="+mj-ea"/>
              </a:rPr>
              <a:t>9.1.1 </a:t>
            </a:r>
            <a:r>
              <a:rPr lang="zh-CN" altLang="en-US" sz="2400" b="1" dirty="0">
                <a:solidFill>
                  <a:srgbClr val="0000FF"/>
                </a:solidFill>
                <a:latin typeface="+mj-ea"/>
              </a:rPr>
              <a:t>连续组织方式</a:t>
            </a:r>
            <a:endParaRPr lang="en-US" altLang="zh-CN" sz="2400" b="1" dirty="0">
              <a:solidFill>
                <a:srgbClr val="0000FF"/>
              </a:solidFill>
              <a:latin typeface="+mj-ea"/>
            </a:endParaRPr>
          </a:p>
        </p:txBody>
      </p:sp>
      <p:sp>
        <p:nvSpPr>
          <p:cNvPr id="24" name="矩形 23"/>
          <p:cNvSpPr/>
          <p:nvPr/>
        </p:nvSpPr>
        <p:spPr>
          <a:xfrm>
            <a:off x="1696468" y="2733538"/>
            <a:ext cx="3488967" cy="461665"/>
          </a:xfrm>
          <a:prstGeom prst="rect">
            <a:avLst/>
          </a:prstGeom>
        </p:spPr>
        <p:txBody>
          <a:bodyPr wrap="square">
            <a:spAutoFit/>
          </a:bodyPr>
          <a:lstStyle/>
          <a:p>
            <a:r>
              <a:rPr lang="en-US" altLang="zh-CN" sz="2400" dirty="0">
                <a:latin typeface="+mj-ea"/>
              </a:rPr>
              <a:t>9.1.2 </a:t>
            </a:r>
            <a:r>
              <a:rPr lang="zh-CN" altLang="en-US" sz="2400" dirty="0">
                <a:latin typeface="+mj-ea"/>
              </a:rPr>
              <a:t>链接组织方式</a:t>
            </a:r>
            <a:endParaRPr lang="en-US" altLang="zh-CN" sz="2400" dirty="0">
              <a:latin typeface="+mj-ea"/>
            </a:endParaRPr>
          </a:p>
        </p:txBody>
      </p:sp>
      <p:sp>
        <p:nvSpPr>
          <p:cNvPr id="25" name="矩形 24"/>
          <p:cNvSpPr/>
          <p:nvPr/>
        </p:nvSpPr>
        <p:spPr>
          <a:xfrm>
            <a:off x="1696468" y="3352663"/>
            <a:ext cx="3488967" cy="461665"/>
          </a:xfrm>
          <a:prstGeom prst="rect">
            <a:avLst/>
          </a:prstGeom>
        </p:spPr>
        <p:txBody>
          <a:bodyPr wrap="square">
            <a:spAutoFit/>
          </a:bodyPr>
          <a:lstStyle/>
          <a:p>
            <a:r>
              <a:rPr lang="en-US" altLang="zh-CN" sz="2400" dirty="0">
                <a:latin typeface="+mj-ea"/>
              </a:rPr>
              <a:t>9.1.1 </a:t>
            </a:r>
            <a:r>
              <a:rPr lang="zh-CN" altLang="en-US" sz="2400" dirty="0">
                <a:latin typeface="+mj-ea"/>
              </a:rPr>
              <a:t>索引组织方式</a:t>
            </a:r>
            <a:endParaRPr lang="en-US" altLang="zh-CN" sz="2400" dirty="0">
              <a:latin typeface="+mj-ea"/>
            </a:endParaRPr>
          </a:p>
        </p:txBody>
      </p:sp>
      <p:sp>
        <p:nvSpPr>
          <p:cNvPr id="27" name="矩形 26"/>
          <p:cNvSpPr/>
          <p:nvPr/>
        </p:nvSpPr>
        <p:spPr>
          <a:xfrm>
            <a:off x="1696469" y="3971788"/>
            <a:ext cx="5478772" cy="461665"/>
          </a:xfrm>
          <a:prstGeom prst="rect">
            <a:avLst/>
          </a:prstGeom>
        </p:spPr>
        <p:txBody>
          <a:bodyPr wrap="square">
            <a:spAutoFit/>
          </a:bodyPr>
          <a:lstStyle/>
          <a:p>
            <a:r>
              <a:rPr lang="en-US" altLang="zh-CN" sz="2400" dirty="0">
                <a:latin typeface="+mj-ea"/>
              </a:rPr>
              <a:t>9.2 </a:t>
            </a:r>
            <a:r>
              <a:rPr lang="zh-CN" altLang="en-US" sz="2400" dirty="0">
                <a:latin typeface="+mj-ea"/>
              </a:rPr>
              <a:t>文件存储空间的管理</a:t>
            </a:r>
            <a:endParaRPr lang="zh-CN" altLang="en-US" sz="2400" dirty="0">
              <a:latin typeface="+mj-ea"/>
            </a:endParaRPr>
          </a:p>
        </p:txBody>
      </p:sp>
      <p:sp>
        <p:nvSpPr>
          <p:cNvPr id="28" name="矩形 27"/>
          <p:cNvSpPr/>
          <p:nvPr/>
        </p:nvSpPr>
        <p:spPr>
          <a:xfrm>
            <a:off x="1696468" y="4590913"/>
            <a:ext cx="4769645" cy="461665"/>
          </a:xfrm>
          <a:prstGeom prst="rect">
            <a:avLst/>
          </a:prstGeom>
        </p:spPr>
        <p:txBody>
          <a:bodyPr wrap="square">
            <a:spAutoFit/>
          </a:bodyPr>
          <a:lstStyle/>
          <a:p>
            <a:r>
              <a:rPr lang="en-US" altLang="zh-CN" sz="2400" dirty="0">
                <a:latin typeface="+mj-ea"/>
              </a:rPr>
              <a:t>9.3 </a:t>
            </a:r>
            <a:r>
              <a:rPr lang="zh-CN" altLang="en-US" sz="2400" dirty="0">
                <a:latin typeface="+mj-ea"/>
              </a:rPr>
              <a:t>提高磁盘</a:t>
            </a:r>
            <a:r>
              <a:rPr lang="en-US" altLang="zh-CN" sz="2400" dirty="0">
                <a:latin typeface="+mj-ea"/>
              </a:rPr>
              <a:t>I/O</a:t>
            </a:r>
            <a:r>
              <a:rPr lang="zh-CN" altLang="en-US" sz="2400" dirty="0">
                <a:latin typeface="+mj-ea"/>
              </a:rPr>
              <a:t>速度的途径</a:t>
            </a:r>
            <a:endParaRPr lang="zh-CN" altLang="en-US" sz="2400" dirty="0">
              <a:latin typeface="+mj-ea"/>
            </a:endParaRPr>
          </a:p>
        </p:txBody>
      </p:sp>
      <p:sp>
        <p:nvSpPr>
          <p:cNvPr id="29" name="矩形 28"/>
          <p:cNvSpPr/>
          <p:nvPr/>
        </p:nvSpPr>
        <p:spPr>
          <a:xfrm>
            <a:off x="1696468" y="5210038"/>
            <a:ext cx="4620355" cy="461665"/>
          </a:xfrm>
          <a:prstGeom prst="rect">
            <a:avLst/>
          </a:prstGeom>
        </p:spPr>
        <p:txBody>
          <a:bodyPr wrap="square">
            <a:spAutoFit/>
          </a:bodyPr>
          <a:lstStyle/>
          <a:p>
            <a:r>
              <a:rPr lang="en-US" altLang="zh-CN" sz="2400" dirty="0">
                <a:latin typeface="+mj-ea"/>
              </a:rPr>
              <a:t>9.4 </a:t>
            </a:r>
            <a:r>
              <a:rPr lang="zh-CN" altLang="en-US" sz="2400" dirty="0">
                <a:latin typeface="+mj-ea"/>
              </a:rPr>
              <a:t>提高磁盘可靠性的技术</a:t>
            </a:r>
            <a:endParaRPr lang="zh-CN" altLang="en-US" sz="2400" dirty="0">
              <a:latin typeface="+mj-ea"/>
            </a:endParaRPr>
          </a:p>
        </p:txBody>
      </p:sp>
      <p:sp>
        <p:nvSpPr>
          <p:cNvPr id="3" name="矩形 2"/>
          <p:cNvSpPr/>
          <p:nvPr/>
        </p:nvSpPr>
        <p:spPr>
          <a:xfrm>
            <a:off x="6466113" y="2386337"/>
            <a:ext cx="5191691" cy="646331"/>
          </a:xfrm>
          <a:prstGeom prst="rect">
            <a:avLst/>
          </a:prstGeom>
        </p:spPr>
        <p:txBody>
          <a:bodyPr wrap="square">
            <a:spAutoFit/>
          </a:bodyPr>
          <a:lstStyle/>
          <a:p>
            <a:r>
              <a:rPr lang="zh-CN" altLang="en-US" sz="3600" dirty="0">
                <a:solidFill>
                  <a:srgbClr val="000000"/>
                </a:solidFill>
              </a:rPr>
              <a:t>第</a:t>
            </a:r>
            <a:r>
              <a:rPr lang="en-US" altLang="zh-CN" sz="3600" dirty="0">
                <a:solidFill>
                  <a:srgbClr val="000000"/>
                </a:solidFill>
              </a:rPr>
              <a:t>9</a:t>
            </a:r>
            <a:r>
              <a:rPr lang="zh-CN" altLang="en-US" sz="3600" dirty="0">
                <a:solidFill>
                  <a:srgbClr val="000000"/>
                </a:solidFill>
              </a:rPr>
              <a:t>章    磁盘存储器管理</a:t>
            </a:r>
            <a:endParaRPr lang="zh-CN" altLang="en-US" sz="3600" dirty="0"/>
          </a:p>
        </p:txBody>
      </p:sp>
      <p:cxnSp>
        <p:nvCxnSpPr>
          <p:cNvPr id="5" name="直接连接符 4"/>
          <p:cNvCxnSpPr/>
          <p:nvPr/>
        </p:nvCxnSpPr>
        <p:spPr>
          <a:xfrm>
            <a:off x="6640497" y="3190471"/>
            <a:ext cx="490662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43922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2436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7983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831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2439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6210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62820"/>
            <a:ext cx="527050" cy="527050"/>
          </a:xfrm>
          <a:prstGeom prst="rect">
            <a:avLst/>
          </a:prstGeom>
          <a:ln>
            <a:noFill/>
          </a:ln>
          <a:effectLst>
            <a:softEdge rad="0"/>
          </a:effectLst>
        </p:spPr>
      </p:pic>
      <p:sp>
        <p:nvSpPr>
          <p:cNvPr id="33" name="矩形 32"/>
          <p:cNvSpPr/>
          <p:nvPr/>
        </p:nvSpPr>
        <p:spPr>
          <a:xfrm>
            <a:off x="1696468" y="5863246"/>
            <a:ext cx="4219140" cy="461665"/>
          </a:xfrm>
          <a:prstGeom prst="rect">
            <a:avLst/>
          </a:prstGeom>
        </p:spPr>
        <p:txBody>
          <a:bodyPr wrap="square">
            <a:spAutoFit/>
          </a:bodyPr>
          <a:lstStyle/>
          <a:p>
            <a:r>
              <a:rPr lang="en-US" altLang="zh-CN" sz="2400" dirty="0">
                <a:latin typeface="+mj-ea"/>
              </a:rPr>
              <a:t>9.5 </a:t>
            </a:r>
            <a:r>
              <a:rPr lang="zh-CN" altLang="en-US" sz="2400" dirty="0">
                <a:latin typeface="+mj-ea"/>
              </a:rPr>
              <a:t>存储新技术</a:t>
            </a:r>
            <a:endParaRPr lang="zh-CN" altLang="en-US" sz="2400" dirty="0">
              <a:latin typeface="+mj-ea"/>
            </a:endParaRPr>
          </a:p>
        </p:txBody>
      </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7" y="5816028"/>
            <a:ext cx="527050" cy="527050"/>
          </a:xfrm>
          <a:prstGeom prst="rect">
            <a:avLst/>
          </a:prstGeom>
          <a:ln>
            <a:noFill/>
          </a:ln>
          <a:effectLst>
            <a:softEdge rad="0"/>
          </a:effectLst>
        </p:spPr>
      </p:pic>
      <p:sp>
        <p:nvSpPr>
          <p:cNvPr id="35" name="矩形 34"/>
          <p:cNvSpPr/>
          <p:nvPr/>
        </p:nvSpPr>
        <p:spPr>
          <a:xfrm>
            <a:off x="6754405" y="5837115"/>
            <a:ext cx="4219140" cy="461665"/>
          </a:xfrm>
          <a:prstGeom prst="rect">
            <a:avLst/>
          </a:prstGeom>
        </p:spPr>
        <p:txBody>
          <a:bodyPr wrap="square">
            <a:spAutoFit/>
          </a:bodyPr>
          <a:lstStyle/>
          <a:p>
            <a:r>
              <a:rPr lang="en-US" altLang="zh-CN" sz="2400" dirty="0">
                <a:latin typeface="+mj-ea"/>
              </a:rPr>
              <a:t>9.6 </a:t>
            </a:r>
            <a:r>
              <a:rPr lang="zh-CN" altLang="en-US" sz="2400" dirty="0">
                <a:latin typeface="+mj-ea"/>
              </a:rPr>
              <a:t>数据一致性控制</a:t>
            </a:r>
            <a:endParaRPr lang="zh-CN" altLang="en-US" sz="2400" dirty="0">
              <a:latin typeface="+mj-ea"/>
            </a:endParaRPr>
          </a:p>
        </p:txBody>
      </p:sp>
      <p:pic>
        <p:nvPicPr>
          <p:cNvPr id="36" name="图片 3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227354" y="5789897"/>
            <a:ext cx="527050" cy="527050"/>
          </a:xfrm>
          <a:prstGeom prst="rect">
            <a:avLst/>
          </a:prstGeom>
          <a:ln>
            <a:noFill/>
          </a:ln>
          <a:effectLst>
            <a:softEdge rad="0"/>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9.1.1</a:t>
            </a:r>
            <a:r>
              <a:rPr lang="zh-CN" altLang="en-US" sz="2800" b="1" dirty="0">
                <a:solidFill>
                  <a:schemeClr val="bg1"/>
                </a:solidFill>
              </a:rPr>
              <a:t>连续组织方式</a:t>
            </a:r>
            <a:endParaRPr lang="zh-CN" altLang="en-US" sz="2800" b="1" dirty="0">
              <a:solidFill>
                <a:schemeClr val="bg1"/>
              </a:solidFill>
            </a:endParaRPr>
          </a:p>
        </p:txBody>
      </p:sp>
      <p:sp>
        <p:nvSpPr>
          <p:cNvPr id="14" name="文本框 13"/>
          <p:cNvSpPr txBox="1"/>
          <p:nvPr/>
        </p:nvSpPr>
        <p:spPr>
          <a:xfrm>
            <a:off x="822257" y="1274802"/>
            <a:ext cx="7200554" cy="477054"/>
          </a:xfrm>
          <a:prstGeom prst="rect">
            <a:avLst/>
          </a:prstGeom>
          <a:noFill/>
        </p:spPr>
        <p:txBody>
          <a:bodyPr wrap="square" rtlCol="0">
            <a:spAutoFit/>
          </a:bodyPr>
          <a:lstStyle/>
          <a:p>
            <a:r>
              <a:rPr lang="zh-CN" altLang="en-US" sz="2500" dirty="0"/>
              <a:t>为每个文件分配一组相邻接（连续）的磁盘块</a:t>
            </a:r>
            <a:endParaRPr lang="zh-CN" altLang="en-US" sz="2500" dirty="0"/>
          </a:p>
        </p:txBody>
      </p:sp>
      <p:sp>
        <p:nvSpPr>
          <p:cNvPr id="15" name="矩形: 圆角 14"/>
          <p:cNvSpPr/>
          <p:nvPr/>
        </p:nvSpPr>
        <p:spPr>
          <a:xfrm>
            <a:off x="861681" y="2093238"/>
            <a:ext cx="3843483"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defRPr/>
            </a:pPr>
            <a:r>
              <a:rPr lang="zh-CN" altLang="en-US" sz="2400" dirty="0"/>
              <a:t>优点：</a:t>
            </a:r>
            <a:endParaRPr lang="zh-CN" altLang="en-US" sz="2400" dirty="0"/>
          </a:p>
        </p:txBody>
      </p:sp>
      <p:sp>
        <p:nvSpPr>
          <p:cNvPr id="17" name="矩形: 圆角 16"/>
          <p:cNvSpPr/>
          <p:nvPr/>
        </p:nvSpPr>
        <p:spPr>
          <a:xfrm>
            <a:off x="6021745" y="2093238"/>
            <a:ext cx="5024207"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defRPr/>
            </a:pPr>
            <a:r>
              <a:rPr lang="zh-CN" altLang="en-US" sz="2400" dirty="0"/>
              <a:t>缺点：</a:t>
            </a:r>
            <a:endParaRPr lang="zh-CN" altLang="en-US" sz="2400" dirty="0"/>
          </a:p>
        </p:txBody>
      </p:sp>
      <p:sp>
        <p:nvSpPr>
          <p:cNvPr id="18" name="内容占位符 2"/>
          <p:cNvSpPr txBox="1"/>
          <p:nvPr/>
        </p:nvSpPr>
        <p:spPr>
          <a:xfrm>
            <a:off x="6021745" y="2815822"/>
            <a:ext cx="5024207" cy="322836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要求分配连续的存储空间，会产生许多外碎片，因此外存空间利用率低</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必须事先知道文件的长度</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solidFill>
                  <a:srgbClr val="FF0000"/>
                </a:solidFill>
              </a:rPr>
              <a:t>不能灵活地删除和插入记录</a:t>
            </a:r>
            <a:endParaRPr lang="zh-CN" altLang="en-US" sz="2400" dirty="0">
              <a:solidFill>
                <a:srgbClr val="FF0000"/>
              </a:solidFill>
            </a:endParaRP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solidFill>
                  <a:srgbClr val="FF0000"/>
                </a:solidFill>
              </a:rPr>
              <a:t>文件不能动态增长</a:t>
            </a:r>
            <a:endParaRPr lang="zh-CN" altLang="en-US" sz="2400" dirty="0">
              <a:solidFill>
                <a:srgbClr val="FF0000"/>
              </a:solidFill>
            </a:endParaRPr>
          </a:p>
        </p:txBody>
      </p:sp>
      <p:sp>
        <p:nvSpPr>
          <p:cNvPr id="22" name="内容占位符 2"/>
          <p:cNvSpPr txBox="1"/>
          <p:nvPr/>
        </p:nvSpPr>
        <p:spPr>
          <a:xfrm>
            <a:off x="822257" y="2815822"/>
            <a:ext cx="4140360" cy="286195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顺序访问容易 － 仅需要起始块号和长度</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顺序访问速度快：是几种外存组织方式中最快的一种</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solidFill>
                  <a:srgbClr val="FF0000"/>
                </a:solidFill>
              </a:rPr>
              <a:t>支持随机访问</a:t>
            </a:r>
            <a:endParaRPr lang="zh-CN" altLang="en-US" sz="2400" dirty="0">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连续组织方式示例</a:t>
            </a:r>
            <a:endParaRPr lang="zh-CN" altLang="en-US" sz="2800" b="1" dirty="0">
              <a:solidFill>
                <a:schemeClr val="bg1"/>
              </a:solidFill>
            </a:endParaRPr>
          </a:p>
        </p:txBody>
      </p:sp>
      <p:pic>
        <p:nvPicPr>
          <p:cNvPr id="14" name="Picture 4"/>
          <p:cNvPicPr>
            <a:picLocks noChangeAspect="1" noChangeArrowheads="1"/>
          </p:cNvPicPr>
          <p:nvPr/>
        </p:nvPicPr>
        <p:blipFill>
          <a:blip r:embed="rId1">
            <a:extLst>
              <a:ext uri="{28A0092B-C50C-407E-A947-70E740481C1C}">
                <a14:useLocalDpi xmlns:a14="http://schemas.microsoft.com/office/drawing/2010/main" val="0"/>
              </a:ext>
            </a:extLst>
          </a:blip>
          <a:srcRect l="13196" t="580" r="12967" b="887"/>
          <a:stretch>
            <a:fillRect/>
          </a:stretch>
        </p:blipFill>
        <p:spPr bwMode="auto">
          <a:xfrm>
            <a:off x="3185656" y="1117334"/>
            <a:ext cx="5070577" cy="5073921"/>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476238"/>
            <a:ext cx="4500146" cy="461665"/>
          </a:xfrm>
          <a:prstGeom prst="rect">
            <a:avLst/>
          </a:prstGeom>
        </p:spPr>
        <p:txBody>
          <a:bodyPr wrap="square">
            <a:spAutoFit/>
          </a:bodyPr>
          <a:lstStyle/>
          <a:p>
            <a:r>
              <a:rPr lang="en-US" altLang="zh-CN" sz="2400" dirty="0">
                <a:latin typeface="+mj-ea"/>
                <a:ea typeface="+mj-ea"/>
              </a:rPr>
              <a:t>9.1 </a:t>
            </a:r>
            <a:r>
              <a:rPr lang="zh-CN" altLang="en-US" sz="2400" dirty="0">
                <a:latin typeface="+mj-ea"/>
                <a:ea typeface="+mj-ea"/>
              </a:rPr>
              <a:t>外存的组织方式</a:t>
            </a:r>
            <a:endParaRPr lang="zh-CN" altLang="en-US" sz="2400" dirty="0">
              <a:latin typeface="+mj-ea"/>
              <a:ea typeface="+mj-ea"/>
            </a:endParaRPr>
          </a:p>
        </p:txBody>
      </p:sp>
      <p:sp>
        <p:nvSpPr>
          <p:cNvPr id="23" name="矩形 22"/>
          <p:cNvSpPr/>
          <p:nvPr/>
        </p:nvSpPr>
        <p:spPr>
          <a:xfrm>
            <a:off x="1696469" y="2114413"/>
            <a:ext cx="3682150" cy="461665"/>
          </a:xfrm>
          <a:prstGeom prst="rect">
            <a:avLst/>
          </a:prstGeom>
        </p:spPr>
        <p:txBody>
          <a:bodyPr wrap="square">
            <a:spAutoFit/>
          </a:bodyPr>
          <a:lstStyle/>
          <a:p>
            <a:r>
              <a:rPr lang="en-US" altLang="zh-CN" sz="2400" dirty="0">
                <a:latin typeface="+mj-ea"/>
              </a:rPr>
              <a:t>9.1.1 </a:t>
            </a:r>
            <a:r>
              <a:rPr lang="zh-CN" altLang="en-US" sz="2400" dirty="0">
                <a:latin typeface="+mj-ea"/>
              </a:rPr>
              <a:t>连续组织方式</a:t>
            </a:r>
            <a:endParaRPr lang="en-US" altLang="zh-CN" sz="2400" dirty="0">
              <a:latin typeface="+mj-ea"/>
            </a:endParaRPr>
          </a:p>
        </p:txBody>
      </p:sp>
      <p:sp>
        <p:nvSpPr>
          <p:cNvPr id="24" name="矩形 23"/>
          <p:cNvSpPr/>
          <p:nvPr/>
        </p:nvSpPr>
        <p:spPr>
          <a:xfrm>
            <a:off x="1696468" y="2733538"/>
            <a:ext cx="3488967" cy="461665"/>
          </a:xfrm>
          <a:prstGeom prst="rect">
            <a:avLst/>
          </a:prstGeom>
        </p:spPr>
        <p:txBody>
          <a:bodyPr wrap="square">
            <a:spAutoFit/>
          </a:bodyPr>
          <a:lstStyle/>
          <a:p>
            <a:r>
              <a:rPr lang="en-US" altLang="zh-CN" sz="2400" b="1" dirty="0">
                <a:solidFill>
                  <a:srgbClr val="0000FF"/>
                </a:solidFill>
                <a:latin typeface="+mj-ea"/>
              </a:rPr>
              <a:t>9.1.2 </a:t>
            </a:r>
            <a:r>
              <a:rPr lang="zh-CN" altLang="en-US" sz="2400" b="1" dirty="0">
                <a:solidFill>
                  <a:srgbClr val="0000FF"/>
                </a:solidFill>
                <a:latin typeface="+mj-ea"/>
              </a:rPr>
              <a:t>链接组织方式</a:t>
            </a:r>
            <a:endParaRPr lang="en-US" altLang="zh-CN" sz="2400" b="1" dirty="0">
              <a:solidFill>
                <a:srgbClr val="0000FF"/>
              </a:solidFill>
              <a:latin typeface="+mj-ea"/>
            </a:endParaRPr>
          </a:p>
        </p:txBody>
      </p:sp>
      <p:sp>
        <p:nvSpPr>
          <p:cNvPr id="25" name="矩形 24"/>
          <p:cNvSpPr/>
          <p:nvPr/>
        </p:nvSpPr>
        <p:spPr>
          <a:xfrm>
            <a:off x="1696468" y="3352663"/>
            <a:ext cx="3488967" cy="461665"/>
          </a:xfrm>
          <a:prstGeom prst="rect">
            <a:avLst/>
          </a:prstGeom>
        </p:spPr>
        <p:txBody>
          <a:bodyPr wrap="square">
            <a:spAutoFit/>
          </a:bodyPr>
          <a:lstStyle/>
          <a:p>
            <a:r>
              <a:rPr lang="en-US" altLang="zh-CN" sz="2400" dirty="0">
                <a:latin typeface="+mj-ea"/>
              </a:rPr>
              <a:t>9.1.1 </a:t>
            </a:r>
            <a:r>
              <a:rPr lang="zh-CN" altLang="en-US" sz="2400" dirty="0">
                <a:latin typeface="+mj-ea"/>
              </a:rPr>
              <a:t>索引组织方式</a:t>
            </a:r>
            <a:endParaRPr lang="en-US" altLang="zh-CN" sz="2400" dirty="0">
              <a:latin typeface="+mj-ea"/>
            </a:endParaRPr>
          </a:p>
        </p:txBody>
      </p:sp>
      <p:sp>
        <p:nvSpPr>
          <p:cNvPr id="27" name="矩形 26"/>
          <p:cNvSpPr/>
          <p:nvPr/>
        </p:nvSpPr>
        <p:spPr>
          <a:xfrm>
            <a:off x="1696469" y="3971788"/>
            <a:ext cx="5478772" cy="461665"/>
          </a:xfrm>
          <a:prstGeom prst="rect">
            <a:avLst/>
          </a:prstGeom>
        </p:spPr>
        <p:txBody>
          <a:bodyPr wrap="square">
            <a:spAutoFit/>
          </a:bodyPr>
          <a:lstStyle/>
          <a:p>
            <a:r>
              <a:rPr lang="en-US" altLang="zh-CN" sz="2400" dirty="0">
                <a:latin typeface="+mj-ea"/>
              </a:rPr>
              <a:t>9.2 </a:t>
            </a:r>
            <a:r>
              <a:rPr lang="zh-CN" altLang="en-US" sz="2400" dirty="0">
                <a:latin typeface="+mj-ea"/>
              </a:rPr>
              <a:t>文件存储空间的管理</a:t>
            </a:r>
            <a:endParaRPr lang="zh-CN" altLang="en-US" sz="2400" dirty="0">
              <a:latin typeface="+mj-ea"/>
            </a:endParaRPr>
          </a:p>
        </p:txBody>
      </p:sp>
      <p:sp>
        <p:nvSpPr>
          <p:cNvPr id="28" name="矩形 27"/>
          <p:cNvSpPr/>
          <p:nvPr/>
        </p:nvSpPr>
        <p:spPr>
          <a:xfrm>
            <a:off x="1696468" y="4590913"/>
            <a:ext cx="4769645" cy="461665"/>
          </a:xfrm>
          <a:prstGeom prst="rect">
            <a:avLst/>
          </a:prstGeom>
        </p:spPr>
        <p:txBody>
          <a:bodyPr wrap="square">
            <a:spAutoFit/>
          </a:bodyPr>
          <a:lstStyle/>
          <a:p>
            <a:r>
              <a:rPr lang="en-US" altLang="zh-CN" sz="2400" dirty="0">
                <a:latin typeface="+mj-ea"/>
              </a:rPr>
              <a:t>9.3 </a:t>
            </a:r>
            <a:r>
              <a:rPr lang="zh-CN" altLang="en-US" sz="2400" dirty="0">
                <a:latin typeface="+mj-ea"/>
              </a:rPr>
              <a:t>提高磁盘</a:t>
            </a:r>
            <a:r>
              <a:rPr lang="en-US" altLang="zh-CN" sz="2400" dirty="0">
                <a:latin typeface="+mj-ea"/>
              </a:rPr>
              <a:t>I/O</a:t>
            </a:r>
            <a:r>
              <a:rPr lang="zh-CN" altLang="en-US" sz="2400" dirty="0">
                <a:latin typeface="+mj-ea"/>
              </a:rPr>
              <a:t>速度的途径</a:t>
            </a:r>
            <a:endParaRPr lang="zh-CN" altLang="en-US" sz="2400" dirty="0">
              <a:latin typeface="+mj-ea"/>
            </a:endParaRPr>
          </a:p>
        </p:txBody>
      </p:sp>
      <p:sp>
        <p:nvSpPr>
          <p:cNvPr id="29" name="矩形 28"/>
          <p:cNvSpPr/>
          <p:nvPr/>
        </p:nvSpPr>
        <p:spPr>
          <a:xfrm>
            <a:off x="1696468" y="5210038"/>
            <a:ext cx="4620355" cy="461665"/>
          </a:xfrm>
          <a:prstGeom prst="rect">
            <a:avLst/>
          </a:prstGeom>
        </p:spPr>
        <p:txBody>
          <a:bodyPr wrap="square">
            <a:spAutoFit/>
          </a:bodyPr>
          <a:lstStyle/>
          <a:p>
            <a:r>
              <a:rPr lang="en-US" altLang="zh-CN" sz="2400" dirty="0">
                <a:latin typeface="+mj-ea"/>
              </a:rPr>
              <a:t>9.4 </a:t>
            </a:r>
            <a:r>
              <a:rPr lang="zh-CN" altLang="en-US" sz="2400" dirty="0">
                <a:latin typeface="+mj-ea"/>
              </a:rPr>
              <a:t>提高磁盘可靠性的技术</a:t>
            </a:r>
            <a:endParaRPr lang="zh-CN" altLang="en-US" sz="2400" dirty="0">
              <a:latin typeface="+mj-ea"/>
            </a:endParaRPr>
          </a:p>
        </p:txBody>
      </p:sp>
      <p:sp>
        <p:nvSpPr>
          <p:cNvPr id="3" name="矩形 2"/>
          <p:cNvSpPr/>
          <p:nvPr/>
        </p:nvSpPr>
        <p:spPr>
          <a:xfrm>
            <a:off x="6466113" y="2386337"/>
            <a:ext cx="5191691" cy="646331"/>
          </a:xfrm>
          <a:prstGeom prst="rect">
            <a:avLst/>
          </a:prstGeom>
        </p:spPr>
        <p:txBody>
          <a:bodyPr wrap="square">
            <a:spAutoFit/>
          </a:bodyPr>
          <a:lstStyle/>
          <a:p>
            <a:r>
              <a:rPr lang="zh-CN" altLang="en-US" sz="3600" dirty="0">
                <a:solidFill>
                  <a:srgbClr val="000000"/>
                </a:solidFill>
              </a:rPr>
              <a:t>第</a:t>
            </a:r>
            <a:r>
              <a:rPr lang="en-US" altLang="zh-CN" sz="3600" dirty="0">
                <a:solidFill>
                  <a:srgbClr val="000000"/>
                </a:solidFill>
              </a:rPr>
              <a:t>9</a:t>
            </a:r>
            <a:r>
              <a:rPr lang="zh-CN" altLang="en-US" sz="3600" dirty="0">
                <a:solidFill>
                  <a:srgbClr val="000000"/>
                </a:solidFill>
              </a:rPr>
              <a:t>章    磁盘存储器管理</a:t>
            </a:r>
            <a:endParaRPr lang="zh-CN" altLang="en-US" sz="3600" dirty="0"/>
          </a:p>
        </p:txBody>
      </p:sp>
      <p:cxnSp>
        <p:nvCxnSpPr>
          <p:cNvPr id="5" name="直接连接符 4"/>
          <p:cNvCxnSpPr/>
          <p:nvPr/>
        </p:nvCxnSpPr>
        <p:spPr>
          <a:xfrm>
            <a:off x="6640497" y="3190471"/>
            <a:ext cx="490662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43922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2436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7983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831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2439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6210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62820"/>
            <a:ext cx="527050" cy="527050"/>
          </a:xfrm>
          <a:prstGeom prst="rect">
            <a:avLst/>
          </a:prstGeom>
          <a:ln>
            <a:noFill/>
          </a:ln>
          <a:effectLst>
            <a:softEdge rad="0"/>
          </a:effectLst>
        </p:spPr>
      </p:pic>
      <p:sp>
        <p:nvSpPr>
          <p:cNvPr id="33" name="矩形 32"/>
          <p:cNvSpPr/>
          <p:nvPr/>
        </p:nvSpPr>
        <p:spPr>
          <a:xfrm>
            <a:off x="1696468" y="5863246"/>
            <a:ext cx="4219140" cy="461665"/>
          </a:xfrm>
          <a:prstGeom prst="rect">
            <a:avLst/>
          </a:prstGeom>
        </p:spPr>
        <p:txBody>
          <a:bodyPr wrap="square">
            <a:spAutoFit/>
          </a:bodyPr>
          <a:lstStyle/>
          <a:p>
            <a:r>
              <a:rPr lang="en-US" altLang="zh-CN" sz="2400" dirty="0">
                <a:latin typeface="+mj-ea"/>
              </a:rPr>
              <a:t>9.5 </a:t>
            </a:r>
            <a:r>
              <a:rPr lang="zh-CN" altLang="en-US" sz="2400" dirty="0">
                <a:latin typeface="+mj-ea"/>
              </a:rPr>
              <a:t>存储新技术</a:t>
            </a:r>
            <a:endParaRPr lang="zh-CN" altLang="en-US" sz="2400" dirty="0">
              <a:latin typeface="+mj-ea"/>
            </a:endParaRPr>
          </a:p>
        </p:txBody>
      </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7" y="5816028"/>
            <a:ext cx="527050" cy="527050"/>
          </a:xfrm>
          <a:prstGeom prst="rect">
            <a:avLst/>
          </a:prstGeom>
          <a:ln>
            <a:noFill/>
          </a:ln>
          <a:effectLst>
            <a:softEdge rad="0"/>
          </a:effectLst>
        </p:spPr>
      </p:pic>
      <p:sp>
        <p:nvSpPr>
          <p:cNvPr id="35" name="矩形 34"/>
          <p:cNvSpPr/>
          <p:nvPr/>
        </p:nvSpPr>
        <p:spPr>
          <a:xfrm>
            <a:off x="6754405" y="5837115"/>
            <a:ext cx="4219140" cy="461665"/>
          </a:xfrm>
          <a:prstGeom prst="rect">
            <a:avLst/>
          </a:prstGeom>
        </p:spPr>
        <p:txBody>
          <a:bodyPr wrap="square">
            <a:spAutoFit/>
          </a:bodyPr>
          <a:lstStyle/>
          <a:p>
            <a:r>
              <a:rPr lang="en-US" altLang="zh-CN" sz="2400" dirty="0">
                <a:latin typeface="+mj-ea"/>
              </a:rPr>
              <a:t>9.6 </a:t>
            </a:r>
            <a:r>
              <a:rPr lang="zh-CN" altLang="en-US" sz="2400" dirty="0">
                <a:latin typeface="+mj-ea"/>
              </a:rPr>
              <a:t>数据一致性控制</a:t>
            </a:r>
            <a:endParaRPr lang="zh-CN" altLang="en-US" sz="2400" dirty="0">
              <a:latin typeface="+mj-ea"/>
            </a:endParaRPr>
          </a:p>
        </p:txBody>
      </p:sp>
      <p:pic>
        <p:nvPicPr>
          <p:cNvPr id="36" name="图片 3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227354" y="5789897"/>
            <a:ext cx="527050" cy="527050"/>
          </a:xfrm>
          <a:prstGeom prst="rect">
            <a:avLst/>
          </a:prstGeom>
          <a:ln>
            <a:noFill/>
          </a:ln>
          <a:effectLst>
            <a:softEdge rad="0"/>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9.1.2 </a:t>
            </a:r>
            <a:r>
              <a:rPr lang="zh-CN" altLang="en-US" sz="2800" b="1" dirty="0">
                <a:solidFill>
                  <a:schemeClr val="bg1"/>
                </a:solidFill>
              </a:rPr>
              <a:t>链接组织方式</a:t>
            </a:r>
            <a:endParaRPr lang="zh-CN" altLang="en-US" sz="2800" b="1" dirty="0">
              <a:solidFill>
                <a:schemeClr val="bg1"/>
              </a:solidFill>
            </a:endParaRPr>
          </a:p>
        </p:txBody>
      </p:sp>
      <p:sp>
        <p:nvSpPr>
          <p:cNvPr id="14" name="文本框 13"/>
          <p:cNvSpPr txBox="1"/>
          <p:nvPr/>
        </p:nvSpPr>
        <p:spPr>
          <a:xfrm>
            <a:off x="887661" y="1013182"/>
            <a:ext cx="10416873" cy="847725"/>
          </a:xfrm>
          <a:prstGeom prst="rect">
            <a:avLst/>
          </a:prstGeom>
          <a:noFill/>
        </p:spPr>
        <p:txBody>
          <a:bodyPr wrap="square" rtlCol="0">
            <a:spAutoFit/>
          </a:bodyPr>
          <a:lstStyle/>
          <a:p>
            <a:pPr>
              <a:lnSpc>
                <a:spcPct val="123000"/>
              </a:lnSpc>
            </a:pPr>
            <a:r>
              <a:rPr lang="zh-CN" altLang="en-US" sz="2000" dirty="0"/>
              <a:t>为文件分配不连续的盘块，通过链接指针将一个文件的所有盘块链接在一起，所形成的物理文件称为</a:t>
            </a:r>
            <a:r>
              <a:rPr lang="zh-CN" altLang="en-US" sz="2000" u="sng" dirty="0">
                <a:solidFill>
                  <a:srgbClr val="0000FF"/>
                </a:solidFill>
              </a:rPr>
              <a:t>链接文件</a:t>
            </a:r>
            <a:endParaRPr lang="zh-CN" altLang="en-US" sz="2000" u="sng" dirty="0">
              <a:solidFill>
                <a:srgbClr val="0000FF"/>
              </a:solidFill>
            </a:endParaRPr>
          </a:p>
        </p:txBody>
      </p:sp>
      <p:sp>
        <p:nvSpPr>
          <p:cNvPr id="15" name="矩形: 圆角 14"/>
          <p:cNvSpPr/>
          <p:nvPr/>
        </p:nvSpPr>
        <p:spPr>
          <a:xfrm>
            <a:off x="861680" y="2754827"/>
            <a:ext cx="3843483"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defRPr/>
            </a:pPr>
            <a:r>
              <a:rPr lang="zh-CN" altLang="en-US" sz="2400" dirty="0"/>
              <a:t>优点：</a:t>
            </a:r>
            <a:endParaRPr lang="zh-CN" altLang="en-US" sz="2400" dirty="0"/>
          </a:p>
        </p:txBody>
      </p:sp>
      <p:sp>
        <p:nvSpPr>
          <p:cNvPr id="16" name="矩形: 圆角 15"/>
          <p:cNvSpPr/>
          <p:nvPr/>
        </p:nvSpPr>
        <p:spPr>
          <a:xfrm>
            <a:off x="6021744" y="2754827"/>
            <a:ext cx="5024207"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defRPr/>
            </a:pPr>
            <a:r>
              <a:rPr lang="zh-CN" altLang="en-US" sz="2400" dirty="0"/>
              <a:t>缺点</a:t>
            </a:r>
            <a:endParaRPr lang="zh-CN" altLang="en-US" sz="2400" dirty="0"/>
          </a:p>
        </p:txBody>
      </p:sp>
      <p:sp>
        <p:nvSpPr>
          <p:cNvPr id="17" name="内容占位符 2"/>
          <p:cNvSpPr txBox="1"/>
          <p:nvPr/>
        </p:nvSpPr>
        <p:spPr>
          <a:xfrm>
            <a:off x="614045" y="1791335"/>
            <a:ext cx="9481820" cy="96329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1800" b="1" dirty="0"/>
              <a:t>隐式链接：指针存放在每个盘块中，只适合于顺序访问</a:t>
            </a:r>
            <a:endParaRPr lang="zh-CN" altLang="en-US" sz="1800" b="1"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1800" b="1" dirty="0"/>
              <a:t>显式链接：指针显式地存放在内存的文件分配表</a:t>
            </a:r>
            <a:r>
              <a:rPr lang="en-US" altLang="zh-CN" sz="1800" b="1" dirty="0"/>
              <a:t>FAT</a:t>
            </a:r>
            <a:r>
              <a:rPr lang="zh-CN" altLang="en-US" sz="1800" b="1" dirty="0"/>
              <a:t>中</a:t>
            </a:r>
            <a:endParaRPr lang="zh-CN" altLang="en-US" sz="1800" b="1" dirty="0"/>
          </a:p>
        </p:txBody>
      </p:sp>
      <p:sp>
        <p:nvSpPr>
          <p:cNvPr id="18" name="内容占位符 2"/>
          <p:cNvSpPr txBox="1"/>
          <p:nvPr/>
        </p:nvSpPr>
        <p:spPr>
          <a:xfrm>
            <a:off x="822256" y="3477411"/>
            <a:ext cx="4140360" cy="286195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消除了磁盘的外碎片，提高了外存的利用率</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对插入、删除和修改记录都非常容易</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文件可动态增长</a:t>
            </a:r>
            <a:endParaRPr lang="zh-CN" altLang="en-US" sz="2400" dirty="0"/>
          </a:p>
        </p:txBody>
      </p:sp>
      <p:sp>
        <p:nvSpPr>
          <p:cNvPr id="2" name="文本框 1"/>
          <p:cNvSpPr txBox="1"/>
          <p:nvPr/>
        </p:nvSpPr>
        <p:spPr>
          <a:xfrm>
            <a:off x="6021705" y="3779520"/>
            <a:ext cx="6096000" cy="983615"/>
          </a:xfrm>
          <a:prstGeom prst="rect">
            <a:avLst/>
          </a:prstGeom>
          <a:noFill/>
        </p:spPr>
        <p:txBody>
          <a:bodyPr wrap="square" rtlCol="0" anchor="t">
            <a:spAutoFit/>
          </a:bodyPr>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solidFill>
                  <a:srgbClr val="FF0000"/>
                </a:solidFill>
                <a:sym typeface="+mn-ea"/>
              </a:rPr>
              <a:t>不能支持高效的直接存取（随机存储）</a:t>
            </a:r>
            <a:endParaRPr lang="zh-CN" altLang="en-US" sz="2200" dirty="0">
              <a:solidFill>
                <a:srgbClr val="FF0000"/>
              </a:solidFill>
              <a:sym typeface="+mn-ea"/>
            </a:endParaRPr>
          </a:p>
          <a:p>
            <a:pPr marL="342900" lvl="1" indent="-342900">
              <a:lnSpc>
                <a:spcPct val="132000"/>
              </a:lnSpc>
              <a:buClr>
                <a:schemeClr val="accent4">
                  <a:lumMod val="40000"/>
                  <a:lumOff val="60000"/>
                </a:schemeClr>
              </a:buClr>
              <a:buFont typeface="Wingdings" panose="05000000000000000000" pitchFamily="2" charset="2"/>
              <a:buChar char="Ø"/>
            </a:pPr>
            <a:r>
              <a:rPr lang="en-US" altLang="zh-CN" sz="2200" dirty="0">
                <a:sym typeface="+mn-ea"/>
              </a:rPr>
              <a:t>FAT</a:t>
            </a:r>
            <a:r>
              <a:rPr lang="zh-CN" altLang="en-US" sz="2200" dirty="0">
                <a:sym typeface="+mn-ea"/>
              </a:rPr>
              <a:t>占用空间较大</a:t>
            </a:r>
            <a:endParaRPr lang="zh-CN" altLang="en-US" sz="2200" dirty="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隐式链接示例</a:t>
            </a:r>
            <a:endParaRPr lang="zh-CN" altLang="en-US" sz="2800" b="1" dirty="0">
              <a:solidFill>
                <a:schemeClr val="bg1"/>
              </a:solidFill>
            </a:endParaRPr>
          </a:p>
        </p:txBody>
      </p:sp>
      <p:pic>
        <p:nvPicPr>
          <p:cNvPr id="14" name="Picture 6"/>
          <p:cNvPicPr>
            <a:picLocks noChangeAspect="1" noChangeArrowheads="1"/>
          </p:cNvPicPr>
          <p:nvPr/>
        </p:nvPicPr>
        <p:blipFill>
          <a:blip r:embed="rId1">
            <a:extLst>
              <a:ext uri="{28A0092B-C50C-407E-A947-70E740481C1C}">
                <a14:useLocalDpi xmlns:a14="http://schemas.microsoft.com/office/drawing/2010/main" val="0"/>
              </a:ext>
            </a:extLst>
          </a:blip>
          <a:srcRect l="14516" t="638" r="14516" b="975"/>
          <a:stretch>
            <a:fillRect/>
          </a:stretch>
        </p:blipFill>
        <p:spPr>
          <a:xfrm>
            <a:off x="2451785" y="1172076"/>
            <a:ext cx="6354864" cy="4956335"/>
          </a:xfrm>
          <a:prstGeom prst="rect">
            <a:avLst/>
          </a:prstGeom>
          <a:noFill/>
          <a:ln w="38100" cmpd="dbl">
            <a:solidFill>
              <a:srgbClr val="CC6600"/>
            </a:solidFill>
            <a:miter lim="800000"/>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显式链接示例：</a:t>
            </a:r>
            <a:r>
              <a:rPr lang="en-US" altLang="zh-CN" sz="2800" b="1" dirty="0">
                <a:solidFill>
                  <a:schemeClr val="bg1"/>
                </a:solidFill>
              </a:rPr>
              <a:t>FAT</a:t>
            </a:r>
            <a:endParaRPr lang="zh-CN" altLang="en-US" sz="2800" b="1" dirty="0">
              <a:solidFill>
                <a:schemeClr val="bg1"/>
              </a:solidFill>
            </a:endParaRPr>
          </a:p>
        </p:txBody>
      </p:sp>
      <p:pic>
        <p:nvPicPr>
          <p:cNvPr id="4" name="Picture 4"/>
          <p:cNvPicPr>
            <a:picLocks noChangeAspect="1" noChangeArrowheads="1"/>
          </p:cNvPicPr>
          <p:nvPr/>
        </p:nvPicPr>
        <p:blipFill>
          <a:blip r:embed="rId1">
            <a:extLst>
              <a:ext uri="{28A0092B-C50C-407E-A947-70E740481C1C}">
                <a14:useLocalDpi xmlns:a14="http://schemas.microsoft.com/office/drawing/2010/main" val="0"/>
              </a:ext>
            </a:extLst>
          </a:blip>
          <a:srcRect l="7327" t="587" r="7326" b="896"/>
          <a:stretch>
            <a:fillRect/>
          </a:stretch>
        </p:blipFill>
        <p:spPr bwMode="auto">
          <a:xfrm>
            <a:off x="1950127" y="1187516"/>
            <a:ext cx="7584489" cy="4924144"/>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FAT</a:t>
            </a:r>
            <a:r>
              <a:rPr lang="zh-CN" altLang="en-US" sz="2800" b="1" dirty="0">
                <a:solidFill>
                  <a:schemeClr val="bg1"/>
                </a:solidFill>
              </a:rPr>
              <a:t>文件系统（</a:t>
            </a:r>
            <a:r>
              <a:rPr lang="en-US" altLang="zh-CN" sz="2800" b="1" dirty="0">
                <a:solidFill>
                  <a:schemeClr val="bg1"/>
                </a:solidFill>
              </a:rPr>
              <a:t>1</a:t>
            </a:r>
            <a:r>
              <a:rPr lang="zh-CN" altLang="en-US" sz="2800" b="1" dirty="0">
                <a:solidFill>
                  <a:schemeClr val="bg1"/>
                </a:solidFill>
              </a:rPr>
              <a:t>）</a:t>
            </a:r>
            <a:endParaRPr lang="zh-CN" altLang="en-US" sz="2800" b="1" dirty="0">
              <a:solidFill>
                <a:schemeClr val="bg1"/>
              </a:solidFill>
            </a:endParaRPr>
          </a:p>
        </p:txBody>
      </p:sp>
      <p:sp>
        <p:nvSpPr>
          <p:cNvPr id="5" name="文本框 4"/>
          <p:cNvSpPr txBox="1"/>
          <p:nvPr/>
        </p:nvSpPr>
        <p:spPr>
          <a:xfrm>
            <a:off x="822256" y="1274802"/>
            <a:ext cx="10416873" cy="522900"/>
          </a:xfrm>
          <a:prstGeom prst="rect">
            <a:avLst/>
          </a:prstGeom>
          <a:noFill/>
        </p:spPr>
        <p:txBody>
          <a:bodyPr wrap="square" rtlCol="0">
            <a:spAutoFit/>
          </a:bodyPr>
          <a:lstStyle/>
          <a:p>
            <a:pPr>
              <a:lnSpc>
                <a:spcPct val="123000"/>
              </a:lnSpc>
            </a:pPr>
            <a:r>
              <a:rPr lang="en-US" altLang="zh-CN" sz="2500" dirty="0">
                <a:solidFill>
                  <a:srgbClr val="FF0000"/>
                </a:solidFill>
              </a:rPr>
              <a:t>FAT</a:t>
            </a:r>
            <a:r>
              <a:rPr lang="zh-CN" altLang="en-US" sz="2500" dirty="0">
                <a:solidFill>
                  <a:srgbClr val="FF0000"/>
                </a:solidFill>
              </a:rPr>
              <a:t>文件系统</a:t>
            </a:r>
            <a:r>
              <a:rPr lang="zh-CN" altLang="en-US" sz="2500" dirty="0"/>
              <a:t>是</a:t>
            </a:r>
            <a:r>
              <a:rPr lang="zh-CN" altLang="en-US" sz="2500" dirty="0">
                <a:solidFill>
                  <a:srgbClr val="0000FF"/>
                </a:solidFill>
              </a:rPr>
              <a:t>微软最早在</a:t>
            </a:r>
            <a:r>
              <a:rPr lang="en-US" altLang="zh-CN" sz="2500" dirty="0">
                <a:solidFill>
                  <a:srgbClr val="0000FF"/>
                </a:solidFill>
              </a:rPr>
              <a:t>MS-DOS</a:t>
            </a:r>
            <a:r>
              <a:rPr lang="zh-CN" altLang="en-US" sz="2500" dirty="0">
                <a:solidFill>
                  <a:srgbClr val="0000FF"/>
                </a:solidFill>
              </a:rPr>
              <a:t>开始使用的文件系统</a:t>
            </a:r>
            <a:endParaRPr lang="zh-CN" altLang="en-US" sz="2500" dirty="0">
              <a:solidFill>
                <a:srgbClr val="0000FF"/>
              </a:solidFill>
            </a:endParaRPr>
          </a:p>
        </p:txBody>
      </p:sp>
      <p:sp>
        <p:nvSpPr>
          <p:cNvPr id="6" name="文本框 5"/>
          <p:cNvSpPr txBox="1"/>
          <p:nvPr/>
        </p:nvSpPr>
        <p:spPr>
          <a:xfrm>
            <a:off x="822255" y="1947716"/>
            <a:ext cx="10416873" cy="522900"/>
          </a:xfrm>
          <a:prstGeom prst="rect">
            <a:avLst/>
          </a:prstGeom>
          <a:noFill/>
        </p:spPr>
        <p:txBody>
          <a:bodyPr wrap="square" rtlCol="0">
            <a:spAutoFit/>
          </a:bodyPr>
          <a:lstStyle/>
          <a:p>
            <a:pPr>
              <a:lnSpc>
                <a:spcPct val="123000"/>
              </a:lnSpc>
            </a:pPr>
            <a:r>
              <a:rPr lang="en-US" altLang="zh-CN" sz="2500" dirty="0"/>
              <a:t>FAT</a:t>
            </a:r>
            <a:r>
              <a:rPr lang="zh-CN" altLang="en-US" sz="2500" dirty="0"/>
              <a:t>（</a:t>
            </a:r>
            <a:r>
              <a:rPr lang="en-US" altLang="zh-CN" sz="2500" dirty="0"/>
              <a:t>File Allocation Table</a:t>
            </a:r>
            <a:r>
              <a:rPr lang="zh-CN" altLang="en-US" sz="2500" dirty="0"/>
              <a:t>）</a:t>
            </a:r>
            <a:endParaRPr lang="zh-CN" altLang="en-US" sz="2500" dirty="0"/>
          </a:p>
        </p:txBody>
      </p:sp>
      <p:sp>
        <p:nvSpPr>
          <p:cNvPr id="7" name="内容占位符 2"/>
          <p:cNvSpPr txBox="1"/>
          <p:nvPr/>
        </p:nvSpPr>
        <p:spPr>
          <a:xfrm>
            <a:off x="822255" y="2620631"/>
            <a:ext cx="1984953" cy="67121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da-DK" altLang="zh-CN" sz="2400" dirty="0"/>
              <a:t>FAT12</a:t>
            </a:r>
            <a:endParaRPr lang="da-DK" altLang="zh-CN" sz="2400" dirty="0"/>
          </a:p>
        </p:txBody>
      </p:sp>
      <p:pic>
        <p:nvPicPr>
          <p:cNvPr id="8"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97989" y="3540044"/>
            <a:ext cx="8626545" cy="17258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内容占位符 2"/>
          <p:cNvSpPr txBox="1"/>
          <p:nvPr/>
        </p:nvSpPr>
        <p:spPr>
          <a:xfrm>
            <a:off x="3085944" y="2620630"/>
            <a:ext cx="1984953" cy="67121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da-DK" altLang="zh-CN" sz="2400" dirty="0"/>
              <a:t>FAT16</a:t>
            </a:r>
            <a:endParaRPr lang="da-DK" altLang="zh-CN" sz="2400" dirty="0"/>
          </a:p>
        </p:txBody>
      </p:sp>
      <p:sp>
        <p:nvSpPr>
          <p:cNvPr id="10" name="内容占位符 2"/>
          <p:cNvSpPr txBox="1"/>
          <p:nvPr/>
        </p:nvSpPr>
        <p:spPr>
          <a:xfrm>
            <a:off x="5302815" y="2618771"/>
            <a:ext cx="1661748" cy="59798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da-DK" altLang="zh-CN" sz="2400" dirty="0"/>
              <a:t>FAT32</a:t>
            </a:r>
            <a:endParaRPr lang="da-DK" altLang="zh-CN" sz="2400" dirty="0"/>
          </a:p>
        </p:txBody>
      </p:sp>
      <p:sp>
        <p:nvSpPr>
          <p:cNvPr id="11" name="内容占位符 2"/>
          <p:cNvSpPr txBox="1"/>
          <p:nvPr/>
        </p:nvSpPr>
        <p:spPr>
          <a:xfrm>
            <a:off x="7341657" y="2620630"/>
            <a:ext cx="2936199" cy="5229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da-DK" altLang="zh-CN" sz="2400" dirty="0"/>
              <a:t>FAT64</a:t>
            </a:r>
            <a:r>
              <a:rPr lang="zh-CN" altLang="da-DK" sz="2400" dirty="0"/>
              <a:t>（</a:t>
            </a:r>
            <a:r>
              <a:rPr lang="da-DK" altLang="zh-CN" sz="2400" dirty="0"/>
              <a:t>exFAT</a:t>
            </a:r>
            <a:r>
              <a:rPr lang="zh-CN" altLang="da-DK" sz="2400" dirty="0"/>
              <a:t>）</a:t>
            </a:r>
            <a:endParaRPr lang="zh-CN" altLang="da-DK"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FAT</a:t>
            </a:r>
            <a:r>
              <a:rPr lang="zh-CN" altLang="en-US" sz="2800" b="1" dirty="0">
                <a:solidFill>
                  <a:schemeClr val="bg1"/>
                </a:solidFill>
              </a:rPr>
              <a:t>文件系统（</a:t>
            </a:r>
            <a:r>
              <a:rPr lang="en-US" altLang="zh-CN" sz="2800" b="1" dirty="0">
                <a:solidFill>
                  <a:schemeClr val="bg1"/>
                </a:solidFill>
              </a:rPr>
              <a:t>2</a:t>
            </a:r>
            <a:r>
              <a:rPr lang="zh-CN" altLang="en-US" sz="2800" b="1" dirty="0">
                <a:solidFill>
                  <a:schemeClr val="bg1"/>
                </a:solidFill>
              </a:rPr>
              <a:t>）</a:t>
            </a:r>
            <a:endParaRPr lang="zh-CN" altLang="en-US" sz="2800" b="1" dirty="0">
              <a:solidFill>
                <a:schemeClr val="bg1"/>
              </a:solidFill>
            </a:endParaRPr>
          </a:p>
        </p:txBody>
      </p:sp>
      <p:sp>
        <p:nvSpPr>
          <p:cNvPr id="5" name="文本框 4"/>
          <p:cNvSpPr txBox="1"/>
          <p:nvPr/>
        </p:nvSpPr>
        <p:spPr>
          <a:xfrm>
            <a:off x="822256" y="1274802"/>
            <a:ext cx="10416873" cy="522900"/>
          </a:xfrm>
          <a:prstGeom prst="rect">
            <a:avLst/>
          </a:prstGeom>
          <a:noFill/>
        </p:spPr>
        <p:txBody>
          <a:bodyPr wrap="square" rtlCol="0">
            <a:spAutoFit/>
          </a:bodyPr>
          <a:lstStyle/>
          <a:p>
            <a:pPr>
              <a:lnSpc>
                <a:spcPct val="123000"/>
              </a:lnSpc>
            </a:pPr>
            <a:r>
              <a:rPr lang="zh-CN" altLang="en-US" sz="2500" dirty="0"/>
              <a:t>以盘块为单位的</a:t>
            </a:r>
            <a:r>
              <a:rPr lang="en-US" altLang="zh-CN" sz="2500" dirty="0">
                <a:solidFill>
                  <a:srgbClr val="FF0000"/>
                </a:solidFill>
              </a:rPr>
              <a:t>FAT</a:t>
            </a:r>
            <a:r>
              <a:rPr lang="zh-CN" altLang="en-US" sz="2500" dirty="0">
                <a:solidFill>
                  <a:srgbClr val="FF0000"/>
                </a:solidFill>
              </a:rPr>
              <a:t>文件系统</a:t>
            </a:r>
            <a:endParaRPr lang="zh-CN" altLang="en-US" sz="2500" dirty="0">
              <a:solidFill>
                <a:srgbClr val="FF0000"/>
              </a:solidFill>
            </a:endParaRPr>
          </a:p>
        </p:txBody>
      </p:sp>
      <p:sp>
        <p:nvSpPr>
          <p:cNvPr id="7" name="内容占位符 2"/>
          <p:cNvSpPr txBox="1"/>
          <p:nvPr/>
        </p:nvSpPr>
        <p:spPr>
          <a:xfrm>
            <a:off x="822255" y="1785383"/>
            <a:ext cx="10973505" cy="67121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Ø"/>
              <a:defRPr/>
            </a:pPr>
            <a:r>
              <a:rPr lang="en-US" altLang="zh-CN" sz="2400" dirty="0"/>
              <a:t>FAT12</a:t>
            </a:r>
            <a:r>
              <a:rPr lang="zh-CN" altLang="en-US" sz="2400" dirty="0"/>
              <a:t>以盘块为基本分配单位，每个分区有两张相同的</a:t>
            </a:r>
            <a:r>
              <a:rPr lang="en-US" altLang="zh-CN" sz="2400" dirty="0"/>
              <a:t>FAT</a:t>
            </a:r>
            <a:r>
              <a:rPr lang="zh-CN" altLang="en-US" sz="2400" dirty="0"/>
              <a:t>表，</a:t>
            </a:r>
            <a:r>
              <a:rPr lang="en-US" altLang="zh-CN" sz="2400" dirty="0"/>
              <a:t>FAT1</a:t>
            </a:r>
            <a:r>
              <a:rPr lang="zh-CN" altLang="en-US" sz="2400" dirty="0"/>
              <a:t>和</a:t>
            </a:r>
            <a:r>
              <a:rPr lang="en-US" altLang="zh-CN" sz="2400" dirty="0"/>
              <a:t>FAT2</a:t>
            </a:r>
            <a:endParaRPr lang="en-US" altLang="zh-CN" sz="2400" dirty="0"/>
          </a:p>
          <a:p>
            <a:pPr marL="342265" lvl="1" indent="-533400">
              <a:lnSpc>
                <a:spcPct val="132000"/>
              </a:lnSpc>
              <a:spcBef>
                <a:spcPts val="370"/>
              </a:spcBef>
              <a:buClr>
                <a:srgbClr val="E71101"/>
              </a:buClr>
              <a:buSzPct val="100000"/>
              <a:buFont typeface="Wingdings" panose="05000000000000000000" pitchFamily="2" charset="2"/>
              <a:buChar char="Ø"/>
              <a:defRPr/>
            </a:pPr>
            <a:r>
              <a:rPr lang="zh-CN" altLang="en-US" sz="2400" dirty="0"/>
              <a:t>例如，对</a:t>
            </a:r>
            <a:r>
              <a:rPr lang="en-US" altLang="zh-CN" sz="2400" dirty="0"/>
              <a:t>1.2MB</a:t>
            </a:r>
            <a:r>
              <a:rPr lang="zh-CN" altLang="en-US" sz="2400" dirty="0"/>
              <a:t>的软盘，每个盘块大小为</a:t>
            </a:r>
            <a:r>
              <a:rPr lang="en-US" altLang="zh-CN" sz="2400" dirty="0"/>
              <a:t>512B</a:t>
            </a:r>
            <a:endParaRPr lang="da-DK" altLang="zh-CN" sz="2400" dirty="0"/>
          </a:p>
        </p:txBody>
      </p:sp>
      <p:sp>
        <p:nvSpPr>
          <p:cNvPr id="9" name="内容占位符 2"/>
          <p:cNvSpPr txBox="1"/>
          <p:nvPr/>
        </p:nvSpPr>
        <p:spPr>
          <a:xfrm>
            <a:off x="1366872" y="2979493"/>
            <a:ext cx="6030624" cy="17456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en-US" altLang="zh-CN" sz="2400" dirty="0"/>
              <a:t>FAT</a:t>
            </a:r>
            <a:r>
              <a:rPr lang="zh-CN" altLang="en-US" sz="2400" dirty="0"/>
              <a:t>共有</a:t>
            </a:r>
            <a:r>
              <a:rPr lang="en-US" altLang="zh-CN" sz="2400" dirty="0"/>
              <a:t>2.4K</a:t>
            </a:r>
            <a:r>
              <a:rPr lang="zh-CN" altLang="en-US" sz="2400" dirty="0"/>
              <a:t>个表项（</a:t>
            </a:r>
            <a:r>
              <a:rPr lang="en-US" altLang="zh-CN" sz="2400" dirty="0"/>
              <a:t>1.2MB/512B</a:t>
            </a:r>
            <a:r>
              <a:rPr lang="zh-CN" altLang="en-US" sz="2400" dirty="0"/>
              <a:t>）</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每个</a:t>
            </a:r>
            <a:r>
              <a:rPr lang="en-US" altLang="zh-CN" sz="2400" dirty="0"/>
              <a:t>FAT</a:t>
            </a:r>
            <a:r>
              <a:rPr lang="zh-CN" altLang="en-US" sz="2400" dirty="0"/>
              <a:t>表项占</a:t>
            </a:r>
            <a:r>
              <a:rPr lang="en-US" altLang="zh-CN" sz="2400" dirty="0"/>
              <a:t>12b</a:t>
            </a:r>
            <a:r>
              <a:rPr lang="zh-CN" altLang="en-US" sz="2400" dirty="0"/>
              <a:t>（</a:t>
            </a:r>
            <a:r>
              <a:rPr lang="en-US" altLang="zh-CN" sz="2400" dirty="0"/>
              <a:t>1.5B</a:t>
            </a:r>
            <a:r>
              <a:rPr lang="zh-CN" altLang="en-US" sz="2400" dirty="0"/>
              <a:t>）</a:t>
            </a:r>
            <a:endParaRPr lang="zh-CN" altLang="en-US" sz="24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因此</a:t>
            </a:r>
            <a:r>
              <a:rPr lang="en-US" altLang="zh-CN" sz="2400" dirty="0"/>
              <a:t>FAT</a:t>
            </a:r>
            <a:r>
              <a:rPr lang="zh-CN" altLang="en-US" sz="2400" dirty="0"/>
              <a:t>表占用</a:t>
            </a:r>
            <a:r>
              <a:rPr lang="en-US" altLang="zh-CN" sz="2400" dirty="0"/>
              <a:t>3.6KB(2.4K*1.5B)</a:t>
            </a:r>
            <a:endParaRPr lang="en-US" altLang="zh-CN" sz="2400" dirty="0"/>
          </a:p>
        </p:txBody>
      </p:sp>
      <p:pic>
        <p:nvPicPr>
          <p:cNvPr id="12" name="图片 216"/>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223760" y="2897166"/>
            <a:ext cx="4339741" cy="3473892"/>
          </a:xfrm>
          <a:prstGeom prst="rect">
            <a:avLst/>
          </a:prstGeom>
          <a:noFill/>
          <a:ln>
            <a:noFill/>
          </a:ln>
        </p:spPr>
      </p:pic>
      <p:cxnSp>
        <p:nvCxnSpPr>
          <p:cNvPr id="3" name="直接连接符 2"/>
          <p:cNvCxnSpPr/>
          <p:nvPr/>
        </p:nvCxnSpPr>
        <p:spPr>
          <a:xfrm>
            <a:off x="740664" y="5038344"/>
            <a:ext cx="592531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740664" y="5349240"/>
            <a:ext cx="592531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740664" y="5696712"/>
            <a:ext cx="592531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40664" y="5998464"/>
            <a:ext cx="5925312"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FAT</a:t>
            </a:r>
            <a:r>
              <a:rPr lang="zh-CN" altLang="en-US" sz="2800" b="1" dirty="0">
                <a:solidFill>
                  <a:schemeClr val="bg1"/>
                </a:solidFill>
              </a:rPr>
              <a:t>文件系统（</a:t>
            </a:r>
            <a:r>
              <a:rPr lang="en-US" altLang="zh-CN" sz="2800" b="1" dirty="0">
                <a:solidFill>
                  <a:schemeClr val="bg1"/>
                </a:solidFill>
              </a:rPr>
              <a:t>3</a:t>
            </a:r>
            <a:r>
              <a:rPr lang="zh-CN" altLang="en-US" sz="2800" b="1" dirty="0">
                <a:solidFill>
                  <a:schemeClr val="bg1"/>
                </a:solidFill>
              </a:rPr>
              <a:t>）</a:t>
            </a:r>
            <a:endParaRPr lang="zh-CN" altLang="en-US" sz="2800" b="1" dirty="0">
              <a:solidFill>
                <a:schemeClr val="bg1"/>
              </a:solidFill>
            </a:endParaRPr>
          </a:p>
        </p:txBody>
      </p:sp>
      <p:sp>
        <p:nvSpPr>
          <p:cNvPr id="5" name="文本框 4"/>
          <p:cNvSpPr txBox="1"/>
          <p:nvPr/>
        </p:nvSpPr>
        <p:spPr>
          <a:xfrm>
            <a:off x="822256" y="1274802"/>
            <a:ext cx="10416873" cy="522900"/>
          </a:xfrm>
          <a:prstGeom prst="rect">
            <a:avLst/>
          </a:prstGeom>
          <a:noFill/>
        </p:spPr>
        <p:txBody>
          <a:bodyPr wrap="square" rtlCol="0">
            <a:spAutoFit/>
          </a:bodyPr>
          <a:lstStyle/>
          <a:p>
            <a:pPr>
              <a:lnSpc>
                <a:spcPct val="123000"/>
              </a:lnSpc>
            </a:pPr>
            <a:r>
              <a:rPr lang="zh-CN" altLang="en-US" sz="2500" dirty="0"/>
              <a:t>以簇为单位的</a:t>
            </a:r>
            <a:r>
              <a:rPr lang="en-US" altLang="zh-CN" sz="2500" dirty="0"/>
              <a:t>FAT</a:t>
            </a:r>
            <a:r>
              <a:rPr lang="zh-CN" altLang="en-US" sz="2500" dirty="0"/>
              <a:t>文件系统</a:t>
            </a:r>
            <a:endParaRPr lang="zh-CN" altLang="en-US" sz="2500" dirty="0"/>
          </a:p>
        </p:txBody>
      </p:sp>
      <p:sp>
        <p:nvSpPr>
          <p:cNvPr id="7" name="内容占位符 2"/>
          <p:cNvSpPr txBox="1"/>
          <p:nvPr/>
        </p:nvSpPr>
        <p:spPr>
          <a:xfrm>
            <a:off x="822255" y="1785383"/>
            <a:ext cx="10973505" cy="555645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23000"/>
              </a:lnSpc>
              <a:spcBef>
                <a:spcPts val="370"/>
              </a:spcBef>
              <a:buClr>
                <a:srgbClr val="E71101"/>
              </a:buClr>
              <a:buSzPct val="100000"/>
              <a:buFont typeface="Wingdings" panose="05000000000000000000" pitchFamily="2" charset="2"/>
              <a:buChar char="Ø"/>
              <a:defRPr/>
            </a:pPr>
            <a:r>
              <a:rPr lang="zh-CN" altLang="en-US" sz="2400" u="sng" dirty="0"/>
              <a:t>簇是一组相邻的扇区</a:t>
            </a:r>
            <a:r>
              <a:rPr lang="zh-CN" altLang="en-US" sz="2400" dirty="0"/>
              <a:t>，在</a:t>
            </a:r>
            <a:r>
              <a:rPr lang="en-US" altLang="zh-CN" sz="2400" dirty="0"/>
              <a:t>FAT</a:t>
            </a:r>
            <a:r>
              <a:rPr lang="zh-CN" altLang="en-US" sz="2400" dirty="0"/>
              <a:t>中被视作一个虚拟扇区</a:t>
            </a:r>
            <a:endParaRPr lang="zh-CN" altLang="en-US" sz="2400" dirty="0"/>
          </a:p>
          <a:p>
            <a:pPr marL="342265" lvl="1" indent="-533400">
              <a:lnSpc>
                <a:spcPct val="123000"/>
              </a:lnSpc>
              <a:spcBef>
                <a:spcPts val="370"/>
              </a:spcBef>
              <a:buClr>
                <a:srgbClr val="E71101"/>
              </a:buClr>
              <a:buSzPct val="100000"/>
              <a:buFont typeface="Wingdings" panose="05000000000000000000" pitchFamily="2" charset="2"/>
              <a:buChar char="Ø"/>
              <a:defRPr/>
            </a:pPr>
            <a:r>
              <a:rPr lang="zh-CN" altLang="en-US" sz="2400" dirty="0"/>
              <a:t>簇的大小一般是</a:t>
            </a:r>
            <a:r>
              <a:rPr lang="en-US" altLang="zh-CN" sz="2400" dirty="0"/>
              <a:t>2n</a:t>
            </a:r>
            <a:r>
              <a:rPr lang="zh-CN" altLang="en-US" sz="2400" dirty="0"/>
              <a:t>个盘块</a:t>
            </a:r>
            <a:r>
              <a:rPr lang="en-US" altLang="zh-CN" sz="2400" dirty="0"/>
              <a:t>(n=1,2,4,8,…)</a:t>
            </a:r>
            <a:endParaRPr lang="en-US" altLang="zh-CN" sz="2400" dirty="0"/>
          </a:p>
          <a:p>
            <a:pPr marL="342265" lvl="1" indent="-533400">
              <a:lnSpc>
                <a:spcPct val="123000"/>
              </a:lnSpc>
              <a:spcBef>
                <a:spcPts val="370"/>
              </a:spcBef>
              <a:buClr>
                <a:srgbClr val="E71101"/>
              </a:buClr>
              <a:buSzPct val="100000"/>
              <a:buFont typeface="Wingdings" panose="05000000000000000000" pitchFamily="2" charset="2"/>
              <a:buChar char="Ø"/>
              <a:defRPr/>
            </a:pPr>
            <a:r>
              <a:rPr lang="zh-CN" altLang="en-US" sz="2400" dirty="0"/>
              <a:t>一个簇应包含扇区的数量与磁盘容量大小直接相关</a:t>
            </a:r>
            <a:endParaRPr lang="en-US" altLang="zh-CN" sz="2400" dirty="0"/>
          </a:p>
          <a:p>
            <a:pPr marL="342265" lvl="1" indent="-533400">
              <a:lnSpc>
                <a:spcPct val="123000"/>
              </a:lnSpc>
              <a:spcBef>
                <a:spcPts val="370"/>
              </a:spcBef>
              <a:buClr>
                <a:srgbClr val="E71101"/>
              </a:buClr>
              <a:buSzPct val="100000"/>
              <a:buFont typeface="Wingdings" panose="05000000000000000000" pitchFamily="2" charset="2"/>
              <a:buChar char="Ø"/>
              <a:defRPr/>
            </a:pPr>
            <a:r>
              <a:rPr lang="en-US" altLang="zh-CN" sz="2400" dirty="0"/>
              <a:t>FAT16</a:t>
            </a:r>
            <a:r>
              <a:rPr lang="zh-CN" altLang="en-US" sz="2400" dirty="0"/>
              <a:t>支持一个簇有</a:t>
            </a:r>
            <a:r>
              <a:rPr lang="en-US" altLang="zh-CN" sz="2400" dirty="0"/>
              <a:t>64</a:t>
            </a:r>
            <a:r>
              <a:rPr lang="zh-CN" altLang="en-US" sz="2400" dirty="0"/>
              <a:t>个盘块，其</a:t>
            </a:r>
            <a:r>
              <a:rPr lang="en-US" altLang="zh-CN" sz="2400" dirty="0"/>
              <a:t>FAT</a:t>
            </a:r>
            <a:r>
              <a:rPr lang="zh-CN" altLang="en-US" sz="2400" dirty="0"/>
              <a:t>表的表项数最大为</a:t>
            </a:r>
            <a:r>
              <a:rPr lang="en-US" altLang="zh-CN" sz="2400" dirty="0"/>
              <a:t>2</a:t>
            </a:r>
            <a:r>
              <a:rPr lang="en-US" altLang="zh-CN" sz="2400" baseline="30000" dirty="0"/>
              <a:t>16</a:t>
            </a:r>
            <a:r>
              <a:rPr lang="zh-CN" altLang="en-US" sz="2400" dirty="0"/>
              <a:t>，则最大可以管理的分区空间为</a:t>
            </a:r>
            <a:r>
              <a:rPr lang="en-US" altLang="zh-CN" sz="2400" dirty="0"/>
              <a:t>2048MB(512*64*2</a:t>
            </a:r>
            <a:r>
              <a:rPr lang="en-US" altLang="zh-CN" sz="2400" baseline="30000" dirty="0"/>
              <a:t>16</a:t>
            </a:r>
            <a:r>
              <a:rPr lang="en-US" altLang="zh-CN" sz="2400" dirty="0"/>
              <a:t>)</a:t>
            </a:r>
            <a:endParaRPr lang="en-US" altLang="zh-CN" sz="2400" dirty="0"/>
          </a:p>
          <a:p>
            <a:pPr marL="342265" lvl="1" indent="-533400">
              <a:lnSpc>
                <a:spcPct val="123000"/>
              </a:lnSpc>
              <a:spcBef>
                <a:spcPts val="370"/>
              </a:spcBef>
              <a:buClr>
                <a:srgbClr val="E71101"/>
              </a:buClr>
              <a:buSzPct val="100000"/>
              <a:buFont typeface="Wingdings" panose="05000000000000000000" pitchFamily="2" charset="2"/>
              <a:buChar char="Ø"/>
              <a:defRPr/>
            </a:pPr>
            <a:r>
              <a:rPr lang="zh-CN" altLang="en-US" sz="2400" dirty="0">
                <a:solidFill>
                  <a:srgbClr val="0000FF"/>
                </a:solidFill>
              </a:rPr>
              <a:t>优点</a:t>
            </a:r>
            <a:r>
              <a:rPr lang="zh-CN" altLang="en-US" sz="2400" dirty="0"/>
              <a:t>：</a:t>
            </a:r>
            <a:endParaRPr lang="zh-CN" altLang="en-US" sz="2400" dirty="0"/>
          </a:p>
          <a:p>
            <a:pPr marL="799465" lvl="2" indent="-533400">
              <a:lnSpc>
                <a:spcPct val="123000"/>
              </a:lnSpc>
              <a:spcBef>
                <a:spcPts val="370"/>
              </a:spcBef>
              <a:buClr>
                <a:srgbClr val="E71101"/>
              </a:buClr>
              <a:buSzPct val="100000"/>
              <a:buFont typeface="Wingdings" panose="05000000000000000000" pitchFamily="2" charset="2"/>
              <a:buChar char="p"/>
              <a:defRPr/>
            </a:pPr>
            <a:r>
              <a:rPr lang="zh-CN" altLang="en-US" sz="2200" dirty="0"/>
              <a:t>可以减少</a:t>
            </a:r>
            <a:r>
              <a:rPr lang="en-US" altLang="zh-CN" sz="2200" dirty="0"/>
              <a:t>FAT</a:t>
            </a:r>
            <a:r>
              <a:rPr lang="zh-CN" altLang="en-US" sz="2200" dirty="0"/>
              <a:t>中的项数，使</a:t>
            </a:r>
            <a:r>
              <a:rPr lang="en-US" altLang="zh-CN" sz="2200" dirty="0"/>
              <a:t>FAT</a:t>
            </a:r>
            <a:r>
              <a:rPr lang="zh-CN" altLang="en-US" sz="2200" dirty="0"/>
              <a:t>占用更少的存储空间，并且可以减少访问</a:t>
            </a:r>
            <a:r>
              <a:rPr lang="en-US" altLang="zh-CN" sz="2200" dirty="0"/>
              <a:t>FAT</a:t>
            </a:r>
            <a:r>
              <a:rPr lang="zh-CN" altLang="en-US" sz="2200" dirty="0"/>
              <a:t>的存取开销</a:t>
            </a:r>
            <a:endParaRPr lang="zh-CN" altLang="en-US" sz="2200" dirty="0"/>
          </a:p>
          <a:p>
            <a:pPr marL="342265" lvl="1" indent="-533400">
              <a:lnSpc>
                <a:spcPct val="123000"/>
              </a:lnSpc>
              <a:spcBef>
                <a:spcPts val="370"/>
              </a:spcBef>
              <a:buClr>
                <a:srgbClr val="E71101"/>
              </a:buClr>
              <a:buSzPct val="100000"/>
              <a:buFont typeface="Wingdings" panose="05000000000000000000" pitchFamily="2" charset="2"/>
              <a:buChar char="Ø"/>
              <a:defRPr/>
            </a:pPr>
            <a:r>
              <a:rPr lang="zh-CN" altLang="en-US" sz="2400" dirty="0">
                <a:solidFill>
                  <a:srgbClr val="FF0000"/>
                </a:solidFill>
              </a:rPr>
              <a:t>缺点</a:t>
            </a:r>
            <a:r>
              <a:rPr lang="zh-CN" altLang="en-US" sz="2400" dirty="0"/>
              <a:t>：</a:t>
            </a:r>
            <a:endParaRPr lang="zh-CN" altLang="en-US" sz="2400" dirty="0"/>
          </a:p>
          <a:p>
            <a:pPr marL="799465" lvl="2" indent="-533400">
              <a:lnSpc>
                <a:spcPct val="123000"/>
              </a:lnSpc>
              <a:spcBef>
                <a:spcPts val="370"/>
              </a:spcBef>
              <a:buClr>
                <a:srgbClr val="E71101"/>
              </a:buClr>
              <a:buSzPct val="100000"/>
              <a:buFont typeface="Wingdings" panose="05000000000000000000" pitchFamily="2" charset="2"/>
              <a:buChar char="p"/>
              <a:defRPr/>
            </a:pPr>
            <a:r>
              <a:rPr lang="zh-CN" altLang="en-US" sz="2200" dirty="0"/>
              <a:t>簇的容量越大，簇内碎片越大</a:t>
            </a:r>
            <a:endParaRPr lang="zh-CN" alt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FAT 32</a:t>
            </a:r>
            <a:endParaRPr lang="zh-CN" altLang="en-US" sz="2800" b="1" dirty="0">
              <a:solidFill>
                <a:schemeClr val="bg1"/>
              </a:solidFill>
            </a:endParaRPr>
          </a:p>
        </p:txBody>
      </p:sp>
      <p:sp>
        <p:nvSpPr>
          <p:cNvPr id="5" name="文本框 4"/>
          <p:cNvSpPr txBox="1"/>
          <p:nvPr/>
        </p:nvSpPr>
        <p:spPr>
          <a:xfrm>
            <a:off x="1571348" y="1079493"/>
            <a:ext cx="9747680" cy="3350404"/>
          </a:xfrm>
          <a:prstGeom prst="rect">
            <a:avLst/>
          </a:prstGeom>
          <a:noFill/>
        </p:spPr>
        <p:txBody>
          <a:bodyPr wrap="square" rtlCol="0">
            <a:spAutoFit/>
          </a:bodyPr>
          <a:lstStyle/>
          <a:p>
            <a:pPr>
              <a:lnSpc>
                <a:spcPct val="150000"/>
              </a:lnSpc>
              <a:defRPr/>
            </a:pPr>
            <a:r>
              <a:rPr lang="zh-CN" altLang="en-US" sz="2400" dirty="0">
                <a:sym typeface="Wingdings" panose="05000000000000000000" pitchFamily="2" charset="2"/>
              </a:rPr>
              <a:t>两份</a:t>
            </a:r>
            <a:r>
              <a:rPr lang="en-US" altLang="zh-CN" sz="2400" dirty="0">
                <a:sym typeface="Wingdings" panose="05000000000000000000" pitchFamily="2" charset="2"/>
              </a:rPr>
              <a:t>FAT</a:t>
            </a:r>
            <a:r>
              <a:rPr lang="zh-CN" altLang="en-US" sz="2400" dirty="0">
                <a:sym typeface="Wingdings" panose="05000000000000000000" pitchFamily="2" charset="2"/>
              </a:rPr>
              <a:t>表；</a:t>
            </a:r>
            <a:endParaRPr lang="en-US" altLang="zh-CN" sz="2400" dirty="0">
              <a:sym typeface="Wingdings" panose="05000000000000000000" pitchFamily="2" charset="2"/>
            </a:endParaRPr>
          </a:p>
          <a:p>
            <a:pPr>
              <a:lnSpc>
                <a:spcPct val="150000"/>
              </a:lnSpc>
              <a:defRPr/>
            </a:pPr>
            <a:r>
              <a:rPr lang="zh-CN" altLang="en-US" sz="2400" dirty="0">
                <a:sym typeface="Wingdings" panose="05000000000000000000" pitchFamily="2" charset="2"/>
              </a:rPr>
              <a:t>每个簇</a:t>
            </a:r>
            <a:r>
              <a:rPr lang="en-US" altLang="zh-CN" sz="2400" dirty="0">
                <a:sym typeface="Wingdings" panose="05000000000000000000" pitchFamily="2" charset="2"/>
              </a:rPr>
              <a:t>(</a:t>
            </a:r>
            <a:r>
              <a:rPr lang="zh-CN" altLang="en-US" sz="2400" dirty="0">
                <a:sym typeface="Wingdings" panose="05000000000000000000" pitchFamily="2" charset="2"/>
              </a:rPr>
              <a:t>物理块</a:t>
            </a:r>
            <a:r>
              <a:rPr lang="en-US" altLang="zh-CN" sz="2400" dirty="0">
                <a:sym typeface="Wingdings" panose="05000000000000000000" pitchFamily="2" charset="2"/>
              </a:rPr>
              <a:t>)</a:t>
            </a:r>
            <a:r>
              <a:rPr lang="zh-CN" altLang="en-US" sz="2400" dirty="0">
                <a:sym typeface="Wingdings" panose="05000000000000000000" pitchFamily="2" charset="2"/>
              </a:rPr>
              <a:t>固定为</a:t>
            </a:r>
            <a:r>
              <a:rPr lang="en-US" altLang="zh-CN" sz="2400" dirty="0">
                <a:sym typeface="Wingdings" panose="05000000000000000000" pitchFamily="2" charset="2"/>
              </a:rPr>
              <a:t>4KB~32KB</a:t>
            </a:r>
            <a:r>
              <a:rPr lang="zh-CN" altLang="en-US" sz="2400" dirty="0">
                <a:sym typeface="Wingdings" panose="05000000000000000000" pitchFamily="2" charset="2"/>
              </a:rPr>
              <a:t>；</a:t>
            </a:r>
            <a:endParaRPr lang="en-US" altLang="zh-CN" sz="2400" dirty="0">
              <a:sym typeface="Wingdings" panose="05000000000000000000" pitchFamily="2" charset="2"/>
            </a:endParaRPr>
          </a:p>
          <a:p>
            <a:pPr>
              <a:lnSpc>
                <a:spcPct val="150000"/>
              </a:lnSpc>
              <a:defRPr/>
            </a:pPr>
            <a:r>
              <a:rPr lang="en-US" altLang="zh-CN" sz="2400" dirty="0">
                <a:sym typeface="Wingdings" panose="05000000000000000000" pitchFamily="2" charset="2"/>
              </a:rPr>
              <a:t>FAT</a:t>
            </a:r>
            <a:r>
              <a:rPr lang="zh-CN" altLang="en-US" sz="2400" dirty="0">
                <a:sym typeface="Wingdings" panose="05000000000000000000" pitchFamily="2" charset="2"/>
              </a:rPr>
              <a:t>表的表项占据</a:t>
            </a:r>
            <a:r>
              <a:rPr lang="en-US" altLang="zh-CN" sz="2400" dirty="0">
                <a:sym typeface="Wingdings" panose="05000000000000000000" pitchFamily="2" charset="2"/>
              </a:rPr>
              <a:t>32</a:t>
            </a:r>
            <a:r>
              <a:rPr lang="zh-CN" altLang="en-US" sz="2400" dirty="0">
                <a:sym typeface="Wingdings" panose="05000000000000000000" pitchFamily="2" charset="2"/>
              </a:rPr>
              <a:t>位；</a:t>
            </a:r>
            <a:endParaRPr lang="en-US" altLang="zh-CN" sz="2400" dirty="0">
              <a:sym typeface="Wingdings" panose="05000000000000000000" pitchFamily="2" charset="2"/>
            </a:endParaRPr>
          </a:p>
          <a:p>
            <a:pPr>
              <a:lnSpc>
                <a:spcPct val="150000"/>
              </a:lnSpc>
              <a:defRPr/>
            </a:pPr>
            <a:r>
              <a:rPr lang="en-US" altLang="zh-CN" sz="2400" dirty="0">
                <a:sym typeface="Wingdings" panose="05000000000000000000" pitchFamily="2" charset="2"/>
              </a:rPr>
              <a:t>FAT</a:t>
            </a:r>
            <a:r>
              <a:rPr lang="zh-CN" altLang="en-US" sz="2400" dirty="0">
                <a:sym typeface="Wingdings" panose="05000000000000000000" pitchFamily="2" charset="2"/>
              </a:rPr>
              <a:t>表最大表项数</a:t>
            </a:r>
            <a:r>
              <a:rPr lang="en-US" altLang="zh-CN" sz="2400" dirty="0">
                <a:sym typeface="Wingdings" panose="05000000000000000000" pitchFamily="2" charset="2"/>
              </a:rPr>
              <a:t>2</a:t>
            </a:r>
            <a:r>
              <a:rPr lang="en-US" altLang="zh-CN" sz="2400" baseline="30000" dirty="0">
                <a:sym typeface="Wingdings" panose="05000000000000000000" pitchFamily="2" charset="2"/>
              </a:rPr>
              <a:t>32</a:t>
            </a:r>
            <a:r>
              <a:rPr lang="zh-CN" altLang="en-US" sz="2400" dirty="0">
                <a:sym typeface="Wingdings" panose="05000000000000000000" pitchFamily="2" charset="2"/>
              </a:rPr>
              <a:t>项；</a:t>
            </a:r>
            <a:endParaRPr lang="en-US" altLang="zh-CN" sz="2400" dirty="0">
              <a:sym typeface="Wingdings" panose="05000000000000000000" pitchFamily="2" charset="2"/>
            </a:endParaRPr>
          </a:p>
          <a:p>
            <a:pPr>
              <a:lnSpc>
                <a:spcPct val="150000"/>
              </a:lnSpc>
              <a:defRPr/>
            </a:pPr>
            <a:r>
              <a:rPr lang="zh-CN" altLang="en-US" sz="2400" dirty="0">
                <a:sym typeface="Wingdings" panose="05000000000000000000" pitchFamily="2" charset="2"/>
              </a:rPr>
              <a:t>单个文件不能大于</a:t>
            </a:r>
            <a:r>
              <a:rPr lang="en-US" altLang="zh-CN" sz="2400" dirty="0"/>
              <a:t>4G</a:t>
            </a:r>
            <a:r>
              <a:rPr lang="zh-CN" altLang="en-US" sz="2400" dirty="0"/>
              <a:t>；</a:t>
            </a:r>
            <a:endParaRPr lang="en-US" altLang="zh-CN" sz="2400" dirty="0">
              <a:sym typeface="Wingdings" panose="05000000000000000000" pitchFamily="2" charset="2"/>
            </a:endParaRPr>
          </a:p>
          <a:p>
            <a:pPr>
              <a:lnSpc>
                <a:spcPct val="150000"/>
              </a:lnSpc>
              <a:defRPr/>
            </a:pPr>
            <a:r>
              <a:rPr lang="en-US" altLang="zh-CN" sz="2400" dirty="0">
                <a:sym typeface="Wingdings" panose="05000000000000000000" pitchFamily="2" charset="2"/>
              </a:rPr>
              <a:t>FAT32</a:t>
            </a:r>
            <a:r>
              <a:rPr lang="zh-CN" altLang="en-US" sz="2400" dirty="0">
                <a:sym typeface="Wingdings" panose="05000000000000000000" pitchFamily="2" charset="2"/>
              </a:rPr>
              <a:t>管理的</a:t>
            </a:r>
            <a:r>
              <a:rPr lang="zh-CN" altLang="en-US" sz="2400" dirty="0">
                <a:solidFill>
                  <a:srgbClr val="0000FF"/>
                </a:solidFill>
                <a:sym typeface="Wingdings" panose="05000000000000000000" pitchFamily="2" charset="2"/>
              </a:rPr>
              <a:t>单个最大磁盘空间</a:t>
            </a:r>
            <a:r>
              <a:rPr lang="zh-CN" altLang="en-US" sz="2400" dirty="0">
                <a:sym typeface="Wingdings" panose="05000000000000000000" pitchFamily="2" charset="2"/>
              </a:rPr>
              <a:t>：</a:t>
            </a:r>
            <a:r>
              <a:rPr lang="en-US" altLang="zh-CN" sz="2400" dirty="0">
                <a:solidFill>
                  <a:srgbClr val="FF0000"/>
                </a:solidFill>
                <a:sym typeface="Wingdings" panose="05000000000000000000" pitchFamily="2" charset="2"/>
              </a:rPr>
              <a:t>512B*2</a:t>
            </a:r>
            <a:r>
              <a:rPr lang="en-US" altLang="zh-CN" sz="2400" baseline="30000" dirty="0">
                <a:solidFill>
                  <a:srgbClr val="FF0000"/>
                </a:solidFill>
                <a:sym typeface="Wingdings" panose="05000000000000000000" pitchFamily="2" charset="2"/>
              </a:rPr>
              <a:t>32</a:t>
            </a:r>
            <a:r>
              <a:rPr lang="en-US" altLang="zh-CN" sz="2400" dirty="0">
                <a:solidFill>
                  <a:srgbClr val="FF0000"/>
                </a:solidFill>
                <a:sym typeface="Wingdings" panose="05000000000000000000" pitchFamily="2" charset="2"/>
              </a:rPr>
              <a:t>=2TB</a:t>
            </a:r>
            <a:r>
              <a:rPr lang="zh-CN" altLang="en-US" sz="2400" dirty="0">
                <a:sym typeface="Wingdings" panose="05000000000000000000" pitchFamily="2" charset="2"/>
              </a:rPr>
              <a:t>。</a:t>
            </a:r>
            <a:endParaRPr lang="en-US" altLang="zh-CN" sz="2400" dirty="0">
              <a:sym typeface="Wingdings" panose="05000000000000000000" pitchFamily="2" charset="2"/>
            </a:endParaRPr>
          </a:p>
        </p:txBody>
      </p:sp>
      <p:pic>
        <p:nvPicPr>
          <p:cNvPr id="6" name="Picture 4"/>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72971" y="4579388"/>
            <a:ext cx="10623611" cy="16971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72972" y="1145478"/>
            <a:ext cx="527050" cy="527050"/>
          </a:xfrm>
          <a:prstGeom prst="rect">
            <a:avLst/>
          </a:prstGeom>
          <a:ln>
            <a:noFill/>
          </a:ln>
          <a:effectLst>
            <a:softEdge rad="0"/>
          </a:effectLst>
        </p:spPr>
      </p:pic>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72972" y="1716051"/>
            <a:ext cx="527050" cy="527050"/>
          </a:xfrm>
          <a:prstGeom prst="rect">
            <a:avLst/>
          </a:prstGeom>
          <a:ln>
            <a:noFill/>
          </a:ln>
          <a:effectLst>
            <a:softEdge rad="0"/>
          </a:effectLst>
        </p:spPr>
      </p:pic>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72972" y="2286624"/>
            <a:ext cx="527050" cy="527050"/>
          </a:xfrm>
          <a:prstGeom prst="rect">
            <a:avLst/>
          </a:prstGeom>
          <a:ln>
            <a:noFill/>
          </a:ln>
          <a:effectLst>
            <a:softEdge rad="0"/>
          </a:effectLst>
        </p:spPr>
      </p:pic>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72972" y="2834592"/>
            <a:ext cx="527050" cy="527050"/>
          </a:xfrm>
          <a:prstGeom prst="rect">
            <a:avLst/>
          </a:prstGeom>
          <a:ln>
            <a:noFill/>
          </a:ln>
          <a:effectLst>
            <a:softEdge rad="0"/>
          </a:effectLst>
        </p:spPr>
      </p:pic>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72972" y="3405165"/>
            <a:ext cx="527050" cy="527050"/>
          </a:xfrm>
          <a:prstGeom prst="rect">
            <a:avLst/>
          </a:prstGeom>
          <a:ln>
            <a:noFill/>
          </a:ln>
          <a:effectLst>
            <a:softEdge rad="0"/>
          </a:effectLst>
        </p:spPr>
      </p:pic>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72972" y="3975738"/>
            <a:ext cx="527050" cy="527050"/>
          </a:xfrm>
          <a:prstGeom prst="rect">
            <a:avLst/>
          </a:prstGeom>
          <a:ln>
            <a:noFill/>
          </a:ln>
          <a:effectLst>
            <a:softEdge rad="0"/>
          </a:effectLst>
        </p:spPr>
      </p:pic>
      <p:sp>
        <p:nvSpPr>
          <p:cNvPr id="2" name="矩形 1"/>
          <p:cNvSpPr/>
          <p:nvPr/>
        </p:nvSpPr>
        <p:spPr>
          <a:xfrm>
            <a:off x="3160450" y="4579388"/>
            <a:ext cx="3861787" cy="106825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476238"/>
            <a:ext cx="4500146" cy="461665"/>
          </a:xfrm>
          <a:prstGeom prst="rect">
            <a:avLst/>
          </a:prstGeom>
        </p:spPr>
        <p:txBody>
          <a:bodyPr wrap="square">
            <a:spAutoFit/>
          </a:bodyPr>
          <a:lstStyle/>
          <a:p>
            <a:r>
              <a:rPr lang="en-US" altLang="zh-CN" sz="2400" dirty="0">
                <a:latin typeface="+mj-ea"/>
                <a:ea typeface="+mj-ea"/>
              </a:rPr>
              <a:t>9.1 </a:t>
            </a:r>
            <a:r>
              <a:rPr lang="zh-CN" altLang="en-US" sz="2400" dirty="0">
                <a:latin typeface="+mj-ea"/>
                <a:ea typeface="+mj-ea"/>
              </a:rPr>
              <a:t>外存的组织方式</a:t>
            </a:r>
            <a:endParaRPr lang="zh-CN" altLang="en-US" sz="2400" dirty="0">
              <a:latin typeface="+mj-ea"/>
              <a:ea typeface="+mj-ea"/>
            </a:endParaRPr>
          </a:p>
        </p:txBody>
      </p:sp>
      <p:sp>
        <p:nvSpPr>
          <p:cNvPr id="23" name="矩形 22"/>
          <p:cNvSpPr/>
          <p:nvPr/>
        </p:nvSpPr>
        <p:spPr>
          <a:xfrm>
            <a:off x="1696469" y="2114413"/>
            <a:ext cx="3682150" cy="461665"/>
          </a:xfrm>
          <a:prstGeom prst="rect">
            <a:avLst/>
          </a:prstGeom>
        </p:spPr>
        <p:txBody>
          <a:bodyPr wrap="square">
            <a:spAutoFit/>
          </a:bodyPr>
          <a:lstStyle/>
          <a:p>
            <a:r>
              <a:rPr lang="en-US" altLang="zh-CN" sz="2400" dirty="0">
                <a:latin typeface="+mj-ea"/>
              </a:rPr>
              <a:t>9.1.1 </a:t>
            </a:r>
            <a:r>
              <a:rPr lang="zh-CN" altLang="en-US" sz="2400" dirty="0">
                <a:latin typeface="+mj-ea"/>
              </a:rPr>
              <a:t>连续组织方式</a:t>
            </a:r>
            <a:endParaRPr lang="en-US" altLang="zh-CN" sz="2400" dirty="0">
              <a:latin typeface="+mj-ea"/>
            </a:endParaRPr>
          </a:p>
        </p:txBody>
      </p:sp>
      <p:sp>
        <p:nvSpPr>
          <p:cNvPr id="24" name="矩形 23"/>
          <p:cNvSpPr/>
          <p:nvPr/>
        </p:nvSpPr>
        <p:spPr>
          <a:xfrm>
            <a:off x="1696468" y="2733538"/>
            <a:ext cx="3488967" cy="461665"/>
          </a:xfrm>
          <a:prstGeom prst="rect">
            <a:avLst/>
          </a:prstGeom>
        </p:spPr>
        <p:txBody>
          <a:bodyPr wrap="square">
            <a:spAutoFit/>
          </a:bodyPr>
          <a:lstStyle/>
          <a:p>
            <a:r>
              <a:rPr lang="en-US" altLang="zh-CN" sz="2400" dirty="0">
                <a:latin typeface="+mj-ea"/>
              </a:rPr>
              <a:t>9.1.2 </a:t>
            </a:r>
            <a:r>
              <a:rPr lang="zh-CN" altLang="en-US" sz="2400" dirty="0">
                <a:latin typeface="+mj-ea"/>
              </a:rPr>
              <a:t>链接组织方式</a:t>
            </a:r>
            <a:endParaRPr lang="en-US" altLang="zh-CN" sz="2400" dirty="0">
              <a:latin typeface="+mj-ea"/>
            </a:endParaRPr>
          </a:p>
        </p:txBody>
      </p:sp>
      <p:sp>
        <p:nvSpPr>
          <p:cNvPr id="25" name="矩形 24"/>
          <p:cNvSpPr/>
          <p:nvPr/>
        </p:nvSpPr>
        <p:spPr>
          <a:xfrm>
            <a:off x="1696468" y="3352663"/>
            <a:ext cx="3488967" cy="461665"/>
          </a:xfrm>
          <a:prstGeom prst="rect">
            <a:avLst/>
          </a:prstGeom>
        </p:spPr>
        <p:txBody>
          <a:bodyPr wrap="square">
            <a:spAutoFit/>
          </a:bodyPr>
          <a:lstStyle/>
          <a:p>
            <a:r>
              <a:rPr lang="en-US" altLang="zh-CN" sz="2400" b="1" dirty="0">
                <a:solidFill>
                  <a:srgbClr val="0000FF"/>
                </a:solidFill>
                <a:latin typeface="+mj-ea"/>
              </a:rPr>
              <a:t>9.1.1 </a:t>
            </a:r>
            <a:r>
              <a:rPr lang="zh-CN" altLang="en-US" sz="2400" b="1" dirty="0">
                <a:solidFill>
                  <a:srgbClr val="0000FF"/>
                </a:solidFill>
                <a:latin typeface="+mj-ea"/>
              </a:rPr>
              <a:t>索引组织方式</a:t>
            </a:r>
            <a:endParaRPr lang="en-US" altLang="zh-CN" sz="2400" b="1" dirty="0">
              <a:solidFill>
                <a:srgbClr val="0000FF"/>
              </a:solidFill>
              <a:latin typeface="+mj-ea"/>
            </a:endParaRPr>
          </a:p>
        </p:txBody>
      </p:sp>
      <p:sp>
        <p:nvSpPr>
          <p:cNvPr id="27" name="矩形 26"/>
          <p:cNvSpPr/>
          <p:nvPr/>
        </p:nvSpPr>
        <p:spPr>
          <a:xfrm>
            <a:off x="1696469" y="3971788"/>
            <a:ext cx="5478772" cy="461665"/>
          </a:xfrm>
          <a:prstGeom prst="rect">
            <a:avLst/>
          </a:prstGeom>
        </p:spPr>
        <p:txBody>
          <a:bodyPr wrap="square">
            <a:spAutoFit/>
          </a:bodyPr>
          <a:lstStyle/>
          <a:p>
            <a:r>
              <a:rPr lang="en-US" altLang="zh-CN" sz="2400" dirty="0">
                <a:latin typeface="+mj-ea"/>
              </a:rPr>
              <a:t>9.2 </a:t>
            </a:r>
            <a:r>
              <a:rPr lang="zh-CN" altLang="en-US" sz="2400" dirty="0">
                <a:latin typeface="+mj-ea"/>
              </a:rPr>
              <a:t>文件存储空间的管理</a:t>
            </a:r>
            <a:endParaRPr lang="zh-CN" altLang="en-US" sz="2400" dirty="0">
              <a:latin typeface="+mj-ea"/>
            </a:endParaRPr>
          </a:p>
        </p:txBody>
      </p:sp>
      <p:sp>
        <p:nvSpPr>
          <p:cNvPr id="28" name="矩形 27"/>
          <p:cNvSpPr/>
          <p:nvPr/>
        </p:nvSpPr>
        <p:spPr>
          <a:xfrm>
            <a:off x="1696468" y="4590913"/>
            <a:ext cx="4769645" cy="461665"/>
          </a:xfrm>
          <a:prstGeom prst="rect">
            <a:avLst/>
          </a:prstGeom>
        </p:spPr>
        <p:txBody>
          <a:bodyPr wrap="square">
            <a:spAutoFit/>
          </a:bodyPr>
          <a:lstStyle/>
          <a:p>
            <a:r>
              <a:rPr lang="en-US" altLang="zh-CN" sz="2400" dirty="0">
                <a:latin typeface="+mj-ea"/>
              </a:rPr>
              <a:t>9.3 </a:t>
            </a:r>
            <a:r>
              <a:rPr lang="zh-CN" altLang="en-US" sz="2400" dirty="0">
                <a:latin typeface="+mj-ea"/>
              </a:rPr>
              <a:t>提高磁盘</a:t>
            </a:r>
            <a:r>
              <a:rPr lang="en-US" altLang="zh-CN" sz="2400" dirty="0">
                <a:latin typeface="+mj-ea"/>
              </a:rPr>
              <a:t>I/O</a:t>
            </a:r>
            <a:r>
              <a:rPr lang="zh-CN" altLang="en-US" sz="2400" dirty="0">
                <a:latin typeface="+mj-ea"/>
              </a:rPr>
              <a:t>速度的途径</a:t>
            </a:r>
            <a:endParaRPr lang="zh-CN" altLang="en-US" sz="2400" dirty="0">
              <a:latin typeface="+mj-ea"/>
            </a:endParaRPr>
          </a:p>
        </p:txBody>
      </p:sp>
      <p:sp>
        <p:nvSpPr>
          <p:cNvPr id="29" name="矩形 28"/>
          <p:cNvSpPr/>
          <p:nvPr/>
        </p:nvSpPr>
        <p:spPr>
          <a:xfrm>
            <a:off x="1696468" y="5210038"/>
            <a:ext cx="4620355" cy="461665"/>
          </a:xfrm>
          <a:prstGeom prst="rect">
            <a:avLst/>
          </a:prstGeom>
        </p:spPr>
        <p:txBody>
          <a:bodyPr wrap="square">
            <a:spAutoFit/>
          </a:bodyPr>
          <a:lstStyle/>
          <a:p>
            <a:r>
              <a:rPr lang="en-US" altLang="zh-CN" sz="2400" dirty="0">
                <a:latin typeface="+mj-ea"/>
              </a:rPr>
              <a:t>9.4 </a:t>
            </a:r>
            <a:r>
              <a:rPr lang="zh-CN" altLang="en-US" sz="2400" dirty="0">
                <a:latin typeface="+mj-ea"/>
              </a:rPr>
              <a:t>提高磁盘可靠性的技术</a:t>
            </a:r>
            <a:endParaRPr lang="zh-CN" altLang="en-US" sz="2400" dirty="0">
              <a:latin typeface="+mj-ea"/>
            </a:endParaRPr>
          </a:p>
        </p:txBody>
      </p:sp>
      <p:sp>
        <p:nvSpPr>
          <p:cNvPr id="3" name="矩形 2"/>
          <p:cNvSpPr/>
          <p:nvPr/>
        </p:nvSpPr>
        <p:spPr>
          <a:xfrm>
            <a:off x="6466113" y="2386337"/>
            <a:ext cx="5191691" cy="646331"/>
          </a:xfrm>
          <a:prstGeom prst="rect">
            <a:avLst/>
          </a:prstGeom>
        </p:spPr>
        <p:txBody>
          <a:bodyPr wrap="square">
            <a:spAutoFit/>
          </a:bodyPr>
          <a:lstStyle/>
          <a:p>
            <a:r>
              <a:rPr lang="zh-CN" altLang="en-US" sz="3600" dirty="0">
                <a:solidFill>
                  <a:srgbClr val="000000"/>
                </a:solidFill>
              </a:rPr>
              <a:t>第</a:t>
            </a:r>
            <a:r>
              <a:rPr lang="en-US" altLang="zh-CN" sz="3600" dirty="0">
                <a:solidFill>
                  <a:srgbClr val="000000"/>
                </a:solidFill>
              </a:rPr>
              <a:t>9</a:t>
            </a:r>
            <a:r>
              <a:rPr lang="zh-CN" altLang="en-US" sz="3600" dirty="0">
                <a:solidFill>
                  <a:srgbClr val="000000"/>
                </a:solidFill>
              </a:rPr>
              <a:t>章    磁盘存储器管理</a:t>
            </a:r>
            <a:endParaRPr lang="zh-CN" altLang="en-US" sz="3600" dirty="0"/>
          </a:p>
        </p:txBody>
      </p:sp>
      <p:cxnSp>
        <p:nvCxnSpPr>
          <p:cNvPr id="5" name="直接连接符 4"/>
          <p:cNvCxnSpPr/>
          <p:nvPr/>
        </p:nvCxnSpPr>
        <p:spPr>
          <a:xfrm>
            <a:off x="6640497" y="3190471"/>
            <a:ext cx="490662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43922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2436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7983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831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2439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6210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62820"/>
            <a:ext cx="527050" cy="527050"/>
          </a:xfrm>
          <a:prstGeom prst="rect">
            <a:avLst/>
          </a:prstGeom>
          <a:ln>
            <a:noFill/>
          </a:ln>
          <a:effectLst>
            <a:softEdge rad="0"/>
          </a:effectLst>
        </p:spPr>
      </p:pic>
      <p:sp>
        <p:nvSpPr>
          <p:cNvPr id="33" name="矩形 32"/>
          <p:cNvSpPr/>
          <p:nvPr/>
        </p:nvSpPr>
        <p:spPr>
          <a:xfrm>
            <a:off x="1696468" y="5863246"/>
            <a:ext cx="4219140" cy="461665"/>
          </a:xfrm>
          <a:prstGeom prst="rect">
            <a:avLst/>
          </a:prstGeom>
        </p:spPr>
        <p:txBody>
          <a:bodyPr wrap="square">
            <a:spAutoFit/>
          </a:bodyPr>
          <a:lstStyle/>
          <a:p>
            <a:r>
              <a:rPr lang="en-US" altLang="zh-CN" sz="2400" dirty="0">
                <a:latin typeface="+mj-ea"/>
              </a:rPr>
              <a:t>9.5 </a:t>
            </a:r>
            <a:r>
              <a:rPr lang="zh-CN" altLang="en-US" sz="2400" dirty="0">
                <a:latin typeface="+mj-ea"/>
              </a:rPr>
              <a:t>存储新技术</a:t>
            </a:r>
            <a:endParaRPr lang="zh-CN" altLang="en-US" sz="2400" dirty="0">
              <a:latin typeface="+mj-ea"/>
            </a:endParaRPr>
          </a:p>
        </p:txBody>
      </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7" y="5816028"/>
            <a:ext cx="527050" cy="527050"/>
          </a:xfrm>
          <a:prstGeom prst="rect">
            <a:avLst/>
          </a:prstGeom>
          <a:ln>
            <a:noFill/>
          </a:ln>
          <a:effectLst>
            <a:softEdge rad="0"/>
          </a:effectLst>
        </p:spPr>
      </p:pic>
      <p:sp>
        <p:nvSpPr>
          <p:cNvPr id="35" name="矩形 34"/>
          <p:cNvSpPr/>
          <p:nvPr/>
        </p:nvSpPr>
        <p:spPr>
          <a:xfrm>
            <a:off x="6754405" y="5837115"/>
            <a:ext cx="4219140" cy="461665"/>
          </a:xfrm>
          <a:prstGeom prst="rect">
            <a:avLst/>
          </a:prstGeom>
        </p:spPr>
        <p:txBody>
          <a:bodyPr wrap="square">
            <a:spAutoFit/>
          </a:bodyPr>
          <a:lstStyle/>
          <a:p>
            <a:r>
              <a:rPr lang="en-US" altLang="zh-CN" sz="2400" dirty="0">
                <a:latin typeface="+mj-ea"/>
              </a:rPr>
              <a:t>9.6 </a:t>
            </a:r>
            <a:r>
              <a:rPr lang="zh-CN" altLang="en-US" sz="2400" dirty="0">
                <a:latin typeface="+mj-ea"/>
              </a:rPr>
              <a:t>数据一致性控制</a:t>
            </a:r>
            <a:endParaRPr lang="zh-CN" altLang="en-US" sz="2400" dirty="0">
              <a:latin typeface="+mj-ea"/>
            </a:endParaRPr>
          </a:p>
        </p:txBody>
      </p:sp>
      <p:pic>
        <p:nvPicPr>
          <p:cNvPr id="36" name="图片 3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227354" y="5789897"/>
            <a:ext cx="527050" cy="527050"/>
          </a:xfrm>
          <a:prstGeom prst="rect">
            <a:avLst/>
          </a:prstGeom>
          <a:ln>
            <a:noFill/>
          </a:ln>
          <a:effectLst>
            <a:softEdge rad="0"/>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9.1.3</a:t>
            </a:r>
            <a:r>
              <a:rPr lang="zh-CN" altLang="en-US" sz="2800" b="1" dirty="0">
                <a:solidFill>
                  <a:schemeClr val="bg1"/>
                </a:solidFill>
              </a:rPr>
              <a:t>索引组织方式</a:t>
            </a:r>
            <a:endParaRPr lang="zh-CN" altLang="en-US" sz="2800" b="1" dirty="0">
              <a:solidFill>
                <a:schemeClr val="bg1"/>
              </a:solidFill>
            </a:endParaRPr>
          </a:p>
        </p:txBody>
      </p:sp>
      <p:grpSp>
        <p:nvGrpSpPr>
          <p:cNvPr id="23" name="iṡļiḓe"/>
          <p:cNvGrpSpPr/>
          <p:nvPr>
            <p:custDataLst>
              <p:tags r:id="rId1"/>
            </p:custDataLst>
          </p:nvPr>
        </p:nvGrpSpPr>
        <p:grpSpPr>
          <a:xfrm>
            <a:off x="669925" y="1318451"/>
            <a:ext cx="8821602" cy="1068227"/>
            <a:chOff x="660400" y="1787149"/>
            <a:chExt cx="8821602" cy="1068227"/>
          </a:xfrm>
        </p:grpSpPr>
        <p:grpSp>
          <p:nvGrpSpPr>
            <p:cNvPr id="25" name="iSḻíḓè"/>
            <p:cNvGrpSpPr/>
            <p:nvPr/>
          </p:nvGrpSpPr>
          <p:grpSpPr>
            <a:xfrm>
              <a:off x="1296567" y="1835355"/>
              <a:ext cx="8185435" cy="1020021"/>
              <a:chOff x="1296567" y="1835355"/>
              <a:chExt cx="10323883" cy="1020021"/>
            </a:xfrm>
          </p:grpSpPr>
          <p:sp>
            <p:nvSpPr>
              <p:cNvPr id="33" name="îṧľîḋé"/>
              <p:cNvSpPr txBox="1"/>
              <p:nvPr>
                <p:custDataLst>
                  <p:tags r:id="rId2"/>
                </p:custDataLst>
              </p:nvPr>
            </p:nvSpPr>
            <p:spPr>
              <a:xfrm>
                <a:off x="1296567" y="1835355"/>
                <a:ext cx="2989871"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链接方式的缺点</a:t>
                </a:r>
                <a:endParaRPr lang="zh-CN" altLang="en-US" sz="2400" dirty="0"/>
              </a:p>
            </p:txBody>
          </p:sp>
          <p:sp>
            <p:nvSpPr>
              <p:cNvPr id="37" name="íşļîḓé"/>
              <p:cNvSpPr/>
              <p:nvPr>
                <p:custDataLst>
                  <p:tags r:id="rId3"/>
                </p:custDataLst>
              </p:nvPr>
            </p:nvSpPr>
            <p:spPr bwMode="auto">
              <a:xfrm>
                <a:off x="1296567" y="2234688"/>
                <a:ext cx="4813594" cy="6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不能支持高效的直接存取</a:t>
                </a:r>
                <a:endParaRPr lang="zh-CN" altLang="en-US" sz="2200" dirty="0"/>
              </a:p>
            </p:txBody>
          </p:sp>
          <p:sp>
            <p:nvSpPr>
              <p:cNvPr id="82" name="íşļîḓé"/>
              <p:cNvSpPr/>
              <p:nvPr>
                <p:custDataLst>
                  <p:tags r:id="rId4"/>
                </p:custDataLst>
              </p:nvPr>
            </p:nvSpPr>
            <p:spPr bwMode="auto">
              <a:xfrm>
                <a:off x="6413578" y="2233257"/>
                <a:ext cx="520687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en-US" altLang="zh-CN" sz="2200" dirty="0"/>
                  <a:t>FAT</a:t>
                </a:r>
                <a:r>
                  <a:rPr lang="zh-CN" altLang="en-US" sz="2200" dirty="0"/>
                  <a:t>表需占用较大的内存空间</a:t>
                </a:r>
                <a:endParaRPr lang="zh-CN" altLang="en-US" sz="2200" dirty="0"/>
              </a:p>
            </p:txBody>
          </p:sp>
        </p:grpSp>
        <p:grpSp>
          <p:nvGrpSpPr>
            <p:cNvPr id="30" name="ïS1íḋé"/>
            <p:cNvGrpSpPr/>
            <p:nvPr/>
          </p:nvGrpSpPr>
          <p:grpSpPr>
            <a:xfrm>
              <a:off x="660400" y="1787149"/>
              <a:ext cx="497734" cy="497734"/>
              <a:chOff x="660400" y="1787149"/>
              <a:chExt cx="497734" cy="497734"/>
            </a:xfrm>
          </p:grpSpPr>
          <p:sp>
            <p:nvSpPr>
              <p:cNvPr id="31" name="islîḋe"/>
              <p:cNvSpPr/>
              <p:nvPr>
                <p:custDataLst>
                  <p:tags r:id="rId5"/>
                </p:custDataLst>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32" name="îŝlîďe"/>
              <p:cNvSpPr/>
              <p:nvPr>
                <p:custDataLst>
                  <p:tags r:id="rId6"/>
                </p:custDataLst>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38" name="iṡļiḓe"/>
          <p:cNvGrpSpPr/>
          <p:nvPr>
            <p:custDataLst>
              <p:tags r:id="rId7"/>
            </p:custDataLst>
          </p:nvPr>
        </p:nvGrpSpPr>
        <p:grpSpPr>
          <a:xfrm>
            <a:off x="1436928" y="2448186"/>
            <a:ext cx="9128621" cy="497734"/>
            <a:chOff x="660400" y="1787149"/>
            <a:chExt cx="9128621" cy="497734"/>
          </a:xfrm>
        </p:grpSpPr>
        <p:sp>
          <p:nvSpPr>
            <p:cNvPr id="43" name="îṧľîḋé"/>
            <p:cNvSpPr txBox="1"/>
            <p:nvPr>
              <p:custDataLst>
                <p:tags r:id="rId8"/>
              </p:custDataLst>
            </p:nvPr>
          </p:nvSpPr>
          <p:spPr>
            <a:xfrm>
              <a:off x="1296567" y="1835355"/>
              <a:ext cx="849245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solidFill>
                    <a:srgbClr val="0000FF"/>
                  </a:solidFill>
                </a:rPr>
                <a:t>索引方式</a:t>
              </a:r>
              <a:r>
                <a:rPr lang="zh-CN" altLang="en-US" sz="2400" dirty="0"/>
                <a:t>：</a:t>
              </a:r>
              <a:r>
                <a:rPr lang="zh-CN" altLang="en-US" sz="2400" dirty="0">
                  <a:solidFill>
                    <a:srgbClr val="FF0000"/>
                  </a:solidFill>
                </a:rPr>
                <a:t>把所有的磁盘块号放在一个索引块</a:t>
              </a:r>
              <a:r>
                <a:rPr lang="en-US" altLang="zh-CN" sz="2400" dirty="0">
                  <a:solidFill>
                    <a:srgbClr val="FF0000"/>
                  </a:solidFill>
                </a:rPr>
                <a:t>(</a:t>
              </a:r>
              <a:r>
                <a:rPr lang="zh-CN" altLang="en-US" sz="2400" dirty="0">
                  <a:solidFill>
                    <a:srgbClr val="FF0000"/>
                  </a:solidFill>
                </a:rPr>
                <a:t>表</a:t>
              </a:r>
              <a:r>
                <a:rPr lang="en-US" altLang="zh-CN" sz="2400" dirty="0">
                  <a:solidFill>
                    <a:srgbClr val="FF0000"/>
                  </a:solidFill>
                </a:rPr>
                <a:t>)</a:t>
              </a:r>
              <a:r>
                <a:rPr lang="zh-CN" altLang="en-US" sz="2400" dirty="0">
                  <a:solidFill>
                    <a:srgbClr val="FF0000"/>
                  </a:solidFill>
                </a:rPr>
                <a:t>中</a:t>
              </a:r>
              <a:endParaRPr lang="zh-CN" altLang="en-US" sz="2400" dirty="0">
                <a:solidFill>
                  <a:srgbClr val="FF0000"/>
                </a:solidFill>
              </a:endParaRPr>
            </a:p>
          </p:txBody>
        </p:sp>
        <p:grpSp>
          <p:nvGrpSpPr>
            <p:cNvPr id="40" name="ïS1íḋé"/>
            <p:cNvGrpSpPr/>
            <p:nvPr/>
          </p:nvGrpSpPr>
          <p:grpSpPr>
            <a:xfrm>
              <a:off x="660400" y="1787149"/>
              <a:ext cx="497734" cy="497734"/>
              <a:chOff x="660400" y="1787149"/>
              <a:chExt cx="497734" cy="497734"/>
            </a:xfrm>
          </p:grpSpPr>
          <p:sp>
            <p:nvSpPr>
              <p:cNvPr id="41" name="islîḋe"/>
              <p:cNvSpPr/>
              <p:nvPr>
                <p:custDataLst>
                  <p:tags r:id="rId9"/>
                </p:custDataLst>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42" name="îŝlîďe"/>
              <p:cNvSpPr/>
              <p:nvPr>
                <p:custDataLst>
                  <p:tags r:id="rId10"/>
                </p:custDataLst>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67" name="iṡļiḓe"/>
          <p:cNvGrpSpPr/>
          <p:nvPr>
            <p:custDataLst>
              <p:tags r:id="rId11"/>
            </p:custDataLst>
          </p:nvPr>
        </p:nvGrpSpPr>
        <p:grpSpPr>
          <a:xfrm>
            <a:off x="2073095" y="3226114"/>
            <a:ext cx="9848025" cy="1065725"/>
            <a:chOff x="660400" y="1787149"/>
            <a:chExt cx="9848025" cy="1065725"/>
          </a:xfrm>
        </p:grpSpPr>
        <p:grpSp>
          <p:nvGrpSpPr>
            <p:cNvPr id="68" name="iSḻíḓè"/>
            <p:cNvGrpSpPr/>
            <p:nvPr/>
          </p:nvGrpSpPr>
          <p:grpSpPr>
            <a:xfrm>
              <a:off x="1296567" y="1835355"/>
              <a:ext cx="9211858" cy="1017519"/>
              <a:chOff x="1296567" y="1835355"/>
              <a:chExt cx="11618458" cy="1017519"/>
            </a:xfrm>
          </p:grpSpPr>
          <p:sp>
            <p:nvSpPr>
              <p:cNvPr id="72" name="îṧľîḋé"/>
              <p:cNvSpPr txBox="1"/>
              <p:nvPr>
                <p:custDataLst>
                  <p:tags r:id="rId12"/>
                </p:custDataLst>
              </p:nvPr>
            </p:nvSpPr>
            <p:spPr>
              <a:xfrm>
                <a:off x="1296567" y="1835355"/>
                <a:ext cx="2989871"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优点：</a:t>
                </a:r>
                <a:endParaRPr lang="zh-CN" altLang="en-US" sz="2400" dirty="0"/>
              </a:p>
            </p:txBody>
          </p:sp>
          <p:sp>
            <p:nvSpPr>
              <p:cNvPr id="73" name="íşļîḓé"/>
              <p:cNvSpPr/>
              <p:nvPr>
                <p:custDataLst>
                  <p:tags r:id="rId13"/>
                </p:custDataLst>
              </p:nvPr>
            </p:nvSpPr>
            <p:spPr bwMode="auto">
              <a:xfrm>
                <a:off x="1296568" y="2234688"/>
                <a:ext cx="2989869" cy="618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支持随机访问</a:t>
                </a:r>
                <a:endParaRPr lang="zh-CN" altLang="en-US" sz="22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文件长度可变</a:t>
                </a:r>
                <a:endParaRPr lang="zh-CN" altLang="en-US" sz="2200" dirty="0"/>
              </a:p>
            </p:txBody>
          </p:sp>
          <p:sp>
            <p:nvSpPr>
              <p:cNvPr id="81" name="íşļîḓé"/>
              <p:cNvSpPr/>
              <p:nvPr>
                <p:custDataLst>
                  <p:tags r:id="rId14"/>
                </p:custDataLst>
              </p:nvPr>
            </p:nvSpPr>
            <p:spPr bwMode="auto">
              <a:xfrm>
                <a:off x="4461036" y="2224778"/>
                <a:ext cx="8453989" cy="578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动态存取没有外碎片</a:t>
                </a:r>
                <a:endParaRPr lang="zh-CN" altLang="en-US" sz="2200" dirty="0"/>
              </a:p>
            </p:txBody>
          </p:sp>
        </p:grpSp>
        <p:grpSp>
          <p:nvGrpSpPr>
            <p:cNvPr id="69" name="ïS1íḋé"/>
            <p:cNvGrpSpPr/>
            <p:nvPr/>
          </p:nvGrpSpPr>
          <p:grpSpPr>
            <a:xfrm>
              <a:off x="660400" y="1787149"/>
              <a:ext cx="497734" cy="497734"/>
              <a:chOff x="660400" y="1787149"/>
              <a:chExt cx="497734" cy="497734"/>
            </a:xfrm>
          </p:grpSpPr>
          <p:sp>
            <p:nvSpPr>
              <p:cNvPr id="70" name="islîḋe"/>
              <p:cNvSpPr/>
              <p:nvPr>
                <p:custDataLst>
                  <p:tags r:id="rId15"/>
                </p:custDataLst>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71" name="îŝlîďe"/>
              <p:cNvSpPr/>
              <p:nvPr>
                <p:custDataLst>
                  <p:tags r:id="rId16"/>
                </p:custDataLst>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74" name="iṡļiḓe"/>
          <p:cNvGrpSpPr/>
          <p:nvPr>
            <p:custDataLst>
              <p:tags r:id="rId17"/>
            </p:custDataLst>
          </p:nvPr>
        </p:nvGrpSpPr>
        <p:grpSpPr>
          <a:xfrm>
            <a:off x="2073090" y="4969159"/>
            <a:ext cx="5568228" cy="1395185"/>
            <a:chOff x="660400" y="1787149"/>
            <a:chExt cx="5568228" cy="1395185"/>
          </a:xfrm>
        </p:grpSpPr>
        <p:grpSp>
          <p:nvGrpSpPr>
            <p:cNvPr id="75" name="iSḻíḓè"/>
            <p:cNvGrpSpPr/>
            <p:nvPr/>
          </p:nvGrpSpPr>
          <p:grpSpPr>
            <a:xfrm>
              <a:off x="1296567" y="1835355"/>
              <a:ext cx="4932061" cy="1346979"/>
              <a:chOff x="1296567" y="1835355"/>
              <a:chExt cx="6220564" cy="1346979"/>
            </a:xfrm>
          </p:grpSpPr>
          <p:sp>
            <p:nvSpPr>
              <p:cNvPr id="79" name="îṧľîḋé"/>
              <p:cNvSpPr txBox="1"/>
              <p:nvPr>
                <p:custDataLst>
                  <p:tags r:id="rId18"/>
                </p:custDataLst>
              </p:nvPr>
            </p:nvSpPr>
            <p:spPr>
              <a:xfrm>
                <a:off x="1296567" y="1835355"/>
                <a:ext cx="2989871"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缺点：</a:t>
                </a:r>
                <a:endParaRPr lang="zh-CN" altLang="en-US" sz="2400" dirty="0"/>
              </a:p>
            </p:txBody>
          </p:sp>
          <p:sp>
            <p:nvSpPr>
              <p:cNvPr id="80" name="íşļîḓé"/>
              <p:cNvSpPr/>
              <p:nvPr>
                <p:custDataLst>
                  <p:tags r:id="rId19"/>
                </p:custDataLst>
              </p:nvPr>
            </p:nvSpPr>
            <p:spPr bwMode="auto">
              <a:xfrm>
                <a:off x="1296567" y="2234688"/>
                <a:ext cx="6220564" cy="947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需要索引表</a:t>
                </a:r>
                <a:endParaRPr lang="zh-CN" altLang="en-US" sz="22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对小文件，其索引块的利用率低</a:t>
                </a:r>
                <a:endParaRPr lang="zh-CN" altLang="en-US" sz="2200" dirty="0"/>
              </a:p>
            </p:txBody>
          </p:sp>
        </p:grpSp>
        <p:grpSp>
          <p:nvGrpSpPr>
            <p:cNvPr id="76" name="ïS1íḋé"/>
            <p:cNvGrpSpPr/>
            <p:nvPr/>
          </p:nvGrpSpPr>
          <p:grpSpPr>
            <a:xfrm>
              <a:off x="660400" y="1787149"/>
              <a:ext cx="497734" cy="497734"/>
              <a:chOff x="660400" y="1787149"/>
              <a:chExt cx="497734" cy="497734"/>
            </a:xfrm>
          </p:grpSpPr>
          <p:sp>
            <p:nvSpPr>
              <p:cNvPr id="77" name="islîḋe"/>
              <p:cNvSpPr/>
              <p:nvPr>
                <p:custDataLst>
                  <p:tags r:id="rId20"/>
                </p:custDataLst>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78" name="îŝlîďe"/>
              <p:cNvSpPr/>
              <p:nvPr>
                <p:custDataLst>
                  <p:tags r:id="rId21"/>
                </p:custDataLst>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索引组织方式示例</a:t>
            </a:r>
            <a:endParaRPr lang="zh-CN" altLang="en-US" sz="2800" b="1" dirty="0">
              <a:solidFill>
                <a:schemeClr val="bg1"/>
              </a:solidFill>
            </a:endParaRPr>
          </a:p>
        </p:txBody>
      </p:sp>
      <p:pic>
        <p:nvPicPr>
          <p:cNvPr id="34" name="Picture 4"/>
          <p:cNvPicPr>
            <a:picLocks noChangeAspect="1" noChangeArrowheads="1"/>
          </p:cNvPicPr>
          <p:nvPr/>
        </p:nvPicPr>
        <p:blipFill>
          <a:blip r:embed="rId1">
            <a:extLst>
              <a:ext uri="{28A0092B-C50C-407E-A947-70E740481C1C}">
                <a14:useLocalDpi xmlns:a14="http://schemas.microsoft.com/office/drawing/2010/main" val="0"/>
              </a:ext>
            </a:extLst>
          </a:blip>
          <a:srcRect l="7759" t="682" r="8002" b="1366"/>
          <a:stretch>
            <a:fillRect/>
          </a:stretch>
        </p:blipFill>
        <p:spPr>
          <a:xfrm>
            <a:off x="1949589" y="1120251"/>
            <a:ext cx="7691561" cy="5031346"/>
          </a:xfrm>
          <a:prstGeom prst="rect">
            <a:avLst/>
          </a:prstGeom>
          <a:noFill/>
          <a:ln w="38100" cmpd="dbl">
            <a:solidFill>
              <a:srgbClr val="CC6600"/>
            </a:solidFill>
            <a:miter lim="800000"/>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多级索引组织方式</a:t>
            </a:r>
            <a:endParaRPr lang="zh-CN" altLang="en-US" sz="2800" b="1" dirty="0">
              <a:solidFill>
                <a:schemeClr val="bg1"/>
              </a:solidFill>
            </a:endParaRPr>
          </a:p>
        </p:txBody>
      </p:sp>
      <p:pic>
        <p:nvPicPr>
          <p:cNvPr id="4" name="图片 3"/>
          <p:cNvPicPr>
            <a:picLocks noChangeAspect="1"/>
          </p:cNvPicPr>
          <p:nvPr/>
        </p:nvPicPr>
        <p:blipFill>
          <a:blip r:embed="rId1">
            <a:clrChange>
              <a:clrFrom>
                <a:srgbClr val="FFFFFF"/>
              </a:clrFrom>
              <a:clrTo>
                <a:srgbClr val="FFFFFF">
                  <a:alpha val="0"/>
                </a:srgbClr>
              </a:clrTo>
            </a:clrChange>
          </a:blip>
          <a:stretch>
            <a:fillRect/>
          </a:stretch>
        </p:blipFill>
        <p:spPr>
          <a:xfrm>
            <a:off x="3170936" y="1098889"/>
            <a:ext cx="5049785" cy="515430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表格 2"/>
          <p:cNvGraphicFramePr/>
          <p:nvPr>
            <p:custDataLst>
              <p:tags r:id="rId1"/>
            </p:custDataLst>
          </p:nvPr>
        </p:nvGraphicFramePr>
        <p:xfrm>
          <a:off x="790575" y="654050"/>
          <a:ext cx="11275060" cy="6586220"/>
        </p:xfrm>
        <a:graphic>
          <a:graphicData uri="http://schemas.openxmlformats.org/drawingml/2006/table">
            <a:tbl>
              <a:tblPr firstRow="1" bandRow="1">
                <a:tableStyleId>{5C22544A-7EE6-4342-B048-85BDC9FD1C3A}</a:tableStyleId>
              </a:tblPr>
              <a:tblGrid>
                <a:gridCol w="1569720"/>
                <a:gridCol w="2283460"/>
                <a:gridCol w="4603115"/>
                <a:gridCol w="2818765"/>
              </a:tblGrid>
              <a:tr h="701040">
                <a:tc>
                  <a:txBody>
                    <a:bodyPr/>
                    <a:p>
                      <a:pPr algn="ctr">
                        <a:lnSpc>
                          <a:spcPct val="100000"/>
                        </a:lnSpc>
                        <a:buNone/>
                      </a:pPr>
                      <a:endParaRPr lang="zh-CN" altLang="en-US" sz="2000"/>
                    </a:p>
                  </a:txBody>
                  <a:tcPr anchor="t" anchorCtr="0"/>
                </a:tc>
                <a:tc>
                  <a:txBody>
                    <a:bodyPr/>
                    <a:p>
                      <a:pPr algn="ctr">
                        <a:lnSpc>
                          <a:spcPct val="100000"/>
                        </a:lnSpc>
                        <a:buNone/>
                      </a:pPr>
                      <a:r>
                        <a:rPr lang="zh-CN" altLang="en-US" sz="2000"/>
                        <a:t>访问第</a:t>
                      </a:r>
                      <a:r>
                        <a:rPr lang="en-US" altLang="zh-CN" sz="2000"/>
                        <a:t>n</a:t>
                      </a:r>
                      <a:r>
                        <a:rPr lang="zh-CN" altLang="en-US" sz="2000"/>
                        <a:t>条记录需访问磁盘次数</a:t>
                      </a:r>
                      <a:endParaRPr lang="zh-CN" altLang="en-US" sz="2000"/>
                    </a:p>
                  </a:txBody>
                  <a:tcPr anchor="t" anchorCtr="0"/>
                </a:tc>
                <a:tc>
                  <a:txBody>
                    <a:bodyPr/>
                    <a:p>
                      <a:pPr algn="ctr">
                        <a:lnSpc>
                          <a:spcPct val="100000"/>
                        </a:lnSpc>
                        <a:buNone/>
                      </a:pPr>
                      <a:r>
                        <a:rPr lang="zh-CN" altLang="en-US" sz="2000"/>
                        <a:t>优点</a:t>
                      </a:r>
                      <a:endParaRPr lang="zh-CN" altLang="en-US" sz="2000"/>
                    </a:p>
                  </a:txBody>
                  <a:tcPr anchor="t" anchorCtr="0"/>
                </a:tc>
                <a:tc>
                  <a:txBody>
                    <a:bodyPr/>
                    <a:p>
                      <a:pPr algn="ctr">
                        <a:lnSpc>
                          <a:spcPct val="100000"/>
                        </a:lnSpc>
                        <a:buNone/>
                      </a:pPr>
                      <a:r>
                        <a:rPr lang="zh-CN" altLang="en-US" sz="2000"/>
                        <a:t>缺点</a:t>
                      </a:r>
                      <a:endParaRPr lang="zh-CN" altLang="en-US" sz="2000"/>
                    </a:p>
                  </a:txBody>
                  <a:tcPr anchor="t" anchorCtr="0"/>
                </a:tc>
              </a:tr>
              <a:tr h="1504315">
                <a:tc>
                  <a:txBody>
                    <a:bodyPr/>
                    <a:p>
                      <a:pPr algn="ctr">
                        <a:lnSpc>
                          <a:spcPct val="100000"/>
                        </a:lnSpc>
                        <a:buNone/>
                      </a:pPr>
                      <a:r>
                        <a:rPr lang="zh-CN" altLang="en-US" sz="2000"/>
                        <a:t>连续分配</a:t>
                      </a:r>
                      <a:endParaRPr lang="zh-CN" altLang="en-US" sz="2000"/>
                    </a:p>
                  </a:txBody>
                  <a:tcPr anchor="t" anchorCtr="0"/>
                </a:tc>
                <a:tc>
                  <a:txBody>
                    <a:bodyPr/>
                    <a:p>
                      <a:pPr algn="ctr">
                        <a:lnSpc>
                          <a:spcPct val="100000"/>
                        </a:lnSpc>
                        <a:buNone/>
                      </a:pPr>
                      <a:r>
                        <a:rPr lang="en-US" altLang="zh-CN" sz="2000"/>
                        <a:t>1</a:t>
                      </a:r>
                      <a:endParaRPr lang="en-US" altLang="zh-CN" sz="2000"/>
                    </a:p>
                  </a:txBody>
                  <a:tcPr anchor="t" anchorCtr="0"/>
                </a:tc>
                <a:tc>
                  <a:txBody>
                    <a:bodyPr/>
                    <a:p>
                      <a:pPr marL="342900" lvl="1" indent="-342900">
                        <a:lnSpc>
                          <a:spcPct val="100000"/>
                        </a:lnSpc>
                        <a:spcBef>
                          <a:spcPts val="370"/>
                        </a:spcBef>
                        <a:buClr>
                          <a:srgbClr val="E71101"/>
                        </a:buClr>
                        <a:buSzPct val="100000"/>
                        <a:buFont typeface="Arial" panose="020B0604020202020204" pitchFamily="34" charset="0"/>
                        <a:buChar char="•"/>
                        <a:defRPr/>
                      </a:pPr>
                      <a:r>
                        <a:rPr lang="zh-CN" altLang="en-US" sz="2000" dirty="0">
                          <a:sym typeface="+mn-ea"/>
                        </a:rPr>
                        <a:t>顺序访问容易 － 仅需要起始块号和长度</a:t>
                      </a:r>
                      <a:endParaRPr lang="zh-CN" altLang="en-US" sz="2000" dirty="0"/>
                    </a:p>
                    <a:p>
                      <a:pPr marL="342900" lvl="1" indent="-342900">
                        <a:lnSpc>
                          <a:spcPct val="100000"/>
                        </a:lnSpc>
                        <a:spcBef>
                          <a:spcPts val="370"/>
                        </a:spcBef>
                        <a:buClr>
                          <a:srgbClr val="E71101"/>
                        </a:buClr>
                        <a:buSzPct val="100000"/>
                        <a:buFont typeface="Arial" panose="020B0604020202020204" pitchFamily="34" charset="0"/>
                        <a:buChar char="•"/>
                        <a:defRPr/>
                      </a:pPr>
                      <a:r>
                        <a:rPr lang="zh-CN" altLang="en-US" sz="2000" dirty="0">
                          <a:sym typeface="+mn-ea"/>
                        </a:rPr>
                        <a:t>顺序访问速度快：是几种外存组织方式中最快的一种</a:t>
                      </a:r>
                      <a:endParaRPr lang="zh-CN" altLang="en-US" sz="2000" dirty="0"/>
                    </a:p>
                    <a:p>
                      <a:pPr marL="342900" lvl="1" indent="-342900">
                        <a:lnSpc>
                          <a:spcPct val="100000"/>
                        </a:lnSpc>
                        <a:spcBef>
                          <a:spcPts val="370"/>
                        </a:spcBef>
                        <a:buClr>
                          <a:srgbClr val="E71101"/>
                        </a:buClr>
                        <a:buSzPct val="100000"/>
                        <a:buFont typeface="Arial" panose="020B0604020202020204" pitchFamily="34" charset="0"/>
                        <a:buChar char="•"/>
                        <a:defRPr/>
                      </a:pPr>
                      <a:r>
                        <a:rPr lang="zh-CN" altLang="en-US" sz="2000" dirty="0">
                          <a:solidFill>
                            <a:srgbClr val="FF0000"/>
                          </a:solidFill>
                          <a:sym typeface="+mn-ea"/>
                        </a:rPr>
                        <a:t>支持随机访问</a:t>
                      </a:r>
                      <a:endParaRPr lang="zh-CN" altLang="en-US" sz="2000">
                        <a:solidFill>
                          <a:srgbClr val="FF0000"/>
                        </a:solidFill>
                      </a:endParaRPr>
                    </a:p>
                  </a:txBody>
                  <a:tcPr anchor="t" anchorCtr="0"/>
                </a:tc>
                <a:tc>
                  <a:txBody>
                    <a:bodyPr/>
                    <a:p>
                      <a:pPr marL="342900" lvl="1" indent="-342900">
                        <a:lnSpc>
                          <a:spcPct val="100000"/>
                        </a:lnSpc>
                        <a:spcBef>
                          <a:spcPts val="370"/>
                        </a:spcBef>
                        <a:buClr>
                          <a:srgbClr val="E71101"/>
                        </a:buClr>
                        <a:buSzPct val="100000"/>
                        <a:buFont typeface="Arial" panose="020B0604020202020204" pitchFamily="34" charset="0"/>
                        <a:buChar char="•"/>
                        <a:defRPr/>
                      </a:pPr>
                      <a:r>
                        <a:rPr lang="zh-CN" altLang="en-US" sz="2000"/>
                        <a:t>文件存储需要连续空间，会产生碎片。</a:t>
                      </a:r>
                      <a:endParaRPr lang="zh-CN" altLang="en-US" sz="2000"/>
                    </a:p>
                    <a:p>
                      <a:pPr marL="342900" lvl="1" indent="-342900">
                        <a:lnSpc>
                          <a:spcPct val="100000"/>
                        </a:lnSpc>
                        <a:spcBef>
                          <a:spcPts val="370"/>
                        </a:spcBef>
                        <a:buClr>
                          <a:srgbClr val="E71101"/>
                        </a:buClr>
                        <a:buSzPct val="100000"/>
                        <a:buFont typeface="Arial" panose="020B0604020202020204" pitchFamily="34" charset="0"/>
                        <a:buChar char="•"/>
                        <a:defRPr/>
                      </a:pPr>
                      <a:r>
                        <a:rPr lang="zh-CN" altLang="en-US" sz="2000" dirty="0">
                          <a:sym typeface="+mn-ea"/>
                        </a:rPr>
                        <a:t>必须事先知道文件的长度</a:t>
                      </a:r>
                      <a:endParaRPr lang="zh-CN" altLang="en-US" sz="2000" dirty="0">
                        <a:sym typeface="+mn-ea"/>
                      </a:endParaRPr>
                    </a:p>
                    <a:p>
                      <a:pPr marL="342900" lvl="1" indent="-342900">
                        <a:lnSpc>
                          <a:spcPct val="100000"/>
                        </a:lnSpc>
                        <a:spcBef>
                          <a:spcPts val="370"/>
                        </a:spcBef>
                        <a:buClr>
                          <a:srgbClr val="E71101"/>
                        </a:buClr>
                        <a:buSzPct val="100000"/>
                        <a:buFont typeface="Arial" panose="020B0604020202020204" pitchFamily="34" charset="0"/>
                        <a:buChar char="•"/>
                        <a:defRPr/>
                      </a:pPr>
                      <a:r>
                        <a:rPr lang="zh-CN" altLang="en-US" sz="2000" dirty="0">
                          <a:solidFill>
                            <a:schemeClr val="tx1"/>
                          </a:solidFill>
                          <a:sym typeface="+mn-ea"/>
                        </a:rPr>
                        <a:t>不能灵活地删除和插入记录。</a:t>
                      </a:r>
                      <a:endParaRPr lang="zh-CN" altLang="en-US" sz="2000" dirty="0">
                        <a:solidFill>
                          <a:schemeClr val="tx1"/>
                        </a:solidFill>
                        <a:sym typeface="+mn-ea"/>
                      </a:endParaRPr>
                    </a:p>
                    <a:p>
                      <a:pPr marL="342900" lvl="1" indent="-342900">
                        <a:lnSpc>
                          <a:spcPct val="100000"/>
                        </a:lnSpc>
                        <a:spcBef>
                          <a:spcPts val="370"/>
                        </a:spcBef>
                        <a:buClr>
                          <a:srgbClr val="E71101"/>
                        </a:buClr>
                        <a:buSzPct val="100000"/>
                        <a:buFont typeface="Arial" panose="020B0604020202020204" pitchFamily="34" charset="0"/>
                        <a:buChar char="•"/>
                        <a:defRPr/>
                      </a:pPr>
                      <a:r>
                        <a:rPr lang="zh-CN" altLang="en-US" sz="2000" dirty="0">
                          <a:solidFill>
                            <a:schemeClr val="tx1"/>
                          </a:solidFill>
                          <a:sym typeface="+mn-ea"/>
                        </a:rPr>
                        <a:t>文件不能动态增长</a:t>
                      </a:r>
                      <a:endParaRPr lang="zh-CN" altLang="en-US" sz="2000" dirty="0">
                        <a:solidFill>
                          <a:schemeClr val="tx1"/>
                        </a:solidFill>
                        <a:sym typeface="+mn-ea"/>
                      </a:endParaRPr>
                    </a:p>
                  </a:txBody>
                  <a:tcPr anchor="t" anchorCtr="0"/>
                </a:tc>
              </a:tr>
              <a:tr h="1221740">
                <a:tc>
                  <a:txBody>
                    <a:bodyPr/>
                    <a:p>
                      <a:pPr algn="ctr">
                        <a:lnSpc>
                          <a:spcPct val="100000"/>
                        </a:lnSpc>
                        <a:buNone/>
                      </a:pPr>
                      <a:r>
                        <a:rPr lang="zh-CN" altLang="en-US" sz="2000"/>
                        <a:t>链接分配</a:t>
                      </a:r>
                      <a:endParaRPr lang="zh-CN" altLang="en-US" sz="2000"/>
                    </a:p>
                  </a:txBody>
                  <a:tcPr anchor="t" anchorCtr="0"/>
                </a:tc>
                <a:tc>
                  <a:txBody>
                    <a:bodyPr/>
                    <a:p>
                      <a:pPr algn="ctr">
                        <a:lnSpc>
                          <a:spcPct val="100000"/>
                        </a:lnSpc>
                        <a:buNone/>
                      </a:pPr>
                      <a:r>
                        <a:rPr lang="en-US" altLang="zh-CN" sz="2000"/>
                        <a:t>n</a:t>
                      </a:r>
                      <a:endParaRPr lang="en-US" altLang="zh-CN" sz="2000"/>
                    </a:p>
                  </a:txBody>
                  <a:tcPr anchor="t" anchorCtr="0"/>
                </a:tc>
                <a:tc>
                  <a:txBody>
                    <a:bodyPr/>
                    <a:p>
                      <a:pPr marL="342900" lvl="1" indent="-342900">
                        <a:lnSpc>
                          <a:spcPct val="100000"/>
                        </a:lnSpc>
                        <a:spcBef>
                          <a:spcPts val="370"/>
                        </a:spcBef>
                        <a:buClr>
                          <a:srgbClr val="E71101"/>
                        </a:buClr>
                        <a:buSzPct val="100000"/>
                        <a:buFont typeface="Arial" panose="020B0604020202020204" pitchFamily="34" charset="0"/>
                        <a:buChar char="•"/>
                        <a:defRPr/>
                      </a:pPr>
                      <a:r>
                        <a:rPr lang="zh-CN" altLang="en-US" sz="2000" dirty="0">
                          <a:sym typeface="+mn-ea"/>
                        </a:rPr>
                        <a:t>消除了磁盘的外碎片，提高了外存的利用率</a:t>
                      </a:r>
                      <a:endParaRPr lang="zh-CN" altLang="en-US" sz="2000" dirty="0"/>
                    </a:p>
                    <a:p>
                      <a:pPr marL="342900" lvl="1" indent="-342900">
                        <a:lnSpc>
                          <a:spcPct val="100000"/>
                        </a:lnSpc>
                        <a:spcBef>
                          <a:spcPts val="370"/>
                        </a:spcBef>
                        <a:buClr>
                          <a:srgbClr val="E71101"/>
                        </a:buClr>
                        <a:buSzPct val="100000"/>
                        <a:buFont typeface="Arial" panose="020B0604020202020204" pitchFamily="34" charset="0"/>
                        <a:buChar char="•"/>
                        <a:defRPr/>
                      </a:pPr>
                      <a:r>
                        <a:rPr lang="zh-CN" altLang="en-US" sz="2000" dirty="0">
                          <a:sym typeface="+mn-ea"/>
                        </a:rPr>
                        <a:t>对插入、删除和修改记录都非常容易</a:t>
                      </a:r>
                      <a:endParaRPr lang="zh-CN" altLang="en-US" sz="2000" dirty="0"/>
                    </a:p>
                    <a:p>
                      <a:pPr marL="342900" lvl="1" indent="-342900">
                        <a:lnSpc>
                          <a:spcPct val="100000"/>
                        </a:lnSpc>
                        <a:spcBef>
                          <a:spcPts val="370"/>
                        </a:spcBef>
                        <a:buClr>
                          <a:srgbClr val="E71101"/>
                        </a:buClr>
                        <a:buSzPct val="100000"/>
                        <a:buFont typeface="Arial" panose="020B0604020202020204" pitchFamily="34" charset="0"/>
                        <a:buChar char="•"/>
                        <a:defRPr/>
                      </a:pPr>
                      <a:r>
                        <a:rPr lang="zh-CN" altLang="en-US" sz="2000" dirty="0">
                          <a:sym typeface="+mn-ea"/>
                        </a:rPr>
                        <a:t>文件可动态增长</a:t>
                      </a:r>
                      <a:endParaRPr lang="zh-CN" altLang="en-US" sz="2000"/>
                    </a:p>
                  </a:txBody>
                  <a:tcPr anchor="t" anchorCtr="0"/>
                </a:tc>
                <a:tc>
                  <a:txBody>
                    <a:bodyPr/>
                    <a:p>
                      <a:pPr marL="342900" indent="-342900" algn="ctr">
                        <a:lnSpc>
                          <a:spcPct val="100000"/>
                        </a:lnSpc>
                        <a:buFont typeface="Arial" panose="020B0604020202020204" pitchFamily="34" charset="0"/>
                        <a:buChar char="•"/>
                      </a:pPr>
                      <a:r>
                        <a:rPr lang="zh-CN" altLang="en-US" sz="2000"/>
                        <a:t>只能按照指针顺序访问，不支持随机访问，查找效率低</a:t>
                      </a:r>
                      <a:endParaRPr lang="zh-CN" altLang="en-US" sz="2000"/>
                    </a:p>
                    <a:p>
                      <a:pPr marL="342900" indent="-342900" algn="ctr">
                        <a:lnSpc>
                          <a:spcPct val="100000"/>
                        </a:lnSpc>
                        <a:buFont typeface="Arial" panose="020B0604020202020204" pitchFamily="34" charset="0"/>
                        <a:buChar char="•"/>
                      </a:pPr>
                      <a:r>
                        <a:rPr lang="en-US" altLang="zh-CN" sz="2000"/>
                        <a:t>FAT</a:t>
                      </a:r>
                      <a:r>
                        <a:rPr lang="zh-CN" altLang="en-US" sz="2000"/>
                        <a:t>表消耗外存空间</a:t>
                      </a:r>
                      <a:endParaRPr lang="zh-CN" altLang="en-US" sz="2000"/>
                    </a:p>
                  </a:txBody>
                  <a:tcPr anchor="t" anchorCtr="0"/>
                </a:tc>
              </a:tr>
              <a:tr h="1504950">
                <a:tc>
                  <a:txBody>
                    <a:bodyPr/>
                    <a:p>
                      <a:pPr algn="ctr">
                        <a:lnSpc>
                          <a:spcPct val="100000"/>
                        </a:lnSpc>
                        <a:buNone/>
                      </a:pPr>
                      <a:r>
                        <a:rPr lang="zh-CN" altLang="en-US" sz="2000"/>
                        <a:t>索引分配</a:t>
                      </a:r>
                      <a:endParaRPr lang="zh-CN" altLang="en-US" sz="2000"/>
                    </a:p>
                  </a:txBody>
                  <a:tcPr anchor="t" anchorCtr="0"/>
                </a:tc>
                <a:tc>
                  <a:txBody>
                    <a:bodyPr/>
                    <a:p>
                      <a:pPr algn="ctr">
                        <a:lnSpc>
                          <a:spcPct val="100000"/>
                        </a:lnSpc>
                        <a:buNone/>
                      </a:pPr>
                      <a:r>
                        <a:rPr lang="en-US" altLang="zh-CN" sz="2000"/>
                        <a:t>m</a:t>
                      </a:r>
                      <a:r>
                        <a:rPr lang="zh-CN" altLang="en-US" sz="2000"/>
                        <a:t>级需</a:t>
                      </a:r>
                      <a:r>
                        <a:rPr lang="en-US" altLang="zh-CN" sz="2000"/>
                        <a:t>m+1</a:t>
                      </a:r>
                      <a:r>
                        <a:rPr lang="zh-CN" altLang="en-US" sz="2000"/>
                        <a:t>次</a:t>
                      </a:r>
                      <a:endParaRPr lang="zh-CN" altLang="en-US" sz="2000"/>
                    </a:p>
                  </a:txBody>
                  <a:tcPr anchor="t" anchorCtr="0"/>
                </a:tc>
                <a:tc>
                  <a:txBody>
                    <a:bodyPr/>
                    <a:p>
                      <a:pPr marL="342900" indent="-342900" algn="l">
                        <a:lnSpc>
                          <a:spcPct val="100000"/>
                        </a:lnSpc>
                        <a:buFont typeface="Arial" panose="020B0604020202020204" pitchFamily="34" charset="0"/>
                        <a:buChar char="•"/>
                      </a:pPr>
                      <a:r>
                        <a:rPr lang="zh-CN" altLang="en-US" sz="2000">
                          <a:solidFill>
                            <a:srgbClr val="FF0000"/>
                          </a:solidFill>
                        </a:rPr>
                        <a:t>支持随机访问</a:t>
                      </a:r>
                      <a:endParaRPr lang="zh-CN" altLang="en-US" sz="2000">
                        <a:solidFill>
                          <a:srgbClr val="FF0000"/>
                        </a:solidFill>
                      </a:endParaRPr>
                    </a:p>
                    <a:p>
                      <a:pPr marL="342900" indent="-342900" algn="l">
                        <a:lnSpc>
                          <a:spcPct val="100000"/>
                        </a:lnSpc>
                        <a:buFont typeface="Arial" panose="020B0604020202020204" pitchFamily="34" charset="0"/>
                        <a:buChar char="•"/>
                      </a:pPr>
                      <a:r>
                        <a:rPr lang="zh-CN" altLang="en-US" sz="2000"/>
                        <a:t>文件利于增删，长度可变</a:t>
                      </a:r>
                      <a:endParaRPr lang="zh-CN" altLang="en-US" sz="2000"/>
                    </a:p>
                    <a:p>
                      <a:pPr marL="342900" lvl="1" indent="-342900" algn="l">
                        <a:lnSpc>
                          <a:spcPct val="100000"/>
                        </a:lnSpc>
                        <a:buFont typeface="Arial" panose="020B0604020202020204" pitchFamily="34" charset="0"/>
                        <a:buChar char="•"/>
                      </a:pPr>
                      <a:r>
                        <a:rPr lang="zh-CN" altLang="en-US" sz="2000" dirty="0">
                          <a:sym typeface="+mn-ea"/>
                        </a:rPr>
                        <a:t>动态存取没有外碎片</a:t>
                      </a:r>
                      <a:endParaRPr lang="zh-CN" altLang="en-US" sz="2000"/>
                    </a:p>
                  </a:txBody>
                  <a:tcPr anchor="t" anchorCtr="0"/>
                </a:tc>
                <a:tc>
                  <a:txBody>
                    <a:bodyPr/>
                    <a:p>
                      <a:pPr marL="342900" indent="-342900" algn="ctr">
                        <a:lnSpc>
                          <a:spcPct val="100000"/>
                        </a:lnSpc>
                        <a:buFont typeface="Arial" panose="020B0604020202020204" pitchFamily="34" charset="0"/>
                        <a:buChar char="•"/>
                      </a:pPr>
                      <a:r>
                        <a:rPr lang="zh-CN" altLang="en-US" sz="2000"/>
                        <a:t>索引表增加了存储空间开销，</a:t>
                      </a:r>
                      <a:endParaRPr lang="zh-CN" altLang="en-US" sz="2000"/>
                    </a:p>
                    <a:p>
                      <a:pPr marL="342900" lvl="1" indent="-342900" algn="ctr">
                        <a:lnSpc>
                          <a:spcPct val="100000"/>
                        </a:lnSpc>
                        <a:buFont typeface="Arial" panose="020B0604020202020204" pitchFamily="34" charset="0"/>
                        <a:buChar char="•"/>
                      </a:pPr>
                      <a:r>
                        <a:rPr lang="zh-CN" altLang="en-US" sz="2000" dirty="0">
                          <a:sym typeface="+mn-ea"/>
                        </a:rPr>
                        <a:t>对小文件，其索引块的利用率低</a:t>
                      </a:r>
                      <a:endParaRPr lang="zh-CN" altLang="en-US" sz="2000"/>
                    </a:p>
                  </a:txBody>
                  <a:tcPr anchor="t" anchorCtr="0"/>
                </a:tc>
              </a:tr>
            </a:tbl>
          </a:graphicData>
        </a:graphic>
      </p:graphicFrame>
      <p:sp>
        <p:nvSpPr>
          <p:cNvPr id="4" name="文本框 3"/>
          <p:cNvSpPr txBox="1"/>
          <p:nvPr/>
        </p:nvSpPr>
        <p:spPr>
          <a:xfrm>
            <a:off x="1524000" y="73025"/>
            <a:ext cx="5579745" cy="521970"/>
          </a:xfrm>
          <a:prstGeom prst="rect">
            <a:avLst/>
          </a:prstGeom>
          <a:noFill/>
        </p:spPr>
        <p:txBody>
          <a:bodyPr wrap="square" rtlCol="0">
            <a:spAutoFit/>
          </a:bodyPr>
          <a:p>
            <a:r>
              <a:rPr lang="zh-CN" altLang="en-US" sz="2800">
                <a:solidFill>
                  <a:srgbClr val="FF0000"/>
                </a:solidFill>
              </a:rPr>
              <a:t>三种文件分配方式的对比</a:t>
            </a:r>
            <a:endParaRPr lang="zh-CN" altLang="en-US" sz="2800">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增量式（混合）索引组织方式</a:t>
            </a:r>
            <a:endParaRPr lang="zh-CN" altLang="en-US" sz="2800" b="1" dirty="0">
              <a:solidFill>
                <a:schemeClr val="bg1"/>
              </a:solidFill>
            </a:endParaRPr>
          </a:p>
        </p:txBody>
      </p:sp>
      <p:grpSp>
        <p:nvGrpSpPr>
          <p:cNvPr id="5"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513128" y="1197344"/>
            <a:ext cx="11165744" cy="5460904"/>
            <a:chOff x="516303" y="1929384"/>
            <a:chExt cx="11165744" cy="5460904"/>
          </a:xfrm>
        </p:grpSpPr>
        <p:sp>
          <p:nvSpPr>
            <p:cNvPr id="6"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7"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8"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9"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0"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1" name="isľîdê"/>
            <p:cNvSpPr txBox="1"/>
            <p:nvPr/>
          </p:nvSpPr>
          <p:spPr>
            <a:xfrm>
              <a:off x="516303" y="4160181"/>
              <a:ext cx="2558641" cy="3034799"/>
            </a:xfrm>
            <a:prstGeom prst="rect">
              <a:avLst/>
            </a:prstGeom>
            <a:noFill/>
            <a:ln>
              <a:noFill/>
            </a:ln>
          </p:spPr>
          <p:txBody>
            <a:bodyPr wrap="square" lIns="91440" tIns="45720" rIns="91440" bIns="45720" anchor="t" anchorCtr="0">
              <a:noAutofit/>
            </a:bodyPr>
            <a:lstStyle/>
            <a:p>
              <a:pPr marL="0" lvl="1">
                <a:lnSpc>
                  <a:spcPct val="120000"/>
                </a:lnSpc>
                <a:buClr>
                  <a:srgbClr val="FFC000"/>
                </a:buClr>
              </a:pPr>
              <a:r>
                <a:rPr lang="zh-CN" altLang="en-US" sz="2200" dirty="0"/>
                <a:t>对于小文件（如大小为</a:t>
              </a:r>
              <a:r>
                <a:rPr lang="en-US" altLang="zh-CN" sz="2200" dirty="0"/>
                <a:t>1KB-10KB</a:t>
              </a:r>
              <a:r>
                <a:rPr lang="zh-CN" altLang="en-US" sz="2200" dirty="0"/>
                <a:t>或</a:t>
              </a:r>
              <a:r>
                <a:rPr lang="en-US" altLang="zh-CN" sz="2200" dirty="0"/>
                <a:t>4KB-40KB</a:t>
              </a:r>
              <a:r>
                <a:rPr lang="zh-CN" altLang="en-US" sz="2200" dirty="0"/>
                <a:t>）</a:t>
              </a:r>
              <a:endParaRPr lang="zh-CN" altLang="en-US" sz="2200" dirty="0"/>
            </a:p>
            <a:p>
              <a:pPr marL="342900" lvl="1" indent="-342900">
                <a:lnSpc>
                  <a:spcPct val="120000"/>
                </a:lnSpc>
                <a:buClr>
                  <a:srgbClr val="FFC000"/>
                </a:buClr>
                <a:buFont typeface="Wingdings" panose="05000000000000000000" pitchFamily="2" charset="2"/>
                <a:buChar char="Ø"/>
              </a:pPr>
              <a:r>
                <a:rPr lang="zh-CN" altLang="en-US" sz="2200" dirty="0"/>
                <a:t>可直接寻址（直接从</a:t>
              </a:r>
              <a:r>
                <a:rPr lang="en-US" altLang="zh-CN" sz="2200" dirty="0"/>
                <a:t>FCB</a:t>
              </a:r>
              <a:r>
                <a:rPr lang="zh-CN" altLang="en-US" sz="2200" dirty="0"/>
                <a:t>获得文件的盘块地址）</a:t>
              </a:r>
              <a:endParaRPr lang="zh-CN" altLang="en-US" sz="2200" dirty="0"/>
            </a:p>
          </p:txBody>
        </p:sp>
        <p:sp>
          <p:nvSpPr>
            <p:cNvPr id="12"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3"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4"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5"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6" name="isľîdê"/>
            <p:cNvSpPr txBox="1"/>
            <p:nvPr/>
          </p:nvSpPr>
          <p:spPr>
            <a:xfrm>
              <a:off x="3243282" y="4193772"/>
              <a:ext cx="2606348" cy="2681612"/>
            </a:xfrm>
            <a:prstGeom prst="rect">
              <a:avLst/>
            </a:prstGeom>
            <a:noFill/>
            <a:ln>
              <a:noFill/>
            </a:ln>
          </p:spPr>
          <p:txBody>
            <a:bodyPr wrap="square" lIns="91440" tIns="45720" rIns="91440" bIns="45720" anchor="t" anchorCtr="0">
              <a:noAutofit/>
            </a:bodyPr>
            <a:lstStyle/>
            <a:p>
              <a:pPr marL="0" lvl="1">
                <a:lnSpc>
                  <a:spcPct val="120000"/>
                </a:lnSpc>
                <a:buClr>
                  <a:srgbClr val="FFC000"/>
                </a:buClr>
              </a:pPr>
              <a:r>
                <a:rPr lang="zh-CN" altLang="en-US" sz="2200" dirty="0"/>
                <a:t>对于中文件（如大小为</a:t>
              </a:r>
              <a:r>
                <a:rPr lang="en-US" altLang="zh-CN" sz="2200" dirty="0"/>
                <a:t>11KB-256KB</a:t>
              </a:r>
              <a:r>
                <a:rPr lang="zh-CN" altLang="en-US" sz="2200" dirty="0"/>
                <a:t>或</a:t>
              </a:r>
              <a:r>
                <a:rPr lang="en-US" altLang="zh-CN" sz="2200" dirty="0"/>
                <a:t>5KB-4MB</a:t>
              </a:r>
              <a:r>
                <a:rPr lang="zh-CN" altLang="en-US" sz="2200" dirty="0"/>
                <a:t>）</a:t>
              </a:r>
              <a:endParaRPr lang="zh-CN" altLang="en-US" sz="2200" dirty="0"/>
            </a:p>
            <a:p>
              <a:pPr marL="342900" lvl="1" indent="-342900">
                <a:lnSpc>
                  <a:spcPct val="120000"/>
                </a:lnSpc>
                <a:buClr>
                  <a:srgbClr val="FFC000"/>
                </a:buClr>
                <a:buFont typeface="Wingdings" panose="05000000000000000000" pitchFamily="2" charset="2"/>
                <a:buChar char="Ø"/>
              </a:pPr>
              <a:r>
                <a:rPr lang="zh-CN" altLang="en-US" sz="2200" dirty="0"/>
                <a:t>可一次间址（从</a:t>
              </a:r>
              <a:r>
                <a:rPr lang="en-US" altLang="zh-CN" sz="2200" dirty="0"/>
                <a:t>FCB</a:t>
              </a:r>
              <a:r>
                <a:rPr lang="zh-CN" altLang="en-US" sz="2200" dirty="0"/>
                <a:t>中找到该文件的索引表）</a:t>
              </a:r>
              <a:endParaRPr lang="zh-CN" altLang="en-US" sz="2200" dirty="0"/>
            </a:p>
          </p:txBody>
        </p:sp>
        <p:sp>
          <p:nvSpPr>
            <p:cNvPr id="17" name="isľîdê"/>
            <p:cNvSpPr txBox="1"/>
            <p:nvPr/>
          </p:nvSpPr>
          <p:spPr>
            <a:xfrm>
              <a:off x="6165124" y="4193772"/>
              <a:ext cx="2447789" cy="2270544"/>
            </a:xfrm>
            <a:prstGeom prst="rect">
              <a:avLst/>
            </a:prstGeom>
            <a:noFill/>
            <a:ln>
              <a:noFill/>
            </a:ln>
          </p:spPr>
          <p:txBody>
            <a:bodyPr wrap="square" lIns="91440" tIns="45720" rIns="91440" bIns="45720" anchor="t" anchorCtr="0">
              <a:noAutofit/>
            </a:bodyPr>
            <a:lstStyle/>
            <a:p>
              <a:pPr marL="0" lvl="1">
                <a:lnSpc>
                  <a:spcPct val="120000"/>
                </a:lnSpc>
                <a:buClr>
                  <a:srgbClr val="FFC000"/>
                </a:buClr>
              </a:pPr>
              <a:r>
                <a:rPr lang="zh-CN" altLang="en-US" sz="2200" dirty="0"/>
                <a:t>对于大型和特大型文件</a:t>
              </a:r>
              <a:endParaRPr lang="zh-CN" altLang="en-US" sz="2200" dirty="0"/>
            </a:p>
            <a:p>
              <a:pPr marL="342900" lvl="1" indent="-342900">
                <a:lnSpc>
                  <a:spcPct val="120000"/>
                </a:lnSpc>
                <a:buClr>
                  <a:srgbClr val="FFC000"/>
                </a:buClr>
                <a:buFont typeface="Wingdings" panose="05000000000000000000" pitchFamily="2" charset="2"/>
                <a:buChar char="Ø"/>
              </a:pPr>
              <a:r>
                <a:rPr lang="zh-CN" altLang="en-US" sz="2200" dirty="0"/>
                <a:t>可二次或三次间址（两级或三级索引组织方式）</a:t>
              </a:r>
              <a:endParaRPr lang="zh-CN" altLang="en-US" sz="2200" dirty="0"/>
            </a:p>
          </p:txBody>
        </p:sp>
        <p:sp>
          <p:nvSpPr>
            <p:cNvPr id="18" name="isľîdê"/>
            <p:cNvSpPr txBox="1"/>
            <p:nvPr/>
          </p:nvSpPr>
          <p:spPr>
            <a:xfrm>
              <a:off x="8928407" y="4179586"/>
              <a:ext cx="2753640" cy="3210702"/>
            </a:xfrm>
            <a:prstGeom prst="rect">
              <a:avLst/>
            </a:prstGeom>
            <a:noFill/>
            <a:ln>
              <a:noFill/>
            </a:ln>
          </p:spPr>
          <p:txBody>
            <a:bodyPr wrap="square" lIns="91440" tIns="45720" rIns="91440" bIns="45720" anchor="t" anchorCtr="0">
              <a:noAutofit/>
            </a:bodyPr>
            <a:lstStyle/>
            <a:p>
              <a:pPr marL="0" lvl="1">
                <a:lnSpc>
                  <a:spcPct val="120000"/>
                </a:lnSpc>
                <a:buClr>
                  <a:srgbClr val="FFC000"/>
                </a:buClr>
              </a:pPr>
              <a:r>
                <a:rPr lang="zh-CN" altLang="en-US" sz="2200" dirty="0">
                  <a:solidFill>
                    <a:srgbClr val="FF0000"/>
                  </a:solidFill>
                </a:rPr>
                <a:t>增量式索引组织方式</a:t>
              </a:r>
              <a:r>
                <a:rPr lang="zh-CN" altLang="en-US" sz="2200" dirty="0"/>
                <a:t>（混合索引组织方式）</a:t>
              </a:r>
              <a:endParaRPr lang="zh-CN" altLang="en-US" sz="2200" dirty="0"/>
            </a:p>
            <a:p>
              <a:pPr marL="342900" lvl="1" indent="-342900">
                <a:lnSpc>
                  <a:spcPct val="120000"/>
                </a:lnSpc>
                <a:buClr>
                  <a:srgbClr val="FFC000"/>
                </a:buClr>
                <a:buFont typeface="Wingdings" panose="05000000000000000000" pitchFamily="2" charset="2"/>
                <a:buChar char="Ø"/>
              </a:pPr>
              <a:r>
                <a:rPr lang="zh-CN" altLang="en-US" sz="2200" dirty="0"/>
                <a:t>既采用直接寻址方式，又采用单级和多级索引组织方式（间接寻址方式）</a:t>
              </a:r>
              <a:endParaRPr lang="zh-CN" altLang="en-US" sz="2200" dirty="0"/>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混合索引方式</a:t>
            </a:r>
            <a:r>
              <a:rPr lang="en-US" altLang="zh-CN" sz="2800" b="1" dirty="0">
                <a:solidFill>
                  <a:schemeClr val="bg1"/>
                </a:solidFill>
              </a:rPr>
              <a:t>(UNIX </a:t>
            </a:r>
            <a:r>
              <a:rPr lang="en-US" altLang="zh-CN" sz="2800" b="1" dirty="0" err="1">
                <a:solidFill>
                  <a:schemeClr val="bg1"/>
                </a:solidFill>
              </a:rPr>
              <a:t>iNode</a:t>
            </a:r>
            <a:r>
              <a:rPr lang="en-US" altLang="zh-CN" sz="2800" b="1" dirty="0">
                <a:solidFill>
                  <a:schemeClr val="bg1"/>
                </a:solidFill>
              </a:rPr>
              <a:t>)</a:t>
            </a:r>
            <a:endParaRPr lang="zh-CN" altLang="en-US" sz="2800" b="1" dirty="0">
              <a:solidFill>
                <a:schemeClr val="bg1"/>
              </a:solidFill>
            </a:endParaRPr>
          </a:p>
        </p:txBody>
      </p:sp>
      <p:pic>
        <p:nvPicPr>
          <p:cNvPr id="14" name="Picture 4"/>
          <p:cNvPicPr>
            <a:picLocks noChangeAspect="1" noChangeArrowheads="1"/>
          </p:cNvPicPr>
          <p:nvPr/>
        </p:nvPicPr>
        <p:blipFill>
          <a:blip r:embed="rId1">
            <a:extLst>
              <a:ext uri="{28A0092B-C50C-407E-A947-70E740481C1C}">
                <a14:useLocalDpi xmlns:a14="http://schemas.microsoft.com/office/drawing/2010/main" val="0"/>
              </a:ext>
            </a:extLst>
          </a:blip>
          <a:srcRect l="4486" t="948" r="4706" b="948"/>
          <a:stretch>
            <a:fillRect/>
          </a:stretch>
        </p:blipFill>
        <p:spPr bwMode="auto">
          <a:xfrm>
            <a:off x="1831760" y="1125243"/>
            <a:ext cx="8279906" cy="5032320"/>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476238"/>
            <a:ext cx="4500146" cy="461665"/>
          </a:xfrm>
          <a:prstGeom prst="rect">
            <a:avLst/>
          </a:prstGeom>
        </p:spPr>
        <p:txBody>
          <a:bodyPr wrap="square">
            <a:spAutoFit/>
          </a:bodyPr>
          <a:lstStyle/>
          <a:p>
            <a:r>
              <a:rPr lang="en-US" altLang="zh-CN" sz="2400" dirty="0">
                <a:latin typeface="+mj-ea"/>
                <a:ea typeface="+mj-ea"/>
              </a:rPr>
              <a:t>9.1 </a:t>
            </a:r>
            <a:r>
              <a:rPr lang="zh-CN" altLang="en-US" sz="2400" dirty="0">
                <a:latin typeface="+mj-ea"/>
                <a:ea typeface="+mj-ea"/>
              </a:rPr>
              <a:t>外存的组织方式</a:t>
            </a:r>
            <a:endParaRPr lang="zh-CN" altLang="en-US" sz="2400" dirty="0">
              <a:latin typeface="+mj-ea"/>
              <a:ea typeface="+mj-ea"/>
            </a:endParaRPr>
          </a:p>
        </p:txBody>
      </p:sp>
      <p:sp>
        <p:nvSpPr>
          <p:cNvPr id="23" name="矩形 22"/>
          <p:cNvSpPr/>
          <p:nvPr/>
        </p:nvSpPr>
        <p:spPr>
          <a:xfrm>
            <a:off x="1696469" y="2114413"/>
            <a:ext cx="3682150" cy="461665"/>
          </a:xfrm>
          <a:prstGeom prst="rect">
            <a:avLst/>
          </a:prstGeom>
        </p:spPr>
        <p:txBody>
          <a:bodyPr wrap="square">
            <a:spAutoFit/>
          </a:bodyPr>
          <a:lstStyle/>
          <a:p>
            <a:r>
              <a:rPr lang="en-US" altLang="zh-CN" sz="2400" dirty="0">
                <a:latin typeface="+mj-ea"/>
              </a:rPr>
              <a:t>9.1.1 </a:t>
            </a:r>
            <a:r>
              <a:rPr lang="zh-CN" altLang="en-US" sz="2400" dirty="0">
                <a:latin typeface="+mj-ea"/>
              </a:rPr>
              <a:t>连续组织方式</a:t>
            </a:r>
            <a:endParaRPr lang="en-US" altLang="zh-CN" sz="2400" dirty="0">
              <a:latin typeface="+mj-ea"/>
            </a:endParaRPr>
          </a:p>
        </p:txBody>
      </p:sp>
      <p:sp>
        <p:nvSpPr>
          <p:cNvPr id="24" name="矩形 23"/>
          <p:cNvSpPr/>
          <p:nvPr/>
        </p:nvSpPr>
        <p:spPr>
          <a:xfrm>
            <a:off x="1696468" y="2733538"/>
            <a:ext cx="3488967" cy="461665"/>
          </a:xfrm>
          <a:prstGeom prst="rect">
            <a:avLst/>
          </a:prstGeom>
        </p:spPr>
        <p:txBody>
          <a:bodyPr wrap="square">
            <a:spAutoFit/>
          </a:bodyPr>
          <a:lstStyle/>
          <a:p>
            <a:r>
              <a:rPr lang="en-US" altLang="zh-CN" sz="2400" dirty="0">
                <a:latin typeface="+mj-ea"/>
              </a:rPr>
              <a:t>9.1.2 </a:t>
            </a:r>
            <a:r>
              <a:rPr lang="zh-CN" altLang="en-US" sz="2400" dirty="0">
                <a:latin typeface="+mj-ea"/>
              </a:rPr>
              <a:t>链接组织方式</a:t>
            </a:r>
            <a:endParaRPr lang="en-US" altLang="zh-CN" sz="2400" dirty="0">
              <a:latin typeface="+mj-ea"/>
            </a:endParaRPr>
          </a:p>
        </p:txBody>
      </p:sp>
      <p:sp>
        <p:nvSpPr>
          <p:cNvPr id="25" name="矩形 24"/>
          <p:cNvSpPr/>
          <p:nvPr/>
        </p:nvSpPr>
        <p:spPr>
          <a:xfrm>
            <a:off x="1696468" y="3352663"/>
            <a:ext cx="3488967" cy="461665"/>
          </a:xfrm>
          <a:prstGeom prst="rect">
            <a:avLst/>
          </a:prstGeom>
        </p:spPr>
        <p:txBody>
          <a:bodyPr wrap="square">
            <a:spAutoFit/>
          </a:bodyPr>
          <a:lstStyle/>
          <a:p>
            <a:r>
              <a:rPr lang="en-US" altLang="zh-CN" sz="2400" dirty="0">
                <a:latin typeface="+mj-ea"/>
              </a:rPr>
              <a:t>9.1.1 </a:t>
            </a:r>
            <a:r>
              <a:rPr lang="zh-CN" altLang="en-US" sz="2400" dirty="0">
                <a:latin typeface="+mj-ea"/>
              </a:rPr>
              <a:t>索引组织方式</a:t>
            </a:r>
            <a:endParaRPr lang="en-US" altLang="zh-CN" sz="2400" dirty="0">
              <a:latin typeface="+mj-ea"/>
            </a:endParaRPr>
          </a:p>
        </p:txBody>
      </p:sp>
      <p:sp>
        <p:nvSpPr>
          <p:cNvPr id="27" name="矩形 26"/>
          <p:cNvSpPr/>
          <p:nvPr/>
        </p:nvSpPr>
        <p:spPr>
          <a:xfrm>
            <a:off x="1696469" y="3971788"/>
            <a:ext cx="5478772" cy="461665"/>
          </a:xfrm>
          <a:prstGeom prst="rect">
            <a:avLst/>
          </a:prstGeom>
        </p:spPr>
        <p:txBody>
          <a:bodyPr wrap="square">
            <a:spAutoFit/>
          </a:bodyPr>
          <a:lstStyle/>
          <a:p>
            <a:r>
              <a:rPr lang="en-US" altLang="zh-CN" sz="2400" b="1" dirty="0">
                <a:solidFill>
                  <a:srgbClr val="0000FF"/>
                </a:solidFill>
                <a:latin typeface="+mj-ea"/>
              </a:rPr>
              <a:t>9.2 </a:t>
            </a:r>
            <a:r>
              <a:rPr lang="zh-CN" altLang="en-US" sz="2400" b="1" dirty="0">
                <a:solidFill>
                  <a:srgbClr val="0000FF"/>
                </a:solidFill>
                <a:latin typeface="+mj-ea"/>
              </a:rPr>
              <a:t>文件存储空间的管理</a:t>
            </a:r>
            <a:endParaRPr lang="zh-CN" altLang="en-US" sz="2400" b="1" dirty="0">
              <a:solidFill>
                <a:srgbClr val="0000FF"/>
              </a:solidFill>
              <a:latin typeface="+mj-ea"/>
            </a:endParaRPr>
          </a:p>
        </p:txBody>
      </p:sp>
      <p:sp>
        <p:nvSpPr>
          <p:cNvPr id="28" name="矩形 27"/>
          <p:cNvSpPr/>
          <p:nvPr/>
        </p:nvSpPr>
        <p:spPr>
          <a:xfrm>
            <a:off x="1696468" y="4590913"/>
            <a:ext cx="4769645" cy="461665"/>
          </a:xfrm>
          <a:prstGeom prst="rect">
            <a:avLst/>
          </a:prstGeom>
        </p:spPr>
        <p:txBody>
          <a:bodyPr wrap="square">
            <a:spAutoFit/>
          </a:bodyPr>
          <a:lstStyle/>
          <a:p>
            <a:r>
              <a:rPr lang="en-US" altLang="zh-CN" sz="2400" dirty="0">
                <a:latin typeface="+mj-ea"/>
              </a:rPr>
              <a:t>9.3 </a:t>
            </a:r>
            <a:r>
              <a:rPr lang="zh-CN" altLang="en-US" sz="2400" dirty="0">
                <a:latin typeface="+mj-ea"/>
              </a:rPr>
              <a:t>提高磁盘</a:t>
            </a:r>
            <a:r>
              <a:rPr lang="en-US" altLang="zh-CN" sz="2400" dirty="0">
                <a:latin typeface="+mj-ea"/>
              </a:rPr>
              <a:t>I/O</a:t>
            </a:r>
            <a:r>
              <a:rPr lang="zh-CN" altLang="en-US" sz="2400" dirty="0">
                <a:latin typeface="+mj-ea"/>
              </a:rPr>
              <a:t>速度的途径</a:t>
            </a:r>
            <a:endParaRPr lang="zh-CN" altLang="en-US" sz="2400" dirty="0">
              <a:latin typeface="+mj-ea"/>
            </a:endParaRPr>
          </a:p>
        </p:txBody>
      </p:sp>
      <p:sp>
        <p:nvSpPr>
          <p:cNvPr id="29" name="矩形 28"/>
          <p:cNvSpPr/>
          <p:nvPr/>
        </p:nvSpPr>
        <p:spPr>
          <a:xfrm>
            <a:off x="1696468" y="5210038"/>
            <a:ext cx="4620355" cy="461665"/>
          </a:xfrm>
          <a:prstGeom prst="rect">
            <a:avLst/>
          </a:prstGeom>
        </p:spPr>
        <p:txBody>
          <a:bodyPr wrap="square">
            <a:spAutoFit/>
          </a:bodyPr>
          <a:lstStyle/>
          <a:p>
            <a:r>
              <a:rPr lang="en-US" altLang="zh-CN" sz="2400" dirty="0">
                <a:latin typeface="+mj-ea"/>
              </a:rPr>
              <a:t>9.4 </a:t>
            </a:r>
            <a:r>
              <a:rPr lang="zh-CN" altLang="en-US" sz="2400" dirty="0">
                <a:latin typeface="+mj-ea"/>
              </a:rPr>
              <a:t>提高磁盘可靠性的技术</a:t>
            </a:r>
            <a:endParaRPr lang="zh-CN" altLang="en-US" sz="2400" dirty="0">
              <a:latin typeface="+mj-ea"/>
            </a:endParaRPr>
          </a:p>
        </p:txBody>
      </p:sp>
      <p:sp>
        <p:nvSpPr>
          <p:cNvPr id="3" name="矩形 2"/>
          <p:cNvSpPr/>
          <p:nvPr/>
        </p:nvSpPr>
        <p:spPr>
          <a:xfrm>
            <a:off x="6466113" y="2386337"/>
            <a:ext cx="5191691" cy="646331"/>
          </a:xfrm>
          <a:prstGeom prst="rect">
            <a:avLst/>
          </a:prstGeom>
        </p:spPr>
        <p:txBody>
          <a:bodyPr wrap="square">
            <a:spAutoFit/>
          </a:bodyPr>
          <a:lstStyle/>
          <a:p>
            <a:r>
              <a:rPr lang="zh-CN" altLang="en-US" sz="3600" dirty="0">
                <a:solidFill>
                  <a:srgbClr val="000000"/>
                </a:solidFill>
              </a:rPr>
              <a:t>第</a:t>
            </a:r>
            <a:r>
              <a:rPr lang="en-US" altLang="zh-CN" sz="3600" dirty="0">
                <a:solidFill>
                  <a:srgbClr val="000000"/>
                </a:solidFill>
              </a:rPr>
              <a:t>9</a:t>
            </a:r>
            <a:r>
              <a:rPr lang="zh-CN" altLang="en-US" sz="3600" dirty="0">
                <a:solidFill>
                  <a:srgbClr val="000000"/>
                </a:solidFill>
              </a:rPr>
              <a:t>章    磁盘存储器管理</a:t>
            </a:r>
            <a:endParaRPr lang="zh-CN" altLang="en-US" sz="3600" dirty="0"/>
          </a:p>
        </p:txBody>
      </p:sp>
      <p:cxnSp>
        <p:nvCxnSpPr>
          <p:cNvPr id="5" name="直接连接符 4"/>
          <p:cNvCxnSpPr/>
          <p:nvPr/>
        </p:nvCxnSpPr>
        <p:spPr>
          <a:xfrm>
            <a:off x="6640497" y="3190471"/>
            <a:ext cx="490662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43922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2436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7983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831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2439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6210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62820"/>
            <a:ext cx="527050" cy="527050"/>
          </a:xfrm>
          <a:prstGeom prst="rect">
            <a:avLst/>
          </a:prstGeom>
          <a:ln>
            <a:noFill/>
          </a:ln>
          <a:effectLst>
            <a:softEdge rad="0"/>
          </a:effectLst>
        </p:spPr>
      </p:pic>
      <p:sp>
        <p:nvSpPr>
          <p:cNvPr id="33" name="矩形 32"/>
          <p:cNvSpPr/>
          <p:nvPr/>
        </p:nvSpPr>
        <p:spPr>
          <a:xfrm>
            <a:off x="1696468" y="5863246"/>
            <a:ext cx="4219140" cy="461665"/>
          </a:xfrm>
          <a:prstGeom prst="rect">
            <a:avLst/>
          </a:prstGeom>
        </p:spPr>
        <p:txBody>
          <a:bodyPr wrap="square">
            <a:spAutoFit/>
          </a:bodyPr>
          <a:lstStyle/>
          <a:p>
            <a:r>
              <a:rPr lang="en-US" altLang="zh-CN" sz="2400" dirty="0">
                <a:latin typeface="+mj-ea"/>
              </a:rPr>
              <a:t>9.5 </a:t>
            </a:r>
            <a:r>
              <a:rPr lang="zh-CN" altLang="en-US" sz="2400" dirty="0">
                <a:latin typeface="+mj-ea"/>
              </a:rPr>
              <a:t>存储新技术</a:t>
            </a:r>
            <a:endParaRPr lang="zh-CN" altLang="en-US" sz="2400" dirty="0">
              <a:latin typeface="+mj-ea"/>
            </a:endParaRPr>
          </a:p>
        </p:txBody>
      </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7" y="5816028"/>
            <a:ext cx="527050" cy="527050"/>
          </a:xfrm>
          <a:prstGeom prst="rect">
            <a:avLst/>
          </a:prstGeom>
          <a:ln>
            <a:noFill/>
          </a:ln>
          <a:effectLst>
            <a:softEdge rad="0"/>
          </a:effectLst>
        </p:spPr>
      </p:pic>
      <p:sp>
        <p:nvSpPr>
          <p:cNvPr id="35" name="矩形 34"/>
          <p:cNvSpPr/>
          <p:nvPr/>
        </p:nvSpPr>
        <p:spPr>
          <a:xfrm>
            <a:off x="6754405" y="5837115"/>
            <a:ext cx="4219140" cy="461665"/>
          </a:xfrm>
          <a:prstGeom prst="rect">
            <a:avLst/>
          </a:prstGeom>
        </p:spPr>
        <p:txBody>
          <a:bodyPr wrap="square">
            <a:spAutoFit/>
          </a:bodyPr>
          <a:lstStyle/>
          <a:p>
            <a:r>
              <a:rPr lang="en-US" altLang="zh-CN" sz="2400" dirty="0">
                <a:latin typeface="+mj-ea"/>
              </a:rPr>
              <a:t>9.6 </a:t>
            </a:r>
            <a:r>
              <a:rPr lang="zh-CN" altLang="en-US" sz="2400" dirty="0">
                <a:latin typeface="+mj-ea"/>
              </a:rPr>
              <a:t>数据一致性控制</a:t>
            </a:r>
            <a:endParaRPr lang="zh-CN" altLang="en-US" sz="2400" dirty="0">
              <a:latin typeface="+mj-ea"/>
            </a:endParaRPr>
          </a:p>
        </p:txBody>
      </p:sp>
      <p:pic>
        <p:nvPicPr>
          <p:cNvPr id="36" name="图片 3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227354" y="5789897"/>
            <a:ext cx="527050" cy="527050"/>
          </a:xfrm>
          <a:prstGeom prst="rect">
            <a:avLst/>
          </a:prstGeom>
          <a:ln>
            <a:noFill/>
          </a:ln>
          <a:effectLst>
            <a:softEdge rad="0"/>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9.2 </a:t>
            </a:r>
            <a:r>
              <a:rPr lang="zh-CN" altLang="en-US" sz="2800" b="1" dirty="0">
                <a:solidFill>
                  <a:schemeClr val="bg1"/>
                </a:solidFill>
              </a:rPr>
              <a:t>文件存储空间管理</a:t>
            </a:r>
            <a:endParaRPr lang="zh-CN" altLang="en-US" sz="2800" b="1" dirty="0">
              <a:solidFill>
                <a:schemeClr val="bg1"/>
              </a:solidFill>
            </a:endParaRPr>
          </a:p>
        </p:txBody>
      </p:sp>
      <p:sp>
        <p:nvSpPr>
          <p:cNvPr id="4" name="íšḻíḑê"/>
          <p:cNvSpPr/>
          <p:nvPr/>
        </p:nvSpPr>
        <p:spPr>
          <a:xfrm>
            <a:off x="669925" y="1340152"/>
            <a:ext cx="7927445" cy="405747"/>
          </a:xfrm>
          <a:prstGeom prst="rect">
            <a:avLst/>
          </a:prstGeom>
          <a:noFill/>
          <a:ln>
            <a:noFill/>
          </a:ln>
        </p:spPr>
        <p:txBody>
          <a:bodyPr wrap="square" lIns="91440" tIns="45720" rIns="91440" bIns="45720" anchor="ctr" anchorCtr="0">
            <a:noAutofit/>
          </a:bodyPr>
          <a:lstStyle/>
          <a:p>
            <a:pPr marL="457200" indent="-457200">
              <a:buClr>
                <a:srgbClr val="FFC000"/>
              </a:buClr>
              <a:buFont typeface="Wingdings" panose="05000000000000000000" pitchFamily="2" charset="2"/>
              <a:buChar char="p"/>
            </a:pPr>
            <a:r>
              <a:rPr lang="zh-CN" altLang="en-US" sz="2600" dirty="0"/>
              <a:t>文件存储空间的</a:t>
            </a:r>
            <a:r>
              <a:rPr lang="zh-CN" altLang="en-US" sz="2600" dirty="0">
                <a:solidFill>
                  <a:srgbClr val="0000FF"/>
                </a:solidFill>
              </a:rPr>
              <a:t>基本分配单位</a:t>
            </a:r>
            <a:r>
              <a:rPr lang="zh-CN" altLang="en-US" sz="2600" dirty="0"/>
              <a:t>是</a:t>
            </a:r>
            <a:r>
              <a:rPr lang="zh-CN" altLang="en-US" sz="2600" u="sng" dirty="0">
                <a:solidFill>
                  <a:srgbClr val="FF0000"/>
                </a:solidFill>
              </a:rPr>
              <a:t>盘块</a:t>
            </a:r>
            <a:r>
              <a:rPr lang="zh-CN" altLang="en-US" sz="2600" dirty="0"/>
              <a:t>（</a:t>
            </a:r>
            <a:r>
              <a:rPr lang="en-US" altLang="zh-CN" sz="2600" dirty="0"/>
              <a:t>block</a:t>
            </a:r>
            <a:r>
              <a:rPr lang="zh-CN" altLang="en-US" sz="2600" dirty="0"/>
              <a:t>）</a:t>
            </a:r>
            <a:endParaRPr lang="en-US" altLang="zh-CN" sz="2600" dirty="0"/>
          </a:p>
        </p:txBody>
      </p:sp>
      <p:sp>
        <p:nvSpPr>
          <p:cNvPr id="9" name="文本框 8"/>
          <p:cNvSpPr txBox="1"/>
          <p:nvPr/>
        </p:nvSpPr>
        <p:spPr>
          <a:xfrm>
            <a:off x="669925" y="1855741"/>
            <a:ext cx="6720396" cy="461665"/>
          </a:xfrm>
          <a:prstGeom prst="rect">
            <a:avLst/>
          </a:prstGeom>
          <a:noFill/>
        </p:spPr>
        <p:txBody>
          <a:bodyPr wrap="square">
            <a:spAutoFit/>
          </a:bodyPr>
          <a:lstStyle/>
          <a:p>
            <a:pPr marL="342900" indent="-342900">
              <a:buClr>
                <a:srgbClr val="FFC000"/>
              </a:buClr>
              <a:buFont typeface="Wingdings" panose="05000000000000000000" pitchFamily="2" charset="2"/>
              <a:buChar char="p"/>
              <a:defRPr/>
            </a:pPr>
            <a:r>
              <a:rPr lang="zh-CN" altLang="en-US" sz="2400" dirty="0"/>
              <a:t> 常用的管理方法</a:t>
            </a:r>
            <a:endParaRPr lang="zh-CN" altLang="en-US" sz="2400" dirty="0"/>
          </a:p>
        </p:txBody>
      </p:sp>
      <p:grpSp>
        <p:nvGrpSpPr>
          <p:cNvPr id="10"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593027" y="2644405"/>
            <a:ext cx="11165744" cy="2990354"/>
            <a:chOff x="516303" y="1929384"/>
            <a:chExt cx="11165744" cy="2990354"/>
          </a:xfrm>
        </p:grpSpPr>
        <p:sp>
          <p:nvSpPr>
            <p:cNvPr id="11"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2"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3"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5"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6"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7" name="isľîdê"/>
            <p:cNvSpPr txBox="1"/>
            <p:nvPr/>
          </p:nvSpPr>
          <p:spPr>
            <a:xfrm>
              <a:off x="516303" y="4160181"/>
              <a:ext cx="2558641" cy="523221"/>
            </a:xfrm>
            <a:prstGeom prst="rect">
              <a:avLst/>
            </a:prstGeom>
            <a:noFill/>
            <a:ln>
              <a:noFill/>
            </a:ln>
          </p:spPr>
          <p:txBody>
            <a:bodyPr wrap="square" lIns="91440" tIns="45720" rIns="91440" bIns="45720" anchor="t" anchorCtr="0">
              <a:noAutofit/>
            </a:bodyPr>
            <a:lstStyle/>
            <a:p>
              <a:pPr lvl="1"/>
              <a:r>
                <a:rPr lang="zh-CN" altLang="en-US" sz="2400" dirty="0"/>
                <a:t>空闲区表法</a:t>
              </a:r>
              <a:endParaRPr lang="en-US" altLang="zh-CN" sz="2400" dirty="0"/>
            </a:p>
          </p:txBody>
        </p:sp>
        <p:sp>
          <p:nvSpPr>
            <p:cNvPr id="18"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9"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1"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2"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3" name="isľîdê"/>
            <p:cNvSpPr txBox="1"/>
            <p:nvPr/>
          </p:nvSpPr>
          <p:spPr>
            <a:xfrm>
              <a:off x="3316860" y="4160181"/>
              <a:ext cx="2606348" cy="537612"/>
            </a:xfrm>
            <a:prstGeom prst="rect">
              <a:avLst/>
            </a:prstGeom>
            <a:noFill/>
            <a:ln>
              <a:noFill/>
            </a:ln>
          </p:spPr>
          <p:txBody>
            <a:bodyPr wrap="square" lIns="91440" tIns="45720" rIns="91440" bIns="45720" anchor="t" anchorCtr="0">
              <a:noAutofit/>
            </a:bodyPr>
            <a:lstStyle/>
            <a:p>
              <a:pPr marL="0" lvl="1" algn="ctr">
                <a:lnSpc>
                  <a:spcPct val="120000"/>
                </a:lnSpc>
                <a:buClr>
                  <a:srgbClr val="FFC000"/>
                </a:buClr>
              </a:pPr>
              <a:r>
                <a:rPr lang="zh-CN" altLang="en-US" sz="2400" dirty="0"/>
                <a:t>空闲链表法</a:t>
              </a:r>
              <a:endParaRPr lang="zh-CN" altLang="en-US" sz="2400" dirty="0"/>
            </a:p>
          </p:txBody>
        </p:sp>
        <p:sp>
          <p:nvSpPr>
            <p:cNvPr id="24" name="isľîdê"/>
            <p:cNvSpPr txBox="1"/>
            <p:nvPr/>
          </p:nvSpPr>
          <p:spPr>
            <a:xfrm>
              <a:off x="6165124" y="4193772"/>
              <a:ext cx="2447789" cy="489630"/>
            </a:xfrm>
            <a:prstGeom prst="rect">
              <a:avLst/>
            </a:prstGeom>
            <a:noFill/>
            <a:ln>
              <a:noFill/>
            </a:ln>
          </p:spPr>
          <p:txBody>
            <a:bodyPr wrap="square" lIns="91440" tIns="45720" rIns="91440" bIns="45720" anchor="t" anchorCtr="0">
              <a:noAutofit/>
            </a:bodyPr>
            <a:lstStyle/>
            <a:p>
              <a:pPr marL="0" lvl="1" algn="ctr">
                <a:lnSpc>
                  <a:spcPct val="120000"/>
                </a:lnSpc>
                <a:buClr>
                  <a:srgbClr val="FFC000"/>
                </a:buClr>
              </a:pPr>
              <a:r>
                <a:rPr lang="zh-CN" altLang="en-US" sz="2400" dirty="0"/>
                <a:t>位示图法</a:t>
              </a:r>
              <a:endParaRPr lang="zh-CN" altLang="en-US" sz="2400" dirty="0"/>
            </a:p>
          </p:txBody>
        </p:sp>
        <p:sp>
          <p:nvSpPr>
            <p:cNvPr id="25" name="isľîdê"/>
            <p:cNvSpPr txBox="1"/>
            <p:nvPr/>
          </p:nvSpPr>
          <p:spPr>
            <a:xfrm>
              <a:off x="8928407" y="4179586"/>
              <a:ext cx="2753640" cy="740152"/>
            </a:xfrm>
            <a:prstGeom prst="rect">
              <a:avLst/>
            </a:prstGeom>
            <a:noFill/>
            <a:ln>
              <a:noFill/>
            </a:ln>
          </p:spPr>
          <p:txBody>
            <a:bodyPr wrap="square" lIns="91440" tIns="45720" rIns="91440" bIns="45720" anchor="t" anchorCtr="0">
              <a:noAutofit/>
            </a:bodyPr>
            <a:lstStyle/>
            <a:p>
              <a:pPr marL="0" lvl="1" algn="ctr">
                <a:lnSpc>
                  <a:spcPct val="120000"/>
                </a:lnSpc>
                <a:buClr>
                  <a:srgbClr val="FFC000"/>
                </a:buClr>
              </a:pPr>
              <a:r>
                <a:rPr lang="zh-CN" altLang="en-US" sz="2400" dirty="0"/>
                <a:t>成组链接法</a:t>
              </a:r>
              <a:endParaRPr lang="zh-CN" altLang="en-US" sz="2400" dirty="0"/>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9.2.1 </a:t>
            </a:r>
            <a:r>
              <a:rPr lang="zh-CN" altLang="en-US" sz="2800" b="1" dirty="0">
                <a:solidFill>
                  <a:schemeClr val="bg1"/>
                </a:solidFill>
              </a:rPr>
              <a:t>空闲区表法</a:t>
            </a:r>
            <a:endParaRPr lang="zh-CN" altLang="en-US" sz="2800" b="1" dirty="0">
              <a:solidFill>
                <a:schemeClr val="bg1"/>
              </a:solidFill>
            </a:endParaRPr>
          </a:p>
        </p:txBody>
      </p:sp>
      <p:sp>
        <p:nvSpPr>
          <p:cNvPr id="4" name="íšḻíḑê"/>
          <p:cNvSpPr/>
          <p:nvPr/>
        </p:nvSpPr>
        <p:spPr>
          <a:xfrm>
            <a:off x="669925" y="1340152"/>
            <a:ext cx="10845800" cy="405747"/>
          </a:xfrm>
          <a:prstGeom prst="rect">
            <a:avLst/>
          </a:prstGeom>
          <a:noFill/>
          <a:ln>
            <a:noFill/>
          </a:ln>
        </p:spPr>
        <p:txBody>
          <a:bodyPr wrap="square" lIns="91440" tIns="45720" rIns="91440" bIns="45720" anchor="ctr" anchorCtr="0">
            <a:noAutofit/>
          </a:bodyPr>
          <a:lstStyle/>
          <a:p>
            <a:pPr marL="457200" indent="-457200">
              <a:buClr>
                <a:srgbClr val="FFC000"/>
              </a:buClr>
              <a:buFont typeface="Wingdings" panose="05000000000000000000" pitchFamily="2" charset="2"/>
              <a:buChar char="p"/>
            </a:pPr>
            <a:r>
              <a:rPr lang="zh-CN" altLang="en-US" sz="2600" dirty="0"/>
              <a:t>系统为外存上所有空闲区建立一张空闲表，属于连续分配方式</a:t>
            </a:r>
            <a:endParaRPr lang="zh-CN" altLang="en-US" sz="2600" dirty="0"/>
          </a:p>
        </p:txBody>
      </p:sp>
      <p:sp>
        <p:nvSpPr>
          <p:cNvPr id="9" name="文本框 8"/>
          <p:cNvSpPr txBox="1"/>
          <p:nvPr/>
        </p:nvSpPr>
        <p:spPr>
          <a:xfrm>
            <a:off x="669925" y="1855741"/>
            <a:ext cx="6720396" cy="461665"/>
          </a:xfrm>
          <a:prstGeom prst="rect">
            <a:avLst/>
          </a:prstGeom>
          <a:noFill/>
        </p:spPr>
        <p:txBody>
          <a:bodyPr wrap="square">
            <a:spAutoFit/>
          </a:bodyPr>
          <a:lstStyle/>
          <a:p>
            <a:pPr marL="342900" indent="-342900">
              <a:buClr>
                <a:srgbClr val="FFC000"/>
              </a:buClr>
              <a:buFont typeface="Wingdings" panose="05000000000000000000" pitchFamily="2" charset="2"/>
              <a:buChar char="p"/>
              <a:defRPr/>
            </a:pPr>
            <a:r>
              <a:rPr lang="zh-CN" altLang="en-US" sz="2400" dirty="0"/>
              <a:t>分配与回收</a:t>
            </a:r>
            <a:endParaRPr lang="zh-CN" altLang="en-US" sz="2400" dirty="0"/>
          </a:p>
        </p:txBody>
      </p:sp>
      <p:sp>
        <p:nvSpPr>
          <p:cNvPr id="26" name="内容占位符 2"/>
          <p:cNvSpPr txBox="1"/>
          <p:nvPr/>
        </p:nvSpPr>
        <p:spPr>
          <a:xfrm>
            <a:off x="1126528" y="2427248"/>
            <a:ext cx="10165867" cy="7065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solidFill>
                  <a:srgbClr val="0000FF"/>
                </a:solidFill>
              </a:rPr>
              <a:t>分配</a:t>
            </a:r>
            <a:r>
              <a:rPr lang="zh-CN" altLang="en-US" sz="2400" dirty="0"/>
              <a:t>类似于内存的分区动态分配，如首次适应算法和最佳适应算法等</a:t>
            </a:r>
            <a:endParaRPr lang="zh-CN" altLang="en-US" sz="2400" dirty="0"/>
          </a:p>
        </p:txBody>
      </p:sp>
      <p:sp>
        <p:nvSpPr>
          <p:cNvPr id="28" name="内容占位符 2"/>
          <p:cNvSpPr txBox="1"/>
          <p:nvPr/>
        </p:nvSpPr>
        <p:spPr>
          <a:xfrm>
            <a:off x="1126528" y="3056199"/>
            <a:ext cx="4978348" cy="7065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solidFill>
                  <a:srgbClr val="FF0000"/>
                </a:solidFill>
              </a:rPr>
              <a:t>回收</a:t>
            </a:r>
            <a:r>
              <a:rPr lang="zh-CN" altLang="en-US" sz="2400" dirty="0"/>
              <a:t>时，也类似于内存回收方法</a:t>
            </a:r>
            <a:endParaRPr lang="zh-CN" altLang="en-US" sz="2400" dirty="0"/>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16000" y="3913351"/>
            <a:ext cx="9866842" cy="1973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空闲链表法</a:t>
            </a:r>
            <a:endParaRPr lang="zh-CN" altLang="en-US" sz="2800" b="1" dirty="0">
              <a:solidFill>
                <a:schemeClr val="bg1"/>
              </a:solidFill>
            </a:endParaRPr>
          </a:p>
        </p:txBody>
      </p:sp>
      <p:sp>
        <p:nvSpPr>
          <p:cNvPr id="13" name="内容占位符 2"/>
          <p:cNvSpPr txBox="1"/>
          <p:nvPr/>
        </p:nvSpPr>
        <p:spPr>
          <a:xfrm>
            <a:off x="810702" y="1861374"/>
            <a:ext cx="3644623" cy="97732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Font typeface="Wingdings" panose="05000000000000000000" pitchFamily="2" charset="2"/>
              <a:buChar char="Ø"/>
            </a:pPr>
            <a:r>
              <a:rPr lang="zh-CN" altLang="en-US" sz="2400" dirty="0"/>
              <a:t>以盘块为单位链接起来</a:t>
            </a:r>
            <a:endParaRPr lang="zh-CN" altLang="en-US" sz="2400" dirty="0"/>
          </a:p>
          <a:p>
            <a:pPr>
              <a:buClr>
                <a:srgbClr val="FF0000"/>
              </a:buClr>
              <a:buFont typeface="Wingdings" panose="05000000000000000000" pitchFamily="2" charset="2"/>
              <a:buChar char="Ø"/>
            </a:pPr>
            <a:r>
              <a:rPr lang="zh-CN" altLang="en-US" sz="2400" dirty="0"/>
              <a:t>优点：分配和回收简单</a:t>
            </a:r>
            <a:endParaRPr lang="zh-CN" altLang="en-US" sz="2400" dirty="0"/>
          </a:p>
        </p:txBody>
      </p:sp>
      <p:sp>
        <p:nvSpPr>
          <p:cNvPr id="35" name="内容占位符 2"/>
          <p:cNvSpPr txBox="1"/>
          <p:nvPr/>
        </p:nvSpPr>
        <p:spPr>
          <a:xfrm>
            <a:off x="810702" y="3568960"/>
            <a:ext cx="5666994" cy="32456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3000"/>
              </a:lnSpc>
              <a:spcBef>
                <a:spcPts val="600"/>
              </a:spcBef>
              <a:buClr>
                <a:srgbClr val="FF0000"/>
              </a:buClr>
              <a:buFont typeface="Wingdings" panose="05000000000000000000" pitchFamily="2" charset="2"/>
              <a:buChar char="Ø"/>
            </a:pPr>
            <a:r>
              <a:rPr lang="zh-CN" altLang="en-US" sz="2400" dirty="0"/>
              <a:t>将所有空闲盘区（每个盘区可包含若干个盘块）链接起来</a:t>
            </a:r>
            <a:endParaRPr lang="zh-CN" altLang="en-US" sz="2400" dirty="0"/>
          </a:p>
          <a:p>
            <a:pPr>
              <a:lnSpc>
                <a:spcPct val="123000"/>
              </a:lnSpc>
              <a:spcBef>
                <a:spcPts val="600"/>
              </a:spcBef>
              <a:buClr>
                <a:srgbClr val="FF0000"/>
              </a:buClr>
              <a:buFont typeface="Wingdings" panose="05000000000000000000" pitchFamily="2" charset="2"/>
              <a:buChar char="Ø"/>
            </a:pPr>
            <a:r>
              <a:rPr lang="zh-CN" altLang="en-US" sz="2400" dirty="0"/>
              <a:t>分配盘区的方法与内存分区的动态分配方法类似</a:t>
            </a:r>
            <a:endParaRPr lang="zh-CN" altLang="en-US" sz="2400" dirty="0"/>
          </a:p>
          <a:p>
            <a:pPr>
              <a:lnSpc>
                <a:spcPct val="123000"/>
              </a:lnSpc>
              <a:spcBef>
                <a:spcPts val="600"/>
              </a:spcBef>
              <a:buClr>
                <a:srgbClr val="FF0000"/>
              </a:buClr>
              <a:buFont typeface="Wingdings" panose="05000000000000000000" pitchFamily="2" charset="2"/>
              <a:buChar char="Ø"/>
            </a:pPr>
            <a:r>
              <a:rPr lang="zh-CN" altLang="en-US" sz="2400" dirty="0"/>
              <a:t>优点：效率较高</a:t>
            </a:r>
            <a:endParaRPr lang="zh-CN" altLang="en-US" sz="2400" dirty="0"/>
          </a:p>
          <a:p>
            <a:pPr>
              <a:lnSpc>
                <a:spcPct val="123000"/>
              </a:lnSpc>
              <a:spcBef>
                <a:spcPts val="600"/>
              </a:spcBef>
              <a:buClr>
                <a:srgbClr val="FF0000"/>
              </a:buClr>
              <a:buFont typeface="Wingdings" panose="05000000000000000000" pitchFamily="2" charset="2"/>
              <a:buChar char="Ø"/>
            </a:pPr>
            <a:r>
              <a:rPr lang="zh-CN" altLang="en-US" sz="2400" dirty="0"/>
              <a:t>缺点：分配和回收比较复杂</a:t>
            </a:r>
            <a:endParaRPr lang="zh-CN" altLang="en-US" sz="2400" dirty="0"/>
          </a:p>
        </p:txBody>
      </p:sp>
      <p:sp>
        <p:nvSpPr>
          <p:cNvPr id="36" name="矩形: 圆角 35"/>
          <p:cNvSpPr/>
          <p:nvPr/>
        </p:nvSpPr>
        <p:spPr>
          <a:xfrm>
            <a:off x="810702" y="1092055"/>
            <a:ext cx="1950252"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defRPr/>
            </a:pPr>
            <a:r>
              <a:rPr lang="zh-CN" altLang="en-US" sz="2400" dirty="0"/>
              <a:t>空闲</a:t>
            </a:r>
            <a:r>
              <a:rPr lang="zh-CN" altLang="en-US" sz="2400" dirty="0">
                <a:solidFill>
                  <a:srgbClr val="FF0000"/>
                </a:solidFill>
              </a:rPr>
              <a:t>盘块</a:t>
            </a:r>
            <a:r>
              <a:rPr lang="zh-CN" altLang="en-US" sz="2400" dirty="0"/>
              <a:t>链</a:t>
            </a:r>
            <a:endParaRPr lang="zh-CN" altLang="en-US" sz="2400" dirty="0"/>
          </a:p>
        </p:txBody>
      </p:sp>
      <p:sp>
        <p:nvSpPr>
          <p:cNvPr id="37" name="矩形: 圆角 36"/>
          <p:cNvSpPr/>
          <p:nvPr/>
        </p:nvSpPr>
        <p:spPr>
          <a:xfrm>
            <a:off x="817074" y="2895300"/>
            <a:ext cx="1950252"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defRPr/>
            </a:pPr>
            <a:r>
              <a:rPr lang="zh-CN" altLang="en-US" sz="2400" dirty="0"/>
              <a:t>空闲</a:t>
            </a:r>
            <a:r>
              <a:rPr lang="zh-CN" altLang="en-US" sz="2400" dirty="0">
                <a:solidFill>
                  <a:srgbClr val="FF0000"/>
                </a:solidFill>
              </a:rPr>
              <a:t>盘区</a:t>
            </a:r>
            <a:r>
              <a:rPr lang="zh-CN" altLang="en-US" sz="2400" dirty="0"/>
              <a:t>链</a:t>
            </a:r>
            <a:endParaRPr lang="zh-CN" altLang="en-US" sz="2400" dirty="0"/>
          </a:p>
        </p:txBody>
      </p:sp>
      <p:sp>
        <p:nvSpPr>
          <p:cNvPr id="38" name="内容占位符 2"/>
          <p:cNvSpPr txBox="1"/>
          <p:nvPr/>
        </p:nvSpPr>
        <p:spPr>
          <a:xfrm>
            <a:off x="4455326" y="1861374"/>
            <a:ext cx="2620178" cy="5232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Font typeface="Wingdings" panose="05000000000000000000" pitchFamily="2" charset="2"/>
              <a:buChar char="Ø"/>
            </a:pPr>
            <a:r>
              <a:rPr lang="zh-CN" altLang="en-US" sz="2400" dirty="0"/>
              <a:t>缺点：效率较低</a:t>
            </a:r>
            <a:endParaRPr lang="zh-CN" altLang="en-US" sz="2400" dirty="0"/>
          </a:p>
        </p:txBody>
      </p:sp>
      <p:pic>
        <p:nvPicPr>
          <p:cNvPr id="39" name="Picture 4"/>
          <p:cNvPicPr>
            <a:picLocks noChangeAspect="1" noChangeArrowheads="1"/>
          </p:cNvPicPr>
          <p:nvPr/>
        </p:nvPicPr>
        <p:blipFill>
          <a:blip r:embed="rId1">
            <a:extLst>
              <a:ext uri="{28A0092B-C50C-407E-A947-70E740481C1C}">
                <a14:useLocalDpi xmlns:a14="http://schemas.microsoft.com/office/drawing/2010/main" val="0"/>
              </a:ext>
            </a:extLst>
          </a:blip>
          <a:srcRect l="18443" t="648" r="18672" b="1299"/>
          <a:stretch>
            <a:fillRect/>
          </a:stretch>
        </p:blipFill>
        <p:spPr bwMode="auto">
          <a:xfrm>
            <a:off x="7459154" y="1207468"/>
            <a:ext cx="4250208" cy="4970546"/>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9.2.2 </a:t>
            </a:r>
            <a:r>
              <a:rPr lang="zh-CN" altLang="en-US" sz="2800" b="1" dirty="0">
                <a:solidFill>
                  <a:schemeClr val="bg1"/>
                </a:solidFill>
              </a:rPr>
              <a:t>位示图法</a:t>
            </a:r>
            <a:endParaRPr lang="zh-CN" altLang="en-US" sz="2800" b="1" dirty="0">
              <a:solidFill>
                <a:schemeClr val="bg1"/>
              </a:solidFill>
            </a:endParaRPr>
          </a:p>
        </p:txBody>
      </p:sp>
      <p:sp>
        <p:nvSpPr>
          <p:cNvPr id="225" name="íšḻíḑê"/>
          <p:cNvSpPr/>
          <p:nvPr/>
        </p:nvSpPr>
        <p:spPr>
          <a:xfrm>
            <a:off x="740983" y="1080226"/>
            <a:ext cx="7927445" cy="405747"/>
          </a:xfrm>
          <a:prstGeom prst="rect">
            <a:avLst/>
          </a:prstGeom>
          <a:noFill/>
          <a:ln>
            <a:noFill/>
          </a:ln>
        </p:spPr>
        <p:txBody>
          <a:bodyPr wrap="square" lIns="91440" tIns="45720" rIns="91440" bIns="45720" anchor="ctr" anchorCtr="0">
            <a:noAutofit/>
          </a:bodyPr>
          <a:lstStyle/>
          <a:p>
            <a:pPr>
              <a:defRPr/>
            </a:pPr>
            <a:r>
              <a:rPr lang="zh-CN" altLang="en-US" sz="2400" dirty="0"/>
              <a:t>位示图</a:t>
            </a:r>
            <a:endParaRPr lang="zh-CN" altLang="en-US" sz="2400" dirty="0"/>
          </a:p>
        </p:txBody>
      </p:sp>
      <p:sp>
        <p:nvSpPr>
          <p:cNvPr id="15" name="内容占位符 2"/>
          <p:cNvSpPr txBox="1"/>
          <p:nvPr/>
        </p:nvSpPr>
        <p:spPr>
          <a:xfrm>
            <a:off x="265721" y="1530882"/>
            <a:ext cx="10506640" cy="27303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23000"/>
              </a:lnSpc>
              <a:spcBef>
                <a:spcPts val="0"/>
              </a:spcBef>
              <a:buClr>
                <a:srgbClr val="FF0000"/>
              </a:buClr>
              <a:buFont typeface="Wingdings" panose="05000000000000000000" pitchFamily="2" charset="2"/>
              <a:buChar char="Ø"/>
            </a:pPr>
            <a:r>
              <a:rPr lang="zh-CN" altLang="en-US" sz="2400" dirty="0">
                <a:sym typeface="Wingdings" panose="05000000000000000000" pitchFamily="2" charset="2"/>
              </a:rPr>
              <a:t>利用二进制的一位来表示磁盘中一个盘块的使用情况</a:t>
            </a:r>
            <a:endParaRPr lang="en-US" altLang="zh-CN" sz="2400" dirty="0">
              <a:sym typeface="Wingdings" panose="05000000000000000000" pitchFamily="2" charset="2"/>
            </a:endParaRPr>
          </a:p>
          <a:p>
            <a:pPr lvl="2">
              <a:lnSpc>
                <a:spcPct val="123000"/>
              </a:lnSpc>
              <a:spcBef>
                <a:spcPts val="0"/>
              </a:spcBef>
              <a:buClr>
                <a:srgbClr val="FF0000"/>
              </a:buClr>
              <a:buFont typeface="Wingdings" panose="05000000000000000000" pitchFamily="2" charset="2"/>
              <a:buChar char="p"/>
            </a:pPr>
            <a:r>
              <a:rPr lang="zh-CN" altLang="en-US" sz="2400" dirty="0">
                <a:sym typeface="Wingdings" panose="05000000000000000000" pitchFamily="2" charset="2"/>
              </a:rPr>
              <a:t>当值为</a:t>
            </a:r>
            <a:r>
              <a:rPr lang="en-US" altLang="zh-CN" sz="2400" dirty="0">
                <a:sym typeface="Wingdings" panose="05000000000000000000" pitchFamily="2" charset="2"/>
              </a:rPr>
              <a:t>0</a:t>
            </a:r>
            <a:r>
              <a:rPr lang="zh-CN" altLang="en-US" sz="2400" dirty="0">
                <a:sym typeface="Wingdings" panose="05000000000000000000" pitchFamily="2" charset="2"/>
              </a:rPr>
              <a:t>时，表示对应的盘块空闲</a:t>
            </a:r>
            <a:endParaRPr lang="en-US" altLang="zh-CN" sz="2400" dirty="0">
              <a:sym typeface="Wingdings" panose="05000000000000000000" pitchFamily="2" charset="2"/>
            </a:endParaRPr>
          </a:p>
          <a:p>
            <a:pPr lvl="2">
              <a:lnSpc>
                <a:spcPct val="123000"/>
              </a:lnSpc>
              <a:spcBef>
                <a:spcPts val="0"/>
              </a:spcBef>
              <a:buClr>
                <a:srgbClr val="FF0000"/>
              </a:buClr>
              <a:buFont typeface="Wingdings" panose="05000000000000000000" pitchFamily="2" charset="2"/>
              <a:buChar char="p"/>
            </a:pPr>
            <a:r>
              <a:rPr lang="zh-CN" altLang="en-US" sz="2400" dirty="0">
                <a:sym typeface="Wingdings" panose="05000000000000000000" pitchFamily="2" charset="2"/>
              </a:rPr>
              <a:t>当值为</a:t>
            </a:r>
            <a:r>
              <a:rPr lang="en-US" altLang="zh-CN" sz="2400" dirty="0">
                <a:sym typeface="Wingdings" panose="05000000000000000000" pitchFamily="2" charset="2"/>
              </a:rPr>
              <a:t>1</a:t>
            </a:r>
            <a:r>
              <a:rPr lang="zh-CN" altLang="en-US" sz="2400" dirty="0">
                <a:sym typeface="Wingdings" panose="05000000000000000000" pitchFamily="2" charset="2"/>
              </a:rPr>
              <a:t>时，表示已分配</a:t>
            </a:r>
            <a:endParaRPr lang="zh-CN" altLang="en-US" sz="2400" dirty="0">
              <a:sym typeface="Wingdings" panose="05000000000000000000" pitchFamily="2" charset="2"/>
            </a:endParaRPr>
          </a:p>
          <a:p>
            <a:pPr lvl="1">
              <a:lnSpc>
                <a:spcPct val="123000"/>
              </a:lnSpc>
              <a:spcBef>
                <a:spcPts val="0"/>
              </a:spcBef>
              <a:buClr>
                <a:srgbClr val="FF0000"/>
              </a:buClr>
              <a:buFont typeface="Wingdings" panose="05000000000000000000" pitchFamily="2" charset="2"/>
              <a:buChar char="Ø"/>
            </a:pPr>
            <a:r>
              <a:rPr lang="zh-CN" altLang="en-US" sz="2400" dirty="0">
                <a:solidFill>
                  <a:srgbClr val="0000FF"/>
                </a:solidFill>
                <a:sym typeface="Wingdings" panose="05000000000000000000" pitchFamily="2" charset="2"/>
              </a:rPr>
              <a:t>磁盘上的所有盘块都有一个二进制位与之对应，这样，由所有盘块所对应的位构成一个集合</a:t>
            </a:r>
            <a:r>
              <a:rPr lang="zh-CN" altLang="en-US" sz="2400" dirty="0">
                <a:sym typeface="Wingdings" panose="05000000000000000000" pitchFamily="2" charset="2"/>
              </a:rPr>
              <a:t>，称为</a:t>
            </a:r>
            <a:r>
              <a:rPr lang="zh-CN" altLang="en-US" sz="2400" dirty="0">
                <a:solidFill>
                  <a:srgbClr val="FF0000"/>
                </a:solidFill>
                <a:sym typeface="Wingdings" panose="05000000000000000000" pitchFamily="2" charset="2"/>
              </a:rPr>
              <a:t>位示图</a:t>
            </a:r>
            <a:endParaRPr lang="zh-CN" altLang="en-US" sz="2400" dirty="0">
              <a:solidFill>
                <a:srgbClr val="FF0000"/>
              </a:solidFill>
              <a:sym typeface="Wingdings" panose="05000000000000000000" pitchFamily="2" charset="2"/>
            </a:endParaRPr>
          </a:p>
        </p:txBody>
      </p:sp>
      <p:pic>
        <p:nvPicPr>
          <p:cNvPr id="16" name="图片 15"/>
          <p:cNvPicPr>
            <a:picLocks noChangeAspect="1"/>
          </p:cNvPicPr>
          <p:nvPr/>
        </p:nvPicPr>
        <p:blipFill>
          <a:blip r:embed="rId1">
            <a:clrChange>
              <a:clrFrom>
                <a:srgbClr val="FFFFFF"/>
              </a:clrFrom>
              <a:clrTo>
                <a:srgbClr val="FFFFFF">
                  <a:alpha val="0"/>
                </a:srgbClr>
              </a:clrTo>
            </a:clrChange>
          </a:blip>
          <a:stretch>
            <a:fillRect/>
          </a:stretch>
        </p:blipFill>
        <p:spPr>
          <a:xfrm>
            <a:off x="946706" y="3888941"/>
            <a:ext cx="10298588" cy="2325427"/>
          </a:xfrm>
          <a:prstGeom prst="rect">
            <a:avLst/>
          </a:prstGeom>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盘块的分配和回收</a:t>
            </a:r>
            <a:endParaRPr lang="zh-CN" altLang="en-US" sz="2800" b="1" dirty="0">
              <a:solidFill>
                <a:schemeClr val="bg1"/>
              </a:solidFill>
            </a:endParaRPr>
          </a:p>
        </p:txBody>
      </p:sp>
      <p:sp>
        <p:nvSpPr>
          <p:cNvPr id="40" name="ïşľîďè"/>
          <p:cNvSpPr/>
          <p:nvPr/>
        </p:nvSpPr>
        <p:spPr>
          <a:xfrm>
            <a:off x="-788524" y="1134122"/>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41" name="îŝļiḋe"/>
          <p:cNvSpPr/>
          <p:nvPr/>
        </p:nvSpPr>
        <p:spPr>
          <a:xfrm>
            <a:off x="3224183" y="1134122"/>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42" name="í$1iďè"/>
          <p:cNvGrpSpPr/>
          <p:nvPr/>
        </p:nvGrpSpPr>
        <p:grpSpPr>
          <a:xfrm>
            <a:off x="3348471" y="1411868"/>
            <a:ext cx="8618628" cy="2680737"/>
            <a:chOff x="4136995" y="1408046"/>
            <a:chExt cx="8618628" cy="2680737"/>
          </a:xfrm>
        </p:grpSpPr>
        <p:sp>
          <p:nvSpPr>
            <p:cNvPr id="43"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44" name="ïSḻiḍé"/>
            <p:cNvSpPr txBox="1"/>
            <p:nvPr/>
          </p:nvSpPr>
          <p:spPr>
            <a:xfrm>
              <a:off x="4882718" y="1408046"/>
              <a:ext cx="7872905" cy="268073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r>
                <a:rPr lang="zh-CN" altLang="en-US" sz="2400" dirty="0"/>
                <a:t>盘块的分配</a:t>
              </a:r>
              <a:endParaRPr lang="en-US" altLang="zh-CN" sz="2400" dirty="0"/>
            </a:p>
            <a:p>
              <a:pPr marL="0" marR="0" lvl="1" indent="-228600" algn="l" defTabSz="914400" rtl="0" eaLnBrk="1" fontAlgn="base" latinLnBrk="0" hangingPunct="1">
                <a:lnSpc>
                  <a:spcPct val="123000"/>
                </a:lnSpc>
                <a:spcBef>
                  <a:spcPts val="375"/>
                </a:spcBef>
                <a:spcAft>
                  <a:spcPct val="0"/>
                </a:spcAft>
                <a:buClr>
                  <a:srgbClr val="9B2D1F"/>
                </a:buClr>
                <a:buSzPct val="85000"/>
                <a:buFont typeface="Wingdings" panose="05000000000000000000" pitchFamily="2" charset="2"/>
                <a:buChar char="Ø"/>
                <a:defRPr/>
              </a:pP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顺序扫描位示图，从中找出一个或一组其值为</a:t>
              </a:r>
              <a: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0</a:t>
              </a: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的二进制位</a:t>
              </a:r>
              <a:endPar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endParaRPr>
            </a:p>
            <a:p>
              <a:pPr marL="0" marR="0" lvl="1" indent="-228600" algn="l" defTabSz="914400" rtl="0" eaLnBrk="1" fontAlgn="base" latinLnBrk="0" hangingPunct="1">
                <a:lnSpc>
                  <a:spcPct val="123000"/>
                </a:lnSpc>
                <a:spcBef>
                  <a:spcPts val="375"/>
                </a:spcBef>
                <a:spcAft>
                  <a:spcPct val="0"/>
                </a:spcAft>
                <a:buClr>
                  <a:srgbClr val="9B2D1F"/>
                </a:buClr>
                <a:buSzPct val="85000"/>
                <a:buFont typeface="Wingdings" panose="05000000000000000000" pitchFamily="2" charset="2"/>
                <a:buChar char="Ø"/>
                <a:defRPr/>
              </a:pP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将所找到的一个或一组二进制位，转换成与之相应的盘块号。假定   </a:t>
              </a:r>
              <a:b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br>
              <a: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   </a:t>
              </a: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找到的其值为</a:t>
              </a:r>
              <a: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0</a:t>
              </a: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的二进制位，位于位示图的第</a:t>
              </a:r>
              <a:r>
                <a:rPr kumimoji="0" lang="en-US" altLang="zh-CN" sz="2000" b="0" i="0" u="none" strike="noStrike" kern="1200" cap="none" spc="0" normalizeH="0" baseline="0" noProof="0" dirty="0" err="1">
                  <a:ln>
                    <a:noFill/>
                  </a:ln>
                  <a:solidFill>
                    <a:prstClr val="black"/>
                  </a:solidFill>
                  <a:effectLst/>
                  <a:uLnTx/>
                  <a:uFillTx/>
                  <a:latin typeface="+mn-ea"/>
                  <a:cs typeface="+mn-cs"/>
                  <a:sym typeface="Wingdings" panose="05000000000000000000" pitchFamily="2" charset="2"/>
                </a:rPr>
                <a:t>i</a:t>
              </a: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行、第</a:t>
              </a:r>
              <a: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j</a:t>
              </a: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列，则其相应   </a:t>
              </a:r>
              <a:b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br>
              <a: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   </a:t>
              </a: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的盘块号为：</a:t>
              </a:r>
              <a:r>
                <a:rPr kumimoji="0" lang="en-US" altLang="zh-CN" sz="2000" b="1" i="0" u="none" strike="noStrike" kern="1200" cap="none" spc="0" normalizeH="0" baseline="0" noProof="0" dirty="0">
                  <a:ln>
                    <a:noFill/>
                  </a:ln>
                  <a:solidFill>
                    <a:srgbClr val="C00000"/>
                  </a:solidFill>
                  <a:effectLst/>
                  <a:uLnTx/>
                  <a:uFillTx/>
                  <a:latin typeface="+mn-ea"/>
                  <a:cs typeface="+mn-cs"/>
                  <a:sym typeface="Wingdings" panose="05000000000000000000" pitchFamily="2" charset="2"/>
                </a:rPr>
                <a:t>b=n(i-1)+j</a:t>
              </a:r>
              <a:endParaRPr kumimoji="0" lang="en-US" altLang="zh-CN" sz="2000" b="1" i="0" u="none" strike="noStrike" kern="1200" cap="none" spc="0" normalizeH="0" baseline="0" noProof="0" dirty="0">
                <a:ln>
                  <a:noFill/>
                </a:ln>
                <a:solidFill>
                  <a:srgbClr val="C00000"/>
                </a:solidFill>
                <a:effectLst/>
                <a:uLnTx/>
                <a:uFillTx/>
                <a:latin typeface="+mn-ea"/>
                <a:cs typeface="+mn-cs"/>
                <a:sym typeface="Wingdings" panose="05000000000000000000" pitchFamily="2" charset="2"/>
              </a:endParaRPr>
            </a:p>
            <a:p>
              <a:pPr marL="0" marR="0" lvl="1" indent="-228600" algn="l" defTabSz="914400" rtl="0" eaLnBrk="1" fontAlgn="base" latinLnBrk="0" hangingPunct="1">
                <a:lnSpc>
                  <a:spcPct val="123000"/>
                </a:lnSpc>
                <a:spcBef>
                  <a:spcPts val="375"/>
                </a:spcBef>
                <a:spcAft>
                  <a:spcPct val="0"/>
                </a:spcAft>
                <a:buClr>
                  <a:srgbClr val="9B2D1F"/>
                </a:buClr>
                <a:buSzPct val="85000"/>
                <a:buFont typeface="Wingdings" panose="05000000000000000000" pitchFamily="2" charset="2"/>
                <a:buChar char="Ø"/>
                <a:defRPr/>
              </a:pP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修改位示图，令</a:t>
              </a:r>
              <a: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map[</a:t>
              </a:r>
              <a:r>
                <a:rPr kumimoji="0" lang="en-US" altLang="zh-CN" sz="2000" b="0" i="0" u="none" strike="noStrike" kern="1200" cap="none" spc="0" normalizeH="0" baseline="0" noProof="0" dirty="0" err="1">
                  <a:ln>
                    <a:noFill/>
                  </a:ln>
                  <a:solidFill>
                    <a:prstClr val="black"/>
                  </a:solidFill>
                  <a:effectLst/>
                  <a:uLnTx/>
                  <a:uFillTx/>
                  <a:latin typeface="+mn-ea"/>
                  <a:cs typeface="+mn-cs"/>
                  <a:sym typeface="Wingdings" panose="05000000000000000000" pitchFamily="2" charset="2"/>
                </a:rPr>
                <a:t>i,j</a:t>
              </a:r>
              <a: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]=1</a:t>
              </a:r>
              <a:endPar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endParaRPr>
            </a:p>
            <a:p>
              <a:pPr>
                <a:defRPr/>
              </a:pPr>
              <a:endParaRPr lang="zh-CN" altLang="en-US" sz="2400" dirty="0"/>
            </a:p>
          </p:txBody>
        </p:sp>
      </p:grpSp>
      <p:grpSp>
        <p:nvGrpSpPr>
          <p:cNvPr id="48" name="ïSlíḍê"/>
          <p:cNvGrpSpPr/>
          <p:nvPr/>
        </p:nvGrpSpPr>
        <p:grpSpPr>
          <a:xfrm>
            <a:off x="3348471" y="4371764"/>
            <a:ext cx="8378931" cy="1311067"/>
            <a:chOff x="4136995" y="4714289"/>
            <a:chExt cx="8378931" cy="1311067"/>
          </a:xfrm>
        </p:grpSpPr>
        <p:sp>
          <p:nvSpPr>
            <p:cNvPr id="49"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50" name="íṧļîḋê"/>
            <p:cNvSpPr txBox="1"/>
            <p:nvPr/>
          </p:nvSpPr>
          <p:spPr>
            <a:xfrm>
              <a:off x="4882717" y="4714289"/>
              <a:ext cx="7633209"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ts val="375"/>
                </a:spcBef>
                <a:defRPr/>
              </a:pPr>
              <a:r>
                <a:rPr lang="zh-CN" altLang="en-US" sz="2400" dirty="0"/>
                <a:t>盘块的回收</a:t>
              </a:r>
              <a:endParaRPr lang="en-US" altLang="zh-CN" sz="2400" dirty="0"/>
            </a:p>
            <a:p>
              <a:pPr marL="342900" indent="-342900">
                <a:lnSpc>
                  <a:spcPct val="120000"/>
                </a:lnSpc>
                <a:spcBef>
                  <a:spcPts val="375"/>
                </a:spcBef>
                <a:buClr>
                  <a:srgbClr val="C00000"/>
                </a:buClr>
                <a:buFont typeface="Wingdings" panose="05000000000000000000" pitchFamily="2" charset="2"/>
                <a:buChar char="Ø"/>
                <a:defRPr/>
              </a:pPr>
              <a:r>
                <a:rPr lang="zh-CN" altLang="en-US" sz="2200" dirty="0"/>
                <a:t>将回收盘块的盘块号</a:t>
              </a:r>
              <a:r>
                <a:rPr lang="en-US" altLang="zh-CN" sz="2200" dirty="0"/>
                <a:t>b</a:t>
              </a:r>
              <a:r>
                <a:rPr lang="zh-CN" altLang="en-US" sz="2200" dirty="0"/>
                <a:t>转换成位示图中的行号和列号：</a:t>
              </a:r>
              <a:endParaRPr lang="zh-CN" altLang="en-US" sz="2200" dirty="0"/>
            </a:p>
            <a:p>
              <a:pPr marL="800100" lvl="1" indent="-342900">
                <a:lnSpc>
                  <a:spcPct val="120000"/>
                </a:lnSpc>
                <a:spcBef>
                  <a:spcPts val="375"/>
                </a:spcBef>
                <a:buClr>
                  <a:srgbClr val="C00000"/>
                </a:buClr>
                <a:buFont typeface="Wingdings" panose="05000000000000000000" pitchFamily="2" charset="2"/>
                <a:buChar char="l"/>
                <a:defRPr/>
              </a:pPr>
              <a:r>
                <a:rPr lang="en-US" altLang="zh-CN" sz="2200" dirty="0" err="1">
                  <a:solidFill>
                    <a:srgbClr val="FF0000"/>
                  </a:solidFill>
                </a:rPr>
                <a:t>i</a:t>
              </a:r>
              <a:r>
                <a:rPr lang="en-US" altLang="zh-CN" sz="2200" dirty="0">
                  <a:solidFill>
                    <a:srgbClr val="FF0000"/>
                  </a:solidFill>
                </a:rPr>
                <a:t>=(b-1)div n+1   j=(b-1)mod n+1</a:t>
              </a:r>
              <a:endParaRPr lang="en-US" altLang="zh-CN" sz="2200" dirty="0">
                <a:solidFill>
                  <a:srgbClr val="FF0000"/>
                </a:solidFill>
              </a:endParaRPr>
            </a:p>
            <a:p>
              <a:pPr marL="342900" indent="-342900">
                <a:lnSpc>
                  <a:spcPct val="120000"/>
                </a:lnSpc>
                <a:spcBef>
                  <a:spcPts val="375"/>
                </a:spcBef>
                <a:buClr>
                  <a:srgbClr val="C00000"/>
                </a:buClr>
                <a:buFont typeface="Wingdings" panose="05000000000000000000" pitchFamily="2" charset="2"/>
                <a:buChar char="Ø"/>
                <a:defRPr/>
              </a:pPr>
              <a:r>
                <a:rPr lang="zh-CN" altLang="en-US" sz="2200" dirty="0"/>
                <a:t>修改位示图，令</a:t>
              </a:r>
              <a:r>
                <a:rPr lang="en-US" altLang="zh-CN" sz="2200" dirty="0"/>
                <a:t>map[</a:t>
              </a:r>
              <a:r>
                <a:rPr lang="en-US" altLang="zh-CN" sz="2200" dirty="0" err="1"/>
                <a:t>i,j</a:t>
              </a:r>
              <a:r>
                <a:rPr lang="en-US" altLang="zh-CN" sz="2200" dirty="0"/>
                <a:t>]=0</a:t>
              </a:r>
              <a:endParaRPr lang="en-US" altLang="zh-CN" sz="2200" dirty="0"/>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9.2.3 </a:t>
            </a:r>
            <a:r>
              <a:rPr lang="zh-CN" altLang="en-US" sz="2800" b="1" dirty="0">
                <a:solidFill>
                  <a:schemeClr val="bg1"/>
                </a:solidFill>
              </a:rPr>
              <a:t>成组链接法</a:t>
            </a:r>
            <a:endParaRPr lang="zh-CN" altLang="en-US" sz="2800" b="1" dirty="0">
              <a:solidFill>
                <a:schemeClr val="bg1"/>
              </a:solidFill>
            </a:endParaRPr>
          </a:p>
        </p:txBody>
      </p:sp>
      <p:sp>
        <p:nvSpPr>
          <p:cNvPr id="6" name="íšḻíḑê"/>
          <p:cNvSpPr/>
          <p:nvPr/>
        </p:nvSpPr>
        <p:spPr>
          <a:xfrm>
            <a:off x="1522219" y="1399822"/>
            <a:ext cx="7927445" cy="405747"/>
          </a:xfrm>
          <a:prstGeom prst="rect">
            <a:avLst/>
          </a:prstGeom>
          <a:noFill/>
          <a:ln>
            <a:noFill/>
          </a:ln>
        </p:spPr>
        <p:txBody>
          <a:bodyPr wrap="square" lIns="91440" tIns="45720" rIns="91440" bIns="45720" anchor="ctr" anchorCtr="0">
            <a:noAutofit/>
          </a:bodyPr>
          <a:lstStyle/>
          <a:p>
            <a:pPr>
              <a:defRPr/>
            </a:pPr>
            <a:r>
              <a:rPr lang="zh-CN" altLang="en-US" sz="2400" dirty="0"/>
              <a:t>空闲盘块的</a:t>
            </a:r>
            <a:r>
              <a:rPr lang="zh-CN" altLang="en-US" sz="2400" dirty="0">
                <a:solidFill>
                  <a:srgbClr val="FF0000"/>
                </a:solidFill>
              </a:rPr>
              <a:t>组织</a:t>
            </a:r>
            <a:endParaRPr lang="zh-CN" altLang="en-US" sz="2400" dirty="0">
              <a:solidFill>
                <a:srgbClr val="FF0000"/>
              </a:solidFill>
            </a:endParaRPr>
          </a:p>
        </p:txBody>
      </p:sp>
      <p:sp>
        <p:nvSpPr>
          <p:cNvPr id="7" name="内容占位符 2"/>
          <p:cNvSpPr txBox="1"/>
          <p:nvPr/>
        </p:nvSpPr>
        <p:spPr>
          <a:xfrm>
            <a:off x="1522219" y="1891080"/>
            <a:ext cx="10286385" cy="32456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3000"/>
              </a:lnSpc>
              <a:spcBef>
                <a:spcPts val="600"/>
              </a:spcBef>
              <a:buClr>
                <a:srgbClr val="FF0000"/>
              </a:buClr>
              <a:buFont typeface="Wingdings" panose="05000000000000000000" pitchFamily="2" charset="2"/>
              <a:buChar char="Ø"/>
            </a:pPr>
            <a:r>
              <a:rPr lang="zh-CN" altLang="en-US" sz="2400" dirty="0"/>
              <a:t>文件区中的所有空闲盘块，被分成若干个组</a:t>
            </a:r>
            <a:endParaRPr lang="zh-CN" altLang="en-US" sz="2400" dirty="0"/>
          </a:p>
          <a:p>
            <a:pPr>
              <a:lnSpc>
                <a:spcPct val="123000"/>
              </a:lnSpc>
              <a:spcBef>
                <a:spcPts val="600"/>
              </a:spcBef>
              <a:buClr>
                <a:srgbClr val="FF0000"/>
              </a:buClr>
              <a:buFont typeface="Wingdings" panose="05000000000000000000" pitchFamily="2" charset="2"/>
              <a:buChar char="Ø"/>
            </a:pPr>
            <a:r>
              <a:rPr lang="zh-CN" altLang="en-US" sz="2400" dirty="0"/>
              <a:t>将每一组含有的盘块总数</a:t>
            </a:r>
            <a:r>
              <a:rPr lang="en-US" altLang="zh-CN" sz="2400" dirty="0"/>
              <a:t>N</a:t>
            </a:r>
            <a:r>
              <a:rPr lang="zh-CN" altLang="en-US" sz="2400" dirty="0"/>
              <a:t>和该组所有的盘块号，记入其前一组的第一个盘块的</a:t>
            </a:r>
            <a:r>
              <a:rPr lang="en-US" altLang="zh-CN" sz="2400" dirty="0" err="1"/>
              <a:t>S.free</a:t>
            </a:r>
            <a:r>
              <a:rPr lang="en-US" altLang="zh-CN" sz="2400" dirty="0"/>
              <a:t>(0)~</a:t>
            </a:r>
            <a:r>
              <a:rPr lang="en-US" altLang="zh-CN" sz="2400" dirty="0" err="1"/>
              <a:t>S.free</a:t>
            </a:r>
            <a:r>
              <a:rPr lang="en-US" altLang="zh-CN" sz="2400" dirty="0"/>
              <a:t>(99)</a:t>
            </a:r>
            <a:r>
              <a:rPr lang="zh-CN" altLang="en-US" sz="2400" dirty="0"/>
              <a:t>中。</a:t>
            </a:r>
            <a:endParaRPr lang="zh-CN" altLang="en-US" sz="2400" dirty="0"/>
          </a:p>
          <a:p>
            <a:pPr>
              <a:lnSpc>
                <a:spcPct val="123000"/>
              </a:lnSpc>
              <a:spcBef>
                <a:spcPts val="600"/>
              </a:spcBef>
              <a:buClr>
                <a:srgbClr val="FF0000"/>
              </a:buClr>
              <a:buFont typeface="Wingdings" panose="05000000000000000000" pitchFamily="2" charset="2"/>
              <a:buChar char="Ø"/>
            </a:pPr>
            <a:r>
              <a:rPr lang="zh-CN" altLang="en-US" sz="2400" dirty="0"/>
              <a:t>将第一组的盘块总数和所有的盘块号，记入空闲盘块号栈中，作为当前可供分配的空闲盘块号</a:t>
            </a:r>
            <a:endParaRPr lang="zh-CN" altLang="en-US" sz="2400" dirty="0"/>
          </a:p>
          <a:p>
            <a:pPr>
              <a:lnSpc>
                <a:spcPct val="123000"/>
              </a:lnSpc>
              <a:spcBef>
                <a:spcPts val="600"/>
              </a:spcBef>
              <a:buClr>
                <a:srgbClr val="FF0000"/>
              </a:buClr>
              <a:buFont typeface="Wingdings" panose="05000000000000000000" pitchFamily="2" charset="2"/>
              <a:buChar char="Ø"/>
            </a:pPr>
            <a:r>
              <a:rPr lang="zh-CN" altLang="en-US" sz="2400" dirty="0"/>
              <a:t>最末一组只有</a:t>
            </a:r>
            <a:r>
              <a:rPr lang="en-US" altLang="zh-CN" sz="2400" dirty="0"/>
              <a:t>99</a:t>
            </a:r>
            <a:r>
              <a:rPr lang="zh-CN" altLang="en-US" sz="2400" dirty="0"/>
              <a:t>个盘块</a:t>
            </a:r>
            <a:endParaRPr lang="zh-CN" altLang="en-US" sz="2400" dirty="0"/>
          </a:p>
        </p:txBody>
      </p:sp>
      <p:sp>
        <p:nvSpPr>
          <p:cNvPr id="8" name="íšḻíḑê"/>
          <p:cNvSpPr/>
          <p:nvPr/>
        </p:nvSpPr>
        <p:spPr>
          <a:xfrm>
            <a:off x="1610995" y="5136760"/>
            <a:ext cx="7927445" cy="405747"/>
          </a:xfrm>
          <a:prstGeom prst="rect">
            <a:avLst/>
          </a:prstGeom>
          <a:noFill/>
          <a:ln>
            <a:noFill/>
          </a:ln>
        </p:spPr>
        <p:txBody>
          <a:bodyPr wrap="square" lIns="91440" tIns="45720" rIns="91440" bIns="45720" anchor="ctr" anchorCtr="0">
            <a:noAutofit/>
          </a:bodyPr>
          <a:lstStyle/>
          <a:p>
            <a:pPr>
              <a:defRPr/>
            </a:pPr>
            <a:r>
              <a:rPr lang="zh-CN" altLang="en-US" sz="2400" dirty="0"/>
              <a:t>空闲盘块的分配与回收</a:t>
            </a:r>
            <a:endParaRPr lang="zh-CN" altLang="en-US" sz="2400" dirty="0"/>
          </a:p>
        </p:txBody>
      </p:sp>
      <p:sp>
        <p:nvSpPr>
          <p:cNvPr id="9" name="îSļiḓè"/>
          <p:cNvSpPr/>
          <p:nvPr/>
        </p:nvSpPr>
        <p:spPr>
          <a:xfrm>
            <a:off x="744166" y="1263213"/>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0" name="îşļiḓè"/>
          <p:cNvSpPr/>
          <p:nvPr/>
        </p:nvSpPr>
        <p:spPr>
          <a:xfrm>
            <a:off x="744166" y="4987872"/>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1" name="îṡḷíďe"/>
          <p:cNvSpPr/>
          <p:nvPr/>
        </p:nvSpPr>
        <p:spPr>
          <a:xfrm>
            <a:off x="934421" y="1459351"/>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12" name="íSlíḋe"/>
          <p:cNvSpPr/>
          <p:nvPr/>
        </p:nvSpPr>
        <p:spPr>
          <a:xfrm>
            <a:off x="934420" y="5209889"/>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成组链接法示例</a:t>
            </a:r>
            <a:endParaRPr lang="zh-CN" altLang="en-US" sz="2800" b="1" dirty="0">
              <a:solidFill>
                <a:schemeClr val="bg1"/>
              </a:solidFill>
            </a:endParaRPr>
          </a:p>
        </p:txBody>
      </p:sp>
      <p:pic>
        <p:nvPicPr>
          <p:cNvPr id="13" name="图片 12"/>
          <p:cNvPicPr>
            <a:picLocks noChangeAspect="1"/>
          </p:cNvPicPr>
          <p:nvPr/>
        </p:nvPicPr>
        <p:blipFill>
          <a:blip r:embed="rId1"/>
          <a:stretch>
            <a:fillRect/>
          </a:stretch>
        </p:blipFill>
        <p:spPr>
          <a:xfrm>
            <a:off x="927716" y="1003275"/>
            <a:ext cx="10336567" cy="5152131"/>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476238"/>
            <a:ext cx="4500146" cy="461665"/>
          </a:xfrm>
          <a:prstGeom prst="rect">
            <a:avLst/>
          </a:prstGeom>
        </p:spPr>
        <p:txBody>
          <a:bodyPr wrap="square">
            <a:spAutoFit/>
          </a:bodyPr>
          <a:lstStyle/>
          <a:p>
            <a:r>
              <a:rPr lang="en-US" altLang="zh-CN" sz="2400" dirty="0">
                <a:latin typeface="+mj-ea"/>
                <a:ea typeface="+mj-ea"/>
              </a:rPr>
              <a:t>9.1 </a:t>
            </a:r>
            <a:r>
              <a:rPr lang="zh-CN" altLang="en-US" sz="2400" dirty="0">
                <a:latin typeface="+mj-ea"/>
                <a:ea typeface="+mj-ea"/>
              </a:rPr>
              <a:t>外存的组织方式</a:t>
            </a:r>
            <a:endParaRPr lang="zh-CN" altLang="en-US" sz="2400" dirty="0">
              <a:latin typeface="+mj-ea"/>
              <a:ea typeface="+mj-ea"/>
            </a:endParaRPr>
          </a:p>
        </p:txBody>
      </p:sp>
      <p:sp>
        <p:nvSpPr>
          <p:cNvPr id="23" name="矩形 22"/>
          <p:cNvSpPr/>
          <p:nvPr/>
        </p:nvSpPr>
        <p:spPr>
          <a:xfrm>
            <a:off x="1696469" y="2114413"/>
            <a:ext cx="3682150" cy="461665"/>
          </a:xfrm>
          <a:prstGeom prst="rect">
            <a:avLst/>
          </a:prstGeom>
        </p:spPr>
        <p:txBody>
          <a:bodyPr wrap="square">
            <a:spAutoFit/>
          </a:bodyPr>
          <a:lstStyle/>
          <a:p>
            <a:r>
              <a:rPr lang="en-US" altLang="zh-CN" sz="2400" dirty="0">
                <a:latin typeface="+mj-ea"/>
              </a:rPr>
              <a:t>9.1.1 </a:t>
            </a:r>
            <a:r>
              <a:rPr lang="zh-CN" altLang="en-US" sz="2400" dirty="0">
                <a:latin typeface="+mj-ea"/>
              </a:rPr>
              <a:t>连续组织方式</a:t>
            </a:r>
            <a:endParaRPr lang="en-US" altLang="zh-CN" sz="2400" dirty="0">
              <a:latin typeface="+mj-ea"/>
            </a:endParaRPr>
          </a:p>
        </p:txBody>
      </p:sp>
      <p:sp>
        <p:nvSpPr>
          <p:cNvPr id="24" name="矩形 23"/>
          <p:cNvSpPr/>
          <p:nvPr/>
        </p:nvSpPr>
        <p:spPr>
          <a:xfrm>
            <a:off x="1696468" y="2733538"/>
            <a:ext cx="3488967" cy="461665"/>
          </a:xfrm>
          <a:prstGeom prst="rect">
            <a:avLst/>
          </a:prstGeom>
        </p:spPr>
        <p:txBody>
          <a:bodyPr wrap="square">
            <a:spAutoFit/>
          </a:bodyPr>
          <a:lstStyle/>
          <a:p>
            <a:r>
              <a:rPr lang="en-US" altLang="zh-CN" sz="2400" dirty="0">
                <a:latin typeface="+mj-ea"/>
              </a:rPr>
              <a:t>9.1.2 </a:t>
            </a:r>
            <a:r>
              <a:rPr lang="zh-CN" altLang="en-US" sz="2400" dirty="0">
                <a:latin typeface="+mj-ea"/>
              </a:rPr>
              <a:t>链接组织方式</a:t>
            </a:r>
            <a:endParaRPr lang="en-US" altLang="zh-CN" sz="2400" dirty="0">
              <a:latin typeface="+mj-ea"/>
            </a:endParaRPr>
          </a:p>
        </p:txBody>
      </p:sp>
      <p:sp>
        <p:nvSpPr>
          <p:cNvPr id="25" name="矩形 24"/>
          <p:cNvSpPr/>
          <p:nvPr/>
        </p:nvSpPr>
        <p:spPr>
          <a:xfrm>
            <a:off x="1696468" y="3352663"/>
            <a:ext cx="3488967" cy="461665"/>
          </a:xfrm>
          <a:prstGeom prst="rect">
            <a:avLst/>
          </a:prstGeom>
        </p:spPr>
        <p:txBody>
          <a:bodyPr wrap="square">
            <a:spAutoFit/>
          </a:bodyPr>
          <a:lstStyle/>
          <a:p>
            <a:r>
              <a:rPr lang="en-US" altLang="zh-CN" sz="2400" dirty="0">
                <a:latin typeface="+mj-ea"/>
              </a:rPr>
              <a:t>9.1.1 </a:t>
            </a:r>
            <a:r>
              <a:rPr lang="zh-CN" altLang="en-US" sz="2400" dirty="0">
                <a:latin typeface="+mj-ea"/>
              </a:rPr>
              <a:t>索引组织方式</a:t>
            </a:r>
            <a:endParaRPr lang="en-US" altLang="zh-CN" sz="2400" dirty="0">
              <a:latin typeface="+mj-ea"/>
            </a:endParaRPr>
          </a:p>
        </p:txBody>
      </p:sp>
      <p:sp>
        <p:nvSpPr>
          <p:cNvPr id="27" name="矩形 26"/>
          <p:cNvSpPr/>
          <p:nvPr/>
        </p:nvSpPr>
        <p:spPr>
          <a:xfrm>
            <a:off x="1696469" y="3971788"/>
            <a:ext cx="5478772" cy="461665"/>
          </a:xfrm>
          <a:prstGeom prst="rect">
            <a:avLst/>
          </a:prstGeom>
        </p:spPr>
        <p:txBody>
          <a:bodyPr wrap="square">
            <a:spAutoFit/>
          </a:bodyPr>
          <a:lstStyle/>
          <a:p>
            <a:r>
              <a:rPr lang="en-US" altLang="zh-CN" sz="2400" dirty="0">
                <a:latin typeface="+mj-ea"/>
              </a:rPr>
              <a:t>9.2 </a:t>
            </a:r>
            <a:r>
              <a:rPr lang="zh-CN" altLang="en-US" sz="2400" dirty="0">
                <a:latin typeface="+mj-ea"/>
              </a:rPr>
              <a:t>文件存储空间的管理</a:t>
            </a:r>
            <a:endParaRPr lang="zh-CN" altLang="en-US" sz="2400" dirty="0">
              <a:latin typeface="+mj-ea"/>
            </a:endParaRPr>
          </a:p>
        </p:txBody>
      </p:sp>
      <p:sp>
        <p:nvSpPr>
          <p:cNvPr id="28" name="矩形 27"/>
          <p:cNvSpPr/>
          <p:nvPr/>
        </p:nvSpPr>
        <p:spPr>
          <a:xfrm>
            <a:off x="1696468" y="4590913"/>
            <a:ext cx="4769645" cy="461665"/>
          </a:xfrm>
          <a:prstGeom prst="rect">
            <a:avLst/>
          </a:prstGeom>
        </p:spPr>
        <p:txBody>
          <a:bodyPr wrap="square">
            <a:spAutoFit/>
          </a:bodyPr>
          <a:lstStyle/>
          <a:p>
            <a:r>
              <a:rPr lang="en-US" altLang="zh-CN" sz="2400" b="1" dirty="0">
                <a:solidFill>
                  <a:srgbClr val="0000FF"/>
                </a:solidFill>
                <a:latin typeface="+mj-ea"/>
              </a:rPr>
              <a:t>9.3 </a:t>
            </a:r>
            <a:r>
              <a:rPr lang="zh-CN" altLang="en-US" sz="2400" b="1" dirty="0">
                <a:solidFill>
                  <a:srgbClr val="0000FF"/>
                </a:solidFill>
                <a:latin typeface="+mj-ea"/>
              </a:rPr>
              <a:t>提高磁盘</a:t>
            </a:r>
            <a:r>
              <a:rPr lang="en-US" altLang="zh-CN" sz="2400" b="1" dirty="0">
                <a:solidFill>
                  <a:srgbClr val="0000FF"/>
                </a:solidFill>
                <a:latin typeface="+mj-ea"/>
              </a:rPr>
              <a:t>I/O</a:t>
            </a:r>
            <a:r>
              <a:rPr lang="zh-CN" altLang="en-US" sz="2400" b="1" dirty="0">
                <a:solidFill>
                  <a:srgbClr val="0000FF"/>
                </a:solidFill>
                <a:latin typeface="+mj-ea"/>
              </a:rPr>
              <a:t>速度的途径</a:t>
            </a:r>
            <a:endParaRPr lang="zh-CN" altLang="en-US" sz="2400" b="1" dirty="0">
              <a:solidFill>
                <a:srgbClr val="0000FF"/>
              </a:solidFill>
              <a:latin typeface="+mj-ea"/>
            </a:endParaRPr>
          </a:p>
        </p:txBody>
      </p:sp>
      <p:sp>
        <p:nvSpPr>
          <p:cNvPr id="29" name="矩形 28"/>
          <p:cNvSpPr/>
          <p:nvPr/>
        </p:nvSpPr>
        <p:spPr>
          <a:xfrm>
            <a:off x="1696468" y="5210038"/>
            <a:ext cx="4620355" cy="461665"/>
          </a:xfrm>
          <a:prstGeom prst="rect">
            <a:avLst/>
          </a:prstGeom>
        </p:spPr>
        <p:txBody>
          <a:bodyPr wrap="square">
            <a:spAutoFit/>
          </a:bodyPr>
          <a:lstStyle/>
          <a:p>
            <a:r>
              <a:rPr lang="en-US" altLang="zh-CN" sz="2400" dirty="0">
                <a:latin typeface="+mj-ea"/>
              </a:rPr>
              <a:t>9.4 </a:t>
            </a:r>
            <a:r>
              <a:rPr lang="zh-CN" altLang="en-US" sz="2400" dirty="0">
                <a:latin typeface="+mj-ea"/>
              </a:rPr>
              <a:t>提高磁盘可靠性的技术</a:t>
            </a:r>
            <a:endParaRPr lang="zh-CN" altLang="en-US" sz="2400" dirty="0">
              <a:latin typeface="+mj-ea"/>
            </a:endParaRPr>
          </a:p>
        </p:txBody>
      </p:sp>
      <p:sp>
        <p:nvSpPr>
          <p:cNvPr id="3" name="矩形 2"/>
          <p:cNvSpPr/>
          <p:nvPr/>
        </p:nvSpPr>
        <p:spPr>
          <a:xfrm>
            <a:off x="6466113" y="2386337"/>
            <a:ext cx="5191691" cy="646331"/>
          </a:xfrm>
          <a:prstGeom prst="rect">
            <a:avLst/>
          </a:prstGeom>
        </p:spPr>
        <p:txBody>
          <a:bodyPr wrap="square">
            <a:spAutoFit/>
          </a:bodyPr>
          <a:lstStyle/>
          <a:p>
            <a:r>
              <a:rPr lang="zh-CN" altLang="en-US" sz="3600" dirty="0">
                <a:solidFill>
                  <a:srgbClr val="000000"/>
                </a:solidFill>
              </a:rPr>
              <a:t>第</a:t>
            </a:r>
            <a:r>
              <a:rPr lang="en-US" altLang="zh-CN" sz="3600" dirty="0">
                <a:solidFill>
                  <a:srgbClr val="000000"/>
                </a:solidFill>
              </a:rPr>
              <a:t>9</a:t>
            </a:r>
            <a:r>
              <a:rPr lang="zh-CN" altLang="en-US" sz="3600" dirty="0">
                <a:solidFill>
                  <a:srgbClr val="000000"/>
                </a:solidFill>
              </a:rPr>
              <a:t>章    磁盘存储器管理</a:t>
            </a:r>
            <a:endParaRPr lang="zh-CN" altLang="en-US" sz="3600" dirty="0"/>
          </a:p>
        </p:txBody>
      </p:sp>
      <p:cxnSp>
        <p:nvCxnSpPr>
          <p:cNvPr id="5" name="直接连接符 4"/>
          <p:cNvCxnSpPr/>
          <p:nvPr/>
        </p:nvCxnSpPr>
        <p:spPr>
          <a:xfrm>
            <a:off x="6640497" y="3190471"/>
            <a:ext cx="4906625"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6622741" y="3273543"/>
            <a:ext cx="4906625" cy="530594"/>
          </a:xfrm>
          <a:prstGeom prst="rect">
            <a:avLst/>
          </a:prstGeom>
        </p:spPr>
        <p:txBody>
          <a:bodyPr wrap="square">
            <a:spAutoFit/>
          </a:bodyPr>
          <a:lstStyle/>
          <a:p>
            <a:pPr algn="ctr">
              <a:lnSpc>
                <a:spcPct val="132000"/>
              </a:lnSpc>
            </a:pPr>
            <a:r>
              <a:rPr lang="zh-CN" altLang="en-US" sz="2400" dirty="0">
                <a:solidFill>
                  <a:srgbClr val="002060"/>
                </a:solidFill>
              </a:rPr>
              <a:t>主讲：王红玲           主审：汤小丹</a:t>
            </a:r>
            <a:endParaRPr lang="en-US" altLang="zh-CN" sz="2400" dirty="0">
              <a:solidFill>
                <a:srgbClr val="002060"/>
              </a:solidFill>
            </a:endParaRPr>
          </a:p>
        </p:txBody>
      </p: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43922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2436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7983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831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2439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6210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62820"/>
            <a:ext cx="527050" cy="527050"/>
          </a:xfrm>
          <a:prstGeom prst="rect">
            <a:avLst/>
          </a:prstGeom>
          <a:ln>
            <a:noFill/>
          </a:ln>
          <a:effectLst>
            <a:softEdge rad="0"/>
          </a:effectLst>
        </p:spPr>
      </p:pic>
      <p:sp>
        <p:nvSpPr>
          <p:cNvPr id="33" name="矩形 32"/>
          <p:cNvSpPr/>
          <p:nvPr/>
        </p:nvSpPr>
        <p:spPr>
          <a:xfrm>
            <a:off x="1696468" y="5863246"/>
            <a:ext cx="4219140" cy="461665"/>
          </a:xfrm>
          <a:prstGeom prst="rect">
            <a:avLst/>
          </a:prstGeom>
        </p:spPr>
        <p:txBody>
          <a:bodyPr wrap="square">
            <a:spAutoFit/>
          </a:bodyPr>
          <a:lstStyle/>
          <a:p>
            <a:r>
              <a:rPr lang="en-US" altLang="zh-CN" sz="2400" dirty="0">
                <a:latin typeface="+mj-ea"/>
              </a:rPr>
              <a:t>9.5 </a:t>
            </a:r>
            <a:r>
              <a:rPr lang="zh-CN" altLang="en-US" sz="2400" dirty="0">
                <a:latin typeface="+mj-ea"/>
              </a:rPr>
              <a:t>存储新技术</a:t>
            </a:r>
            <a:endParaRPr lang="zh-CN" altLang="en-US" sz="2400" dirty="0">
              <a:latin typeface="+mj-ea"/>
            </a:endParaRPr>
          </a:p>
        </p:txBody>
      </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7" y="5816028"/>
            <a:ext cx="527050" cy="527050"/>
          </a:xfrm>
          <a:prstGeom prst="rect">
            <a:avLst/>
          </a:prstGeom>
          <a:ln>
            <a:noFill/>
          </a:ln>
          <a:effectLst>
            <a:softEdge rad="0"/>
          </a:effectLst>
        </p:spPr>
      </p:pic>
      <p:sp>
        <p:nvSpPr>
          <p:cNvPr id="35" name="矩形 34"/>
          <p:cNvSpPr/>
          <p:nvPr/>
        </p:nvSpPr>
        <p:spPr>
          <a:xfrm>
            <a:off x="6754405" y="5837115"/>
            <a:ext cx="4219140" cy="461665"/>
          </a:xfrm>
          <a:prstGeom prst="rect">
            <a:avLst/>
          </a:prstGeom>
        </p:spPr>
        <p:txBody>
          <a:bodyPr wrap="square">
            <a:spAutoFit/>
          </a:bodyPr>
          <a:lstStyle/>
          <a:p>
            <a:r>
              <a:rPr lang="en-US" altLang="zh-CN" sz="2400" dirty="0">
                <a:latin typeface="+mj-ea"/>
              </a:rPr>
              <a:t>9.6 </a:t>
            </a:r>
            <a:r>
              <a:rPr lang="zh-CN" altLang="en-US" sz="2400" dirty="0">
                <a:latin typeface="+mj-ea"/>
              </a:rPr>
              <a:t>数据一致性控制</a:t>
            </a:r>
            <a:endParaRPr lang="zh-CN" altLang="en-US" sz="2400" dirty="0">
              <a:latin typeface="+mj-ea"/>
            </a:endParaRPr>
          </a:p>
        </p:txBody>
      </p:sp>
      <p:pic>
        <p:nvPicPr>
          <p:cNvPr id="36" name="图片 3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227354" y="5789897"/>
            <a:ext cx="527050" cy="527050"/>
          </a:xfrm>
          <a:prstGeom prst="rect">
            <a:avLst/>
          </a:prstGeom>
          <a:ln>
            <a:noFill/>
          </a:ln>
          <a:effectLst>
            <a:softEdge rad="0"/>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9.3 </a:t>
            </a:r>
            <a:r>
              <a:rPr lang="zh-CN" altLang="en-US" sz="2800" b="1" dirty="0">
                <a:solidFill>
                  <a:schemeClr val="bg1"/>
                </a:solidFill>
              </a:rPr>
              <a:t>提高磁盘</a:t>
            </a:r>
            <a:r>
              <a:rPr lang="en-US" altLang="zh-CN" sz="2800" b="1" dirty="0">
                <a:solidFill>
                  <a:schemeClr val="bg1"/>
                </a:solidFill>
              </a:rPr>
              <a:t>I/O</a:t>
            </a:r>
            <a:r>
              <a:rPr lang="zh-CN" altLang="en-US" sz="2800" b="1" dirty="0">
                <a:solidFill>
                  <a:schemeClr val="bg1"/>
                </a:solidFill>
              </a:rPr>
              <a:t>速度的途径</a:t>
            </a:r>
            <a:endParaRPr lang="zh-CN" altLang="en-US" sz="2800" b="1" dirty="0">
              <a:solidFill>
                <a:schemeClr val="bg1"/>
              </a:solidFill>
            </a:endParaRPr>
          </a:p>
        </p:txBody>
      </p:sp>
      <p:grpSp>
        <p:nvGrpSpPr>
          <p:cNvPr id="4" name="2723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128057"/>
            <a:ext cx="11531600" cy="5685553"/>
            <a:chOff x="660400" y="1128057"/>
            <a:chExt cx="11531600" cy="5685553"/>
          </a:xfrm>
        </p:grpSpPr>
        <p:sp>
          <p:nvSpPr>
            <p:cNvPr id="5" name="iṥlídè"/>
            <p:cNvSpPr/>
            <p:nvPr/>
          </p:nvSpPr>
          <p:spPr>
            <a:xfrm>
              <a:off x="6958245" y="1128057"/>
              <a:ext cx="5233755" cy="5008286"/>
            </a:xfrm>
            <a:prstGeom prst="rect">
              <a:avLst/>
            </a:prstGeom>
            <a:blipFill>
              <a:blip r:embed="rId2"/>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6" name="iṡļiḓe"/>
            <p:cNvGrpSpPr/>
            <p:nvPr/>
          </p:nvGrpSpPr>
          <p:grpSpPr>
            <a:xfrm>
              <a:off x="660400" y="1214478"/>
              <a:ext cx="5860530" cy="2443121"/>
              <a:chOff x="660400" y="1214478"/>
              <a:chExt cx="5860530" cy="2443121"/>
            </a:xfrm>
          </p:grpSpPr>
          <p:grpSp>
            <p:nvGrpSpPr>
              <p:cNvPr id="16" name="iSḻíḓè"/>
              <p:cNvGrpSpPr/>
              <p:nvPr/>
            </p:nvGrpSpPr>
            <p:grpSpPr>
              <a:xfrm>
                <a:off x="1530997" y="1214478"/>
                <a:ext cx="4989933" cy="2443121"/>
                <a:chOff x="1592242" y="1214478"/>
                <a:chExt cx="6293555" cy="2443121"/>
              </a:xfrm>
            </p:grpSpPr>
            <p:sp>
              <p:nvSpPr>
                <p:cNvPr id="21" name="îṧľîḋé"/>
                <p:cNvSpPr txBox="1"/>
                <p:nvPr/>
              </p:nvSpPr>
              <p:spPr>
                <a:xfrm>
                  <a:off x="1592242" y="1214478"/>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提高文件的访问速度</a:t>
                  </a:r>
                  <a:endParaRPr lang="zh-CN" altLang="en-US" sz="2400" dirty="0"/>
                </a:p>
              </p:txBody>
            </p:sp>
            <p:sp>
              <p:nvSpPr>
                <p:cNvPr id="22" name="íşļîḓé"/>
                <p:cNvSpPr/>
                <p:nvPr/>
              </p:nvSpPr>
              <p:spPr bwMode="auto">
                <a:xfrm>
                  <a:off x="1592242" y="1658200"/>
                  <a:ext cx="6186831" cy="1999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改进文件的目录结构以及检索目录的方法</a:t>
                  </a:r>
                  <a:endParaRPr lang="zh-CN" altLang="en-US" sz="24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选取好的文件存储结构</a:t>
                  </a:r>
                  <a:endParaRPr lang="zh-CN" altLang="en-US" sz="24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提高磁盘</a:t>
                  </a:r>
                  <a:r>
                    <a:rPr lang="en-US" altLang="zh-CN" sz="2400" dirty="0"/>
                    <a:t>I/O</a:t>
                  </a:r>
                  <a:r>
                    <a:rPr lang="zh-CN" altLang="en-US" sz="2400" dirty="0"/>
                    <a:t>速度</a:t>
                  </a:r>
                  <a:endParaRPr lang="zh-CN" altLang="en-US" sz="2400" dirty="0"/>
                </a:p>
              </p:txBody>
            </p:sp>
          </p:grpSp>
          <p:grpSp>
            <p:nvGrpSpPr>
              <p:cNvPr id="17" name="ïS1íḋé"/>
              <p:cNvGrpSpPr/>
              <p:nvPr/>
            </p:nvGrpSpPr>
            <p:grpSpPr>
              <a:xfrm>
                <a:off x="660400" y="1240976"/>
                <a:ext cx="733394" cy="733394"/>
                <a:chOff x="660400" y="1240976"/>
                <a:chExt cx="733394" cy="733394"/>
              </a:xfrm>
            </p:grpSpPr>
            <p:sp>
              <p:nvSpPr>
                <p:cNvPr id="18" name="islîḋe"/>
                <p:cNvSpPr/>
                <p:nvPr/>
              </p:nvSpPr>
              <p:spPr>
                <a:xfrm>
                  <a:off x="660400" y="1240976"/>
                  <a:ext cx="733394" cy="73339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9" name="îŝlîďe"/>
                <p:cNvSpPr/>
                <p:nvPr/>
              </p:nvSpPr>
              <p:spPr>
                <a:xfrm>
                  <a:off x="797603" y="1425847"/>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7" name="iŝļïḓê"/>
            <p:cNvGrpSpPr/>
            <p:nvPr/>
          </p:nvGrpSpPr>
          <p:grpSpPr>
            <a:xfrm>
              <a:off x="660400" y="3763656"/>
              <a:ext cx="5869408" cy="3049954"/>
              <a:chOff x="660400" y="1372312"/>
              <a:chExt cx="5869408" cy="3049954"/>
            </a:xfrm>
          </p:grpSpPr>
          <p:grpSp>
            <p:nvGrpSpPr>
              <p:cNvPr id="9" name="ïṧļïḓe"/>
              <p:cNvGrpSpPr/>
              <p:nvPr/>
            </p:nvGrpSpPr>
            <p:grpSpPr>
              <a:xfrm>
                <a:off x="1539875" y="1570058"/>
                <a:ext cx="4989933" cy="2852208"/>
                <a:chOff x="1603439" y="1570058"/>
                <a:chExt cx="6293555" cy="2852208"/>
              </a:xfrm>
            </p:grpSpPr>
            <p:sp>
              <p:nvSpPr>
                <p:cNvPr id="14" name="ïšļíďè"/>
                <p:cNvSpPr txBox="1"/>
                <p:nvPr/>
              </p:nvSpPr>
              <p:spPr>
                <a:xfrm>
                  <a:off x="1603439" y="1570058"/>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磁盘</a:t>
                  </a:r>
                  <a:r>
                    <a:rPr lang="en-US" altLang="zh-CN" sz="2400" dirty="0"/>
                    <a:t>I/O</a:t>
                  </a:r>
                  <a:r>
                    <a:rPr lang="zh-CN" altLang="en-US" sz="2400" dirty="0"/>
                    <a:t>速度远低于内存的访问速度，</a:t>
                  </a:r>
                  <a:r>
                    <a:rPr lang="zh-CN" altLang="en-US" sz="2400" dirty="0">
                      <a:solidFill>
                        <a:srgbClr val="FF0000"/>
                      </a:solidFill>
                    </a:rPr>
                    <a:t>已成为瓶颈</a:t>
                  </a:r>
                  <a:endParaRPr lang="zh-CN" altLang="en-US" sz="2400" dirty="0">
                    <a:solidFill>
                      <a:srgbClr val="FF0000"/>
                    </a:solidFill>
                  </a:endParaRPr>
                </a:p>
              </p:txBody>
            </p:sp>
            <p:sp>
              <p:nvSpPr>
                <p:cNvPr id="15" name="íşľíḑè"/>
                <p:cNvSpPr/>
                <p:nvPr/>
              </p:nvSpPr>
              <p:spPr bwMode="auto">
                <a:xfrm>
                  <a:off x="1603439" y="2218894"/>
                  <a:ext cx="6293555" cy="2203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spcBef>
                      <a:spcPts val="600"/>
                    </a:spcBef>
                    <a:buFont typeface="Wingdings" panose="05000000000000000000" pitchFamily="2" charset="2"/>
                    <a:buChar char="Ø"/>
                  </a:pPr>
                  <a:r>
                    <a:rPr lang="zh-CN" altLang="en-US" sz="2400" dirty="0"/>
                    <a:t>磁盘高速缓存</a:t>
                  </a:r>
                  <a:endParaRPr lang="zh-CN" altLang="en-US" sz="2400" dirty="0"/>
                </a:p>
                <a:p>
                  <a:pPr marL="342900" lvl="1" indent="-342900">
                    <a:spcBef>
                      <a:spcPts val="600"/>
                    </a:spcBef>
                    <a:buFont typeface="Wingdings" panose="05000000000000000000" pitchFamily="2" charset="2"/>
                    <a:buChar char="Ø"/>
                  </a:pPr>
                  <a:r>
                    <a:rPr lang="zh-CN" altLang="en-US" sz="2400" dirty="0"/>
                    <a:t>其他方法	</a:t>
                  </a:r>
                  <a:endParaRPr lang="zh-CN" altLang="en-US" sz="2400" dirty="0"/>
                </a:p>
                <a:p>
                  <a:pPr marL="800100" lvl="2" indent="-342900">
                    <a:spcBef>
                      <a:spcPts val="600"/>
                    </a:spcBef>
                    <a:buFont typeface="Wingdings" panose="05000000000000000000" pitchFamily="2" charset="2"/>
                    <a:buChar char="p"/>
                  </a:pPr>
                  <a:r>
                    <a:rPr lang="zh-CN" altLang="en-US" sz="2400" dirty="0"/>
                    <a:t>提前读、延迟写、优化物理块的分布、虚拟盘等</a:t>
                  </a:r>
                  <a:endParaRPr lang="zh-CN" altLang="en-US" sz="2400" dirty="0"/>
                </a:p>
              </p:txBody>
            </p:sp>
          </p:grpSp>
          <p:grpSp>
            <p:nvGrpSpPr>
              <p:cNvPr id="10" name="ïŝľídè"/>
              <p:cNvGrpSpPr/>
              <p:nvPr/>
            </p:nvGrpSpPr>
            <p:grpSpPr>
              <a:xfrm>
                <a:off x="660400" y="1372312"/>
                <a:ext cx="733394" cy="733394"/>
                <a:chOff x="660400" y="1372312"/>
                <a:chExt cx="733394" cy="733394"/>
              </a:xfrm>
            </p:grpSpPr>
            <p:sp>
              <p:nvSpPr>
                <p:cNvPr id="11" name="ïṡľïde"/>
                <p:cNvSpPr/>
                <p:nvPr/>
              </p:nvSpPr>
              <p:spPr>
                <a:xfrm>
                  <a:off x="660400" y="1372312"/>
                  <a:ext cx="733394" cy="73339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2" name="ïšliḍe"/>
                <p:cNvSpPr/>
                <p:nvPr/>
              </p:nvSpPr>
              <p:spPr>
                <a:xfrm>
                  <a:off x="806481" y="1583817"/>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9.3.1</a:t>
            </a:r>
            <a:r>
              <a:rPr lang="zh-CN" altLang="en-US" sz="2800" b="1" dirty="0">
                <a:solidFill>
                  <a:schemeClr val="bg1"/>
                </a:solidFill>
              </a:rPr>
              <a:t>磁盘高速缓存</a:t>
            </a:r>
            <a:endParaRPr lang="zh-CN" altLang="en-US" sz="2800" b="1" dirty="0">
              <a:solidFill>
                <a:schemeClr val="bg1"/>
              </a:solidFill>
            </a:endParaRPr>
          </a:p>
        </p:txBody>
      </p:sp>
      <p:sp>
        <p:nvSpPr>
          <p:cNvPr id="225" name="íšḻíḑê"/>
          <p:cNvSpPr/>
          <p:nvPr/>
        </p:nvSpPr>
        <p:spPr>
          <a:xfrm>
            <a:off x="1033947" y="1313068"/>
            <a:ext cx="7927445" cy="405747"/>
          </a:xfrm>
          <a:prstGeom prst="rect">
            <a:avLst/>
          </a:prstGeom>
          <a:noFill/>
          <a:ln>
            <a:noFill/>
          </a:ln>
        </p:spPr>
        <p:txBody>
          <a:bodyPr wrap="square" lIns="91440" tIns="45720" rIns="91440" bIns="45720" anchor="ctr" anchorCtr="0">
            <a:noAutofit/>
          </a:bodyPr>
          <a:lstStyle/>
          <a:p>
            <a:r>
              <a:rPr lang="zh-CN" altLang="en-US" sz="2400" dirty="0"/>
              <a:t>磁盘高</a:t>
            </a:r>
            <a:r>
              <a:rPr lang="zh-CN" altLang="en-US" sz="2400" dirty="0">
                <a:solidFill>
                  <a:srgbClr val="FF0000"/>
                </a:solidFill>
              </a:rPr>
              <a:t>速缓存</a:t>
            </a:r>
            <a:endParaRPr lang="zh-CN" altLang="en-US" sz="2400" dirty="0">
              <a:solidFill>
                <a:srgbClr val="FF0000"/>
              </a:solidFill>
            </a:endParaRPr>
          </a:p>
        </p:txBody>
      </p:sp>
      <p:sp>
        <p:nvSpPr>
          <p:cNvPr id="13" name="íSľïdé"/>
          <p:cNvSpPr/>
          <p:nvPr/>
        </p:nvSpPr>
        <p:spPr>
          <a:xfrm>
            <a:off x="1906927" y="1924829"/>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4" name="ïŝļíḓê"/>
          <p:cNvSpPr/>
          <p:nvPr/>
        </p:nvSpPr>
        <p:spPr bwMode="auto">
          <a:xfrm>
            <a:off x="8689292" y="2556677"/>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5" name="îṧľîdé"/>
          <p:cNvSpPr/>
          <p:nvPr/>
        </p:nvSpPr>
        <p:spPr>
          <a:xfrm>
            <a:off x="3703687" y="1765549"/>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16" name="内容占位符 2"/>
          <p:cNvSpPr txBox="1"/>
          <p:nvPr/>
        </p:nvSpPr>
        <p:spPr>
          <a:xfrm>
            <a:off x="894703" y="2556676"/>
            <a:ext cx="2808984" cy="258250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在内存中为磁盘盘块设置一个缓冲区，在该缓冲区中保存了某些盘块的副本</a:t>
            </a:r>
            <a:endParaRPr lang="zh-CN" altLang="en-US" sz="2400" dirty="0"/>
          </a:p>
        </p:txBody>
      </p:sp>
      <p:sp>
        <p:nvSpPr>
          <p:cNvPr id="17" name="内容占位符 2"/>
          <p:cNvSpPr txBox="1"/>
          <p:nvPr/>
        </p:nvSpPr>
        <p:spPr>
          <a:xfrm>
            <a:off x="7696200" y="3235045"/>
            <a:ext cx="4062082"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访问磁盘时，先查看内容是否已在磁盘高速缓存中，如果在，直接从缓存中获取；如果不在，需启动磁盘将需要的盘块读入内存，并送到缓存中</a:t>
            </a:r>
            <a:endParaRPr lang="zh-CN" alt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设计磁盘高速缓存需考虑的问题</a:t>
            </a:r>
            <a:endParaRPr lang="zh-CN" altLang="en-US" sz="2800" b="1" dirty="0">
              <a:solidFill>
                <a:schemeClr val="bg1"/>
              </a:solidFill>
            </a:endParaRPr>
          </a:p>
        </p:txBody>
      </p:sp>
      <p:sp>
        <p:nvSpPr>
          <p:cNvPr id="14" name="íšḻîḋè"/>
          <p:cNvSpPr/>
          <p:nvPr/>
        </p:nvSpPr>
        <p:spPr>
          <a:xfrm>
            <a:off x="1691207" y="3669413"/>
            <a:ext cx="9279222"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较常用算法：</a:t>
            </a:r>
            <a:r>
              <a:rPr lang="en-US" altLang="zh-CN" sz="2200" dirty="0">
                <a:solidFill>
                  <a:srgbClr val="FF0000"/>
                </a:solidFill>
              </a:rPr>
              <a:t>LRU</a:t>
            </a:r>
            <a:r>
              <a:rPr lang="zh-CN" altLang="en-US" sz="2200" dirty="0"/>
              <a:t>、</a:t>
            </a:r>
            <a:r>
              <a:rPr lang="en-US" altLang="zh-CN" sz="2200" dirty="0"/>
              <a:t>Clock</a:t>
            </a:r>
            <a:r>
              <a:rPr lang="zh-CN" altLang="en-US" sz="2200" dirty="0"/>
              <a:t>以及最少使用页面置换算法</a:t>
            </a:r>
            <a:endParaRPr lang="zh-CN" altLang="en-US" sz="2200" dirty="0"/>
          </a:p>
        </p:txBody>
      </p:sp>
      <p:sp>
        <p:nvSpPr>
          <p:cNvPr id="15" name="i$lîďê"/>
          <p:cNvSpPr/>
          <p:nvPr/>
        </p:nvSpPr>
        <p:spPr>
          <a:xfrm>
            <a:off x="1746842" y="3139244"/>
            <a:ext cx="3696051" cy="392877"/>
          </a:xfrm>
          <a:prstGeom prst="rect">
            <a:avLst/>
          </a:prstGeom>
          <a:noFill/>
          <a:ln>
            <a:noFill/>
          </a:ln>
        </p:spPr>
        <p:txBody>
          <a:bodyPr wrap="square" lIns="91440" tIns="45720" rIns="91440" bIns="45720" anchor="ctr" anchorCtr="0">
            <a:noAutofit/>
          </a:bodyPr>
          <a:lstStyle/>
          <a:p>
            <a:r>
              <a:rPr lang="zh-CN" altLang="en-US" sz="2400" dirty="0"/>
              <a:t>置换算法</a:t>
            </a:r>
            <a:endParaRPr lang="zh-CN" altLang="en-US" sz="2400" dirty="0"/>
          </a:p>
        </p:txBody>
      </p:sp>
      <p:sp>
        <p:nvSpPr>
          <p:cNvPr id="16" name="î$ļíḋè"/>
          <p:cNvSpPr/>
          <p:nvPr/>
        </p:nvSpPr>
        <p:spPr>
          <a:xfrm>
            <a:off x="1746844" y="4874322"/>
            <a:ext cx="9730290"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根据</a:t>
            </a:r>
            <a:r>
              <a:rPr lang="en-US" altLang="zh-CN" sz="2200" dirty="0"/>
              <a:t>LRU</a:t>
            </a:r>
            <a:r>
              <a:rPr lang="zh-CN" altLang="en-US" sz="2200" dirty="0"/>
              <a:t>算法，经常被访问的盘块数据可能会一直保留在缓存中，长期不会被写回磁盘</a:t>
            </a:r>
            <a:endParaRPr lang="zh-CN" altLang="en-US" sz="2200" dirty="0"/>
          </a:p>
          <a:p>
            <a:pPr marL="342900" indent="-342900">
              <a:lnSpc>
                <a:spcPct val="120000"/>
              </a:lnSpc>
              <a:buClr>
                <a:srgbClr val="FF0000"/>
              </a:buClr>
              <a:buFont typeface="Wingdings" panose="05000000000000000000" pitchFamily="2" charset="2"/>
              <a:buChar char="Ø"/>
            </a:pPr>
            <a:r>
              <a:rPr lang="en-US" altLang="zh-CN" sz="2200" dirty="0"/>
              <a:t>UNIX</a:t>
            </a:r>
            <a:r>
              <a:rPr lang="zh-CN" altLang="en-US" sz="2200" dirty="0"/>
              <a:t>系统增设了一个修改程序在后台运行，周期性写回磁盘</a:t>
            </a:r>
            <a:endParaRPr lang="zh-CN" altLang="en-US" sz="2200" dirty="0"/>
          </a:p>
        </p:txBody>
      </p:sp>
      <p:sp>
        <p:nvSpPr>
          <p:cNvPr id="17" name="ïṧḷïḋè"/>
          <p:cNvSpPr/>
          <p:nvPr/>
        </p:nvSpPr>
        <p:spPr>
          <a:xfrm>
            <a:off x="1746844" y="4361547"/>
            <a:ext cx="3696051" cy="415102"/>
          </a:xfrm>
          <a:prstGeom prst="rect">
            <a:avLst/>
          </a:prstGeom>
          <a:noFill/>
          <a:ln>
            <a:noFill/>
          </a:ln>
        </p:spPr>
        <p:txBody>
          <a:bodyPr wrap="square" lIns="91440" tIns="45720" rIns="91440" bIns="45720" anchor="ctr" anchorCtr="0">
            <a:noAutofit/>
          </a:bodyPr>
          <a:lstStyle/>
          <a:p>
            <a:r>
              <a:rPr lang="zh-CN" altLang="en-US" sz="2400" dirty="0"/>
              <a:t>周期性地写回磁盘</a:t>
            </a:r>
            <a:endParaRPr lang="zh-CN" altLang="en-US" sz="2400" dirty="0"/>
          </a:p>
        </p:txBody>
      </p:sp>
      <p:sp>
        <p:nvSpPr>
          <p:cNvPr id="18" name="îs1iďé"/>
          <p:cNvSpPr/>
          <p:nvPr/>
        </p:nvSpPr>
        <p:spPr>
          <a:xfrm>
            <a:off x="1821537" y="1830118"/>
            <a:ext cx="9711234" cy="1490610"/>
          </a:xfrm>
          <a:prstGeom prst="rect">
            <a:avLst/>
          </a:prstGeom>
          <a:noFill/>
          <a:ln>
            <a:noFill/>
          </a:ln>
        </p:spPr>
        <p:txBody>
          <a:bodyPr wrap="square" lIns="91440" tIns="45720" rIns="91440" bIns="45720" anchor="t" anchorCtr="0">
            <a:no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400" dirty="0"/>
              <a:t>数据交付：直接将磁盘高速缓存中的数据送到内存</a:t>
            </a:r>
            <a:endParaRPr lang="zh-CN" altLang="en-US" sz="2400" dirty="0"/>
          </a:p>
          <a:p>
            <a:pPr marL="342900" indent="-342900">
              <a:lnSpc>
                <a:spcPct val="120000"/>
              </a:lnSpc>
              <a:spcBef>
                <a:spcPts val="800"/>
              </a:spcBef>
              <a:buClr>
                <a:srgbClr val="FF0000"/>
              </a:buClr>
              <a:buFont typeface="Wingdings" panose="05000000000000000000" pitchFamily="2" charset="2"/>
              <a:buChar char="Ø"/>
            </a:pPr>
            <a:r>
              <a:rPr lang="zh-CN" altLang="en-US" sz="2400" dirty="0"/>
              <a:t>指针交付：只将指向磁盘高速缓存中某区域的指针交付给请求者进程</a:t>
            </a:r>
            <a:r>
              <a:rPr lang="en-US" altLang="zh-CN" sz="2400" dirty="0"/>
              <a:t>	</a:t>
            </a:r>
            <a:endParaRPr lang="zh-CN" altLang="en-US" sz="2400" dirty="0"/>
          </a:p>
        </p:txBody>
      </p:sp>
      <p:sp>
        <p:nvSpPr>
          <p:cNvPr id="19" name="íšḻíḑê"/>
          <p:cNvSpPr/>
          <p:nvPr/>
        </p:nvSpPr>
        <p:spPr>
          <a:xfrm>
            <a:off x="1802480" y="1361556"/>
            <a:ext cx="3696051" cy="405747"/>
          </a:xfrm>
          <a:prstGeom prst="rect">
            <a:avLst/>
          </a:prstGeom>
          <a:noFill/>
          <a:ln>
            <a:noFill/>
          </a:ln>
        </p:spPr>
        <p:txBody>
          <a:bodyPr wrap="square" lIns="91440" tIns="45720" rIns="91440" bIns="45720" anchor="ctr" anchorCtr="0">
            <a:noAutofit/>
          </a:bodyPr>
          <a:lstStyle/>
          <a:p>
            <a:r>
              <a:rPr lang="zh-CN" altLang="en-US" sz="2400" dirty="0"/>
              <a:t>数据交付方式</a:t>
            </a:r>
            <a:endParaRPr lang="zh-CN" altLang="en-US" sz="2400" dirty="0"/>
          </a:p>
        </p:txBody>
      </p:sp>
      <p:sp>
        <p:nvSpPr>
          <p:cNvPr id="21" name="îSļiḓè"/>
          <p:cNvSpPr/>
          <p:nvPr/>
        </p:nvSpPr>
        <p:spPr>
          <a:xfrm>
            <a:off x="1118977" y="134799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 name="íṥḻîḓe"/>
          <p:cNvSpPr/>
          <p:nvPr/>
        </p:nvSpPr>
        <p:spPr>
          <a:xfrm>
            <a:off x="1063340" y="4278945"/>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3" name="îşļiḓè"/>
          <p:cNvSpPr/>
          <p:nvPr/>
        </p:nvSpPr>
        <p:spPr>
          <a:xfrm>
            <a:off x="1063340" y="3038718"/>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4" name="îṡḷíďe"/>
          <p:cNvSpPr/>
          <p:nvPr/>
        </p:nvSpPr>
        <p:spPr>
          <a:xfrm>
            <a:off x="1309232" y="154413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5" name="íSlíḋe"/>
          <p:cNvSpPr/>
          <p:nvPr/>
        </p:nvSpPr>
        <p:spPr>
          <a:xfrm>
            <a:off x="1253594" y="3260735"/>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6" name="ïśḷïḓe"/>
          <p:cNvSpPr/>
          <p:nvPr/>
        </p:nvSpPr>
        <p:spPr>
          <a:xfrm>
            <a:off x="1282533" y="4468405"/>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9.3.2</a:t>
            </a:r>
            <a:r>
              <a:rPr lang="zh-CN" altLang="en-US" sz="2800" b="1" dirty="0">
                <a:solidFill>
                  <a:schemeClr val="bg1"/>
                </a:solidFill>
              </a:rPr>
              <a:t>提高磁盘</a:t>
            </a:r>
            <a:r>
              <a:rPr lang="en-US" altLang="zh-CN" sz="2800" b="1" dirty="0">
                <a:solidFill>
                  <a:schemeClr val="bg1"/>
                </a:solidFill>
              </a:rPr>
              <a:t>I/O</a:t>
            </a:r>
            <a:r>
              <a:rPr lang="zh-CN" altLang="en-US" sz="2800" b="1" dirty="0">
                <a:solidFill>
                  <a:schemeClr val="bg1"/>
                </a:solidFill>
              </a:rPr>
              <a:t>速度的其他方法</a:t>
            </a:r>
            <a:endParaRPr lang="zh-CN" altLang="en-US" sz="2800" b="1" dirty="0">
              <a:solidFill>
                <a:schemeClr val="bg1"/>
              </a:solidFill>
            </a:endParaRPr>
          </a:p>
        </p:txBody>
      </p:sp>
      <p:sp>
        <p:nvSpPr>
          <p:cNvPr id="31" name="内容占位符 2"/>
          <p:cNvSpPr txBox="1"/>
          <p:nvPr/>
        </p:nvSpPr>
        <p:spPr>
          <a:xfrm>
            <a:off x="1734478" y="1237477"/>
            <a:ext cx="5168423" cy="5232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t>提前读</a:t>
            </a:r>
            <a:endParaRPr lang="en-US" altLang="zh-CN" sz="2200" dirty="0"/>
          </a:p>
        </p:txBody>
      </p:sp>
      <p:sp>
        <p:nvSpPr>
          <p:cNvPr id="32" name="iśḷíḑe"/>
          <p:cNvSpPr/>
          <p:nvPr/>
        </p:nvSpPr>
        <p:spPr>
          <a:xfrm>
            <a:off x="784302" y="1317341"/>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01</a:t>
            </a:r>
            <a:endParaRPr lang="zh-CN" altLang="en-US" sz="2400" b="1" kern="0" dirty="0">
              <a:solidFill>
                <a:prstClr val="white"/>
              </a:solidFill>
            </a:endParaRPr>
          </a:p>
        </p:txBody>
      </p:sp>
      <p:sp>
        <p:nvSpPr>
          <p:cNvPr id="33" name="ïś1ïḑè"/>
          <p:cNvSpPr/>
          <p:nvPr/>
        </p:nvSpPr>
        <p:spPr>
          <a:xfrm>
            <a:off x="784302" y="2456743"/>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02</a:t>
            </a:r>
            <a:endParaRPr lang="zh-CN" altLang="en-US" sz="2400" b="1" kern="0" dirty="0">
              <a:solidFill>
                <a:prstClr val="white"/>
              </a:solidFill>
            </a:endParaRPr>
          </a:p>
        </p:txBody>
      </p:sp>
      <p:sp>
        <p:nvSpPr>
          <p:cNvPr id="34" name="iśḷíḑe"/>
          <p:cNvSpPr/>
          <p:nvPr/>
        </p:nvSpPr>
        <p:spPr>
          <a:xfrm>
            <a:off x="784302" y="3410574"/>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03</a:t>
            </a:r>
            <a:endParaRPr lang="zh-CN" altLang="en-US" sz="2400" b="1" kern="0" dirty="0">
              <a:solidFill>
                <a:prstClr val="white"/>
              </a:solidFill>
            </a:endParaRPr>
          </a:p>
        </p:txBody>
      </p:sp>
      <p:sp>
        <p:nvSpPr>
          <p:cNvPr id="35" name="ïś1ïḑè"/>
          <p:cNvSpPr/>
          <p:nvPr/>
        </p:nvSpPr>
        <p:spPr>
          <a:xfrm>
            <a:off x="784302" y="4867533"/>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04</a:t>
            </a:r>
            <a:endParaRPr lang="zh-CN" altLang="en-US" sz="2400" b="1" kern="0" dirty="0">
              <a:solidFill>
                <a:prstClr val="white"/>
              </a:solidFill>
            </a:endParaRPr>
          </a:p>
        </p:txBody>
      </p:sp>
      <p:sp>
        <p:nvSpPr>
          <p:cNvPr id="36" name="内容占位符 2"/>
          <p:cNvSpPr txBox="1"/>
          <p:nvPr/>
        </p:nvSpPr>
        <p:spPr>
          <a:xfrm>
            <a:off x="1281717" y="1768856"/>
            <a:ext cx="10410174" cy="62617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2000"/>
              </a:lnSpc>
              <a:buClr>
                <a:srgbClr val="0000FF"/>
              </a:buClr>
              <a:buFont typeface="Wingdings" panose="05000000000000000000" pitchFamily="2" charset="2"/>
              <a:buChar char="Ø"/>
            </a:pPr>
            <a:r>
              <a:rPr lang="zh-CN" altLang="en-US" sz="2200" dirty="0"/>
              <a:t>在读当前块的同时要求将下一个盘块（提前读的盘块）中的数据也读入缓冲区</a:t>
            </a:r>
            <a:endParaRPr lang="zh-CN" altLang="en-US" sz="2200" dirty="0"/>
          </a:p>
        </p:txBody>
      </p:sp>
      <p:sp>
        <p:nvSpPr>
          <p:cNvPr id="37" name="内容占位符 2"/>
          <p:cNvSpPr txBox="1"/>
          <p:nvPr/>
        </p:nvSpPr>
        <p:spPr>
          <a:xfrm>
            <a:off x="1734478" y="2296161"/>
            <a:ext cx="5168423" cy="5232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t>延迟写</a:t>
            </a:r>
            <a:endParaRPr lang="zh-CN" altLang="en-US" sz="2400" dirty="0"/>
          </a:p>
        </p:txBody>
      </p:sp>
      <p:sp>
        <p:nvSpPr>
          <p:cNvPr id="38" name="内容占位符 2"/>
          <p:cNvSpPr txBox="1"/>
          <p:nvPr/>
        </p:nvSpPr>
        <p:spPr>
          <a:xfrm>
            <a:off x="1281717" y="2827540"/>
            <a:ext cx="10410174" cy="62617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2000"/>
              </a:lnSpc>
              <a:buClr>
                <a:srgbClr val="0000FF"/>
              </a:buClr>
              <a:buFont typeface="Wingdings" panose="05000000000000000000" pitchFamily="2" charset="2"/>
              <a:buChar char="Ø"/>
            </a:pPr>
            <a:r>
              <a:rPr lang="zh-CN" altLang="en-US" sz="2200" dirty="0"/>
              <a:t>缓冲区中的数据延迟写回磁盘，</a:t>
            </a:r>
            <a:r>
              <a:rPr lang="zh-CN" altLang="en-US" sz="2200" dirty="0">
                <a:solidFill>
                  <a:srgbClr val="FF0000"/>
                </a:solidFill>
              </a:rPr>
              <a:t>已被广泛采用</a:t>
            </a:r>
            <a:endParaRPr lang="zh-CN" altLang="en-US" sz="2200" dirty="0">
              <a:solidFill>
                <a:srgbClr val="FF0000"/>
              </a:solidFill>
            </a:endParaRPr>
          </a:p>
        </p:txBody>
      </p:sp>
      <p:sp>
        <p:nvSpPr>
          <p:cNvPr id="39" name="内容占位符 2"/>
          <p:cNvSpPr txBox="1"/>
          <p:nvPr/>
        </p:nvSpPr>
        <p:spPr>
          <a:xfrm>
            <a:off x="1805499" y="3428632"/>
            <a:ext cx="5168423" cy="5232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t>优化物理块的分布</a:t>
            </a:r>
            <a:endParaRPr lang="zh-CN" altLang="en-US" sz="2400" dirty="0"/>
          </a:p>
        </p:txBody>
      </p:sp>
      <p:sp>
        <p:nvSpPr>
          <p:cNvPr id="40" name="内容占位符 2"/>
          <p:cNvSpPr txBox="1"/>
          <p:nvPr/>
        </p:nvSpPr>
        <p:spPr>
          <a:xfrm>
            <a:off x="1281717" y="3951853"/>
            <a:ext cx="10410174" cy="9404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2000"/>
              </a:lnSpc>
              <a:buClr>
                <a:srgbClr val="0000FF"/>
              </a:buClr>
              <a:buFont typeface="Wingdings" panose="05000000000000000000" pitchFamily="2" charset="2"/>
              <a:buChar char="Ø"/>
            </a:pPr>
            <a:r>
              <a:rPr lang="zh-CN" altLang="en-US" sz="2200" dirty="0"/>
              <a:t>为文件分配盘块时，优化盘块的分布，如将同属于一个文件的盘块安排在同一条磁道上或相邻的磁道上，减少磁头的移动距离</a:t>
            </a:r>
            <a:endParaRPr lang="zh-CN" altLang="en-US" sz="2200" dirty="0"/>
          </a:p>
        </p:txBody>
      </p:sp>
      <p:sp>
        <p:nvSpPr>
          <p:cNvPr id="41" name="内容占位符 2"/>
          <p:cNvSpPr txBox="1"/>
          <p:nvPr/>
        </p:nvSpPr>
        <p:spPr>
          <a:xfrm>
            <a:off x="1805499" y="4910571"/>
            <a:ext cx="5168423" cy="5232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t>虚拟盘</a:t>
            </a:r>
            <a:endParaRPr lang="zh-CN" altLang="en-US" sz="2400" dirty="0"/>
          </a:p>
        </p:txBody>
      </p:sp>
      <p:sp>
        <p:nvSpPr>
          <p:cNvPr id="42" name="内容占位符 2"/>
          <p:cNvSpPr txBox="1"/>
          <p:nvPr/>
        </p:nvSpPr>
        <p:spPr>
          <a:xfrm>
            <a:off x="1281717" y="5433792"/>
            <a:ext cx="10410174" cy="60302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2000"/>
              </a:lnSpc>
              <a:buClr>
                <a:srgbClr val="0000FF"/>
              </a:buClr>
              <a:buFont typeface="Wingdings" panose="05000000000000000000" pitchFamily="2" charset="2"/>
              <a:buChar char="Ø"/>
            </a:pPr>
            <a:r>
              <a:rPr lang="zh-CN" altLang="en-US" sz="2200" dirty="0"/>
              <a:t>利用内存空间仿真磁盘（虚拟盘，</a:t>
            </a:r>
            <a:r>
              <a:rPr lang="en-US" altLang="zh-CN" sz="2200" dirty="0"/>
              <a:t>RAM</a:t>
            </a:r>
            <a:r>
              <a:rPr lang="zh-CN" altLang="en-US" sz="2200" dirty="0"/>
              <a:t>盘）</a:t>
            </a:r>
            <a:endParaRPr lang="zh-CN" altLang="en-US" sz="2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9.3.3 </a:t>
            </a:r>
            <a:r>
              <a:rPr lang="zh-CN" altLang="en-US" sz="2800" b="1" dirty="0">
                <a:solidFill>
                  <a:schemeClr val="bg1"/>
                </a:solidFill>
              </a:rPr>
              <a:t>廉价磁盘冗余阵列</a:t>
            </a:r>
            <a:endParaRPr lang="zh-CN" altLang="en-US" sz="2800" b="1" dirty="0">
              <a:solidFill>
                <a:schemeClr val="bg1"/>
              </a:solidFill>
            </a:endParaRPr>
          </a:p>
        </p:txBody>
      </p:sp>
      <p:sp>
        <p:nvSpPr>
          <p:cNvPr id="25" name="i$lîďê"/>
          <p:cNvSpPr/>
          <p:nvPr/>
        </p:nvSpPr>
        <p:spPr>
          <a:xfrm>
            <a:off x="1802479" y="2507781"/>
            <a:ext cx="9818391" cy="627867"/>
          </a:xfrm>
          <a:prstGeom prst="rect">
            <a:avLst/>
          </a:prstGeom>
          <a:noFill/>
          <a:ln>
            <a:noFill/>
          </a:ln>
        </p:spPr>
        <p:txBody>
          <a:bodyPr wrap="square" lIns="91440" tIns="45720" rIns="91440" bIns="45720" anchor="ctr" anchorCtr="0">
            <a:noAutofit/>
          </a:bodyPr>
          <a:lstStyle/>
          <a:p>
            <a:r>
              <a:rPr lang="en-US" altLang="zh-CN" sz="2400" dirty="0"/>
              <a:t>RAID</a:t>
            </a:r>
            <a:r>
              <a:rPr lang="zh-CN" altLang="en-US" sz="2400" dirty="0"/>
              <a:t>利用一台磁盘阵列控制器来统一管理和控制一组（几台到几十台）磁盘驱动器，进而组成一个大型磁盘系统</a:t>
            </a:r>
            <a:endParaRPr lang="zh-CN" altLang="en-US" sz="2400" dirty="0"/>
          </a:p>
        </p:txBody>
      </p:sp>
      <p:sp>
        <p:nvSpPr>
          <p:cNvPr id="31" name="ïṧḷïḋè"/>
          <p:cNvSpPr/>
          <p:nvPr/>
        </p:nvSpPr>
        <p:spPr>
          <a:xfrm>
            <a:off x="1802481" y="4918871"/>
            <a:ext cx="3696051" cy="415102"/>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优点：</a:t>
            </a:r>
            <a:endParaRPr lang="zh-CN" altLang="en-US" sz="2400" dirty="0">
              <a:solidFill>
                <a:srgbClr val="0000FF"/>
              </a:solidFill>
            </a:endParaRPr>
          </a:p>
        </p:txBody>
      </p:sp>
      <p:sp>
        <p:nvSpPr>
          <p:cNvPr id="32" name="îs1iďé"/>
          <p:cNvSpPr/>
          <p:nvPr/>
        </p:nvSpPr>
        <p:spPr>
          <a:xfrm>
            <a:off x="1802479" y="3260266"/>
            <a:ext cx="9711234" cy="1490610"/>
          </a:xfrm>
          <a:prstGeom prst="rect">
            <a:avLst/>
          </a:prstGeom>
          <a:noFill/>
          <a:ln>
            <a:noFill/>
          </a:ln>
        </p:spPr>
        <p:txBody>
          <a:bodyPr wrap="square" lIns="91440" tIns="45720" rIns="91440" bIns="45720" anchor="t" anchorCtr="0">
            <a:noAutofit/>
          </a:bodyPr>
          <a:lstStyle/>
          <a:p>
            <a:pPr marL="342900" indent="-342900">
              <a:lnSpc>
                <a:spcPct val="120000"/>
              </a:lnSpc>
              <a:spcBef>
                <a:spcPts val="400"/>
              </a:spcBef>
              <a:buClr>
                <a:srgbClr val="FF0000"/>
              </a:buClr>
              <a:buFont typeface="Wingdings" panose="05000000000000000000" pitchFamily="2" charset="2"/>
              <a:buChar char="Ø"/>
            </a:pPr>
            <a:r>
              <a:rPr lang="zh-CN" altLang="en-US" sz="2200" dirty="0"/>
              <a:t>大幅度增加了磁盘的容量</a:t>
            </a:r>
            <a:endParaRPr lang="zh-CN" altLang="en-US" sz="2200" dirty="0"/>
          </a:p>
          <a:p>
            <a:pPr marL="342900" indent="-342900">
              <a:lnSpc>
                <a:spcPct val="120000"/>
              </a:lnSpc>
              <a:spcBef>
                <a:spcPts val="400"/>
              </a:spcBef>
              <a:buClr>
                <a:srgbClr val="FF0000"/>
              </a:buClr>
              <a:buFont typeface="Wingdings" panose="05000000000000000000" pitchFamily="2" charset="2"/>
              <a:buChar char="Ø"/>
            </a:pPr>
            <a:r>
              <a:rPr lang="zh-CN" altLang="en-US" sz="2200" dirty="0"/>
              <a:t>提高了磁盘的</a:t>
            </a:r>
            <a:r>
              <a:rPr lang="en-US" altLang="zh-CN" sz="2200" dirty="0"/>
              <a:t>I/O</a:t>
            </a:r>
            <a:r>
              <a:rPr lang="zh-CN" altLang="en-US" sz="2200" dirty="0"/>
              <a:t>速度</a:t>
            </a:r>
            <a:endParaRPr lang="zh-CN" altLang="en-US" sz="2200" dirty="0"/>
          </a:p>
          <a:p>
            <a:pPr marL="342900" indent="-342900">
              <a:lnSpc>
                <a:spcPct val="120000"/>
              </a:lnSpc>
              <a:spcBef>
                <a:spcPts val="400"/>
              </a:spcBef>
              <a:buClr>
                <a:srgbClr val="FF0000"/>
              </a:buClr>
              <a:buFont typeface="Wingdings" panose="05000000000000000000" pitchFamily="2" charset="2"/>
              <a:buChar char="Ø"/>
            </a:pPr>
            <a:r>
              <a:rPr lang="zh-CN" altLang="en-US" sz="2200" dirty="0"/>
              <a:t>提高了磁盘系统的可靠性</a:t>
            </a:r>
            <a:endParaRPr lang="zh-CN" altLang="en-US" sz="2200" dirty="0"/>
          </a:p>
        </p:txBody>
      </p:sp>
      <p:sp>
        <p:nvSpPr>
          <p:cNvPr id="33" name="íšḻíḑê"/>
          <p:cNvSpPr/>
          <p:nvPr/>
        </p:nvSpPr>
        <p:spPr>
          <a:xfrm>
            <a:off x="1802480" y="1361556"/>
            <a:ext cx="9463283" cy="405747"/>
          </a:xfrm>
          <a:prstGeom prst="rect">
            <a:avLst/>
          </a:prstGeom>
          <a:noFill/>
          <a:ln>
            <a:noFill/>
          </a:ln>
        </p:spPr>
        <p:txBody>
          <a:bodyPr wrap="square" lIns="91440" tIns="45720" rIns="91440" bIns="45720" anchor="ctr" anchorCtr="0">
            <a:noAutofit/>
          </a:bodyPr>
          <a:lstStyle/>
          <a:p>
            <a:r>
              <a:rPr lang="zh-CN" altLang="en-US" sz="2400" dirty="0"/>
              <a:t>由多个小磁盘所组成的一个容量很大的</a:t>
            </a:r>
            <a:r>
              <a:rPr lang="zh-CN" altLang="en-US" sz="2400" dirty="0">
                <a:solidFill>
                  <a:srgbClr val="FF0000"/>
                </a:solidFill>
              </a:rPr>
              <a:t>廉价磁盘冗余阵列</a:t>
            </a:r>
            <a:r>
              <a:rPr lang="en-US" altLang="zh-CN" sz="2400" dirty="0">
                <a:solidFill>
                  <a:srgbClr val="FF0000"/>
                </a:solidFill>
              </a:rPr>
              <a:t>RAID</a:t>
            </a:r>
            <a:endParaRPr lang="en-US" altLang="zh-CN" sz="2400" dirty="0">
              <a:solidFill>
                <a:srgbClr val="FF0000"/>
              </a:solidFill>
            </a:endParaRPr>
          </a:p>
        </p:txBody>
      </p:sp>
      <p:sp>
        <p:nvSpPr>
          <p:cNvPr id="37" name="îSļiḓè"/>
          <p:cNvSpPr/>
          <p:nvPr/>
        </p:nvSpPr>
        <p:spPr>
          <a:xfrm>
            <a:off x="1118977" y="134799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8" name="íṥḻîḓe"/>
          <p:cNvSpPr/>
          <p:nvPr/>
        </p:nvSpPr>
        <p:spPr>
          <a:xfrm>
            <a:off x="1118977" y="483626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9" name="îşļiḓè"/>
          <p:cNvSpPr/>
          <p:nvPr/>
        </p:nvSpPr>
        <p:spPr>
          <a:xfrm>
            <a:off x="1118977" y="2407255"/>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0" name="îṡḷíďe"/>
          <p:cNvSpPr/>
          <p:nvPr/>
        </p:nvSpPr>
        <p:spPr>
          <a:xfrm>
            <a:off x="1309232" y="154413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41" name="íSlíḋe"/>
          <p:cNvSpPr/>
          <p:nvPr/>
        </p:nvSpPr>
        <p:spPr>
          <a:xfrm>
            <a:off x="1309231" y="2629272"/>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42" name="ïśḷïḓe"/>
          <p:cNvSpPr/>
          <p:nvPr/>
        </p:nvSpPr>
        <p:spPr>
          <a:xfrm>
            <a:off x="1338170" y="5025729"/>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1" name="îs1iďé"/>
          <p:cNvSpPr/>
          <p:nvPr/>
        </p:nvSpPr>
        <p:spPr>
          <a:xfrm>
            <a:off x="1802479" y="5441463"/>
            <a:ext cx="2706075" cy="506573"/>
          </a:xfrm>
          <a:prstGeom prst="rect">
            <a:avLst/>
          </a:prstGeom>
          <a:noFill/>
          <a:ln>
            <a:noFill/>
          </a:ln>
        </p:spPr>
        <p:txBody>
          <a:bodyPr wrap="square" lIns="91440" tIns="45720" rIns="91440" bIns="45720" anchor="t" anchorCtr="0">
            <a:noAutofit/>
          </a:bodyPr>
          <a:lstStyle/>
          <a:p>
            <a:pPr marL="342900" indent="-342900">
              <a:lnSpc>
                <a:spcPct val="120000"/>
              </a:lnSpc>
              <a:spcBef>
                <a:spcPts val="400"/>
              </a:spcBef>
              <a:buClr>
                <a:srgbClr val="FF0000"/>
              </a:buClr>
              <a:buFont typeface="Wingdings" panose="05000000000000000000" pitchFamily="2" charset="2"/>
              <a:buChar char="Ø"/>
            </a:pPr>
            <a:r>
              <a:rPr lang="zh-CN" altLang="en-US" sz="2200" dirty="0"/>
              <a:t>可靠性高</a:t>
            </a:r>
            <a:endParaRPr lang="zh-CN" altLang="en-US" sz="2200" dirty="0"/>
          </a:p>
        </p:txBody>
      </p:sp>
      <p:sp>
        <p:nvSpPr>
          <p:cNvPr id="22" name="îs1iďé"/>
          <p:cNvSpPr/>
          <p:nvPr/>
        </p:nvSpPr>
        <p:spPr>
          <a:xfrm>
            <a:off x="4145494" y="5441463"/>
            <a:ext cx="2706075" cy="593482"/>
          </a:xfrm>
          <a:prstGeom prst="rect">
            <a:avLst/>
          </a:prstGeom>
          <a:noFill/>
          <a:ln>
            <a:noFill/>
          </a:ln>
        </p:spPr>
        <p:txBody>
          <a:bodyPr wrap="square" lIns="91440" tIns="45720" rIns="91440" bIns="45720" anchor="t" anchorCtr="0">
            <a:noAutofit/>
          </a:bodyPr>
          <a:lstStyle/>
          <a:p>
            <a:pPr marL="342900" indent="-342900">
              <a:lnSpc>
                <a:spcPct val="120000"/>
              </a:lnSpc>
              <a:spcBef>
                <a:spcPts val="400"/>
              </a:spcBef>
              <a:buClr>
                <a:srgbClr val="FF0000"/>
              </a:buClr>
              <a:buFont typeface="Wingdings" panose="05000000000000000000" pitchFamily="2" charset="2"/>
              <a:buChar char="Ø"/>
            </a:pPr>
            <a:r>
              <a:rPr lang="zh-CN" altLang="en-US" sz="2200" dirty="0"/>
              <a:t>磁盘</a:t>
            </a:r>
            <a:r>
              <a:rPr lang="en-US" altLang="zh-CN" sz="2200" dirty="0"/>
              <a:t>I/O</a:t>
            </a:r>
            <a:r>
              <a:rPr lang="zh-CN" altLang="en-US" sz="2200" dirty="0"/>
              <a:t>速度快</a:t>
            </a:r>
            <a:endParaRPr lang="zh-CN" altLang="en-US" sz="2200" dirty="0"/>
          </a:p>
        </p:txBody>
      </p:sp>
      <p:sp>
        <p:nvSpPr>
          <p:cNvPr id="24" name="îs1iďé"/>
          <p:cNvSpPr/>
          <p:nvPr/>
        </p:nvSpPr>
        <p:spPr>
          <a:xfrm>
            <a:off x="7038690" y="5441463"/>
            <a:ext cx="2706075" cy="593482"/>
          </a:xfrm>
          <a:prstGeom prst="rect">
            <a:avLst/>
          </a:prstGeom>
          <a:noFill/>
          <a:ln>
            <a:noFill/>
          </a:ln>
        </p:spPr>
        <p:txBody>
          <a:bodyPr wrap="square" lIns="91440" tIns="45720" rIns="91440" bIns="45720" anchor="t" anchorCtr="0">
            <a:noAutofit/>
          </a:bodyPr>
          <a:lstStyle/>
          <a:p>
            <a:pPr marL="342900" indent="-342900">
              <a:lnSpc>
                <a:spcPct val="120000"/>
              </a:lnSpc>
              <a:spcBef>
                <a:spcPts val="400"/>
              </a:spcBef>
              <a:buClr>
                <a:srgbClr val="FF0000"/>
              </a:buClr>
              <a:buFont typeface="Wingdings" panose="05000000000000000000" pitchFamily="2" charset="2"/>
              <a:buChar char="Ø"/>
            </a:pPr>
            <a:r>
              <a:rPr lang="zh-CN" altLang="en-US" sz="2200" dirty="0"/>
              <a:t>性价比高</a:t>
            </a:r>
            <a:endParaRPr lang="zh-CN" altLang="en-US" sz="2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RAID</a:t>
            </a:r>
            <a:r>
              <a:rPr lang="zh-CN" altLang="en-US" sz="2800" b="1" dirty="0">
                <a:solidFill>
                  <a:schemeClr val="bg1"/>
                </a:solidFill>
              </a:rPr>
              <a:t>的技术</a:t>
            </a:r>
            <a:endParaRPr lang="zh-CN" altLang="en-US" sz="2800" b="1" dirty="0">
              <a:solidFill>
                <a:schemeClr val="bg1"/>
              </a:solidFill>
            </a:endParaRPr>
          </a:p>
        </p:txBody>
      </p:sp>
      <p:sp>
        <p:nvSpPr>
          <p:cNvPr id="8" name="内容占位符 2"/>
          <p:cNvSpPr txBox="1"/>
          <p:nvPr/>
        </p:nvSpPr>
        <p:spPr>
          <a:xfrm>
            <a:off x="669925" y="1037768"/>
            <a:ext cx="3396048" cy="65261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并行交叉存取</a:t>
            </a:r>
            <a:endParaRPr lang="zh-CN" altLang="en-US" sz="2400" dirty="0"/>
          </a:p>
        </p:txBody>
      </p:sp>
      <p:sp>
        <p:nvSpPr>
          <p:cNvPr id="23" name="îs1iďé"/>
          <p:cNvSpPr/>
          <p:nvPr/>
        </p:nvSpPr>
        <p:spPr>
          <a:xfrm>
            <a:off x="669924" y="1657690"/>
            <a:ext cx="11048599" cy="2585836"/>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400" dirty="0"/>
              <a:t>系统将每一盘块中的数据分为若干个子盘块数据，再把每一子盘块的数据分别存储到不同磁盘中的相同位置上</a:t>
            </a:r>
            <a:endParaRPr lang="zh-CN" altLang="en-US" sz="2400" dirty="0"/>
          </a:p>
          <a:p>
            <a:pPr marL="342900" indent="-342900">
              <a:lnSpc>
                <a:spcPct val="120000"/>
              </a:lnSpc>
              <a:spcBef>
                <a:spcPts val="600"/>
              </a:spcBef>
              <a:buClr>
                <a:srgbClr val="FF0000"/>
              </a:buClr>
              <a:buFont typeface="Wingdings" panose="05000000000000000000" pitchFamily="2" charset="2"/>
              <a:buChar char="Ø"/>
            </a:pPr>
            <a:r>
              <a:rPr lang="zh-CN" altLang="en-US" sz="2400" dirty="0"/>
              <a:t>当要将一个盘块的数据传送到内存时，采取并行传输方式，将各个盘块中的子盘块数据同时向内存中传输</a:t>
            </a:r>
            <a:endParaRPr lang="zh-CN" altLang="en-US" sz="2400" dirty="0"/>
          </a:p>
          <a:p>
            <a:pPr marL="342900" indent="-342900">
              <a:lnSpc>
                <a:spcPct val="120000"/>
              </a:lnSpc>
              <a:spcBef>
                <a:spcPts val="600"/>
              </a:spcBef>
              <a:buClr>
                <a:srgbClr val="FF0000"/>
              </a:buClr>
              <a:buFont typeface="Wingdings" panose="05000000000000000000" pitchFamily="2" charset="2"/>
              <a:buChar char="Ø"/>
            </a:pPr>
            <a:r>
              <a:rPr lang="zh-CN" altLang="en-US" sz="2400" dirty="0"/>
              <a:t>传输时间大大减少</a:t>
            </a:r>
            <a:endParaRPr lang="zh-CN" altLang="en-US" sz="2400" dirty="0"/>
          </a:p>
        </p:txBody>
      </p:sp>
      <p:pic>
        <p:nvPicPr>
          <p:cNvPr id="24" name="图片 23"/>
          <p:cNvPicPr>
            <a:picLocks noChangeAspect="1"/>
          </p:cNvPicPr>
          <p:nvPr/>
        </p:nvPicPr>
        <p:blipFill>
          <a:blip r:embed="rId1">
            <a:clrChange>
              <a:clrFrom>
                <a:srgbClr val="FFFFFF"/>
              </a:clrFrom>
              <a:clrTo>
                <a:srgbClr val="FFFFFF">
                  <a:alpha val="0"/>
                </a:srgbClr>
              </a:clrTo>
            </a:clrChange>
          </a:blip>
          <a:stretch>
            <a:fillRect/>
          </a:stretch>
        </p:blipFill>
        <p:spPr>
          <a:xfrm>
            <a:off x="1107500" y="3899494"/>
            <a:ext cx="10173446" cy="2601632"/>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RAID</a:t>
            </a:r>
            <a:r>
              <a:rPr lang="zh-CN" altLang="en-US" sz="2800" b="1" dirty="0">
                <a:solidFill>
                  <a:schemeClr val="bg1"/>
                </a:solidFill>
              </a:rPr>
              <a:t>的分级</a:t>
            </a:r>
            <a:endParaRPr lang="zh-CN" altLang="en-US" sz="2800" b="1" dirty="0">
              <a:solidFill>
                <a:schemeClr val="bg1"/>
              </a:solidFill>
            </a:endParaRPr>
          </a:p>
        </p:txBody>
      </p:sp>
      <p:sp>
        <p:nvSpPr>
          <p:cNvPr id="8" name="内容占位符 2"/>
          <p:cNvSpPr txBox="1"/>
          <p:nvPr/>
        </p:nvSpPr>
        <p:spPr>
          <a:xfrm>
            <a:off x="669925" y="1037768"/>
            <a:ext cx="4630044" cy="65261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en-US" altLang="zh-CN" sz="2400" dirty="0"/>
              <a:t>RAID</a:t>
            </a:r>
            <a:r>
              <a:rPr lang="zh-CN" altLang="en-US" sz="2400" dirty="0"/>
              <a:t>被分成了多个不同级别。</a:t>
            </a:r>
            <a:endParaRPr lang="zh-CN" altLang="en-US" sz="2400" dirty="0"/>
          </a:p>
        </p:txBody>
      </p:sp>
      <p:sp>
        <p:nvSpPr>
          <p:cNvPr id="23" name="îs1iďé"/>
          <p:cNvSpPr/>
          <p:nvPr/>
        </p:nvSpPr>
        <p:spPr>
          <a:xfrm>
            <a:off x="669925" y="1579022"/>
            <a:ext cx="4931885" cy="5200310"/>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en-US" altLang="zh-CN" sz="2400" dirty="0"/>
              <a:t>RAID0~RAID7</a:t>
            </a:r>
            <a:endParaRPr lang="en-US" altLang="zh-CN" sz="2400" dirty="0"/>
          </a:p>
          <a:p>
            <a:pPr marL="342900" indent="-342900">
              <a:lnSpc>
                <a:spcPct val="120000"/>
              </a:lnSpc>
              <a:spcBef>
                <a:spcPts val="600"/>
              </a:spcBef>
              <a:buClr>
                <a:srgbClr val="FF0000"/>
              </a:buClr>
              <a:buFont typeface="Wingdings" panose="05000000000000000000" pitchFamily="2" charset="2"/>
              <a:buChar char="Ø"/>
            </a:pPr>
            <a:r>
              <a:rPr lang="en-US" altLang="zh-CN" sz="2400" dirty="0"/>
              <a:t>RAID 0</a:t>
            </a:r>
            <a:r>
              <a:rPr lang="zh-CN" altLang="en-US" sz="2400" dirty="0"/>
              <a:t>：</a:t>
            </a:r>
            <a:endParaRPr lang="zh-CN" altLang="en-US" sz="2400" dirty="0"/>
          </a:p>
          <a:p>
            <a:pPr marL="800100" lvl="1" indent="-342900">
              <a:lnSpc>
                <a:spcPct val="120000"/>
              </a:lnSpc>
              <a:spcBef>
                <a:spcPts val="600"/>
              </a:spcBef>
              <a:buClr>
                <a:srgbClr val="FF0000"/>
              </a:buClr>
              <a:buFont typeface="Wingdings" panose="05000000000000000000" pitchFamily="2" charset="2"/>
              <a:buChar char="l"/>
            </a:pPr>
            <a:r>
              <a:rPr lang="zh-CN" altLang="en-US" sz="2400" dirty="0"/>
              <a:t>数据分散在多个磁盘上；</a:t>
            </a:r>
            <a:endParaRPr lang="zh-CN" altLang="en-US" sz="2400" dirty="0"/>
          </a:p>
          <a:p>
            <a:pPr marL="800100" lvl="1" indent="-342900">
              <a:lnSpc>
                <a:spcPct val="120000"/>
              </a:lnSpc>
              <a:spcBef>
                <a:spcPts val="600"/>
              </a:spcBef>
              <a:buClr>
                <a:srgbClr val="FF0000"/>
              </a:buClr>
              <a:buFont typeface="Wingdings" panose="05000000000000000000" pitchFamily="2" charset="2"/>
              <a:buChar char="l"/>
            </a:pPr>
            <a:r>
              <a:rPr lang="zh-CN" altLang="en-US" sz="2400" dirty="0"/>
              <a:t>条状分散技术；</a:t>
            </a:r>
            <a:endParaRPr lang="zh-CN" altLang="en-US" sz="2400" dirty="0"/>
          </a:p>
          <a:p>
            <a:pPr marL="342900" indent="-342900">
              <a:lnSpc>
                <a:spcPct val="120000"/>
              </a:lnSpc>
              <a:spcBef>
                <a:spcPts val="600"/>
              </a:spcBef>
              <a:buClr>
                <a:srgbClr val="FF0000"/>
              </a:buClr>
              <a:buFont typeface="Wingdings" panose="05000000000000000000" pitchFamily="2" charset="2"/>
              <a:buChar char="Ø"/>
            </a:pPr>
            <a:r>
              <a:rPr lang="en-US" altLang="zh-CN" sz="2400" dirty="0"/>
              <a:t>RAID 1</a:t>
            </a:r>
            <a:r>
              <a:rPr lang="zh-CN" altLang="en-US" sz="2400" dirty="0"/>
              <a:t>：</a:t>
            </a:r>
            <a:endParaRPr lang="zh-CN" altLang="en-US" sz="2400" dirty="0"/>
          </a:p>
          <a:p>
            <a:pPr marL="800100" lvl="1" indent="-342900">
              <a:lnSpc>
                <a:spcPct val="120000"/>
              </a:lnSpc>
              <a:spcBef>
                <a:spcPts val="600"/>
              </a:spcBef>
              <a:buClr>
                <a:srgbClr val="FF0000"/>
              </a:buClr>
              <a:buFont typeface="Wingdings" panose="05000000000000000000" pitchFamily="2" charset="2"/>
              <a:buChar char="l"/>
            </a:pPr>
            <a:r>
              <a:rPr lang="zh-CN" altLang="en-US" sz="2400" dirty="0"/>
              <a:t>磁盘镜像；</a:t>
            </a:r>
            <a:endParaRPr lang="zh-CN" altLang="en-US" sz="2400" dirty="0"/>
          </a:p>
          <a:p>
            <a:pPr marL="342900" indent="-342900">
              <a:lnSpc>
                <a:spcPct val="120000"/>
              </a:lnSpc>
              <a:spcBef>
                <a:spcPts val="600"/>
              </a:spcBef>
              <a:buClr>
                <a:srgbClr val="FF0000"/>
              </a:buClr>
              <a:buFont typeface="Wingdings" panose="05000000000000000000" pitchFamily="2" charset="2"/>
              <a:buChar char="Ø"/>
            </a:pPr>
            <a:r>
              <a:rPr lang="en-US" altLang="zh-CN" sz="2400" dirty="0"/>
              <a:t>RAID 5</a:t>
            </a:r>
            <a:r>
              <a:rPr lang="zh-CN" altLang="en-US" sz="2400" dirty="0"/>
              <a:t>：</a:t>
            </a:r>
            <a:endParaRPr lang="zh-CN" altLang="en-US" sz="2400" dirty="0"/>
          </a:p>
          <a:p>
            <a:pPr marL="800100" lvl="1" indent="-342900">
              <a:lnSpc>
                <a:spcPct val="120000"/>
              </a:lnSpc>
              <a:spcBef>
                <a:spcPts val="600"/>
              </a:spcBef>
              <a:buClr>
                <a:srgbClr val="FF0000"/>
              </a:buClr>
              <a:buFont typeface="Wingdings" panose="05000000000000000000" pitchFamily="2" charset="2"/>
              <a:buChar char="l"/>
            </a:pPr>
            <a:r>
              <a:rPr lang="zh-CN" altLang="en-US" sz="2400" dirty="0"/>
              <a:t>分散</a:t>
            </a:r>
            <a:r>
              <a:rPr lang="en-US" altLang="zh-CN" sz="2400" dirty="0"/>
              <a:t>+</a:t>
            </a:r>
            <a:r>
              <a:rPr lang="zh-CN" altLang="en-US" sz="2400" dirty="0"/>
              <a:t>校验；</a:t>
            </a:r>
            <a:endParaRPr lang="zh-CN" altLang="en-US" sz="2400" dirty="0"/>
          </a:p>
          <a:p>
            <a:pPr marL="800100" lvl="1" indent="-342900">
              <a:lnSpc>
                <a:spcPct val="120000"/>
              </a:lnSpc>
              <a:spcBef>
                <a:spcPts val="600"/>
              </a:spcBef>
              <a:buClr>
                <a:srgbClr val="FF0000"/>
              </a:buClr>
              <a:buFont typeface="Wingdings" panose="05000000000000000000" pitchFamily="2" charset="2"/>
              <a:buChar char="l"/>
            </a:pPr>
            <a:r>
              <a:rPr lang="zh-CN" altLang="en-US" sz="2400" dirty="0"/>
              <a:t>校验信息分散在各个磁盘。</a:t>
            </a:r>
            <a:endParaRPr lang="zh-CN" altLang="en-US" sz="2400" dirty="0"/>
          </a:p>
        </p:txBody>
      </p:sp>
      <p:sp>
        <p:nvSpPr>
          <p:cNvPr id="6" name="îs1iďé"/>
          <p:cNvSpPr/>
          <p:nvPr/>
        </p:nvSpPr>
        <p:spPr>
          <a:xfrm>
            <a:off x="2889789" y="4161757"/>
            <a:ext cx="2801244" cy="523220"/>
          </a:xfrm>
          <a:prstGeom prst="rect">
            <a:avLst/>
          </a:prstGeom>
          <a:noFill/>
          <a:ln>
            <a:noFill/>
          </a:ln>
        </p:spPr>
        <p:txBody>
          <a:bodyPr wrap="square" lIns="91440" tIns="45720" rIns="91440" bIns="45720" anchor="t" anchorCtr="0">
            <a:noAutofit/>
          </a:bodyPr>
          <a:lstStyle/>
          <a:p>
            <a:pPr marL="800100" lvl="1" indent="-342900">
              <a:lnSpc>
                <a:spcPct val="120000"/>
              </a:lnSpc>
              <a:spcBef>
                <a:spcPts val="600"/>
              </a:spcBef>
              <a:buClr>
                <a:srgbClr val="FF0000"/>
              </a:buClr>
              <a:buFont typeface="Wingdings" panose="05000000000000000000" pitchFamily="2" charset="2"/>
              <a:buChar char="l"/>
            </a:pPr>
            <a:r>
              <a:rPr lang="zh-CN" altLang="en-US" sz="2400" dirty="0"/>
              <a:t>提高可靠性。</a:t>
            </a:r>
            <a:endParaRPr lang="zh-CN" altLang="en-US" sz="2400" dirty="0"/>
          </a:p>
        </p:txBody>
      </p:sp>
      <p:pic>
        <p:nvPicPr>
          <p:cNvPr id="7" name="Picture 3"/>
          <p:cNvPicPr>
            <a:picLocks noChangeAspect="1" noChangeArrowheads="1"/>
          </p:cNvPicPr>
          <p:nvPr/>
        </p:nvPicPr>
        <p:blipFill>
          <a:blip r:embed="rId1">
            <a:extLst>
              <a:ext uri="{28A0092B-C50C-407E-A947-70E740481C1C}">
                <a14:useLocalDpi xmlns:a14="http://schemas.microsoft.com/office/drawing/2010/main" val="0"/>
              </a:ext>
            </a:extLst>
          </a:blip>
          <a:srcRect l="27727" t="1132" r="27901" b="1164"/>
          <a:stretch>
            <a:fillRect/>
          </a:stretch>
        </p:blipFill>
        <p:spPr bwMode="auto">
          <a:xfrm>
            <a:off x="8581500" y="857038"/>
            <a:ext cx="3252444" cy="5312941"/>
          </a:xfrm>
          <a:prstGeom prst="rect">
            <a:avLst/>
          </a:prstGeom>
          <a:noFill/>
          <a:ln w="57150" cmpd="thickThin">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îs1iďé"/>
          <p:cNvSpPr/>
          <p:nvPr/>
        </p:nvSpPr>
        <p:spPr>
          <a:xfrm>
            <a:off x="4957840" y="2590622"/>
            <a:ext cx="3005430" cy="523220"/>
          </a:xfrm>
          <a:prstGeom prst="rect">
            <a:avLst/>
          </a:prstGeom>
          <a:noFill/>
          <a:ln>
            <a:noFill/>
          </a:ln>
        </p:spPr>
        <p:txBody>
          <a:bodyPr wrap="square" lIns="91440" tIns="45720" rIns="91440" bIns="45720" anchor="t" anchorCtr="0">
            <a:noAutofit/>
          </a:bodyPr>
          <a:lstStyle/>
          <a:p>
            <a:pPr marL="800100" lvl="1" indent="-342900">
              <a:lnSpc>
                <a:spcPct val="120000"/>
              </a:lnSpc>
              <a:spcBef>
                <a:spcPts val="600"/>
              </a:spcBef>
              <a:buClr>
                <a:srgbClr val="FF0000"/>
              </a:buClr>
              <a:buFont typeface="Wingdings" panose="05000000000000000000" pitchFamily="2" charset="2"/>
              <a:buChar char="l"/>
            </a:pPr>
            <a:r>
              <a:rPr lang="zh-CN" altLang="en-US" sz="2400" dirty="0"/>
              <a:t>提高读写性能</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476238"/>
            <a:ext cx="4500146" cy="461665"/>
          </a:xfrm>
          <a:prstGeom prst="rect">
            <a:avLst/>
          </a:prstGeom>
        </p:spPr>
        <p:txBody>
          <a:bodyPr wrap="square">
            <a:spAutoFit/>
          </a:bodyPr>
          <a:lstStyle/>
          <a:p>
            <a:r>
              <a:rPr lang="en-US" altLang="zh-CN" sz="2400" dirty="0">
                <a:latin typeface="+mj-ea"/>
                <a:ea typeface="+mj-ea"/>
              </a:rPr>
              <a:t>9.1 </a:t>
            </a:r>
            <a:r>
              <a:rPr lang="zh-CN" altLang="en-US" sz="2400" dirty="0">
                <a:latin typeface="+mj-ea"/>
                <a:ea typeface="+mj-ea"/>
              </a:rPr>
              <a:t>外存的组织方式</a:t>
            </a:r>
            <a:endParaRPr lang="zh-CN" altLang="en-US" sz="2400" dirty="0">
              <a:latin typeface="+mj-ea"/>
              <a:ea typeface="+mj-ea"/>
            </a:endParaRPr>
          </a:p>
        </p:txBody>
      </p:sp>
      <p:sp>
        <p:nvSpPr>
          <p:cNvPr id="23" name="矩形 22"/>
          <p:cNvSpPr/>
          <p:nvPr/>
        </p:nvSpPr>
        <p:spPr>
          <a:xfrm>
            <a:off x="1696469" y="2114413"/>
            <a:ext cx="3682150" cy="461665"/>
          </a:xfrm>
          <a:prstGeom prst="rect">
            <a:avLst/>
          </a:prstGeom>
        </p:spPr>
        <p:txBody>
          <a:bodyPr wrap="square">
            <a:spAutoFit/>
          </a:bodyPr>
          <a:lstStyle/>
          <a:p>
            <a:r>
              <a:rPr lang="en-US" altLang="zh-CN" sz="2400" dirty="0">
                <a:latin typeface="+mj-ea"/>
              </a:rPr>
              <a:t>9.1.1 </a:t>
            </a:r>
            <a:r>
              <a:rPr lang="zh-CN" altLang="en-US" sz="2400" dirty="0">
                <a:latin typeface="+mj-ea"/>
              </a:rPr>
              <a:t>连续组织方式</a:t>
            </a:r>
            <a:endParaRPr lang="en-US" altLang="zh-CN" sz="2400" dirty="0">
              <a:latin typeface="+mj-ea"/>
            </a:endParaRPr>
          </a:p>
        </p:txBody>
      </p:sp>
      <p:sp>
        <p:nvSpPr>
          <p:cNvPr id="24" name="矩形 23"/>
          <p:cNvSpPr/>
          <p:nvPr/>
        </p:nvSpPr>
        <p:spPr>
          <a:xfrm>
            <a:off x="1696468" y="2733538"/>
            <a:ext cx="3488967" cy="461665"/>
          </a:xfrm>
          <a:prstGeom prst="rect">
            <a:avLst/>
          </a:prstGeom>
        </p:spPr>
        <p:txBody>
          <a:bodyPr wrap="square">
            <a:spAutoFit/>
          </a:bodyPr>
          <a:lstStyle/>
          <a:p>
            <a:r>
              <a:rPr lang="en-US" altLang="zh-CN" sz="2400" dirty="0">
                <a:latin typeface="+mj-ea"/>
              </a:rPr>
              <a:t>9.1.2 </a:t>
            </a:r>
            <a:r>
              <a:rPr lang="zh-CN" altLang="en-US" sz="2400" dirty="0">
                <a:latin typeface="+mj-ea"/>
              </a:rPr>
              <a:t>链接组织方式</a:t>
            </a:r>
            <a:endParaRPr lang="en-US" altLang="zh-CN" sz="2400" dirty="0">
              <a:latin typeface="+mj-ea"/>
            </a:endParaRPr>
          </a:p>
        </p:txBody>
      </p:sp>
      <p:sp>
        <p:nvSpPr>
          <p:cNvPr id="25" name="矩形 24"/>
          <p:cNvSpPr/>
          <p:nvPr/>
        </p:nvSpPr>
        <p:spPr>
          <a:xfrm>
            <a:off x="1696468" y="3352663"/>
            <a:ext cx="3488967" cy="461665"/>
          </a:xfrm>
          <a:prstGeom prst="rect">
            <a:avLst/>
          </a:prstGeom>
        </p:spPr>
        <p:txBody>
          <a:bodyPr wrap="square">
            <a:spAutoFit/>
          </a:bodyPr>
          <a:lstStyle/>
          <a:p>
            <a:r>
              <a:rPr lang="en-US" altLang="zh-CN" sz="2400" dirty="0">
                <a:latin typeface="+mj-ea"/>
              </a:rPr>
              <a:t>9.1.1 </a:t>
            </a:r>
            <a:r>
              <a:rPr lang="zh-CN" altLang="en-US" sz="2400" dirty="0">
                <a:latin typeface="+mj-ea"/>
              </a:rPr>
              <a:t>索引组织方式</a:t>
            </a:r>
            <a:endParaRPr lang="en-US" altLang="zh-CN" sz="2400" dirty="0">
              <a:latin typeface="+mj-ea"/>
            </a:endParaRPr>
          </a:p>
        </p:txBody>
      </p:sp>
      <p:sp>
        <p:nvSpPr>
          <p:cNvPr id="27" name="矩形 26"/>
          <p:cNvSpPr/>
          <p:nvPr/>
        </p:nvSpPr>
        <p:spPr>
          <a:xfrm>
            <a:off x="1696469" y="3971788"/>
            <a:ext cx="5478772" cy="461665"/>
          </a:xfrm>
          <a:prstGeom prst="rect">
            <a:avLst/>
          </a:prstGeom>
        </p:spPr>
        <p:txBody>
          <a:bodyPr wrap="square">
            <a:spAutoFit/>
          </a:bodyPr>
          <a:lstStyle/>
          <a:p>
            <a:r>
              <a:rPr lang="en-US" altLang="zh-CN" sz="2400" dirty="0">
                <a:latin typeface="+mj-ea"/>
              </a:rPr>
              <a:t>9.2 </a:t>
            </a:r>
            <a:r>
              <a:rPr lang="zh-CN" altLang="en-US" sz="2400" dirty="0">
                <a:latin typeface="+mj-ea"/>
              </a:rPr>
              <a:t>文件存储空间的管理</a:t>
            </a:r>
            <a:endParaRPr lang="zh-CN" altLang="en-US" sz="2400" dirty="0">
              <a:latin typeface="+mj-ea"/>
            </a:endParaRPr>
          </a:p>
        </p:txBody>
      </p:sp>
      <p:sp>
        <p:nvSpPr>
          <p:cNvPr id="28" name="矩形 27"/>
          <p:cNvSpPr/>
          <p:nvPr/>
        </p:nvSpPr>
        <p:spPr>
          <a:xfrm>
            <a:off x="1696468" y="4590913"/>
            <a:ext cx="4769645" cy="461665"/>
          </a:xfrm>
          <a:prstGeom prst="rect">
            <a:avLst/>
          </a:prstGeom>
        </p:spPr>
        <p:txBody>
          <a:bodyPr wrap="square">
            <a:spAutoFit/>
          </a:bodyPr>
          <a:lstStyle/>
          <a:p>
            <a:r>
              <a:rPr lang="en-US" altLang="zh-CN" sz="2400" dirty="0">
                <a:latin typeface="+mj-ea"/>
              </a:rPr>
              <a:t>9.3 </a:t>
            </a:r>
            <a:r>
              <a:rPr lang="zh-CN" altLang="en-US" sz="2400" dirty="0">
                <a:latin typeface="+mj-ea"/>
              </a:rPr>
              <a:t>提高磁盘</a:t>
            </a:r>
            <a:r>
              <a:rPr lang="en-US" altLang="zh-CN" sz="2400" dirty="0">
                <a:latin typeface="+mj-ea"/>
              </a:rPr>
              <a:t>I/O</a:t>
            </a:r>
            <a:r>
              <a:rPr lang="zh-CN" altLang="en-US" sz="2400" dirty="0">
                <a:latin typeface="+mj-ea"/>
              </a:rPr>
              <a:t>速度的途径</a:t>
            </a:r>
            <a:endParaRPr lang="zh-CN" altLang="en-US" sz="2400" dirty="0">
              <a:latin typeface="+mj-ea"/>
            </a:endParaRPr>
          </a:p>
        </p:txBody>
      </p:sp>
      <p:sp>
        <p:nvSpPr>
          <p:cNvPr id="29" name="矩形 28"/>
          <p:cNvSpPr/>
          <p:nvPr/>
        </p:nvSpPr>
        <p:spPr>
          <a:xfrm>
            <a:off x="1696468" y="5210038"/>
            <a:ext cx="4620355" cy="461665"/>
          </a:xfrm>
          <a:prstGeom prst="rect">
            <a:avLst/>
          </a:prstGeom>
        </p:spPr>
        <p:txBody>
          <a:bodyPr wrap="square">
            <a:spAutoFit/>
          </a:bodyPr>
          <a:lstStyle/>
          <a:p>
            <a:r>
              <a:rPr lang="en-US" altLang="zh-CN" sz="2400" b="1" dirty="0">
                <a:solidFill>
                  <a:srgbClr val="0000FF"/>
                </a:solidFill>
                <a:latin typeface="+mj-ea"/>
              </a:rPr>
              <a:t>9.4 </a:t>
            </a:r>
            <a:r>
              <a:rPr lang="zh-CN" altLang="en-US" sz="2400" b="1" dirty="0">
                <a:solidFill>
                  <a:srgbClr val="0000FF"/>
                </a:solidFill>
                <a:latin typeface="+mj-ea"/>
              </a:rPr>
              <a:t>提高磁盘可靠性的技术</a:t>
            </a:r>
            <a:endParaRPr lang="zh-CN" altLang="en-US" sz="2400" b="1" dirty="0">
              <a:solidFill>
                <a:srgbClr val="0000FF"/>
              </a:solidFill>
              <a:latin typeface="+mj-ea"/>
            </a:endParaRPr>
          </a:p>
        </p:txBody>
      </p:sp>
      <p:sp>
        <p:nvSpPr>
          <p:cNvPr id="3" name="矩形 2"/>
          <p:cNvSpPr/>
          <p:nvPr/>
        </p:nvSpPr>
        <p:spPr>
          <a:xfrm>
            <a:off x="6466113" y="2386337"/>
            <a:ext cx="5191691" cy="646331"/>
          </a:xfrm>
          <a:prstGeom prst="rect">
            <a:avLst/>
          </a:prstGeom>
        </p:spPr>
        <p:txBody>
          <a:bodyPr wrap="square">
            <a:spAutoFit/>
          </a:bodyPr>
          <a:lstStyle/>
          <a:p>
            <a:r>
              <a:rPr lang="zh-CN" altLang="en-US" sz="3600" dirty="0">
                <a:solidFill>
                  <a:srgbClr val="000000"/>
                </a:solidFill>
              </a:rPr>
              <a:t>第</a:t>
            </a:r>
            <a:r>
              <a:rPr lang="en-US" altLang="zh-CN" sz="3600" dirty="0">
                <a:solidFill>
                  <a:srgbClr val="000000"/>
                </a:solidFill>
              </a:rPr>
              <a:t>9</a:t>
            </a:r>
            <a:r>
              <a:rPr lang="zh-CN" altLang="en-US" sz="3600" dirty="0">
                <a:solidFill>
                  <a:srgbClr val="000000"/>
                </a:solidFill>
              </a:rPr>
              <a:t>章    磁盘存储器管理</a:t>
            </a:r>
            <a:endParaRPr lang="zh-CN" altLang="en-US" sz="3600" dirty="0"/>
          </a:p>
        </p:txBody>
      </p:sp>
      <p:cxnSp>
        <p:nvCxnSpPr>
          <p:cNvPr id="5" name="直接连接符 4"/>
          <p:cNvCxnSpPr/>
          <p:nvPr/>
        </p:nvCxnSpPr>
        <p:spPr>
          <a:xfrm>
            <a:off x="6640497" y="3190471"/>
            <a:ext cx="490662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43922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2436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7983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831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2439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6210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62820"/>
            <a:ext cx="527050" cy="527050"/>
          </a:xfrm>
          <a:prstGeom prst="rect">
            <a:avLst/>
          </a:prstGeom>
          <a:ln>
            <a:noFill/>
          </a:ln>
          <a:effectLst>
            <a:softEdge rad="0"/>
          </a:effectLst>
        </p:spPr>
      </p:pic>
      <p:sp>
        <p:nvSpPr>
          <p:cNvPr id="33" name="矩形 32"/>
          <p:cNvSpPr/>
          <p:nvPr/>
        </p:nvSpPr>
        <p:spPr>
          <a:xfrm>
            <a:off x="1696468" y="5863246"/>
            <a:ext cx="4219140" cy="461665"/>
          </a:xfrm>
          <a:prstGeom prst="rect">
            <a:avLst/>
          </a:prstGeom>
        </p:spPr>
        <p:txBody>
          <a:bodyPr wrap="square">
            <a:spAutoFit/>
          </a:bodyPr>
          <a:lstStyle/>
          <a:p>
            <a:r>
              <a:rPr lang="en-US" altLang="zh-CN" sz="2400" dirty="0">
                <a:latin typeface="+mj-ea"/>
              </a:rPr>
              <a:t>9.5 </a:t>
            </a:r>
            <a:r>
              <a:rPr lang="zh-CN" altLang="en-US" sz="2400" dirty="0">
                <a:latin typeface="+mj-ea"/>
              </a:rPr>
              <a:t>存储新技术</a:t>
            </a:r>
            <a:endParaRPr lang="zh-CN" altLang="en-US" sz="2400" dirty="0">
              <a:latin typeface="+mj-ea"/>
            </a:endParaRPr>
          </a:p>
        </p:txBody>
      </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7" y="5816028"/>
            <a:ext cx="527050" cy="527050"/>
          </a:xfrm>
          <a:prstGeom prst="rect">
            <a:avLst/>
          </a:prstGeom>
          <a:ln>
            <a:noFill/>
          </a:ln>
          <a:effectLst>
            <a:softEdge rad="0"/>
          </a:effectLst>
        </p:spPr>
      </p:pic>
      <p:sp>
        <p:nvSpPr>
          <p:cNvPr id="35" name="矩形 34"/>
          <p:cNvSpPr/>
          <p:nvPr/>
        </p:nvSpPr>
        <p:spPr>
          <a:xfrm>
            <a:off x="6754405" y="5837115"/>
            <a:ext cx="4219140" cy="461665"/>
          </a:xfrm>
          <a:prstGeom prst="rect">
            <a:avLst/>
          </a:prstGeom>
        </p:spPr>
        <p:txBody>
          <a:bodyPr wrap="square">
            <a:spAutoFit/>
          </a:bodyPr>
          <a:lstStyle/>
          <a:p>
            <a:r>
              <a:rPr lang="en-US" altLang="zh-CN" sz="2400" dirty="0">
                <a:latin typeface="+mj-ea"/>
              </a:rPr>
              <a:t>9.6 </a:t>
            </a:r>
            <a:r>
              <a:rPr lang="zh-CN" altLang="en-US" sz="2400" dirty="0">
                <a:latin typeface="+mj-ea"/>
              </a:rPr>
              <a:t>数据一致性控制</a:t>
            </a:r>
            <a:endParaRPr lang="zh-CN" altLang="en-US" sz="2400" dirty="0">
              <a:latin typeface="+mj-ea"/>
            </a:endParaRPr>
          </a:p>
        </p:txBody>
      </p:sp>
      <p:pic>
        <p:nvPicPr>
          <p:cNvPr id="36" name="图片 3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227354" y="5789897"/>
            <a:ext cx="527050" cy="527050"/>
          </a:xfrm>
          <a:prstGeom prst="rect">
            <a:avLst/>
          </a:prstGeom>
          <a:ln>
            <a:noFill/>
          </a:ln>
          <a:effectLst>
            <a:softEdge rad="0"/>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9.4 </a:t>
            </a:r>
            <a:r>
              <a:rPr lang="zh-CN" altLang="en-US" sz="2800" b="1" dirty="0">
                <a:solidFill>
                  <a:schemeClr val="bg1"/>
                </a:solidFill>
              </a:rPr>
              <a:t>提高磁盘可靠性的技术</a:t>
            </a:r>
            <a:endParaRPr lang="zh-CN" altLang="en-US" sz="2800" b="1" dirty="0">
              <a:solidFill>
                <a:schemeClr val="bg1"/>
              </a:solidFill>
            </a:endParaRPr>
          </a:p>
        </p:txBody>
      </p:sp>
      <p:sp>
        <p:nvSpPr>
          <p:cNvPr id="6" name="íSľïdé"/>
          <p:cNvSpPr/>
          <p:nvPr/>
        </p:nvSpPr>
        <p:spPr>
          <a:xfrm>
            <a:off x="983648" y="1267882"/>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7" name="ïŝļíḓê"/>
          <p:cNvSpPr/>
          <p:nvPr/>
        </p:nvSpPr>
        <p:spPr bwMode="auto">
          <a:xfrm>
            <a:off x="983648" y="3872885"/>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9" name="内容占位符 2"/>
          <p:cNvSpPr txBox="1"/>
          <p:nvPr/>
        </p:nvSpPr>
        <p:spPr>
          <a:xfrm>
            <a:off x="1711447" y="1267883"/>
            <a:ext cx="4636087" cy="139542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80"/>
              </a:spcBef>
              <a:buNone/>
              <a:defRPr/>
            </a:pPr>
            <a:r>
              <a:rPr lang="zh-CN" altLang="en-US" sz="2400" dirty="0"/>
              <a:t>容错技术</a:t>
            </a:r>
            <a:endParaRPr lang="zh-CN" altLang="en-US"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通过在系统中设置冗余部件来提高系统可靠性的一种技术</a:t>
            </a:r>
            <a:endParaRPr lang="zh-CN" altLang="en-US" sz="22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广泛采用磁盘容错技术</a:t>
            </a:r>
            <a:endParaRPr lang="zh-CN" altLang="en-US" sz="2200" dirty="0">
              <a:solidFill>
                <a:schemeClr val="tx1">
                  <a:lumMod val="65000"/>
                  <a:lumOff val="35000"/>
                </a:schemeClr>
              </a:solidFill>
            </a:endParaRPr>
          </a:p>
        </p:txBody>
      </p:sp>
      <p:sp>
        <p:nvSpPr>
          <p:cNvPr id="10" name="内容占位符 2"/>
          <p:cNvSpPr txBox="1"/>
          <p:nvPr/>
        </p:nvSpPr>
        <p:spPr>
          <a:xfrm>
            <a:off x="1739457" y="3678930"/>
            <a:ext cx="4356544" cy="22602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磁盘容错技术分为三个级别</a:t>
            </a:r>
            <a:endParaRPr lang="zh-CN" altLang="en-US" sz="24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t>第一级，低级磁盘容错技术</a:t>
            </a:r>
            <a:endParaRPr lang="zh-CN" altLang="en-US" sz="22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t>第二级，中级磁盘容错技术</a:t>
            </a:r>
            <a:endParaRPr lang="zh-CN" altLang="en-US" sz="22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t>第三级，基于集群系统的容错技术（系统容错技术</a:t>
            </a:r>
            <a:r>
              <a:rPr lang="en-US" altLang="zh-CN" sz="2200" dirty="0"/>
              <a:t>SFT</a:t>
            </a:r>
            <a:r>
              <a:rPr lang="zh-CN" altLang="en-US" sz="2200" dirty="0"/>
              <a:t>）</a:t>
            </a:r>
            <a:endParaRPr lang="zh-CN" altLang="en-US" sz="2200" dirty="0"/>
          </a:p>
          <a:p>
            <a:pPr marL="0" lvl="1" indent="-342900">
              <a:lnSpc>
                <a:spcPct val="132000"/>
              </a:lnSpc>
              <a:spcBef>
                <a:spcPts val="370"/>
              </a:spcBef>
              <a:buClr>
                <a:srgbClr val="E71101"/>
              </a:buClr>
              <a:buSzPct val="60000"/>
              <a:buFont typeface="Wingdings" panose="05000000000000000000" pitchFamily="2" charset="2"/>
              <a:buChar char="Ø"/>
              <a:defRPr/>
            </a:pPr>
            <a:endParaRPr lang="zh-CN" altLang="en-US" sz="2200" dirty="0">
              <a:solidFill>
                <a:srgbClr val="FF0000"/>
              </a:solidFill>
            </a:endParaRPr>
          </a:p>
        </p:txBody>
      </p:sp>
      <p:cxnSp>
        <p:nvCxnSpPr>
          <p:cNvPr id="3" name="直接连接符 2"/>
          <p:cNvCxnSpPr/>
          <p:nvPr/>
        </p:nvCxnSpPr>
        <p:spPr>
          <a:xfrm>
            <a:off x="843378" y="3311371"/>
            <a:ext cx="5504156"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1" name="iṥlídè"/>
          <p:cNvSpPr/>
          <p:nvPr/>
        </p:nvSpPr>
        <p:spPr>
          <a:xfrm>
            <a:off x="6958245" y="1128057"/>
            <a:ext cx="5233755" cy="5008286"/>
          </a:xfrm>
          <a:prstGeom prst="rect">
            <a:avLst/>
          </a:prstGeom>
          <a:blipFill>
            <a:blip r:embed="rId1"/>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9.4.1 </a:t>
            </a:r>
            <a:r>
              <a:rPr lang="zh-CN" altLang="en-US" sz="2800" b="1" dirty="0">
                <a:solidFill>
                  <a:schemeClr val="bg1"/>
                </a:solidFill>
              </a:rPr>
              <a:t>第一级容错技术</a:t>
            </a:r>
            <a:r>
              <a:rPr lang="en-US" altLang="zh-CN" sz="2800" b="1" dirty="0">
                <a:solidFill>
                  <a:schemeClr val="bg1"/>
                </a:solidFill>
              </a:rPr>
              <a:t>SFT-I</a:t>
            </a:r>
            <a:endParaRPr lang="zh-CN" altLang="en-US" sz="2800" b="1" dirty="0">
              <a:solidFill>
                <a:schemeClr val="bg1"/>
              </a:solidFill>
            </a:endParaRPr>
          </a:p>
        </p:txBody>
      </p:sp>
      <p:sp>
        <p:nvSpPr>
          <p:cNvPr id="8" name="内容占位符 2"/>
          <p:cNvSpPr txBox="1"/>
          <p:nvPr/>
        </p:nvSpPr>
        <p:spPr>
          <a:xfrm>
            <a:off x="669925" y="1126545"/>
            <a:ext cx="11119621" cy="65261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en-US" altLang="zh-CN" sz="2400" dirty="0"/>
              <a:t>SFT-1</a:t>
            </a:r>
            <a:r>
              <a:rPr lang="zh-CN" altLang="en-US" sz="2400" dirty="0"/>
              <a:t>是最基本的磁盘容错技术，</a:t>
            </a:r>
            <a:r>
              <a:rPr lang="zh-CN" altLang="en-US" sz="2400" dirty="0">
                <a:solidFill>
                  <a:srgbClr val="FF0000"/>
                </a:solidFill>
              </a:rPr>
              <a:t>主要用于防止因磁盘表面缺陷所造成的数据丢失。</a:t>
            </a:r>
            <a:endParaRPr lang="zh-CN" altLang="en-US" sz="2400" dirty="0">
              <a:solidFill>
                <a:srgbClr val="FF0000"/>
              </a:solidFill>
            </a:endParaRPr>
          </a:p>
        </p:txBody>
      </p:sp>
      <p:sp>
        <p:nvSpPr>
          <p:cNvPr id="16" name="矩形 15"/>
          <p:cNvSpPr/>
          <p:nvPr/>
        </p:nvSpPr>
        <p:spPr>
          <a:xfrm>
            <a:off x="1198255" y="1804265"/>
            <a:ext cx="5113767" cy="461665"/>
          </a:xfrm>
          <a:prstGeom prst="rect">
            <a:avLst/>
          </a:prstGeom>
        </p:spPr>
        <p:txBody>
          <a:bodyPr wrap="square">
            <a:spAutoFit/>
          </a:bodyPr>
          <a:lstStyle/>
          <a:p>
            <a:r>
              <a:rPr lang="zh-CN" altLang="en-US" sz="2400" dirty="0">
                <a:latin typeface="+mj-ea"/>
              </a:rPr>
              <a:t>双份目录和双份文件分配表</a:t>
            </a:r>
            <a:r>
              <a:rPr lang="en-US" altLang="zh-CN" sz="2400" dirty="0">
                <a:latin typeface="+mj-ea"/>
              </a:rPr>
              <a:t>FAT</a:t>
            </a:r>
            <a:endParaRPr lang="en-US" altLang="zh-CN" sz="2400" dirty="0">
              <a:latin typeface="+mj-ea"/>
            </a:endParaRPr>
          </a:p>
        </p:txBody>
      </p:sp>
      <p:sp>
        <p:nvSpPr>
          <p:cNvPr id="17" name="矩形 16"/>
          <p:cNvSpPr/>
          <p:nvPr/>
        </p:nvSpPr>
        <p:spPr>
          <a:xfrm>
            <a:off x="1196975" y="2976688"/>
            <a:ext cx="3682151" cy="461665"/>
          </a:xfrm>
          <a:prstGeom prst="rect">
            <a:avLst/>
          </a:prstGeom>
        </p:spPr>
        <p:txBody>
          <a:bodyPr wrap="square">
            <a:spAutoFit/>
          </a:bodyPr>
          <a:lstStyle/>
          <a:p>
            <a:r>
              <a:rPr lang="zh-CN" altLang="en-US" sz="2400" dirty="0">
                <a:latin typeface="+mj-ea"/>
              </a:rPr>
              <a:t>热修复重定向</a:t>
            </a:r>
            <a:endParaRPr lang="zh-CN" altLang="en-US" sz="2400" dirty="0">
              <a:latin typeface="+mj-ea"/>
            </a:endParaRPr>
          </a:p>
        </p:txBody>
      </p:sp>
      <p:sp>
        <p:nvSpPr>
          <p:cNvPr id="18" name="矩形 17"/>
          <p:cNvSpPr/>
          <p:nvPr/>
        </p:nvSpPr>
        <p:spPr>
          <a:xfrm>
            <a:off x="1308103" y="4555053"/>
            <a:ext cx="3682150" cy="461665"/>
          </a:xfrm>
          <a:prstGeom prst="rect">
            <a:avLst/>
          </a:prstGeom>
        </p:spPr>
        <p:txBody>
          <a:bodyPr wrap="square">
            <a:spAutoFit/>
          </a:bodyPr>
          <a:lstStyle/>
          <a:p>
            <a:r>
              <a:rPr lang="zh-CN" altLang="en-US" sz="2400" dirty="0">
                <a:latin typeface="+mj-ea"/>
              </a:rPr>
              <a:t>写后读校验</a:t>
            </a:r>
            <a:endParaRPr lang="zh-CN" altLang="en-US" sz="2400" dirty="0">
              <a:latin typeface="+mj-ea"/>
            </a:endParaRPr>
          </a:p>
        </p:txBody>
      </p:sp>
      <p:pic>
        <p:nvPicPr>
          <p:cNvPr id="19" name="图片 18"/>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71205" y="1774623"/>
            <a:ext cx="527050" cy="527050"/>
          </a:xfrm>
          <a:prstGeom prst="rect">
            <a:avLst/>
          </a:prstGeom>
          <a:ln>
            <a:noFill/>
          </a:ln>
          <a:effectLst>
            <a:softEdge rad="0"/>
          </a:effectLst>
        </p:spPr>
      </p:pic>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2939000"/>
            <a:ext cx="527050" cy="527050"/>
          </a:xfrm>
          <a:prstGeom prst="rect">
            <a:avLst/>
          </a:prstGeom>
          <a:ln>
            <a:noFill/>
          </a:ln>
          <a:effectLst>
            <a:softEdge rad="0"/>
          </a:effectLst>
        </p:spPr>
      </p:pic>
      <p:pic>
        <p:nvPicPr>
          <p:cNvPr id="22" name="图片 2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4533249"/>
            <a:ext cx="527050" cy="527050"/>
          </a:xfrm>
          <a:prstGeom prst="rect">
            <a:avLst/>
          </a:prstGeom>
          <a:ln>
            <a:noFill/>
          </a:ln>
          <a:effectLst>
            <a:softEdge rad="0"/>
          </a:effectLst>
        </p:spPr>
      </p:pic>
      <p:sp>
        <p:nvSpPr>
          <p:cNvPr id="23" name="îs1iďé"/>
          <p:cNvSpPr/>
          <p:nvPr/>
        </p:nvSpPr>
        <p:spPr>
          <a:xfrm>
            <a:off x="1196975" y="2339361"/>
            <a:ext cx="5429034" cy="652615"/>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400" dirty="0"/>
              <a:t>一份为主文件目录及主</a:t>
            </a:r>
            <a:r>
              <a:rPr lang="en-US" altLang="zh-CN" sz="2400" dirty="0"/>
              <a:t>FAT</a:t>
            </a:r>
            <a:endParaRPr lang="en-US" altLang="zh-CN" sz="2400" dirty="0"/>
          </a:p>
        </p:txBody>
      </p:sp>
      <p:sp>
        <p:nvSpPr>
          <p:cNvPr id="24" name="îs1iďé"/>
          <p:cNvSpPr/>
          <p:nvPr/>
        </p:nvSpPr>
        <p:spPr>
          <a:xfrm>
            <a:off x="6159592" y="2339361"/>
            <a:ext cx="5429034" cy="652615"/>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400" dirty="0"/>
              <a:t>另一份为备份文件目录及备份</a:t>
            </a:r>
            <a:r>
              <a:rPr lang="en-US" altLang="zh-CN" sz="2400" dirty="0"/>
              <a:t>FAT</a:t>
            </a:r>
            <a:endParaRPr lang="en-US" altLang="zh-CN" sz="2400" dirty="0"/>
          </a:p>
        </p:txBody>
      </p:sp>
      <p:sp>
        <p:nvSpPr>
          <p:cNvPr id="25" name="îs1iďé"/>
          <p:cNvSpPr/>
          <p:nvPr/>
        </p:nvSpPr>
        <p:spPr>
          <a:xfrm>
            <a:off x="1196974" y="3519610"/>
            <a:ext cx="10592571" cy="923796"/>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400" dirty="0"/>
              <a:t>系统将磁盘容量的很小一部分（如</a:t>
            </a:r>
            <a:r>
              <a:rPr lang="en-US" altLang="zh-CN" sz="2400" dirty="0"/>
              <a:t>2%</a:t>
            </a:r>
            <a:r>
              <a:rPr lang="zh-CN" altLang="en-US" sz="2400" dirty="0"/>
              <a:t>～</a:t>
            </a:r>
            <a:r>
              <a:rPr lang="en-US" altLang="zh-CN" sz="2400" dirty="0"/>
              <a:t>3%</a:t>
            </a:r>
            <a:r>
              <a:rPr lang="zh-CN" altLang="en-US" sz="2400" dirty="0"/>
              <a:t>）作为热修复重定向区，用于存放发现磁盘有缺陷时的待写数据</a:t>
            </a:r>
            <a:endParaRPr lang="zh-CN" altLang="en-US" sz="2400" dirty="0"/>
          </a:p>
        </p:txBody>
      </p:sp>
      <p:sp>
        <p:nvSpPr>
          <p:cNvPr id="26" name="îs1iďé"/>
          <p:cNvSpPr/>
          <p:nvPr/>
        </p:nvSpPr>
        <p:spPr>
          <a:xfrm>
            <a:off x="1196974" y="5060299"/>
            <a:ext cx="10592571" cy="923796"/>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300" dirty="0"/>
              <a:t>在每次向磁盘中写入一个数据块后立即将它读出来，并送至另一缓冲区中</a:t>
            </a:r>
            <a:endParaRPr lang="zh-CN" altLang="en-US" sz="2300" dirty="0"/>
          </a:p>
          <a:p>
            <a:pPr marL="342900" indent="-342900">
              <a:lnSpc>
                <a:spcPct val="120000"/>
              </a:lnSpc>
              <a:spcBef>
                <a:spcPts val="600"/>
              </a:spcBef>
              <a:buClr>
                <a:srgbClr val="FF0000"/>
              </a:buClr>
              <a:buFont typeface="Wingdings" panose="05000000000000000000" pitchFamily="2" charset="2"/>
              <a:buChar char="Ø"/>
            </a:pPr>
            <a:r>
              <a:rPr lang="zh-CN" altLang="en-US" sz="2300" dirty="0"/>
              <a:t>将该缓冲区的内容与内存缓冲区中写后仍保留的数据进行比较，若两者一致，则认为此次写入成功；否则重写</a:t>
            </a:r>
            <a:endParaRPr lang="zh-CN" altLang="en-US" sz="2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9.4.2 </a:t>
            </a:r>
            <a:r>
              <a:rPr lang="zh-CN" altLang="en-US" sz="2800" b="1" dirty="0">
                <a:solidFill>
                  <a:schemeClr val="bg1"/>
                </a:solidFill>
              </a:rPr>
              <a:t>第二级容错技术</a:t>
            </a:r>
            <a:r>
              <a:rPr lang="en-US" altLang="zh-CN" sz="2800" b="1" dirty="0">
                <a:solidFill>
                  <a:schemeClr val="bg1"/>
                </a:solidFill>
              </a:rPr>
              <a:t>SFT-II(1)</a:t>
            </a:r>
            <a:endParaRPr lang="zh-CN" altLang="en-US" sz="2800" b="1" dirty="0">
              <a:solidFill>
                <a:schemeClr val="bg1"/>
              </a:solidFill>
            </a:endParaRPr>
          </a:p>
        </p:txBody>
      </p:sp>
      <p:sp>
        <p:nvSpPr>
          <p:cNvPr id="8" name="内容占位符 2"/>
          <p:cNvSpPr txBox="1"/>
          <p:nvPr/>
        </p:nvSpPr>
        <p:spPr>
          <a:xfrm>
            <a:off x="1288941" y="1126194"/>
            <a:ext cx="10231854" cy="117277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en-US" altLang="zh-CN" sz="2400" dirty="0"/>
              <a:t>SFT-Ⅱ</a:t>
            </a:r>
            <a:r>
              <a:rPr lang="zh-CN" altLang="en-US" sz="2400" dirty="0"/>
              <a:t>主要用于防止系统因磁盘驱动器和磁盘控制器故障而无法正常工作。</a:t>
            </a:r>
            <a:endParaRPr lang="zh-CN" altLang="en-US" sz="2400" dirty="0"/>
          </a:p>
          <a:p>
            <a:pPr marL="0" indent="0">
              <a:lnSpc>
                <a:spcPct val="132000"/>
              </a:lnSpc>
              <a:spcBef>
                <a:spcPts val="580"/>
              </a:spcBef>
              <a:buNone/>
              <a:defRPr/>
            </a:pPr>
            <a:r>
              <a:rPr lang="zh-CN" altLang="en-US" sz="2400" dirty="0"/>
              <a:t>磁盘镜像</a:t>
            </a:r>
            <a:endParaRPr lang="zh-CN" altLang="en-US" sz="2400" dirty="0"/>
          </a:p>
        </p:txBody>
      </p:sp>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71205" y="1134589"/>
            <a:ext cx="527050" cy="527050"/>
          </a:xfrm>
          <a:prstGeom prst="rect">
            <a:avLst/>
          </a:prstGeom>
          <a:ln>
            <a:noFill/>
          </a:ln>
          <a:effectLst>
            <a:softEdge rad="0"/>
          </a:effectLst>
        </p:spPr>
      </p:pic>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1712580"/>
            <a:ext cx="527050" cy="527050"/>
          </a:xfrm>
          <a:prstGeom prst="rect">
            <a:avLst/>
          </a:prstGeom>
          <a:ln>
            <a:noFill/>
          </a:ln>
          <a:effectLst>
            <a:softEdge rad="0"/>
          </a:effectLst>
        </p:spPr>
      </p:pic>
      <p:grpSp>
        <p:nvGrpSpPr>
          <p:cNvPr id="27" name="1859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
            </p:custDataLst>
          </p:nvPr>
        </p:nvGrpSpPr>
        <p:grpSpPr>
          <a:xfrm>
            <a:off x="703483" y="2523142"/>
            <a:ext cx="10820715" cy="3558061"/>
            <a:chOff x="682048" y="1580300"/>
            <a:chExt cx="10820715" cy="3558061"/>
          </a:xfrm>
        </p:grpSpPr>
        <p:sp>
          <p:nvSpPr>
            <p:cNvPr id="28" name="íṥḻîḑe"/>
            <p:cNvSpPr/>
            <p:nvPr/>
          </p:nvSpPr>
          <p:spPr>
            <a:xfrm>
              <a:off x="682048" y="1580301"/>
              <a:ext cx="3476055" cy="1329766"/>
            </a:xfrm>
            <a:prstGeom prst="rect">
              <a:avLst/>
            </a:prstGeom>
            <a:blipFill>
              <a:blip r:embed="rId3"/>
              <a:srcRect/>
              <a:stretch>
                <a:fillRect t="-17779" b="-17603"/>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sp>
          <p:nvSpPr>
            <p:cNvPr id="29" name="ïşḻiḍé"/>
            <p:cNvSpPr/>
            <p:nvPr/>
          </p:nvSpPr>
          <p:spPr>
            <a:xfrm>
              <a:off x="685572" y="3009952"/>
              <a:ext cx="3495474" cy="2128409"/>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23000"/>
                </a:lnSpc>
              </a:pPr>
              <a:r>
                <a:rPr lang="zh-CN" altLang="en-US" sz="2000" dirty="0">
                  <a:solidFill>
                    <a:schemeClr val="tx1"/>
                  </a:solidFill>
                </a:rPr>
                <a:t>为了避免磁盘驱动器发生故障而丢失数据，须在同一磁盘控制器下增设一个完全相同的磁盘驱动器</a:t>
              </a:r>
              <a:r>
                <a:rPr lang="en-US" altLang="zh-CN" sz="2000" dirty="0">
                  <a:solidFill>
                    <a:schemeClr val="tx1"/>
                  </a:solidFill>
                </a:rPr>
                <a:t>	</a:t>
              </a:r>
              <a:endParaRPr lang="zh-CN" altLang="en-US" sz="2000" dirty="0">
                <a:solidFill>
                  <a:schemeClr val="tx1"/>
                </a:solidFill>
              </a:endParaRPr>
            </a:p>
          </p:txBody>
        </p:sp>
        <p:sp>
          <p:nvSpPr>
            <p:cNvPr id="30" name="îŝļiḋe"/>
            <p:cNvSpPr/>
            <p:nvPr/>
          </p:nvSpPr>
          <p:spPr>
            <a:xfrm>
              <a:off x="4352677" y="1580300"/>
              <a:ext cx="3476055" cy="1329767"/>
            </a:xfrm>
            <a:prstGeom prst="rect">
              <a:avLst/>
            </a:prstGeom>
            <a:blipFill>
              <a:blip r:embed="rId4"/>
              <a:srcRect/>
              <a:stretch>
                <a:fillRect t="-50445" b="-4994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31" name="ïšlïḑè"/>
            <p:cNvSpPr/>
            <p:nvPr/>
          </p:nvSpPr>
          <p:spPr>
            <a:xfrm>
              <a:off x="4356201" y="3009952"/>
              <a:ext cx="3495474" cy="2128409"/>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p>
              <a:pPr>
                <a:lnSpc>
                  <a:spcPct val="133000"/>
                </a:lnSpc>
              </a:pPr>
              <a:r>
                <a:rPr lang="zh-CN" altLang="en-US" sz="2000" dirty="0">
                  <a:solidFill>
                    <a:schemeClr val="tx1"/>
                  </a:solidFill>
                </a:rPr>
                <a:t>在每次向主磁盘写入数据后，都需要将数据再写到备份磁盘上，以使两个磁盘上具有完全相同的位像图</a:t>
              </a:r>
              <a:endParaRPr lang="zh-CN" altLang="en-US" sz="2000" dirty="0">
                <a:solidFill>
                  <a:schemeClr val="tx1"/>
                </a:solidFill>
              </a:endParaRPr>
            </a:p>
          </p:txBody>
        </p:sp>
        <p:sp>
          <p:nvSpPr>
            <p:cNvPr id="32" name="íŝḻiďé"/>
            <p:cNvSpPr/>
            <p:nvPr/>
          </p:nvSpPr>
          <p:spPr>
            <a:xfrm>
              <a:off x="8023305" y="1580300"/>
              <a:ext cx="3476055" cy="1329767"/>
            </a:xfrm>
            <a:prstGeom prst="rect">
              <a:avLst/>
            </a:prstGeom>
            <a:blipFill>
              <a:blip r:embed="rId5"/>
              <a:srcRect/>
              <a:stretch>
                <a:fillRect l="-5418" r="-537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33" name="í$ḷîḋe"/>
            <p:cNvSpPr/>
            <p:nvPr/>
          </p:nvSpPr>
          <p:spPr>
            <a:xfrm>
              <a:off x="8026708" y="3009952"/>
              <a:ext cx="3476055" cy="2128409"/>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23000"/>
                </a:lnSpc>
              </a:pPr>
              <a:r>
                <a:rPr lang="zh-CN" altLang="en-US" sz="2000" dirty="0">
                  <a:solidFill>
                    <a:schemeClr val="tx1"/>
                  </a:solidFill>
                </a:rPr>
                <a:t>虽有容错功能，但磁盘利用率降至原来的</a:t>
              </a:r>
              <a:r>
                <a:rPr lang="en-US" altLang="zh-CN" sz="2000" dirty="0">
                  <a:solidFill>
                    <a:schemeClr val="tx1"/>
                  </a:solidFill>
                </a:rPr>
                <a:t>50%</a:t>
              </a:r>
              <a:endParaRPr lang="en-US" altLang="zh-CN" sz="2000" dirty="0">
                <a:solidFill>
                  <a:schemeClr val="tx1"/>
                </a:solidFill>
              </a:endParaRPr>
            </a:p>
          </p:txBody>
        </p:sp>
      </p:grpSp>
      <p:pic>
        <p:nvPicPr>
          <p:cNvPr id="37" name="图片 224"/>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206956" y="4621462"/>
            <a:ext cx="3151621" cy="175904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第二级容错技术</a:t>
            </a:r>
            <a:r>
              <a:rPr lang="en-US" altLang="zh-CN" sz="2800" b="1" dirty="0">
                <a:solidFill>
                  <a:schemeClr val="bg1"/>
                </a:solidFill>
              </a:rPr>
              <a:t>SFT-II(2)</a:t>
            </a:r>
            <a:endParaRPr lang="zh-CN" altLang="en-US" sz="2800" b="1" dirty="0">
              <a:solidFill>
                <a:schemeClr val="bg1"/>
              </a:solidFill>
            </a:endParaRPr>
          </a:p>
        </p:txBody>
      </p:sp>
      <p:sp>
        <p:nvSpPr>
          <p:cNvPr id="8" name="内容占位符 2"/>
          <p:cNvSpPr txBox="1"/>
          <p:nvPr/>
        </p:nvSpPr>
        <p:spPr>
          <a:xfrm>
            <a:off x="1288941" y="1126194"/>
            <a:ext cx="10231854" cy="58638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磁盘双工</a:t>
            </a:r>
            <a:endParaRPr lang="zh-CN" altLang="en-US" sz="2400" dirty="0"/>
          </a:p>
        </p:txBody>
      </p:sp>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71205" y="1134589"/>
            <a:ext cx="527050" cy="527050"/>
          </a:xfrm>
          <a:prstGeom prst="rect">
            <a:avLst/>
          </a:prstGeom>
          <a:ln>
            <a:noFill/>
          </a:ln>
          <a:effectLst>
            <a:softEdge rad="0"/>
          </a:effectLst>
        </p:spPr>
      </p:pic>
      <p:sp>
        <p:nvSpPr>
          <p:cNvPr id="35" name="îs1iďé"/>
          <p:cNvSpPr/>
          <p:nvPr/>
        </p:nvSpPr>
        <p:spPr>
          <a:xfrm>
            <a:off x="1288940" y="1712579"/>
            <a:ext cx="10231854" cy="3010341"/>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400" dirty="0"/>
              <a:t>将</a:t>
            </a:r>
            <a:r>
              <a:rPr lang="zh-CN" altLang="en-US" sz="2400" dirty="0">
                <a:solidFill>
                  <a:srgbClr val="FF0000"/>
                </a:solidFill>
              </a:rPr>
              <a:t>两台磁盘驱动器</a:t>
            </a:r>
            <a:r>
              <a:rPr lang="zh-CN" altLang="en-US" sz="2400" dirty="0"/>
              <a:t>分别接到</a:t>
            </a:r>
            <a:r>
              <a:rPr lang="zh-CN" altLang="en-US" sz="2400" dirty="0">
                <a:solidFill>
                  <a:srgbClr val="FF0000"/>
                </a:solidFill>
              </a:rPr>
              <a:t>两个磁盘控制器</a:t>
            </a:r>
            <a:r>
              <a:rPr lang="zh-CN" altLang="en-US" sz="2400" dirty="0"/>
              <a:t>上，同样使这两个磁盘控制器镜像成对</a:t>
            </a:r>
            <a:endParaRPr lang="zh-CN" altLang="en-US" sz="2400" dirty="0"/>
          </a:p>
        </p:txBody>
      </p:sp>
      <p:pic>
        <p:nvPicPr>
          <p:cNvPr id="36" name="图片 35"/>
          <p:cNvPicPr>
            <a:picLocks noChangeAspect="1"/>
          </p:cNvPicPr>
          <p:nvPr/>
        </p:nvPicPr>
        <p:blipFill>
          <a:blip r:embed="rId2"/>
          <a:stretch>
            <a:fillRect/>
          </a:stretch>
        </p:blipFill>
        <p:spPr>
          <a:xfrm>
            <a:off x="5672692" y="2715241"/>
            <a:ext cx="6178394" cy="3010340"/>
          </a:xfrm>
          <a:prstGeom prst="rect">
            <a:avLst/>
          </a:prstGeom>
        </p:spPr>
      </p:pic>
      <p:sp>
        <p:nvSpPr>
          <p:cNvPr id="38" name="îs1iďé"/>
          <p:cNvSpPr/>
          <p:nvPr/>
        </p:nvSpPr>
        <p:spPr>
          <a:xfrm>
            <a:off x="1288940" y="2715241"/>
            <a:ext cx="4380340" cy="3502679"/>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400" dirty="0"/>
              <a:t>文件服务器同时将数据写到两个处于不同控制器下的磁盘上，使两者有完全相同的位像图</a:t>
            </a:r>
            <a:endParaRPr lang="zh-CN" altLang="en-US" sz="2400" dirty="0"/>
          </a:p>
          <a:p>
            <a:pPr marL="342900" indent="-342900">
              <a:lnSpc>
                <a:spcPct val="120000"/>
              </a:lnSpc>
              <a:spcBef>
                <a:spcPts val="600"/>
              </a:spcBef>
              <a:buClr>
                <a:srgbClr val="FF0000"/>
              </a:buClr>
              <a:buFont typeface="Wingdings" panose="05000000000000000000" pitchFamily="2" charset="2"/>
              <a:buChar char="Ø"/>
            </a:pPr>
            <a:r>
              <a:rPr lang="zh-CN" altLang="en-US" sz="2400" dirty="0"/>
              <a:t>由于每个磁盘都有自己的独立通道，可同时（并行）将数据写入磁盘，或从磁盘中读出数据</a:t>
            </a:r>
            <a:endParaRPr lang="zh-CN" alt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9.4.3 </a:t>
            </a:r>
            <a:r>
              <a:rPr lang="zh-CN" altLang="en-US" sz="2800" b="1" dirty="0">
                <a:solidFill>
                  <a:schemeClr val="bg1"/>
                </a:solidFill>
              </a:rPr>
              <a:t>基于集群系统的容错技术</a:t>
            </a:r>
            <a:endParaRPr lang="zh-CN" altLang="en-US" sz="2800" b="1" dirty="0">
              <a:solidFill>
                <a:schemeClr val="bg1"/>
              </a:solidFill>
            </a:endParaRPr>
          </a:p>
        </p:txBody>
      </p:sp>
      <p:sp>
        <p:nvSpPr>
          <p:cNvPr id="8" name="内容占位符 2"/>
          <p:cNvSpPr txBox="1"/>
          <p:nvPr/>
        </p:nvSpPr>
        <p:spPr>
          <a:xfrm>
            <a:off x="669925" y="1108790"/>
            <a:ext cx="10586960" cy="65261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所谓</a:t>
            </a:r>
            <a:r>
              <a:rPr lang="zh-CN" altLang="en-US" sz="2400" dirty="0">
                <a:solidFill>
                  <a:srgbClr val="FF0000"/>
                </a:solidFill>
              </a:rPr>
              <a:t>集群</a:t>
            </a:r>
            <a:r>
              <a:rPr lang="zh-CN" altLang="en-US" sz="2400" dirty="0"/>
              <a:t>，是指</a:t>
            </a:r>
            <a:r>
              <a:rPr lang="zh-CN" altLang="en-US" sz="2400" dirty="0">
                <a:solidFill>
                  <a:srgbClr val="0000FF"/>
                </a:solidFill>
              </a:rPr>
              <a:t>由一组互连的自主计算机组成统一的计算机系统</a:t>
            </a:r>
            <a:r>
              <a:rPr lang="zh-CN" altLang="en-US" sz="2400" dirty="0"/>
              <a:t>。</a:t>
            </a:r>
            <a:endParaRPr lang="en-US" altLang="zh-CN" sz="2400" dirty="0"/>
          </a:p>
          <a:p>
            <a:pPr marL="0" indent="0">
              <a:lnSpc>
                <a:spcPct val="132000"/>
              </a:lnSpc>
              <a:spcBef>
                <a:spcPts val="580"/>
              </a:spcBef>
              <a:buNone/>
              <a:defRPr/>
            </a:pPr>
            <a:r>
              <a:rPr lang="zh-CN" altLang="en-US" sz="2400" dirty="0"/>
              <a:t>是使用最广泛的具有容错功能的集群系统，主要工作模式：</a:t>
            </a:r>
            <a:endParaRPr lang="zh-CN" altLang="en-US" sz="2400" dirty="0"/>
          </a:p>
        </p:txBody>
      </p:sp>
      <p:grpSp>
        <p:nvGrpSpPr>
          <p:cNvPr id="9" name="1859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5" y="2444474"/>
            <a:ext cx="10845555" cy="3512203"/>
            <a:chOff x="653805" y="1580300"/>
            <a:chExt cx="10845555" cy="3512203"/>
          </a:xfrm>
        </p:grpSpPr>
        <p:sp>
          <p:nvSpPr>
            <p:cNvPr id="10" name="íṥḻîḑe"/>
            <p:cNvSpPr/>
            <p:nvPr/>
          </p:nvSpPr>
          <p:spPr>
            <a:xfrm>
              <a:off x="682048" y="1580300"/>
              <a:ext cx="3476055" cy="2567583"/>
            </a:xfrm>
            <a:prstGeom prst="rect">
              <a:avLst/>
            </a:prstGeom>
            <a:blipFill>
              <a:blip r:embed="rId2"/>
              <a:srcRect/>
              <a:stretch>
                <a:fillRect t="-17779" b="-17603"/>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1" name="ïşḻiḍé"/>
            <p:cNvSpPr/>
            <p:nvPr/>
          </p:nvSpPr>
          <p:spPr>
            <a:xfrm>
              <a:off x="653805" y="4342473"/>
              <a:ext cx="3517243" cy="652615"/>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50000"/>
                </a:lnSpc>
              </a:pPr>
              <a:r>
                <a:rPr lang="zh-CN" altLang="en-US" sz="2400" dirty="0">
                  <a:solidFill>
                    <a:schemeClr val="tx1"/>
                  </a:solidFill>
                </a:rPr>
                <a:t>双机热备份模式</a:t>
              </a:r>
              <a:endParaRPr lang="zh-CN" altLang="en-US" sz="2400" dirty="0">
                <a:solidFill>
                  <a:schemeClr val="tx1"/>
                </a:solidFill>
              </a:endParaRPr>
            </a:p>
          </p:txBody>
        </p:sp>
        <p:sp>
          <p:nvSpPr>
            <p:cNvPr id="12" name="îŝļiḋe"/>
            <p:cNvSpPr/>
            <p:nvPr/>
          </p:nvSpPr>
          <p:spPr>
            <a:xfrm>
              <a:off x="4352677" y="1580300"/>
              <a:ext cx="3476055" cy="2567583"/>
            </a:xfrm>
            <a:prstGeom prst="rect">
              <a:avLst/>
            </a:prstGeom>
            <a:blipFill>
              <a:blip r:embed="rId3"/>
              <a:srcRect/>
              <a:stretch>
                <a:fillRect t="-50445" b="-4994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3" name="ïšlïḑè"/>
            <p:cNvSpPr/>
            <p:nvPr/>
          </p:nvSpPr>
          <p:spPr>
            <a:xfrm>
              <a:off x="4324434" y="4342473"/>
              <a:ext cx="3517243" cy="75003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p>
              <a:pPr>
                <a:lnSpc>
                  <a:spcPct val="150000"/>
                </a:lnSpc>
              </a:pPr>
              <a:r>
                <a:rPr lang="zh-CN" altLang="en-US" sz="2400" dirty="0">
                  <a:solidFill>
                    <a:schemeClr val="tx1"/>
                  </a:solidFill>
                </a:rPr>
                <a:t>双机互为备份模式</a:t>
              </a:r>
              <a:endParaRPr lang="zh-CN" altLang="en-US" sz="2400" dirty="0">
                <a:solidFill>
                  <a:schemeClr val="tx1"/>
                </a:solidFill>
              </a:endParaRPr>
            </a:p>
          </p:txBody>
        </p:sp>
        <p:sp>
          <p:nvSpPr>
            <p:cNvPr id="14" name="íŝḻiďé"/>
            <p:cNvSpPr/>
            <p:nvPr/>
          </p:nvSpPr>
          <p:spPr>
            <a:xfrm>
              <a:off x="8023305" y="1580300"/>
              <a:ext cx="3476055" cy="2567583"/>
            </a:xfrm>
            <a:prstGeom prst="rect">
              <a:avLst/>
            </a:prstGeom>
            <a:blipFill>
              <a:blip r:embed="rId4"/>
              <a:srcRect/>
              <a:stretch>
                <a:fillRect l="-5418" r="-537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5" name="í$ḷîḋe"/>
            <p:cNvSpPr/>
            <p:nvPr/>
          </p:nvSpPr>
          <p:spPr>
            <a:xfrm>
              <a:off x="7995062" y="4342473"/>
              <a:ext cx="3497703" cy="652615"/>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30000"/>
                </a:lnSpc>
              </a:pPr>
              <a:r>
                <a:rPr lang="zh-CN" altLang="en-US" sz="2400" dirty="0">
                  <a:solidFill>
                    <a:schemeClr val="tx1"/>
                  </a:solidFill>
                </a:rPr>
                <a:t>公用磁盘模式</a:t>
              </a:r>
              <a:endParaRPr lang="zh-CN" altLang="en-US" sz="2400" dirty="0">
                <a:solidFill>
                  <a:schemeClr val="tx1"/>
                </a:solidFill>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双机热备份</a:t>
            </a:r>
            <a:endParaRPr lang="zh-CN" altLang="en-US" sz="2800" b="1" dirty="0">
              <a:solidFill>
                <a:schemeClr val="bg1"/>
              </a:solidFill>
            </a:endParaRPr>
          </a:p>
        </p:txBody>
      </p:sp>
      <p:sp>
        <p:nvSpPr>
          <p:cNvPr id="8" name="内容占位符 2"/>
          <p:cNvSpPr txBox="1"/>
          <p:nvPr/>
        </p:nvSpPr>
        <p:spPr>
          <a:xfrm>
            <a:off x="669925" y="1108790"/>
            <a:ext cx="10586960" cy="65261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系统备有两台服务器，处理能力通常是完全相同的，</a:t>
            </a:r>
            <a:r>
              <a:rPr lang="zh-CN" altLang="en-US" sz="2400" dirty="0">
                <a:solidFill>
                  <a:srgbClr val="FF0000"/>
                </a:solidFill>
              </a:rPr>
              <a:t>一台作为主服务器</a:t>
            </a:r>
            <a:r>
              <a:rPr lang="zh-CN" altLang="en-US" sz="2400" dirty="0"/>
              <a:t>，</a:t>
            </a:r>
            <a:r>
              <a:rPr lang="zh-CN" altLang="en-US" sz="2400" dirty="0">
                <a:solidFill>
                  <a:srgbClr val="0000FF"/>
                </a:solidFill>
              </a:rPr>
              <a:t>另一台作为备份服务器。</a:t>
            </a:r>
            <a:endParaRPr lang="zh-CN" altLang="en-US" sz="2400" dirty="0">
              <a:solidFill>
                <a:srgbClr val="0000FF"/>
              </a:solidFill>
            </a:endParaRPr>
          </a:p>
        </p:txBody>
      </p:sp>
      <p:sp>
        <p:nvSpPr>
          <p:cNvPr id="16" name="îs1iďé"/>
          <p:cNvSpPr/>
          <p:nvPr/>
        </p:nvSpPr>
        <p:spPr>
          <a:xfrm>
            <a:off x="669925" y="2209955"/>
            <a:ext cx="10586960" cy="2494145"/>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400" dirty="0"/>
              <a:t>平时，主服务器运行，备份服务器则时刻监视着主服务器的运行情况，一旦主服务器出现故障，备份服务器便立即接替主服务器的工作而成为系统中的新的主服务器修复后的原来的主服务器作为备份服务器</a:t>
            </a:r>
            <a:endParaRPr lang="zh-CN" altLang="en-US" sz="2400" dirty="0"/>
          </a:p>
        </p:txBody>
      </p:sp>
      <p:pic>
        <p:nvPicPr>
          <p:cNvPr id="17" name="图片 16"/>
          <p:cNvPicPr>
            <a:picLocks noChangeAspect="1"/>
          </p:cNvPicPr>
          <p:nvPr/>
        </p:nvPicPr>
        <p:blipFill>
          <a:blip r:embed="rId1"/>
          <a:stretch>
            <a:fillRect/>
          </a:stretch>
        </p:blipFill>
        <p:spPr>
          <a:xfrm>
            <a:off x="4545913" y="4172426"/>
            <a:ext cx="6859686" cy="1670463"/>
          </a:xfrm>
          <a:prstGeom prst="rect">
            <a:avLst/>
          </a:prstGeom>
        </p:spPr>
      </p:pic>
      <p:sp>
        <p:nvSpPr>
          <p:cNvPr id="18" name="îs1iďé"/>
          <p:cNvSpPr/>
          <p:nvPr/>
        </p:nvSpPr>
        <p:spPr>
          <a:xfrm>
            <a:off x="669925" y="3577940"/>
            <a:ext cx="3727274" cy="2859436"/>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400" dirty="0"/>
              <a:t>优点：提高了系统的可用性，易于实现，支持远程热备份</a:t>
            </a:r>
            <a:endParaRPr lang="zh-CN" altLang="en-US" sz="2400" dirty="0"/>
          </a:p>
          <a:p>
            <a:pPr marL="342900" indent="-342900">
              <a:lnSpc>
                <a:spcPct val="120000"/>
              </a:lnSpc>
              <a:spcBef>
                <a:spcPts val="600"/>
              </a:spcBef>
              <a:buClr>
                <a:srgbClr val="FF0000"/>
              </a:buClr>
              <a:buFont typeface="Wingdings" panose="05000000000000000000" pitchFamily="2" charset="2"/>
              <a:buChar char="Ø"/>
            </a:pPr>
            <a:r>
              <a:rPr lang="zh-CN" altLang="en-US" sz="2400" dirty="0"/>
              <a:t>缺点：备份服务器处于被动等待状态，整个系统的使用效率只有</a:t>
            </a:r>
            <a:r>
              <a:rPr lang="en-US" altLang="zh-CN" sz="2400" dirty="0"/>
              <a:t>50%</a:t>
            </a:r>
            <a:endParaRPr lang="en-US" altLang="zh-CN"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双机互为备份模式</a:t>
            </a:r>
            <a:endParaRPr lang="zh-CN" altLang="en-US" sz="2800" b="1" dirty="0">
              <a:solidFill>
                <a:schemeClr val="bg1"/>
              </a:solidFill>
            </a:endParaRPr>
          </a:p>
        </p:txBody>
      </p:sp>
      <p:sp>
        <p:nvSpPr>
          <p:cNvPr id="16" name="îs1iďé"/>
          <p:cNvSpPr/>
          <p:nvPr/>
        </p:nvSpPr>
        <p:spPr>
          <a:xfrm>
            <a:off x="669925" y="1213259"/>
            <a:ext cx="3691763" cy="4254853"/>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400" dirty="0"/>
              <a:t>两台服务器在平时均为在线服务器，各自完成自己的任务，两者互为备份。</a:t>
            </a:r>
            <a:endParaRPr lang="zh-CN" altLang="en-US" sz="2400" dirty="0"/>
          </a:p>
          <a:p>
            <a:pPr marL="342900" indent="-342900">
              <a:lnSpc>
                <a:spcPct val="120000"/>
              </a:lnSpc>
              <a:spcBef>
                <a:spcPts val="600"/>
              </a:spcBef>
              <a:buClr>
                <a:srgbClr val="FF0000"/>
              </a:buClr>
              <a:buFont typeface="Wingdings" panose="05000000000000000000" pitchFamily="2" charset="2"/>
              <a:buChar char="Ø"/>
            </a:pPr>
            <a:r>
              <a:rPr lang="zh-CN" altLang="en-US" sz="2400" dirty="0">
                <a:solidFill>
                  <a:srgbClr val="FF0000"/>
                </a:solidFill>
              </a:rPr>
              <a:t>优点</a:t>
            </a:r>
            <a:r>
              <a:rPr lang="zh-CN" altLang="en-US" sz="2400" dirty="0"/>
              <a:t>是</a:t>
            </a:r>
            <a:r>
              <a:rPr lang="zh-CN" altLang="en-US" sz="2400" dirty="0">
                <a:solidFill>
                  <a:srgbClr val="0000FF"/>
                </a:solidFill>
              </a:rPr>
              <a:t>两台服务器都可用于处理任务，因而系统效率较高。</a:t>
            </a:r>
            <a:endParaRPr lang="zh-CN" altLang="en-US" sz="2400" dirty="0">
              <a:solidFill>
                <a:srgbClr val="0000FF"/>
              </a:solidFill>
            </a:endParaRPr>
          </a:p>
          <a:p>
            <a:pPr marL="342900" indent="-342900">
              <a:lnSpc>
                <a:spcPct val="120000"/>
              </a:lnSpc>
              <a:spcBef>
                <a:spcPts val="600"/>
              </a:spcBef>
              <a:buClr>
                <a:srgbClr val="FF0000"/>
              </a:buClr>
              <a:buFont typeface="Wingdings" panose="05000000000000000000" pitchFamily="2" charset="2"/>
              <a:buChar char="Ø"/>
            </a:pPr>
            <a:r>
              <a:rPr lang="zh-CN" altLang="en-US" sz="2400" dirty="0"/>
              <a:t>这种模式现已从两台机器扩大到</a:t>
            </a:r>
            <a:r>
              <a:rPr lang="en-US" altLang="zh-CN" sz="2400" dirty="0"/>
              <a:t>4</a:t>
            </a:r>
            <a:r>
              <a:rPr lang="zh-CN" altLang="en-US" sz="2400" dirty="0"/>
              <a:t>台、</a:t>
            </a:r>
            <a:r>
              <a:rPr lang="en-US" altLang="zh-CN" sz="2400" dirty="0"/>
              <a:t>8</a:t>
            </a:r>
            <a:r>
              <a:rPr lang="zh-CN" altLang="en-US" sz="2400" dirty="0"/>
              <a:t>台、</a:t>
            </a:r>
            <a:r>
              <a:rPr lang="en-US" altLang="zh-CN" sz="2400" dirty="0"/>
              <a:t>16</a:t>
            </a:r>
            <a:r>
              <a:rPr lang="zh-CN" altLang="en-US" sz="2400" dirty="0"/>
              <a:t>台甚至更多。</a:t>
            </a:r>
            <a:endParaRPr lang="zh-CN" altLang="en-US" sz="2400" dirty="0"/>
          </a:p>
        </p:txBody>
      </p:sp>
      <p:pic>
        <p:nvPicPr>
          <p:cNvPr id="7" name="图片 6"/>
          <p:cNvPicPr>
            <a:picLocks noChangeAspect="1"/>
          </p:cNvPicPr>
          <p:nvPr/>
        </p:nvPicPr>
        <p:blipFill>
          <a:blip r:embed="rId1"/>
          <a:stretch>
            <a:fillRect/>
          </a:stretch>
        </p:blipFill>
        <p:spPr>
          <a:xfrm>
            <a:off x="4361688" y="1213259"/>
            <a:ext cx="7425627" cy="4849213"/>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公用磁盘模式</a:t>
            </a:r>
            <a:endParaRPr lang="zh-CN" altLang="en-US" sz="2800" b="1" dirty="0">
              <a:solidFill>
                <a:schemeClr val="bg1"/>
              </a:solidFill>
            </a:endParaRPr>
          </a:p>
        </p:txBody>
      </p:sp>
      <p:sp>
        <p:nvSpPr>
          <p:cNvPr id="29" name="ïşľîďè"/>
          <p:cNvSpPr/>
          <p:nvPr/>
        </p:nvSpPr>
        <p:spPr>
          <a:xfrm>
            <a:off x="259042" y="1214021"/>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31" name="îŝļiḋe"/>
          <p:cNvSpPr/>
          <p:nvPr/>
        </p:nvSpPr>
        <p:spPr>
          <a:xfrm>
            <a:off x="4271749" y="1214021"/>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32" name="í$1iďè"/>
          <p:cNvGrpSpPr/>
          <p:nvPr/>
        </p:nvGrpSpPr>
        <p:grpSpPr>
          <a:xfrm>
            <a:off x="4396037" y="1491768"/>
            <a:ext cx="7381904" cy="1002148"/>
            <a:chOff x="4136995" y="1408047"/>
            <a:chExt cx="7381904" cy="1002148"/>
          </a:xfrm>
        </p:grpSpPr>
        <p:sp>
          <p:nvSpPr>
            <p:cNvPr id="34"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36" name="ïSḻiḍé"/>
            <p:cNvSpPr txBox="1"/>
            <p:nvPr/>
          </p:nvSpPr>
          <p:spPr>
            <a:xfrm>
              <a:off x="4882718" y="1408047"/>
              <a:ext cx="6636181" cy="1002148"/>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3000"/>
                </a:lnSpc>
                <a:spcBef>
                  <a:spcPts val="600"/>
                </a:spcBef>
                <a:defRPr/>
              </a:pPr>
              <a:r>
                <a:rPr lang="zh-CN" altLang="en-US" sz="2400" dirty="0"/>
                <a:t>将多台计算机连接到一台公用磁盘上，该磁盘被划分为若干个卷，每台计算机使用一个卷</a:t>
              </a:r>
              <a:endParaRPr lang="zh-CN" altLang="en-US" sz="2400" dirty="0"/>
            </a:p>
          </p:txBody>
        </p:sp>
      </p:grpSp>
      <p:grpSp>
        <p:nvGrpSpPr>
          <p:cNvPr id="38" name="išḷîḓé"/>
          <p:cNvGrpSpPr/>
          <p:nvPr/>
        </p:nvGrpSpPr>
        <p:grpSpPr>
          <a:xfrm>
            <a:off x="4396037" y="3073347"/>
            <a:ext cx="7536922" cy="801176"/>
            <a:chOff x="4136995" y="3233565"/>
            <a:chExt cx="7536922" cy="801176"/>
          </a:xfrm>
        </p:grpSpPr>
        <p:sp>
          <p:nvSpPr>
            <p:cNvPr id="39"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40" name="îŝľîḓè"/>
            <p:cNvSpPr txBox="1"/>
            <p:nvPr/>
          </p:nvSpPr>
          <p:spPr>
            <a:xfrm>
              <a:off x="4882719" y="3233565"/>
              <a:ext cx="6791198" cy="80117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t>如果某台计算机发生故障，则系统将重新进行配置，即根据某种调度策略来选择另一台机器进行替代</a:t>
              </a:r>
              <a:endParaRPr lang="zh-CN" altLang="en-US" sz="2400" dirty="0"/>
            </a:p>
          </p:txBody>
        </p:sp>
      </p:grpSp>
      <p:grpSp>
        <p:nvGrpSpPr>
          <p:cNvPr id="42" name="ïSlíḍê"/>
          <p:cNvGrpSpPr/>
          <p:nvPr/>
        </p:nvGrpSpPr>
        <p:grpSpPr>
          <a:xfrm>
            <a:off x="4396037" y="4451663"/>
            <a:ext cx="7637467" cy="1311067"/>
            <a:chOff x="4136995" y="4714289"/>
            <a:chExt cx="7637467" cy="1311067"/>
          </a:xfrm>
        </p:grpSpPr>
        <p:sp>
          <p:nvSpPr>
            <p:cNvPr id="44"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45" name="íṧļîḋê"/>
            <p:cNvSpPr txBox="1"/>
            <p:nvPr/>
          </p:nvSpPr>
          <p:spPr>
            <a:xfrm>
              <a:off x="4882717" y="4714289"/>
              <a:ext cx="6891745"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3000"/>
                </a:lnSpc>
                <a:spcBef>
                  <a:spcPts val="600"/>
                </a:spcBef>
                <a:defRPr/>
              </a:pPr>
              <a:r>
                <a:rPr lang="zh-CN" altLang="en-US" sz="2400" dirty="0">
                  <a:solidFill>
                    <a:srgbClr val="FF0000"/>
                  </a:solidFill>
                </a:rPr>
                <a:t>优点</a:t>
              </a:r>
              <a:r>
                <a:rPr lang="zh-CN" altLang="en-US" sz="2400" dirty="0"/>
                <a:t>是</a:t>
              </a:r>
              <a:r>
                <a:rPr lang="zh-CN" altLang="en-US" sz="2400" dirty="0">
                  <a:solidFill>
                    <a:srgbClr val="0000FF"/>
                  </a:solidFill>
                </a:rPr>
                <a:t>消除了信息的复制时间，因而减少了网络和服务器开销。</a:t>
              </a:r>
              <a:endParaRPr lang="zh-CN" altLang="en-US" sz="2400" dirty="0">
                <a:solidFill>
                  <a:srgbClr val="0000FF"/>
                </a:solidFill>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9.4.4 </a:t>
            </a:r>
            <a:r>
              <a:rPr lang="zh-CN" altLang="en-US" sz="2800" b="1" dirty="0">
                <a:solidFill>
                  <a:schemeClr val="bg1"/>
                </a:solidFill>
              </a:rPr>
              <a:t>后备系统</a:t>
            </a:r>
            <a:endParaRPr lang="zh-CN" altLang="en-US" sz="2800" b="1" dirty="0">
              <a:solidFill>
                <a:schemeClr val="bg1"/>
              </a:solidFill>
            </a:endParaRPr>
          </a:p>
        </p:txBody>
      </p:sp>
      <p:sp>
        <p:nvSpPr>
          <p:cNvPr id="8" name="内容占位符 2"/>
          <p:cNvSpPr txBox="1"/>
          <p:nvPr/>
        </p:nvSpPr>
        <p:spPr>
          <a:xfrm>
            <a:off x="669925" y="1150670"/>
            <a:ext cx="10586960" cy="116389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solidFill>
                  <a:srgbClr val="FF0000"/>
                </a:solidFill>
              </a:rPr>
              <a:t>后备系统</a:t>
            </a:r>
            <a:r>
              <a:rPr lang="zh-CN" altLang="en-US" sz="2400" dirty="0"/>
              <a:t>：保存暂时不需要但仍然有用的数据</a:t>
            </a:r>
            <a:endParaRPr lang="zh-CN" altLang="en-US" sz="2400" dirty="0"/>
          </a:p>
          <a:p>
            <a:pPr marL="0" indent="0">
              <a:lnSpc>
                <a:spcPct val="132000"/>
              </a:lnSpc>
              <a:spcBef>
                <a:spcPts val="580"/>
              </a:spcBef>
              <a:buNone/>
              <a:defRPr/>
            </a:pPr>
            <a:r>
              <a:rPr lang="zh-CN" altLang="en-US" sz="2400" dirty="0"/>
              <a:t>常用后备系统的设备</a:t>
            </a:r>
            <a:endParaRPr lang="zh-CN" altLang="en-US" sz="2400" dirty="0"/>
          </a:p>
        </p:txBody>
      </p:sp>
      <p:grpSp>
        <p:nvGrpSpPr>
          <p:cNvPr id="7" name="1859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5" y="2613150"/>
            <a:ext cx="10845555" cy="3512203"/>
            <a:chOff x="653805" y="1580300"/>
            <a:chExt cx="10845555" cy="3512203"/>
          </a:xfrm>
        </p:grpSpPr>
        <p:sp>
          <p:nvSpPr>
            <p:cNvPr id="9" name="íṥḻîḑe"/>
            <p:cNvSpPr/>
            <p:nvPr/>
          </p:nvSpPr>
          <p:spPr>
            <a:xfrm>
              <a:off x="682048" y="1580300"/>
              <a:ext cx="3476055" cy="2567583"/>
            </a:xfrm>
            <a:prstGeom prst="rect">
              <a:avLst/>
            </a:prstGeom>
            <a:blipFill>
              <a:blip r:embed="rId2"/>
              <a:srcRect/>
              <a:stretch>
                <a:fillRect t="-17779" b="-17603"/>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0" name="ïşḻiḍé"/>
            <p:cNvSpPr/>
            <p:nvPr/>
          </p:nvSpPr>
          <p:spPr>
            <a:xfrm>
              <a:off x="653805" y="4342473"/>
              <a:ext cx="3517243" cy="652615"/>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lnSpc>
                  <a:spcPct val="150000"/>
                </a:lnSpc>
              </a:pPr>
              <a:r>
                <a:rPr lang="zh-CN" altLang="en-US" sz="2400" dirty="0">
                  <a:solidFill>
                    <a:schemeClr val="tx1"/>
                  </a:solidFill>
                </a:rPr>
                <a:t>磁带机</a:t>
              </a:r>
              <a:endParaRPr lang="zh-CN" altLang="en-US" sz="2400" dirty="0">
                <a:solidFill>
                  <a:schemeClr val="tx1"/>
                </a:solidFill>
              </a:endParaRPr>
            </a:p>
          </p:txBody>
        </p:sp>
        <p:sp>
          <p:nvSpPr>
            <p:cNvPr id="11" name="îŝļiḋe"/>
            <p:cNvSpPr/>
            <p:nvPr/>
          </p:nvSpPr>
          <p:spPr>
            <a:xfrm>
              <a:off x="4352677" y="1580300"/>
              <a:ext cx="3476055" cy="2567583"/>
            </a:xfrm>
            <a:prstGeom prst="rect">
              <a:avLst/>
            </a:prstGeom>
            <a:blipFill>
              <a:blip r:embed="rId3"/>
              <a:srcRect/>
              <a:stretch>
                <a:fillRect t="-50445" b="-4994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2" name="ïšlïḑè"/>
            <p:cNvSpPr/>
            <p:nvPr/>
          </p:nvSpPr>
          <p:spPr>
            <a:xfrm>
              <a:off x="4324434" y="4342473"/>
              <a:ext cx="3517243" cy="75003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p>
              <a:pPr algn="ctr">
                <a:lnSpc>
                  <a:spcPct val="150000"/>
                </a:lnSpc>
              </a:pPr>
              <a:r>
                <a:rPr lang="zh-CN" altLang="en-US" sz="2400" dirty="0">
                  <a:solidFill>
                    <a:schemeClr val="tx1"/>
                  </a:solidFill>
                </a:rPr>
                <a:t>硬盘</a:t>
              </a:r>
              <a:endParaRPr lang="zh-CN" altLang="en-US" sz="2400" dirty="0">
                <a:solidFill>
                  <a:schemeClr val="tx1"/>
                </a:solidFill>
              </a:endParaRPr>
            </a:p>
          </p:txBody>
        </p:sp>
        <p:sp>
          <p:nvSpPr>
            <p:cNvPr id="13" name="íŝḻiďé"/>
            <p:cNvSpPr/>
            <p:nvPr/>
          </p:nvSpPr>
          <p:spPr>
            <a:xfrm>
              <a:off x="8023305" y="1580300"/>
              <a:ext cx="3476055" cy="2567583"/>
            </a:xfrm>
            <a:prstGeom prst="rect">
              <a:avLst/>
            </a:prstGeom>
            <a:blipFill>
              <a:blip r:embed="rId4"/>
              <a:srcRect/>
              <a:stretch>
                <a:fillRect l="-5418" r="-537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4" name="í$ḷîḋe"/>
            <p:cNvSpPr/>
            <p:nvPr/>
          </p:nvSpPr>
          <p:spPr>
            <a:xfrm>
              <a:off x="7995062" y="4342473"/>
              <a:ext cx="3497703" cy="652615"/>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lnSpc>
                  <a:spcPct val="130000"/>
                </a:lnSpc>
              </a:pPr>
              <a:r>
                <a:rPr lang="zh-CN" altLang="en-US" sz="2400" dirty="0">
                  <a:solidFill>
                    <a:schemeClr val="tx1"/>
                  </a:solidFill>
                </a:rPr>
                <a:t>光盘驱动器</a:t>
              </a:r>
              <a:endParaRPr lang="zh-CN" altLang="en-US" sz="2400" dirty="0">
                <a:solidFill>
                  <a:schemeClr val="tx1"/>
                </a:solidFill>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476238"/>
            <a:ext cx="4500146" cy="461665"/>
          </a:xfrm>
          <a:prstGeom prst="rect">
            <a:avLst/>
          </a:prstGeom>
        </p:spPr>
        <p:txBody>
          <a:bodyPr wrap="square">
            <a:spAutoFit/>
          </a:bodyPr>
          <a:lstStyle/>
          <a:p>
            <a:r>
              <a:rPr lang="en-US" altLang="zh-CN" sz="2400" dirty="0">
                <a:latin typeface="+mj-ea"/>
                <a:ea typeface="+mj-ea"/>
              </a:rPr>
              <a:t>9.1 </a:t>
            </a:r>
            <a:r>
              <a:rPr lang="zh-CN" altLang="en-US" sz="2400" dirty="0">
                <a:latin typeface="+mj-ea"/>
                <a:ea typeface="+mj-ea"/>
              </a:rPr>
              <a:t>外存的组织方式</a:t>
            </a:r>
            <a:endParaRPr lang="zh-CN" altLang="en-US" sz="2400" dirty="0">
              <a:latin typeface="+mj-ea"/>
              <a:ea typeface="+mj-ea"/>
            </a:endParaRPr>
          </a:p>
        </p:txBody>
      </p:sp>
      <p:sp>
        <p:nvSpPr>
          <p:cNvPr id="23" name="矩形 22"/>
          <p:cNvSpPr/>
          <p:nvPr/>
        </p:nvSpPr>
        <p:spPr>
          <a:xfrm>
            <a:off x="1696469" y="2114413"/>
            <a:ext cx="3682150" cy="461665"/>
          </a:xfrm>
          <a:prstGeom prst="rect">
            <a:avLst/>
          </a:prstGeom>
        </p:spPr>
        <p:txBody>
          <a:bodyPr wrap="square">
            <a:spAutoFit/>
          </a:bodyPr>
          <a:lstStyle/>
          <a:p>
            <a:r>
              <a:rPr lang="en-US" altLang="zh-CN" sz="2400" dirty="0">
                <a:latin typeface="+mj-ea"/>
              </a:rPr>
              <a:t>9.1.1 </a:t>
            </a:r>
            <a:r>
              <a:rPr lang="zh-CN" altLang="en-US" sz="2400" dirty="0">
                <a:latin typeface="+mj-ea"/>
              </a:rPr>
              <a:t>连续组织方式</a:t>
            </a:r>
            <a:endParaRPr lang="en-US" altLang="zh-CN" sz="2400" dirty="0">
              <a:latin typeface="+mj-ea"/>
            </a:endParaRPr>
          </a:p>
        </p:txBody>
      </p:sp>
      <p:sp>
        <p:nvSpPr>
          <p:cNvPr id="24" name="矩形 23"/>
          <p:cNvSpPr/>
          <p:nvPr/>
        </p:nvSpPr>
        <p:spPr>
          <a:xfrm>
            <a:off x="1696468" y="2733538"/>
            <a:ext cx="3488967" cy="461665"/>
          </a:xfrm>
          <a:prstGeom prst="rect">
            <a:avLst/>
          </a:prstGeom>
        </p:spPr>
        <p:txBody>
          <a:bodyPr wrap="square">
            <a:spAutoFit/>
          </a:bodyPr>
          <a:lstStyle/>
          <a:p>
            <a:r>
              <a:rPr lang="en-US" altLang="zh-CN" sz="2400" dirty="0">
                <a:latin typeface="+mj-ea"/>
              </a:rPr>
              <a:t>9.1.2 </a:t>
            </a:r>
            <a:r>
              <a:rPr lang="zh-CN" altLang="en-US" sz="2400" dirty="0">
                <a:latin typeface="+mj-ea"/>
              </a:rPr>
              <a:t>链接组织方式</a:t>
            </a:r>
            <a:endParaRPr lang="en-US" altLang="zh-CN" sz="2400" dirty="0">
              <a:latin typeface="+mj-ea"/>
            </a:endParaRPr>
          </a:p>
        </p:txBody>
      </p:sp>
      <p:sp>
        <p:nvSpPr>
          <p:cNvPr id="25" name="矩形 24"/>
          <p:cNvSpPr/>
          <p:nvPr/>
        </p:nvSpPr>
        <p:spPr>
          <a:xfrm>
            <a:off x="1696468" y="3352663"/>
            <a:ext cx="3488967" cy="461665"/>
          </a:xfrm>
          <a:prstGeom prst="rect">
            <a:avLst/>
          </a:prstGeom>
        </p:spPr>
        <p:txBody>
          <a:bodyPr wrap="square">
            <a:spAutoFit/>
          </a:bodyPr>
          <a:lstStyle/>
          <a:p>
            <a:r>
              <a:rPr lang="en-US" altLang="zh-CN" sz="2400" dirty="0">
                <a:latin typeface="+mj-ea"/>
              </a:rPr>
              <a:t>9.1.1 </a:t>
            </a:r>
            <a:r>
              <a:rPr lang="zh-CN" altLang="en-US" sz="2400" dirty="0">
                <a:latin typeface="+mj-ea"/>
              </a:rPr>
              <a:t>索引组织方式</a:t>
            </a:r>
            <a:endParaRPr lang="en-US" altLang="zh-CN" sz="2400" dirty="0">
              <a:latin typeface="+mj-ea"/>
            </a:endParaRPr>
          </a:p>
        </p:txBody>
      </p:sp>
      <p:sp>
        <p:nvSpPr>
          <p:cNvPr id="27" name="矩形 26"/>
          <p:cNvSpPr/>
          <p:nvPr/>
        </p:nvSpPr>
        <p:spPr>
          <a:xfrm>
            <a:off x="1696469" y="3971788"/>
            <a:ext cx="5478772" cy="461665"/>
          </a:xfrm>
          <a:prstGeom prst="rect">
            <a:avLst/>
          </a:prstGeom>
        </p:spPr>
        <p:txBody>
          <a:bodyPr wrap="square">
            <a:spAutoFit/>
          </a:bodyPr>
          <a:lstStyle/>
          <a:p>
            <a:r>
              <a:rPr lang="en-US" altLang="zh-CN" sz="2400" dirty="0">
                <a:latin typeface="+mj-ea"/>
              </a:rPr>
              <a:t>9.2 </a:t>
            </a:r>
            <a:r>
              <a:rPr lang="zh-CN" altLang="en-US" sz="2400" dirty="0">
                <a:latin typeface="+mj-ea"/>
              </a:rPr>
              <a:t>文件存储空间的管理</a:t>
            </a:r>
            <a:endParaRPr lang="zh-CN" altLang="en-US" sz="2400" dirty="0">
              <a:latin typeface="+mj-ea"/>
            </a:endParaRPr>
          </a:p>
        </p:txBody>
      </p:sp>
      <p:sp>
        <p:nvSpPr>
          <p:cNvPr id="28" name="矩形 27"/>
          <p:cNvSpPr/>
          <p:nvPr/>
        </p:nvSpPr>
        <p:spPr>
          <a:xfrm>
            <a:off x="1696468" y="4590913"/>
            <a:ext cx="4769645" cy="461665"/>
          </a:xfrm>
          <a:prstGeom prst="rect">
            <a:avLst/>
          </a:prstGeom>
        </p:spPr>
        <p:txBody>
          <a:bodyPr wrap="square">
            <a:spAutoFit/>
          </a:bodyPr>
          <a:lstStyle/>
          <a:p>
            <a:r>
              <a:rPr lang="en-US" altLang="zh-CN" sz="2400" dirty="0">
                <a:latin typeface="+mj-ea"/>
              </a:rPr>
              <a:t>9.3 </a:t>
            </a:r>
            <a:r>
              <a:rPr lang="zh-CN" altLang="en-US" sz="2400" dirty="0">
                <a:latin typeface="+mj-ea"/>
              </a:rPr>
              <a:t>提高磁盘</a:t>
            </a:r>
            <a:r>
              <a:rPr lang="en-US" altLang="zh-CN" sz="2400" dirty="0">
                <a:latin typeface="+mj-ea"/>
              </a:rPr>
              <a:t>I/O</a:t>
            </a:r>
            <a:r>
              <a:rPr lang="zh-CN" altLang="en-US" sz="2400" dirty="0">
                <a:latin typeface="+mj-ea"/>
              </a:rPr>
              <a:t>速度的途径</a:t>
            </a:r>
            <a:endParaRPr lang="zh-CN" altLang="en-US" sz="2400" dirty="0">
              <a:latin typeface="+mj-ea"/>
            </a:endParaRPr>
          </a:p>
        </p:txBody>
      </p:sp>
      <p:sp>
        <p:nvSpPr>
          <p:cNvPr id="29" name="矩形 28"/>
          <p:cNvSpPr/>
          <p:nvPr/>
        </p:nvSpPr>
        <p:spPr>
          <a:xfrm>
            <a:off x="1696468" y="5210038"/>
            <a:ext cx="4620355" cy="461665"/>
          </a:xfrm>
          <a:prstGeom prst="rect">
            <a:avLst/>
          </a:prstGeom>
        </p:spPr>
        <p:txBody>
          <a:bodyPr wrap="square">
            <a:spAutoFit/>
          </a:bodyPr>
          <a:lstStyle/>
          <a:p>
            <a:r>
              <a:rPr lang="en-US" altLang="zh-CN" sz="2400" dirty="0">
                <a:latin typeface="+mj-ea"/>
              </a:rPr>
              <a:t>9.4 </a:t>
            </a:r>
            <a:r>
              <a:rPr lang="zh-CN" altLang="en-US" sz="2400" dirty="0">
                <a:latin typeface="+mj-ea"/>
              </a:rPr>
              <a:t>提高磁盘可靠性的技术</a:t>
            </a:r>
            <a:endParaRPr lang="zh-CN" altLang="en-US" sz="2400" dirty="0">
              <a:latin typeface="+mj-ea"/>
            </a:endParaRPr>
          </a:p>
        </p:txBody>
      </p:sp>
      <p:sp>
        <p:nvSpPr>
          <p:cNvPr id="3" name="矩形 2"/>
          <p:cNvSpPr/>
          <p:nvPr/>
        </p:nvSpPr>
        <p:spPr>
          <a:xfrm>
            <a:off x="6466113" y="2386337"/>
            <a:ext cx="5191691" cy="646331"/>
          </a:xfrm>
          <a:prstGeom prst="rect">
            <a:avLst/>
          </a:prstGeom>
        </p:spPr>
        <p:txBody>
          <a:bodyPr wrap="square">
            <a:spAutoFit/>
          </a:bodyPr>
          <a:lstStyle/>
          <a:p>
            <a:r>
              <a:rPr lang="zh-CN" altLang="en-US" sz="3600" dirty="0">
                <a:solidFill>
                  <a:srgbClr val="000000"/>
                </a:solidFill>
              </a:rPr>
              <a:t>第</a:t>
            </a:r>
            <a:r>
              <a:rPr lang="en-US" altLang="zh-CN" sz="3600" dirty="0">
                <a:solidFill>
                  <a:srgbClr val="000000"/>
                </a:solidFill>
              </a:rPr>
              <a:t>9</a:t>
            </a:r>
            <a:r>
              <a:rPr lang="zh-CN" altLang="en-US" sz="3600" dirty="0">
                <a:solidFill>
                  <a:srgbClr val="000000"/>
                </a:solidFill>
              </a:rPr>
              <a:t>章    磁盘存储器管理</a:t>
            </a:r>
            <a:endParaRPr lang="zh-CN" altLang="en-US" sz="3600" dirty="0"/>
          </a:p>
        </p:txBody>
      </p:sp>
      <p:cxnSp>
        <p:nvCxnSpPr>
          <p:cNvPr id="5" name="直接连接符 4"/>
          <p:cNvCxnSpPr/>
          <p:nvPr/>
        </p:nvCxnSpPr>
        <p:spPr>
          <a:xfrm>
            <a:off x="6640497" y="3190471"/>
            <a:ext cx="490662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43922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2436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7983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831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2439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6210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62820"/>
            <a:ext cx="527050" cy="527050"/>
          </a:xfrm>
          <a:prstGeom prst="rect">
            <a:avLst/>
          </a:prstGeom>
          <a:ln>
            <a:noFill/>
          </a:ln>
          <a:effectLst>
            <a:softEdge rad="0"/>
          </a:effectLst>
        </p:spPr>
      </p:pic>
      <p:sp>
        <p:nvSpPr>
          <p:cNvPr id="33" name="矩形 32"/>
          <p:cNvSpPr/>
          <p:nvPr/>
        </p:nvSpPr>
        <p:spPr>
          <a:xfrm>
            <a:off x="1696468" y="5863246"/>
            <a:ext cx="4219140" cy="461665"/>
          </a:xfrm>
          <a:prstGeom prst="rect">
            <a:avLst/>
          </a:prstGeom>
        </p:spPr>
        <p:txBody>
          <a:bodyPr wrap="square">
            <a:spAutoFit/>
          </a:bodyPr>
          <a:lstStyle/>
          <a:p>
            <a:r>
              <a:rPr lang="en-US" altLang="zh-CN" sz="2400" b="1" dirty="0">
                <a:solidFill>
                  <a:srgbClr val="0000FF"/>
                </a:solidFill>
                <a:latin typeface="+mj-ea"/>
              </a:rPr>
              <a:t>9.5 </a:t>
            </a:r>
            <a:r>
              <a:rPr lang="zh-CN" altLang="en-US" sz="2400" b="1" dirty="0">
                <a:solidFill>
                  <a:srgbClr val="0000FF"/>
                </a:solidFill>
                <a:latin typeface="+mj-ea"/>
              </a:rPr>
              <a:t>存储新技术</a:t>
            </a:r>
            <a:endParaRPr lang="zh-CN" altLang="en-US" sz="2400" b="1" dirty="0">
              <a:solidFill>
                <a:srgbClr val="0000FF"/>
              </a:solidFill>
              <a:latin typeface="+mj-ea"/>
            </a:endParaRPr>
          </a:p>
        </p:txBody>
      </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7" y="5816028"/>
            <a:ext cx="527050" cy="527050"/>
          </a:xfrm>
          <a:prstGeom prst="rect">
            <a:avLst/>
          </a:prstGeom>
          <a:ln>
            <a:noFill/>
          </a:ln>
          <a:effectLst>
            <a:softEdge rad="0"/>
          </a:effectLst>
        </p:spPr>
      </p:pic>
      <p:sp>
        <p:nvSpPr>
          <p:cNvPr id="35" name="矩形 34"/>
          <p:cNvSpPr/>
          <p:nvPr/>
        </p:nvSpPr>
        <p:spPr>
          <a:xfrm>
            <a:off x="6754405" y="5837115"/>
            <a:ext cx="4219140" cy="461665"/>
          </a:xfrm>
          <a:prstGeom prst="rect">
            <a:avLst/>
          </a:prstGeom>
        </p:spPr>
        <p:txBody>
          <a:bodyPr wrap="square">
            <a:spAutoFit/>
          </a:bodyPr>
          <a:lstStyle/>
          <a:p>
            <a:r>
              <a:rPr lang="en-US" altLang="zh-CN" sz="2400" dirty="0">
                <a:latin typeface="+mj-ea"/>
              </a:rPr>
              <a:t>9.6 </a:t>
            </a:r>
            <a:r>
              <a:rPr lang="zh-CN" altLang="en-US" sz="2400" dirty="0">
                <a:latin typeface="+mj-ea"/>
              </a:rPr>
              <a:t>数据一致性控制</a:t>
            </a:r>
            <a:endParaRPr lang="zh-CN" altLang="en-US" sz="2400" dirty="0">
              <a:latin typeface="+mj-ea"/>
            </a:endParaRPr>
          </a:p>
        </p:txBody>
      </p:sp>
      <p:pic>
        <p:nvPicPr>
          <p:cNvPr id="36" name="图片 3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227354" y="5789897"/>
            <a:ext cx="527050" cy="527050"/>
          </a:xfrm>
          <a:prstGeom prst="rect">
            <a:avLst/>
          </a:prstGeom>
          <a:ln>
            <a:noFill/>
          </a:ln>
          <a:effectLst>
            <a:softEdge rad="0"/>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9.5.1 </a:t>
            </a:r>
            <a:r>
              <a:rPr lang="zh-CN" altLang="en-US" sz="2800" b="1" dirty="0">
                <a:solidFill>
                  <a:schemeClr val="bg1"/>
                </a:solidFill>
              </a:rPr>
              <a:t>传统存储系统</a:t>
            </a:r>
            <a:endParaRPr lang="zh-CN" altLang="en-US" sz="2800" b="1" dirty="0">
              <a:solidFill>
                <a:schemeClr val="bg1"/>
              </a:solidFill>
            </a:endParaRPr>
          </a:p>
        </p:txBody>
      </p:sp>
      <p:sp>
        <p:nvSpPr>
          <p:cNvPr id="29" name="ïşľîďè"/>
          <p:cNvSpPr/>
          <p:nvPr/>
        </p:nvSpPr>
        <p:spPr>
          <a:xfrm>
            <a:off x="259042" y="1214021"/>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31" name="îŝļiḋe"/>
          <p:cNvSpPr/>
          <p:nvPr/>
        </p:nvSpPr>
        <p:spPr>
          <a:xfrm>
            <a:off x="4271749" y="1214021"/>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32" name="í$1iďè"/>
          <p:cNvGrpSpPr/>
          <p:nvPr/>
        </p:nvGrpSpPr>
        <p:grpSpPr>
          <a:xfrm>
            <a:off x="4396037" y="1706620"/>
            <a:ext cx="7381904" cy="1002148"/>
            <a:chOff x="4136995" y="1408047"/>
            <a:chExt cx="7381904" cy="1002148"/>
          </a:xfrm>
        </p:grpSpPr>
        <p:sp>
          <p:nvSpPr>
            <p:cNvPr id="34"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36" name="ïSḻiḍé"/>
            <p:cNvSpPr txBox="1"/>
            <p:nvPr/>
          </p:nvSpPr>
          <p:spPr>
            <a:xfrm>
              <a:off x="4882718" y="1408047"/>
              <a:ext cx="6636181" cy="1002148"/>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ts val="600"/>
                </a:spcBef>
                <a:defRPr/>
              </a:pPr>
              <a:r>
                <a:rPr lang="zh-CN" altLang="en-US" sz="2400" dirty="0">
                  <a:solidFill>
                    <a:srgbClr val="FF0000"/>
                  </a:solidFill>
                </a:rPr>
                <a:t>直连式存储</a:t>
              </a:r>
              <a:r>
                <a:rPr lang="en-US" altLang="zh-CN" sz="2400" dirty="0">
                  <a:solidFill>
                    <a:srgbClr val="FF0000"/>
                  </a:solidFill>
                </a:rPr>
                <a:t>DAS</a:t>
              </a:r>
              <a:endParaRPr lang="en-US" altLang="zh-CN" sz="2400" dirty="0">
                <a:solidFill>
                  <a:srgbClr val="FF0000"/>
                </a:solidFill>
              </a:endParaRPr>
            </a:p>
            <a:p>
              <a:pPr marL="342900" indent="-342900">
                <a:spcBef>
                  <a:spcPts val="600"/>
                </a:spcBef>
                <a:buClr>
                  <a:srgbClr val="0000FF"/>
                </a:buClr>
                <a:buFont typeface="Wingdings" panose="05000000000000000000" pitchFamily="2" charset="2"/>
                <a:buChar char="Ø"/>
                <a:defRPr/>
              </a:pPr>
              <a:r>
                <a:rPr lang="zh-CN" altLang="en-US" sz="2200" dirty="0"/>
                <a:t>通过总线适配器直接将硬盘等存储介质连接到主机上的存储方式，也称为主机连接存储</a:t>
              </a:r>
              <a:endParaRPr lang="zh-CN" altLang="en-US" sz="2200" dirty="0"/>
            </a:p>
            <a:p>
              <a:pPr marL="342900" indent="-342900">
                <a:spcBef>
                  <a:spcPts val="600"/>
                </a:spcBef>
                <a:buClr>
                  <a:srgbClr val="0000FF"/>
                </a:buClr>
                <a:buFont typeface="Wingdings" panose="05000000000000000000" pitchFamily="2" charset="2"/>
                <a:buChar char="Ø"/>
                <a:defRPr/>
              </a:pPr>
              <a:r>
                <a:rPr lang="zh-CN" altLang="en-US" sz="2200" dirty="0"/>
                <a:t>在存储设备和主机之间通常没有任何网络设备的参与</a:t>
              </a:r>
              <a:endParaRPr lang="zh-CN" altLang="en-US" sz="2200" dirty="0"/>
            </a:p>
          </p:txBody>
        </p:sp>
      </p:grpSp>
      <p:grpSp>
        <p:nvGrpSpPr>
          <p:cNvPr id="38" name="išḷîḓé"/>
          <p:cNvGrpSpPr/>
          <p:nvPr/>
        </p:nvGrpSpPr>
        <p:grpSpPr>
          <a:xfrm>
            <a:off x="4396037" y="3073347"/>
            <a:ext cx="7536922" cy="2022436"/>
            <a:chOff x="4136995" y="3233565"/>
            <a:chExt cx="7536922" cy="2022436"/>
          </a:xfrm>
        </p:grpSpPr>
        <p:sp>
          <p:nvSpPr>
            <p:cNvPr id="39"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40" name="îŝľîḓè"/>
            <p:cNvSpPr txBox="1"/>
            <p:nvPr/>
          </p:nvSpPr>
          <p:spPr>
            <a:xfrm>
              <a:off x="4882719" y="3233565"/>
              <a:ext cx="6791198" cy="202243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solidFill>
                    <a:srgbClr val="FF0000"/>
                  </a:solidFill>
                </a:rPr>
                <a:t>网络附加存储</a:t>
              </a:r>
              <a:r>
                <a:rPr lang="en-US" altLang="zh-CN" sz="2400" dirty="0">
                  <a:solidFill>
                    <a:srgbClr val="FF0000"/>
                  </a:solidFill>
                </a:rPr>
                <a:t>NAS</a:t>
              </a:r>
              <a:endParaRPr lang="en-US" altLang="zh-CN" sz="2400" dirty="0">
                <a:solidFill>
                  <a:srgbClr val="FF0000"/>
                </a:solidFill>
              </a:endParaRPr>
            </a:p>
            <a:p>
              <a:pPr marL="342900" indent="-342900">
                <a:lnSpc>
                  <a:spcPct val="123000"/>
                </a:lnSpc>
                <a:buClr>
                  <a:srgbClr val="0000FF"/>
                </a:buClr>
                <a:buFont typeface="Wingdings" panose="05000000000000000000" pitchFamily="2" charset="2"/>
                <a:buChar char="Ø"/>
              </a:pPr>
              <a:r>
                <a:rPr lang="zh-CN" altLang="en-US" sz="2200" dirty="0"/>
                <a:t>一种提供文件级别访问接口的网络存储系统架构，通常采用</a:t>
              </a:r>
              <a:r>
                <a:rPr lang="en-US" altLang="zh-CN" sz="2200" dirty="0"/>
                <a:t>NFS</a:t>
              </a:r>
              <a:r>
                <a:rPr lang="zh-CN" altLang="en-US" sz="2200" dirty="0"/>
                <a:t>、</a:t>
              </a:r>
              <a:r>
                <a:rPr lang="en-US" altLang="zh-CN" sz="2200" dirty="0"/>
                <a:t>SMB/CIFS</a:t>
              </a:r>
              <a:r>
                <a:rPr lang="zh-CN" altLang="en-US" sz="2200" dirty="0"/>
                <a:t>等网络文件共享协议进行文件存取</a:t>
              </a:r>
              <a:endParaRPr lang="zh-CN" altLang="en-US" sz="2200" dirty="0"/>
            </a:p>
          </p:txBody>
        </p:sp>
      </p:grpSp>
      <p:grpSp>
        <p:nvGrpSpPr>
          <p:cNvPr id="42" name="ïSlíḍê"/>
          <p:cNvGrpSpPr/>
          <p:nvPr/>
        </p:nvGrpSpPr>
        <p:grpSpPr>
          <a:xfrm>
            <a:off x="4396037" y="4988445"/>
            <a:ext cx="7587195" cy="1311067"/>
            <a:chOff x="4136995" y="5078274"/>
            <a:chExt cx="7587195" cy="1311067"/>
          </a:xfrm>
        </p:grpSpPr>
        <p:sp>
          <p:nvSpPr>
            <p:cNvPr id="44"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45" name="íṧļîḋê"/>
            <p:cNvSpPr txBox="1"/>
            <p:nvPr/>
          </p:nvSpPr>
          <p:spPr>
            <a:xfrm>
              <a:off x="4832445" y="5078274"/>
              <a:ext cx="6891745"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ts val="600"/>
                </a:spcBef>
                <a:defRPr/>
              </a:pPr>
              <a:r>
                <a:rPr lang="zh-CN" altLang="en-US" sz="2400" dirty="0">
                  <a:solidFill>
                    <a:srgbClr val="FF0000"/>
                  </a:solidFill>
                </a:rPr>
                <a:t>存储区域网络</a:t>
              </a:r>
              <a:r>
                <a:rPr lang="en-US" altLang="zh-CN" sz="2400" dirty="0">
                  <a:solidFill>
                    <a:srgbClr val="FF0000"/>
                  </a:solidFill>
                </a:rPr>
                <a:t>SAN</a:t>
              </a:r>
              <a:endParaRPr lang="en-US" altLang="zh-CN" sz="2400" dirty="0">
                <a:solidFill>
                  <a:srgbClr val="FF0000"/>
                </a:solidFill>
              </a:endParaRPr>
            </a:p>
            <a:p>
              <a:pPr marL="342900" indent="-342900">
                <a:spcBef>
                  <a:spcPts val="600"/>
                </a:spcBef>
                <a:buClr>
                  <a:srgbClr val="0000FF"/>
                </a:buClr>
                <a:buFont typeface="Wingdings" panose="05000000000000000000" pitchFamily="2" charset="2"/>
                <a:buChar char="Ø"/>
                <a:defRPr/>
              </a:pPr>
              <a:r>
                <a:rPr lang="zh-CN" altLang="en-US" sz="2200" dirty="0"/>
                <a:t>一种通过光纤交换机等高速网络设备在服务器和磁盘阵列等存储设备间搭设专门的存储网络</a:t>
              </a:r>
              <a:endParaRPr lang="zh-CN" altLang="en-US" sz="2200" dirty="0"/>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9.5.2 </a:t>
            </a:r>
            <a:r>
              <a:rPr lang="zh-CN" altLang="en-US" sz="2800" b="1" dirty="0">
                <a:solidFill>
                  <a:schemeClr val="bg1"/>
                </a:solidFill>
              </a:rPr>
              <a:t>新型存储系统</a:t>
            </a:r>
            <a:endParaRPr lang="zh-CN" altLang="en-US" sz="2800" b="1" dirty="0">
              <a:solidFill>
                <a:schemeClr val="bg1"/>
              </a:solidFill>
            </a:endParaRPr>
          </a:p>
        </p:txBody>
      </p:sp>
      <p:sp>
        <p:nvSpPr>
          <p:cNvPr id="6" name="íSľïdé"/>
          <p:cNvSpPr/>
          <p:nvPr/>
        </p:nvSpPr>
        <p:spPr>
          <a:xfrm>
            <a:off x="983648" y="1267882"/>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7" name="ïŝļíḓê"/>
          <p:cNvSpPr/>
          <p:nvPr/>
        </p:nvSpPr>
        <p:spPr bwMode="auto">
          <a:xfrm>
            <a:off x="983648" y="3872885"/>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9" name="内容占位符 2"/>
          <p:cNvSpPr txBox="1"/>
          <p:nvPr/>
        </p:nvSpPr>
        <p:spPr>
          <a:xfrm>
            <a:off x="1711447" y="1267883"/>
            <a:ext cx="4636087" cy="139542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zh-CN" altLang="en-US" sz="2400" dirty="0">
                <a:solidFill>
                  <a:srgbClr val="FF0000"/>
                </a:solidFill>
                <a:latin typeface="+mn-ea"/>
                <a:cs typeface="黑体" panose="02010609060101010101" charset="-122"/>
              </a:rPr>
              <a:t>分布式存储系统</a:t>
            </a:r>
            <a:endParaRPr lang="zh-CN" altLang="en-US" sz="2400" dirty="0">
              <a:solidFill>
                <a:srgbClr val="FF0000"/>
              </a:solidFill>
              <a:latin typeface="+mn-ea"/>
              <a:cs typeface="黑体" panose="02010609060101010101" charset="-122"/>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en-US" altLang="zh-CN" sz="2400" dirty="0">
                <a:solidFill>
                  <a:schemeClr val="tx1">
                    <a:lumMod val="65000"/>
                    <a:lumOff val="35000"/>
                  </a:schemeClr>
                </a:solidFill>
              </a:rPr>
              <a:t>C/S</a:t>
            </a:r>
            <a:r>
              <a:rPr lang="zh-CN" altLang="en-US" sz="2400" dirty="0">
                <a:solidFill>
                  <a:schemeClr val="tx1">
                    <a:lumMod val="65000"/>
                    <a:lumOff val="35000"/>
                  </a:schemeClr>
                </a:solidFill>
              </a:rPr>
              <a:t>（</a:t>
            </a:r>
            <a:r>
              <a:rPr lang="en-US" altLang="zh-CN" sz="2400" dirty="0">
                <a:solidFill>
                  <a:schemeClr val="tx1">
                    <a:lumMod val="65000"/>
                    <a:lumOff val="35000"/>
                  </a:schemeClr>
                </a:solidFill>
              </a:rPr>
              <a:t>client/server</a:t>
            </a:r>
            <a:r>
              <a:rPr lang="zh-CN" altLang="en-US" sz="2400" dirty="0">
                <a:solidFill>
                  <a:schemeClr val="tx1">
                    <a:lumMod val="65000"/>
                    <a:lumOff val="35000"/>
                  </a:schemeClr>
                </a:solidFill>
              </a:rPr>
              <a:t>）架构</a:t>
            </a:r>
            <a:endParaRPr lang="zh-CN" altLang="en-US" sz="24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en-US" altLang="zh-CN" sz="2400" dirty="0">
                <a:solidFill>
                  <a:schemeClr val="tx1">
                    <a:lumMod val="65000"/>
                    <a:lumOff val="35000"/>
                  </a:schemeClr>
                </a:solidFill>
              </a:rPr>
              <a:t>P2P</a:t>
            </a:r>
            <a:r>
              <a:rPr lang="zh-CN" altLang="en-US" sz="2400" dirty="0">
                <a:solidFill>
                  <a:schemeClr val="tx1">
                    <a:lumMod val="65000"/>
                    <a:lumOff val="35000"/>
                  </a:schemeClr>
                </a:solidFill>
              </a:rPr>
              <a:t>（</a:t>
            </a:r>
            <a:r>
              <a:rPr lang="en-US" altLang="zh-CN" sz="2400" dirty="0">
                <a:solidFill>
                  <a:schemeClr val="tx1">
                    <a:lumMod val="65000"/>
                    <a:lumOff val="35000"/>
                  </a:schemeClr>
                </a:solidFill>
              </a:rPr>
              <a:t>peer-to-peer</a:t>
            </a:r>
            <a:r>
              <a:rPr lang="zh-CN" altLang="en-US" sz="2400" dirty="0">
                <a:solidFill>
                  <a:schemeClr val="tx1">
                    <a:lumMod val="65000"/>
                    <a:lumOff val="35000"/>
                  </a:schemeClr>
                </a:solidFill>
              </a:rPr>
              <a:t>）架构</a:t>
            </a:r>
            <a:endParaRPr lang="zh-CN" altLang="en-US" sz="2400" dirty="0">
              <a:solidFill>
                <a:schemeClr val="tx1">
                  <a:lumMod val="65000"/>
                  <a:lumOff val="35000"/>
                </a:schemeClr>
              </a:solidFill>
            </a:endParaRPr>
          </a:p>
        </p:txBody>
      </p:sp>
      <p:sp>
        <p:nvSpPr>
          <p:cNvPr id="10" name="内容占位符 2"/>
          <p:cNvSpPr txBox="1"/>
          <p:nvPr/>
        </p:nvSpPr>
        <p:spPr>
          <a:xfrm>
            <a:off x="1739457" y="3678931"/>
            <a:ext cx="4356544" cy="169385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solidFill>
                  <a:srgbClr val="FF0000"/>
                </a:solidFill>
              </a:rPr>
              <a:t>云存储系统</a:t>
            </a:r>
            <a:endParaRPr lang="zh-CN" altLang="en-US" sz="2400" dirty="0">
              <a:solidFill>
                <a:srgbClr val="FF0000"/>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t>由第三方运营商提供的在线存储系统</a:t>
            </a:r>
            <a:endParaRPr lang="zh-CN" altLang="en-US" sz="2400" dirty="0"/>
          </a:p>
        </p:txBody>
      </p:sp>
      <p:cxnSp>
        <p:nvCxnSpPr>
          <p:cNvPr id="3" name="直接连接符 2"/>
          <p:cNvCxnSpPr/>
          <p:nvPr/>
        </p:nvCxnSpPr>
        <p:spPr>
          <a:xfrm>
            <a:off x="843378" y="3311371"/>
            <a:ext cx="5504156"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1" name="iṥlídè"/>
          <p:cNvSpPr/>
          <p:nvPr/>
        </p:nvSpPr>
        <p:spPr>
          <a:xfrm>
            <a:off x="6958245" y="1128057"/>
            <a:ext cx="5233755" cy="5008286"/>
          </a:xfrm>
          <a:prstGeom prst="rect">
            <a:avLst/>
          </a:prstGeom>
          <a:blipFill>
            <a:blip r:embed="rId1"/>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9.5.3 </a:t>
            </a:r>
            <a:r>
              <a:rPr lang="zh-CN" altLang="en-US" sz="2800" b="1" dirty="0">
                <a:solidFill>
                  <a:schemeClr val="bg1"/>
                </a:solidFill>
              </a:rPr>
              <a:t>硬盘新技术</a:t>
            </a:r>
            <a:endParaRPr lang="zh-CN" altLang="en-US" sz="2800" b="1" dirty="0">
              <a:solidFill>
                <a:schemeClr val="bg1"/>
              </a:solidFill>
            </a:endParaRPr>
          </a:p>
        </p:txBody>
      </p:sp>
      <p:sp>
        <p:nvSpPr>
          <p:cNvPr id="12" name="íSľïdé"/>
          <p:cNvSpPr/>
          <p:nvPr/>
        </p:nvSpPr>
        <p:spPr>
          <a:xfrm>
            <a:off x="1747773" y="1614112"/>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3" name="ïŝļíḓê"/>
          <p:cNvSpPr/>
          <p:nvPr/>
        </p:nvSpPr>
        <p:spPr bwMode="auto">
          <a:xfrm>
            <a:off x="8689292" y="2245959"/>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4" name="îṧľîdé"/>
          <p:cNvSpPr/>
          <p:nvPr/>
        </p:nvSpPr>
        <p:spPr>
          <a:xfrm>
            <a:off x="3703687" y="1454831"/>
            <a:ext cx="4034934" cy="1155204"/>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15" name="内容占位符 2"/>
          <p:cNvSpPr txBox="1"/>
          <p:nvPr/>
        </p:nvSpPr>
        <p:spPr>
          <a:xfrm>
            <a:off x="735549" y="2245959"/>
            <a:ext cx="4034934" cy="37464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机械磁盘（</a:t>
            </a:r>
            <a:r>
              <a:rPr lang="en-US" altLang="zh-CN" sz="2400" dirty="0"/>
              <a:t>HDD</a:t>
            </a:r>
            <a:r>
              <a:rPr lang="zh-CN" altLang="en-US" sz="2400" dirty="0"/>
              <a:t>）技术革新：</a:t>
            </a:r>
            <a:endParaRPr lang="zh-CN" altLang="en-US"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传统磁记录（</a:t>
            </a:r>
            <a:r>
              <a:rPr lang="en-US" altLang="zh-CN" sz="2400" dirty="0">
                <a:solidFill>
                  <a:schemeClr val="tx1">
                    <a:lumMod val="65000"/>
                    <a:lumOff val="35000"/>
                  </a:schemeClr>
                </a:solidFill>
              </a:rPr>
              <a:t>CMR</a:t>
            </a:r>
            <a:r>
              <a:rPr lang="zh-CN" altLang="en-US" sz="2400" dirty="0">
                <a:solidFill>
                  <a:schemeClr val="tx1">
                    <a:lumMod val="65000"/>
                    <a:lumOff val="35000"/>
                  </a:schemeClr>
                </a:solidFill>
              </a:rPr>
              <a:t>）技术；</a:t>
            </a:r>
            <a:endParaRPr lang="zh-CN" altLang="en-US" sz="24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叠瓦式（</a:t>
            </a:r>
            <a:r>
              <a:rPr lang="en-US" altLang="zh-CN" sz="2400" dirty="0">
                <a:solidFill>
                  <a:schemeClr val="tx1">
                    <a:lumMod val="65000"/>
                    <a:lumOff val="35000"/>
                  </a:schemeClr>
                </a:solidFill>
              </a:rPr>
              <a:t>CMR</a:t>
            </a:r>
            <a:r>
              <a:rPr lang="zh-CN" altLang="en-US" sz="2400" dirty="0">
                <a:solidFill>
                  <a:schemeClr val="tx1">
                    <a:lumMod val="65000"/>
                    <a:lumOff val="35000"/>
                  </a:schemeClr>
                </a:solidFill>
              </a:rPr>
              <a:t>）技术；</a:t>
            </a:r>
            <a:endParaRPr lang="zh-CN" altLang="en-US" sz="24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热辅助磁记录（</a:t>
            </a:r>
            <a:r>
              <a:rPr lang="en-US" altLang="zh-CN" sz="2400" dirty="0">
                <a:solidFill>
                  <a:schemeClr val="tx1">
                    <a:lumMod val="65000"/>
                    <a:lumOff val="35000"/>
                  </a:schemeClr>
                </a:solidFill>
              </a:rPr>
              <a:t>HAMR</a:t>
            </a:r>
            <a:r>
              <a:rPr lang="zh-CN" altLang="en-US" sz="2400" dirty="0">
                <a:solidFill>
                  <a:schemeClr val="tx1">
                    <a:lumMod val="65000"/>
                    <a:lumOff val="35000"/>
                  </a:schemeClr>
                </a:solidFill>
              </a:rPr>
              <a:t>）技术；</a:t>
            </a:r>
            <a:endParaRPr lang="zh-CN" altLang="en-US" sz="24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双磁头驱动臂技术（</a:t>
            </a:r>
            <a:r>
              <a:rPr lang="en-US" altLang="zh-CN" sz="2400" dirty="0">
                <a:solidFill>
                  <a:schemeClr val="tx1">
                    <a:lumMod val="65000"/>
                    <a:lumOff val="35000"/>
                  </a:schemeClr>
                </a:solidFill>
              </a:rPr>
              <a:t>Mach.2</a:t>
            </a:r>
            <a:r>
              <a:rPr lang="zh-CN" altLang="en-US" sz="2400" dirty="0">
                <a:solidFill>
                  <a:schemeClr val="tx1">
                    <a:lumMod val="65000"/>
                    <a:lumOff val="35000"/>
                  </a:schemeClr>
                </a:solidFill>
              </a:rPr>
              <a:t>）。</a:t>
            </a:r>
            <a:endParaRPr lang="zh-CN" altLang="en-US" sz="2400" dirty="0">
              <a:solidFill>
                <a:schemeClr val="tx1">
                  <a:lumMod val="65000"/>
                  <a:lumOff val="35000"/>
                </a:schemeClr>
              </a:solidFill>
            </a:endParaRPr>
          </a:p>
        </p:txBody>
      </p:sp>
      <p:sp>
        <p:nvSpPr>
          <p:cNvPr id="16" name="内容占位符 2"/>
          <p:cNvSpPr txBox="1"/>
          <p:nvPr/>
        </p:nvSpPr>
        <p:spPr>
          <a:xfrm>
            <a:off x="7696200" y="2924327"/>
            <a:ext cx="4062082"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solidFill>
                  <a:srgbClr val="FF0000"/>
                </a:solidFill>
              </a:rPr>
              <a:t>固态硬盘（</a:t>
            </a:r>
            <a:r>
              <a:rPr lang="en-US" altLang="zh-CN" sz="2400" dirty="0">
                <a:solidFill>
                  <a:srgbClr val="FF0000"/>
                </a:solidFill>
              </a:rPr>
              <a:t>SSD</a:t>
            </a:r>
            <a:r>
              <a:rPr lang="zh-CN" altLang="en-US" sz="2400" dirty="0">
                <a:solidFill>
                  <a:srgbClr val="FF0000"/>
                </a:solidFill>
              </a:rPr>
              <a:t>）</a:t>
            </a:r>
            <a:r>
              <a:rPr lang="zh-CN" altLang="en-US" sz="2400" dirty="0"/>
              <a:t>：用固态电子存储芯片阵列所制成的硬盘。</a:t>
            </a:r>
            <a:endParaRPr lang="zh-CN" altLang="en-US" sz="24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FF0000"/>
                </a:solidFill>
              </a:rPr>
              <a:t>基于闪存</a:t>
            </a:r>
            <a:r>
              <a:rPr lang="zh-CN" altLang="en-US" sz="2400" dirty="0">
                <a:solidFill>
                  <a:schemeClr val="tx1">
                    <a:lumMod val="65000"/>
                    <a:lumOff val="35000"/>
                  </a:schemeClr>
                </a:solidFill>
              </a:rPr>
              <a:t>的固态硬盘；</a:t>
            </a:r>
            <a:endParaRPr lang="zh-CN" altLang="en-US" sz="24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FF0000"/>
                </a:solidFill>
              </a:rPr>
              <a:t>基于</a:t>
            </a:r>
            <a:r>
              <a:rPr lang="en-US" altLang="zh-CN" sz="2400" dirty="0">
                <a:solidFill>
                  <a:srgbClr val="FF0000"/>
                </a:solidFill>
              </a:rPr>
              <a:t>DRAM</a:t>
            </a:r>
            <a:r>
              <a:rPr lang="zh-CN" altLang="en-US" sz="2400" dirty="0">
                <a:solidFill>
                  <a:schemeClr val="tx1">
                    <a:lumMod val="65000"/>
                    <a:lumOff val="35000"/>
                  </a:schemeClr>
                </a:solidFill>
              </a:rPr>
              <a:t>的固态硬盘；</a:t>
            </a:r>
            <a:endParaRPr lang="zh-CN" altLang="en-US" sz="24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FF0000"/>
                </a:solidFill>
              </a:rPr>
              <a:t>基于</a:t>
            </a:r>
            <a:r>
              <a:rPr lang="en-US" altLang="zh-CN" sz="2400" dirty="0" err="1">
                <a:solidFill>
                  <a:srgbClr val="FF0000"/>
                </a:solidFill>
              </a:rPr>
              <a:t>Xpoint</a:t>
            </a:r>
            <a:r>
              <a:rPr lang="zh-CN" altLang="en-US" sz="2400" dirty="0">
                <a:solidFill>
                  <a:schemeClr val="tx1">
                    <a:lumMod val="65000"/>
                    <a:lumOff val="35000"/>
                  </a:schemeClr>
                </a:solidFill>
              </a:rPr>
              <a:t>类的固态磁盘。</a:t>
            </a:r>
            <a:endParaRPr lang="zh-CN" altLang="en-US" sz="2400" dirty="0">
              <a:solidFill>
                <a:schemeClr val="tx1">
                  <a:lumMod val="65000"/>
                  <a:lumOff val="35000"/>
                </a:schemeClr>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476238"/>
            <a:ext cx="4500146" cy="461665"/>
          </a:xfrm>
          <a:prstGeom prst="rect">
            <a:avLst/>
          </a:prstGeom>
        </p:spPr>
        <p:txBody>
          <a:bodyPr wrap="square">
            <a:spAutoFit/>
          </a:bodyPr>
          <a:lstStyle/>
          <a:p>
            <a:r>
              <a:rPr lang="en-US" altLang="zh-CN" sz="2400" dirty="0">
                <a:latin typeface="+mj-ea"/>
                <a:ea typeface="+mj-ea"/>
              </a:rPr>
              <a:t>9.1 </a:t>
            </a:r>
            <a:r>
              <a:rPr lang="zh-CN" altLang="en-US" sz="2400" dirty="0">
                <a:latin typeface="+mj-ea"/>
                <a:ea typeface="+mj-ea"/>
              </a:rPr>
              <a:t>外存的组织方式</a:t>
            </a:r>
            <a:endParaRPr lang="zh-CN" altLang="en-US" sz="2400" dirty="0">
              <a:latin typeface="+mj-ea"/>
              <a:ea typeface="+mj-ea"/>
            </a:endParaRPr>
          </a:p>
        </p:txBody>
      </p:sp>
      <p:sp>
        <p:nvSpPr>
          <p:cNvPr id="23" name="矩形 22"/>
          <p:cNvSpPr/>
          <p:nvPr/>
        </p:nvSpPr>
        <p:spPr>
          <a:xfrm>
            <a:off x="1696469" y="2114413"/>
            <a:ext cx="3682150" cy="461665"/>
          </a:xfrm>
          <a:prstGeom prst="rect">
            <a:avLst/>
          </a:prstGeom>
        </p:spPr>
        <p:txBody>
          <a:bodyPr wrap="square">
            <a:spAutoFit/>
          </a:bodyPr>
          <a:lstStyle/>
          <a:p>
            <a:r>
              <a:rPr lang="en-US" altLang="zh-CN" sz="2400" dirty="0">
                <a:latin typeface="+mj-ea"/>
              </a:rPr>
              <a:t>9.1.1 </a:t>
            </a:r>
            <a:r>
              <a:rPr lang="zh-CN" altLang="en-US" sz="2400" dirty="0">
                <a:latin typeface="+mj-ea"/>
              </a:rPr>
              <a:t>连续组织方式</a:t>
            </a:r>
            <a:endParaRPr lang="en-US" altLang="zh-CN" sz="2400" dirty="0">
              <a:latin typeface="+mj-ea"/>
            </a:endParaRPr>
          </a:p>
        </p:txBody>
      </p:sp>
      <p:sp>
        <p:nvSpPr>
          <p:cNvPr id="24" name="矩形 23"/>
          <p:cNvSpPr/>
          <p:nvPr/>
        </p:nvSpPr>
        <p:spPr>
          <a:xfrm>
            <a:off x="1696468" y="2733538"/>
            <a:ext cx="3488967" cy="461665"/>
          </a:xfrm>
          <a:prstGeom prst="rect">
            <a:avLst/>
          </a:prstGeom>
        </p:spPr>
        <p:txBody>
          <a:bodyPr wrap="square">
            <a:spAutoFit/>
          </a:bodyPr>
          <a:lstStyle/>
          <a:p>
            <a:r>
              <a:rPr lang="en-US" altLang="zh-CN" sz="2400" dirty="0">
                <a:latin typeface="+mj-ea"/>
              </a:rPr>
              <a:t>9.1.2 </a:t>
            </a:r>
            <a:r>
              <a:rPr lang="zh-CN" altLang="en-US" sz="2400" dirty="0">
                <a:latin typeface="+mj-ea"/>
              </a:rPr>
              <a:t>链接组织方式</a:t>
            </a:r>
            <a:endParaRPr lang="en-US" altLang="zh-CN" sz="2400" dirty="0">
              <a:latin typeface="+mj-ea"/>
            </a:endParaRPr>
          </a:p>
        </p:txBody>
      </p:sp>
      <p:sp>
        <p:nvSpPr>
          <p:cNvPr id="25" name="矩形 24"/>
          <p:cNvSpPr/>
          <p:nvPr/>
        </p:nvSpPr>
        <p:spPr>
          <a:xfrm>
            <a:off x="1696468" y="3352663"/>
            <a:ext cx="3488967" cy="461665"/>
          </a:xfrm>
          <a:prstGeom prst="rect">
            <a:avLst/>
          </a:prstGeom>
        </p:spPr>
        <p:txBody>
          <a:bodyPr wrap="square">
            <a:spAutoFit/>
          </a:bodyPr>
          <a:lstStyle/>
          <a:p>
            <a:r>
              <a:rPr lang="en-US" altLang="zh-CN" sz="2400" dirty="0">
                <a:latin typeface="+mj-ea"/>
              </a:rPr>
              <a:t>9.1.1 </a:t>
            </a:r>
            <a:r>
              <a:rPr lang="zh-CN" altLang="en-US" sz="2400" dirty="0">
                <a:latin typeface="+mj-ea"/>
              </a:rPr>
              <a:t>索引组织方式</a:t>
            </a:r>
            <a:endParaRPr lang="en-US" altLang="zh-CN" sz="2400" dirty="0">
              <a:latin typeface="+mj-ea"/>
            </a:endParaRPr>
          </a:p>
        </p:txBody>
      </p:sp>
      <p:sp>
        <p:nvSpPr>
          <p:cNvPr id="27" name="矩形 26"/>
          <p:cNvSpPr/>
          <p:nvPr/>
        </p:nvSpPr>
        <p:spPr>
          <a:xfrm>
            <a:off x="1696469" y="3971788"/>
            <a:ext cx="5478772" cy="461665"/>
          </a:xfrm>
          <a:prstGeom prst="rect">
            <a:avLst/>
          </a:prstGeom>
        </p:spPr>
        <p:txBody>
          <a:bodyPr wrap="square">
            <a:spAutoFit/>
          </a:bodyPr>
          <a:lstStyle/>
          <a:p>
            <a:r>
              <a:rPr lang="en-US" altLang="zh-CN" sz="2400" dirty="0">
                <a:latin typeface="+mj-ea"/>
              </a:rPr>
              <a:t>9.2 </a:t>
            </a:r>
            <a:r>
              <a:rPr lang="zh-CN" altLang="en-US" sz="2400" dirty="0">
                <a:latin typeface="+mj-ea"/>
              </a:rPr>
              <a:t>文件存储空间的管理</a:t>
            </a:r>
            <a:endParaRPr lang="zh-CN" altLang="en-US" sz="2400" dirty="0">
              <a:latin typeface="+mj-ea"/>
            </a:endParaRPr>
          </a:p>
        </p:txBody>
      </p:sp>
      <p:sp>
        <p:nvSpPr>
          <p:cNvPr id="28" name="矩形 27"/>
          <p:cNvSpPr/>
          <p:nvPr/>
        </p:nvSpPr>
        <p:spPr>
          <a:xfrm>
            <a:off x="1696468" y="4590913"/>
            <a:ext cx="4769645" cy="461665"/>
          </a:xfrm>
          <a:prstGeom prst="rect">
            <a:avLst/>
          </a:prstGeom>
        </p:spPr>
        <p:txBody>
          <a:bodyPr wrap="square">
            <a:spAutoFit/>
          </a:bodyPr>
          <a:lstStyle/>
          <a:p>
            <a:r>
              <a:rPr lang="en-US" altLang="zh-CN" sz="2400" dirty="0">
                <a:latin typeface="+mj-ea"/>
              </a:rPr>
              <a:t>9.3 </a:t>
            </a:r>
            <a:r>
              <a:rPr lang="zh-CN" altLang="en-US" sz="2400" dirty="0">
                <a:latin typeface="+mj-ea"/>
              </a:rPr>
              <a:t>提高磁盘</a:t>
            </a:r>
            <a:r>
              <a:rPr lang="en-US" altLang="zh-CN" sz="2400" dirty="0">
                <a:latin typeface="+mj-ea"/>
              </a:rPr>
              <a:t>I/O</a:t>
            </a:r>
            <a:r>
              <a:rPr lang="zh-CN" altLang="en-US" sz="2400" dirty="0">
                <a:latin typeface="+mj-ea"/>
              </a:rPr>
              <a:t>速度的途径</a:t>
            </a:r>
            <a:endParaRPr lang="zh-CN" altLang="en-US" sz="2400" dirty="0">
              <a:latin typeface="+mj-ea"/>
            </a:endParaRPr>
          </a:p>
        </p:txBody>
      </p:sp>
      <p:sp>
        <p:nvSpPr>
          <p:cNvPr id="29" name="矩形 28"/>
          <p:cNvSpPr/>
          <p:nvPr/>
        </p:nvSpPr>
        <p:spPr>
          <a:xfrm>
            <a:off x="1696468" y="5210038"/>
            <a:ext cx="4620355" cy="461665"/>
          </a:xfrm>
          <a:prstGeom prst="rect">
            <a:avLst/>
          </a:prstGeom>
        </p:spPr>
        <p:txBody>
          <a:bodyPr wrap="square">
            <a:spAutoFit/>
          </a:bodyPr>
          <a:lstStyle/>
          <a:p>
            <a:r>
              <a:rPr lang="en-US" altLang="zh-CN" sz="2400" dirty="0">
                <a:latin typeface="+mj-ea"/>
              </a:rPr>
              <a:t>9.4 </a:t>
            </a:r>
            <a:r>
              <a:rPr lang="zh-CN" altLang="en-US" sz="2400" dirty="0">
                <a:latin typeface="+mj-ea"/>
              </a:rPr>
              <a:t>提高磁盘可靠性的技术</a:t>
            </a:r>
            <a:endParaRPr lang="zh-CN" altLang="en-US" sz="2400" dirty="0">
              <a:latin typeface="+mj-ea"/>
            </a:endParaRPr>
          </a:p>
        </p:txBody>
      </p:sp>
      <p:sp>
        <p:nvSpPr>
          <p:cNvPr id="3" name="矩形 2"/>
          <p:cNvSpPr/>
          <p:nvPr/>
        </p:nvSpPr>
        <p:spPr>
          <a:xfrm>
            <a:off x="6466113" y="2386337"/>
            <a:ext cx="5191691" cy="646331"/>
          </a:xfrm>
          <a:prstGeom prst="rect">
            <a:avLst/>
          </a:prstGeom>
        </p:spPr>
        <p:txBody>
          <a:bodyPr wrap="square">
            <a:spAutoFit/>
          </a:bodyPr>
          <a:lstStyle/>
          <a:p>
            <a:r>
              <a:rPr lang="zh-CN" altLang="en-US" sz="3600" dirty="0">
                <a:solidFill>
                  <a:srgbClr val="000000"/>
                </a:solidFill>
              </a:rPr>
              <a:t>第</a:t>
            </a:r>
            <a:r>
              <a:rPr lang="en-US" altLang="zh-CN" sz="3600" dirty="0">
                <a:solidFill>
                  <a:srgbClr val="000000"/>
                </a:solidFill>
              </a:rPr>
              <a:t>9</a:t>
            </a:r>
            <a:r>
              <a:rPr lang="zh-CN" altLang="en-US" sz="3600" dirty="0">
                <a:solidFill>
                  <a:srgbClr val="000000"/>
                </a:solidFill>
              </a:rPr>
              <a:t>章    磁盘存储器管理</a:t>
            </a:r>
            <a:endParaRPr lang="zh-CN" altLang="en-US" sz="3600" dirty="0"/>
          </a:p>
        </p:txBody>
      </p:sp>
      <p:cxnSp>
        <p:nvCxnSpPr>
          <p:cNvPr id="5" name="直接连接符 4"/>
          <p:cNvCxnSpPr/>
          <p:nvPr/>
        </p:nvCxnSpPr>
        <p:spPr>
          <a:xfrm>
            <a:off x="6640497" y="3190471"/>
            <a:ext cx="490662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43922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2436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7983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831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2439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6210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62820"/>
            <a:ext cx="527050" cy="527050"/>
          </a:xfrm>
          <a:prstGeom prst="rect">
            <a:avLst/>
          </a:prstGeom>
          <a:ln>
            <a:noFill/>
          </a:ln>
          <a:effectLst>
            <a:softEdge rad="0"/>
          </a:effectLst>
        </p:spPr>
      </p:pic>
      <p:sp>
        <p:nvSpPr>
          <p:cNvPr id="33" name="矩形 32"/>
          <p:cNvSpPr/>
          <p:nvPr/>
        </p:nvSpPr>
        <p:spPr>
          <a:xfrm>
            <a:off x="1696468" y="5863246"/>
            <a:ext cx="4219140" cy="461665"/>
          </a:xfrm>
          <a:prstGeom prst="rect">
            <a:avLst/>
          </a:prstGeom>
        </p:spPr>
        <p:txBody>
          <a:bodyPr wrap="square">
            <a:spAutoFit/>
          </a:bodyPr>
          <a:lstStyle/>
          <a:p>
            <a:r>
              <a:rPr lang="en-US" altLang="zh-CN" sz="2400" dirty="0">
                <a:latin typeface="+mj-ea"/>
              </a:rPr>
              <a:t>9.5 </a:t>
            </a:r>
            <a:r>
              <a:rPr lang="zh-CN" altLang="en-US" sz="2400" dirty="0">
                <a:latin typeface="+mj-ea"/>
              </a:rPr>
              <a:t>存储新技术</a:t>
            </a:r>
            <a:endParaRPr lang="zh-CN" altLang="en-US" sz="2400" dirty="0">
              <a:latin typeface="+mj-ea"/>
            </a:endParaRPr>
          </a:p>
        </p:txBody>
      </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7" y="5816028"/>
            <a:ext cx="527050" cy="527050"/>
          </a:xfrm>
          <a:prstGeom prst="rect">
            <a:avLst/>
          </a:prstGeom>
          <a:ln>
            <a:noFill/>
          </a:ln>
          <a:effectLst>
            <a:softEdge rad="0"/>
          </a:effectLst>
        </p:spPr>
      </p:pic>
      <p:sp>
        <p:nvSpPr>
          <p:cNvPr id="35" name="矩形 34"/>
          <p:cNvSpPr/>
          <p:nvPr/>
        </p:nvSpPr>
        <p:spPr>
          <a:xfrm>
            <a:off x="6754405" y="5837115"/>
            <a:ext cx="4219140" cy="461665"/>
          </a:xfrm>
          <a:prstGeom prst="rect">
            <a:avLst/>
          </a:prstGeom>
        </p:spPr>
        <p:txBody>
          <a:bodyPr wrap="square">
            <a:spAutoFit/>
          </a:bodyPr>
          <a:lstStyle/>
          <a:p>
            <a:r>
              <a:rPr lang="en-US" altLang="zh-CN" sz="2400" b="1" dirty="0">
                <a:solidFill>
                  <a:srgbClr val="0000FF"/>
                </a:solidFill>
                <a:latin typeface="+mj-ea"/>
              </a:rPr>
              <a:t>9.6 </a:t>
            </a:r>
            <a:r>
              <a:rPr lang="zh-CN" altLang="en-US" sz="2400" b="1" dirty="0">
                <a:solidFill>
                  <a:srgbClr val="0000FF"/>
                </a:solidFill>
                <a:latin typeface="+mj-ea"/>
              </a:rPr>
              <a:t>数据一致性控制</a:t>
            </a:r>
            <a:endParaRPr lang="zh-CN" altLang="en-US" sz="2400" b="1" dirty="0">
              <a:solidFill>
                <a:srgbClr val="0000FF"/>
              </a:solidFill>
              <a:latin typeface="+mj-ea"/>
            </a:endParaRPr>
          </a:p>
        </p:txBody>
      </p:sp>
      <p:pic>
        <p:nvPicPr>
          <p:cNvPr id="36" name="图片 3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227354" y="5789897"/>
            <a:ext cx="527050" cy="527050"/>
          </a:xfrm>
          <a:prstGeom prst="rect">
            <a:avLst/>
          </a:prstGeom>
          <a:ln>
            <a:noFill/>
          </a:ln>
          <a:effectLst>
            <a:softEdge rad="0"/>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9.6 </a:t>
            </a:r>
            <a:r>
              <a:rPr lang="zh-CN" altLang="en-US" sz="2800" b="1" dirty="0">
                <a:solidFill>
                  <a:schemeClr val="bg1"/>
                </a:solidFill>
              </a:rPr>
              <a:t>数据一致性控制</a:t>
            </a:r>
            <a:endParaRPr lang="zh-CN" altLang="en-US" sz="2800" b="1" dirty="0">
              <a:solidFill>
                <a:schemeClr val="bg1"/>
              </a:solidFill>
            </a:endParaRPr>
          </a:p>
        </p:txBody>
      </p:sp>
      <p:sp>
        <p:nvSpPr>
          <p:cNvPr id="38" name="i$lîďê"/>
          <p:cNvSpPr/>
          <p:nvPr/>
        </p:nvSpPr>
        <p:spPr>
          <a:xfrm>
            <a:off x="1775848" y="2367015"/>
            <a:ext cx="9623082" cy="1223668"/>
          </a:xfrm>
          <a:prstGeom prst="rect">
            <a:avLst/>
          </a:prstGeom>
          <a:noFill/>
          <a:ln>
            <a:noFill/>
          </a:ln>
        </p:spPr>
        <p:txBody>
          <a:bodyPr wrap="square" lIns="91440" tIns="45720" rIns="91440" bIns="45720" anchor="ctr" anchorCtr="0">
            <a:noAutofit/>
          </a:bodyPr>
          <a:lstStyle/>
          <a:p>
            <a:pPr>
              <a:lnSpc>
                <a:spcPct val="123000"/>
              </a:lnSpc>
            </a:pPr>
            <a:r>
              <a:rPr lang="zh-CN" altLang="en-US" sz="2400" dirty="0"/>
              <a:t>例如，当我们发现某种商品的进价有错时，我们必须同时修改流水账、付费账、分类账以及总账等一系列文件中该商品的价格，如此才能保证数据的一致性。</a:t>
            </a:r>
            <a:endParaRPr lang="zh-CN" altLang="en-US" sz="2400" dirty="0"/>
          </a:p>
        </p:txBody>
      </p:sp>
      <p:sp>
        <p:nvSpPr>
          <p:cNvPr id="40" name="ïṧḷïḋè"/>
          <p:cNvSpPr/>
          <p:nvPr/>
        </p:nvSpPr>
        <p:spPr>
          <a:xfrm>
            <a:off x="1775848" y="3961127"/>
            <a:ext cx="9454404" cy="861372"/>
          </a:xfrm>
          <a:prstGeom prst="rect">
            <a:avLst/>
          </a:prstGeom>
          <a:noFill/>
          <a:ln>
            <a:noFill/>
          </a:ln>
        </p:spPr>
        <p:txBody>
          <a:bodyPr wrap="square" lIns="91440" tIns="45720" rIns="91440" bIns="45720" anchor="ctr" anchorCtr="0">
            <a:noAutofit/>
          </a:bodyPr>
          <a:lstStyle/>
          <a:p>
            <a:pPr>
              <a:lnSpc>
                <a:spcPct val="123000"/>
              </a:lnSpc>
            </a:pPr>
            <a:r>
              <a:rPr lang="zh-CN" altLang="en-US" sz="2400" dirty="0"/>
              <a:t>但如果在修改途中系统突然发生故障，则会造成各个账目中该数据的不一致性，进而就会使得多个账目不一致。</a:t>
            </a:r>
            <a:endParaRPr lang="en-US" altLang="zh-CN" sz="2800" dirty="0"/>
          </a:p>
        </p:txBody>
      </p:sp>
      <p:sp>
        <p:nvSpPr>
          <p:cNvPr id="42" name="íšḻíḑê"/>
          <p:cNvSpPr/>
          <p:nvPr/>
        </p:nvSpPr>
        <p:spPr>
          <a:xfrm>
            <a:off x="669925" y="1277156"/>
            <a:ext cx="10862844" cy="758346"/>
          </a:xfrm>
          <a:prstGeom prst="rect">
            <a:avLst/>
          </a:prstGeom>
          <a:noFill/>
          <a:ln>
            <a:noFill/>
          </a:ln>
        </p:spPr>
        <p:txBody>
          <a:bodyPr wrap="square" lIns="91440" tIns="45720" rIns="91440" bIns="45720" anchor="ctr" anchorCtr="0">
            <a:noAutofit/>
          </a:bodyPr>
          <a:lstStyle/>
          <a:p>
            <a:pPr indent="457200">
              <a:lnSpc>
                <a:spcPct val="123000"/>
              </a:lnSpc>
            </a:pPr>
            <a:r>
              <a:rPr lang="zh-CN" altLang="en-US" sz="2400" dirty="0"/>
              <a:t>所谓</a:t>
            </a:r>
            <a:r>
              <a:rPr lang="zh-CN" altLang="en-US" sz="2400" dirty="0">
                <a:solidFill>
                  <a:srgbClr val="FF0000"/>
                </a:solidFill>
              </a:rPr>
              <a:t>数据一致性</a:t>
            </a:r>
            <a:r>
              <a:rPr lang="zh-CN" altLang="en-US" sz="2400" dirty="0"/>
              <a:t>问题，是</a:t>
            </a:r>
            <a:r>
              <a:rPr lang="zh-CN" altLang="en-US" sz="2400" dirty="0">
                <a:solidFill>
                  <a:srgbClr val="0000FF"/>
                </a:solidFill>
              </a:rPr>
              <a:t>指保存在多个文件中的同一个数据，在任何情况下都必须能保证相同。</a:t>
            </a:r>
            <a:endParaRPr lang="zh-CN" altLang="en-US" sz="2400" dirty="0">
              <a:solidFill>
                <a:srgbClr val="0000FF"/>
              </a:solidFill>
            </a:endParaRPr>
          </a:p>
        </p:txBody>
      </p:sp>
      <p:sp>
        <p:nvSpPr>
          <p:cNvPr id="44" name="íṥḻîḓe"/>
          <p:cNvSpPr/>
          <p:nvPr/>
        </p:nvSpPr>
        <p:spPr>
          <a:xfrm>
            <a:off x="1092344" y="391716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5" name="îşļiḓè"/>
          <p:cNvSpPr/>
          <p:nvPr/>
        </p:nvSpPr>
        <p:spPr>
          <a:xfrm>
            <a:off x="1092344" y="2447065"/>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7" name="íSlíḋe"/>
          <p:cNvSpPr/>
          <p:nvPr/>
        </p:nvSpPr>
        <p:spPr>
          <a:xfrm>
            <a:off x="1282598" y="2669082"/>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48" name="ïśḷïḓe"/>
          <p:cNvSpPr/>
          <p:nvPr/>
        </p:nvSpPr>
        <p:spPr>
          <a:xfrm>
            <a:off x="1311537" y="4106622"/>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4" name="íšḻíḑê"/>
          <p:cNvSpPr/>
          <p:nvPr/>
        </p:nvSpPr>
        <p:spPr>
          <a:xfrm>
            <a:off x="664578" y="5186323"/>
            <a:ext cx="10862844" cy="758346"/>
          </a:xfrm>
          <a:prstGeom prst="rect">
            <a:avLst/>
          </a:prstGeom>
          <a:noFill/>
          <a:ln>
            <a:noFill/>
          </a:ln>
        </p:spPr>
        <p:txBody>
          <a:bodyPr wrap="square" lIns="91440" tIns="45720" rIns="91440" bIns="45720" anchor="ctr" anchorCtr="0">
            <a:noAutofit/>
          </a:bodyPr>
          <a:lstStyle/>
          <a:p>
            <a:pPr indent="457200">
              <a:lnSpc>
                <a:spcPct val="123000"/>
              </a:lnSpc>
            </a:pPr>
            <a:r>
              <a:rPr lang="zh-CN" altLang="en-US" sz="2400" dirty="0"/>
              <a:t>现代</a:t>
            </a:r>
            <a:r>
              <a:rPr lang="en-US" altLang="zh-CN" sz="2400" dirty="0"/>
              <a:t>OS</a:t>
            </a:r>
            <a:r>
              <a:rPr lang="zh-CN" altLang="en-US" sz="2400" dirty="0"/>
              <a:t>中都配置了能保证数据一致性的软件。</a:t>
            </a:r>
            <a:endParaRPr lang="zh-CN" altLang="en-US" sz="2400" dirty="0"/>
          </a:p>
        </p:txBody>
      </p:sp>
      <p:cxnSp>
        <p:nvCxnSpPr>
          <p:cNvPr id="3" name="直接连接符 2"/>
          <p:cNvCxnSpPr/>
          <p:nvPr/>
        </p:nvCxnSpPr>
        <p:spPr>
          <a:xfrm>
            <a:off x="1092344" y="5192943"/>
            <a:ext cx="101379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092344" y="5944669"/>
            <a:ext cx="10137908"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9.6.1 </a:t>
            </a:r>
            <a:r>
              <a:rPr lang="zh-CN" altLang="en-US" sz="2800" b="1" dirty="0">
                <a:solidFill>
                  <a:schemeClr val="bg1"/>
                </a:solidFill>
              </a:rPr>
              <a:t>事务（</a:t>
            </a:r>
            <a:r>
              <a:rPr lang="en-US" altLang="zh-CN" sz="2800" b="1" dirty="0">
                <a:solidFill>
                  <a:schemeClr val="bg1"/>
                </a:solidFill>
              </a:rPr>
              <a:t>1</a:t>
            </a:r>
            <a:r>
              <a:rPr lang="zh-CN" altLang="en-US" sz="2800" b="1" dirty="0">
                <a:solidFill>
                  <a:schemeClr val="bg1"/>
                </a:solidFill>
              </a:rPr>
              <a:t>）</a:t>
            </a:r>
            <a:endParaRPr lang="zh-CN" altLang="en-US" sz="2800" b="1" dirty="0">
              <a:solidFill>
                <a:schemeClr val="bg1"/>
              </a:solidFill>
            </a:endParaRPr>
          </a:p>
        </p:txBody>
      </p:sp>
      <p:sp>
        <p:nvSpPr>
          <p:cNvPr id="14" name="íSľïdé"/>
          <p:cNvSpPr/>
          <p:nvPr/>
        </p:nvSpPr>
        <p:spPr>
          <a:xfrm>
            <a:off x="1613964" y="1303392"/>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5" name="ïŝļíḓê"/>
          <p:cNvSpPr/>
          <p:nvPr/>
        </p:nvSpPr>
        <p:spPr bwMode="auto">
          <a:xfrm>
            <a:off x="6682939" y="1815328"/>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6" name="îṧľîdé"/>
          <p:cNvSpPr/>
          <p:nvPr/>
        </p:nvSpPr>
        <p:spPr>
          <a:xfrm>
            <a:off x="3368303" y="1206494"/>
            <a:ext cx="3014742" cy="1344732"/>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17" name="内容占位符 2"/>
          <p:cNvSpPr txBox="1"/>
          <p:nvPr/>
        </p:nvSpPr>
        <p:spPr>
          <a:xfrm>
            <a:off x="601740" y="1935240"/>
            <a:ext cx="4034934" cy="17300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事务的</a:t>
            </a:r>
            <a:r>
              <a:rPr lang="zh-CN" altLang="en-US" sz="2400" dirty="0">
                <a:solidFill>
                  <a:srgbClr val="FF0000"/>
                </a:solidFill>
              </a:rPr>
              <a:t>定义</a:t>
            </a:r>
            <a:endParaRPr lang="zh-CN" altLang="en-US" sz="2400" dirty="0">
              <a:solidFill>
                <a:srgbClr val="FF0000"/>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事务是用于访问和修改各种数据项的一个程序单位</a:t>
            </a:r>
            <a:endParaRPr lang="zh-CN" altLang="en-US" sz="24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事务也可被看作一系列读</a:t>
            </a:r>
            <a:r>
              <a:rPr lang="en-US" altLang="zh-CN" sz="2400" dirty="0">
                <a:solidFill>
                  <a:schemeClr val="tx1">
                    <a:lumMod val="65000"/>
                    <a:lumOff val="35000"/>
                  </a:schemeClr>
                </a:solidFill>
              </a:rPr>
              <a:t>/</a:t>
            </a:r>
            <a:r>
              <a:rPr lang="zh-CN" altLang="en-US" sz="2400" dirty="0">
                <a:solidFill>
                  <a:schemeClr val="tx1">
                    <a:lumMod val="65000"/>
                    <a:lumOff val="35000"/>
                  </a:schemeClr>
                </a:solidFill>
              </a:rPr>
              <a:t>写操作</a:t>
            </a:r>
            <a:endParaRPr lang="zh-CN" altLang="en-US" sz="24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事务操作具有原子性</a:t>
            </a:r>
            <a:endParaRPr lang="zh-CN" altLang="en-US" sz="2400" dirty="0">
              <a:solidFill>
                <a:schemeClr val="tx1">
                  <a:lumMod val="65000"/>
                  <a:lumOff val="35000"/>
                </a:schemeClr>
              </a:solidFill>
            </a:endParaRPr>
          </a:p>
        </p:txBody>
      </p:sp>
      <p:sp>
        <p:nvSpPr>
          <p:cNvPr id="18" name="内容占位符 2"/>
          <p:cNvSpPr txBox="1"/>
          <p:nvPr/>
        </p:nvSpPr>
        <p:spPr>
          <a:xfrm>
            <a:off x="6161104" y="2447264"/>
            <a:ext cx="5619564"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事务记录</a:t>
            </a:r>
            <a:endParaRPr lang="en-US" altLang="zh-CN" sz="24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是用于记录在事务运行过程中与数据项修改相关的全部信息数据结构，又被称为运行记录</a:t>
            </a:r>
            <a:endParaRPr lang="zh-CN" altLang="en-US" sz="22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事务名</a:t>
            </a:r>
            <a:r>
              <a:rPr lang="zh-CN" altLang="en-US" sz="2200" dirty="0">
                <a:solidFill>
                  <a:schemeClr val="tx1">
                    <a:lumMod val="65000"/>
                    <a:lumOff val="35000"/>
                  </a:schemeClr>
                </a:solidFill>
              </a:rPr>
              <a:t>：用于标志该事务的唯一名字。</a:t>
            </a:r>
            <a:endParaRPr lang="zh-CN" altLang="en-US" sz="22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数据项名</a:t>
            </a:r>
            <a:r>
              <a:rPr lang="zh-CN" altLang="en-US" sz="2200" dirty="0">
                <a:solidFill>
                  <a:schemeClr val="tx1">
                    <a:lumMod val="65000"/>
                    <a:lumOff val="35000"/>
                  </a:schemeClr>
                </a:solidFill>
              </a:rPr>
              <a:t>：它是被修改数据项的唯一名字。</a:t>
            </a:r>
            <a:endParaRPr lang="zh-CN" altLang="en-US" sz="22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旧值：</a:t>
            </a:r>
            <a:r>
              <a:rPr lang="zh-CN" altLang="en-US" sz="2200" dirty="0">
                <a:solidFill>
                  <a:schemeClr val="tx1">
                    <a:lumMod val="65000"/>
                    <a:lumOff val="35000"/>
                  </a:schemeClr>
                </a:solidFill>
              </a:rPr>
              <a:t>修改前数据项的值。</a:t>
            </a:r>
            <a:endParaRPr lang="zh-CN" altLang="en-US" sz="22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0000FF"/>
                </a:solidFill>
              </a:rPr>
              <a:t>新值：</a:t>
            </a:r>
            <a:r>
              <a:rPr lang="zh-CN" altLang="en-US" sz="2200" dirty="0">
                <a:solidFill>
                  <a:schemeClr val="tx1">
                    <a:lumMod val="65000"/>
                    <a:lumOff val="35000"/>
                  </a:schemeClr>
                </a:solidFill>
              </a:rPr>
              <a:t>修改后数据项将具有的值。</a:t>
            </a:r>
            <a:endParaRPr lang="zh-CN" altLang="en-US" sz="2200" dirty="0">
              <a:solidFill>
                <a:schemeClr val="tx1">
                  <a:lumMod val="65000"/>
                  <a:lumOff val="35000"/>
                </a:schemeClr>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事务（</a:t>
            </a:r>
            <a:r>
              <a:rPr lang="en-US" altLang="zh-CN" sz="2800" b="1" dirty="0">
                <a:solidFill>
                  <a:schemeClr val="bg1"/>
                </a:solidFill>
              </a:rPr>
              <a:t>2</a:t>
            </a:r>
            <a:r>
              <a:rPr lang="zh-CN" altLang="en-US" sz="2800" b="1" dirty="0">
                <a:solidFill>
                  <a:schemeClr val="bg1"/>
                </a:solidFill>
              </a:rPr>
              <a:t>）</a:t>
            </a:r>
            <a:endParaRPr lang="zh-CN" altLang="en-US" sz="2800" b="1" dirty="0">
              <a:solidFill>
                <a:schemeClr val="bg1"/>
              </a:solidFill>
            </a:endParaRPr>
          </a:p>
        </p:txBody>
      </p:sp>
      <p:sp>
        <p:nvSpPr>
          <p:cNvPr id="37" name="íšḻîḋè"/>
          <p:cNvSpPr/>
          <p:nvPr/>
        </p:nvSpPr>
        <p:spPr>
          <a:xfrm>
            <a:off x="1802479" y="4468571"/>
            <a:ext cx="9326179" cy="1870078"/>
          </a:xfrm>
          <a:prstGeom prst="rect">
            <a:avLst/>
          </a:prstGeom>
          <a:noFill/>
          <a:ln>
            <a:noFill/>
          </a:ln>
        </p:spPr>
        <p:txBody>
          <a:bodyPr wrap="square" lIns="91440" tIns="45720" rIns="91440" bIns="45720" anchor="t" anchorCtr="0">
            <a:noAutofit/>
          </a:bodyPr>
          <a:lstStyle/>
          <a:p>
            <a:pPr marL="342900" lvl="2" indent="-342900">
              <a:lnSpc>
                <a:spcPct val="123000"/>
              </a:lnSpc>
              <a:spcBef>
                <a:spcPts val="600"/>
              </a:spcBef>
              <a:spcAft>
                <a:spcPts val="600"/>
              </a:spcAft>
              <a:buClr>
                <a:srgbClr val="FF0000"/>
              </a:buClr>
              <a:buFont typeface="Wingdings" panose="05000000000000000000" pitchFamily="2" charset="2"/>
              <a:buChar char="Ø"/>
            </a:pPr>
            <a:r>
              <a:rPr lang="zh-CN" altLang="zh-CN" sz="2200" dirty="0"/>
              <a:t>一类是所包含的各类操作都已完成的事务，系统会利用</a:t>
            </a:r>
            <a:r>
              <a:rPr lang="en-US" altLang="zh-CN" sz="2200" dirty="0"/>
              <a:t>redo</a:t>
            </a:r>
            <a:r>
              <a:rPr lang="zh-CN" altLang="zh-CN" sz="2200" dirty="0"/>
              <a:t>〈</a:t>
            </a:r>
            <a:r>
              <a:rPr lang="en-US" altLang="zh-CN" sz="2200" i="1" dirty="0" err="1"/>
              <a:t>T</a:t>
            </a:r>
            <a:r>
              <a:rPr lang="en-US" altLang="zh-CN" sz="2200" i="1" baseline="-25000" dirty="0" err="1"/>
              <a:t>i</a:t>
            </a:r>
            <a:r>
              <a:rPr lang="zh-CN" altLang="zh-CN" sz="2200" dirty="0"/>
              <a:t>〉过程把所有已被修改的数据设置成新值</a:t>
            </a:r>
            <a:endParaRPr lang="en-US" altLang="zh-CN" sz="2200" dirty="0"/>
          </a:p>
          <a:p>
            <a:pPr marL="342900" lvl="2" indent="-342900">
              <a:lnSpc>
                <a:spcPct val="123000"/>
              </a:lnSpc>
              <a:spcBef>
                <a:spcPts val="600"/>
              </a:spcBef>
              <a:spcAft>
                <a:spcPts val="600"/>
              </a:spcAft>
              <a:buClr>
                <a:srgbClr val="FF0000"/>
              </a:buClr>
              <a:buFont typeface="Wingdings" panose="05000000000000000000" pitchFamily="2" charset="2"/>
              <a:buChar char="Ø"/>
            </a:pPr>
            <a:r>
              <a:rPr lang="zh-CN" altLang="zh-CN" sz="2200" dirty="0"/>
              <a:t>另一类是所包含的各个操作并未全部完成的事务，系统会利用</a:t>
            </a:r>
            <a:r>
              <a:rPr lang="en-US" altLang="zh-CN" sz="2200" dirty="0"/>
              <a:t>undo</a:t>
            </a:r>
            <a:r>
              <a:rPr lang="zh-CN" altLang="zh-CN" sz="2200" dirty="0"/>
              <a:t>〈</a:t>
            </a:r>
            <a:r>
              <a:rPr lang="en-US" altLang="zh-CN" sz="2200" i="1" dirty="0" err="1"/>
              <a:t>T</a:t>
            </a:r>
            <a:r>
              <a:rPr lang="en-US" altLang="zh-CN" sz="2200" i="1" baseline="-25000" dirty="0" err="1"/>
              <a:t>i</a:t>
            </a:r>
            <a:r>
              <a:rPr lang="zh-CN" altLang="zh-CN" sz="2200" dirty="0"/>
              <a:t>〉过程将所有已被修改的数据恢复为修改前的值</a:t>
            </a:r>
            <a:endParaRPr lang="en-US" altLang="zh-CN" sz="2200" dirty="0"/>
          </a:p>
        </p:txBody>
      </p:sp>
      <p:sp>
        <p:nvSpPr>
          <p:cNvPr id="38" name="i$lîďê"/>
          <p:cNvSpPr/>
          <p:nvPr/>
        </p:nvSpPr>
        <p:spPr>
          <a:xfrm>
            <a:off x="1802479" y="3653911"/>
            <a:ext cx="9711234" cy="740529"/>
          </a:xfrm>
          <a:prstGeom prst="rect">
            <a:avLst/>
          </a:prstGeom>
          <a:noFill/>
          <a:ln>
            <a:noFill/>
          </a:ln>
        </p:spPr>
        <p:txBody>
          <a:bodyPr wrap="square" lIns="91440" tIns="45720" rIns="91440" bIns="45720" anchor="ctr" anchorCtr="0">
            <a:noAutofit/>
          </a:bodyPr>
          <a:lstStyle/>
          <a:p>
            <a:r>
              <a:rPr lang="zh-CN" altLang="en-US" sz="2400" dirty="0"/>
              <a:t>如果系统发生故障，系统通过查找</a:t>
            </a:r>
            <a:r>
              <a:rPr lang="zh-CN" altLang="en-US" sz="2400" dirty="0">
                <a:solidFill>
                  <a:srgbClr val="FF0000"/>
                </a:solidFill>
              </a:rPr>
              <a:t>事务记录表</a:t>
            </a:r>
            <a:r>
              <a:rPr lang="zh-CN" altLang="en-US" sz="2400" dirty="0"/>
              <a:t>，对以前所发生的事务进行清理，分为两类处理：</a:t>
            </a:r>
            <a:endParaRPr lang="zh-CN" altLang="en-US" sz="2400" dirty="0"/>
          </a:p>
        </p:txBody>
      </p:sp>
      <p:sp>
        <p:nvSpPr>
          <p:cNvPr id="41" name="îs1iďé"/>
          <p:cNvSpPr/>
          <p:nvPr/>
        </p:nvSpPr>
        <p:spPr>
          <a:xfrm>
            <a:off x="1802479" y="2524246"/>
            <a:ext cx="9711234" cy="1079190"/>
          </a:xfrm>
          <a:prstGeom prst="rect">
            <a:avLst/>
          </a:prstGeom>
          <a:noFill/>
          <a:ln>
            <a:noFill/>
          </a:ln>
        </p:spPr>
        <p:txBody>
          <a:bodyPr wrap="square" lIns="91440" tIns="45720" rIns="91440" bIns="45720" anchor="t" anchorCtr="0">
            <a:norm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200" dirty="0"/>
              <a:t>（</a:t>
            </a:r>
            <a:r>
              <a:rPr lang="en-US" altLang="zh-CN" sz="2200" dirty="0"/>
              <a:t>1</a:t>
            </a:r>
            <a:r>
              <a:rPr lang="zh-CN" altLang="en-US" sz="2200" dirty="0"/>
              <a:t>）</a:t>
            </a:r>
            <a:r>
              <a:rPr lang="en-US" altLang="zh-CN" sz="2200" dirty="0" err="1"/>
              <a:t>undo〈T</a:t>
            </a:r>
            <a:r>
              <a:rPr lang="en-US" altLang="zh-CN" sz="2200" baseline="-25000" dirty="0" err="1"/>
              <a:t>i</a:t>
            </a:r>
            <a:r>
              <a:rPr lang="en-US" altLang="zh-CN" sz="2200" dirty="0"/>
              <a:t>〉</a:t>
            </a:r>
            <a:r>
              <a:rPr lang="zh-CN" altLang="en-US" sz="2200" dirty="0"/>
              <a:t>：把所有被事务</a:t>
            </a:r>
            <a:r>
              <a:rPr lang="en-US" altLang="zh-CN" sz="2200" dirty="0" err="1"/>
              <a:t>T</a:t>
            </a:r>
            <a:r>
              <a:rPr lang="en-US" altLang="zh-CN" sz="2200" baseline="-25000" dirty="0" err="1"/>
              <a:t>i</a:t>
            </a:r>
            <a:r>
              <a:rPr lang="zh-CN" altLang="en-US" sz="2200" dirty="0"/>
              <a:t>修改过的数据恢复为修改前的值</a:t>
            </a:r>
            <a:endParaRPr lang="zh-CN" altLang="en-US" sz="2200" dirty="0"/>
          </a:p>
          <a:p>
            <a:pPr marL="342900" indent="-342900">
              <a:lnSpc>
                <a:spcPct val="120000"/>
              </a:lnSpc>
              <a:spcBef>
                <a:spcPts val="600"/>
              </a:spcBef>
              <a:buClr>
                <a:srgbClr val="FF0000"/>
              </a:buClr>
              <a:buFont typeface="Wingdings" panose="05000000000000000000" pitchFamily="2" charset="2"/>
              <a:buChar char="Ø"/>
            </a:pPr>
            <a:r>
              <a:rPr lang="zh-CN" altLang="en-US" sz="2200" dirty="0"/>
              <a:t>（</a:t>
            </a:r>
            <a:r>
              <a:rPr lang="en-US" altLang="zh-CN" sz="2200" dirty="0"/>
              <a:t>2</a:t>
            </a:r>
            <a:r>
              <a:rPr lang="zh-CN" altLang="en-US" sz="2200" dirty="0"/>
              <a:t>）</a:t>
            </a:r>
            <a:r>
              <a:rPr lang="en-US" altLang="zh-CN" sz="2200" dirty="0" err="1"/>
              <a:t>redo〈T</a:t>
            </a:r>
            <a:r>
              <a:rPr lang="en-US" altLang="zh-CN" sz="2200" baseline="-25000" dirty="0" err="1"/>
              <a:t>i</a:t>
            </a:r>
            <a:r>
              <a:rPr lang="en-US" altLang="zh-CN" sz="2200" dirty="0"/>
              <a:t>〉</a:t>
            </a:r>
            <a:r>
              <a:rPr lang="zh-CN" altLang="en-US" sz="2200" dirty="0"/>
              <a:t>：把所有被事务</a:t>
            </a:r>
            <a:r>
              <a:rPr lang="en-US" altLang="zh-CN" sz="2200" dirty="0" err="1"/>
              <a:t>T</a:t>
            </a:r>
            <a:r>
              <a:rPr lang="en-US" altLang="zh-CN" sz="2200" baseline="-25000" dirty="0" err="1"/>
              <a:t>i</a:t>
            </a:r>
            <a:r>
              <a:rPr lang="zh-CN" altLang="en-US" sz="2200" dirty="0"/>
              <a:t>修改过的数据设置为新值</a:t>
            </a:r>
            <a:endParaRPr lang="zh-CN" altLang="en-US" sz="2200" dirty="0"/>
          </a:p>
        </p:txBody>
      </p:sp>
      <p:sp>
        <p:nvSpPr>
          <p:cNvPr id="42" name="íšḻíḑê"/>
          <p:cNvSpPr/>
          <p:nvPr/>
        </p:nvSpPr>
        <p:spPr>
          <a:xfrm>
            <a:off x="1802479" y="1729913"/>
            <a:ext cx="9730289" cy="791342"/>
          </a:xfrm>
          <a:prstGeom prst="rect">
            <a:avLst/>
          </a:prstGeom>
          <a:noFill/>
          <a:ln>
            <a:noFill/>
          </a:ln>
        </p:spPr>
        <p:txBody>
          <a:bodyPr wrap="square" lIns="91440" tIns="45720" rIns="91440" bIns="45720" anchor="ctr" anchorCtr="0">
            <a:noAutofit/>
          </a:bodyPr>
          <a:lstStyle/>
          <a:p>
            <a:r>
              <a:rPr lang="zh-CN" altLang="en-US" sz="2400" dirty="0"/>
              <a:t>系统利用</a:t>
            </a:r>
            <a:r>
              <a:rPr lang="zh-CN" altLang="en-US" sz="2400" dirty="0">
                <a:solidFill>
                  <a:srgbClr val="FF0000"/>
                </a:solidFill>
              </a:rPr>
              <a:t>事务记录表</a:t>
            </a:r>
            <a:r>
              <a:rPr lang="zh-CN" altLang="en-US" sz="2400" dirty="0"/>
              <a:t>可以处理任何故障而不致使故障造成非易失性存储器中信息的丢失</a:t>
            </a:r>
            <a:endParaRPr lang="zh-CN" altLang="en-US" sz="2400" dirty="0"/>
          </a:p>
        </p:txBody>
      </p:sp>
      <p:sp>
        <p:nvSpPr>
          <p:cNvPr id="43" name="îSļiḓè"/>
          <p:cNvSpPr/>
          <p:nvPr/>
        </p:nvSpPr>
        <p:spPr>
          <a:xfrm>
            <a:off x="1118977" y="171635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5" name="îşļiḓè"/>
          <p:cNvSpPr/>
          <p:nvPr/>
        </p:nvSpPr>
        <p:spPr>
          <a:xfrm>
            <a:off x="1118977" y="360490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6" name="îṡḷíďe"/>
          <p:cNvSpPr/>
          <p:nvPr/>
        </p:nvSpPr>
        <p:spPr>
          <a:xfrm>
            <a:off x="1309232" y="1912489"/>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47" name="íSlíḋe"/>
          <p:cNvSpPr/>
          <p:nvPr/>
        </p:nvSpPr>
        <p:spPr>
          <a:xfrm>
            <a:off x="1309231" y="382691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4" name="íšḻíḑê"/>
          <p:cNvSpPr/>
          <p:nvPr/>
        </p:nvSpPr>
        <p:spPr>
          <a:xfrm>
            <a:off x="1021245" y="1145850"/>
            <a:ext cx="7297132" cy="405747"/>
          </a:xfrm>
          <a:prstGeom prst="rect">
            <a:avLst/>
          </a:prstGeom>
          <a:noFill/>
          <a:ln>
            <a:noFill/>
          </a:ln>
        </p:spPr>
        <p:txBody>
          <a:bodyPr wrap="square" lIns="91440" tIns="45720" rIns="91440" bIns="45720" anchor="ctr" anchorCtr="0">
            <a:noAutofit/>
          </a:bodyPr>
          <a:lstStyle/>
          <a:p>
            <a:r>
              <a:rPr lang="zh-CN" altLang="en-US" sz="2400" dirty="0"/>
              <a:t>恢复算法</a:t>
            </a:r>
            <a:endParaRPr lang="zh-CN" altLang="en-US"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9.6.2 </a:t>
            </a:r>
            <a:r>
              <a:rPr lang="zh-CN" altLang="en-US" sz="2800" b="1" dirty="0">
                <a:solidFill>
                  <a:schemeClr val="bg1"/>
                </a:solidFill>
              </a:rPr>
              <a:t>检查点</a:t>
            </a:r>
            <a:endParaRPr lang="zh-CN" altLang="en-US" sz="2800" b="1" dirty="0">
              <a:solidFill>
                <a:schemeClr val="bg1"/>
              </a:solidFill>
            </a:endParaRPr>
          </a:p>
        </p:txBody>
      </p:sp>
      <p:grpSp>
        <p:nvGrpSpPr>
          <p:cNvPr id="11"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5" y="1757985"/>
            <a:ext cx="10984047" cy="3667531"/>
            <a:chOff x="673100" y="1929384"/>
            <a:chExt cx="10984047" cy="3667531"/>
          </a:xfrm>
        </p:grpSpPr>
        <p:sp>
          <p:nvSpPr>
            <p:cNvPr id="12"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3"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4"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5"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6"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8" name="isľîdê"/>
            <p:cNvSpPr txBox="1"/>
            <p:nvPr/>
          </p:nvSpPr>
          <p:spPr>
            <a:xfrm>
              <a:off x="709541" y="4135199"/>
              <a:ext cx="2640515" cy="982407"/>
            </a:xfrm>
            <a:prstGeom prst="rect">
              <a:avLst/>
            </a:prstGeom>
            <a:noFill/>
            <a:ln>
              <a:noFill/>
            </a:ln>
          </p:spPr>
          <p:txBody>
            <a:bodyPr wrap="square" lIns="91440" tIns="45720" rIns="91440" bIns="45720" anchor="t" anchorCtr="0">
              <a:noAutofit/>
            </a:bodyPr>
            <a:lstStyle/>
            <a:p>
              <a:pPr marL="342900" lvl="1" indent="-342900">
                <a:lnSpc>
                  <a:spcPct val="120000"/>
                </a:lnSpc>
                <a:buClr>
                  <a:srgbClr val="FFC000"/>
                </a:buClr>
                <a:buFont typeface="Wingdings" panose="05000000000000000000" pitchFamily="2" charset="2"/>
                <a:buChar char="Ø"/>
              </a:pPr>
              <a:r>
                <a:rPr lang="zh-CN" altLang="en-US" sz="2200" dirty="0"/>
                <a:t>首先，将驻留在易失性存储器（内存）中的当前事务记录表中的所有记录输出到稳定存储器中；</a:t>
              </a:r>
              <a:endParaRPr lang="zh-CN" altLang="en-US" sz="2200" dirty="0"/>
            </a:p>
          </p:txBody>
        </p:sp>
        <p:sp>
          <p:nvSpPr>
            <p:cNvPr id="26"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7"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8"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9"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34" name="isľîdê"/>
            <p:cNvSpPr txBox="1"/>
            <p:nvPr/>
          </p:nvSpPr>
          <p:spPr>
            <a:xfrm>
              <a:off x="3243282" y="4149385"/>
              <a:ext cx="2769797" cy="982407"/>
            </a:xfrm>
            <a:prstGeom prst="rect">
              <a:avLst/>
            </a:prstGeom>
            <a:noFill/>
            <a:ln>
              <a:noFill/>
            </a:ln>
          </p:spPr>
          <p:txBody>
            <a:bodyPr wrap="square" lIns="91440" tIns="45720" rIns="91440" bIns="45720" anchor="t" anchorCtr="0">
              <a:noAutofit/>
            </a:bodyPr>
            <a:lstStyle/>
            <a:p>
              <a:pPr marL="342900" lvl="1" indent="-342900" algn="ctr">
                <a:lnSpc>
                  <a:spcPct val="120000"/>
                </a:lnSpc>
                <a:buClr>
                  <a:srgbClr val="FFC000"/>
                </a:buClr>
                <a:buFont typeface="Wingdings" panose="05000000000000000000" pitchFamily="2" charset="2"/>
                <a:buChar char="Ø"/>
              </a:pPr>
              <a:r>
                <a:rPr lang="zh-CN" altLang="en-US" sz="2200" dirty="0"/>
                <a:t>其次，将驻留在易失性存储器中的所有已修改数据输出到稳定存储器中；</a:t>
              </a:r>
              <a:endParaRPr lang="zh-CN" altLang="en-US" sz="2200" dirty="0"/>
            </a:p>
          </p:txBody>
        </p:sp>
        <p:sp>
          <p:nvSpPr>
            <p:cNvPr id="35" name="isľîdê"/>
            <p:cNvSpPr txBox="1"/>
            <p:nvPr/>
          </p:nvSpPr>
          <p:spPr>
            <a:xfrm>
              <a:off x="6165124" y="4149385"/>
              <a:ext cx="2729500" cy="503359"/>
            </a:xfrm>
            <a:prstGeom prst="rect">
              <a:avLst/>
            </a:prstGeom>
            <a:noFill/>
            <a:ln>
              <a:noFill/>
            </a:ln>
          </p:spPr>
          <p:txBody>
            <a:bodyPr wrap="square" lIns="91440" tIns="45720" rIns="91440" bIns="45720" anchor="t" anchorCtr="0">
              <a:noAutofit/>
            </a:bodyPr>
            <a:lstStyle/>
            <a:p>
              <a:pPr marL="342900" lvl="1" indent="-342900" algn="ctr">
                <a:lnSpc>
                  <a:spcPct val="120000"/>
                </a:lnSpc>
                <a:buClr>
                  <a:srgbClr val="FFC000"/>
                </a:buClr>
                <a:buFont typeface="Wingdings" panose="05000000000000000000" pitchFamily="2" charset="2"/>
                <a:buChar char="Ø"/>
              </a:pPr>
              <a:r>
                <a:rPr lang="zh-CN" altLang="en-US" sz="2200" dirty="0"/>
                <a:t>再次，将事务记录表中的</a:t>
              </a:r>
              <a:r>
                <a:rPr lang="en-US" altLang="zh-CN" sz="2200" dirty="0"/>
                <a:t>〈</a:t>
              </a:r>
              <a:r>
                <a:rPr lang="zh-CN" altLang="en-US" sz="2200" dirty="0"/>
                <a:t>检查点</a:t>
              </a:r>
              <a:r>
                <a:rPr lang="en-US" altLang="zh-CN" sz="2200" dirty="0"/>
                <a:t>〉</a:t>
              </a:r>
              <a:r>
                <a:rPr lang="zh-CN" altLang="en-US" sz="2200" dirty="0"/>
                <a:t>记录输出到稳定存储器中；</a:t>
              </a:r>
              <a:endParaRPr lang="zh-CN" altLang="en-US" sz="2200" dirty="0"/>
            </a:p>
          </p:txBody>
        </p:sp>
        <p:sp>
          <p:nvSpPr>
            <p:cNvPr id="36" name="isľîdê"/>
            <p:cNvSpPr txBox="1"/>
            <p:nvPr/>
          </p:nvSpPr>
          <p:spPr>
            <a:xfrm>
              <a:off x="9123407" y="4135199"/>
              <a:ext cx="2533740" cy="1461716"/>
            </a:xfrm>
            <a:prstGeom prst="rect">
              <a:avLst/>
            </a:prstGeom>
            <a:noFill/>
            <a:ln>
              <a:noFill/>
            </a:ln>
          </p:spPr>
          <p:txBody>
            <a:bodyPr wrap="square" lIns="91440" tIns="45720" rIns="91440" bIns="45720" anchor="t" anchorCtr="0">
              <a:noAutofit/>
            </a:bodyPr>
            <a:lstStyle/>
            <a:p>
              <a:pPr marL="342900" lvl="1" indent="-342900" algn="ctr">
                <a:lnSpc>
                  <a:spcPct val="120000"/>
                </a:lnSpc>
                <a:buClr>
                  <a:srgbClr val="FFC000"/>
                </a:buClr>
                <a:buFont typeface="Wingdings" panose="05000000000000000000" pitchFamily="2" charset="2"/>
                <a:buChar char="Ø"/>
              </a:pPr>
              <a:r>
                <a:rPr lang="zh-CN" altLang="en-US" sz="2200" dirty="0"/>
                <a:t>最后，每当出现一个</a:t>
              </a:r>
              <a:r>
                <a:rPr lang="en-US" altLang="zh-CN" sz="2200" dirty="0"/>
                <a:t>〈</a:t>
              </a:r>
              <a:r>
                <a:rPr lang="zh-CN" altLang="en-US" sz="2200" dirty="0"/>
                <a:t>检查点</a:t>
              </a:r>
              <a:r>
                <a:rPr lang="en-US" altLang="zh-CN" sz="2200" dirty="0"/>
                <a:t>〉</a:t>
              </a:r>
              <a:r>
                <a:rPr lang="zh-CN" altLang="en-US" sz="2200" dirty="0"/>
                <a:t>记录，系统便执行一次恢复操作。</a:t>
              </a:r>
              <a:endParaRPr lang="zh-CN" altLang="en-US" sz="2200" dirty="0"/>
            </a:p>
          </p:txBody>
        </p:sp>
      </p:grpSp>
      <p:sp>
        <p:nvSpPr>
          <p:cNvPr id="25" name="isľîdê"/>
          <p:cNvSpPr txBox="1"/>
          <p:nvPr/>
        </p:nvSpPr>
        <p:spPr>
          <a:xfrm>
            <a:off x="591976" y="1180201"/>
            <a:ext cx="10416421" cy="665679"/>
          </a:xfrm>
          <a:prstGeom prst="rect">
            <a:avLst/>
          </a:prstGeom>
          <a:noFill/>
          <a:ln>
            <a:noFill/>
          </a:ln>
        </p:spPr>
        <p:txBody>
          <a:bodyPr wrap="square" lIns="91440" tIns="45720" rIns="91440" bIns="45720" anchor="t" anchorCtr="0">
            <a:noAutofit/>
          </a:bodyPr>
          <a:lstStyle/>
          <a:p>
            <a:pPr marL="0" lvl="1">
              <a:lnSpc>
                <a:spcPct val="120000"/>
              </a:lnSpc>
              <a:buClr>
                <a:srgbClr val="FFC000"/>
              </a:buClr>
            </a:pPr>
            <a:r>
              <a:rPr lang="zh-CN" altLang="en-US" sz="2400" dirty="0">
                <a:solidFill>
                  <a:schemeClr val="tx1">
                    <a:lumMod val="65000"/>
                    <a:lumOff val="35000"/>
                  </a:schemeClr>
                </a:solidFill>
              </a:rPr>
              <a:t>引入</a:t>
            </a:r>
            <a:r>
              <a:rPr lang="zh-CN" altLang="en-US" sz="2400" dirty="0">
                <a:solidFill>
                  <a:srgbClr val="FF0000"/>
                </a:solidFill>
              </a:rPr>
              <a:t>检查点</a:t>
            </a:r>
            <a:r>
              <a:rPr lang="zh-CN" altLang="en-US" sz="2400" dirty="0">
                <a:solidFill>
                  <a:schemeClr val="tx1">
                    <a:lumMod val="65000"/>
                    <a:lumOff val="35000"/>
                  </a:schemeClr>
                </a:solidFill>
              </a:rPr>
              <a:t>的主要目的，</a:t>
            </a:r>
            <a:r>
              <a:rPr lang="zh-CN" altLang="en-US" sz="2400" dirty="0">
                <a:solidFill>
                  <a:srgbClr val="0000FF"/>
                </a:solidFill>
              </a:rPr>
              <a:t>使事务记录表中事务记录的清理工作经常化。</a:t>
            </a:r>
            <a:endParaRPr lang="zh-CN" altLang="en-US" sz="2400" dirty="0">
              <a:solidFill>
                <a:srgbClr val="0000FF"/>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9.6.3 </a:t>
            </a:r>
            <a:r>
              <a:rPr lang="zh-CN" altLang="en-US" sz="2800" b="1" dirty="0">
                <a:solidFill>
                  <a:schemeClr val="bg1"/>
                </a:solidFill>
              </a:rPr>
              <a:t>并发控制</a:t>
            </a:r>
            <a:endParaRPr lang="zh-CN" altLang="en-US" sz="2800" b="1" dirty="0">
              <a:solidFill>
                <a:schemeClr val="bg1"/>
              </a:solidFill>
            </a:endParaRPr>
          </a:p>
        </p:txBody>
      </p:sp>
      <p:sp>
        <p:nvSpPr>
          <p:cNvPr id="37" name="íšḻîḋè"/>
          <p:cNvSpPr/>
          <p:nvPr/>
        </p:nvSpPr>
        <p:spPr>
          <a:xfrm>
            <a:off x="1746844" y="3577516"/>
            <a:ext cx="9326179" cy="93313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利用互斥锁实现顺序性</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 利用互斥锁和共享锁实现顺序性</a:t>
            </a:r>
            <a:endParaRPr lang="zh-CN" altLang="en-US" sz="2200" dirty="0"/>
          </a:p>
        </p:txBody>
      </p:sp>
      <p:sp>
        <p:nvSpPr>
          <p:cNvPr id="38" name="i$lîďê"/>
          <p:cNvSpPr/>
          <p:nvPr/>
        </p:nvSpPr>
        <p:spPr>
          <a:xfrm>
            <a:off x="1802479" y="3126390"/>
            <a:ext cx="6018748" cy="392877"/>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用于实现事务顺序性的技术</a:t>
            </a:r>
            <a:r>
              <a:rPr lang="zh-CN" altLang="en-US" sz="2400" dirty="0"/>
              <a:t>称为</a:t>
            </a:r>
            <a:r>
              <a:rPr lang="zh-CN" altLang="en-US" sz="2400" dirty="0">
                <a:solidFill>
                  <a:srgbClr val="FF0000"/>
                </a:solidFill>
              </a:rPr>
              <a:t>并发控制</a:t>
            </a:r>
            <a:endParaRPr lang="zh-CN" altLang="en-US" sz="2400" dirty="0">
              <a:solidFill>
                <a:srgbClr val="FF0000"/>
              </a:solidFill>
            </a:endParaRPr>
          </a:p>
        </p:txBody>
      </p:sp>
      <p:sp>
        <p:nvSpPr>
          <p:cNvPr id="42" name="íšḻíḑê"/>
          <p:cNvSpPr/>
          <p:nvPr/>
        </p:nvSpPr>
        <p:spPr>
          <a:xfrm>
            <a:off x="1802479" y="1702544"/>
            <a:ext cx="9782879" cy="933134"/>
          </a:xfrm>
          <a:prstGeom prst="rect">
            <a:avLst/>
          </a:prstGeom>
          <a:noFill/>
          <a:ln>
            <a:noFill/>
          </a:ln>
        </p:spPr>
        <p:txBody>
          <a:bodyPr wrap="square" lIns="91440" tIns="45720" rIns="91440" bIns="45720" anchor="ctr" anchorCtr="0">
            <a:noAutofit/>
          </a:bodyPr>
          <a:lstStyle/>
          <a:p>
            <a:pPr>
              <a:lnSpc>
                <a:spcPct val="123000"/>
              </a:lnSpc>
            </a:pPr>
            <a:r>
              <a:rPr lang="zh-CN" altLang="en-US" sz="2400" dirty="0"/>
              <a:t>由于事务具有原子性，各个事务的执行必然会按某种次序依次执行，即各事务对数据项的修改是互斥的（称为顺序性）</a:t>
            </a:r>
            <a:endParaRPr lang="zh-CN" altLang="en-US" sz="2400" dirty="0"/>
          </a:p>
        </p:txBody>
      </p:sp>
      <p:sp>
        <p:nvSpPr>
          <p:cNvPr id="43" name="îSļiḓè"/>
          <p:cNvSpPr/>
          <p:nvPr/>
        </p:nvSpPr>
        <p:spPr>
          <a:xfrm>
            <a:off x="1118977" y="168898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5" name="îşļiḓè"/>
          <p:cNvSpPr/>
          <p:nvPr/>
        </p:nvSpPr>
        <p:spPr>
          <a:xfrm>
            <a:off x="1118977" y="3077380"/>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6" name="îṡḷíďe"/>
          <p:cNvSpPr/>
          <p:nvPr/>
        </p:nvSpPr>
        <p:spPr>
          <a:xfrm>
            <a:off x="1309232" y="1885120"/>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47" name="íSlíḋe"/>
          <p:cNvSpPr/>
          <p:nvPr/>
        </p:nvSpPr>
        <p:spPr>
          <a:xfrm>
            <a:off x="1309231" y="3299397"/>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9.6.4 </a:t>
            </a:r>
            <a:r>
              <a:rPr lang="zh-CN" altLang="en-US" sz="2800" b="1" dirty="0">
                <a:solidFill>
                  <a:schemeClr val="bg1"/>
                </a:solidFill>
              </a:rPr>
              <a:t>重复数据的一致性问题</a:t>
            </a:r>
            <a:endParaRPr lang="zh-CN" altLang="en-US" sz="2800" b="1" dirty="0">
              <a:solidFill>
                <a:schemeClr val="bg1"/>
              </a:solidFill>
            </a:endParaRPr>
          </a:p>
        </p:txBody>
      </p:sp>
      <p:sp>
        <p:nvSpPr>
          <p:cNvPr id="42" name="íšḻíḑê"/>
          <p:cNvSpPr/>
          <p:nvPr/>
        </p:nvSpPr>
        <p:spPr>
          <a:xfrm>
            <a:off x="1802479" y="1702544"/>
            <a:ext cx="9782879" cy="933134"/>
          </a:xfrm>
          <a:prstGeom prst="rect">
            <a:avLst/>
          </a:prstGeom>
          <a:noFill/>
          <a:ln>
            <a:noFill/>
          </a:ln>
        </p:spPr>
        <p:txBody>
          <a:bodyPr wrap="square" lIns="91440" tIns="45720" rIns="91440" bIns="45720" anchor="ctr" anchorCtr="0">
            <a:noAutofit/>
          </a:bodyPr>
          <a:lstStyle/>
          <a:p>
            <a:pPr>
              <a:lnSpc>
                <a:spcPct val="123000"/>
              </a:lnSpc>
            </a:pPr>
            <a:r>
              <a:rPr lang="zh-CN" altLang="en-US" sz="2400" dirty="0"/>
              <a:t>主文件或数据结构中的数据应与各备份文件中对应的数据保持一致；应保证不同处的同一数据结构中（</a:t>
            </a:r>
            <a:r>
              <a:rPr lang="zh-CN" altLang="en-US" sz="2400" dirty="0">
                <a:solidFill>
                  <a:srgbClr val="FF0000"/>
                </a:solidFill>
              </a:rPr>
              <a:t>可能已被修改的</a:t>
            </a:r>
            <a:r>
              <a:rPr lang="zh-CN" altLang="en-US" sz="2400" dirty="0"/>
              <a:t>）数据的一致性。</a:t>
            </a:r>
            <a:endParaRPr lang="zh-CN" altLang="en-US" sz="2400" dirty="0"/>
          </a:p>
        </p:txBody>
      </p:sp>
      <p:sp>
        <p:nvSpPr>
          <p:cNvPr id="43" name="îSļiḓè"/>
          <p:cNvSpPr/>
          <p:nvPr/>
        </p:nvSpPr>
        <p:spPr>
          <a:xfrm>
            <a:off x="1118977" y="168898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6" name="îṡḷíďe"/>
          <p:cNvSpPr/>
          <p:nvPr/>
        </p:nvSpPr>
        <p:spPr>
          <a:xfrm>
            <a:off x="1309232" y="1885120"/>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33" name="íšḻîḋè"/>
          <p:cNvSpPr/>
          <p:nvPr/>
        </p:nvSpPr>
        <p:spPr>
          <a:xfrm>
            <a:off x="1789516" y="2834647"/>
            <a:ext cx="9326179" cy="1387676"/>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spcAft>
                <a:spcPts val="600"/>
              </a:spcAft>
              <a:buClr>
                <a:srgbClr val="FF0000"/>
              </a:buClr>
              <a:buFont typeface="Wingdings" panose="05000000000000000000" pitchFamily="2" charset="2"/>
              <a:buChar char="Ø"/>
            </a:pPr>
            <a:r>
              <a:rPr lang="zh-CN" altLang="en-US" sz="2200" dirty="0">
                <a:solidFill>
                  <a:srgbClr val="0000FF"/>
                </a:solidFill>
              </a:rPr>
              <a:t>重复文件的一致性</a:t>
            </a:r>
            <a:r>
              <a:rPr lang="zh-CN" altLang="en-US" sz="2200" dirty="0"/>
              <a:t>：当有重复文件时，如果一个文件复制被修改，则必须同时修改其他几个文件复制，以保证各相应文件中数据的一致性。</a:t>
            </a:r>
            <a:endParaRPr lang="zh-CN" altLang="en-US" sz="2200" dirty="0"/>
          </a:p>
          <a:p>
            <a:pPr marL="342900" indent="-342900">
              <a:lnSpc>
                <a:spcPct val="120000"/>
              </a:lnSpc>
              <a:spcBef>
                <a:spcPts val="600"/>
              </a:spcBef>
              <a:spcAft>
                <a:spcPts val="600"/>
              </a:spcAft>
              <a:buClr>
                <a:srgbClr val="FF0000"/>
              </a:buClr>
              <a:buFont typeface="Wingdings" panose="05000000000000000000" pitchFamily="2" charset="2"/>
              <a:buChar char="Ø"/>
            </a:pPr>
            <a:r>
              <a:rPr lang="zh-CN" altLang="en-US" sz="2200" dirty="0">
                <a:solidFill>
                  <a:srgbClr val="0000FF"/>
                </a:solidFill>
              </a:rPr>
              <a:t>链接数一致性检查</a:t>
            </a:r>
            <a:r>
              <a:rPr lang="zh-CN" altLang="en-US" sz="2200" dirty="0"/>
              <a:t>：共享文件的索引节点数与链接计数</a:t>
            </a:r>
            <a:r>
              <a:rPr lang="en-US" altLang="zh-CN" sz="2200" dirty="0"/>
              <a:t>count</a:t>
            </a:r>
            <a:r>
              <a:rPr lang="zh-CN" altLang="en-US" sz="2200" dirty="0"/>
              <a:t>应一致。</a:t>
            </a:r>
            <a:endParaRPr lang="zh-CN" altLang="en-US" sz="2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第9章 知识导图"/>
          <p:cNvPicPr>
            <a:picLocks noChangeAspect="1"/>
          </p:cNvPicPr>
          <p:nvPr/>
        </p:nvPicPr>
        <p:blipFill>
          <a:blip r:embed="rId1"/>
          <a:srcRect b="1580"/>
          <a:stretch>
            <a:fillRect/>
          </a:stretch>
        </p:blipFill>
        <p:spPr>
          <a:xfrm>
            <a:off x="4769485" y="828675"/>
            <a:ext cx="6333490" cy="5973445"/>
          </a:xfrm>
          <a:prstGeom prst="rect">
            <a:avLst/>
          </a:prstGeom>
        </p:spPr>
      </p:pic>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sp>
        <p:nvSpPr>
          <p:cNvPr id="11" name="前凸带形 3"/>
          <p:cNvSpPr/>
          <p:nvPr/>
        </p:nvSpPr>
        <p:spPr>
          <a:xfrm>
            <a:off x="10178415" y="6330315"/>
            <a:ext cx="1756410" cy="337185"/>
          </a:xfrm>
          <a:prstGeom prst="ribbon">
            <a:avLst>
              <a:gd name="adj1" fmla="val 16667"/>
              <a:gd name="adj2" fmla="val 67555"/>
            </a:avLst>
          </a:prstGeom>
          <a:solidFill>
            <a:srgbClr val="00005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mn-ea"/>
              </a:rPr>
              <a:t>本章学习结束</a:t>
            </a:r>
            <a:endParaRPr lang="zh-CN" altLang="en-US" sz="1200" b="1" dirty="0">
              <a:solidFill>
                <a:schemeClr val="bg1"/>
              </a:solidFill>
              <a:latin typeface="+mn-ea"/>
            </a:endParaRPr>
          </a:p>
        </p:txBody>
      </p:sp>
      <p:sp>
        <p:nvSpPr>
          <p:cNvPr id="12" name="矩形 11"/>
          <p:cNvSpPr/>
          <p:nvPr/>
        </p:nvSpPr>
        <p:spPr>
          <a:xfrm>
            <a:off x="771525" y="257830"/>
            <a:ext cx="4334841" cy="523220"/>
          </a:xfrm>
          <a:prstGeom prst="rect">
            <a:avLst/>
          </a:prstGeom>
        </p:spPr>
        <p:txBody>
          <a:bodyPr wrap="none">
            <a:spAutoFit/>
          </a:bodyPr>
          <a:lstStyle/>
          <a:p>
            <a:r>
              <a:rPr lang="zh-CN" altLang="en-US" sz="2800" b="1" dirty="0">
                <a:solidFill>
                  <a:schemeClr val="bg1"/>
                </a:solidFill>
              </a:rPr>
              <a:t>学而时习之（第</a:t>
            </a:r>
            <a:r>
              <a:rPr lang="en-US" altLang="zh-CN" sz="2800" b="1" dirty="0">
                <a:solidFill>
                  <a:schemeClr val="bg1"/>
                </a:solidFill>
              </a:rPr>
              <a:t>9</a:t>
            </a:r>
            <a:r>
              <a:rPr lang="zh-CN" altLang="en-US" sz="2800" b="1" dirty="0">
                <a:solidFill>
                  <a:schemeClr val="bg1"/>
                </a:solidFill>
              </a:rPr>
              <a:t>章总结）</a:t>
            </a:r>
            <a:endParaRPr lang="zh-CN" altLang="en-US" sz="2800" b="1" dirty="0">
              <a:solidFill>
                <a:schemeClr val="bg1"/>
              </a:solidFill>
            </a:endParaRPr>
          </a:p>
        </p:txBody>
      </p:sp>
      <p:graphicFrame>
        <p:nvGraphicFramePr>
          <p:cNvPr id="13" name="表格 12"/>
          <p:cNvGraphicFramePr/>
          <p:nvPr>
            <p:custDataLst>
              <p:tags r:id="rId3"/>
            </p:custDataLst>
          </p:nvPr>
        </p:nvGraphicFramePr>
        <p:xfrm>
          <a:off x="462431" y="1634204"/>
          <a:ext cx="4173963" cy="4789452"/>
        </p:xfrm>
        <a:graphic>
          <a:graphicData uri="http://schemas.openxmlformats.org/drawingml/2006/table">
            <a:tbl>
              <a:tblPr firstRow="1" bandRow="1">
                <a:tableStyleId>{72833802-FEF1-4C79-8D5D-14CF1EAF98D9}</a:tableStyleId>
              </a:tblPr>
              <a:tblGrid>
                <a:gridCol w="1221039"/>
                <a:gridCol w="2952924"/>
              </a:tblGrid>
              <a:tr h="399121">
                <a:tc>
                  <a:txBody>
                    <a:bodyPr/>
                    <a:lstStyle/>
                    <a:p>
                      <a:pPr marL="71755" indent="0" algn="ctr" defTabSz="914400" rtl="0" eaLnBrk="1" latinLnBrk="0" hangingPunct="1">
                        <a:lnSpc>
                          <a:spcPct val="100000"/>
                        </a:lnSpc>
                        <a:spcBef>
                          <a:spcPts val="300"/>
                        </a:spcBef>
                        <a:spcAft>
                          <a:spcPts val="300"/>
                        </a:spcAft>
                        <a:buNone/>
                      </a:pPr>
                      <a:r>
                        <a:rPr lang="en-US" sz="2000" b="0" kern="1200" dirty="0">
                          <a:solidFill>
                            <a:schemeClr val="tx1"/>
                          </a:solidFill>
                          <a:latin typeface="微软雅黑 (正文)"/>
                          <a:ea typeface="+mn-ea"/>
                          <a:cs typeface="+mn-cs"/>
                        </a:rPr>
                        <a:t>第1章</a:t>
                      </a:r>
                      <a:endParaRPr lang="en-US" altLang="en-US" sz="2000" b="0" kern="1200" dirty="0">
                        <a:solidFill>
                          <a:schemeClr val="tx1"/>
                        </a:solidFill>
                        <a:latin typeface="微软雅黑 (正文)"/>
                        <a:ea typeface="+mn-ea"/>
                        <a:cs typeface="+mn-cs"/>
                      </a:endParaRPr>
                    </a:p>
                  </a:txBody>
                  <a:tcPr marL="98738" marR="98738" marT="0" marB="0" anchor="ctr">
                    <a:solidFill>
                      <a:schemeClr val="bg1"/>
                    </a:solidFill>
                  </a:tcPr>
                </a:tc>
                <a:tc>
                  <a:txBody>
                    <a:bodyPr/>
                    <a:lstStyle/>
                    <a:p>
                      <a:pPr marL="0" indent="0" algn="l" defTabSz="914400" rtl="0" eaLnBrk="1" latinLnBrk="0" hangingPunct="1">
                        <a:lnSpc>
                          <a:spcPct val="100000"/>
                        </a:lnSpc>
                        <a:spcBef>
                          <a:spcPts val="300"/>
                        </a:spcBef>
                        <a:spcAft>
                          <a:spcPts val="300"/>
                        </a:spcAft>
                        <a:buNone/>
                      </a:pPr>
                      <a:r>
                        <a:rPr lang="en-US" sz="2000" b="0" kern="1200" dirty="0">
                          <a:solidFill>
                            <a:schemeClr val="tx1"/>
                          </a:solidFill>
                          <a:latin typeface="微软雅黑 (正文)"/>
                          <a:ea typeface="+mn-ea"/>
                          <a:cs typeface="+mn-cs"/>
                        </a:rPr>
                        <a:t> </a:t>
                      </a:r>
                      <a:r>
                        <a:rPr lang="en-US" sz="2000" b="0" kern="1200" dirty="0" err="1">
                          <a:solidFill>
                            <a:schemeClr val="tx1"/>
                          </a:solidFill>
                          <a:latin typeface="微软雅黑 (正文)"/>
                          <a:ea typeface="+mn-ea"/>
                          <a:cs typeface="+mn-cs"/>
                        </a:rPr>
                        <a:t>操作系统引论</a:t>
                      </a:r>
                      <a:endParaRPr lang="en-US" altLang="en-US" sz="2000" b="0" kern="1200" dirty="0">
                        <a:solidFill>
                          <a:schemeClr val="tx1"/>
                        </a:solidFill>
                        <a:latin typeface="微软雅黑 (正文)"/>
                        <a:ea typeface="+mn-ea"/>
                        <a:cs typeface="+mn-cs"/>
                      </a:endParaRPr>
                    </a:p>
                  </a:txBody>
                  <a:tcPr marL="98738" marR="98738" marT="0" marB="0" anchor="ctr">
                    <a:solidFill>
                      <a:schemeClr val="bg1"/>
                    </a:solidFill>
                  </a:tcPr>
                </a:tc>
              </a:tr>
              <a:tr h="399121">
                <a:tc>
                  <a:txBody>
                    <a:bodyPr/>
                    <a:lstStyle/>
                    <a:p>
                      <a:pPr marL="71755" indent="0" algn="ctr">
                        <a:lnSpc>
                          <a:spcPct val="100000"/>
                        </a:lnSpc>
                        <a:spcBef>
                          <a:spcPts val="300"/>
                        </a:spcBef>
                        <a:spcAft>
                          <a:spcPts val="300"/>
                        </a:spcAft>
                        <a:buNone/>
                      </a:pPr>
                      <a:r>
                        <a:rPr lang="en-US" sz="2000" dirty="0">
                          <a:latin typeface="微软雅黑 (正文)"/>
                        </a:rPr>
                        <a:t>第2章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进程的描述与控制</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b="0" dirty="0">
                          <a:solidFill>
                            <a:schemeClr val="tx1"/>
                          </a:solidFill>
                          <a:latin typeface="微软雅黑 (正文)"/>
                        </a:rPr>
                        <a:t>第3章</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tc>
                  <a:txBody>
                    <a:bodyPr/>
                    <a:lstStyle/>
                    <a:p>
                      <a:pPr marL="71755" indent="0" algn="l">
                        <a:lnSpc>
                          <a:spcPct val="100000"/>
                        </a:lnSpc>
                        <a:spcBef>
                          <a:spcPts val="300"/>
                        </a:spcBef>
                        <a:spcAft>
                          <a:spcPts val="300"/>
                        </a:spcAft>
                        <a:buNone/>
                      </a:pPr>
                      <a:r>
                        <a:rPr lang="en-US" sz="2000" b="0" dirty="0" err="1">
                          <a:solidFill>
                            <a:schemeClr val="tx1"/>
                          </a:solidFill>
                          <a:latin typeface="微软雅黑 (正文)"/>
                        </a:rPr>
                        <a:t>处理机调度与死锁</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tr>
              <a:tr h="399121">
                <a:tc>
                  <a:txBody>
                    <a:bodyPr/>
                    <a:lstStyle/>
                    <a:p>
                      <a:pPr marL="71755" indent="0" algn="ctr">
                        <a:lnSpc>
                          <a:spcPct val="100000"/>
                        </a:lnSpc>
                        <a:spcBef>
                          <a:spcPts val="300"/>
                        </a:spcBef>
                        <a:spcAft>
                          <a:spcPts val="300"/>
                        </a:spcAft>
                        <a:buNone/>
                      </a:pPr>
                      <a:r>
                        <a:rPr lang="en-US" sz="2000" dirty="0">
                          <a:latin typeface="微软雅黑 (正文)"/>
                        </a:rPr>
                        <a:t>第4章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进程同步</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第5章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存储器管理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微软雅黑 (正文)"/>
                        </a:rPr>
                        <a:t>第6章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虚拟存储器</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第7章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输入</a:t>
                      </a:r>
                      <a:r>
                        <a:rPr lang="en-US" sz="2000" dirty="0">
                          <a:latin typeface="微软雅黑 (正文)"/>
                        </a:rPr>
                        <a:t>/</a:t>
                      </a:r>
                      <a:r>
                        <a:rPr lang="en-US" sz="2000" dirty="0" err="1">
                          <a:latin typeface="微软雅黑 (正文)"/>
                        </a:rPr>
                        <a:t>输出系统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第8章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文件管理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b="1" dirty="0">
                          <a:solidFill>
                            <a:schemeClr val="bg1"/>
                          </a:solidFill>
                          <a:latin typeface="微软雅黑 (正文)"/>
                        </a:rPr>
                        <a:t>第9章</a:t>
                      </a:r>
                      <a:endParaRPr lang="en-US" altLang="en-US" sz="2000" b="1" dirty="0">
                        <a:solidFill>
                          <a:schemeClr val="bg1"/>
                        </a:solidFill>
                        <a:latin typeface="微软雅黑 (正文)"/>
                        <a:ea typeface="华文楷体" panose="02010600040101010101" charset="-122"/>
                        <a:cs typeface="华文楷体" panose="02010600040101010101" charset="-122"/>
                      </a:endParaRPr>
                    </a:p>
                  </a:txBody>
                  <a:tcPr marL="98738" marR="98738" marT="0" marB="0" anchor="ctr">
                    <a:solidFill>
                      <a:srgbClr val="FFC000"/>
                    </a:solidFill>
                  </a:tcPr>
                </a:tc>
                <a:tc>
                  <a:txBody>
                    <a:bodyPr/>
                    <a:lstStyle/>
                    <a:p>
                      <a:pPr marL="71755" indent="0" algn="l">
                        <a:lnSpc>
                          <a:spcPct val="100000"/>
                        </a:lnSpc>
                        <a:spcBef>
                          <a:spcPts val="300"/>
                        </a:spcBef>
                        <a:spcAft>
                          <a:spcPts val="300"/>
                        </a:spcAft>
                        <a:buNone/>
                      </a:pPr>
                      <a:r>
                        <a:rPr lang="en-US" sz="2000" b="1" dirty="0" err="1">
                          <a:solidFill>
                            <a:schemeClr val="bg1"/>
                          </a:solidFill>
                          <a:latin typeface="微软雅黑 (正文)"/>
                        </a:rPr>
                        <a:t>磁盘存储器管理</a:t>
                      </a:r>
                      <a:endParaRPr lang="en-US" altLang="en-US" sz="2000" b="1" dirty="0">
                        <a:solidFill>
                          <a:schemeClr val="bg1"/>
                        </a:solidFill>
                        <a:latin typeface="微软雅黑 (正文)"/>
                        <a:ea typeface="华文楷体" panose="02010600040101010101" charset="-122"/>
                        <a:cs typeface="华文楷体" panose="02010600040101010101" charset="-122"/>
                      </a:endParaRPr>
                    </a:p>
                  </a:txBody>
                  <a:tcPr marL="98738" marR="98738" marT="0" marB="0" anchor="ctr">
                    <a:solidFill>
                      <a:srgbClr val="FFC000"/>
                    </a:solidFill>
                  </a:tcPr>
                </a:tc>
              </a:tr>
              <a:tr h="399121">
                <a:tc>
                  <a:txBody>
                    <a:bodyPr/>
                    <a:lstStyle/>
                    <a:p>
                      <a:pPr marL="71755" indent="0" algn="ctr">
                        <a:lnSpc>
                          <a:spcPct val="100000"/>
                        </a:lnSpc>
                        <a:spcBef>
                          <a:spcPts val="300"/>
                        </a:spcBef>
                        <a:spcAft>
                          <a:spcPts val="300"/>
                        </a:spcAft>
                        <a:buNone/>
                      </a:pPr>
                      <a:r>
                        <a:rPr lang="en-US" sz="2000">
                          <a:latin typeface="微软雅黑 (正文)"/>
                        </a:rPr>
                        <a:t>第10章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多处理机操作系统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第11章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虚拟化和云计算</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第12章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保护和安全</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第一次作业</a:t>
            </a:r>
            <a:endParaRPr lang="zh-CN" altLang="en-US" sz="2800" b="1" dirty="0">
              <a:solidFill>
                <a:schemeClr val="bg1"/>
              </a:solidFill>
            </a:endParaRPr>
          </a:p>
        </p:txBody>
      </p:sp>
      <p:sp>
        <p:nvSpPr>
          <p:cNvPr id="7" name="流程图: 预定义过程 6"/>
          <p:cNvSpPr/>
          <p:nvPr/>
        </p:nvSpPr>
        <p:spPr>
          <a:xfrm>
            <a:off x="1846580" y="1476409"/>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charset="0"/>
                <a:cs typeface="Times New Roman" panose="02020603050405020304" charset="0"/>
              </a:rPr>
              <a:t>1</a:t>
            </a:r>
            <a:endParaRPr lang="en-US" altLang="zh-CN" sz="2800">
              <a:solidFill>
                <a:schemeClr val="tx1"/>
              </a:solidFill>
              <a:latin typeface="Times New Roman" panose="02020603050405020304" charset="0"/>
              <a:cs typeface="Times New Roman" panose="02020603050405020304" charset="0"/>
            </a:endParaRPr>
          </a:p>
        </p:txBody>
      </p:sp>
      <p:sp>
        <p:nvSpPr>
          <p:cNvPr id="8" name="立方体 7"/>
          <p:cNvSpPr/>
          <p:nvPr/>
        </p:nvSpPr>
        <p:spPr>
          <a:xfrm>
            <a:off x="1865630" y="4763735"/>
            <a:ext cx="776605" cy="776605"/>
          </a:xfrm>
          <a:prstGeom prst="cube">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603050405020304" charset="0"/>
                <a:cs typeface="Times New Roman" panose="02020603050405020304" charset="0"/>
              </a:rPr>
              <a:t>19</a:t>
            </a:r>
            <a:endParaRPr lang="en-US" altLang="zh-CN" sz="2800" dirty="0">
              <a:solidFill>
                <a:schemeClr val="tx1"/>
              </a:solidFill>
              <a:latin typeface="Times New Roman" panose="02020603050405020304" charset="0"/>
              <a:cs typeface="Times New Roman" panose="02020603050405020304" charset="0"/>
            </a:endParaRPr>
          </a:p>
        </p:txBody>
      </p:sp>
      <p:sp>
        <p:nvSpPr>
          <p:cNvPr id="10" name="矩形 9"/>
          <p:cNvSpPr/>
          <p:nvPr/>
        </p:nvSpPr>
        <p:spPr>
          <a:xfrm>
            <a:off x="1414780" y="1233205"/>
            <a:ext cx="9288780" cy="1882858"/>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文本框 10"/>
          <p:cNvSpPr txBox="1"/>
          <p:nvPr/>
        </p:nvSpPr>
        <p:spPr>
          <a:xfrm>
            <a:off x="608522" y="1666802"/>
            <a:ext cx="553998" cy="1015663"/>
          </a:xfrm>
          <a:prstGeom prst="rect">
            <a:avLst/>
          </a:prstGeom>
          <a:noFill/>
        </p:spPr>
        <p:txBody>
          <a:bodyPr vert="eaVert" wrap="none" rtlCol="0">
            <a:spAutoFit/>
          </a:bodyPr>
          <a:lstStyle/>
          <a:p>
            <a:r>
              <a:rPr lang="zh-CN" altLang="en-US" sz="2400" dirty="0">
                <a:solidFill>
                  <a:schemeClr val="tx1"/>
                </a:solidFill>
                <a:latin typeface="+mn-ea"/>
              </a:rPr>
              <a:t>简答题</a:t>
            </a:r>
            <a:endParaRPr lang="zh-CN" altLang="en-US" sz="2400" dirty="0">
              <a:solidFill>
                <a:schemeClr val="tx1"/>
              </a:solidFill>
              <a:latin typeface="+mn-ea"/>
            </a:endParaRPr>
          </a:p>
        </p:txBody>
      </p:sp>
      <p:sp>
        <p:nvSpPr>
          <p:cNvPr id="12" name="矩形 11"/>
          <p:cNvSpPr/>
          <p:nvPr/>
        </p:nvSpPr>
        <p:spPr>
          <a:xfrm>
            <a:off x="1451610" y="3423885"/>
            <a:ext cx="9288780" cy="946800"/>
          </a:xfrm>
          <a:prstGeom prst="rect">
            <a:avLst/>
          </a:prstGeom>
          <a:noFill/>
          <a:ln>
            <a:solidFill>
              <a:srgbClr val="7030A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030A0"/>
              </a:solidFill>
              <a:latin typeface="Times New Roman" panose="02020603050405020304" charset="0"/>
              <a:cs typeface="Times New Roman" panose="02020603050405020304" charset="0"/>
            </a:endParaRPr>
          </a:p>
        </p:txBody>
      </p:sp>
      <p:sp>
        <p:nvSpPr>
          <p:cNvPr id="13" name="文本框 12"/>
          <p:cNvSpPr txBox="1"/>
          <p:nvPr/>
        </p:nvSpPr>
        <p:spPr>
          <a:xfrm>
            <a:off x="649318" y="3301754"/>
            <a:ext cx="553998" cy="1015663"/>
          </a:xfrm>
          <a:prstGeom prst="rect">
            <a:avLst/>
          </a:prstGeom>
          <a:noFill/>
          <a:ln>
            <a:noFill/>
          </a:ln>
        </p:spPr>
        <p:txBody>
          <a:bodyPr vert="eaVert" wrap="none" rtlCol="0">
            <a:spAutoFit/>
          </a:bodyPr>
          <a:lstStyle/>
          <a:p>
            <a:r>
              <a:rPr lang="zh-CN" altLang="en-US" sz="2400" dirty="0">
                <a:solidFill>
                  <a:srgbClr val="7030A0"/>
                </a:solidFill>
                <a:latin typeface="+mn-ea"/>
              </a:rPr>
              <a:t>计算题</a:t>
            </a:r>
            <a:endParaRPr lang="zh-CN" altLang="en-US" sz="2400" dirty="0">
              <a:solidFill>
                <a:srgbClr val="7030A0"/>
              </a:solidFill>
              <a:latin typeface="+mn-ea"/>
            </a:endParaRPr>
          </a:p>
        </p:txBody>
      </p:sp>
      <p:sp>
        <p:nvSpPr>
          <p:cNvPr id="14" name="矩形 13"/>
          <p:cNvSpPr/>
          <p:nvPr/>
        </p:nvSpPr>
        <p:spPr>
          <a:xfrm>
            <a:off x="1451610" y="4678645"/>
            <a:ext cx="9288780" cy="946150"/>
          </a:xfrm>
          <a:prstGeom prst="rect">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5" name="文本框 14"/>
          <p:cNvSpPr txBox="1"/>
          <p:nvPr/>
        </p:nvSpPr>
        <p:spPr>
          <a:xfrm>
            <a:off x="645352" y="4336111"/>
            <a:ext cx="553998" cy="1631216"/>
          </a:xfrm>
          <a:prstGeom prst="rect">
            <a:avLst/>
          </a:prstGeom>
          <a:noFill/>
        </p:spPr>
        <p:txBody>
          <a:bodyPr vert="eaVert" wrap="none" rtlCol="0">
            <a:spAutoFit/>
          </a:bodyPr>
          <a:lstStyle/>
          <a:p>
            <a:r>
              <a:rPr lang="zh-CN" altLang="en-US" sz="2400" dirty="0">
                <a:solidFill>
                  <a:srgbClr val="0000FF"/>
                </a:solidFill>
                <a:latin typeface="+mn-ea"/>
              </a:rPr>
              <a:t>综合应用题</a:t>
            </a:r>
            <a:endParaRPr lang="zh-CN" altLang="en-US" sz="2400" dirty="0">
              <a:solidFill>
                <a:srgbClr val="0000FF"/>
              </a:solidFill>
              <a:latin typeface="+mn-ea"/>
            </a:endParaRPr>
          </a:p>
        </p:txBody>
      </p:sp>
      <p:sp>
        <p:nvSpPr>
          <p:cNvPr id="18" name="立方体 17"/>
          <p:cNvSpPr/>
          <p:nvPr/>
        </p:nvSpPr>
        <p:spPr>
          <a:xfrm>
            <a:off x="2967355" y="4763735"/>
            <a:ext cx="776605" cy="776605"/>
          </a:xfrm>
          <a:prstGeom prst="cube">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603050405020304" charset="0"/>
                <a:cs typeface="Times New Roman" panose="02020603050405020304" charset="0"/>
              </a:rPr>
              <a:t>20</a:t>
            </a:r>
            <a:endParaRPr lang="en-US" altLang="zh-CN" sz="2800" dirty="0">
              <a:solidFill>
                <a:schemeClr val="tx1"/>
              </a:solidFill>
              <a:latin typeface="Times New Roman" panose="02020603050405020304" charset="0"/>
              <a:cs typeface="Times New Roman" panose="02020603050405020304" charset="0"/>
            </a:endParaRPr>
          </a:p>
        </p:txBody>
      </p:sp>
      <p:sp>
        <p:nvSpPr>
          <p:cNvPr id="19" name="流程图: 预定义过程 18"/>
          <p:cNvSpPr/>
          <p:nvPr/>
        </p:nvSpPr>
        <p:spPr>
          <a:xfrm>
            <a:off x="2948305" y="1476409"/>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charset="0"/>
                <a:cs typeface="Times New Roman" panose="02020603050405020304" charset="0"/>
              </a:rPr>
              <a:t>2</a:t>
            </a:r>
            <a:endParaRPr lang="en-US" altLang="zh-CN" sz="2800">
              <a:solidFill>
                <a:schemeClr val="tx1"/>
              </a:solidFill>
              <a:latin typeface="Times New Roman" panose="02020603050405020304" charset="0"/>
              <a:cs typeface="Times New Roman" panose="02020603050405020304" charset="0"/>
            </a:endParaRPr>
          </a:p>
        </p:txBody>
      </p:sp>
      <p:sp>
        <p:nvSpPr>
          <p:cNvPr id="21" name="流程图: 预定义过程 20"/>
          <p:cNvSpPr/>
          <p:nvPr/>
        </p:nvSpPr>
        <p:spPr>
          <a:xfrm>
            <a:off x="4050030"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charset="0"/>
                <a:cs typeface="Times New Roman" panose="02020603050405020304" charset="0"/>
              </a:rPr>
              <a:t>3</a:t>
            </a:r>
            <a:endParaRPr lang="en-US" altLang="zh-CN" sz="2800">
              <a:solidFill>
                <a:schemeClr val="tx1"/>
              </a:solidFill>
              <a:latin typeface="Times New Roman" panose="02020603050405020304" charset="0"/>
              <a:cs typeface="Times New Roman" panose="02020603050405020304" charset="0"/>
            </a:endParaRPr>
          </a:p>
        </p:txBody>
      </p:sp>
      <p:sp>
        <p:nvSpPr>
          <p:cNvPr id="22" name="流程图: 预定义过程 21"/>
          <p:cNvSpPr/>
          <p:nvPr/>
        </p:nvSpPr>
        <p:spPr>
          <a:xfrm>
            <a:off x="5151755"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charset="0"/>
                <a:cs typeface="Times New Roman" panose="02020603050405020304" charset="0"/>
              </a:rPr>
              <a:t>4</a:t>
            </a:r>
            <a:endParaRPr lang="en-US" altLang="zh-CN" sz="2800">
              <a:solidFill>
                <a:schemeClr val="tx1"/>
              </a:solidFill>
              <a:latin typeface="Times New Roman" panose="02020603050405020304" charset="0"/>
              <a:cs typeface="Times New Roman" panose="02020603050405020304" charset="0"/>
            </a:endParaRPr>
          </a:p>
        </p:txBody>
      </p:sp>
      <p:sp>
        <p:nvSpPr>
          <p:cNvPr id="23" name="流程图: 预定义过程 22"/>
          <p:cNvSpPr/>
          <p:nvPr/>
        </p:nvSpPr>
        <p:spPr>
          <a:xfrm>
            <a:off x="6253480"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charset="0"/>
                <a:cs typeface="Times New Roman" panose="02020603050405020304" charset="0"/>
              </a:rPr>
              <a:t>5</a:t>
            </a:r>
            <a:endParaRPr lang="en-US" altLang="zh-CN" sz="2800">
              <a:solidFill>
                <a:schemeClr val="tx1"/>
              </a:solidFill>
              <a:latin typeface="Times New Roman" panose="02020603050405020304" charset="0"/>
              <a:cs typeface="Times New Roman" panose="02020603050405020304" charset="0"/>
            </a:endParaRPr>
          </a:p>
        </p:txBody>
      </p:sp>
      <p:sp>
        <p:nvSpPr>
          <p:cNvPr id="24" name="流程图: 预定义过程 23"/>
          <p:cNvSpPr/>
          <p:nvPr/>
        </p:nvSpPr>
        <p:spPr>
          <a:xfrm>
            <a:off x="7355205"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charset="0"/>
                <a:cs typeface="Times New Roman" panose="02020603050405020304" charset="0"/>
              </a:rPr>
              <a:t>6</a:t>
            </a:r>
            <a:endParaRPr lang="en-US" altLang="zh-CN" sz="2800">
              <a:solidFill>
                <a:schemeClr val="tx1"/>
              </a:solidFill>
              <a:latin typeface="Times New Roman" panose="02020603050405020304" charset="0"/>
              <a:cs typeface="Times New Roman" panose="02020603050405020304" charset="0"/>
            </a:endParaRPr>
          </a:p>
        </p:txBody>
      </p:sp>
      <p:sp>
        <p:nvSpPr>
          <p:cNvPr id="25" name="流程图: 预定义过程 24"/>
          <p:cNvSpPr/>
          <p:nvPr/>
        </p:nvSpPr>
        <p:spPr>
          <a:xfrm>
            <a:off x="8456930"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charset="0"/>
                <a:cs typeface="Times New Roman" panose="02020603050405020304" charset="0"/>
              </a:rPr>
              <a:t>7</a:t>
            </a:r>
            <a:endParaRPr lang="en-US" altLang="zh-CN" sz="2800">
              <a:solidFill>
                <a:schemeClr val="tx1"/>
              </a:solidFill>
              <a:latin typeface="Times New Roman" panose="02020603050405020304" charset="0"/>
              <a:cs typeface="Times New Roman" panose="02020603050405020304" charset="0"/>
            </a:endParaRPr>
          </a:p>
        </p:txBody>
      </p:sp>
      <p:sp>
        <p:nvSpPr>
          <p:cNvPr id="26" name="流程图: 预定义过程 25"/>
          <p:cNvSpPr/>
          <p:nvPr/>
        </p:nvSpPr>
        <p:spPr>
          <a:xfrm>
            <a:off x="9558655"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charset="0"/>
                <a:cs typeface="Times New Roman" panose="02020603050405020304" charset="0"/>
              </a:rPr>
              <a:t>8</a:t>
            </a:r>
            <a:endParaRPr lang="en-US" altLang="zh-CN" sz="2800">
              <a:solidFill>
                <a:schemeClr val="tx1"/>
              </a:solidFill>
              <a:latin typeface="Times New Roman" panose="02020603050405020304" charset="0"/>
              <a:cs typeface="Times New Roman" panose="02020603050405020304" charset="0"/>
            </a:endParaRPr>
          </a:p>
        </p:txBody>
      </p:sp>
      <p:sp>
        <p:nvSpPr>
          <p:cNvPr id="27" name="流程图: 预定义过程 26"/>
          <p:cNvSpPr/>
          <p:nvPr/>
        </p:nvSpPr>
        <p:spPr>
          <a:xfrm>
            <a:off x="1846580" y="2237774"/>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charset="0"/>
                <a:cs typeface="Times New Roman" panose="02020603050405020304" charset="0"/>
              </a:rPr>
              <a:t>9</a:t>
            </a:r>
            <a:endParaRPr lang="en-US" altLang="zh-CN" sz="2800">
              <a:solidFill>
                <a:schemeClr val="tx1"/>
              </a:solidFill>
              <a:latin typeface="Times New Roman" panose="02020603050405020304" charset="0"/>
              <a:cs typeface="Times New Roman" panose="02020603050405020304" charset="0"/>
            </a:endParaRPr>
          </a:p>
        </p:txBody>
      </p:sp>
      <p:sp>
        <p:nvSpPr>
          <p:cNvPr id="28" name="流程图: 预定义过程 27"/>
          <p:cNvSpPr/>
          <p:nvPr/>
        </p:nvSpPr>
        <p:spPr>
          <a:xfrm>
            <a:off x="2948305" y="2237774"/>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charset="0"/>
                <a:cs typeface="Times New Roman" panose="02020603050405020304" charset="0"/>
              </a:rPr>
              <a:t>10</a:t>
            </a:r>
            <a:endParaRPr lang="en-US" altLang="zh-CN" sz="2800">
              <a:solidFill>
                <a:schemeClr val="tx1"/>
              </a:solidFill>
              <a:latin typeface="Times New Roman" panose="02020603050405020304" charset="0"/>
              <a:cs typeface="Times New Roman" panose="02020603050405020304" charset="0"/>
            </a:endParaRPr>
          </a:p>
        </p:txBody>
      </p:sp>
      <p:sp>
        <p:nvSpPr>
          <p:cNvPr id="29" name="流程图: 预定义过程 28"/>
          <p:cNvSpPr/>
          <p:nvPr/>
        </p:nvSpPr>
        <p:spPr>
          <a:xfrm>
            <a:off x="4050030" y="2237774"/>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charset="0"/>
                <a:cs typeface="Times New Roman" panose="02020603050405020304" charset="0"/>
              </a:rPr>
              <a:t>11</a:t>
            </a:r>
            <a:endParaRPr lang="en-US" altLang="zh-CN" sz="2800">
              <a:solidFill>
                <a:schemeClr val="tx1"/>
              </a:solidFill>
              <a:latin typeface="Times New Roman" panose="02020603050405020304" charset="0"/>
              <a:cs typeface="Times New Roman" panose="02020603050405020304" charset="0"/>
            </a:endParaRPr>
          </a:p>
        </p:txBody>
      </p:sp>
      <p:sp>
        <p:nvSpPr>
          <p:cNvPr id="43" name="文本框 42"/>
          <p:cNvSpPr txBox="1"/>
          <p:nvPr/>
        </p:nvSpPr>
        <p:spPr>
          <a:xfrm>
            <a:off x="11064240" y="2720343"/>
            <a:ext cx="553998" cy="2554545"/>
          </a:xfrm>
          <a:prstGeom prst="rect">
            <a:avLst/>
          </a:prstGeom>
          <a:noFill/>
        </p:spPr>
        <p:txBody>
          <a:bodyPr vert="eaVert" wrap="none" rtlCol="0">
            <a:spAutoFit/>
          </a:bodyPr>
          <a:lstStyle/>
          <a:p>
            <a:r>
              <a:rPr lang="zh-CN" altLang="en-US" sz="2400" b="1" dirty="0">
                <a:latin typeface="+mn-ea"/>
              </a:rPr>
              <a:t>标黄色为本次作业</a:t>
            </a:r>
            <a:endParaRPr lang="zh-CN" altLang="en-US" sz="2400" b="1" dirty="0">
              <a:latin typeface="+mn-ea"/>
            </a:endParaRPr>
          </a:p>
        </p:txBody>
      </p:sp>
      <p:sp>
        <p:nvSpPr>
          <p:cNvPr id="49" name="圆柱形 6"/>
          <p:cNvSpPr/>
          <p:nvPr/>
        </p:nvSpPr>
        <p:spPr>
          <a:xfrm>
            <a:off x="1834392" y="3543293"/>
            <a:ext cx="624348" cy="672739"/>
          </a:xfrm>
          <a:prstGeom prst="can">
            <a:avLst/>
          </a:prstGeom>
          <a:solidFill>
            <a:srgbClr val="FFFF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7030A0"/>
                </a:solidFill>
                <a:latin typeface="+mn-ea"/>
                <a:cs typeface="Times New Roman" panose="02020603050405020304" charset="0"/>
              </a:rPr>
              <a:t>12</a:t>
            </a:r>
            <a:endParaRPr lang="en-US" altLang="zh-CN" sz="2400" dirty="0">
              <a:solidFill>
                <a:srgbClr val="7030A0"/>
              </a:solidFill>
              <a:latin typeface="+mn-ea"/>
              <a:cs typeface="Times New Roman" panose="02020603050405020304" charset="0"/>
            </a:endParaRPr>
          </a:p>
        </p:txBody>
      </p:sp>
      <p:sp>
        <p:nvSpPr>
          <p:cNvPr id="50" name="圆柱形 13"/>
          <p:cNvSpPr/>
          <p:nvPr/>
        </p:nvSpPr>
        <p:spPr>
          <a:xfrm>
            <a:off x="2660686" y="3543293"/>
            <a:ext cx="624348" cy="672739"/>
          </a:xfrm>
          <a:prstGeom prst="can">
            <a:avLst/>
          </a:prstGeom>
          <a:solidFill>
            <a:srgbClr val="FFFF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7030A0"/>
                </a:solidFill>
                <a:latin typeface="+mn-ea"/>
                <a:cs typeface="Times New Roman" panose="02020603050405020304" charset="0"/>
              </a:rPr>
              <a:t>13</a:t>
            </a:r>
            <a:endParaRPr lang="en-US" altLang="zh-CN" sz="2400" dirty="0">
              <a:solidFill>
                <a:srgbClr val="7030A0"/>
              </a:solidFill>
              <a:latin typeface="+mn-ea"/>
              <a:cs typeface="Times New Roman" panose="02020603050405020304" charset="0"/>
            </a:endParaRPr>
          </a:p>
        </p:txBody>
      </p:sp>
      <p:sp>
        <p:nvSpPr>
          <p:cNvPr id="51" name="圆柱形 2"/>
          <p:cNvSpPr/>
          <p:nvPr/>
        </p:nvSpPr>
        <p:spPr>
          <a:xfrm>
            <a:off x="3486662" y="3538213"/>
            <a:ext cx="624348" cy="672739"/>
          </a:xfrm>
          <a:prstGeom prst="can">
            <a:avLst/>
          </a:prstGeom>
          <a:noFill/>
          <a:ln>
            <a:solidFill>
              <a:srgbClr val="7030A0"/>
            </a:solidFill>
          </a:ln>
          <a:extLst>
            <a:ext uri="{909E8E84-426E-40DD-AFC4-6F175D3DCCD1}">
              <a14:hiddenFill xmlns:a14="http://schemas.microsoft.com/office/drawing/2010/main">
                <a:solidFill>
                  <a:srgbClr val="FFFF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7030A0"/>
                </a:solidFill>
                <a:latin typeface="+mn-ea"/>
                <a:cs typeface="Times New Roman" panose="02020603050405020304" charset="0"/>
              </a:rPr>
              <a:t>14</a:t>
            </a:r>
            <a:endParaRPr lang="en-US" altLang="zh-CN" sz="2400" dirty="0">
              <a:solidFill>
                <a:srgbClr val="7030A0"/>
              </a:solidFill>
              <a:latin typeface="+mn-ea"/>
              <a:cs typeface="Times New Roman" panose="02020603050405020304" charset="0"/>
            </a:endParaRPr>
          </a:p>
        </p:txBody>
      </p:sp>
      <p:sp>
        <p:nvSpPr>
          <p:cNvPr id="52" name="圆柱形 3"/>
          <p:cNvSpPr/>
          <p:nvPr/>
        </p:nvSpPr>
        <p:spPr>
          <a:xfrm>
            <a:off x="4312956" y="3538213"/>
            <a:ext cx="624348" cy="672739"/>
          </a:xfrm>
          <a:prstGeom prst="can">
            <a:avLst/>
          </a:prstGeom>
          <a:noFill/>
          <a:ln>
            <a:solidFill>
              <a:srgbClr val="7030A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7030A0"/>
                </a:solidFill>
                <a:latin typeface="+mn-ea"/>
                <a:cs typeface="Times New Roman" panose="02020603050405020304" charset="0"/>
              </a:rPr>
              <a:t>15</a:t>
            </a:r>
            <a:endParaRPr lang="en-US" altLang="zh-CN" sz="2400" dirty="0">
              <a:solidFill>
                <a:srgbClr val="7030A0"/>
              </a:solidFill>
              <a:latin typeface="+mn-ea"/>
              <a:cs typeface="Times New Roman" panose="02020603050405020304" charset="0"/>
            </a:endParaRPr>
          </a:p>
        </p:txBody>
      </p:sp>
      <p:sp>
        <p:nvSpPr>
          <p:cNvPr id="53" name="立方体 52"/>
          <p:cNvSpPr/>
          <p:nvPr/>
        </p:nvSpPr>
        <p:spPr>
          <a:xfrm>
            <a:off x="3974795" y="4763417"/>
            <a:ext cx="776605" cy="776605"/>
          </a:xfrm>
          <a:prstGeom prst="cube">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603050405020304" charset="0"/>
                <a:cs typeface="Times New Roman" panose="02020603050405020304" charset="0"/>
              </a:rPr>
              <a:t>21</a:t>
            </a:r>
            <a:endParaRPr lang="en-US" altLang="zh-CN" sz="2800" dirty="0">
              <a:solidFill>
                <a:schemeClr val="tx1"/>
              </a:solidFill>
              <a:latin typeface="Times New Roman" panose="02020603050405020304" charset="0"/>
              <a:cs typeface="Times New Roman" panose="02020603050405020304" charset="0"/>
            </a:endParaRPr>
          </a:p>
        </p:txBody>
      </p:sp>
      <p:sp>
        <p:nvSpPr>
          <p:cNvPr id="37" name="圆柱形 6"/>
          <p:cNvSpPr/>
          <p:nvPr/>
        </p:nvSpPr>
        <p:spPr>
          <a:xfrm>
            <a:off x="5156839" y="3543293"/>
            <a:ext cx="624348" cy="672739"/>
          </a:xfrm>
          <a:prstGeom prst="can">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7030A0"/>
                </a:solidFill>
                <a:latin typeface="+mn-ea"/>
                <a:cs typeface="Times New Roman" panose="02020603050405020304" charset="0"/>
              </a:rPr>
              <a:t>16</a:t>
            </a:r>
            <a:endParaRPr lang="en-US" altLang="zh-CN" sz="2400" dirty="0">
              <a:solidFill>
                <a:srgbClr val="7030A0"/>
              </a:solidFill>
              <a:latin typeface="+mn-ea"/>
              <a:cs typeface="Times New Roman" panose="02020603050405020304" charset="0"/>
            </a:endParaRPr>
          </a:p>
        </p:txBody>
      </p:sp>
      <p:sp>
        <p:nvSpPr>
          <p:cNvPr id="38" name="圆柱形 13"/>
          <p:cNvSpPr/>
          <p:nvPr/>
        </p:nvSpPr>
        <p:spPr>
          <a:xfrm>
            <a:off x="5983133" y="3543293"/>
            <a:ext cx="624348" cy="672739"/>
          </a:xfrm>
          <a:prstGeom prst="can">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7030A0"/>
                </a:solidFill>
                <a:latin typeface="+mn-ea"/>
                <a:cs typeface="Times New Roman" panose="02020603050405020304" charset="0"/>
              </a:rPr>
              <a:t>17</a:t>
            </a:r>
            <a:endParaRPr lang="en-US" altLang="zh-CN" sz="2400" dirty="0">
              <a:solidFill>
                <a:srgbClr val="7030A0"/>
              </a:solidFill>
              <a:latin typeface="+mn-ea"/>
              <a:cs typeface="Times New Roman" panose="02020603050405020304" charset="0"/>
            </a:endParaRPr>
          </a:p>
        </p:txBody>
      </p:sp>
      <p:sp>
        <p:nvSpPr>
          <p:cNvPr id="39" name="圆柱形 2"/>
          <p:cNvSpPr/>
          <p:nvPr/>
        </p:nvSpPr>
        <p:spPr>
          <a:xfrm>
            <a:off x="6809109" y="3538213"/>
            <a:ext cx="624348" cy="672739"/>
          </a:xfrm>
          <a:prstGeom prst="can">
            <a:avLst/>
          </a:prstGeom>
          <a:noFill/>
          <a:ln>
            <a:solidFill>
              <a:srgbClr val="7030A0"/>
            </a:solidFill>
          </a:ln>
          <a:extLst>
            <a:ext uri="{909E8E84-426E-40DD-AFC4-6F175D3DCCD1}">
              <a14:hiddenFill xmlns:a14="http://schemas.microsoft.com/office/drawing/2010/main">
                <a:solidFill>
                  <a:srgbClr val="FFFF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7030A0"/>
                </a:solidFill>
                <a:latin typeface="+mn-ea"/>
                <a:cs typeface="Times New Roman" panose="02020603050405020304" charset="0"/>
              </a:rPr>
              <a:t>18</a:t>
            </a:r>
            <a:endParaRPr lang="en-US" altLang="zh-CN" sz="2400" dirty="0">
              <a:solidFill>
                <a:srgbClr val="7030A0"/>
              </a:solidFill>
              <a:latin typeface="+mn-ea"/>
              <a:cs typeface="Times New Roman" panose="0202060305040502030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第二次作业</a:t>
            </a:r>
            <a:endParaRPr lang="zh-CN" altLang="en-US" sz="2800" b="1" dirty="0">
              <a:solidFill>
                <a:schemeClr val="bg1"/>
              </a:solidFill>
            </a:endParaRPr>
          </a:p>
        </p:txBody>
      </p:sp>
      <p:sp>
        <p:nvSpPr>
          <p:cNvPr id="7" name="流程图: 预定义过程 6"/>
          <p:cNvSpPr/>
          <p:nvPr/>
        </p:nvSpPr>
        <p:spPr>
          <a:xfrm>
            <a:off x="1846580" y="1476409"/>
            <a:ext cx="741045" cy="512445"/>
          </a:xfrm>
          <a:prstGeom prst="flowChartPredefined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charset="0"/>
                <a:cs typeface="Times New Roman" panose="02020603050405020304" charset="0"/>
              </a:rPr>
              <a:t>1</a:t>
            </a:r>
            <a:endParaRPr lang="en-US" altLang="zh-CN" sz="2800">
              <a:solidFill>
                <a:schemeClr val="tx1"/>
              </a:solidFill>
              <a:latin typeface="Times New Roman" panose="02020603050405020304" charset="0"/>
              <a:cs typeface="Times New Roman" panose="02020603050405020304" charset="0"/>
            </a:endParaRPr>
          </a:p>
        </p:txBody>
      </p:sp>
      <p:sp>
        <p:nvSpPr>
          <p:cNvPr id="8" name="立方体 7"/>
          <p:cNvSpPr/>
          <p:nvPr/>
        </p:nvSpPr>
        <p:spPr>
          <a:xfrm>
            <a:off x="1865630" y="5021189"/>
            <a:ext cx="776605" cy="776605"/>
          </a:xfrm>
          <a:prstGeom prst="cub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603050405020304" charset="0"/>
                <a:cs typeface="Times New Roman" panose="02020603050405020304" charset="0"/>
              </a:rPr>
              <a:t>19</a:t>
            </a:r>
            <a:endParaRPr lang="en-US" altLang="zh-CN" sz="2800" dirty="0">
              <a:solidFill>
                <a:schemeClr val="tx1"/>
              </a:solidFill>
              <a:latin typeface="Times New Roman" panose="02020603050405020304" charset="0"/>
              <a:cs typeface="Times New Roman" panose="02020603050405020304" charset="0"/>
            </a:endParaRPr>
          </a:p>
        </p:txBody>
      </p:sp>
      <p:sp>
        <p:nvSpPr>
          <p:cNvPr id="10" name="矩形 9"/>
          <p:cNvSpPr/>
          <p:nvPr/>
        </p:nvSpPr>
        <p:spPr>
          <a:xfrm>
            <a:off x="1414780" y="1233205"/>
            <a:ext cx="9288780" cy="1882858"/>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文本框 10"/>
          <p:cNvSpPr txBox="1"/>
          <p:nvPr/>
        </p:nvSpPr>
        <p:spPr>
          <a:xfrm>
            <a:off x="608522" y="1666802"/>
            <a:ext cx="553998" cy="1015663"/>
          </a:xfrm>
          <a:prstGeom prst="rect">
            <a:avLst/>
          </a:prstGeom>
          <a:noFill/>
        </p:spPr>
        <p:txBody>
          <a:bodyPr vert="eaVert" wrap="none" rtlCol="0">
            <a:spAutoFit/>
          </a:bodyPr>
          <a:lstStyle/>
          <a:p>
            <a:r>
              <a:rPr lang="zh-CN" altLang="en-US" sz="2400" dirty="0">
                <a:solidFill>
                  <a:schemeClr val="tx1"/>
                </a:solidFill>
                <a:latin typeface="+mn-ea"/>
              </a:rPr>
              <a:t>简答题</a:t>
            </a:r>
            <a:endParaRPr lang="zh-CN" altLang="en-US" sz="2400" dirty="0">
              <a:solidFill>
                <a:schemeClr val="tx1"/>
              </a:solidFill>
              <a:latin typeface="+mn-ea"/>
            </a:endParaRPr>
          </a:p>
        </p:txBody>
      </p:sp>
      <p:sp>
        <p:nvSpPr>
          <p:cNvPr id="12" name="矩形 11"/>
          <p:cNvSpPr/>
          <p:nvPr/>
        </p:nvSpPr>
        <p:spPr>
          <a:xfrm>
            <a:off x="1451610" y="3423885"/>
            <a:ext cx="9288780" cy="1169680"/>
          </a:xfrm>
          <a:prstGeom prst="rect">
            <a:avLst/>
          </a:prstGeom>
          <a:noFill/>
          <a:ln>
            <a:solidFill>
              <a:srgbClr val="7030A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030A0"/>
              </a:solidFill>
              <a:latin typeface="Times New Roman" panose="02020603050405020304" charset="0"/>
              <a:cs typeface="Times New Roman" panose="02020603050405020304" charset="0"/>
            </a:endParaRPr>
          </a:p>
        </p:txBody>
      </p:sp>
      <p:sp>
        <p:nvSpPr>
          <p:cNvPr id="13" name="文本框 12"/>
          <p:cNvSpPr txBox="1"/>
          <p:nvPr/>
        </p:nvSpPr>
        <p:spPr>
          <a:xfrm>
            <a:off x="608522" y="3384524"/>
            <a:ext cx="553998" cy="1015663"/>
          </a:xfrm>
          <a:prstGeom prst="rect">
            <a:avLst/>
          </a:prstGeom>
          <a:noFill/>
          <a:ln>
            <a:noFill/>
          </a:ln>
        </p:spPr>
        <p:txBody>
          <a:bodyPr vert="eaVert" wrap="none" rtlCol="0">
            <a:spAutoFit/>
          </a:bodyPr>
          <a:lstStyle/>
          <a:p>
            <a:r>
              <a:rPr lang="zh-CN" altLang="en-US" sz="2400" dirty="0">
                <a:solidFill>
                  <a:srgbClr val="7030A0"/>
                </a:solidFill>
                <a:latin typeface="+mn-ea"/>
              </a:rPr>
              <a:t>计算题</a:t>
            </a:r>
            <a:endParaRPr lang="zh-CN" altLang="en-US" sz="2400" dirty="0">
              <a:solidFill>
                <a:srgbClr val="7030A0"/>
              </a:solidFill>
              <a:latin typeface="+mn-ea"/>
            </a:endParaRPr>
          </a:p>
        </p:txBody>
      </p:sp>
      <p:sp>
        <p:nvSpPr>
          <p:cNvPr id="14" name="矩形 13"/>
          <p:cNvSpPr/>
          <p:nvPr/>
        </p:nvSpPr>
        <p:spPr>
          <a:xfrm>
            <a:off x="1451610" y="4936099"/>
            <a:ext cx="9288780" cy="946150"/>
          </a:xfrm>
          <a:prstGeom prst="rect">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5" name="文本框 14"/>
          <p:cNvSpPr txBox="1"/>
          <p:nvPr/>
        </p:nvSpPr>
        <p:spPr>
          <a:xfrm>
            <a:off x="572492" y="4593565"/>
            <a:ext cx="553998" cy="1631216"/>
          </a:xfrm>
          <a:prstGeom prst="rect">
            <a:avLst/>
          </a:prstGeom>
          <a:noFill/>
        </p:spPr>
        <p:txBody>
          <a:bodyPr vert="eaVert" wrap="none" rtlCol="0">
            <a:spAutoFit/>
          </a:bodyPr>
          <a:lstStyle/>
          <a:p>
            <a:r>
              <a:rPr lang="zh-CN" altLang="en-US" sz="2400" dirty="0">
                <a:solidFill>
                  <a:srgbClr val="0000FF"/>
                </a:solidFill>
                <a:latin typeface="+mn-ea"/>
              </a:rPr>
              <a:t>综合应用题</a:t>
            </a:r>
            <a:endParaRPr lang="zh-CN" altLang="en-US" sz="2400" dirty="0">
              <a:solidFill>
                <a:srgbClr val="0000FF"/>
              </a:solidFill>
              <a:latin typeface="+mn-ea"/>
            </a:endParaRPr>
          </a:p>
        </p:txBody>
      </p:sp>
      <p:sp>
        <p:nvSpPr>
          <p:cNvPr id="18" name="立方体 17"/>
          <p:cNvSpPr/>
          <p:nvPr/>
        </p:nvSpPr>
        <p:spPr>
          <a:xfrm>
            <a:off x="2967355" y="5021189"/>
            <a:ext cx="776605" cy="776605"/>
          </a:xfrm>
          <a:prstGeom prst="cube">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603050405020304" charset="0"/>
                <a:cs typeface="Times New Roman" panose="02020603050405020304" charset="0"/>
              </a:rPr>
              <a:t>20</a:t>
            </a:r>
            <a:endParaRPr lang="en-US" altLang="zh-CN" sz="2800" dirty="0">
              <a:solidFill>
                <a:schemeClr val="tx1"/>
              </a:solidFill>
              <a:latin typeface="Times New Roman" panose="02020603050405020304" charset="0"/>
              <a:cs typeface="Times New Roman" panose="02020603050405020304" charset="0"/>
            </a:endParaRPr>
          </a:p>
        </p:txBody>
      </p:sp>
      <p:sp>
        <p:nvSpPr>
          <p:cNvPr id="19" name="流程图: 预定义过程 18"/>
          <p:cNvSpPr/>
          <p:nvPr/>
        </p:nvSpPr>
        <p:spPr>
          <a:xfrm>
            <a:off x="2948305" y="1476409"/>
            <a:ext cx="741045" cy="512445"/>
          </a:xfrm>
          <a:prstGeom prst="flowChartPredefined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charset="0"/>
                <a:cs typeface="Times New Roman" panose="02020603050405020304" charset="0"/>
              </a:rPr>
              <a:t>2</a:t>
            </a:r>
            <a:endParaRPr lang="en-US" altLang="zh-CN" sz="2800">
              <a:solidFill>
                <a:schemeClr val="tx1"/>
              </a:solidFill>
              <a:latin typeface="Times New Roman" panose="02020603050405020304" charset="0"/>
              <a:cs typeface="Times New Roman" panose="02020603050405020304" charset="0"/>
            </a:endParaRPr>
          </a:p>
        </p:txBody>
      </p:sp>
      <p:sp>
        <p:nvSpPr>
          <p:cNvPr id="21" name="流程图: 预定义过程 20"/>
          <p:cNvSpPr/>
          <p:nvPr/>
        </p:nvSpPr>
        <p:spPr>
          <a:xfrm>
            <a:off x="4050030" y="1476409"/>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charset="0"/>
                <a:cs typeface="Times New Roman" panose="02020603050405020304" charset="0"/>
              </a:rPr>
              <a:t>3</a:t>
            </a:r>
            <a:endParaRPr lang="en-US" altLang="zh-CN" sz="2800">
              <a:solidFill>
                <a:schemeClr val="tx1"/>
              </a:solidFill>
              <a:latin typeface="Times New Roman" panose="02020603050405020304" charset="0"/>
              <a:cs typeface="Times New Roman" panose="02020603050405020304" charset="0"/>
            </a:endParaRPr>
          </a:p>
        </p:txBody>
      </p:sp>
      <p:sp>
        <p:nvSpPr>
          <p:cNvPr id="22" name="流程图: 预定义过程 21"/>
          <p:cNvSpPr/>
          <p:nvPr/>
        </p:nvSpPr>
        <p:spPr>
          <a:xfrm>
            <a:off x="5151755" y="1476409"/>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charset="0"/>
                <a:cs typeface="Times New Roman" panose="02020603050405020304" charset="0"/>
              </a:rPr>
              <a:t>4</a:t>
            </a:r>
            <a:endParaRPr lang="en-US" altLang="zh-CN" sz="2800">
              <a:solidFill>
                <a:schemeClr val="tx1"/>
              </a:solidFill>
              <a:latin typeface="Times New Roman" panose="02020603050405020304" charset="0"/>
              <a:cs typeface="Times New Roman" panose="02020603050405020304" charset="0"/>
            </a:endParaRPr>
          </a:p>
        </p:txBody>
      </p:sp>
      <p:sp>
        <p:nvSpPr>
          <p:cNvPr id="23" name="流程图: 预定义过程 22"/>
          <p:cNvSpPr/>
          <p:nvPr/>
        </p:nvSpPr>
        <p:spPr>
          <a:xfrm>
            <a:off x="6253480"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charset="0"/>
                <a:cs typeface="Times New Roman" panose="02020603050405020304" charset="0"/>
              </a:rPr>
              <a:t>5</a:t>
            </a:r>
            <a:endParaRPr lang="en-US" altLang="zh-CN" sz="2800">
              <a:solidFill>
                <a:schemeClr val="tx1"/>
              </a:solidFill>
              <a:latin typeface="Times New Roman" panose="02020603050405020304" charset="0"/>
              <a:cs typeface="Times New Roman" panose="02020603050405020304" charset="0"/>
            </a:endParaRPr>
          </a:p>
        </p:txBody>
      </p:sp>
      <p:sp>
        <p:nvSpPr>
          <p:cNvPr id="24" name="流程图: 预定义过程 23"/>
          <p:cNvSpPr/>
          <p:nvPr/>
        </p:nvSpPr>
        <p:spPr>
          <a:xfrm>
            <a:off x="7355205"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charset="0"/>
                <a:cs typeface="Times New Roman" panose="02020603050405020304" charset="0"/>
              </a:rPr>
              <a:t>6</a:t>
            </a:r>
            <a:endParaRPr lang="en-US" altLang="zh-CN" sz="2800">
              <a:solidFill>
                <a:schemeClr val="tx1"/>
              </a:solidFill>
              <a:latin typeface="Times New Roman" panose="02020603050405020304" charset="0"/>
              <a:cs typeface="Times New Roman" panose="02020603050405020304" charset="0"/>
            </a:endParaRPr>
          </a:p>
        </p:txBody>
      </p:sp>
      <p:sp>
        <p:nvSpPr>
          <p:cNvPr id="25" name="流程图: 预定义过程 24"/>
          <p:cNvSpPr/>
          <p:nvPr/>
        </p:nvSpPr>
        <p:spPr>
          <a:xfrm>
            <a:off x="8456930"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charset="0"/>
                <a:cs typeface="Times New Roman" panose="02020603050405020304" charset="0"/>
              </a:rPr>
              <a:t>7</a:t>
            </a:r>
            <a:endParaRPr lang="en-US" altLang="zh-CN" sz="2800">
              <a:solidFill>
                <a:schemeClr val="tx1"/>
              </a:solidFill>
              <a:latin typeface="Times New Roman" panose="02020603050405020304" charset="0"/>
              <a:cs typeface="Times New Roman" panose="02020603050405020304" charset="0"/>
            </a:endParaRPr>
          </a:p>
        </p:txBody>
      </p:sp>
      <p:sp>
        <p:nvSpPr>
          <p:cNvPr id="26" name="流程图: 预定义过程 25"/>
          <p:cNvSpPr/>
          <p:nvPr/>
        </p:nvSpPr>
        <p:spPr>
          <a:xfrm>
            <a:off x="9558655"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charset="0"/>
                <a:cs typeface="Times New Roman" panose="02020603050405020304" charset="0"/>
              </a:rPr>
              <a:t>8</a:t>
            </a:r>
            <a:endParaRPr lang="en-US" altLang="zh-CN" sz="2800">
              <a:solidFill>
                <a:schemeClr val="tx1"/>
              </a:solidFill>
              <a:latin typeface="Times New Roman" panose="02020603050405020304" charset="0"/>
              <a:cs typeface="Times New Roman" panose="02020603050405020304" charset="0"/>
            </a:endParaRPr>
          </a:p>
        </p:txBody>
      </p:sp>
      <p:sp>
        <p:nvSpPr>
          <p:cNvPr id="27" name="流程图: 预定义过程 26"/>
          <p:cNvSpPr/>
          <p:nvPr/>
        </p:nvSpPr>
        <p:spPr>
          <a:xfrm>
            <a:off x="1846580" y="2237774"/>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charset="0"/>
                <a:cs typeface="Times New Roman" panose="02020603050405020304" charset="0"/>
              </a:rPr>
              <a:t>9</a:t>
            </a:r>
            <a:endParaRPr lang="en-US" altLang="zh-CN" sz="2800">
              <a:solidFill>
                <a:schemeClr val="tx1"/>
              </a:solidFill>
              <a:latin typeface="Times New Roman" panose="02020603050405020304" charset="0"/>
              <a:cs typeface="Times New Roman" panose="02020603050405020304" charset="0"/>
            </a:endParaRPr>
          </a:p>
        </p:txBody>
      </p:sp>
      <p:sp>
        <p:nvSpPr>
          <p:cNvPr id="28" name="流程图: 预定义过程 27"/>
          <p:cNvSpPr/>
          <p:nvPr/>
        </p:nvSpPr>
        <p:spPr>
          <a:xfrm>
            <a:off x="2948305" y="2237774"/>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charset="0"/>
                <a:cs typeface="Times New Roman" panose="02020603050405020304" charset="0"/>
              </a:rPr>
              <a:t>10</a:t>
            </a:r>
            <a:endParaRPr lang="en-US" altLang="zh-CN" sz="2800">
              <a:solidFill>
                <a:schemeClr val="tx1"/>
              </a:solidFill>
              <a:latin typeface="Times New Roman" panose="02020603050405020304" charset="0"/>
              <a:cs typeface="Times New Roman" panose="02020603050405020304" charset="0"/>
            </a:endParaRPr>
          </a:p>
        </p:txBody>
      </p:sp>
      <p:sp>
        <p:nvSpPr>
          <p:cNvPr id="29" name="流程图: 预定义过程 28"/>
          <p:cNvSpPr/>
          <p:nvPr/>
        </p:nvSpPr>
        <p:spPr>
          <a:xfrm>
            <a:off x="4050030" y="2237774"/>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charset="0"/>
                <a:cs typeface="Times New Roman" panose="02020603050405020304" charset="0"/>
              </a:rPr>
              <a:t>11</a:t>
            </a:r>
            <a:endParaRPr lang="en-US" altLang="zh-CN" sz="2800">
              <a:solidFill>
                <a:schemeClr val="tx1"/>
              </a:solidFill>
              <a:latin typeface="Times New Roman" panose="02020603050405020304" charset="0"/>
              <a:cs typeface="Times New Roman" panose="02020603050405020304" charset="0"/>
            </a:endParaRPr>
          </a:p>
        </p:txBody>
      </p:sp>
      <p:sp>
        <p:nvSpPr>
          <p:cNvPr id="43" name="文本框 42"/>
          <p:cNvSpPr txBox="1"/>
          <p:nvPr/>
        </p:nvSpPr>
        <p:spPr>
          <a:xfrm>
            <a:off x="11064240" y="2720343"/>
            <a:ext cx="553998" cy="2554545"/>
          </a:xfrm>
          <a:prstGeom prst="rect">
            <a:avLst/>
          </a:prstGeom>
          <a:noFill/>
        </p:spPr>
        <p:txBody>
          <a:bodyPr vert="eaVert" wrap="none" rtlCol="0">
            <a:spAutoFit/>
          </a:bodyPr>
          <a:lstStyle/>
          <a:p>
            <a:r>
              <a:rPr lang="zh-CN" altLang="en-US" sz="2400" b="1" dirty="0">
                <a:latin typeface="+mn-ea"/>
              </a:rPr>
              <a:t>标黄色为本次作业</a:t>
            </a:r>
            <a:endParaRPr lang="zh-CN" altLang="en-US" sz="2400" b="1" dirty="0">
              <a:latin typeface="+mn-ea"/>
            </a:endParaRPr>
          </a:p>
        </p:txBody>
      </p:sp>
      <p:sp>
        <p:nvSpPr>
          <p:cNvPr id="49" name="圆柱形 6"/>
          <p:cNvSpPr/>
          <p:nvPr/>
        </p:nvSpPr>
        <p:spPr>
          <a:xfrm>
            <a:off x="1834391" y="3538213"/>
            <a:ext cx="772591" cy="832472"/>
          </a:xfrm>
          <a:prstGeom prst="can">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7030A0"/>
                </a:solidFill>
                <a:latin typeface="+mn-ea"/>
                <a:cs typeface="Times New Roman" panose="02020603050405020304" charset="0"/>
              </a:rPr>
              <a:t>12</a:t>
            </a:r>
            <a:endParaRPr lang="en-US" altLang="zh-CN" sz="2400" dirty="0">
              <a:solidFill>
                <a:srgbClr val="7030A0"/>
              </a:solidFill>
              <a:latin typeface="+mn-ea"/>
              <a:cs typeface="Times New Roman" panose="02020603050405020304" charset="0"/>
            </a:endParaRPr>
          </a:p>
        </p:txBody>
      </p:sp>
      <p:sp>
        <p:nvSpPr>
          <p:cNvPr id="50" name="圆柱形 13"/>
          <p:cNvSpPr/>
          <p:nvPr/>
        </p:nvSpPr>
        <p:spPr>
          <a:xfrm>
            <a:off x="2837024" y="3538213"/>
            <a:ext cx="772591" cy="832472"/>
          </a:xfrm>
          <a:prstGeom prst="can">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7030A0"/>
                </a:solidFill>
                <a:latin typeface="+mn-ea"/>
                <a:cs typeface="Times New Roman" panose="02020603050405020304" charset="0"/>
              </a:rPr>
              <a:t>13</a:t>
            </a:r>
            <a:endParaRPr lang="en-US" altLang="zh-CN" sz="2400" dirty="0">
              <a:solidFill>
                <a:srgbClr val="7030A0"/>
              </a:solidFill>
              <a:latin typeface="+mn-ea"/>
              <a:cs typeface="Times New Roman" panose="02020603050405020304" charset="0"/>
            </a:endParaRPr>
          </a:p>
        </p:txBody>
      </p:sp>
      <p:sp>
        <p:nvSpPr>
          <p:cNvPr id="51" name="圆柱形 2"/>
          <p:cNvSpPr/>
          <p:nvPr/>
        </p:nvSpPr>
        <p:spPr>
          <a:xfrm>
            <a:off x="3839657" y="3538213"/>
            <a:ext cx="771872" cy="832472"/>
          </a:xfrm>
          <a:prstGeom prst="can">
            <a:avLst/>
          </a:prstGeom>
          <a:solidFill>
            <a:srgbClr val="FFFF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7030A0"/>
                </a:solidFill>
                <a:latin typeface="+mn-ea"/>
                <a:cs typeface="Times New Roman" panose="02020603050405020304" charset="0"/>
              </a:rPr>
              <a:t>14</a:t>
            </a:r>
            <a:endParaRPr lang="en-US" altLang="zh-CN" sz="2400" dirty="0">
              <a:solidFill>
                <a:srgbClr val="7030A0"/>
              </a:solidFill>
              <a:latin typeface="+mn-ea"/>
              <a:cs typeface="Times New Roman" panose="02020603050405020304" charset="0"/>
            </a:endParaRPr>
          </a:p>
        </p:txBody>
      </p:sp>
      <p:sp>
        <p:nvSpPr>
          <p:cNvPr id="52" name="圆柱形 3"/>
          <p:cNvSpPr/>
          <p:nvPr/>
        </p:nvSpPr>
        <p:spPr>
          <a:xfrm>
            <a:off x="4841571" y="3538213"/>
            <a:ext cx="771872" cy="832472"/>
          </a:xfrm>
          <a:prstGeom prst="can">
            <a:avLst/>
          </a:prstGeom>
          <a:solidFill>
            <a:srgbClr val="FFFF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7030A0"/>
                </a:solidFill>
                <a:latin typeface="+mn-ea"/>
                <a:cs typeface="Times New Roman" panose="02020603050405020304" charset="0"/>
              </a:rPr>
              <a:t>15</a:t>
            </a:r>
            <a:endParaRPr lang="en-US" altLang="zh-CN" sz="2400" dirty="0">
              <a:solidFill>
                <a:srgbClr val="7030A0"/>
              </a:solidFill>
              <a:latin typeface="+mn-ea"/>
              <a:cs typeface="Times New Roman" panose="02020603050405020304" charset="0"/>
            </a:endParaRPr>
          </a:p>
        </p:txBody>
      </p:sp>
      <p:sp>
        <p:nvSpPr>
          <p:cNvPr id="53" name="立方体 52"/>
          <p:cNvSpPr/>
          <p:nvPr/>
        </p:nvSpPr>
        <p:spPr>
          <a:xfrm>
            <a:off x="3974795" y="5020871"/>
            <a:ext cx="776605" cy="776605"/>
          </a:xfrm>
          <a:prstGeom prst="cube">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603050405020304" charset="0"/>
                <a:cs typeface="Times New Roman" panose="02020603050405020304" charset="0"/>
              </a:rPr>
              <a:t>21</a:t>
            </a:r>
            <a:endParaRPr lang="en-US" altLang="zh-CN" sz="2800" dirty="0">
              <a:solidFill>
                <a:schemeClr val="tx1"/>
              </a:solidFill>
              <a:latin typeface="Times New Roman" panose="02020603050405020304" charset="0"/>
              <a:cs typeface="Times New Roman" panose="02020603050405020304" charset="0"/>
            </a:endParaRPr>
          </a:p>
        </p:txBody>
      </p:sp>
      <p:sp>
        <p:nvSpPr>
          <p:cNvPr id="37" name="圆柱形 6"/>
          <p:cNvSpPr/>
          <p:nvPr/>
        </p:nvSpPr>
        <p:spPr>
          <a:xfrm>
            <a:off x="5843485" y="3538213"/>
            <a:ext cx="771872" cy="832472"/>
          </a:xfrm>
          <a:prstGeom prst="can">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7030A0"/>
                </a:solidFill>
                <a:latin typeface="+mn-ea"/>
                <a:cs typeface="Times New Roman" panose="02020603050405020304" charset="0"/>
              </a:rPr>
              <a:t>16</a:t>
            </a:r>
            <a:endParaRPr lang="en-US" altLang="zh-CN" sz="2400" dirty="0">
              <a:solidFill>
                <a:srgbClr val="7030A0"/>
              </a:solidFill>
              <a:latin typeface="+mn-ea"/>
              <a:cs typeface="Times New Roman" panose="02020603050405020304" charset="0"/>
            </a:endParaRPr>
          </a:p>
        </p:txBody>
      </p:sp>
      <p:sp>
        <p:nvSpPr>
          <p:cNvPr id="38" name="圆柱形 13"/>
          <p:cNvSpPr/>
          <p:nvPr/>
        </p:nvSpPr>
        <p:spPr>
          <a:xfrm>
            <a:off x="6845399" y="3538213"/>
            <a:ext cx="771872" cy="832472"/>
          </a:xfrm>
          <a:prstGeom prst="can">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7030A0"/>
                </a:solidFill>
                <a:latin typeface="+mn-ea"/>
                <a:cs typeface="Times New Roman" panose="02020603050405020304" charset="0"/>
              </a:rPr>
              <a:t>17</a:t>
            </a:r>
            <a:endParaRPr lang="en-US" altLang="zh-CN" sz="2400" dirty="0">
              <a:solidFill>
                <a:srgbClr val="7030A0"/>
              </a:solidFill>
              <a:latin typeface="+mn-ea"/>
              <a:cs typeface="Times New Roman" panose="02020603050405020304" charset="0"/>
            </a:endParaRPr>
          </a:p>
        </p:txBody>
      </p:sp>
      <p:sp>
        <p:nvSpPr>
          <p:cNvPr id="39" name="圆柱形 2"/>
          <p:cNvSpPr/>
          <p:nvPr/>
        </p:nvSpPr>
        <p:spPr>
          <a:xfrm>
            <a:off x="7847315" y="3538213"/>
            <a:ext cx="771872" cy="832472"/>
          </a:xfrm>
          <a:prstGeom prst="can">
            <a:avLst/>
          </a:prstGeom>
          <a:noFill/>
          <a:ln>
            <a:solidFill>
              <a:srgbClr val="7030A0"/>
            </a:solidFill>
          </a:ln>
          <a:extLst>
            <a:ext uri="{909E8E84-426E-40DD-AFC4-6F175D3DCCD1}">
              <a14:hiddenFill xmlns:a14="http://schemas.microsoft.com/office/drawing/2010/main">
                <a:solidFill>
                  <a:srgbClr val="FFFF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7030A0"/>
                </a:solidFill>
                <a:latin typeface="+mn-ea"/>
                <a:cs typeface="Times New Roman" panose="02020603050405020304" charset="0"/>
              </a:rPr>
              <a:t>18</a:t>
            </a:r>
            <a:endParaRPr lang="en-US" altLang="zh-CN" sz="2400" dirty="0">
              <a:solidFill>
                <a:srgbClr val="7030A0"/>
              </a:solidFill>
              <a:latin typeface="+mn-ea"/>
              <a:cs typeface="Times New Roman" panose="0202060305040502030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endParaRPr lang="zh-CN" altLang="en-US" sz="2800" b="1" dirty="0">
              <a:solidFill>
                <a:schemeClr val="bg1"/>
              </a:solidFill>
            </a:endParaRPr>
          </a:p>
        </p:txBody>
      </p:sp>
      <p:sp>
        <p:nvSpPr>
          <p:cNvPr id="52" name="内容占位符 3"/>
          <p:cNvSpPr txBox="1"/>
          <p:nvPr/>
        </p:nvSpPr>
        <p:spPr>
          <a:xfrm>
            <a:off x="807869" y="1038422"/>
            <a:ext cx="10528916" cy="54295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latin typeface="+mn-ea"/>
                <a:cs typeface="黑体" panose="02010609060101010101" charset="-122"/>
              </a:rPr>
              <a:t>新一轮科技变革之际</a:t>
            </a:r>
            <a:endParaRPr lang="zh-CN" altLang="en-US" sz="2400" dirty="0">
              <a:solidFill>
                <a:srgbClr val="0000FF"/>
              </a:solidFill>
              <a:latin typeface="+mn-ea"/>
              <a:cs typeface="黑体" panose="02010609060101010101" charset="-122"/>
            </a:endParaRPr>
          </a:p>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latin typeface="+mn-ea"/>
                <a:cs typeface="黑体" panose="02010609060101010101" charset="-122"/>
              </a:rPr>
              <a:t>国产</a:t>
            </a:r>
            <a:r>
              <a:rPr lang="en-US" altLang="zh-CN" sz="2400" dirty="0">
                <a:solidFill>
                  <a:srgbClr val="0000FF"/>
                </a:solidFill>
                <a:latin typeface="+mn-ea"/>
                <a:cs typeface="黑体" panose="02010609060101010101" charset="-122"/>
              </a:rPr>
              <a:t>OS</a:t>
            </a:r>
            <a:r>
              <a:rPr lang="zh-CN" altLang="en-US" sz="2400" dirty="0">
                <a:solidFill>
                  <a:srgbClr val="0000FF"/>
                </a:solidFill>
                <a:latin typeface="+mn-ea"/>
                <a:cs typeface="黑体" panose="02010609060101010101" charset="-122"/>
              </a:rPr>
              <a:t>如何依托工业互联网实现“换道超车”？</a:t>
            </a:r>
            <a:endParaRPr lang="zh-CN" altLang="en-US" sz="2400" dirty="0">
              <a:solidFill>
                <a:srgbClr val="0000FF"/>
              </a:solidFill>
              <a:latin typeface="+mn-ea"/>
              <a:cs typeface="黑体" panose="02010609060101010101" charset="-122"/>
            </a:endParaRPr>
          </a:p>
          <a:p>
            <a:pPr marL="0" indent="457200" algn="just">
              <a:lnSpc>
                <a:spcPct val="125000"/>
              </a:lnSpc>
              <a:spcBef>
                <a:spcPts val="300"/>
              </a:spcBef>
              <a:spcAft>
                <a:spcPts val="300"/>
              </a:spcAft>
              <a:buFont typeface="Arial" panose="020B0604020202020204" pitchFamily="34" charset="0"/>
              <a:buNone/>
            </a:pPr>
            <a:r>
              <a:rPr lang="en-US" altLang="zh-CN" sz="2400" dirty="0">
                <a:latin typeface="+mn-ea"/>
                <a:cs typeface="Times New Roman" panose="02020603050405020304" charset="0"/>
              </a:rPr>
              <a:t>2019</a:t>
            </a:r>
            <a:r>
              <a:rPr lang="zh-CN" altLang="en-US" sz="2400" dirty="0">
                <a:latin typeface="+mn-ea"/>
                <a:cs typeface="Times New Roman" panose="02020603050405020304" charset="0"/>
              </a:rPr>
              <a:t>年，国际政治关系的变化导致华为技术有限公司（以下简称华为）面临紧迫的</a:t>
            </a:r>
            <a:r>
              <a:rPr lang="en-US" altLang="zh-CN" sz="2400" dirty="0">
                <a:latin typeface="+mn-ea"/>
                <a:cs typeface="Times New Roman" panose="02020603050405020304" charset="0"/>
              </a:rPr>
              <a:t>Android</a:t>
            </a:r>
            <a:r>
              <a:rPr lang="zh-CN" altLang="en-US" sz="2400" dirty="0">
                <a:latin typeface="+mn-ea"/>
                <a:cs typeface="Times New Roman" panose="02020603050405020304" charset="0"/>
              </a:rPr>
              <a:t>（安卓）系统停供风险。在此背景下，华为毅然推出自主研发的操作系统</a:t>
            </a:r>
            <a:r>
              <a:rPr lang="en-US" altLang="zh-CN" sz="2400" dirty="0">
                <a:latin typeface="+mn-ea"/>
                <a:cs typeface="Times New Roman" panose="02020603050405020304" charset="0"/>
              </a:rPr>
              <a:t>——</a:t>
            </a:r>
            <a:r>
              <a:rPr lang="zh-CN" altLang="en-US" sz="2400" dirty="0">
                <a:latin typeface="+mn-ea"/>
                <a:cs typeface="Times New Roman" panose="02020603050405020304" charset="0"/>
              </a:rPr>
              <a:t>鸿蒙系统（</a:t>
            </a:r>
            <a:r>
              <a:rPr lang="en-US" altLang="zh-CN" sz="2400" dirty="0" err="1">
                <a:latin typeface="+mn-ea"/>
                <a:cs typeface="Times New Roman" panose="02020603050405020304" charset="0"/>
              </a:rPr>
              <a:t>HarmonyOS</a:t>
            </a:r>
            <a:r>
              <a:rPr lang="zh-CN" altLang="en-US" sz="2400" dirty="0">
                <a:latin typeface="+mn-ea"/>
                <a:cs typeface="Times New Roman" panose="02020603050405020304" charset="0"/>
              </a:rPr>
              <a:t>），以尽量减少</a:t>
            </a:r>
            <a:r>
              <a:rPr lang="en-US" altLang="zh-CN" sz="2400" dirty="0">
                <a:latin typeface="+mn-ea"/>
                <a:cs typeface="Times New Roman" panose="02020603050405020304" charset="0"/>
              </a:rPr>
              <a:t>Android</a:t>
            </a:r>
            <a:r>
              <a:rPr lang="zh-CN" altLang="en-US" sz="2400" dirty="0">
                <a:latin typeface="+mn-ea"/>
                <a:cs typeface="Times New Roman" panose="02020603050405020304" charset="0"/>
              </a:rPr>
              <a:t>系统停供所造成的损失。鸿蒙系统一经问世便引发产业界高度关注，这充分反映出大家对优秀国产操作系统的期盼。</a:t>
            </a:r>
            <a:endParaRPr lang="zh-CN" altLang="en-US" sz="2400" dirty="0">
              <a:latin typeface="+mn-ea"/>
              <a:cs typeface="Times New Roman" panose="02020603050405020304" charset="0"/>
            </a:endParaRPr>
          </a:p>
          <a:p>
            <a:pPr marL="0" indent="457200" algn="just">
              <a:lnSpc>
                <a:spcPct val="125000"/>
              </a:lnSpc>
              <a:spcBef>
                <a:spcPts val="300"/>
              </a:spcBef>
              <a:spcAft>
                <a:spcPts val="300"/>
              </a:spcAft>
              <a:buFont typeface="Arial" panose="020B0604020202020204" pitchFamily="34" charset="0"/>
              <a:buNone/>
            </a:pPr>
            <a:r>
              <a:rPr lang="zh-CN" altLang="en-US" sz="2400" dirty="0">
                <a:latin typeface="+mn-ea"/>
                <a:cs typeface="Times New Roman" panose="02020603050405020304" charset="0"/>
              </a:rPr>
              <a:t>近年来，我国软件产业的规模和效益同步提升，企业实力和创新能力显著增强。工业和信息化部数据显示，</a:t>
            </a:r>
            <a:r>
              <a:rPr lang="en-US" altLang="zh-CN" sz="2400" dirty="0">
                <a:latin typeface="+mn-ea"/>
                <a:cs typeface="Times New Roman" panose="02020603050405020304" charset="0"/>
              </a:rPr>
              <a:t>2018</a:t>
            </a:r>
            <a:r>
              <a:rPr lang="zh-CN" altLang="en-US" sz="2400" dirty="0">
                <a:latin typeface="+mn-ea"/>
                <a:cs typeface="Times New Roman" panose="02020603050405020304" charset="0"/>
              </a:rPr>
              <a:t>年，软件著作权登记量突破</a:t>
            </a:r>
            <a:r>
              <a:rPr lang="en-US" altLang="zh-CN" sz="2400" dirty="0">
                <a:latin typeface="+mn-ea"/>
                <a:cs typeface="Times New Roman" panose="02020603050405020304" charset="0"/>
              </a:rPr>
              <a:t>110</a:t>
            </a:r>
            <a:r>
              <a:rPr lang="zh-CN" altLang="en-US" sz="2400" dirty="0">
                <a:latin typeface="+mn-ea"/>
                <a:cs typeface="Times New Roman" panose="02020603050405020304" charset="0"/>
              </a:rPr>
              <a:t>万件，同比增长</a:t>
            </a:r>
            <a:r>
              <a:rPr lang="en-US" altLang="zh-CN" sz="2400" dirty="0">
                <a:latin typeface="+mn-ea"/>
                <a:cs typeface="Times New Roman" panose="02020603050405020304" charset="0"/>
              </a:rPr>
              <a:t>48%</a:t>
            </a:r>
            <a:r>
              <a:rPr lang="zh-CN" altLang="en-US" sz="2400" dirty="0">
                <a:latin typeface="+mn-ea"/>
                <a:cs typeface="Times New Roman" panose="02020603050405020304" charset="0"/>
              </a:rPr>
              <a:t>；</a:t>
            </a:r>
            <a:r>
              <a:rPr lang="en-US" altLang="zh-CN" sz="2400" dirty="0">
                <a:latin typeface="+mn-ea"/>
                <a:cs typeface="Times New Roman" panose="02020603050405020304" charset="0"/>
              </a:rPr>
              <a:t>2019</a:t>
            </a:r>
            <a:r>
              <a:rPr lang="zh-CN" altLang="en-US" sz="2400" dirty="0">
                <a:latin typeface="+mn-ea"/>
                <a:cs typeface="Times New Roman" panose="02020603050405020304" charset="0"/>
              </a:rPr>
              <a:t>年，软件业务收入已达</a:t>
            </a:r>
            <a:r>
              <a:rPr lang="en-US" altLang="zh-CN" sz="2400" dirty="0">
                <a:latin typeface="+mn-ea"/>
                <a:cs typeface="Times New Roman" panose="02020603050405020304" charset="0"/>
              </a:rPr>
              <a:t>71 768</a:t>
            </a:r>
            <a:r>
              <a:rPr lang="zh-CN" altLang="en-US" sz="2400" dirty="0">
                <a:latin typeface="+mn-ea"/>
                <a:cs typeface="Times New Roman" panose="02020603050405020304" charset="0"/>
              </a:rPr>
              <a:t>亿元，同比增长</a:t>
            </a:r>
            <a:r>
              <a:rPr lang="en-US" altLang="zh-CN" sz="2400" dirty="0">
                <a:latin typeface="+mn-ea"/>
                <a:cs typeface="Times New Roman" panose="02020603050405020304" charset="0"/>
              </a:rPr>
              <a:t>15.4%</a:t>
            </a:r>
            <a:r>
              <a:rPr lang="zh-CN" altLang="en-US" sz="2400" dirty="0">
                <a:latin typeface="+mn-ea"/>
                <a:cs typeface="Times New Roman" panose="02020603050405020304" charset="0"/>
              </a:rPr>
              <a:t>。由此可知，软件业的发展为国产操作系统的研发提供了基础性的技术支持。</a:t>
            </a:r>
            <a:endParaRPr lang="zh-CN" altLang="en-US" sz="2400" dirty="0">
              <a:latin typeface="+mn-ea"/>
              <a:cs typeface="Times New Roman" panose="0202060305040502030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endParaRPr lang="zh-CN" altLang="en-US" sz="2800" b="1" dirty="0">
              <a:solidFill>
                <a:schemeClr val="bg1"/>
              </a:solidFill>
            </a:endParaRPr>
          </a:p>
        </p:txBody>
      </p:sp>
      <p:sp>
        <p:nvSpPr>
          <p:cNvPr id="52" name="内容占位符 3"/>
          <p:cNvSpPr txBox="1"/>
          <p:nvPr/>
        </p:nvSpPr>
        <p:spPr>
          <a:xfrm>
            <a:off x="669925" y="1189346"/>
            <a:ext cx="10690533" cy="492736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latin typeface="+mn-ea"/>
                <a:cs typeface="黑体" panose="02010609060101010101" charset="-122"/>
              </a:rPr>
              <a:t>新一轮科技变革之际</a:t>
            </a:r>
            <a:endParaRPr lang="zh-CN" altLang="en-US" sz="2400" dirty="0">
              <a:solidFill>
                <a:srgbClr val="0000FF"/>
              </a:solidFill>
              <a:latin typeface="+mn-ea"/>
              <a:cs typeface="黑体" panose="02010609060101010101" charset="-122"/>
            </a:endParaRPr>
          </a:p>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latin typeface="+mn-ea"/>
                <a:cs typeface="黑体" panose="02010609060101010101" charset="-122"/>
              </a:rPr>
              <a:t>国产</a:t>
            </a:r>
            <a:r>
              <a:rPr lang="en-US" altLang="zh-CN" sz="2400" dirty="0">
                <a:solidFill>
                  <a:srgbClr val="0000FF"/>
                </a:solidFill>
                <a:latin typeface="+mn-ea"/>
                <a:cs typeface="黑体" panose="02010609060101010101" charset="-122"/>
              </a:rPr>
              <a:t>OS</a:t>
            </a:r>
            <a:r>
              <a:rPr lang="zh-CN" altLang="en-US" sz="2400" dirty="0">
                <a:solidFill>
                  <a:srgbClr val="0000FF"/>
                </a:solidFill>
                <a:latin typeface="+mn-ea"/>
                <a:cs typeface="黑体" panose="02010609060101010101" charset="-122"/>
              </a:rPr>
              <a:t>如何依托工业互联网实现“换道超车”？</a:t>
            </a:r>
            <a:endParaRPr lang="zh-CN" altLang="en-US" sz="2400" dirty="0">
              <a:solidFill>
                <a:srgbClr val="0000FF"/>
              </a:solidFill>
              <a:latin typeface="+mn-ea"/>
              <a:cs typeface="黑体" panose="02010609060101010101" charset="-122"/>
            </a:endParaRPr>
          </a:p>
          <a:p>
            <a:pPr marL="0" indent="457200" algn="just">
              <a:lnSpc>
                <a:spcPct val="125000"/>
              </a:lnSpc>
              <a:spcBef>
                <a:spcPts val="300"/>
              </a:spcBef>
              <a:spcAft>
                <a:spcPts val="300"/>
              </a:spcAft>
              <a:buFont typeface="Arial" panose="020B0604020202020204" pitchFamily="34" charset="0"/>
              <a:buNone/>
            </a:pPr>
            <a:r>
              <a:rPr lang="zh-CN" altLang="en-US" sz="2400" dirty="0">
                <a:latin typeface="+mn-ea"/>
                <a:cs typeface="Times New Roman" panose="02020603050405020304" charset="0"/>
              </a:rPr>
              <a:t> 随着云计算、大数据、人工智能等新一代信息技术与实体经济深度融合，工业互联网、工业大数据等新模式、新业态快速发展，工业已成为世界各国重点布局的领域。我国作为全世界唯一拥有联合国产业分类中所列全部工业门类的国家，在工业领域发展操作系统可谓具有独特优势。国内大量处在工业</a:t>
            </a:r>
            <a:r>
              <a:rPr lang="en-US" altLang="zh-CN" sz="2400" dirty="0">
                <a:latin typeface="+mn-ea"/>
                <a:cs typeface="Times New Roman" panose="02020603050405020304" charset="0"/>
              </a:rPr>
              <a:t>2.0</a:t>
            </a:r>
            <a:r>
              <a:rPr lang="zh-CN" altLang="en-US" sz="2400" dirty="0">
                <a:latin typeface="+mn-ea"/>
                <a:cs typeface="Times New Roman" panose="02020603050405020304" charset="0"/>
              </a:rPr>
              <a:t>、</a:t>
            </a:r>
            <a:r>
              <a:rPr lang="en-US" altLang="zh-CN" sz="2400" dirty="0">
                <a:latin typeface="+mn-ea"/>
                <a:cs typeface="Times New Roman" panose="02020603050405020304" charset="0"/>
              </a:rPr>
              <a:t>3.0</a:t>
            </a:r>
            <a:r>
              <a:rPr lang="zh-CN" altLang="en-US" sz="2400" dirty="0">
                <a:latin typeface="+mn-ea"/>
                <a:cs typeface="Times New Roman" panose="02020603050405020304" charset="0"/>
              </a:rPr>
              <a:t>和</a:t>
            </a:r>
            <a:r>
              <a:rPr lang="en-US" altLang="zh-CN" sz="2400" dirty="0">
                <a:latin typeface="+mn-ea"/>
                <a:cs typeface="Times New Roman" panose="02020603050405020304" charset="0"/>
              </a:rPr>
              <a:t>4.0</a:t>
            </a:r>
            <a:r>
              <a:rPr lang="zh-CN" altLang="en-US" sz="2400" dirty="0">
                <a:latin typeface="+mn-ea"/>
                <a:cs typeface="Times New Roman" panose="02020603050405020304" charset="0"/>
              </a:rPr>
              <a:t>不同发展阶段的企业通过“企业上云”，加速实现数字化和网络化，伴随着工业互联网基础设施的快速迭代升级，国产操作系统不仅具有广阔的市场空间，也将推动传统制造业加速向数字化、网络化和智能化转变，为国产操作系统“换道超车”提供重大历史机遇。</a:t>
            </a:r>
            <a:endParaRPr lang="zh-CN" altLang="en-US" sz="2400" dirty="0">
              <a:latin typeface="+mn-ea"/>
              <a:cs typeface="Times New Roman" panose="0202060305040502030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endParaRPr lang="zh-CN" altLang="en-US" sz="2800" b="1" dirty="0">
              <a:solidFill>
                <a:schemeClr val="bg1"/>
              </a:solidFill>
            </a:endParaRPr>
          </a:p>
        </p:txBody>
      </p:sp>
      <p:sp>
        <p:nvSpPr>
          <p:cNvPr id="52" name="内容占位符 3"/>
          <p:cNvSpPr txBox="1"/>
          <p:nvPr/>
        </p:nvSpPr>
        <p:spPr>
          <a:xfrm>
            <a:off x="669925" y="1224856"/>
            <a:ext cx="10690533" cy="309856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latin typeface="+mn-ea"/>
                <a:cs typeface="黑体" panose="02010609060101010101" charset="-122"/>
              </a:rPr>
              <a:t>新一轮科技变革之际</a:t>
            </a:r>
            <a:endParaRPr lang="zh-CN" altLang="en-US" sz="2400" dirty="0">
              <a:solidFill>
                <a:srgbClr val="0000FF"/>
              </a:solidFill>
              <a:latin typeface="+mn-ea"/>
              <a:cs typeface="黑体" panose="02010609060101010101" charset="-122"/>
            </a:endParaRPr>
          </a:p>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latin typeface="+mn-ea"/>
                <a:cs typeface="黑体" panose="02010609060101010101" charset="-122"/>
              </a:rPr>
              <a:t>国产</a:t>
            </a:r>
            <a:r>
              <a:rPr lang="en-US" altLang="zh-CN" sz="2400" dirty="0">
                <a:solidFill>
                  <a:srgbClr val="0000FF"/>
                </a:solidFill>
                <a:latin typeface="+mn-ea"/>
                <a:cs typeface="黑体" panose="02010609060101010101" charset="-122"/>
              </a:rPr>
              <a:t>OS</a:t>
            </a:r>
            <a:r>
              <a:rPr lang="zh-CN" altLang="en-US" sz="2400" dirty="0">
                <a:solidFill>
                  <a:srgbClr val="0000FF"/>
                </a:solidFill>
                <a:latin typeface="+mn-ea"/>
                <a:cs typeface="黑体" panose="02010609060101010101" charset="-122"/>
              </a:rPr>
              <a:t>如何依托工业互联网实现“换道超车”？</a:t>
            </a:r>
            <a:endParaRPr lang="zh-CN" altLang="en-US" sz="2400" dirty="0">
              <a:solidFill>
                <a:srgbClr val="0000FF"/>
              </a:solidFill>
              <a:latin typeface="+mn-ea"/>
              <a:cs typeface="黑体" panose="02010609060101010101" charset="-122"/>
            </a:endParaRPr>
          </a:p>
          <a:p>
            <a:pPr marL="0" indent="457200" algn="just">
              <a:lnSpc>
                <a:spcPct val="125000"/>
              </a:lnSpc>
              <a:spcBef>
                <a:spcPts val="300"/>
              </a:spcBef>
              <a:spcAft>
                <a:spcPts val="300"/>
              </a:spcAft>
              <a:buFont typeface="Arial" panose="020B0604020202020204" pitchFamily="34" charset="0"/>
              <a:buNone/>
            </a:pPr>
            <a:r>
              <a:rPr lang="zh-CN" altLang="en-US" sz="2400" u="sng" dirty="0">
                <a:latin typeface="+mn-ea"/>
                <a:cs typeface="Times New Roman" panose="02020603050405020304" charset="0"/>
              </a:rPr>
              <a:t>坚信</a:t>
            </a:r>
            <a:r>
              <a:rPr lang="zh-CN" altLang="en-US" sz="2400" dirty="0">
                <a:latin typeface="+mn-ea"/>
                <a:cs typeface="Times New Roman" panose="02020603050405020304" charset="0"/>
              </a:rPr>
              <a:t>，通过①以工业互联网发展为动力推动国产操作系统在工业领域的应用和普及，②以开源为抓手提升国产操作系统技术水平，③以创新为引擎促进形成发展的内生动力，④打造以国产操作系统为核心的软硬件生态体系，</a:t>
            </a:r>
            <a:r>
              <a:rPr lang="zh-CN" altLang="en-US" sz="2400" u="sng" dirty="0">
                <a:latin typeface="+mn-ea"/>
                <a:cs typeface="Times New Roman" panose="02020603050405020304" charset="0"/>
              </a:rPr>
              <a:t>国产操作系统一定能够在新一轮科技变革之际，依托工业互联网实现“换道超车”！</a:t>
            </a:r>
            <a:endParaRPr lang="zh-CN" altLang="en-US" sz="2400" u="sng" dirty="0">
              <a:latin typeface="+mn-ea"/>
              <a:cs typeface="Times New Roman" panose="02020603050405020304" charset="0"/>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THINKCELLSHAPEDONOTDELETE" val="thinkcellActiveDocDoNotDelete"/>
</p:tagLst>
</file>

<file path=ppt/tags/tag7.xml><?xml version="1.0" encoding="utf-8"?>
<p:tagLst xmlns:p="http://schemas.openxmlformats.org/presentationml/2006/main">
  <p:tag name="THINKCELLSHAPEDONOTDELETE" val="tA6S0wzOvQ8a50SA42PUNRg"/>
</p:tagLst>
</file>

<file path=ppt/tags/tag8.xml><?xml version="1.0" encoding="utf-8"?>
<p:tagLst xmlns:p="http://schemas.openxmlformats.org/presentationml/2006/main">
  <p:tag name="KSO_WM_UNIT_TABLE_BEAUTIFY" val="smartTable{58a06314-7e72-4d48-85a8-7253ed818c17}"/>
</p:tagLst>
</file>

<file path=ppt/tags/tag9.xml><?xml version="1.0" encoding="utf-8"?>
<p:tagLst xmlns:p="http://schemas.openxmlformats.org/presentationml/2006/main">
  <p:tag name="KSO_WM_DIAGRAM_VIRTUALLY_FRAME" val="{&quot;height&quot;:397.3144094488189,&quot;left&quot;:52.75,&quot;top&quot;:103.81503937007874,&quot;width&quot;:885.9208661417322}"/>
</p:tagLst>
</file>

<file path=ppt/tags/tag10.xml><?xml version="1.0" encoding="utf-8"?>
<p:tagLst xmlns:p="http://schemas.openxmlformats.org/presentationml/2006/main">
  <p:tag name="KSO_WM_DIAGRAM_VIRTUALLY_FRAME" val="{&quot;height&quot;:397.3144094488189,&quot;left&quot;:52.75,&quot;top&quot;:103.81503937007874,&quot;width&quot;:885.9208661417322}"/>
</p:tagLst>
</file>

<file path=ppt/tags/tag11.xml><?xml version="1.0" encoding="utf-8"?>
<p:tagLst xmlns:p="http://schemas.openxmlformats.org/presentationml/2006/main">
  <p:tag name="KSO_WM_DIAGRAM_VIRTUALLY_FRAME" val="{&quot;height&quot;:397.3144094488189,&quot;left&quot;:52.75,&quot;top&quot;:103.81503937007874,&quot;width&quot;:885.9208661417322}"/>
</p:tagLst>
</file>

<file path=ppt/tags/tag12.xml><?xml version="1.0" encoding="utf-8"?>
<p:tagLst xmlns:p="http://schemas.openxmlformats.org/presentationml/2006/main">
  <p:tag name="KSO_WM_DIAGRAM_VIRTUALLY_FRAME" val="{&quot;height&quot;:397.3144094488189,&quot;left&quot;:52.75,&quot;top&quot;:103.81503937007874,&quot;width&quot;:885.9208661417322}"/>
</p:tagLst>
</file>

<file path=ppt/tags/tag13.xml><?xml version="1.0" encoding="utf-8"?>
<p:tagLst xmlns:p="http://schemas.openxmlformats.org/presentationml/2006/main">
  <p:tag name="KSO_WM_DIAGRAM_VIRTUALLY_FRAME" val="{&quot;height&quot;:397.3144094488189,&quot;left&quot;:52.75,&quot;top&quot;:103.81503937007874,&quot;width&quot;:885.9208661417322}"/>
</p:tagLst>
</file>

<file path=ppt/tags/tag14.xml><?xml version="1.0" encoding="utf-8"?>
<p:tagLst xmlns:p="http://schemas.openxmlformats.org/presentationml/2006/main">
  <p:tag name="KSO_WM_DIAGRAM_VIRTUALLY_FRAME" val="{&quot;height&quot;:397.3144094488189,&quot;left&quot;:52.75,&quot;top&quot;:103.81503937007874,&quot;width&quot;:885.9208661417322}"/>
</p:tagLst>
</file>

<file path=ppt/tags/tag15.xml><?xml version="1.0" encoding="utf-8"?>
<p:tagLst xmlns:p="http://schemas.openxmlformats.org/presentationml/2006/main">
  <p:tag name="KSO_WM_DIAGRAM_VIRTUALLY_FRAME" val="{&quot;height&quot;:397.3144094488189,&quot;left&quot;:52.75,&quot;top&quot;:103.81503937007874,&quot;width&quot;:885.9208661417322}"/>
</p:tagLst>
</file>

<file path=ppt/tags/tag16.xml><?xml version="1.0" encoding="utf-8"?>
<p:tagLst xmlns:p="http://schemas.openxmlformats.org/presentationml/2006/main">
  <p:tag name="KSO_WM_DIAGRAM_VIRTUALLY_FRAME" val="{&quot;height&quot;:397.3144094488189,&quot;left&quot;:52.75,&quot;top&quot;:103.81503937007874,&quot;width&quot;:885.9208661417322}"/>
</p:tagLst>
</file>

<file path=ppt/tags/tag17.xml><?xml version="1.0" encoding="utf-8"?>
<p:tagLst xmlns:p="http://schemas.openxmlformats.org/presentationml/2006/main">
  <p:tag name="KSO_WM_DIAGRAM_VIRTUALLY_FRAME" val="{&quot;height&quot;:397.3144094488189,&quot;left&quot;:52.75,&quot;top&quot;:103.81503937007874,&quot;width&quot;:885.9208661417322}"/>
</p:tagLst>
</file>

<file path=ppt/tags/tag18.xml><?xml version="1.0" encoding="utf-8"?>
<p:tagLst xmlns:p="http://schemas.openxmlformats.org/presentationml/2006/main">
  <p:tag name="KSO_WM_DIAGRAM_VIRTUALLY_FRAME" val="{&quot;height&quot;:397.3144094488189,&quot;left&quot;:52.75,&quot;top&quot;:103.81503937007874,&quot;width&quot;:885.9208661417322}"/>
</p:tagLst>
</file>

<file path=ppt/tags/tag19.xml><?xml version="1.0" encoding="utf-8"?>
<p:tagLst xmlns:p="http://schemas.openxmlformats.org/presentationml/2006/main">
  <p:tag name="KSO_WM_DIAGRAM_VIRTUALLY_FRAME" val="{&quot;height&quot;:397.3144094488189,&quot;left&quot;:52.75,&quot;top&quot;:103.81503937007874,&quot;width&quot;:885.9208661417322}"/>
</p:tagLst>
</file>

<file path=ppt/tags/tag20.xml><?xml version="1.0" encoding="utf-8"?>
<p:tagLst xmlns:p="http://schemas.openxmlformats.org/presentationml/2006/main">
  <p:tag name="KSO_WM_DIAGRAM_VIRTUALLY_FRAME" val="{&quot;height&quot;:397.3144094488189,&quot;left&quot;:52.75,&quot;top&quot;:103.81503937007874,&quot;width&quot;:885.9208661417322}"/>
</p:tagLst>
</file>

<file path=ppt/tags/tag21.xml><?xml version="1.0" encoding="utf-8"?>
<p:tagLst xmlns:p="http://schemas.openxmlformats.org/presentationml/2006/main">
  <p:tag name="KSO_WM_DIAGRAM_VIRTUALLY_FRAME" val="{&quot;height&quot;:397.3144094488189,&quot;left&quot;:52.75,&quot;top&quot;:103.81503937007874,&quot;width&quot;:885.9208661417322}"/>
</p:tagLst>
</file>

<file path=ppt/tags/tag22.xml><?xml version="1.0" encoding="utf-8"?>
<p:tagLst xmlns:p="http://schemas.openxmlformats.org/presentationml/2006/main">
  <p:tag name="KSO_WM_DIAGRAM_VIRTUALLY_FRAME" val="{&quot;height&quot;:397.3144094488189,&quot;left&quot;:52.75,&quot;top&quot;:103.81503937007874,&quot;width&quot;:885.9208661417322}"/>
</p:tagLst>
</file>

<file path=ppt/tags/tag23.xml><?xml version="1.0" encoding="utf-8"?>
<p:tagLst xmlns:p="http://schemas.openxmlformats.org/presentationml/2006/main">
  <p:tag name="KSO_WM_DIAGRAM_VIRTUALLY_FRAME" val="{&quot;height&quot;:397.3144094488189,&quot;left&quot;:52.75,&quot;top&quot;:103.81503937007874,&quot;width&quot;:885.9208661417322}"/>
</p:tagLst>
</file>

<file path=ppt/tags/tag24.xml><?xml version="1.0" encoding="utf-8"?>
<p:tagLst xmlns:p="http://schemas.openxmlformats.org/presentationml/2006/main">
  <p:tag name="KSO_WM_DIAGRAM_VIRTUALLY_FRAME" val="{&quot;height&quot;:397.3144094488189,&quot;left&quot;:52.75,&quot;top&quot;:103.81503937007874,&quot;width&quot;:885.9208661417322}"/>
</p:tagLst>
</file>

<file path=ppt/tags/tag25.xml><?xml version="1.0" encoding="utf-8"?>
<p:tagLst xmlns:p="http://schemas.openxmlformats.org/presentationml/2006/main">
  <p:tag name="KSO_WM_DIAGRAM_VIRTUALLY_FRAME" val="{&quot;height&quot;:397.3144094488189,&quot;left&quot;:52.75,&quot;top&quot;:103.81503937007874,&quot;width&quot;:885.9208661417322}"/>
</p:tagLst>
</file>

<file path=ppt/tags/tag26.xml><?xml version="1.0" encoding="utf-8"?>
<p:tagLst xmlns:p="http://schemas.openxmlformats.org/presentationml/2006/main">
  <p:tag name="KSO_WM_DIAGRAM_VIRTUALLY_FRAME" val="{&quot;height&quot;:397.3144094488189,&quot;left&quot;:52.75,&quot;top&quot;:103.81503937007874,&quot;width&quot;:885.9208661417322}"/>
</p:tagLst>
</file>

<file path=ppt/tags/tag27.xml><?xml version="1.0" encoding="utf-8"?>
<p:tagLst xmlns:p="http://schemas.openxmlformats.org/presentationml/2006/main">
  <p:tag name="KSO_WM_DIAGRAM_VIRTUALLY_FRAME" val="{&quot;height&quot;:397.3144094488189,&quot;left&quot;:52.75,&quot;top&quot;:103.81503937007874,&quot;width&quot;:885.9208661417322}"/>
</p:tagLst>
</file>

<file path=ppt/tags/tag28.xml><?xml version="1.0" encoding="utf-8"?>
<p:tagLst xmlns:p="http://schemas.openxmlformats.org/presentationml/2006/main">
  <p:tag name="KSO_WM_DIAGRAM_VIRTUALLY_FRAME" val="{&quot;height&quot;:397.3144094488189,&quot;left&quot;:52.75,&quot;top&quot;:103.81503937007874,&quot;width&quot;:885.9208661417322}"/>
</p:tagLst>
</file>

<file path=ppt/tags/tag29.xml><?xml version="1.0" encoding="utf-8"?>
<p:tagLst xmlns:p="http://schemas.openxmlformats.org/presentationml/2006/main">
  <p:tag name="KSO_WM_DIAGRAM_VIRTUALLY_FRAME" val="{&quot;height&quot;:397.3144094488189,&quot;left&quot;:52.75,&quot;top&quot;:103.81503937007874,&quot;width&quot;:885.9208661417322}"/>
</p:tagLst>
</file>

<file path=ppt/tags/tag30.xml><?xml version="1.0" encoding="utf-8"?>
<p:tagLst xmlns:p="http://schemas.openxmlformats.org/presentationml/2006/main">
  <p:tag name="TABLE_ENDDRAG_ORIGIN_RECT" val="887*387"/>
  <p:tag name="TABLE_ENDDRAG_RECT" val="48*119*887*387"/>
</p:tagLst>
</file>

<file path=ppt/tags/tag31.xml><?xml version="1.0" encoding="utf-8"?>
<p:tagLst xmlns:p="http://schemas.openxmlformats.org/presentationml/2006/main">
  <p:tag name="ISLIDE.DIAGRAM" val="217641"/>
</p:tagLst>
</file>

<file path=ppt/tags/tag32.xml><?xml version="1.0" encoding="utf-8"?>
<p:tagLst xmlns:p="http://schemas.openxmlformats.org/presentationml/2006/main">
  <p:tag name="ISLIDE.DIAGRAM" val="217641"/>
</p:tagLst>
</file>

<file path=ppt/tags/tag33.xml><?xml version="1.0" encoding="utf-8"?>
<p:tagLst xmlns:p="http://schemas.openxmlformats.org/presentationml/2006/main">
  <p:tag name="ISLIDE.DIAGRAM" val="272399"/>
</p:tagLst>
</file>

<file path=ppt/tags/tag34.xml><?xml version="1.0" encoding="utf-8"?>
<p:tagLst xmlns:p="http://schemas.openxmlformats.org/presentationml/2006/main">
  <p:tag name="ISLIDE.DIAGRAM" val="185926"/>
</p:tagLst>
</file>

<file path=ppt/tags/tag35.xml><?xml version="1.0" encoding="utf-8"?>
<p:tagLst xmlns:p="http://schemas.openxmlformats.org/presentationml/2006/main">
  <p:tag name="ISLIDE.DIAGRAM" val="185926"/>
</p:tagLst>
</file>

<file path=ppt/tags/tag36.xml><?xml version="1.0" encoding="utf-8"?>
<p:tagLst xmlns:p="http://schemas.openxmlformats.org/presentationml/2006/main">
  <p:tag name="ISLIDE.DIAGRAM" val="185926"/>
</p:tagLst>
</file>

<file path=ppt/tags/tag37.xml><?xml version="1.0" encoding="utf-8"?>
<p:tagLst xmlns:p="http://schemas.openxmlformats.org/presentationml/2006/main">
  <p:tag name="ISLIDE.DIAGRAM" val="217641"/>
</p:tagLst>
</file>

<file path=ppt/tags/tag38.xml><?xml version="1.0" encoding="utf-8"?>
<p:tagLst xmlns:p="http://schemas.openxmlformats.org/presentationml/2006/main">
  <p:tag name="KSO_WM_UNIT_TABLE_BEAUTIFY" val="smartTable{58a06314-7e72-4d48-85a8-7253ed818c17}"/>
</p:tagLst>
</file>

<file path=ppt/tags/tag39.xml><?xml version="1.0" encoding="utf-8"?>
<p:tagLst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074baa65-1bcf-453b-aed6-4412331b316e"/>
  <p:tag name="commondata" val="eyJoZGlkIjoiMzEwNTM5NzYwMDRjMzkwZTVkZjY2ODkwMGIxNGU0OTUifQ=="/>
</p:tagLst>
</file>

<file path=ppt/theme/theme1.xml><?xml version="1.0" encoding="utf-8"?>
<a:theme xmlns:a="http://schemas.openxmlformats.org/drawingml/2006/main" name="主题5">
  <a:themeElements>
    <a:clrScheme name="自定义 15">
      <a:dk1>
        <a:srgbClr val="000000"/>
      </a:dk1>
      <a:lt1>
        <a:srgbClr val="FFFFFF"/>
      </a:lt1>
      <a:dk2>
        <a:srgbClr val="768394"/>
      </a:dk2>
      <a:lt2>
        <a:srgbClr val="F0F0F0"/>
      </a:lt2>
      <a:accent1>
        <a:srgbClr val="07416B"/>
      </a:accent1>
      <a:accent2>
        <a:srgbClr val="FFC000"/>
      </a:accent2>
      <a:accent3>
        <a:srgbClr val="00002E"/>
      </a:accent3>
      <a:accent4>
        <a:srgbClr val="031684"/>
      </a:accent4>
      <a:accent5>
        <a:srgbClr val="969696"/>
      </a:accent5>
      <a:accent6>
        <a:srgbClr val="B2B2B2"/>
      </a:accent6>
      <a:hlink>
        <a:srgbClr val="4472C4"/>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0</TotalTime>
  <Words>8533</Words>
  <Application>WPS 演示</Application>
  <PresentationFormat>自定义</PresentationFormat>
  <Paragraphs>1023</Paragraphs>
  <Slides>65</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65</vt:i4>
      </vt:variant>
    </vt:vector>
  </HeadingPairs>
  <TitlesOfParts>
    <vt:vector size="77" baseType="lpstr">
      <vt:lpstr>Arial</vt:lpstr>
      <vt:lpstr>宋体</vt:lpstr>
      <vt:lpstr>Wingdings</vt:lpstr>
      <vt:lpstr>微软雅黑</vt:lpstr>
      <vt:lpstr>Times New Roman</vt:lpstr>
      <vt:lpstr>微软雅黑 (正文)</vt:lpstr>
      <vt:lpstr>黑体</vt:lpstr>
      <vt:lpstr>华文楷体</vt:lpstr>
      <vt:lpstr>Arial Unicode MS</vt:lpstr>
      <vt:lpstr>Calibri</vt:lpstr>
      <vt:lpstr>主题5</vt:lpstr>
      <vt:lpstr>TCLayout.ActiveDocument.1</vt:lpstr>
      <vt:lpstr>第9章 磁盘存储器管理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iSlide</Company>
  <LinksUpToDate>false</LinksUpToDate>
  <SharedDoc>false</SharedDoc>
  <HyperlinksChanged>false</HyperlinksChanged>
  <AppVersion>14.0000</AppVersion>
  <Manager>iSlide</Manager>
  <HyperlinkBase>https://www.islide.cc</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韦平</cp:lastModifiedBy>
  <cp:revision>228</cp:revision>
  <cp:lastPrinted>2019-04-18T16:00:00Z</cp:lastPrinted>
  <dcterms:created xsi:type="dcterms:W3CDTF">2019-04-18T16:00:00Z</dcterms:created>
  <dcterms:modified xsi:type="dcterms:W3CDTF">2025-06-19T14:45:10Z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FD23EC2029474AFD9F391E6735F49F86</vt:lpwstr>
  </property>
  <property fmtid="{D5CDD505-2E9C-101B-9397-08002B2CF9AE}" pid="4" name="KSOProductBuildVer">
    <vt:lpwstr>2052-12.1.0.21171</vt:lpwstr>
  </property>
</Properties>
</file>