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7"/>
  </p:notesMasterIdLst>
  <p:sldIdLst>
    <p:sldId id="409" r:id="rId3"/>
    <p:sldId id="312" r:id="rId4"/>
    <p:sldId id="315" r:id="rId5"/>
    <p:sldId id="296" r:id="rId6"/>
    <p:sldId id="301" r:id="rId7"/>
    <p:sldId id="305" r:id="rId8"/>
    <p:sldId id="297" r:id="rId9"/>
    <p:sldId id="362" r:id="rId10"/>
    <p:sldId id="320" r:id="rId11"/>
    <p:sldId id="363" r:id="rId12"/>
    <p:sldId id="364" r:id="rId13"/>
    <p:sldId id="365" r:id="rId14"/>
    <p:sldId id="366" r:id="rId15"/>
    <p:sldId id="299" r:id="rId16"/>
    <p:sldId id="367" r:id="rId17"/>
    <p:sldId id="369" r:id="rId18"/>
    <p:sldId id="370" r:id="rId19"/>
    <p:sldId id="368" r:id="rId20"/>
    <p:sldId id="373" r:id="rId21"/>
    <p:sldId id="372" r:id="rId22"/>
    <p:sldId id="377" r:id="rId23"/>
    <p:sldId id="371" r:id="rId24"/>
    <p:sldId id="379" r:id="rId25"/>
    <p:sldId id="380" r:id="rId26"/>
    <p:sldId id="300" r:id="rId27"/>
    <p:sldId id="304" r:id="rId28"/>
    <p:sldId id="302" r:id="rId29"/>
    <p:sldId id="410" r:id="rId30"/>
    <p:sldId id="411" r:id="rId31"/>
    <p:sldId id="412" r:id="rId32"/>
    <p:sldId id="382" r:id="rId33"/>
    <p:sldId id="383" r:id="rId34"/>
    <p:sldId id="321" r:id="rId35"/>
    <p:sldId id="384" r:id="rId36"/>
    <p:sldId id="381" r:id="rId37"/>
    <p:sldId id="386" r:id="rId38"/>
    <p:sldId id="387" r:id="rId39"/>
    <p:sldId id="388" r:id="rId40"/>
    <p:sldId id="389" r:id="rId41"/>
    <p:sldId id="390" r:id="rId42"/>
    <p:sldId id="391" r:id="rId43"/>
    <p:sldId id="392" r:id="rId44"/>
    <p:sldId id="385" r:id="rId45"/>
    <p:sldId id="393" r:id="rId46"/>
    <p:sldId id="326" r:id="rId47"/>
    <p:sldId id="394" r:id="rId48"/>
    <p:sldId id="395" r:id="rId49"/>
    <p:sldId id="378" r:id="rId50"/>
    <p:sldId id="397" r:id="rId51"/>
    <p:sldId id="351" r:id="rId52"/>
    <p:sldId id="309" r:id="rId53"/>
    <p:sldId id="375" r:id="rId54"/>
    <p:sldId id="353" r:id="rId55"/>
    <p:sldId id="374" r:id="rId56"/>
  </p:sldIdLst>
  <p:sldSz cx="12192000" cy="6858000"/>
  <p:notesSz cx="6858000" cy="9144000"/>
  <p:custDataLst>
    <p:tags r:id="rId6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6" userDrawn="1">
          <p15:clr>
            <a:srgbClr val="A4A3A4"/>
          </p15:clr>
        </p15:guide>
        <p15:guide id="2" pos="38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00005C"/>
    <a:srgbClr val="06D24C"/>
    <a:srgbClr val="035920"/>
    <a:srgbClr val="F6F5F3"/>
    <a:srgbClr val="04862F"/>
    <a:srgbClr val="07DB4E"/>
    <a:srgbClr val="08396E"/>
    <a:srgbClr val="0519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18" autoAdjust="0"/>
    <p:restoredTop sz="96182" autoAdjust="0"/>
  </p:normalViewPr>
  <p:slideViewPr>
    <p:cSldViewPr snapToGrid="0" showGuides="1">
      <p:cViewPr varScale="1">
        <p:scale>
          <a:sx n="114" d="100"/>
          <a:sy n="114" d="100"/>
        </p:scale>
        <p:origin x="-780" y="-108"/>
      </p:cViewPr>
      <p:guideLst>
        <p:guide orient="horz" pos="2216"/>
        <p:guide pos="3837"/>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1" Type="http://schemas.openxmlformats.org/officeDocument/2006/relationships/tags" Target="tags/tag24.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notesMaster" Target="notesMasters/notesMaster1.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2.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tags" Target="../tags/tag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userDrawn="1">
  <p:cSld name="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23" name="任意多边形: 形状 22"/>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20" name="任意多边形: 形状 19"/>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p:ph type="body" sz="quarter" idx="10" hasCustomPrompt="1"/>
          </p:nvPr>
        </p:nvSpPr>
        <p:spPr>
          <a:xfrm>
            <a:off x="669925" y="5306656"/>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3" name="文本占位符 13"/>
          <p:cNvSpPr>
            <a:spLocks noGrp="1"/>
          </p:cNvSpPr>
          <p:nvPr>
            <p:ph type="body" sz="quarter" idx="11" hasCustomPrompt="1"/>
          </p:nvPr>
        </p:nvSpPr>
        <p:spPr>
          <a:xfrm>
            <a:off x="669925" y="5602927"/>
            <a:ext cx="10850563" cy="296271"/>
          </a:xfrm>
        </p:spPr>
        <p:txBody>
          <a:bodyPr vert="horz" anchor="ctr">
            <a:noAutofit/>
          </a:bodyPr>
          <a:lstStyle>
            <a:lvl1pPr marL="0" indent="0" algn="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1" name="副标题 2"/>
          <p:cNvSpPr>
            <a:spLocks noGrp="1"/>
          </p:cNvSpPr>
          <p:nvPr>
            <p:ph type="subTitle" idx="1"/>
          </p:nvPr>
        </p:nvSpPr>
        <p:spPr>
          <a:xfrm>
            <a:off x="669925" y="4456729"/>
            <a:ext cx="10850563" cy="558799"/>
          </a:xfrm>
        </p:spPr>
        <p:txBody>
          <a:bodyPr anchor="t" anchorCtr="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9802" name="标题 1"/>
          <p:cNvSpPr>
            <a:spLocks noGrp="1"/>
          </p:cNvSpPr>
          <p:nvPr>
            <p:ph type="ctrTitle"/>
          </p:nvPr>
        </p:nvSpPr>
        <p:spPr>
          <a:xfrm>
            <a:off x="669925" y="1028701"/>
            <a:ext cx="10850563" cy="3136900"/>
          </a:xfrm>
        </p:spPr>
        <p:txBody>
          <a:bodyPr anchor="b" anchorCtr="0">
            <a:normAutofit/>
          </a:bodyPr>
          <a:lstStyle>
            <a:lvl1pPr algn="l">
              <a:defRPr sz="4000">
                <a:solidFill>
                  <a:schemeClr val="bg1"/>
                </a:solidFill>
              </a:defRPr>
            </a:lvl1pPr>
          </a:lstStyle>
          <a:p>
            <a:r>
              <a:rPr lang="en-US" dirty="0"/>
              <a:t>Click to edit Master title style</a:t>
            </a:r>
            <a:endParaRPr lang="zh-CN" alt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userDrawn="1">
  <p:cSld name="节标题">
    <p:spTree>
      <p:nvGrpSpPr>
        <p:cNvPr id="1" name=""/>
        <p:cNvGrpSpPr/>
        <p:nvPr/>
      </p:nvGrpSpPr>
      <p:grpSpPr>
        <a:xfrm>
          <a:off x="0" y="0"/>
          <a:ext cx="0" cy="0"/>
          <a:chOff x="0" y="0"/>
          <a:chExt cx="0" cy="0"/>
        </a:xfrm>
      </p:grpSpPr>
      <p:sp>
        <p:nvSpPr>
          <p:cNvPr id="7" name="Freeform 22_1"/>
          <p:cNvSpPr>
            <a:spLocks noChangeArrowheads="1"/>
          </p:cNvSpPr>
          <p:nvPr userDrawn="1"/>
        </p:nvSpPr>
        <p:spPr bwMode="auto">
          <a:xfrm>
            <a:off x="190500" y="3192312"/>
            <a:ext cx="12192000" cy="3429000"/>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dpi="0" rotWithShape="1">
            <a:blip r:embed="rId2">
              <a:alphaModFix amt="60000"/>
            </a:blip>
            <a:srcRect/>
            <a:stretch>
              <a:fillRect t="-93255" b="-31457"/>
            </a:stretch>
          </a:blipFill>
          <a:ln>
            <a:noFill/>
          </a:ln>
        </p:spPr>
        <p:txBody>
          <a:bodyPr vert="horz" wrap="square" lIns="91440" tIns="45720" rIns="91440" bIns="45720" numCol="1" anchor="t" anchorCtr="0" compatLnSpc="1">
            <a:noAutofit/>
          </a:bodyPr>
          <a:lstStyle/>
          <a:p>
            <a:endParaRPr lang="zh-CN" altLang="en-US" dirty="0"/>
          </a:p>
        </p:txBody>
      </p:sp>
      <p:sp>
        <p:nvSpPr>
          <p:cNvPr id="20" name="标题 1"/>
          <p:cNvSpPr>
            <a:spLocks noGrp="1"/>
          </p:cNvSpPr>
          <p:nvPr>
            <p:ph type="title"/>
          </p:nvPr>
        </p:nvSpPr>
        <p:spPr>
          <a:xfrm>
            <a:off x="2488168" y="2033814"/>
            <a:ext cx="5419185" cy="895350"/>
          </a:xfrm>
        </p:spPr>
        <p:txBody>
          <a:bodyPr anchor="b">
            <a:normAutofit/>
          </a:bodyPr>
          <a:lstStyle>
            <a:lvl1pPr algn="l">
              <a:defRPr sz="2400" b="1">
                <a:solidFill>
                  <a:schemeClr val="accent3"/>
                </a:solidFill>
              </a:defRPr>
            </a:lvl1pPr>
          </a:lstStyle>
          <a:p>
            <a:r>
              <a:rPr lang="en-US" dirty="0"/>
              <a:t>Click to edit Master title style</a:t>
            </a:r>
            <a:endParaRPr lang="zh-CN" altLang="en-US" dirty="0"/>
          </a:p>
        </p:txBody>
      </p:sp>
      <p:sp>
        <p:nvSpPr>
          <p:cNvPr id="21" name="文本占位符 2"/>
          <p:cNvSpPr>
            <a:spLocks noGrp="1"/>
          </p:cNvSpPr>
          <p:nvPr>
            <p:ph type="body" idx="1"/>
          </p:nvPr>
        </p:nvSpPr>
        <p:spPr>
          <a:xfrm>
            <a:off x="2489284" y="2929164"/>
            <a:ext cx="5419185" cy="1015623"/>
          </a:xfrm>
        </p:spPr>
        <p:txBody>
          <a:bodyPr anchor="t">
            <a:normAutofit/>
          </a:bodyPr>
          <a:lstStyle>
            <a:lvl1pPr marL="0" indent="0" algn="l">
              <a:lnSpc>
                <a:spcPct val="100000"/>
              </a:lnSpc>
              <a:buNone/>
              <a:defRPr sz="11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任意多边形: 形状 6"/>
          <p:cNvSpPr/>
          <p:nvPr userDrawn="1"/>
        </p:nvSpPr>
        <p:spPr>
          <a:xfrm>
            <a:off x="-9525" y="-9525"/>
            <a:ext cx="10029825"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userDrawn="1"/>
        </p:nvSpPr>
        <p:spPr>
          <a:xfrm>
            <a:off x="11520488" y="6486465"/>
            <a:ext cx="671512" cy="400110"/>
          </a:xfrm>
          <a:prstGeom prst="rect">
            <a:avLst/>
          </a:prstGeom>
          <a:noFill/>
        </p:spPr>
        <p:txBody>
          <a:bodyPr wrap="square" rtlCol="0">
            <a:spAutoFit/>
          </a:bodyPr>
          <a:lstStyle/>
          <a:p>
            <a:pPr algn="ctr"/>
            <a:fld id="{379552D3-A968-4710-B841-1063F5B640DF}" type="slidenum">
              <a:rPr lang="zh-CN" altLang="en-US" sz="20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34410" y="24187"/>
            <a:ext cx="527050" cy="52705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fld id="{E6F26766-F62E-419D-BB7F-91C9CEBCA24E}"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3"/>
          <a:stretch>
            <a:fillRect/>
          </a:stretch>
        </p:blipFill>
        <p:spPr>
          <a:xfrm>
            <a:off x="10061575" y="31115"/>
            <a:ext cx="2019300" cy="76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91440" tIns="45720" rIns="91440" bIns="45720" numCol="1" anchor="t" anchorCtr="0" compatLnSpc="1">
            <a:noAutofit/>
          </a:bodyPr>
          <a:lstStyle/>
          <a:p>
            <a:endParaRPr lang="zh-CN" altLang="en-US"/>
          </a:p>
        </p:txBody>
      </p:sp>
      <p:sp>
        <p:nvSpPr>
          <p:cNvPr id="10" name="任意多边形: 形状 9"/>
          <p:cNvSpPr>
            <a:spLocks noChangeArrowheads="1"/>
          </p:cNvSpPr>
          <p:nvPr userDrawn="1"/>
        </p:nvSpPr>
        <p:spPr bwMode="auto">
          <a:xfrm>
            <a:off x="-794" y="1531703"/>
            <a:ext cx="12192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91440" tIns="45720" rIns="91440" bIns="45720" numCol="1" anchor="t" anchorCtr="0" compatLnSpc="1">
            <a:noAutofit/>
          </a:bodyPr>
          <a:lstStyle/>
          <a:p>
            <a:endParaRPr lang="zh-CN" altLang="en-US"/>
          </a:p>
        </p:txBody>
      </p:sp>
      <p:sp>
        <p:nvSpPr>
          <p:cNvPr id="13" name="标题 1"/>
          <p:cNvSpPr>
            <a:spLocks noGrp="1"/>
          </p:cNvSpPr>
          <p:nvPr>
            <p:ph type="ctrTitle" hasCustomPrompt="1"/>
          </p:nvPr>
        </p:nvSpPr>
        <p:spPr>
          <a:xfrm>
            <a:off x="4034971" y="2163199"/>
            <a:ext cx="6536871" cy="2390427"/>
          </a:xfrm>
        </p:spPr>
        <p:txBody>
          <a:bodyPr anchor="b">
            <a:normAutofit/>
          </a:bodyPr>
          <a:lstStyle>
            <a:lvl1pPr marL="0" indent="0" algn="ct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p:ph type="body" sz="quarter" idx="18" hasCustomPrompt="1"/>
          </p:nvPr>
        </p:nvSpPr>
        <p:spPr>
          <a:xfrm>
            <a:off x="4034971" y="5238353"/>
            <a:ext cx="6536871" cy="310871"/>
          </a:xfrm>
        </p:spPr>
        <p:txBody>
          <a:bodyPr vert="horz" lIns="91440" tIns="45720" rIns="91440" bIns="45720" rtlCol="0">
            <a:normAutofit/>
          </a:bodyPr>
          <a:lstStyle>
            <a:lvl1pPr marL="0" indent="0" algn="ctr">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4034973" y="4942082"/>
            <a:ext cx="6536871" cy="296271"/>
          </a:xfrm>
        </p:spPr>
        <p:txBody>
          <a:bodyPr vert="horz" anchor="ctr">
            <a:noAutofit/>
          </a:bodyPr>
          <a:lstStyle>
            <a:lvl1pPr marL="0" indent="0" algn="ctr">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09"/>
            <a:ext cx="12192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91440" tIns="45720" rIns="91440" bIns="45720" numCol="1" anchor="t" anchorCtr="0" compatLnSpc="1">
            <a:noAutofit/>
          </a:bodyPr>
          <a:lstStyle/>
          <a:p>
            <a:endParaRPr lang="zh-CN" altLang="en-US" dirty="0">
              <a:gradFill>
                <a:gsLst>
                  <a:gs pos="100000">
                    <a:schemeClr val="accent3"/>
                  </a:gs>
                  <a:gs pos="0">
                    <a:schemeClr val="accent4"/>
                  </a:gs>
                </a:gsLst>
                <a:lin ang="13500000" scaled="1"/>
              </a:gradFill>
            </a:endParaRPr>
          </a:p>
        </p:txBody>
      </p:sp>
      <p:pic>
        <p:nvPicPr>
          <p:cNvPr id="4" name="图片 3"/>
          <p:cNvPicPr>
            <a:picLocks noChangeAspect="1"/>
          </p:cNvPicPr>
          <p:nvPr userDrawn="1">
            <p:custDataLst>
              <p:tags r:id="rId3"/>
            </p:custDataLst>
          </p:nvPr>
        </p:nvPicPr>
        <p:blipFill>
          <a:blip r:embed="rId4"/>
          <a:stretch>
            <a:fillRect/>
          </a:stretch>
        </p:blipFill>
        <p:spPr>
          <a:xfrm>
            <a:off x="10061575" y="31115"/>
            <a:ext cx="2019300" cy="762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png"/><Relationship Id="rId7" Type="http://schemas.openxmlformats.org/officeDocument/2006/relationships/tags" Target="../tags/tag5.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zh-CN" altLang="en-US" dirty="0"/>
          </a:p>
        </p:txBody>
      </p: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7FE44A0-2E53-457E-9AC0-11D6EE9FA3B5}" type="datetime1">
              <a:rPr lang="zh-CN" altLang="en-US" smtClean="0"/>
            </a:fld>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zh-CN" altLang="en-US"/>
              <a:t>请在插入菜单</a:t>
            </a:r>
            <a:r>
              <a:rPr lang="en-US" altLang="zh-CN"/>
              <a:t>—</a:t>
            </a:r>
            <a:r>
              <a:rPr lang="zh-CN" altLang="en-US"/>
              <a:t>页眉和页脚中修改此文本</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fld>
            <a:endParaRPr lang="zh-CN" altLang="en-US"/>
          </a:p>
        </p:txBody>
      </p:sp>
      <p:pic>
        <p:nvPicPr>
          <p:cNvPr id="4" name="图片 3"/>
          <p:cNvPicPr>
            <a:picLocks noChangeAspect="1"/>
          </p:cNvPicPr>
          <p:nvPr userDrawn="1">
            <p:custDataLst>
              <p:tags r:id="rId7"/>
            </p:custDataLst>
          </p:nvPr>
        </p:nvPicPr>
        <p:blipFill>
          <a:blip r:embed="rId8"/>
          <a:stretch>
            <a:fillRect/>
          </a:stretch>
        </p:blipFill>
        <p:spPr>
          <a:xfrm>
            <a:off x="10061575" y="31115"/>
            <a:ext cx="2019300" cy="762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7.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jpeg"/><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tags" Target="../tags/tag18.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tags" Target="../tags/tag22.xml"/><Relationship Id="rId4" Type="http://schemas.openxmlformats.org/officeDocument/2006/relationships/image" Target="../media/image17.png"/><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5.png"/><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3.xml"/><Relationship Id="rId2" Type="http://schemas.openxmlformats.org/officeDocument/2006/relationships/image" Target="../media/image3.png"/><Relationship Id="rId1" Type="http://schemas.openxmlformats.org/officeDocument/2006/relationships/image" Target="../media/image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02" name="think-cell Slide" r:id="rId2" imgW="9525" imgH="9525" progId="TCLayout.ActiveDocument.1">
                  <p:embed/>
                </p:oleObj>
              </mc:Choice>
              <mc:Fallback>
                <p:oleObj name="think-cell Slide" r:id="rId2" imgW="9525" imgH="9525" progId="TCLayout.ActiveDocument.1">
                  <p:embed/>
                  <p:pic>
                    <p:nvPicPr>
                      <p:cNvPr id="0" name="图片 2095"/>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2" name="矩形 1" hidden="1"/>
          <p:cNvSpPr/>
          <p:nvPr>
            <p:custDataLst>
              <p:tags r:id="rId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669925" y="1319455"/>
            <a:ext cx="10850563" cy="3136900"/>
          </a:xfrm>
        </p:spPr>
        <p:txBody>
          <a:bodyPr>
            <a:normAutofit/>
          </a:bodyPr>
          <a:lstStyle/>
          <a:p>
            <a:r>
              <a:rPr lang="zh-CN" altLang="en-US" sz="4800" dirty="0">
                <a:latin typeface="+mn-lt"/>
                <a:ea typeface="+mn-ea"/>
                <a:cs typeface="+mn-ea"/>
                <a:sym typeface="+mn-lt"/>
              </a:rPr>
              <a:t>第</a:t>
            </a:r>
            <a:r>
              <a:rPr lang="zh-CN" altLang="en-US" sz="4800" dirty="0">
                <a:latin typeface="Arial" panose="020B0604020202020204" pitchFamily="34" charset="0"/>
                <a:ea typeface="+mn-ea"/>
                <a:cs typeface="Arial" panose="020B0604020202020204" pitchFamily="34" charset="0"/>
                <a:sym typeface="+mn-lt"/>
              </a:rPr>
              <a:t>6</a:t>
            </a:r>
            <a:r>
              <a:rPr lang="zh-CN" altLang="en-US" sz="4800" dirty="0">
                <a:latin typeface="+mn-lt"/>
                <a:ea typeface="+mn-ea"/>
                <a:cs typeface="+mn-ea"/>
                <a:sym typeface="+mn-lt"/>
              </a:rPr>
              <a:t>章 虚拟存储器</a:t>
            </a:r>
            <a:endParaRPr lang="zh-CN" altLang="en-US" sz="2000" b="0" dirty="0">
              <a:latin typeface="+mn-lt"/>
              <a:ea typeface="+mn-ea"/>
              <a:cs typeface="+mn-ea"/>
              <a:sym typeface="+mn-lt"/>
            </a:endParaRPr>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611186" y="488949"/>
            <a:ext cx="631826" cy="631826"/>
          </a:xfrm>
          <a:prstGeom prst="rect">
            <a:avLst/>
          </a:prstGeom>
        </p:spPr>
      </p:pic>
      <p:sp>
        <p:nvSpPr>
          <p:cNvPr id="17" name="矩形: 圆角 21"/>
          <p:cNvSpPr/>
          <p:nvPr/>
        </p:nvSpPr>
        <p:spPr>
          <a:xfrm>
            <a:off x="800099" y="4579447"/>
            <a:ext cx="4235540" cy="459272"/>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主讲教师：韦平</a:t>
            </a:r>
            <a:endParaRPr lang="en-US" altLang="zh-CN" b="1" dirty="0">
              <a:solidFill>
                <a:schemeClr val="tx1"/>
              </a:solidFill>
              <a:cs typeface="+mn-ea"/>
              <a:sym typeface="+mn-lt"/>
            </a:endParaRPr>
          </a:p>
        </p:txBody>
      </p:sp>
      <p:sp>
        <p:nvSpPr>
          <p:cNvPr id="6" name="矩形 5"/>
          <p:cNvSpPr/>
          <p:nvPr/>
        </p:nvSpPr>
        <p:spPr>
          <a:xfrm>
            <a:off x="933450" y="5034280"/>
            <a:ext cx="6122035" cy="1918335"/>
          </a:xfrm>
          <a:prstGeom prst="rect">
            <a:avLst/>
          </a:prstGeom>
        </p:spPr>
        <p:txBody>
          <a:bodyPr wrap="square">
            <a:spAutoFit/>
          </a:bodyPr>
          <a:lstStyle/>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学院：软件学院</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邮箱：</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weip@ynu.edu.cn</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办公地点：软件学院</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1323</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r>
              <a:rPr lang="zh-CN" altLang="en-US" dirty="0">
                <a:solidFill>
                  <a:srgbClr val="0000FF"/>
                </a:solidFill>
                <a:latin typeface="Times New Roman" panose="02020603050405020304" charset="0"/>
                <a:ea typeface="微软雅黑" panose="020B0503020204020204" charset="-122"/>
                <a:cs typeface="+mn-ea"/>
                <a:sym typeface="Times New Roman" panose="02020603050405020304" charset="0"/>
              </a:rPr>
              <a:t>办公电话：</a:t>
            </a:r>
            <a:r>
              <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rPr>
              <a:t>15121079110</a:t>
            </a: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a:p>
            <a:pPr algn="l">
              <a:lnSpc>
                <a:spcPct val="132000"/>
              </a:lnSpc>
            </a:pPr>
            <a:endParaRPr lang="en-US" altLang="zh-CN" dirty="0">
              <a:solidFill>
                <a:srgbClr val="0000FF"/>
              </a:solidFill>
              <a:latin typeface="Times New Roman" panose="02020603050405020304" charset="0"/>
              <a:ea typeface="微软雅黑" panose="020B0503020204020204" charset="-122"/>
              <a:cs typeface="+mn-ea"/>
              <a:sym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2539478" cy="523220"/>
          </a:xfrm>
          <a:prstGeom prst="rect">
            <a:avLst/>
          </a:prstGeom>
        </p:spPr>
        <p:txBody>
          <a:bodyPr wrap="none">
            <a:spAutoFit/>
          </a:bodyPr>
          <a:lstStyle/>
          <a:p>
            <a:r>
              <a:rPr lang="zh-CN" altLang="en-US" sz="2800" b="1" dirty="0">
                <a:solidFill>
                  <a:schemeClr val="bg1"/>
                </a:solidFill>
                <a:cs typeface="+mn-ea"/>
                <a:sym typeface="+mn-lt"/>
              </a:rPr>
              <a:t>第</a:t>
            </a:r>
            <a:r>
              <a:rPr lang="en-US" altLang="zh-CN" sz="2800" b="1" dirty="0">
                <a:solidFill>
                  <a:schemeClr val="bg1"/>
                </a:solidFill>
                <a:cs typeface="+mn-ea"/>
                <a:sym typeface="+mn-lt"/>
              </a:rPr>
              <a:t>6</a:t>
            </a:r>
            <a:r>
              <a:rPr lang="zh-CN" altLang="en-US" sz="2800" b="1" dirty="0">
                <a:solidFill>
                  <a:schemeClr val="bg1"/>
                </a:solidFill>
                <a:cs typeface="+mn-ea"/>
                <a:sym typeface="+mn-lt"/>
              </a:rPr>
              <a:t>章知识导图</a:t>
            </a:r>
            <a:endParaRPr lang="zh-CN" altLang="en-US" sz="2800" b="1" dirty="0">
              <a:solidFill>
                <a:schemeClr val="bg1"/>
              </a:solidFill>
              <a:cs typeface="+mn-ea"/>
              <a:sym typeface="+mn-lt"/>
            </a:endParaRPr>
          </a:p>
        </p:txBody>
      </p:sp>
      <p:graphicFrame>
        <p:nvGraphicFramePr>
          <p:cNvPr id="30" name="表格 29"/>
          <p:cNvGraphicFramePr/>
          <p:nvPr>
            <p:custDataLst>
              <p:tags r:id="rId1"/>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mn-lt"/>
                          <a:ea typeface="+mn-ea"/>
                          <a:cs typeface="+mn-ea"/>
                          <a:sym typeface="+mn-lt"/>
                        </a:rPr>
                        <a:t>第1章</a:t>
                      </a:r>
                      <a:endParaRPr lang="en-US" altLang="en-US" sz="2000" b="0" dirty="0">
                        <a:solidFill>
                          <a:schemeClr val="tx1"/>
                        </a:solidFill>
                        <a:latin typeface="+mn-lt"/>
                        <a:ea typeface="+mn-ea"/>
                        <a:cs typeface="+mn-ea"/>
                        <a:sym typeface="+mn-lt"/>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mn-lt"/>
                          <a:ea typeface="+mn-ea"/>
                          <a:cs typeface="+mn-ea"/>
                          <a:sym typeface="+mn-lt"/>
                        </a:rPr>
                        <a:t>操作系统引论</a:t>
                      </a:r>
                      <a:endParaRPr lang="en-US" altLang="en-US" sz="2000" b="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进程的描述与控制</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第3章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处理机调度与死锁</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第4章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进程同步</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第5章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mn-lt"/>
                          <a:ea typeface="+mn-ea"/>
                          <a:cs typeface="+mn-ea"/>
                          <a:sym typeface="+mn-lt"/>
                        </a:rPr>
                        <a:t>第6章</a:t>
                      </a:r>
                      <a:endParaRPr lang="en-US" altLang="en-US" sz="2000" b="1" dirty="0">
                        <a:solidFill>
                          <a:schemeClr val="bg1"/>
                        </a:solidFill>
                        <a:latin typeface="+mn-lt"/>
                        <a:ea typeface="+mn-ea"/>
                        <a:cs typeface="+mn-ea"/>
                        <a:sym typeface="+mn-lt"/>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mn-lt"/>
                          <a:ea typeface="+mn-ea"/>
                          <a:cs typeface="+mn-ea"/>
                          <a:sym typeface="+mn-lt"/>
                        </a:rPr>
                        <a:t>虚拟存储器</a:t>
                      </a:r>
                      <a:endParaRPr lang="en-US" altLang="en-US" sz="2000" b="1" dirty="0">
                        <a:solidFill>
                          <a:schemeClr val="bg1"/>
                        </a:solidFill>
                        <a:latin typeface="+mn-lt"/>
                        <a:ea typeface="+mn-ea"/>
                        <a:cs typeface="+mn-ea"/>
                        <a:sym typeface="+mn-lt"/>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第7章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输入</a:t>
                      </a:r>
                      <a:r>
                        <a:rPr lang="en-US" sz="2000" dirty="0">
                          <a:latin typeface="+mn-lt"/>
                          <a:ea typeface="+mn-ea"/>
                          <a:cs typeface="+mn-ea"/>
                          <a:sym typeface="+mn-lt"/>
                        </a:rPr>
                        <a:t>/</a:t>
                      </a:r>
                      <a:r>
                        <a:rPr lang="en-US" sz="2000" dirty="0" err="1">
                          <a:latin typeface="+mn-lt"/>
                          <a:ea typeface="+mn-ea"/>
                          <a:cs typeface="+mn-ea"/>
                          <a:sym typeface="+mn-lt"/>
                        </a:rPr>
                        <a:t>输出系统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第8章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文件管理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第9章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磁盘存储器管理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第10章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多处理机操作系统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第11章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虚拟化和云计算</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保护和安全</a:t>
                      </a:r>
                      <a:endParaRPr lang="en-US" altLang="en-US" sz="2000" b="0" dirty="0">
                        <a:solidFill>
                          <a:srgbClr val="000000"/>
                        </a:solidFill>
                        <a:latin typeface="+mn-lt"/>
                        <a:ea typeface="+mn-ea"/>
                        <a:cs typeface="+mn-ea"/>
                        <a:sym typeface="+mn-lt"/>
                      </a:endParaRPr>
                    </a:p>
                  </a:txBody>
                  <a:tcPr marL="98738" marR="98738" marT="0" marB="0" anchor="ctr"/>
                </a:tc>
              </a:tr>
            </a:tbl>
          </a:graphicData>
        </a:graphic>
      </p:graphicFrame>
      <p:sp>
        <p:nvSpPr>
          <p:cNvPr id="8" name="任意多边形: 形状 7"/>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2" name="图片 1" descr="第6章 知识导图"/>
          <p:cNvPicPr>
            <a:picLocks noChangeAspect="1"/>
          </p:cNvPicPr>
          <p:nvPr/>
        </p:nvPicPr>
        <p:blipFill>
          <a:blip r:embed="rId3"/>
          <a:stretch>
            <a:fillRect/>
          </a:stretch>
        </p:blipFill>
        <p:spPr>
          <a:xfrm>
            <a:off x="4688205" y="1718310"/>
            <a:ext cx="7465695" cy="45046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b="1" dirty="0">
                <a:solidFill>
                  <a:srgbClr val="0000FF"/>
                </a:solidFill>
                <a:cs typeface="+mn-ea"/>
                <a:sym typeface="+mn-lt"/>
              </a:rPr>
              <a:t>6.1 </a:t>
            </a:r>
            <a:r>
              <a:rPr lang="zh-CN" altLang="en-US" sz="2400" b="1" dirty="0">
                <a:solidFill>
                  <a:srgbClr val="0000FF"/>
                </a:solidFill>
                <a:cs typeface="+mn-ea"/>
                <a:sym typeface="+mn-lt"/>
              </a:rPr>
              <a:t>虚拟存储器概述</a:t>
            </a:r>
            <a:endParaRPr lang="zh-CN" altLang="en-US" sz="2400" b="1" dirty="0">
              <a:solidFill>
                <a:srgbClr val="0000FF"/>
              </a:solidFill>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cs typeface="+mn-ea"/>
                <a:sym typeface="+mn-lt"/>
              </a:rPr>
              <a:t>6.5 </a:t>
            </a:r>
            <a:r>
              <a:rPr lang="zh-CN" altLang="en-US" sz="2400" dirty="0">
                <a:cs typeface="+mn-ea"/>
                <a:sym typeface="+mn-lt"/>
              </a:rPr>
              <a:t>请求分段存储管理方式</a:t>
            </a:r>
            <a:endParaRPr lang="zh-CN" altLang="en-US" sz="2400" dirty="0">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cs typeface="+mn-ea"/>
                <a:sym typeface="+mn-lt"/>
              </a:rPr>
              <a:t>6.6 </a:t>
            </a:r>
            <a:r>
              <a:rPr lang="zh-CN" altLang="en-US" sz="2400" dirty="0">
                <a:cs typeface="+mn-ea"/>
                <a:sym typeface="+mn-lt"/>
              </a:rPr>
              <a:t>虚拟存储器实现实例</a:t>
            </a:r>
            <a:endParaRPr lang="zh-CN" altLang="en-US" sz="2400" dirty="0">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6.1 </a:t>
            </a:r>
            <a:r>
              <a:rPr lang="zh-CN" altLang="en-US" sz="2800" b="1" dirty="0">
                <a:solidFill>
                  <a:schemeClr val="bg1"/>
                </a:solidFill>
                <a:cs typeface="+mn-ea"/>
                <a:sym typeface="+mn-lt"/>
              </a:rPr>
              <a:t>虚拟存储器概述</a:t>
            </a:r>
            <a:endParaRPr lang="zh-CN" altLang="en-US" sz="2800" b="1" dirty="0">
              <a:solidFill>
                <a:schemeClr val="bg1"/>
              </a:solidFill>
              <a:cs typeface="+mn-ea"/>
              <a:sym typeface="+mn-lt"/>
            </a:endParaRPr>
          </a:p>
        </p:txBody>
      </p:sp>
      <p:sp>
        <p:nvSpPr>
          <p:cNvPr id="4" name="文本框 3"/>
          <p:cNvSpPr txBox="1"/>
          <p:nvPr/>
        </p:nvSpPr>
        <p:spPr>
          <a:xfrm>
            <a:off x="881658" y="1327589"/>
            <a:ext cx="10688301" cy="960584"/>
          </a:xfrm>
          <a:prstGeom prst="rect">
            <a:avLst/>
          </a:prstGeom>
          <a:noFill/>
        </p:spPr>
        <p:txBody>
          <a:bodyPr wrap="square" rtlCol="0">
            <a:spAutoFit/>
          </a:bodyPr>
          <a:lstStyle/>
          <a:p>
            <a:pPr indent="457200" algn="just">
              <a:lnSpc>
                <a:spcPct val="123000"/>
              </a:lnSpc>
              <a:spcAft>
                <a:spcPts val="600"/>
              </a:spcAft>
            </a:pPr>
            <a:r>
              <a:rPr lang="zh-CN" altLang="en-US" sz="2400" dirty="0">
                <a:cs typeface="+mn-ea"/>
                <a:sym typeface="+mn-lt"/>
              </a:rPr>
              <a:t>前面所介绍的各种存储器管理方式，有一个</a:t>
            </a:r>
            <a:r>
              <a:rPr lang="zh-CN" altLang="en-US" sz="2400" dirty="0">
                <a:solidFill>
                  <a:srgbClr val="0000FF"/>
                </a:solidFill>
                <a:cs typeface="+mn-ea"/>
                <a:sym typeface="+mn-lt"/>
              </a:rPr>
              <a:t>共同特点</a:t>
            </a:r>
            <a:r>
              <a:rPr lang="zh-CN" altLang="en-US" sz="2400" dirty="0">
                <a:cs typeface="+mn-ea"/>
                <a:sym typeface="+mn-lt"/>
              </a:rPr>
              <a:t>：</a:t>
            </a:r>
            <a:r>
              <a:rPr lang="zh-CN" altLang="en-US" sz="2400" u="sng" dirty="0">
                <a:solidFill>
                  <a:srgbClr val="FF0000"/>
                </a:solidFill>
                <a:cs typeface="+mn-ea"/>
                <a:sym typeface="+mn-lt"/>
              </a:rPr>
              <a:t>作业全部装入内存后方能运行。</a:t>
            </a:r>
            <a:endParaRPr lang="zh-CN" altLang="en-US" sz="2400" u="sng" dirty="0">
              <a:solidFill>
                <a:srgbClr val="FF0000"/>
              </a:solidFill>
              <a:cs typeface="+mn-ea"/>
              <a:sym typeface="+mn-lt"/>
            </a:endParaRPr>
          </a:p>
        </p:txBody>
      </p:sp>
      <p:sp>
        <p:nvSpPr>
          <p:cNvPr id="9" name="文本框 8"/>
          <p:cNvSpPr txBox="1"/>
          <p:nvPr/>
        </p:nvSpPr>
        <p:spPr>
          <a:xfrm>
            <a:off x="2020254" y="2488135"/>
            <a:ext cx="6909141" cy="3556551"/>
          </a:xfrm>
          <a:prstGeom prst="rect">
            <a:avLst/>
          </a:prstGeom>
          <a:noFill/>
        </p:spPr>
        <p:txBody>
          <a:bodyPr wrap="square" rtlCol="0">
            <a:spAutoFit/>
          </a:bodyPr>
          <a:lstStyle/>
          <a:p>
            <a:pPr algn="just">
              <a:lnSpc>
                <a:spcPct val="150000"/>
              </a:lnSpc>
              <a:spcAft>
                <a:spcPts val="600"/>
              </a:spcAft>
            </a:pPr>
            <a:r>
              <a:rPr lang="zh-CN" altLang="en-US" sz="2400" dirty="0">
                <a:cs typeface="+mn-ea"/>
                <a:sym typeface="+mn-lt"/>
              </a:rPr>
              <a:t>问题：</a:t>
            </a:r>
            <a:endParaRPr lang="zh-CN" altLang="en-US" sz="24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大作业装不下</a:t>
            </a:r>
            <a:endParaRPr lang="zh-CN" altLang="en-US" sz="22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少量作业得以运行</a:t>
            </a:r>
            <a:endParaRPr lang="zh-CN" altLang="en-US" sz="2200" dirty="0">
              <a:cs typeface="+mn-ea"/>
              <a:sym typeface="+mn-lt"/>
            </a:endParaRPr>
          </a:p>
          <a:p>
            <a:pPr algn="just">
              <a:lnSpc>
                <a:spcPct val="150000"/>
              </a:lnSpc>
              <a:spcAft>
                <a:spcPts val="600"/>
              </a:spcAft>
            </a:pPr>
            <a:r>
              <a:rPr lang="zh-CN" altLang="en-US" sz="2400" dirty="0">
                <a:cs typeface="+mn-ea"/>
                <a:sym typeface="+mn-lt"/>
              </a:rPr>
              <a:t>解决办法：</a:t>
            </a:r>
            <a:endParaRPr lang="zh-CN" altLang="en-US" sz="24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扩充内存</a:t>
            </a:r>
            <a:endParaRPr lang="zh-CN" altLang="en-US" sz="2200" dirty="0">
              <a:cs typeface="+mn-ea"/>
              <a:sym typeface="+mn-lt"/>
            </a:endParaRPr>
          </a:p>
          <a:p>
            <a:pPr marL="342900" indent="-342900" algn="just">
              <a:lnSpc>
                <a:spcPct val="150000"/>
              </a:lnSpc>
              <a:spcAft>
                <a:spcPts val="600"/>
              </a:spcAft>
              <a:buClr>
                <a:srgbClr val="0000FF"/>
              </a:buClr>
              <a:buFont typeface="Wingdings" panose="05000000000000000000" pitchFamily="2" charset="2"/>
              <a:buChar char="Ø"/>
            </a:pPr>
            <a:r>
              <a:rPr lang="zh-CN" altLang="en-US" sz="2200" dirty="0">
                <a:cs typeface="+mn-ea"/>
                <a:sym typeface="+mn-lt"/>
              </a:rPr>
              <a:t>逻辑上扩充内存容量（虚拟存储器）</a:t>
            </a:r>
            <a:endParaRPr lang="zh-CN" altLang="en-US" sz="2200" dirty="0">
              <a:cs typeface="+mn-ea"/>
              <a:sym typeface="+mn-lt"/>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82028" y="2600245"/>
            <a:ext cx="527050" cy="527050"/>
          </a:xfrm>
          <a:prstGeom prst="rect">
            <a:avLst/>
          </a:prstGeom>
          <a:ln>
            <a:noFill/>
          </a:ln>
          <a:effectLst>
            <a:softEdge rad="0"/>
          </a:effectLst>
        </p:spPr>
      </p:pic>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382028" y="4359654"/>
            <a:ext cx="527050" cy="527050"/>
          </a:xfrm>
          <a:prstGeom prst="rect">
            <a:avLst/>
          </a:prstGeom>
          <a:ln>
            <a:noFill/>
          </a:ln>
          <a:effectLst>
            <a:softEdge rad="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常规存储器管理方式的特征</a:t>
            </a:r>
            <a:endParaRPr lang="zh-CN" altLang="en-US" sz="2800" b="1" dirty="0">
              <a:solidFill>
                <a:schemeClr val="bg1"/>
              </a:solidFill>
              <a:cs typeface="+mn-ea"/>
              <a:sym typeface="+mn-lt"/>
            </a:endParaRPr>
          </a:p>
        </p:txBody>
      </p:sp>
      <p:sp>
        <p:nvSpPr>
          <p:cNvPr id="1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cs typeface="+mn-ea"/>
              <a:sym typeface="+mn-lt"/>
            </a:endParaRPr>
          </a:p>
        </p:txBody>
      </p:sp>
      <p:sp>
        <p:nvSpPr>
          <p:cNvPr id="1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cs typeface="+mn-ea"/>
              <a:sym typeface="+mn-lt"/>
            </a:endParaRPr>
          </a:p>
        </p:txBody>
      </p:sp>
      <p:sp>
        <p:nvSpPr>
          <p:cNvPr id="18" name="îṧľîdé"/>
          <p:cNvSpPr/>
          <p:nvPr/>
        </p:nvSpPr>
        <p:spPr>
          <a:xfrm>
            <a:off x="3703687" y="1765549"/>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30" name="内容占位符 2"/>
          <p:cNvSpPr txBox="1"/>
          <p:nvPr/>
        </p:nvSpPr>
        <p:spPr>
          <a:xfrm>
            <a:off x="894703" y="2556677"/>
            <a:ext cx="2808984" cy="17300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FF0000"/>
                </a:solidFill>
                <a:cs typeface="+mn-ea"/>
                <a:sym typeface="+mn-lt"/>
              </a:rPr>
              <a:t>一次性：</a:t>
            </a:r>
            <a:r>
              <a:rPr lang="zh-CN" altLang="en-US" sz="2400" dirty="0">
                <a:solidFill>
                  <a:schemeClr val="tx1">
                    <a:lumMod val="65000"/>
                    <a:lumOff val="35000"/>
                  </a:schemeClr>
                </a:solidFill>
                <a:cs typeface="+mn-ea"/>
                <a:sym typeface="+mn-lt"/>
              </a:rPr>
              <a:t>作业被一次性全部装入内存</a:t>
            </a:r>
            <a:endParaRPr lang="zh-CN" altLang="en-US" sz="2400" dirty="0">
              <a:solidFill>
                <a:schemeClr val="tx1">
                  <a:lumMod val="65000"/>
                  <a:lumOff val="35000"/>
                </a:schemeClr>
              </a:solidFill>
              <a:cs typeface="+mn-ea"/>
              <a:sym typeface="+mn-lt"/>
            </a:endParaRPr>
          </a:p>
        </p:txBody>
      </p:sp>
      <p:sp>
        <p:nvSpPr>
          <p:cNvPr id="33" name="内容占位符 2"/>
          <p:cNvSpPr txBox="1"/>
          <p:nvPr/>
        </p:nvSpPr>
        <p:spPr>
          <a:xfrm>
            <a:off x="7696200" y="3235046"/>
            <a:ext cx="3808445" cy="105167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zh-CN" altLang="en-US" sz="2400" dirty="0">
                <a:solidFill>
                  <a:srgbClr val="0000FF"/>
                </a:solidFill>
                <a:cs typeface="+mn-ea"/>
                <a:sym typeface="+mn-lt"/>
              </a:rPr>
              <a:t>驻留性：</a:t>
            </a:r>
            <a:r>
              <a:rPr lang="zh-CN" altLang="en-US" sz="2400" dirty="0">
                <a:cs typeface="+mn-ea"/>
                <a:sym typeface="+mn-lt"/>
              </a:rPr>
              <a:t>作业一直驻留在内存</a:t>
            </a:r>
            <a:endParaRPr lang="zh-CN" altLang="en-US" sz="2400" dirty="0">
              <a:cs typeface="+mn-ea"/>
              <a:sym typeface="+mn-lt"/>
            </a:endParaRPr>
          </a:p>
        </p:txBody>
      </p:sp>
      <p:sp>
        <p:nvSpPr>
          <p:cNvPr id="8" name="文本框 7"/>
          <p:cNvSpPr txBox="1"/>
          <p:nvPr/>
        </p:nvSpPr>
        <p:spPr>
          <a:xfrm>
            <a:off x="751849" y="4795628"/>
            <a:ext cx="10688301" cy="960584"/>
          </a:xfrm>
          <a:prstGeom prst="rect">
            <a:avLst/>
          </a:prstGeom>
          <a:noFill/>
        </p:spPr>
        <p:txBody>
          <a:bodyPr wrap="square" rtlCol="0">
            <a:spAutoFit/>
          </a:bodyPr>
          <a:lstStyle/>
          <a:p>
            <a:pPr indent="457200" algn="just">
              <a:lnSpc>
                <a:spcPct val="123000"/>
              </a:lnSpc>
              <a:spcAft>
                <a:spcPts val="600"/>
              </a:spcAft>
            </a:pPr>
            <a:r>
              <a:rPr lang="zh-CN" altLang="en-US" sz="2400" dirty="0">
                <a:cs typeface="+mn-ea"/>
                <a:sym typeface="+mn-lt"/>
              </a:rPr>
              <a:t>一次性和驻留性使许多在程序运行中不用或暂不用的程序（数据）占据了大量的内存空间，使得一些需要运行的作业无法装入运行。</a:t>
            </a:r>
            <a:endParaRPr lang="zh-CN" altLang="en-US" sz="2400" dirty="0">
              <a:cs typeface="+mn-ea"/>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微机操作系统的发展</a:t>
            </a:r>
            <a:endParaRPr lang="zh-CN" altLang="en-US" sz="2800" b="1" dirty="0">
              <a:solidFill>
                <a:schemeClr val="bg1"/>
              </a:solidFill>
              <a:cs typeface="+mn-ea"/>
              <a:sym typeface="+mn-lt"/>
            </a:endParaRPr>
          </a:p>
        </p:txBody>
      </p:sp>
      <p:sp>
        <p:nvSpPr>
          <p:cNvPr id="220" name="íšḻîḋè"/>
          <p:cNvSpPr/>
          <p:nvPr/>
        </p:nvSpPr>
        <p:spPr>
          <a:xfrm>
            <a:off x="1802481" y="5060965"/>
            <a:ext cx="9907436" cy="1209539"/>
          </a:xfrm>
          <a:prstGeom prst="rect">
            <a:avLst/>
          </a:prstGeom>
          <a:noFill/>
          <a:ln>
            <a:noFill/>
          </a:ln>
        </p:spPr>
        <p:txBody>
          <a:bodyPr wrap="square" lIns="91440" tIns="45720" rIns="91440" bIns="45720" anchor="t" anchorCtr="0">
            <a:normAutofit fontScale="85000" lnSpcReduction="20000"/>
          </a:bodyPr>
          <a:lstStyle/>
          <a:p>
            <a:pPr marL="342900" indent="-342900">
              <a:lnSpc>
                <a:spcPct val="133000"/>
              </a:lnSpc>
              <a:spcBef>
                <a:spcPts val="600"/>
              </a:spcBef>
              <a:buClr>
                <a:srgbClr val="FF0000"/>
              </a:buClr>
              <a:buFont typeface="Wingdings" panose="05000000000000000000" pitchFamily="2" charset="2"/>
              <a:buChar char="Ø"/>
            </a:pPr>
            <a:r>
              <a:rPr lang="zh-CN" altLang="en-US" sz="2400" dirty="0">
                <a:cs typeface="+mn-ea"/>
                <a:sym typeface="+mn-lt"/>
              </a:rPr>
              <a:t>时间局部性：一条指令被执行了，则在不久的将来它可能再被执行。</a:t>
            </a:r>
            <a:endParaRPr lang="zh-CN" altLang="en-US" sz="2400" dirty="0">
              <a:cs typeface="+mn-ea"/>
              <a:sym typeface="+mn-lt"/>
            </a:endParaRPr>
          </a:p>
          <a:p>
            <a:pPr marL="342900" indent="-342900">
              <a:lnSpc>
                <a:spcPct val="133000"/>
              </a:lnSpc>
              <a:spcBef>
                <a:spcPts val="600"/>
              </a:spcBef>
              <a:buClr>
                <a:srgbClr val="FF0000"/>
              </a:buClr>
              <a:buFont typeface="Wingdings" panose="05000000000000000000" pitchFamily="2" charset="2"/>
              <a:buChar char="Ø"/>
            </a:pPr>
            <a:r>
              <a:rPr lang="zh-CN" altLang="en-US" sz="2400" dirty="0">
                <a:cs typeface="+mn-ea"/>
                <a:sym typeface="+mn-lt"/>
              </a:rPr>
              <a:t>空间局部性：若某一存储单元被使用，则在一定时间内，与该存储单元相邻的单元可能被使用。</a:t>
            </a:r>
            <a:endParaRPr lang="zh-CN" altLang="en-US" sz="2400" dirty="0">
              <a:cs typeface="+mn-ea"/>
              <a:sym typeface="+mn-lt"/>
            </a:endParaRPr>
          </a:p>
        </p:txBody>
      </p:sp>
      <p:sp>
        <p:nvSpPr>
          <p:cNvPr id="221" name="i$lîďê"/>
          <p:cNvSpPr/>
          <p:nvPr/>
        </p:nvSpPr>
        <p:spPr>
          <a:xfrm>
            <a:off x="1802481" y="4620517"/>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表现：</a:t>
            </a:r>
            <a:endParaRPr lang="zh-CN" altLang="en-US" sz="2400" dirty="0">
              <a:cs typeface="+mn-ea"/>
              <a:sym typeface="+mn-lt"/>
            </a:endParaRPr>
          </a:p>
        </p:txBody>
      </p:sp>
      <p:sp>
        <p:nvSpPr>
          <p:cNvPr id="224" name="îs1iďé"/>
          <p:cNvSpPr/>
          <p:nvPr/>
        </p:nvSpPr>
        <p:spPr>
          <a:xfrm>
            <a:off x="1802481" y="1807835"/>
            <a:ext cx="9599527" cy="3146719"/>
          </a:xfrm>
          <a:prstGeom prst="rect">
            <a:avLst/>
          </a:prstGeom>
          <a:noFill/>
          <a:ln>
            <a:noFill/>
          </a:ln>
        </p:spPr>
        <p:txBody>
          <a:bodyPr wrap="square" lIns="91440" tIns="45720" rIns="91440" bIns="45720" anchor="t" anchorCtr="0">
            <a:noAutofit/>
          </a:bodyPr>
          <a:lstStyle/>
          <a:p>
            <a:pPr marL="342900" indent="-342900">
              <a:lnSpc>
                <a:spcPct val="123000"/>
              </a:lnSpc>
              <a:spcBef>
                <a:spcPts val="600"/>
              </a:spcBef>
              <a:buClr>
                <a:srgbClr val="FF0000"/>
              </a:buClr>
              <a:buFont typeface="Wingdings" panose="05000000000000000000" pitchFamily="2" charset="2"/>
              <a:buChar char="Ø"/>
            </a:pPr>
            <a:r>
              <a:rPr lang="zh-CN" altLang="en-US" sz="2000" dirty="0">
                <a:cs typeface="+mn-ea"/>
                <a:sym typeface="+mn-lt"/>
              </a:rPr>
              <a:t>程序执行时，除了少部分的转移和过程调用外，在大多数情况下仍然是顺序执行的。</a:t>
            </a:r>
            <a:endParaRPr lang="zh-CN" altLang="en-US" sz="2000" dirty="0">
              <a:cs typeface="+mn-ea"/>
              <a:sym typeface="+mn-lt"/>
            </a:endParaRPr>
          </a:p>
          <a:p>
            <a:pPr marL="342900" indent="-342900">
              <a:lnSpc>
                <a:spcPct val="123000"/>
              </a:lnSpc>
              <a:spcBef>
                <a:spcPts val="600"/>
              </a:spcBef>
              <a:buClr>
                <a:srgbClr val="FF0000"/>
              </a:buClr>
              <a:buFont typeface="Wingdings" panose="05000000000000000000" pitchFamily="2" charset="2"/>
              <a:buChar char="Ø"/>
            </a:pPr>
            <a:r>
              <a:rPr lang="zh-CN" altLang="en-US" sz="2000" dirty="0">
                <a:cs typeface="+mn-ea"/>
                <a:sym typeface="+mn-lt"/>
              </a:rPr>
              <a:t>过程调用将会使程序的执行轨迹由一部分区域转至另一部分区域，过程调用的深度一般小于</a:t>
            </a:r>
            <a:r>
              <a:rPr lang="en-US" altLang="zh-CN" sz="2000" dirty="0">
                <a:cs typeface="+mn-ea"/>
                <a:sym typeface="+mn-lt"/>
              </a:rPr>
              <a:t>5</a:t>
            </a:r>
            <a:r>
              <a:rPr lang="zh-CN" altLang="en-US" sz="2000" dirty="0">
                <a:cs typeface="+mn-ea"/>
                <a:sym typeface="+mn-lt"/>
              </a:rPr>
              <a:t>。程序将会在一段时间内都局限在这些过程的范围内运行。</a:t>
            </a:r>
            <a:endParaRPr lang="zh-CN" altLang="en-US" sz="2000" dirty="0">
              <a:cs typeface="+mn-ea"/>
              <a:sym typeface="+mn-lt"/>
            </a:endParaRPr>
          </a:p>
          <a:p>
            <a:pPr marL="342900" indent="-342900">
              <a:lnSpc>
                <a:spcPct val="123000"/>
              </a:lnSpc>
              <a:spcBef>
                <a:spcPts val="600"/>
              </a:spcBef>
              <a:buClr>
                <a:srgbClr val="FF0000"/>
              </a:buClr>
              <a:buFont typeface="Wingdings" panose="05000000000000000000" pitchFamily="2" charset="2"/>
              <a:buChar char="Ø"/>
            </a:pPr>
            <a:r>
              <a:rPr lang="zh-CN" altLang="en-US" sz="2000" dirty="0">
                <a:cs typeface="+mn-ea"/>
                <a:sym typeface="+mn-lt"/>
              </a:rPr>
              <a:t>程序中存在许多循环结构，多次执行。</a:t>
            </a:r>
            <a:endParaRPr lang="zh-CN" altLang="en-US" sz="2000" dirty="0">
              <a:cs typeface="+mn-ea"/>
              <a:sym typeface="+mn-lt"/>
            </a:endParaRPr>
          </a:p>
          <a:p>
            <a:pPr marL="342900" indent="-342900">
              <a:lnSpc>
                <a:spcPct val="123000"/>
              </a:lnSpc>
              <a:spcBef>
                <a:spcPts val="600"/>
              </a:spcBef>
              <a:buClr>
                <a:srgbClr val="FF0000"/>
              </a:buClr>
              <a:buFont typeface="Wingdings" panose="05000000000000000000" pitchFamily="2" charset="2"/>
              <a:buChar char="Ø"/>
            </a:pPr>
            <a:r>
              <a:rPr lang="zh-CN" altLang="en-US" sz="2000" dirty="0">
                <a:cs typeface="+mn-ea"/>
                <a:sym typeface="+mn-lt"/>
              </a:rPr>
              <a:t>对数据结构的处理局限于很小的范围。</a:t>
            </a:r>
            <a:endParaRPr lang="zh-CN" altLang="en-US" sz="2000" dirty="0">
              <a:cs typeface="+mn-ea"/>
              <a:sym typeface="+mn-lt"/>
            </a:endParaRPr>
          </a:p>
        </p:txBody>
      </p:sp>
      <p:sp>
        <p:nvSpPr>
          <p:cNvPr id="225" name="íšḻíḑê"/>
          <p:cNvSpPr/>
          <p:nvPr/>
        </p:nvSpPr>
        <p:spPr>
          <a:xfrm>
            <a:off x="1802482" y="1391289"/>
            <a:ext cx="3696051" cy="405747"/>
          </a:xfrm>
          <a:prstGeom prst="rect">
            <a:avLst/>
          </a:prstGeom>
          <a:noFill/>
          <a:ln>
            <a:noFill/>
          </a:ln>
        </p:spPr>
        <p:txBody>
          <a:bodyPr wrap="square" lIns="91440" tIns="45720" rIns="91440" bIns="45720" anchor="ctr" anchorCtr="0">
            <a:noAutofit/>
          </a:bodyPr>
          <a:lstStyle/>
          <a:p>
            <a:r>
              <a:rPr lang="en-US" altLang="zh-CN" sz="2400" dirty="0">
                <a:cs typeface="+mn-ea"/>
                <a:sym typeface="+mn-lt"/>
              </a:rPr>
              <a:t>1968</a:t>
            </a:r>
            <a:r>
              <a:rPr lang="zh-CN" altLang="en-US" sz="2400" dirty="0">
                <a:cs typeface="+mn-ea"/>
                <a:sym typeface="+mn-lt"/>
              </a:rPr>
              <a:t>年，</a:t>
            </a:r>
            <a:r>
              <a:rPr lang="en-US" altLang="zh-CN" sz="2400" dirty="0">
                <a:cs typeface="+mn-ea"/>
                <a:sym typeface="+mn-lt"/>
              </a:rPr>
              <a:t>P. denning </a:t>
            </a:r>
            <a:r>
              <a:rPr lang="zh-CN" altLang="en-US" sz="2400" dirty="0">
                <a:cs typeface="+mn-ea"/>
                <a:sym typeface="+mn-lt"/>
              </a:rPr>
              <a:t>提出：</a:t>
            </a:r>
            <a:endParaRPr lang="zh-CN" altLang="en-US" sz="2400" dirty="0">
              <a:cs typeface="+mn-ea"/>
              <a:sym typeface="+mn-lt"/>
            </a:endParaRPr>
          </a:p>
        </p:txBody>
      </p:sp>
      <p:sp>
        <p:nvSpPr>
          <p:cNvPr id="226" name="îSļiḓè"/>
          <p:cNvSpPr/>
          <p:nvPr/>
        </p:nvSpPr>
        <p:spPr>
          <a:xfrm>
            <a:off x="1118979" y="1377727"/>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8" name="îşļiḓè"/>
          <p:cNvSpPr/>
          <p:nvPr/>
        </p:nvSpPr>
        <p:spPr>
          <a:xfrm>
            <a:off x="1118979" y="4610144"/>
            <a:ext cx="627867" cy="627867"/>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9" name="îṡḷíďe"/>
          <p:cNvSpPr/>
          <p:nvPr/>
        </p:nvSpPr>
        <p:spPr>
          <a:xfrm>
            <a:off x="1309234" y="157386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0" name="íSlíḋe"/>
          <p:cNvSpPr/>
          <p:nvPr/>
        </p:nvSpPr>
        <p:spPr>
          <a:xfrm>
            <a:off x="1309233" y="4832161"/>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虚拟存储器定义</a:t>
            </a:r>
            <a:endParaRPr lang="zh-CN" altLang="en-US" sz="2800" b="1" dirty="0">
              <a:solidFill>
                <a:schemeClr val="bg1"/>
              </a:solidFill>
              <a:cs typeface="+mn-ea"/>
              <a:sym typeface="+mn-lt"/>
            </a:endParaRPr>
          </a:p>
        </p:txBody>
      </p:sp>
      <p:sp>
        <p:nvSpPr>
          <p:cNvPr id="40" name="ïşľîďè"/>
          <p:cNvSpPr/>
          <p:nvPr/>
        </p:nvSpPr>
        <p:spPr>
          <a:xfrm>
            <a:off x="-39370" y="1134110"/>
            <a:ext cx="3920490" cy="4705985"/>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cs typeface="+mn-ea"/>
              <a:sym typeface="+mn-lt"/>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cs typeface="+mn-ea"/>
              <a:sym typeface="+mn-lt"/>
            </a:endParaRPr>
          </a:p>
        </p:txBody>
      </p:sp>
      <p:grpSp>
        <p:nvGrpSpPr>
          <p:cNvPr id="42" name="í$1iďè"/>
          <p:cNvGrpSpPr/>
          <p:nvPr/>
        </p:nvGrpSpPr>
        <p:grpSpPr>
          <a:xfrm>
            <a:off x="3348471" y="1174124"/>
            <a:ext cx="8378931" cy="1648925"/>
            <a:chOff x="4136995" y="1170302"/>
            <a:chExt cx="8378931" cy="164892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44" name="ïSḻiḍé"/>
            <p:cNvSpPr txBox="1"/>
            <p:nvPr/>
          </p:nvSpPr>
          <p:spPr>
            <a:xfrm>
              <a:off x="4882718" y="1170302"/>
              <a:ext cx="7633208"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cs typeface="+mn-ea"/>
                  <a:sym typeface="+mn-lt"/>
                </a:rPr>
                <a:t>基于局部性原理，应用程序在运行之前，没有必要全部装入内存，仅须将那些当前要运行的部分页面或段先装入内存便可运行，其余部分暂留在盘上。</a:t>
              </a:r>
              <a:endParaRPr lang="zh-CN" altLang="en-US" sz="2400" dirty="0">
                <a:cs typeface="+mn-ea"/>
                <a:sym typeface="+mn-lt"/>
              </a:endParaRPr>
            </a:p>
          </p:txBody>
        </p:sp>
      </p:grpSp>
      <p:grpSp>
        <p:nvGrpSpPr>
          <p:cNvPr id="45" name="išḷîḓé"/>
          <p:cNvGrpSpPr/>
          <p:nvPr/>
        </p:nvGrpSpPr>
        <p:grpSpPr>
          <a:xfrm>
            <a:off x="3348471" y="3286056"/>
            <a:ext cx="8378932" cy="801176"/>
            <a:chOff x="4136995" y="3233565"/>
            <a:chExt cx="8378932" cy="801176"/>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47"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solidFill>
                    <a:srgbClr val="0000FF"/>
                  </a:solidFill>
                  <a:cs typeface="+mn-ea"/>
                  <a:sym typeface="+mn-lt"/>
                </a:rPr>
                <a:t>虚拟存储器：</a:t>
              </a:r>
              <a:r>
                <a:rPr lang="zh-CN" altLang="en-US" sz="2400" dirty="0">
                  <a:solidFill>
                    <a:srgbClr val="FF0000"/>
                  </a:solidFill>
                  <a:cs typeface="+mn-ea"/>
                  <a:sym typeface="+mn-lt"/>
                </a:rPr>
                <a:t>具有请求调入功能和置换功能，能从逻辑上对内存容量加以扩充的一种存储器系统。</a:t>
              </a:r>
              <a:endParaRPr lang="zh-CN" altLang="en-US" sz="2400" dirty="0">
                <a:solidFill>
                  <a:srgbClr val="FF0000"/>
                </a:solidFill>
                <a:cs typeface="+mn-ea"/>
                <a:sym typeface="+mn-lt"/>
              </a:endParaRPr>
            </a:p>
          </p:txBody>
        </p:sp>
      </p:grpSp>
      <p:grpSp>
        <p:nvGrpSpPr>
          <p:cNvPr id="48" name="ïSlíḍê"/>
          <p:cNvGrpSpPr/>
          <p:nvPr/>
        </p:nvGrpSpPr>
        <p:grpSpPr>
          <a:xfrm>
            <a:off x="3348471" y="43717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cs typeface="+mn-ea"/>
                  <a:sym typeface="+mn-lt"/>
                </a:rPr>
                <a:t>其逻辑容量由内存容量和外存容量之和所决定，其运行速度接近于内存速度，而成本接近于外存。</a:t>
              </a:r>
              <a:endParaRPr lang="zh-CN" altLang="en-US" sz="2400" dirty="0">
                <a:cs typeface="+mn-ea"/>
                <a:sym typeface="+mn-l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虚拟存储器的特征</a:t>
            </a:r>
            <a:endParaRPr lang="zh-CN" altLang="en-US" sz="2800" b="1" dirty="0">
              <a:solidFill>
                <a:schemeClr val="bg1"/>
              </a:solidFill>
              <a:cs typeface="+mn-ea"/>
              <a:sym typeface="+mn-lt"/>
            </a:endParaRPr>
          </a:p>
        </p:txBody>
      </p:sp>
      <p:sp>
        <p:nvSpPr>
          <p:cNvPr id="40" name="ïşľîďè"/>
          <p:cNvSpPr/>
          <p:nvPr/>
        </p:nvSpPr>
        <p:spPr>
          <a:xfrm>
            <a:off x="-635" y="1134110"/>
            <a:ext cx="3881755" cy="4693285"/>
          </a:xfrm>
          <a:prstGeom prst="rect">
            <a:avLst/>
          </a:prstGeom>
          <a:blipFill>
            <a:blip r:embed="rId1"/>
            <a:stretch>
              <a:fillRect l="-30450" r="-30284"/>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cs typeface="+mn-ea"/>
              <a:sym typeface="+mn-lt"/>
            </a:endParaRPr>
          </a:p>
        </p:txBody>
      </p:sp>
      <p:sp>
        <p:nvSpPr>
          <p:cNvPr id="41" name="îŝļiḋe"/>
          <p:cNvSpPr/>
          <p:nvPr/>
        </p:nvSpPr>
        <p:spPr>
          <a:xfrm>
            <a:off x="3224183" y="1134122"/>
            <a:ext cx="656948" cy="5003800"/>
          </a:xfrm>
          <a:prstGeom prst="rect">
            <a:avLst/>
          </a:prstGeom>
          <a:solidFill>
            <a:schemeClr val="accent1">
              <a:alpha val="7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cs typeface="+mn-ea"/>
              <a:sym typeface="+mn-lt"/>
            </a:endParaRPr>
          </a:p>
        </p:txBody>
      </p:sp>
      <p:grpSp>
        <p:nvGrpSpPr>
          <p:cNvPr id="42" name="í$1iďè"/>
          <p:cNvGrpSpPr/>
          <p:nvPr/>
        </p:nvGrpSpPr>
        <p:grpSpPr>
          <a:xfrm>
            <a:off x="3348471" y="1174124"/>
            <a:ext cx="8378931" cy="1648925"/>
            <a:chOff x="4136995" y="1170302"/>
            <a:chExt cx="8378931" cy="1648925"/>
          </a:xfrm>
        </p:grpSpPr>
        <p:sp>
          <p:nvSpPr>
            <p:cNvPr id="43" name="îslîďê"/>
            <p:cNvSpPr/>
            <p:nvPr/>
          </p:nvSpPr>
          <p:spPr>
            <a:xfrm>
              <a:off x="4136995" y="1712614"/>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44" name="ïSḻiḍé"/>
            <p:cNvSpPr txBox="1"/>
            <p:nvPr/>
          </p:nvSpPr>
          <p:spPr>
            <a:xfrm>
              <a:off x="4882718" y="1170302"/>
              <a:ext cx="7633208" cy="1648925"/>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just">
                <a:lnSpc>
                  <a:spcPct val="130000"/>
                </a:lnSpc>
              </a:pPr>
              <a:r>
                <a:rPr lang="zh-CN" altLang="en-US" sz="2400" dirty="0">
                  <a:cs typeface="+mn-ea"/>
                  <a:sym typeface="+mn-lt"/>
                </a:rPr>
                <a:t>多次性：作业中的程序和数据允许被分成多次调入内存允许</a:t>
              </a:r>
              <a:endParaRPr lang="zh-CN" altLang="en-US" sz="2400" dirty="0">
                <a:cs typeface="+mn-ea"/>
                <a:sym typeface="+mn-lt"/>
              </a:endParaRPr>
            </a:p>
          </p:txBody>
        </p:sp>
      </p:grpSp>
      <p:grpSp>
        <p:nvGrpSpPr>
          <p:cNvPr id="45" name="išḷîḓé"/>
          <p:cNvGrpSpPr/>
          <p:nvPr/>
        </p:nvGrpSpPr>
        <p:grpSpPr>
          <a:xfrm>
            <a:off x="3348471" y="2994697"/>
            <a:ext cx="8378932" cy="801176"/>
            <a:chOff x="4136995" y="3233565"/>
            <a:chExt cx="8378932" cy="801176"/>
          </a:xfrm>
        </p:grpSpPr>
        <p:sp>
          <p:nvSpPr>
            <p:cNvPr id="46" name="íśľïḋé"/>
            <p:cNvSpPr/>
            <p:nvPr/>
          </p:nvSpPr>
          <p:spPr>
            <a:xfrm>
              <a:off x="4136995" y="3450237"/>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47" name="îŝľîḓè"/>
            <p:cNvSpPr txBox="1"/>
            <p:nvPr/>
          </p:nvSpPr>
          <p:spPr>
            <a:xfrm>
              <a:off x="4882718" y="3233565"/>
              <a:ext cx="7633209" cy="801176"/>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cs typeface="+mn-ea"/>
                  <a:sym typeface="+mn-lt"/>
                </a:rPr>
                <a:t>对换性：作业运行时无须常驻内存</a:t>
              </a:r>
              <a:endParaRPr lang="zh-CN" altLang="en-US" sz="2400" dirty="0">
                <a:cs typeface="+mn-ea"/>
                <a:sym typeface="+mn-lt"/>
              </a:endParaRPr>
            </a:p>
          </p:txBody>
        </p:sp>
      </p:grpSp>
      <p:grpSp>
        <p:nvGrpSpPr>
          <p:cNvPr id="48" name="ïSlíḍê"/>
          <p:cNvGrpSpPr/>
          <p:nvPr/>
        </p:nvGrpSpPr>
        <p:grpSpPr>
          <a:xfrm>
            <a:off x="3348471" y="4371764"/>
            <a:ext cx="8378931" cy="1311067"/>
            <a:chOff x="4136995" y="4714289"/>
            <a:chExt cx="8378931" cy="1311067"/>
          </a:xfrm>
        </p:grpSpPr>
        <p:sp>
          <p:nvSpPr>
            <p:cNvPr id="49" name="ïsľíḓê"/>
            <p:cNvSpPr/>
            <p:nvPr/>
          </p:nvSpPr>
          <p:spPr>
            <a:xfrm>
              <a:off x="4136995" y="5187860"/>
              <a:ext cx="408372" cy="363926"/>
            </a:xfrm>
            <a:custGeom>
              <a:avLst/>
              <a:gdLst>
                <a:gd name="connsiteX0" fmla="*/ 514822 w 607336"/>
                <a:gd name="connsiteY0" fmla="*/ 287718 h 541236"/>
                <a:gd name="connsiteX1" fmla="*/ 501327 w 607336"/>
                <a:gd name="connsiteY1" fmla="*/ 301190 h 541236"/>
                <a:gd name="connsiteX2" fmla="*/ 501327 w 607336"/>
                <a:gd name="connsiteY2" fmla="*/ 357185 h 541236"/>
                <a:gd name="connsiteX3" fmla="*/ 514822 w 607336"/>
                <a:gd name="connsiteY3" fmla="*/ 370656 h 541236"/>
                <a:gd name="connsiteX4" fmla="*/ 528317 w 607336"/>
                <a:gd name="connsiteY4" fmla="*/ 357185 h 541236"/>
                <a:gd name="connsiteX5" fmla="*/ 528317 w 607336"/>
                <a:gd name="connsiteY5" fmla="*/ 301190 h 541236"/>
                <a:gd name="connsiteX6" fmla="*/ 514822 w 607336"/>
                <a:gd name="connsiteY6" fmla="*/ 287718 h 541236"/>
                <a:gd name="connsiteX7" fmla="*/ 513884 w 607336"/>
                <a:gd name="connsiteY7" fmla="*/ 257846 h 541236"/>
                <a:gd name="connsiteX8" fmla="*/ 524093 w 607336"/>
                <a:gd name="connsiteY8" fmla="*/ 258315 h 541236"/>
                <a:gd name="connsiteX9" fmla="*/ 591098 w 607336"/>
                <a:gd name="connsiteY9" fmla="*/ 286664 h 541236"/>
                <a:gd name="connsiteX10" fmla="*/ 596496 w 607336"/>
                <a:gd name="connsiteY10" fmla="*/ 294630 h 541236"/>
                <a:gd name="connsiteX11" fmla="*/ 605297 w 607336"/>
                <a:gd name="connsiteY11" fmla="*/ 403457 h 541236"/>
                <a:gd name="connsiteX12" fmla="*/ 581123 w 607336"/>
                <a:gd name="connsiteY12" fmla="*/ 508770 h 541236"/>
                <a:gd name="connsiteX13" fmla="*/ 575725 w 607336"/>
                <a:gd name="connsiteY13" fmla="*/ 516736 h 541236"/>
                <a:gd name="connsiteX14" fmla="*/ 514822 w 607336"/>
                <a:gd name="connsiteY14" fmla="*/ 536650 h 541236"/>
                <a:gd name="connsiteX15" fmla="*/ 453919 w 607336"/>
                <a:gd name="connsiteY15" fmla="*/ 516736 h 541236"/>
                <a:gd name="connsiteX16" fmla="*/ 448521 w 607336"/>
                <a:gd name="connsiteY16" fmla="*/ 508770 h 541236"/>
                <a:gd name="connsiteX17" fmla="*/ 424348 w 607336"/>
                <a:gd name="connsiteY17" fmla="*/ 403457 h 541236"/>
                <a:gd name="connsiteX18" fmla="*/ 433149 w 607336"/>
                <a:gd name="connsiteY18" fmla="*/ 294630 h 541236"/>
                <a:gd name="connsiteX19" fmla="*/ 438547 w 607336"/>
                <a:gd name="connsiteY19" fmla="*/ 286664 h 541236"/>
                <a:gd name="connsiteX20" fmla="*/ 502970 w 607336"/>
                <a:gd name="connsiteY20" fmla="*/ 258315 h 541236"/>
                <a:gd name="connsiteX21" fmla="*/ 513884 w 607336"/>
                <a:gd name="connsiteY21" fmla="*/ 257846 h 541236"/>
                <a:gd name="connsiteX22" fmla="*/ 23466 w 607336"/>
                <a:gd name="connsiteY22" fmla="*/ 0 h 541236"/>
                <a:gd name="connsiteX23" fmla="*/ 555312 w 607336"/>
                <a:gd name="connsiteY23" fmla="*/ 0 h 541236"/>
                <a:gd name="connsiteX24" fmla="*/ 578778 w 607336"/>
                <a:gd name="connsiteY24" fmla="*/ 23430 h 541236"/>
                <a:gd name="connsiteX25" fmla="*/ 578778 w 607336"/>
                <a:gd name="connsiteY25" fmla="*/ 253163 h 541236"/>
                <a:gd name="connsiteX26" fmla="*/ 531847 w 607336"/>
                <a:gd name="connsiteY26" fmla="*/ 239339 h 541236"/>
                <a:gd name="connsiteX27" fmla="*/ 531847 w 607336"/>
                <a:gd name="connsiteY27" fmla="*/ 46861 h 541236"/>
                <a:gd name="connsiteX28" fmla="*/ 46931 w 607336"/>
                <a:gd name="connsiteY28" fmla="*/ 46861 h 541236"/>
                <a:gd name="connsiteX29" fmla="*/ 46931 w 607336"/>
                <a:gd name="connsiteY29" fmla="*/ 346766 h 541236"/>
                <a:gd name="connsiteX30" fmla="*/ 404898 w 607336"/>
                <a:gd name="connsiteY30" fmla="*/ 346766 h 541236"/>
                <a:gd name="connsiteX31" fmla="*/ 405837 w 607336"/>
                <a:gd name="connsiteY31" fmla="*/ 410730 h 541236"/>
                <a:gd name="connsiteX32" fmla="*/ 409005 w 607336"/>
                <a:gd name="connsiteY32" fmla="*/ 432638 h 541236"/>
                <a:gd name="connsiteX33" fmla="*/ 368175 w 607336"/>
                <a:gd name="connsiteY33" fmla="*/ 432638 h 541236"/>
                <a:gd name="connsiteX34" fmla="*/ 388120 w 607336"/>
                <a:gd name="connsiteY34" fmla="*/ 500585 h 541236"/>
                <a:gd name="connsiteX35" fmla="*/ 412407 w 607336"/>
                <a:gd name="connsiteY35" fmla="*/ 500585 h 541236"/>
                <a:gd name="connsiteX36" fmla="*/ 423553 w 607336"/>
                <a:gd name="connsiteY36" fmla="*/ 511714 h 541236"/>
                <a:gd name="connsiteX37" fmla="*/ 423553 w 607336"/>
                <a:gd name="connsiteY37" fmla="*/ 530107 h 541236"/>
                <a:gd name="connsiteX38" fmla="*/ 412407 w 607336"/>
                <a:gd name="connsiteY38" fmla="*/ 541236 h 541236"/>
                <a:gd name="connsiteX39" fmla="*/ 166371 w 607336"/>
                <a:gd name="connsiteY39" fmla="*/ 541236 h 541236"/>
                <a:gd name="connsiteX40" fmla="*/ 155225 w 607336"/>
                <a:gd name="connsiteY40" fmla="*/ 530107 h 541236"/>
                <a:gd name="connsiteX41" fmla="*/ 155225 w 607336"/>
                <a:gd name="connsiteY41" fmla="*/ 511714 h 541236"/>
                <a:gd name="connsiteX42" fmla="*/ 166371 w 607336"/>
                <a:gd name="connsiteY42" fmla="*/ 500585 h 541236"/>
                <a:gd name="connsiteX43" fmla="*/ 190658 w 607336"/>
                <a:gd name="connsiteY43" fmla="*/ 500585 h 541236"/>
                <a:gd name="connsiteX44" fmla="*/ 210721 w 607336"/>
                <a:gd name="connsiteY44" fmla="*/ 432638 h 541236"/>
                <a:gd name="connsiteX45" fmla="*/ 23466 w 607336"/>
                <a:gd name="connsiteY45" fmla="*/ 432638 h 541236"/>
                <a:gd name="connsiteX46" fmla="*/ 0 w 607336"/>
                <a:gd name="connsiteY46" fmla="*/ 409207 h 541236"/>
                <a:gd name="connsiteX47" fmla="*/ 0 w 607336"/>
                <a:gd name="connsiteY47" fmla="*/ 23430 h 541236"/>
                <a:gd name="connsiteX48" fmla="*/ 23466 w 607336"/>
                <a:gd name="connsiteY48" fmla="*/ 0 h 54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336" h="541236">
                  <a:moveTo>
                    <a:pt x="514822" y="287718"/>
                  </a:moveTo>
                  <a:cubicBezTo>
                    <a:pt x="507429" y="287718"/>
                    <a:pt x="501327" y="293810"/>
                    <a:pt x="501327" y="301190"/>
                  </a:cubicBezTo>
                  <a:lnTo>
                    <a:pt x="501327" y="357185"/>
                  </a:lnTo>
                  <a:cubicBezTo>
                    <a:pt x="501327" y="364682"/>
                    <a:pt x="507429" y="370656"/>
                    <a:pt x="514822" y="370656"/>
                  </a:cubicBezTo>
                  <a:cubicBezTo>
                    <a:pt x="522215" y="370656"/>
                    <a:pt x="528317" y="364682"/>
                    <a:pt x="528317" y="357185"/>
                  </a:cubicBezTo>
                  <a:lnTo>
                    <a:pt x="528317" y="301190"/>
                  </a:lnTo>
                  <a:cubicBezTo>
                    <a:pt x="528317" y="293810"/>
                    <a:pt x="522215" y="287718"/>
                    <a:pt x="514822" y="287718"/>
                  </a:cubicBezTo>
                  <a:close/>
                  <a:moveTo>
                    <a:pt x="513884" y="257846"/>
                  </a:moveTo>
                  <a:cubicBezTo>
                    <a:pt x="521042" y="257846"/>
                    <a:pt x="524093" y="258315"/>
                    <a:pt x="524093" y="258315"/>
                  </a:cubicBezTo>
                  <a:cubicBezTo>
                    <a:pt x="546506" y="260423"/>
                    <a:pt x="569037" y="269795"/>
                    <a:pt x="591098" y="286664"/>
                  </a:cubicBezTo>
                  <a:cubicBezTo>
                    <a:pt x="593679" y="288655"/>
                    <a:pt x="595557" y="291467"/>
                    <a:pt x="596496" y="294630"/>
                  </a:cubicBezTo>
                  <a:cubicBezTo>
                    <a:pt x="606940" y="330710"/>
                    <a:pt x="609756" y="365268"/>
                    <a:pt x="605297" y="403457"/>
                  </a:cubicBezTo>
                  <a:cubicBezTo>
                    <a:pt x="601307" y="437312"/>
                    <a:pt x="592037" y="471166"/>
                    <a:pt x="581123" y="508770"/>
                  </a:cubicBezTo>
                  <a:cubicBezTo>
                    <a:pt x="580185" y="511933"/>
                    <a:pt x="578307" y="514744"/>
                    <a:pt x="575725" y="516736"/>
                  </a:cubicBezTo>
                  <a:cubicBezTo>
                    <a:pt x="559062" y="529622"/>
                    <a:pt x="537470" y="536650"/>
                    <a:pt x="514822" y="536650"/>
                  </a:cubicBezTo>
                  <a:cubicBezTo>
                    <a:pt x="492174" y="536650"/>
                    <a:pt x="470583" y="529622"/>
                    <a:pt x="453919" y="516736"/>
                  </a:cubicBezTo>
                  <a:cubicBezTo>
                    <a:pt x="451338" y="514744"/>
                    <a:pt x="449460" y="511933"/>
                    <a:pt x="448521" y="508770"/>
                  </a:cubicBezTo>
                  <a:cubicBezTo>
                    <a:pt x="437608" y="471166"/>
                    <a:pt x="428338" y="437312"/>
                    <a:pt x="424348" y="403457"/>
                  </a:cubicBezTo>
                  <a:cubicBezTo>
                    <a:pt x="420006" y="365268"/>
                    <a:pt x="422705" y="330710"/>
                    <a:pt x="433149" y="294630"/>
                  </a:cubicBezTo>
                  <a:cubicBezTo>
                    <a:pt x="434088" y="291467"/>
                    <a:pt x="435965" y="288655"/>
                    <a:pt x="438547" y="286664"/>
                  </a:cubicBezTo>
                  <a:cubicBezTo>
                    <a:pt x="459787" y="270381"/>
                    <a:pt x="481378" y="260892"/>
                    <a:pt x="502970" y="258315"/>
                  </a:cubicBezTo>
                  <a:cubicBezTo>
                    <a:pt x="502970" y="258315"/>
                    <a:pt x="506725" y="257846"/>
                    <a:pt x="513884" y="257846"/>
                  </a:cubicBezTo>
                  <a:close/>
                  <a:moveTo>
                    <a:pt x="23466" y="0"/>
                  </a:moveTo>
                  <a:lnTo>
                    <a:pt x="555312" y="0"/>
                  </a:lnTo>
                  <a:cubicBezTo>
                    <a:pt x="568336" y="0"/>
                    <a:pt x="578778" y="10544"/>
                    <a:pt x="578778" y="23430"/>
                  </a:cubicBezTo>
                  <a:lnTo>
                    <a:pt x="578778" y="253163"/>
                  </a:lnTo>
                  <a:cubicBezTo>
                    <a:pt x="563408" y="245548"/>
                    <a:pt x="547686" y="240979"/>
                    <a:pt x="531847" y="239339"/>
                  </a:cubicBezTo>
                  <a:lnTo>
                    <a:pt x="531847" y="46861"/>
                  </a:lnTo>
                  <a:lnTo>
                    <a:pt x="46931" y="46861"/>
                  </a:lnTo>
                  <a:lnTo>
                    <a:pt x="46931" y="346766"/>
                  </a:lnTo>
                  <a:lnTo>
                    <a:pt x="404898" y="346766"/>
                  </a:lnTo>
                  <a:cubicBezTo>
                    <a:pt x="402904" y="367502"/>
                    <a:pt x="403256" y="388589"/>
                    <a:pt x="405837" y="410730"/>
                  </a:cubicBezTo>
                  <a:cubicBezTo>
                    <a:pt x="406658" y="418111"/>
                    <a:pt x="407714" y="425374"/>
                    <a:pt x="409005" y="432638"/>
                  </a:cubicBezTo>
                  <a:lnTo>
                    <a:pt x="368175" y="432638"/>
                  </a:lnTo>
                  <a:lnTo>
                    <a:pt x="388120" y="500585"/>
                  </a:lnTo>
                  <a:lnTo>
                    <a:pt x="412407" y="500585"/>
                  </a:lnTo>
                  <a:cubicBezTo>
                    <a:pt x="418626" y="500585"/>
                    <a:pt x="423553" y="505622"/>
                    <a:pt x="423553" y="511714"/>
                  </a:cubicBezTo>
                  <a:lnTo>
                    <a:pt x="423553" y="530107"/>
                  </a:lnTo>
                  <a:cubicBezTo>
                    <a:pt x="423553" y="536199"/>
                    <a:pt x="418626" y="541236"/>
                    <a:pt x="412407" y="541236"/>
                  </a:cubicBezTo>
                  <a:lnTo>
                    <a:pt x="166371" y="541236"/>
                  </a:lnTo>
                  <a:cubicBezTo>
                    <a:pt x="160270" y="541236"/>
                    <a:pt x="155225" y="536199"/>
                    <a:pt x="155225" y="530107"/>
                  </a:cubicBezTo>
                  <a:lnTo>
                    <a:pt x="155225" y="511714"/>
                  </a:lnTo>
                  <a:cubicBezTo>
                    <a:pt x="155225" y="505622"/>
                    <a:pt x="160270" y="500585"/>
                    <a:pt x="166371" y="500585"/>
                  </a:cubicBezTo>
                  <a:lnTo>
                    <a:pt x="190658" y="500585"/>
                  </a:lnTo>
                  <a:lnTo>
                    <a:pt x="210721" y="432638"/>
                  </a:lnTo>
                  <a:lnTo>
                    <a:pt x="23466" y="432638"/>
                  </a:lnTo>
                  <a:cubicBezTo>
                    <a:pt x="10560" y="432638"/>
                    <a:pt x="0" y="422211"/>
                    <a:pt x="0" y="409207"/>
                  </a:cubicBezTo>
                  <a:lnTo>
                    <a:pt x="0" y="23430"/>
                  </a:lnTo>
                  <a:cubicBezTo>
                    <a:pt x="0" y="10544"/>
                    <a:pt x="10560" y="0"/>
                    <a:pt x="23466"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cs typeface="+mn-ea"/>
                <a:sym typeface="+mn-lt"/>
              </a:endParaRPr>
            </a:p>
          </p:txBody>
        </p:sp>
        <p:sp>
          <p:nvSpPr>
            <p:cNvPr id="50" name="íṧļîḋê"/>
            <p:cNvSpPr txBox="1"/>
            <p:nvPr/>
          </p:nvSpPr>
          <p:spPr>
            <a:xfrm>
              <a:off x="4882717" y="4714289"/>
              <a:ext cx="7633209" cy="131106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2400" dirty="0">
                  <a:cs typeface="+mn-ea"/>
                  <a:sym typeface="+mn-lt"/>
                </a:rPr>
                <a:t>虚拟性：从逻辑上扩充了内存容量，使用户看到的内存容量远大于实际内存容量</a:t>
              </a:r>
              <a:endParaRPr lang="zh-CN" altLang="en-US" sz="2400" dirty="0">
                <a:cs typeface="+mn-ea"/>
                <a:sym typeface="+mn-l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虚拟存储器的实现方法</a:t>
            </a:r>
            <a:endParaRPr lang="zh-CN" altLang="en-US" sz="2800" b="1" dirty="0">
              <a:solidFill>
                <a:schemeClr val="bg1"/>
              </a:solidFill>
              <a:cs typeface="+mn-ea"/>
              <a:sym typeface="+mn-lt"/>
            </a:endParaRPr>
          </a:p>
        </p:txBody>
      </p:sp>
      <p:sp>
        <p:nvSpPr>
          <p:cNvPr id="220" name="íšḻîḋè"/>
          <p:cNvSpPr/>
          <p:nvPr>
            <p:custDataLst>
              <p:tags r:id="rId1"/>
            </p:custDataLst>
          </p:nvPr>
        </p:nvSpPr>
        <p:spPr>
          <a:xfrm>
            <a:off x="1767605" y="3614339"/>
            <a:ext cx="8656789" cy="943950"/>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硬件支持：段表、缺段中断、地址变换机构。</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软件支持：请求调段软件、段置换软件。</a:t>
            </a:r>
            <a:endParaRPr lang="zh-CN" altLang="en-US" sz="2400" dirty="0">
              <a:cs typeface="+mn-ea"/>
              <a:sym typeface="+mn-lt"/>
            </a:endParaRPr>
          </a:p>
        </p:txBody>
      </p:sp>
      <p:sp>
        <p:nvSpPr>
          <p:cNvPr id="221" name="i$lîďê"/>
          <p:cNvSpPr/>
          <p:nvPr>
            <p:custDataLst>
              <p:tags r:id="rId2"/>
            </p:custDataLst>
          </p:nvPr>
        </p:nvSpPr>
        <p:spPr>
          <a:xfrm>
            <a:off x="1823241" y="3140156"/>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cs typeface="+mn-ea"/>
                <a:sym typeface="+mn-lt"/>
              </a:rPr>
              <a:t>请求分段系统</a:t>
            </a:r>
            <a:endParaRPr lang="zh-CN" altLang="en-US" sz="2400" dirty="0">
              <a:solidFill>
                <a:srgbClr val="0000FF"/>
              </a:solidFill>
              <a:cs typeface="+mn-ea"/>
              <a:sym typeface="+mn-lt"/>
            </a:endParaRPr>
          </a:p>
        </p:txBody>
      </p:sp>
      <p:sp>
        <p:nvSpPr>
          <p:cNvPr id="222" name="î$ļíḋè"/>
          <p:cNvSpPr/>
          <p:nvPr/>
        </p:nvSpPr>
        <p:spPr>
          <a:xfrm>
            <a:off x="1802481" y="5431648"/>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增加请求调页和页面置换。</a:t>
            </a:r>
            <a:endParaRPr lang="zh-CN" altLang="en-US" sz="2400" dirty="0">
              <a:cs typeface="+mn-ea"/>
              <a:sym typeface="+mn-lt"/>
            </a:endParaRPr>
          </a:p>
        </p:txBody>
      </p:sp>
      <p:sp>
        <p:nvSpPr>
          <p:cNvPr id="223" name="ïṧḷïḋè"/>
          <p:cNvSpPr/>
          <p:nvPr/>
        </p:nvSpPr>
        <p:spPr>
          <a:xfrm>
            <a:off x="1802481" y="4918873"/>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0000FF"/>
                </a:solidFill>
                <a:cs typeface="+mn-ea"/>
                <a:sym typeface="+mn-lt"/>
              </a:rPr>
              <a:t>段页式虚拟存储器</a:t>
            </a:r>
            <a:endParaRPr lang="zh-CN" altLang="en-US" sz="2400" dirty="0">
              <a:solidFill>
                <a:srgbClr val="0000FF"/>
              </a:solidFill>
              <a:cs typeface="+mn-ea"/>
              <a:sym typeface="+mn-lt"/>
            </a:endParaRPr>
          </a:p>
        </p:txBody>
      </p:sp>
      <p:sp>
        <p:nvSpPr>
          <p:cNvPr id="224" name="îs1iďé"/>
          <p:cNvSpPr/>
          <p:nvPr>
            <p:custDataLst>
              <p:tags r:id="rId3"/>
            </p:custDataLst>
          </p:nvPr>
        </p:nvSpPr>
        <p:spPr>
          <a:xfrm>
            <a:off x="1821537" y="1830118"/>
            <a:ext cx="9711234" cy="1163415"/>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硬件支持：页表、缺页中断、地址变换机构。</a:t>
            </a:r>
            <a:endParaRPr lang="zh-CN" altLang="en-US" sz="2400" dirty="0">
              <a:cs typeface="+mn-ea"/>
              <a:sym typeface="+mn-lt"/>
            </a:endParaRPr>
          </a:p>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软件支持：请求调页软件、页面置换软件。</a:t>
            </a:r>
            <a:endParaRPr lang="zh-CN" altLang="en-US" sz="2400" dirty="0">
              <a:cs typeface="+mn-ea"/>
              <a:sym typeface="+mn-lt"/>
            </a:endParaRPr>
          </a:p>
        </p:txBody>
      </p:sp>
      <p:sp>
        <p:nvSpPr>
          <p:cNvPr id="225" name="íšḻíḑê"/>
          <p:cNvSpPr/>
          <p:nvPr>
            <p:custDataLst>
              <p:tags r:id="rId4"/>
            </p:custDataLst>
          </p:nvPr>
        </p:nvSpPr>
        <p:spPr>
          <a:xfrm>
            <a:off x="1802480" y="1361556"/>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请求分页系统</a:t>
            </a:r>
            <a:endParaRPr lang="zh-CN" altLang="en-US" sz="2400" dirty="0">
              <a:solidFill>
                <a:srgbClr val="FF0000"/>
              </a:solidFill>
              <a:cs typeface="+mn-ea"/>
              <a:sym typeface="+mn-lt"/>
            </a:endParaRPr>
          </a:p>
        </p:txBody>
      </p:sp>
      <p:sp>
        <p:nvSpPr>
          <p:cNvPr id="226" name="îSļiḓè"/>
          <p:cNvSpPr/>
          <p:nvPr>
            <p:custDataLst>
              <p:tags r:id="rId5"/>
            </p:custDataLst>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7" name="íṥḻîḓe"/>
          <p:cNvSpPr/>
          <p:nvPr/>
        </p:nvSpPr>
        <p:spPr>
          <a:xfrm>
            <a:off x="1118977" y="483627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8" name="îşļiḓè"/>
          <p:cNvSpPr/>
          <p:nvPr>
            <p:custDataLst>
              <p:tags r:id="rId6"/>
            </p:custDataLst>
          </p:nvPr>
        </p:nvSpPr>
        <p:spPr>
          <a:xfrm>
            <a:off x="1139739" y="3039630"/>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9" name="îṡḷíďe"/>
          <p:cNvSpPr/>
          <p:nvPr>
            <p:custDataLst>
              <p:tags r:id="rId7"/>
            </p:custDataLst>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0" name="íSlíḋe"/>
          <p:cNvSpPr/>
          <p:nvPr>
            <p:custDataLst>
              <p:tags r:id="rId8"/>
            </p:custDataLst>
          </p:nvPr>
        </p:nvSpPr>
        <p:spPr>
          <a:xfrm>
            <a:off x="1329993" y="3261647"/>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1" name="ïśḷïḓe"/>
          <p:cNvSpPr/>
          <p:nvPr/>
        </p:nvSpPr>
        <p:spPr>
          <a:xfrm>
            <a:off x="1338170" y="5025731"/>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 name="î$ļíḋè"/>
          <p:cNvSpPr/>
          <p:nvPr/>
        </p:nvSpPr>
        <p:spPr>
          <a:xfrm>
            <a:off x="6243852" y="5464138"/>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400" dirty="0">
                <a:cs typeface="+mn-ea"/>
                <a:sym typeface="+mn-lt"/>
              </a:rPr>
              <a:t>Intel 80386 </a:t>
            </a:r>
            <a:r>
              <a:rPr lang="zh-CN" altLang="en-US" sz="2400" dirty="0">
                <a:cs typeface="+mn-ea"/>
                <a:sym typeface="+mn-lt"/>
              </a:rPr>
              <a:t>及以后。</a:t>
            </a:r>
            <a:endParaRPr lang="zh-CN" altLang="en-US" sz="2400" dirty="0">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b="1" dirty="0">
                <a:solidFill>
                  <a:srgbClr val="0000FF"/>
                </a:solidFill>
                <a:cs typeface="+mn-ea"/>
                <a:sym typeface="+mn-lt"/>
              </a:rPr>
              <a:t>6.2 </a:t>
            </a:r>
            <a:r>
              <a:rPr lang="zh-CN" altLang="en-US" sz="2400" b="1" dirty="0">
                <a:solidFill>
                  <a:srgbClr val="0000FF"/>
                </a:solidFill>
                <a:cs typeface="+mn-ea"/>
                <a:sym typeface="+mn-lt"/>
              </a:rPr>
              <a:t>请求分页存储管理方式</a:t>
            </a:r>
            <a:endParaRPr lang="en-US" altLang="zh-CN" sz="2400" b="1" dirty="0">
              <a:solidFill>
                <a:srgbClr val="0000FF"/>
              </a:solidFill>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cs typeface="+mn-ea"/>
                <a:sym typeface="+mn-lt"/>
              </a:rPr>
              <a:t>6.5 </a:t>
            </a:r>
            <a:r>
              <a:rPr lang="zh-CN" altLang="en-US" sz="2400" dirty="0">
                <a:cs typeface="+mn-ea"/>
                <a:sym typeface="+mn-lt"/>
              </a:rPr>
              <a:t>请求分段存储管理方式</a:t>
            </a:r>
            <a:endParaRPr lang="zh-CN" altLang="en-US" sz="2400" dirty="0">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cs typeface="+mn-ea"/>
                <a:sym typeface="+mn-lt"/>
              </a:rPr>
              <a:t>6.6 </a:t>
            </a:r>
            <a:r>
              <a:rPr lang="zh-CN" altLang="en-US" sz="2400" dirty="0">
                <a:cs typeface="+mn-ea"/>
                <a:sym typeface="+mn-lt"/>
              </a:rPr>
              <a:t>虚拟存储器实现实例</a:t>
            </a:r>
            <a:endParaRPr lang="zh-CN" altLang="en-US" sz="2400" dirty="0">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请求分页存储管理</a:t>
            </a:r>
            <a:endParaRPr lang="zh-CN" altLang="en-US" sz="2800" b="1" dirty="0">
              <a:solidFill>
                <a:schemeClr val="bg1"/>
              </a:solidFill>
              <a:cs typeface="+mn-ea"/>
              <a:sym typeface="+mn-lt"/>
            </a:endParaRPr>
          </a:p>
        </p:txBody>
      </p:sp>
      <p:sp>
        <p:nvSpPr>
          <p:cNvPr id="220" name="íšḻîḋè"/>
          <p:cNvSpPr/>
          <p:nvPr/>
        </p:nvSpPr>
        <p:spPr>
          <a:xfrm>
            <a:off x="1401214" y="5359251"/>
            <a:ext cx="5064551" cy="895702"/>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在指令执行期间产生和处理中断信号</a:t>
            </a:r>
            <a:endParaRPr lang="zh-CN" altLang="en-US" sz="22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200" dirty="0">
                <a:cs typeface="+mn-ea"/>
                <a:sym typeface="+mn-lt"/>
              </a:rPr>
              <a:t>一条指令在执行期间，可能产生多次缺页中断</a:t>
            </a:r>
            <a:endParaRPr lang="zh-CN" altLang="en-US" sz="2200" dirty="0">
              <a:cs typeface="+mn-ea"/>
              <a:sym typeface="+mn-lt"/>
            </a:endParaRPr>
          </a:p>
        </p:txBody>
      </p:sp>
      <p:sp>
        <p:nvSpPr>
          <p:cNvPr id="221" name="i$lîďê"/>
          <p:cNvSpPr/>
          <p:nvPr/>
        </p:nvSpPr>
        <p:spPr>
          <a:xfrm>
            <a:off x="1456850" y="4885068"/>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缺页中断机构</a:t>
            </a:r>
            <a:endParaRPr lang="zh-CN" altLang="en-US" sz="2400" dirty="0">
              <a:cs typeface="+mn-ea"/>
              <a:sym typeface="+mn-lt"/>
            </a:endParaRPr>
          </a:p>
        </p:txBody>
      </p:sp>
      <p:sp>
        <p:nvSpPr>
          <p:cNvPr id="222" name="î$ļíḋè"/>
          <p:cNvSpPr/>
          <p:nvPr/>
        </p:nvSpPr>
        <p:spPr>
          <a:xfrm>
            <a:off x="7757224" y="5385935"/>
            <a:ext cx="4213746"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与分页内存管理方式类似</a:t>
            </a:r>
            <a:endParaRPr lang="zh-CN" altLang="en-US" sz="2200" dirty="0">
              <a:cs typeface="+mn-ea"/>
              <a:sym typeface="+mn-lt"/>
            </a:endParaRPr>
          </a:p>
        </p:txBody>
      </p:sp>
      <p:sp>
        <p:nvSpPr>
          <p:cNvPr id="223" name="ïṧḷïḋè"/>
          <p:cNvSpPr/>
          <p:nvPr/>
        </p:nvSpPr>
        <p:spPr>
          <a:xfrm>
            <a:off x="7757224" y="4873160"/>
            <a:ext cx="3696051" cy="415102"/>
          </a:xfrm>
          <a:prstGeom prst="rect">
            <a:avLst/>
          </a:prstGeom>
          <a:noFill/>
          <a:ln>
            <a:noFill/>
          </a:ln>
        </p:spPr>
        <p:txBody>
          <a:bodyPr wrap="square" lIns="91440" tIns="45720" rIns="91440" bIns="45720" anchor="ctr" anchorCtr="0">
            <a:noAutofit/>
          </a:bodyPr>
          <a:lstStyle/>
          <a:p>
            <a:r>
              <a:rPr lang="zh-CN" altLang="en-US" sz="2400" dirty="0">
                <a:cs typeface="+mn-ea"/>
                <a:sym typeface="+mn-lt"/>
              </a:rPr>
              <a:t>地址变换机构</a:t>
            </a:r>
            <a:endParaRPr lang="zh-CN" altLang="en-US" sz="2400" dirty="0">
              <a:cs typeface="+mn-ea"/>
              <a:sym typeface="+mn-lt"/>
            </a:endParaRPr>
          </a:p>
        </p:txBody>
      </p:sp>
      <p:sp>
        <p:nvSpPr>
          <p:cNvPr id="224" name="îs1iďé"/>
          <p:cNvSpPr/>
          <p:nvPr/>
        </p:nvSpPr>
        <p:spPr>
          <a:xfrm>
            <a:off x="1475908" y="2258157"/>
            <a:ext cx="9711234" cy="1904567"/>
          </a:xfrm>
          <a:prstGeom prst="rect">
            <a:avLst/>
          </a:prstGeom>
          <a:noFill/>
          <a:ln>
            <a:noFill/>
          </a:ln>
        </p:spPr>
        <p:txBody>
          <a:bodyPr wrap="square" lIns="91440" tIns="45720" rIns="91440" bIns="45720" anchor="t" anchorCtr="0">
            <a:no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状态位</a:t>
            </a:r>
            <a:r>
              <a:rPr lang="en-US" altLang="zh-CN" sz="2200" dirty="0">
                <a:cs typeface="+mn-ea"/>
                <a:sym typeface="+mn-lt"/>
              </a:rPr>
              <a:t>P</a:t>
            </a:r>
            <a:r>
              <a:rPr lang="zh-CN" altLang="en-US" sz="2200" dirty="0">
                <a:cs typeface="+mn-ea"/>
                <a:sym typeface="+mn-lt"/>
              </a:rPr>
              <a:t>：指示该页是否在内存</a:t>
            </a:r>
            <a:endParaRPr lang="zh-CN" altLang="en-US" sz="2200" dirty="0">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访问字段</a:t>
            </a:r>
            <a:r>
              <a:rPr lang="en-US" altLang="zh-CN" sz="2200" dirty="0">
                <a:cs typeface="+mn-ea"/>
                <a:sym typeface="+mn-lt"/>
              </a:rPr>
              <a:t>A</a:t>
            </a:r>
            <a:r>
              <a:rPr lang="zh-CN" altLang="en-US" sz="2200" dirty="0">
                <a:cs typeface="+mn-ea"/>
                <a:sym typeface="+mn-lt"/>
              </a:rPr>
              <a:t>：记录该页在一段时间内被访问的次数</a:t>
            </a:r>
            <a:endParaRPr lang="zh-CN" altLang="en-US" sz="2200" dirty="0">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修改位</a:t>
            </a:r>
            <a:r>
              <a:rPr lang="en-US" altLang="zh-CN" sz="2200" dirty="0">
                <a:cs typeface="+mn-ea"/>
                <a:sym typeface="+mn-lt"/>
              </a:rPr>
              <a:t>M</a:t>
            </a:r>
            <a:r>
              <a:rPr lang="zh-CN" altLang="en-US" sz="2200" dirty="0">
                <a:cs typeface="+mn-ea"/>
                <a:sym typeface="+mn-lt"/>
              </a:rPr>
              <a:t>：也称脏位，标志该页是否被修改过</a:t>
            </a:r>
            <a:endParaRPr lang="zh-CN" altLang="en-US" sz="2200" dirty="0">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外存地址：指示该页在外存中的地址（物理块号）</a:t>
            </a:r>
            <a:endParaRPr lang="zh-CN" altLang="en-US" sz="2200" dirty="0">
              <a:cs typeface="+mn-ea"/>
              <a:sym typeface="+mn-lt"/>
            </a:endParaRPr>
          </a:p>
        </p:txBody>
      </p:sp>
      <p:sp>
        <p:nvSpPr>
          <p:cNvPr id="225" name="íšḻíḑê"/>
          <p:cNvSpPr/>
          <p:nvPr/>
        </p:nvSpPr>
        <p:spPr>
          <a:xfrm>
            <a:off x="1456851" y="1789595"/>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请求页表机制</a:t>
            </a:r>
            <a:endParaRPr lang="zh-CN" altLang="en-US" sz="2400" dirty="0">
              <a:solidFill>
                <a:srgbClr val="FF0000"/>
              </a:solidFill>
              <a:cs typeface="+mn-ea"/>
              <a:sym typeface="+mn-lt"/>
            </a:endParaRPr>
          </a:p>
        </p:txBody>
      </p:sp>
      <p:sp>
        <p:nvSpPr>
          <p:cNvPr id="226" name="îSļiḓè"/>
          <p:cNvSpPr/>
          <p:nvPr/>
        </p:nvSpPr>
        <p:spPr>
          <a:xfrm>
            <a:off x="773348" y="177603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7" name="íṥḻîḓe"/>
          <p:cNvSpPr/>
          <p:nvPr/>
        </p:nvSpPr>
        <p:spPr>
          <a:xfrm>
            <a:off x="7073720" y="479055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8" name="îşļiḓè"/>
          <p:cNvSpPr/>
          <p:nvPr/>
        </p:nvSpPr>
        <p:spPr>
          <a:xfrm>
            <a:off x="773348" y="4784542"/>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9" name="îṡḷíďe"/>
          <p:cNvSpPr/>
          <p:nvPr/>
        </p:nvSpPr>
        <p:spPr>
          <a:xfrm>
            <a:off x="963603" y="1972171"/>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0" name="íSlíḋe"/>
          <p:cNvSpPr/>
          <p:nvPr/>
        </p:nvSpPr>
        <p:spPr>
          <a:xfrm>
            <a:off x="963602" y="5006559"/>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1" name="ïśḷïḓe"/>
          <p:cNvSpPr/>
          <p:nvPr/>
        </p:nvSpPr>
        <p:spPr>
          <a:xfrm>
            <a:off x="7292913" y="498001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16" name="íšḻíḑê"/>
          <p:cNvSpPr/>
          <p:nvPr/>
        </p:nvSpPr>
        <p:spPr>
          <a:xfrm>
            <a:off x="792406" y="1209260"/>
            <a:ext cx="3696051" cy="405747"/>
          </a:xfrm>
          <a:prstGeom prst="rect">
            <a:avLst/>
          </a:prstGeom>
          <a:noFill/>
          <a:ln>
            <a:noFill/>
          </a:ln>
        </p:spPr>
        <p:txBody>
          <a:bodyPr wrap="square" lIns="91440" tIns="45720" rIns="91440" bIns="45720" anchor="ctr" anchorCtr="0">
            <a:noAutofit/>
          </a:bodyPr>
          <a:lstStyle/>
          <a:p>
            <a:r>
              <a:rPr lang="zh-CN" altLang="en-US" sz="2400" dirty="0">
                <a:cs typeface="+mn-ea"/>
                <a:sym typeface="+mn-lt"/>
              </a:rPr>
              <a:t>请求分页中的硬件支持</a:t>
            </a:r>
            <a:endParaRPr lang="zh-CN" altLang="en-US" sz="2400" dirty="0">
              <a:cs typeface="+mn-ea"/>
              <a:sym typeface="+mn-lt"/>
            </a:endParaRPr>
          </a:p>
        </p:txBody>
      </p:sp>
      <p:graphicFrame>
        <p:nvGraphicFramePr>
          <p:cNvPr id="17" name="表格 16"/>
          <p:cNvGraphicFramePr>
            <a:graphicFrameLocks noGrp="1"/>
          </p:cNvGraphicFramePr>
          <p:nvPr/>
        </p:nvGraphicFramePr>
        <p:xfrm>
          <a:off x="1554413" y="4284616"/>
          <a:ext cx="9986557" cy="365760"/>
        </p:xfrm>
        <a:graphic>
          <a:graphicData uri="http://schemas.openxmlformats.org/drawingml/2006/table">
            <a:tbl>
              <a:tblPr>
                <a:tableStyleId>{5C22544A-7EE6-4342-B048-85BDC9FD1C3A}</a:tableStyleId>
              </a:tblPr>
              <a:tblGrid>
                <a:gridCol w="1245745"/>
                <a:gridCol w="1848028"/>
                <a:gridCol w="1848028"/>
                <a:gridCol w="1848028"/>
                <a:gridCol w="1549461"/>
                <a:gridCol w="1647267"/>
              </a:tblGrid>
              <a:tr h="362862">
                <a:tc>
                  <a:txBody>
                    <a:bodyPr/>
                    <a:lstStyle/>
                    <a:p>
                      <a:pPr indent="0" algn="ctr" fontAlgn="auto">
                        <a:spcAft>
                          <a:spcPts val="0"/>
                        </a:spcAft>
                      </a:pPr>
                      <a:r>
                        <a:rPr lang="zh-CN" sz="2400" kern="1050" dirty="0">
                          <a:solidFill>
                            <a:schemeClr val="bg1"/>
                          </a:solidFill>
                          <a:effectLst/>
                          <a:latin typeface="+mn-lt"/>
                          <a:ea typeface="+mn-ea"/>
                          <a:cs typeface="+mn-ea"/>
                          <a:sym typeface="+mn-lt"/>
                        </a:rPr>
                        <a:t>页号</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物理块号</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状态位</a:t>
                      </a:r>
                      <a:r>
                        <a:rPr lang="en-US" sz="2400" kern="1050" dirty="0">
                          <a:solidFill>
                            <a:schemeClr val="bg1"/>
                          </a:solidFill>
                          <a:effectLst/>
                          <a:latin typeface="+mn-lt"/>
                          <a:ea typeface="+mn-ea"/>
                          <a:cs typeface="+mn-ea"/>
                          <a:sym typeface="+mn-lt"/>
                        </a:rPr>
                        <a:t>P</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访问字段</a:t>
                      </a:r>
                      <a:r>
                        <a:rPr lang="en-US" sz="2400" kern="1050" dirty="0">
                          <a:solidFill>
                            <a:schemeClr val="bg1"/>
                          </a:solidFill>
                          <a:effectLst/>
                          <a:latin typeface="+mn-lt"/>
                          <a:ea typeface="+mn-ea"/>
                          <a:cs typeface="+mn-ea"/>
                          <a:sym typeface="+mn-lt"/>
                        </a:rPr>
                        <a:t>A</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修改位</a:t>
                      </a:r>
                      <a:r>
                        <a:rPr lang="en-US" sz="2400" kern="1050" dirty="0">
                          <a:solidFill>
                            <a:schemeClr val="bg1"/>
                          </a:solidFill>
                          <a:effectLst/>
                          <a:latin typeface="+mn-lt"/>
                          <a:ea typeface="+mn-ea"/>
                          <a:cs typeface="+mn-ea"/>
                          <a:sym typeface="+mn-lt"/>
                        </a:rPr>
                        <a:t>M</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c>
                  <a:txBody>
                    <a:bodyPr/>
                    <a:lstStyle/>
                    <a:p>
                      <a:pPr indent="0" algn="ctr" fontAlgn="auto">
                        <a:spcAft>
                          <a:spcPts val="0"/>
                        </a:spcAft>
                      </a:pPr>
                      <a:r>
                        <a:rPr lang="zh-CN" sz="2400" kern="1050" dirty="0">
                          <a:solidFill>
                            <a:schemeClr val="bg1"/>
                          </a:solidFill>
                          <a:effectLst/>
                          <a:latin typeface="+mn-lt"/>
                          <a:ea typeface="+mn-ea"/>
                          <a:cs typeface="+mn-ea"/>
                          <a:sym typeface="+mn-lt"/>
                        </a:rPr>
                        <a:t>外存地址</a:t>
                      </a:r>
                      <a:endParaRPr lang="zh-CN" sz="2400" kern="1050" dirty="0">
                        <a:solidFill>
                          <a:schemeClr val="bg1"/>
                        </a:solidFill>
                        <a:effectLst/>
                        <a:latin typeface="+mn-lt"/>
                        <a:ea typeface="+mn-ea"/>
                        <a:cs typeface="+mn-ea"/>
                        <a:sym typeface="+mn-lt"/>
                      </a:endParaRPr>
                    </a:p>
                  </a:txBody>
                  <a:tcPr marL="68580" marR="68580" marT="0" marB="0" anchor="ctr">
                    <a:solidFill>
                      <a:srgbClr val="FFC00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请求分页中的内存分配</a:t>
            </a:r>
            <a:endParaRPr lang="zh-CN" altLang="en-US" sz="2800" b="1" dirty="0">
              <a:solidFill>
                <a:schemeClr val="bg1"/>
              </a:solidFill>
              <a:cs typeface="+mn-ea"/>
              <a:sym typeface="+mn-lt"/>
            </a:endParaRPr>
          </a:p>
        </p:txBody>
      </p:sp>
      <p:sp>
        <p:nvSpPr>
          <p:cNvPr id="18" name="íšḻîḋè"/>
          <p:cNvSpPr/>
          <p:nvPr/>
        </p:nvSpPr>
        <p:spPr>
          <a:xfrm>
            <a:off x="1746843" y="3011957"/>
            <a:ext cx="3304551" cy="14890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solidFill>
                  <a:srgbClr val="FF0000"/>
                </a:solidFill>
                <a:cs typeface="+mn-ea"/>
                <a:sym typeface="+mn-lt"/>
              </a:rPr>
              <a:t>固定</a:t>
            </a:r>
            <a:r>
              <a:rPr lang="zh-CN" altLang="en-US" sz="2400" dirty="0">
                <a:cs typeface="+mn-ea"/>
                <a:sym typeface="+mn-lt"/>
              </a:rPr>
              <a:t>分配 </a:t>
            </a:r>
            <a:r>
              <a:rPr lang="zh-CN" altLang="en-US" sz="2400" dirty="0">
                <a:solidFill>
                  <a:srgbClr val="0000FF"/>
                </a:solidFill>
                <a:cs typeface="+mn-ea"/>
                <a:sym typeface="+mn-lt"/>
              </a:rPr>
              <a:t>局部</a:t>
            </a:r>
            <a:r>
              <a:rPr lang="zh-CN" altLang="en-US" sz="2400" dirty="0">
                <a:cs typeface="+mn-ea"/>
                <a:sym typeface="+mn-lt"/>
              </a:rPr>
              <a:t>置换；</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cs typeface="+mn-ea"/>
                <a:sym typeface="+mn-lt"/>
              </a:rPr>
              <a:t>可变</a:t>
            </a:r>
            <a:r>
              <a:rPr lang="zh-CN" altLang="en-US" sz="2400" dirty="0">
                <a:cs typeface="+mn-ea"/>
                <a:sym typeface="+mn-lt"/>
              </a:rPr>
              <a:t>分配 </a:t>
            </a:r>
            <a:r>
              <a:rPr lang="zh-CN" altLang="en-US" sz="2400" dirty="0">
                <a:solidFill>
                  <a:srgbClr val="0000FF"/>
                </a:solidFill>
                <a:cs typeface="+mn-ea"/>
                <a:sym typeface="+mn-lt"/>
              </a:rPr>
              <a:t>全局</a:t>
            </a:r>
            <a:r>
              <a:rPr lang="zh-CN" altLang="en-US" sz="2400" dirty="0">
                <a:cs typeface="+mn-ea"/>
                <a:sym typeface="+mn-lt"/>
              </a:rPr>
              <a:t>置换；</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cs typeface="+mn-ea"/>
                <a:sym typeface="+mn-lt"/>
              </a:rPr>
              <a:t>可变</a:t>
            </a:r>
            <a:r>
              <a:rPr lang="zh-CN" altLang="en-US" sz="2400" dirty="0">
                <a:cs typeface="+mn-ea"/>
                <a:sym typeface="+mn-lt"/>
              </a:rPr>
              <a:t>分配 </a:t>
            </a:r>
            <a:r>
              <a:rPr lang="zh-CN" altLang="en-US" sz="2400" dirty="0">
                <a:solidFill>
                  <a:srgbClr val="0000FF"/>
                </a:solidFill>
                <a:cs typeface="+mn-ea"/>
                <a:sym typeface="+mn-lt"/>
              </a:rPr>
              <a:t>局部</a:t>
            </a:r>
            <a:r>
              <a:rPr lang="zh-CN" altLang="en-US" sz="2400" dirty="0">
                <a:cs typeface="+mn-ea"/>
                <a:sym typeface="+mn-lt"/>
              </a:rPr>
              <a:t>置换。</a:t>
            </a:r>
            <a:endParaRPr lang="zh-CN" altLang="en-US" sz="2400" dirty="0">
              <a:cs typeface="+mn-ea"/>
              <a:sym typeface="+mn-lt"/>
            </a:endParaRPr>
          </a:p>
        </p:txBody>
      </p:sp>
      <p:sp>
        <p:nvSpPr>
          <p:cNvPr id="19" name="i$lîďê"/>
          <p:cNvSpPr/>
          <p:nvPr/>
        </p:nvSpPr>
        <p:spPr>
          <a:xfrm>
            <a:off x="1802479" y="2582165"/>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物理块的分配策略：</a:t>
            </a:r>
            <a:endParaRPr lang="zh-CN" altLang="en-US" sz="2400" dirty="0">
              <a:cs typeface="+mn-ea"/>
              <a:sym typeface="+mn-lt"/>
            </a:endParaRPr>
          </a:p>
        </p:txBody>
      </p:sp>
      <p:sp>
        <p:nvSpPr>
          <p:cNvPr id="21" name="î$ļíḋè"/>
          <p:cNvSpPr/>
          <p:nvPr/>
        </p:nvSpPr>
        <p:spPr>
          <a:xfrm>
            <a:off x="1821537" y="5057491"/>
            <a:ext cx="5459358" cy="523971"/>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平均分配算法；</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solidFill>
                  <a:srgbClr val="FF0000"/>
                </a:solidFill>
                <a:cs typeface="+mn-ea"/>
                <a:sym typeface="+mn-lt"/>
              </a:rPr>
              <a:t>按比例分配算法；</a:t>
            </a:r>
            <a:endParaRPr lang="zh-CN" altLang="en-US" sz="2400" dirty="0">
              <a:solidFill>
                <a:srgbClr val="FF0000"/>
              </a:solidFill>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考虑优先权的分配算法；</a:t>
            </a:r>
            <a:endParaRPr lang="zh-CN" altLang="en-US" sz="2400" dirty="0">
              <a:cs typeface="+mn-ea"/>
              <a:sym typeface="+mn-lt"/>
            </a:endParaRPr>
          </a:p>
        </p:txBody>
      </p:sp>
      <p:sp>
        <p:nvSpPr>
          <p:cNvPr id="22" name="ïṧḷïḋè"/>
          <p:cNvSpPr/>
          <p:nvPr/>
        </p:nvSpPr>
        <p:spPr>
          <a:xfrm>
            <a:off x="1821537" y="4589106"/>
            <a:ext cx="3696051" cy="415102"/>
          </a:xfrm>
          <a:prstGeom prst="rect">
            <a:avLst/>
          </a:prstGeom>
          <a:noFill/>
          <a:ln>
            <a:noFill/>
          </a:ln>
        </p:spPr>
        <p:txBody>
          <a:bodyPr wrap="square" lIns="91440" tIns="45720" rIns="91440" bIns="45720" anchor="ctr" anchorCtr="0">
            <a:noAutofit/>
          </a:bodyPr>
          <a:lstStyle/>
          <a:p>
            <a:r>
              <a:rPr lang="zh-CN" altLang="en-US" sz="2400" dirty="0">
                <a:cs typeface="+mn-ea"/>
                <a:sym typeface="+mn-lt"/>
              </a:rPr>
              <a:t>物理块分配算法：</a:t>
            </a:r>
            <a:endParaRPr lang="zh-CN" altLang="en-US" sz="2400" dirty="0">
              <a:cs typeface="+mn-ea"/>
              <a:sym typeface="+mn-lt"/>
            </a:endParaRPr>
          </a:p>
        </p:txBody>
      </p:sp>
      <p:sp>
        <p:nvSpPr>
          <p:cNvPr id="23" name="îs1iďé"/>
          <p:cNvSpPr/>
          <p:nvPr/>
        </p:nvSpPr>
        <p:spPr>
          <a:xfrm>
            <a:off x="1821537" y="1830118"/>
            <a:ext cx="9711234" cy="1163415"/>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保证进程正常运行所需的最小物理块数。</a:t>
            </a:r>
            <a:endParaRPr lang="zh-CN" altLang="en-US" sz="2400" dirty="0">
              <a:cs typeface="+mn-ea"/>
              <a:sym typeface="+mn-lt"/>
            </a:endParaRPr>
          </a:p>
        </p:txBody>
      </p:sp>
      <p:sp>
        <p:nvSpPr>
          <p:cNvPr id="24" name="íšḻíḑê"/>
          <p:cNvSpPr/>
          <p:nvPr/>
        </p:nvSpPr>
        <p:spPr>
          <a:xfrm>
            <a:off x="1802480" y="1361556"/>
            <a:ext cx="3696051" cy="405747"/>
          </a:xfrm>
          <a:prstGeom prst="rect">
            <a:avLst/>
          </a:prstGeom>
          <a:noFill/>
          <a:ln>
            <a:noFill/>
          </a:ln>
        </p:spPr>
        <p:txBody>
          <a:bodyPr wrap="square" lIns="91440" tIns="45720" rIns="91440" bIns="45720" anchor="ctr" anchorCtr="0">
            <a:noAutofit/>
          </a:bodyPr>
          <a:lstStyle/>
          <a:p>
            <a:r>
              <a:rPr lang="zh-CN" altLang="en-US" sz="2400" dirty="0">
                <a:cs typeface="+mn-ea"/>
                <a:sym typeface="+mn-lt"/>
              </a:rPr>
              <a:t>最小物理块数的确定：</a:t>
            </a:r>
            <a:endParaRPr lang="zh-CN" altLang="en-US" sz="2400" dirty="0">
              <a:cs typeface="+mn-ea"/>
              <a:sym typeface="+mn-lt"/>
            </a:endParaRPr>
          </a:p>
        </p:txBody>
      </p:sp>
      <p:sp>
        <p:nvSpPr>
          <p:cNvPr id="25" name="îSļiḓè"/>
          <p:cNvSpPr/>
          <p:nvPr/>
        </p:nvSpPr>
        <p:spPr>
          <a:xfrm>
            <a:off x="1118977" y="134799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6" name="íṥḻîḓe"/>
          <p:cNvSpPr/>
          <p:nvPr/>
        </p:nvSpPr>
        <p:spPr>
          <a:xfrm>
            <a:off x="1138033" y="45065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7" name="îşļiḓè"/>
          <p:cNvSpPr/>
          <p:nvPr/>
        </p:nvSpPr>
        <p:spPr>
          <a:xfrm>
            <a:off x="1118977" y="248163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8" name="îṡḷíďe"/>
          <p:cNvSpPr/>
          <p:nvPr/>
        </p:nvSpPr>
        <p:spPr>
          <a:xfrm>
            <a:off x="1309232" y="154413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9" name="íSlíḋe"/>
          <p:cNvSpPr/>
          <p:nvPr/>
        </p:nvSpPr>
        <p:spPr>
          <a:xfrm>
            <a:off x="1309231" y="2703656"/>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30" name="ïśḷïḓe"/>
          <p:cNvSpPr/>
          <p:nvPr/>
        </p:nvSpPr>
        <p:spPr>
          <a:xfrm>
            <a:off x="1357226" y="4695964"/>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pic>
        <p:nvPicPr>
          <p:cNvPr id="33" name="图片 32"/>
          <p:cNvPicPr>
            <a:picLocks noChangeAspect="1"/>
          </p:cNvPicPr>
          <p:nvPr/>
        </p:nvPicPr>
        <p:blipFill>
          <a:blip r:embed="rId1"/>
          <a:stretch>
            <a:fillRect/>
          </a:stretch>
        </p:blipFill>
        <p:spPr>
          <a:xfrm>
            <a:off x="9776323" y="4993074"/>
            <a:ext cx="1251098" cy="757065"/>
          </a:xfrm>
          <a:prstGeom prst="rect">
            <a:avLst/>
          </a:prstGeom>
        </p:spPr>
      </p:pic>
      <p:pic>
        <p:nvPicPr>
          <p:cNvPr id="34" name="图片 33"/>
          <p:cNvPicPr>
            <a:picLocks noChangeAspect="1"/>
          </p:cNvPicPr>
          <p:nvPr/>
        </p:nvPicPr>
        <p:blipFill>
          <a:blip r:embed="rId2"/>
          <a:stretch>
            <a:fillRect/>
          </a:stretch>
        </p:blipFill>
        <p:spPr>
          <a:xfrm>
            <a:off x="9734359" y="3816604"/>
            <a:ext cx="1261775" cy="879360"/>
          </a:xfrm>
          <a:prstGeom prst="rect">
            <a:avLst/>
          </a:prstGeom>
        </p:spPr>
      </p:pic>
      <p:sp>
        <p:nvSpPr>
          <p:cNvPr id="35" name="TextBox 1"/>
          <p:cNvSpPr txBox="1"/>
          <p:nvPr/>
        </p:nvSpPr>
        <p:spPr>
          <a:xfrm>
            <a:off x="6721857" y="3907060"/>
            <a:ext cx="2955558" cy="1938992"/>
          </a:xfrm>
          <a:prstGeom prst="rect">
            <a:avLst/>
          </a:prstGeom>
          <a:noFill/>
        </p:spPr>
        <p:txBody>
          <a:bodyPr wrap="square" rIns="0" rtlCol="0">
            <a:spAutoFit/>
          </a:bodyPr>
          <a:lstStyle/>
          <a:p>
            <a:pPr marL="342900" indent="-342900">
              <a:buClr>
                <a:srgbClr val="FFC000"/>
              </a:buClr>
              <a:buFont typeface="Wingdings" panose="05000000000000000000" pitchFamily="2" charset="2"/>
              <a:buChar char="p"/>
            </a:pPr>
            <a:r>
              <a:rPr lang="zh-CN" altLang="en-US" sz="2400" b="0" dirty="0">
                <a:cs typeface="+mn-ea"/>
                <a:sym typeface="+mn-lt"/>
              </a:rPr>
              <a:t>计算各进程页面总和</a:t>
            </a:r>
            <a:r>
              <a:rPr lang="en-US" altLang="zh-CN" sz="2400" b="0" i="1" dirty="0">
                <a:cs typeface="+mn-ea"/>
                <a:sym typeface="+mn-lt"/>
              </a:rPr>
              <a:t>S</a:t>
            </a:r>
            <a:endParaRPr lang="en-US" altLang="zh-CN" sz="2400" b="0" dirty="0">
              <a:cs typeface="+mn-ea"/>
              <a:sym typeface="+mn-lt"/>
            </a:endParaRPr>
          </a:p>
          <a:p>
            <a:pPr marL="342900" indent="-342900">
              <a:buClr>
                <a:srgbClr val="FFC000"/>
              </a:buClr>
              <a:buFont typeface="Wingdings" panose="05000000000000000000" pitchFamily="2" charset="2"/>
              <a:buChar char="p"/>
            </a:pPr>
            <a:endParaRPr lang="en-US" altLang="zh-CN" sz="2400" b="0" dirty="0">
              <a:cs typeface="+mn-ea"/>
              <a:sym typeface="+mn-lt"/>
            </a:endParaRPr>
          </a:p>
          <a:p>
            <a:pPr marL="342900" indent="-342900">
              <a:buClr>
                <a:srgbClr val="FFC000"/>
              </a:buClr>
              <a:buFont typeface="Wingdings" panose="05000000000000000000" pitchFamily="2" charset="2"/>
              <a:buChar char="p"/>
            </a:pPr>
            <a:r>
              <a:rPr lang="zh-CN" altLang="en-US" sz="2400" b="0" dirty="0">
                <a:cs typeface="+mn-ea"/>
                <a:sym typeface="+mn-lt"/>
              </a:rPr>
              <a:t>计算</a:t>
            </a:r>
            <a:r>
              <a:rPr lang="zh-CN" altLang="zh-CN" sz="2400" b="0" dirty="0">
                <a:cs typeface="+mn-ea"/>
                <a:sym typeface="+mn-lt"/>
              </a:rPr>
              <a:t>每个进程所能分到的物理块数</a:t>
            </a:r>
            <a:r>
              <a:rPr lang="en-US" altLang="zh-CN" sz="2400" b="0" i="1" dirty="0">
                <a:cs typeface="+mn-ea"/>
                <a:sym typeface="+mn-lt"/>
              </a:rPr>
              <a:t>b</a:t>
            </a:r>
            <a:r>
              <a:rPr lang="en-US" altLang="zh-CN" sz="2400" b="0" i="1" baseline="-25000" dirty="0">
                <a:cs typeface="+mn-ea"/>
                <a:sym typeface="+mn-lt"/>
              </a:rPr>
              <a:t>i</a:t>
            </a:r>
            <a:endParaRPr lang="zh-CN" altLang="en-US" sz="2400" b="0" dirty="0">
              <a:cs typeface="+mn-ea"/>
              <a:sym typeface="+mn-lt"/>
            </a:endParaRPr>
          </a:p>
        </p:txBody>
      </p:sp>
      <p:sp>
        <p:nvSpPr>
          <p:cNvPr id="2" name="对话气泡: 圆角矩形 1"/>
          <p:cNvSpPr/>
          <p:nvPr/>
        </p:nvSpPr>
        <p:spPr>
          <a:xfrm>
            <a:off x="6391921" y="3728621"/>
            <a:ext cx="4971496" cy="2210539"/>
          </a:xfrm>
          <a:prstGeom prst="wedgeRoundRectCallout">
            <a:avLst>
              <a:gd name="adj1" fmla="val -84758"/>
              <a:gd name="adj2" fmla="val 41830"/>
              <a:gd name="adj3" fmla="val 16667"/>
            </a:avLst>
          </a:prstGeom>
          <a:noFill/>
          <a:ln w="1905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页面调入策略</a:t>
            </a:r>
            <a:r>
              <a:rPr lang="en-US" altLang="zh-CN" sz="2800" b="1" dirty="0">
                <a:solidFill>
                  <a:schemeClr val="bg1"/>
                </a:solidFill>
                <a:cs typeface="+mn-ea"/>
                <a:sym typeface="+mn-lt"/>
              </a:rPr>
              <a:t>(1)</a:t>
            </a:r>
            <a:endParaRPr lang="zh-CN" altLang="en-US" sz="2800" b="1" dirty="0">
              <a:solidFill>
                <a:schemeClr val="bg1"/>
              </a:solidFill>
              <a:cs typeface="+mn-ea"/>
              <a:sym typeface="+mn-lt"/>
            </a:endParaRPr>
          </a:p>
        </p:txBody>
      </p:sp>
      <p:sp>
        <p:nvSpPr>
          <p:cNvPr id="18" name="íšḻîḋè"/>
          <p:cNvSpPr/>
          <p:nvPr/>
        </p:nvSpPr>
        <p:spPr>
          <a:xfrm>
            <a:off x="1746843" y="3296045"/>
            <a:ext cx="9510042" cy="148901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如系统拥有足够的对换区空间，全部从对换区调入所需页面</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如系统缺少足够的对换区空间，凡是不会被修改的文件，都直接从文件区调入；当换出这些页面时，由于未被修改而不必再将它们重写磁盘，以后再调入时，仍从文件区直接调入</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en-US" altLang="zh-CN" sz="2400" dirty="0">
                <a:cs typeface="+mn-ea"/>
                <a:sym typeface="+mn-lt"/>
              </a:rPr>
              <a:t>UNIX</a:t>
            </a:r>
            <a:r>
              <a:rPr lang="zh-CN" altLang="en-US" sz="2400" dirty="0">
                <a:cs typeface="+mn-ea"/>
                <a:sym typeface="+mn-lt"/>
              </a:rPr>
              <a:t>方式：未运行过的页面，从文件区调入；曾经运行过但又被换出的页面，从对换区调入</a:t>
            </a:r>
            <a:endParaRPr lang="zh-CN" altLang="en-US" sz="2400" dirty="0">
              <a:cs typeface="+mn-ea"/>
              <a:sym typeface="+mn-lt"/>
            </a:endParaRPr>
          </a:p>
        </p:txBody>
      </p:sp>
      <p:sp>
        <p:nvSpPr>
          <p:cNvPr id="19" name="i$lîďê"/>
          <p:cNvSpPr/>
          <p:nvPr/>
        </p:nvSpPr>
        <p:spPr>
          <a:xfrm>
            <a:off x="1802479" y="2866253"/>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从何处调入页面</a:t>
            </a:r>
            <a:endParaRPr lang="zh-CN" altLang="en-US" sz="2400" dirty="0">
              <a:cs typeface="+mn-ea"/>
              <a:sym typeface="+mn-lt"/>
            </a:endParaRPr>
          </a:p>
        </p:txBody>
      </p:sp>
      <p:sp>
        <p:nvSpPr>
          <p:cNvPr id="22" name="ïṧḷïḋè"/>
          <p:cNvSpPr/>
          <p:nvPr/>
        </p:nvSpPr>
        <p:spPr>
          <a:xfrm>
            <a:off x="1821537" y="6062800"/>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如何调入页面？</a:t>
            </a:r>
            <a:endParaRPr lang="zh-CN" altLang="en-US" sz="2400" dirty="0">
              <a:solidFill>
                <a:srgbClr val="FF0000"/>
              </a:solidFill>
              <a:cs typeface="+mn-ea"/>
              <a:sym typeface="+mn-lt"/>
            </a:endParaRPr>
          </a:p>
        </p:txBody>
      </p:sp>
      <p:sp>
        <p:nvSpPr>
          <p:cNvPr id="23" name="îs1iďé"/>
          <p:cNvSpPr/>
          <p:nvPr/>
        </p:nvSpPr>
        <p:spPr>
          <a:xfrm>
            <a:off x="1821537" y="1661439"/>
            <a:ext cx="9711234" cy="1163415"/>
          </a:xfrm>
          <a:prstGeom prst="rect">
            <a:avLst/>
          </a:prstGeom>
          <a:noFill/>
          <a:ln>
            <a:noFill/>
          </a:ln>
        </p:spPr>
        <p:txBody>
          <a:bodyPr wrap="square" lIns="91440" tIns="45720" rIns="91440" bIns="45720" anchor="t" anchorCtr="0">
            <a:noAutofit/>
          </a:bodyPr>
          <a:lstStyle/>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预调页策略：预先调入一些页面到内存</a:t>
            </a:r>
            <a:endParaRPr lang="zh-CN" altLang="en-US" sz="2400" dirty="0">
              <a:cs typeface="+mn-ea"/>
              <a:sym typeface="+mn-lt"/>
            </a:endParaRPr>
          </a:p>
          <a:p>
            <a:pPr marL="342900" indent="-342900">
              <a:lnSpc>
                <a:spcPct val="120000"/>
              </a:lnSpc>
              <a:spcBef>
                <a:spcPts val="800"/>
              </a:spcBef>
              <a:buClr>
                <a:srgbClr val="FF0000"/>
              </a:buClr>
              <a:buFont typeface="Wingdings" panose="05000000000000000000" pitchFamily="2" charset="2"/>
              <a:buChar char="Ø"/>
            </a:pPr>
            <a:r>
              <a:rPr lang="zh-CN" altLang="en-US" sz="2400" dirty="0">
                <a:cs typeface="+mn-ea"/>
                <a:sym typeface="+mn-lt"/>
              </a:rPr>
              <a:t>请求调页策略：发现需要访问的页面不在内存时，调入内存</a:t>
            </a:r>
            <a:endParaRPr lang="zh-CN" altLang="en-US" sz="2400" dirty="0">
              <a:cs typeface="+mn-ea"/>
              <a:sym typeface="+mn-lt"/>
            </a:endParaRPr>
          </a:p>
        </p:txBody>
      </p:sp>
      <p:sp>
        <p:nvSpPr>
          <p:cNvPr id="24" name="íšḻíḑê"/>
          <p:cNvSpPr/>
          <p:nvPr/>
        </p:nvSpPr>
        <p:spPr>
          <a:xfrm>
            <a:off x="1802480" y="1192877"/>
            <a:ext cx="3696051" cy="405747"/>
          </a:xfrm>
          <a:prstGeom prst="rect">
            <a:avLst/>
          </a:prstGeom>
          <a:noFill/>
          <a:ln>
            <a:noFill/>
          </a:ln>
        </p:spPr>
        <p:txBody>
          <a:bodyPr wrap="square" lIns="91440" tIns="45720" rIns="91440" bIns="45720" anchor="ctr" anchorCtr="0">
            <a:noAutofit/>
          </a:bodyPr>
          <a:lstStyle/>
          <a:p>
            <a:r>
              <a:rPr lang="zh-CN" altLang="en-US" sz="2400" dirty="0">
                <a:cs typeface="+mn-ea"/>
                <a:sym typeface="+mn-lt"/>
              </a:rPr>
              <a:t>何时调入页面</a:t>
            </a:r>
            <a:endParaRPr lang="zh-CN" altLang="en-US" sz="2400" dirty="0">
              <a:cs typeface="+mn-ea"/>
              <a:sym typeface="+mn-lt"/>
            </a:endParaRPr>
          </a:p>
        </p:txBody>
      </p:sp>
      <p:sp>
        <p:nvSpPr>
          <p:cNvPr id="25" name="îSļiḓè"/>
          <p:cNvSpPr/>
          <p:nvPr/>
        </p:nvSpPr>
        <p:spPr>
          <a:xfrm>
            <a:off x="1118977" y="1179315"/>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6" name="íṥḻîḓe"/>
          <p:cNvSpPr/>
          <p:nvPr/>
        </p:nvSpPr>
        <p:spPr>
          <a:xfrm>
            <a:off x="1138033" y="598019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7" name="îşļiḓè"/>
          <p:cNvSpPr/>
          <p:nvPr/>
        </p:nvSpPr>
        <p:spPr>
          <a:xfrm>
            <a:off x="1118977" y="276572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8" name="îṡḷíďe"/>
          <p:cNvSpPr/>
          <p:nvPr/>
        </p:nvSpPr>
        <p:spPr>
          <a:xfrm>
            <a:off x="1309232" y="1375453"/>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9" name="íSlíḋe"/>
          <p:cNvSpPr/>
          <p:nvPr/>
        </p:nvSpPr>
        <p:spPr>
          <a:xfrm>
            <a:off x="1309231" y="2987744"/>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30" name="ïśḷïḓe"/>
          <p:cNvSpPr/>
          <p:nvPr/>
        </p:nvSpPr>
        <p:spPr>
          <a:xfrm>
            <a:off x="1357226" y="616965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页面调入方法</a:t>
            </a:r>
            <a:endParaRPr lang="zh-CN" altLang="en-US" sz="2800" b="1" dirty="0">
              <a:solidFill>
                <a:schemeClr val="bg1"/>
              </a:solidFill>
              <a:cs typeface="+mn-ea"/>
              <a:sym typeface="+mn-lt"/>
            </a:endParaRPr>
          </a:p>
        </p:txBody>
      </p:sp>
      <p:sp>
        <p:nvSpPr>
          <p:cNvPr id="61" name="iśḷíḑe"/>
          <p:cNvSpPr/>
          <p:nvPr/>
        </p:nvSpPr>
        <p:spPr>
          <a:xfrm>
            <a:off x="1308084" y="1219687"/>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01</a:t>
            </a:r>
            <a:endParaRPr lang="zh-CN" altLang="en-US" sz="2400" b="1" kern="0" dirty="0">
              <a:solidFill>
                <a:prstClr val="white"/>
              </a:solidFill>
              <a:cs typeface="+mn-ea"/>
              <a:sym typeface="+mn-lt"/>
            </a:endParaRPr>
          </a:p>
        </p:txBody>
      </p:sp>
      <p:sp>
        <p:nvSpPr>
          <p:cNvPr id="62" name="ïś1ïḑè"/>
          <p:cNvSpPr/>
          <p:nvPr/>
        </p:nvSpPr>
        <p:spPr>
          <a:xfrm>
            <a:off x="1308084" y="2238609"/>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02</a:t>
            </a:r>
            <a:endParaRPr lang="zh-CN" altLang="en-US" sz="2400" b="1" kern="0" dirty="0">
              <a:solidFill>
                <a:prstClr val="white"/>
              </a:solidFill>
              <a:cs typeface="+mn-ea"/>
              <a:sym typeface="+mn-lt"/>
            </a:endParaRPr>
          </a:p>
        </p:txBody>
      </p:sp>
      <p:sp>
        <p:nvSpPr>
          <p:cNvPr id="83" name="iśḷíḑe"/>
          <p:cNvSpPr/>
          <p:nvPr/>
        </p:nvSpPr>
        <p:spPr>
          <a:xfrm>
            <a:off x="1308084" y="4355419"/>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03</a:t>
            </a:r>
            <a:endParaRPr lang="zh-CN" altLang="en-US" sz="2400" b="1" kern="0" dirty="0">
              <a:solidFill>
                <a:prstClr val="white"/>
              </a:solidFill>
              <a:cs typeface="+mn-ea"/>
              <a:sym typeface="+mn-lt"/>
            </a:endParaRPr>
          </a:p>
        </p:txBody>
      </p:sp>
      <p:sp>
        <p:nvSpPr>
          <p:cNvPr id="84" name="ïś1ïḑè"/>
          <p:cNvSpPr/>
          <p:nvPr/>
        </p:nvSpPr>
        <p:spPr>
          <a:xfrm>
            <a:off x="1308084" y="5457272"/>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04</a:t>
            </a:r>
            <a:endParaRPr lang="zh-CN" altLang="en-US" sz="2400" b="1" kern="0" dirty="0">
              <a:solidFill>
                <a:prstClr val="white"/>
              </a:solidFill>
              <a:cs typeface="+mn-ea"/>
              <a:sym typeface="+mn-lt"/>
            </a:endParaRPr>
          </a:p>
        </p:txBody>
      </p:sp>
      <p:sp>
        <p:nvSpPr>
          <p:cNvPr id="85" name="内容占位符 2"/>
          <p:cNvSpPr txBox="1"/>
          <p:nvPr/>
        </p:nvSpPr>
        <p:spPr>
          <a:xfrm>
            <a:off x="2258260" y="1275343"/>
            <a:ext cx="5168423" cy="6445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600" dirty="0">
                <a:cs typeface="+mn-ea"/>
                <a:sym typeface="+mn-lt"/>
              </a:rPr>
              <a:t>查找所需页在磁盘上的位置。</a:t>
            </a:r>
            <a:endParaRPr lang="zh-CN" altLang="en-US" sz="2600" dirty="0">
              <a:cs typeface="+mn-ea"/>
              <a:sym typeface="+mn-lt"/>
            </a:endParaRPr>
          </a:p>
        </p:txBody>
      </p:sp>
      <p:sp>
        <p:nvSpPr>
          <p:cNvPr id="86" name="内容占位符 2"/>
          <p:cNvSpPr txBox="1"/>
          <p:nvPr/>
        </p:nvSpPr>
        <p:spPr>
          <a:xfrm>
            <a:off x="2258260" y="2362968"/>
            <a:ext cx="3280057"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cs typeface="+mn-ea"/>
                <a:sym typeface="+mn-lt"/>
              </a:rPr>
              <a:t>查找一内存空闲块：</a:t>
            </a:r>
            <a:endParaRPr lang="zh-CN" altLang="en-US" sz="2600" dirty="0">
              <a:cs typeface="+mn-ea"/>
              <a:sym typeface="+mn-lt"/>
            </a:endParaRPr>
          </a:p>
        </p:txBody>
      </p:sp>
      <p:sp>
        <p:nvSpPr>
          <p:cNvPr id="87" name="内容占位符 2"/>
          <p:cNvSpPr txBox="1"/>
          <p:nvPr/>
        </p:nvSpPr>
        <p:spPr>
          <a:xfrm>
            <a:off x="2258260" y="4602032"/>
            <a:ext cx="5961722"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cs typeface="+mn-ea"/>
                <a:sym typeface="+mn-lt"/>
              </a:rPr>
              <a:t>将所需页读入（新）空闲块，更新页表。</a:t>
            </a:r>
            <a:endParaRPr lang="zh-CN" altLang="en-US" sz="2600" dirty="0">
              <a:cs typeface="+mn-ea"/>
              <a:sym typeface="+mn-lt"/>
            </a:endParaRPr>
          </a:p>
        </p:txBody>
      </p:sp>
      <p:sp>
        <p:nvSpPr>
          <p:cNvPr id="88" name="内容占位符 2"/>
          <p:cNvSpPr txBox="1"/>
          <p:nvPr/>
        </p:nvSpPr>
        <p:spPr>
          <a:xfrm>
            <a:off x="2258260" y="5672604"/>
            <a:ext cx="2290026"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cs typeface="+mn-ea"/>
                <a:sym typeface="+mn-lt"/>
              </a:rPr>
              <a:t>重启用户进程。</a:t>
            </a:r>
            <a:endParaRPr lang="zh-CN" altLang="en-US" sz="2600" dirty="0">
              <a:cs typeface="+mn-ea"/>
              <a:sym typeface="+mn-lt"/>
            </a:endParaRPr>
          </a:p>
        </p:txBody>
      </p:sp>
      <p:sp>
        <p:nvSpPr>
          <p:cNvPr id="21" name="内容占位符 2"/>
          <p:cNvSpPr txBox="1"/>
          <p:nvPr/>
        </p:nvSpPr>
        <p:spPr>
          <a:xfrm>
            <a:off x="1793289" y="2742770"/>
            <a:ext cx="9719007" cy="15307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spcBef>
                <a:spcPts val="0"/>
              </a:spcBef>
              <a:buClr>
                <a:srgbClr val="0000FF"/>
              </a:buClr>
              <a:buFont typeface="Wingdings" panose="05000000000000000000" pitchFamily="2" charset="2"/>
              <a:buChar char="Ø"/>
            </a:pPr>
            <a:r>
              <a:rPr lang="zh-CN" altLang="en-US" sz="2400" dirty="0">
                <a:cs typeface="+mn-ea"/>
                <a:sym typeface="+mn-lt"/>
              </a:rPr>
              <a:t>如果有空闲块，就直接使用它；</a:t>
            </a:r>
            <a:endParaRPr lang="zh-CN" altLang="en-US" sz="2400" dirty="0">
              <a:cs typeface="+mn-ea"/>
              <a:sym typeface="+mn-lt"/>
            </a:endParaRPr>
          </a:p>
          <a:p>
            <a:pPr lvl="1">
              <a:lnSpc>
                <a:spcPct val="132000"/>
              </a:lnSpc>
              <a:spcBef>
                <a:spcPts val="0"/>
              </a:spcBef>
              <a:buClr>
                <a:srgbClr val="0000FF"/>
              </a:buClr>
              <a:buFont typeface="Wingdings" panose="05000000000000000000" pitchFamily="2" charset="2"/>
              <a:buChar char="Ø"/>
            </a:pPr>
            <a:r>
              <a:rPr lang="zh-CN" altLang="en-US" sz="2400" dirty="0">
                <a:cs typeface="+mn-ea"/>
                <a:sym typeface="+mn-lt"/>
              </a:rPr>
              <a:t> 如果没有空闲块，使用页面置换算法选择一个“牺牲”内存块；</a:t>
            </a:r>
            <a:endParaRPr lang="zh-CN" altLang="en-US" sz="2400" dirty="0">
              <a:cs typeface="+mn-ea"/>
              <a:sym typeface="+mn-lt"/>
            </a:endParaRPr>
          </a:p>
          <a:p>
            <a:pPr lvl="1">
              <a:lnSpc>
                <a:spcPct val="132000"/>
              </a:lnSpc>
              <a:spcBef>
                <a:spcPts val="0"/>
              </a:spcBef>
              <a:buClr>
                <a:srgbClr val="0000FF"/>
              </a:buClr>
              <a:buFont typeface="Wingdings" panose="05000000000000000000" pitchFamily="2" charset="2"/>
              <a:buChar char="Ø"/>
            </a:pPr>
            <a:r>
              <a:rPr lang="zh-CN" altLang="en-US" sz="2400" dirty="0">
                <a:cs typeface="+mn-ea"/>
                <a:sym typeface="+mn-lt"/>
              </a:rPr>
              <a:t>将“牺牲”块的内容写到磁盘上，更新页表和物理块表。</a:t>
            </a:r>
            <a:endParaRPr lang="zh-CN" altLang="en-US" sz="2400" dirty="0">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页面调入策略</a:t>
            </a:r>
            <a:r>
              <a:rPr lang="en-US" altLang="zh-CN" sz="2800" b="1" dirty="0">
                <a:solidFill>
                  <a:schemeClr val="bg1"/>
                </a:solidFill>
                <a:cs typeface="+mn-ea"/>
                <a:sym typeface="+mn-lt"/>
              </a:rPr>
              <a:t>(2)</a:t>
            </a:r>
            <a:endParaRPr lang="zh-CN" altLang="en-US" sz="2800" b="1" dirty="0">
              <a:solidFill>
                <a:schemeClr val="bg1"/>
              </a:solidFill>
              <a:cs typeface="+mn-ea"/>
              <a:sym typeface="+mn-lt"/>
            </a:endParaRPr>
          </a:p>
        </p:txBody>
      </p:sp>
      <p:sp>
        <p:nvSpPr>
          <p:cNvPr id="22" name="内容占位符 2"/>
          <p:cNvSpPr txBox="1"/>
          <p:nvPr/>
        </p:nvSpPr>
        <p:spPr>
          <a:xfrm>
            <a:off x="804364" y="1138183"/>
            <a:ext cx="5168423" cy="6445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900" dirty="0">
                <a:solidFill>
                  <a:srgbClr val="FF0000"/>
                </a:solidFill>
                <a:cs typeface="+mn-ea"/>
                <a:sym typeface="+mn-lt"/>
              </a:rPr>
              <a:t>缺页率</a:t>
            </a:r>
            <a:endParaRPr lang="zh-CN" altLang="en-US" sz="2900" dirty="0">
              <a:solidFill>
                <a:srgbClr val="FF0000"/>
              </a:solidFill>
              <a:cs typeface="+mn-ea"/>
              <a:sym typeface="+mn-lt"/>
            </a:endParaRPr>
          </a:p>
        </p:txBody>
      </p:sp>
      <p:sp>
        <p:nvSpPr>
          <p:cNvPr id="23" name="内容占位符 2"/>
          <p:cNvSpPr txBox="1"/>
          <p:nvPr/>
        </p:nvSpPr>
        <p:spPr>
          <a:xfrm>
            <a:off x="1246324" y="2005109"/>
            <a:ext cx="10945676" cy="37147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23000"/>
              </a:lnSpc>
              <a:spcBef>
                <a:spcPts val="800"/>
              </a:spcBef>
              <a:spcAft>
                <a:spcPts val="600"/>
              </a:spcAft>
              <a:buNone/>
            </a:pPr>
            <a:r>
              <a:rPr lang="zh-CN" altLang="en-US" sz="2400" dirty="0">
                <a:cs typeface="+mn-ea"/>
                <a:sym typeface="+mn-lt"/>
              </a:rPr>
              <a:t>访问页面成功</a:t>
            </a:r>
            <a:r>
              <a:rPr lang="en-US" altLang="zh-CN" sz="2400" dirty="0">
                <a:cs typeface="+mn-ea"/>
                <a:sym typeface="+mn-lt"/>
              </a:rPr>
              <a:t>(</a:t>
            </a:r>
            <a:r>
              <a:rPr lang="zh-CN" altLang="en-US" sz="2400" dirty="0">
                <a:cs typeface="+mn-ea"/>
                <a:sym typeface="+mn-lt"/>
              </a:rPr>
              <a:t>在内存</a:t>
            </a:r>
            <a:r>
              <a:rPr lang="en-US" altLang="zh-CN" sz="2400" dirty="0">
                <a:cs typeface="+mn-ea"/>
                <a:sym typeface="+mn-lt"/>
              </a:rPr>
              <a:t>)</a:t>
            </a:r>
            <a:r>
              <a:rPr lang="zh-CN" altLang="en-US" sz="2400" dirty="0">
                <a:cs typeface="+mn-ea"/>
                <a:sym typeface="+mn-lt"/>
              </a:rPr>
              <a:t>的次数为</a:t>
            </a:r>
            <a:r>
              <a:rPr lang="en-US" altLang="zh-CN" sz="2400" dirty="0">
                <a:cs typeface="+mn-ea"/>
                <a:sym typeface="+mn-lt"/>
              </a:rPr>
              <a:t>S</a:t>
            </a:r>
            <a:endParaRPr lang="en-US" altLang="zh-CN" sz="2400" dirty="0">
              <a:cs typeface="+mn-ea"/>
              <a:sym typeface="+mn-lt"/>
            </a:endParaRPr>
          </a:p>
          <a:p>
            <a:pPr marL="457200" lvl="1" indent="0">
              <a:lnSpc>
                <a:spcPct val="123000"/>
              </a:lnSpc>
              <a:spcBef>
                <a:spcPts val="800"/>
              </a:spcBef>
              <a:spcAft>
                <a:spcPts val="600"/>
              </a:spcAft>
              <a:buNone/>
            </a:pPr>
            <a:r>
              <a:rPr lang="zh-CN" altLang="en-US" sz="2400" dirty="0">
                <a:cs typeface="+mn-ea"/>
                <a:sym typeface="+mn-lt"/>
              </a:rPr>
              <a:t>访问页面失败</a:t>
            </a:r>
            <a:r>
              <a:rPr lang="en-US" altLang="zh-CN" sz="2400" dirty="0">
                <a:cs typeface="+mn-ea"/>
                <a:sym typeface="+mn-lt"/>
              </a:rPr>
              <a:t>(</a:t>
            </a:r>
            <a:r>
              <a:rPr lang="zh-CN" altLang="en-US" sz="2400" dirty="0">
                <a:cs typeface="+mn-ea"/>
                <a:sym typeface="+mn-lt"/>
              </a:rPr>
              <a:t>不在内存</a:t>
            </a:r>
            <a:r>
              <a:rPr lang="en-US" altLang="zh-CN" sz="2400" dirty="0">
                <a:cs typeface="+mn-ea"/>
                <a:sym typeface="+mn-lt"/>
              </a:rPr>
              <a:t>)</a:t>
            </a:r>
            <a:r>
              <a:rPr lang="zh-CN" altLang="en-US" sz="2400" dirty="0">
                <a:cs typeface="+mn-ea"/>
                <a:sym typeface="+mn-lt"/>
              </a:rPr>
              <a:t>的次数为</a:t>
            </a:r>
            <a:r>
              <a:rPr lang="en-US" altLang="zh-CN" sz="2400" dirty="0">
                <a:cs typeface="+mn-ea"/>
                <a:sym typeface="+mn-lt"/>
              </a:rPr>
              <a:t>F</a:t>
            </a:r>
            <a:endParaRPr lang="en-US" altLang="zh-CN" sz="2400" dirty="0">
              <a:cs typeface="+mn-ea"/>
              <a:sym typeface="+mn-lt"/>
            </a:endParaRPr>
          </a:p>
          <a:p>
            <a:pPr marL="457200" lvl="1" indent="0">
              <a:lnSpc>
                <a:spcPct val="123000"/>
              </a:lnSpc>
              <a:spcBef>
                <a:spcPts val="800"/>
              </a:spcBef>
              <a:spcAft>
                <a:spcPts val="600"/>
              </a:spcAft>
              <a:buNone/>
            </a:pPr>
            <a:r>
              <a:rPr lang="zh-CN" altLang="en-US" sz="2400" dirty="0">
                <a:cs typeface="+mn-ea"/>
                <a:sym typeface="+mn-lt"/>
              </a:rPr>
              <a:t>总访问次数为</a:t>
            </a:r>
            <a:r>
              <a:rPr lang="en-US" altLang="zh-CN" sz="2400" dirty="0">
                <a:cs typeface="+mn-ea"/>
                <a:sym typeface="+mn-lt"/>
              </a:rPr>
              <a:t>A=S+F</a:t>
            </a:r>
            <a:endParaRPr lang="en-US" altLang="zh-CN" sz="2400" dirty="0">
              <a:cs typeface="+mn-ea"/>
              <a:sym typeface="+mn-lt"/>
            </a:endParaRPr>
          </a:p>
          <a:p>
            <a:pPr marL="457200" lvl="1" indent="0">
              <a:lnSpc>
                <a:spcPct val="123000"/>
              </a:lnSpc>
              <a:spcBef>
                <a:spcPts val="800"/>
              </a:spcBef>
              <a:spcAft>
                <a:spcPts val="600"/>
              </a:spcAft>
              <a:buNone/>
            </a:pPr>
            <a:r>
              <a:rPr lang="zh-CN" altLang="en-US" sz="2400" dirty="0">
                <a:solidFill>
                  <a:srgbClr val="FF0000"/>
                </a:solidFill>
                <a:cs typeface="+mn-ea"/>
                <a:sym typeface="+mn-lt"/>
              </a:rPr>
              <a:t>缺页率为 </a:t>
            </a:r>
            <a:r>
              <a:rPr lang="en-US" altLang="zh-CN" sz="2400" dirty="0">
                <a:solidFill>
                  <a:srgbClr val="FF0000"/>
                </a:solidFill>
                <a:cs typeface="+mn-ea"/>
                <a:sym typeface="+mn-lt"/>
              </a:rPr>
              <a:t>f= F/A</a:t>
            </a:r>
            <a:endParaRPr lang="en-US" altLang="zh-CN" sz="2400" dirty="0">
              <a:solidFill>
                <a:srgbClr val="FF0000"/>
              </a:solidFill>
              <a:cs typeface="+mn-ea"/>
              <a:sym typeface="+mn-lt"/>
            </a:endParaRPr>
          </a:p>
          <a:p>
            <a:pPr marL="457200" lvl="1" indent="0">
              <a:lnSpc>
                <a:spcPct val="123000"/>
              </a:lnSpc>
              <a:spcBef>
                <a:spcPts val="800"/>
              </a:spcBef>
              <a:spcAft>
                <a:spcPts val="600"/>
              </a:spcAft>
              <a:buNone/>
            </a:pPr>
            <a:r>
              <a:rPr lang="zh-CN" altLang="en-US" sz="2400" dirty="0">
                <a:cs typeface="+mn-ea"/>
                <a:sym typeface="+mn-lt"/>
              </a:rPr>
              <a:t>影响因素：页面大小、分配内存块的数目、页面置换算法、程序固有属性</a:t>
            </a:r>
            <a:endParaRPr lang="en-US" altLang="zh-CN" sz="2400" dirty="0">
              <a:cs typeface="+mn-ea"/>
              <a:sym typeface="+mn-lt"/>
            </a:endParaRPr>
          </a:p>
          <a:p>
            <a:pPr marL="914400" lvl="2" indent="0">
              <a:lnSpc>
                <a:spcPct val="123000"/>
              </a:lnSpc>
              <a:spcBef>
                <a:spcPts val="800"/>
              </a:spcBef>
              <a:spcAft>
                <a:spcPts val="600"/>
              </a:spcAft>
              <a:buNone/>
            </a:pPr>
            <a:endParaRPr lang="zh-CN" altLang="en-US" sz="2400" baseline="-25000" dirty="0">
              <a:cs typeface="+mn-ea"/>
              <a:sym typeface="+mn-lt"/>
            </a:endParaRPr>
          </a:p>
        </p:txBody>
      </p:sp>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82799" y="2069892"/>
            <a:ext cx="527050" cy="527050"/>
          </a:xfrm>
          <a:prstGeom prst="rect">
            <a:avLst/>
          </a:prstGeom>
          <a:ln>
            <a:noFill/>
          </a:ln>
          <a:effectLst>
            <a:softEdge rad="0"/>
          </a:effectLst>
        </p:spPr>
      </p:pic>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82799" y="2655032"/>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82799" y="3310501"/>
            <a:ext cx="527050" cy="527050"/>
          </a:xfrm>
          <a:prstGeom prst="rect">
            <a:avLst/>
          </a:prstGeom>
          <a:ln>
            <a:noFill/>
          </a:ln>
          <a:effectLst>
            <a:softEdge rad="0"/>
          </a:effectLst>
        </p:spPr>
      </p:pic>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82799" y="3928974"/>
            <a:ext cx="527050" cy="527050"/>
          </a:xfrm>
          <a:prstGeom prst="rect">
            <a:avLst/>
          </a:prstGeom>
          <a:ln>
            <a:noFill/>
          </a:ln>
          <a:effectLst>
            <a:softEdge rad="0"/>
          </a:effectLst>
        </p:spPr>
      </p:pic>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82799" y="4555054"/>
            <a:ext cx="527050" cy="527050"/>
          </a:xfrm>
          <a:prstGeom prst="rect">
            <a:avLst/>
          </a:prstGeom>
          <a:ln>
            <a:noFill/>
          </a:ln>
          <a:effectLst>
            <a:softEdge rad="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缺页中断处理时间的例子</a:t>
            </a:r>
            <a:endParaRPr lang="zh-CN" altLang="en-US" sz="2800" b="1" dirty="0">
              <a:solidFill>
                <a:schemeClr val="bg1"/>
              </a:solidFill>
              <a:cs typeface="+mn-ea"/>
              <a:sym typeface="+mn-lt"/>
            </a:endParaRPr>
          </a:p>
        </p:txBody>
      </p:sp>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97719" y="1268905"/>
            <a:ext cx="527050" cy="527050"/>
          </a:xfrm>
          <a:prstGeom prst="rect">
            <a:avLst/>
          </a:prstGeom>
          <a:ln>
            <a:noFill/>
          </a:ln>
          <a:effectLst>
            <a:softEdge rad="0"/>
          </a:effectLst>
        </p:spPr>
      </p:pic>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97719" y="1854045"/>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97719" y="2509514"/>
            <a:ext cx="527050" cy="527050"/>
          </a:xfrm>
          <a:prstGeom prst="rect">
            <a:avLst/>
          </a:prstGeom>
          <a:ln>
            <a:noFill/>
          </a:ln>
          <a:effectLst>
            <a:softEdge rad="0"/>
          </a:effectLst>
        </p:spPr>
      </p:pic>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97719" y="4267488"/>
            <a:ext cx="527050" cy="527050"/>
          </a:xfrm>
          <a:prstGeom prst="rect">
            <a:avLst/>
          </a:prstGeom>
          <a:ln>
            <a:noFill/>
          </a:ln>
          <a:effectLst>
            <a:softEdge rad="0"/>
          </a:effectLst>
        </p:spPr>
      </p:pic>
      <p:sp>
        <p:nvSpPr>
          <p:cNvPr id="11" name="内容占位符 2"/>
          <p:cNvSpPr txBox="1"/>
          <p:nvPr/>
        </p:nvSpPr>
        <p:spPr>
          <a:xfrm>
            <a:off x="1837055" y="1103630"/>
            <a:ext cx="8957945" cy="41065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tabLst>
                <a:tab pos="1774825" algn="l"/>
                <a:tab pos="2279650" algn="l"/>
              </a:tabLst>
            </a:pPr>
            <a:r>
              <a:rPr lang="zh-CN" altLang="en-US" sz="2400" dirty="0">
                <a:solidFill>
                  <a:srgbClr val="0000FF"/>
                </a:solidFill>
                <a:cs typeface="+mn-ea"/>
                <a:sym typeface="+mn-lt"/>
              </a:rPr>
              <a:t>存取内存的</a:t>
            </a:r>
            <a:r>
              <a:rPr lang="zh-CN" altLang="en-US" sz="2400" dirty="0">
                <a:cs typeface="+mn-ea"/>
                <a:sym typeface="+mn-lt"/>
              </a:rPr>
              <a:t>时间</a:t>
            </a:r>
            <a:r>
              <a:rPr lang="en-US" altLang="zh-CN" sz="2400" dirty="0">
                <a:cs typeface="+mn-ea"/>
                <a:sym typeface="+mn-lt"/>
              </a:rPr>
              <a:t>= 200 nanoseconds (ns)</a:t>
            </a:r>
            <a:endParaRPr lang="en-US" altLang="zh-CN" sz="2400" dirty="0">
              <a:cs typeface="+mn-ea"/>
              <a:sym typeface="+mn-lt"/>
            </a:endParaRPr>
          </a:p>
          <a:p>
            <a:pPr marL="0" indent="0">
              <a:lnSpc>
                <a:spcPct val="123000"/>
              </a:lnSpc>
              <a:spcBef>
                <a:spcPts val="600"/>
              </a:spcBef>
              <a:spcAft>
                <a:spcPts val="600"/>
              </a:spcAft>
              <a:buNone/>
              <a:tabLst>
                <a:tab pos="1774825" algn="l"/>
                <a:tab pos="2279650" algn="l"/>
              </a:tabLst>
            </a:pPr>
            <a:r>
              <a:rPr lang="zh-CN" altLang="en-US" sz="2400" dirty="0">
                <a:solidFill>
                  <a:srgbClr val="0000FF"/>
                </a:solidFill>
                <a:cs typeface="+mn-ea"/>
                <a:sym typeface="+mn-lt"/>
              </a:rPr>
              <a:t>平均缺页处理</a:t>
            </a:r>
            <a:r>
              <a:rPr lang="zh-CN" altLang="en-US" sz="2400" dirty="0">
                <a:cs typeface="+mn-ea"/>
                <a:sym typeface="+mn-lt"/>
              </a:rPr>
              <a:t>时间 </a:t>
            </a:r>
            <a:r>
              <a:rPr lang="en-US" altLang="zh-CN" sz="2400" dirty="0">
                <a:cs typeface="+mn-ea"/>
                <a:sym typeface="+mn-lt"/>
              </a:rPr>
              <a:t>= 8 milliseconds (</a:t>
            </a:r>
            <a:r>
              <a:rPr lang="en-US" altLang="zh-CN" sz="2400" dirty="0" err="1">
                <a:cs typeface="+mn-ea"/>
                <a:sym typeface="+mn-lt"/>
              </a:rPr>
              <a:t>ms</a:t>
            </a:r>
            <a:r>
              <a:rPr lang="en-US" altLang="zh-CN" sz="2400" dirty="0">
                <a:cs typeface="+mn-ea"/>
                <a:sym typeface="+mn-lt"/>
              </a:rPr>
              <a:t>)</a:t>
            </a:r>
            <a:endParaRPr lang="en-US" altLang="zh-CN" sz="2400" dirty="0">
              <a:cs typeface="+mn-ea"/>
              <a:sym typeface="+mn-lt"/>
            </a:endParaRPr>
          </a:p>
          <a:p>
            <a:pPr marL="0" indent="0">
              <a:lnSpc>
                <a:spcPct val="123000"/>
              </a:lnSpc>
              <a:spcBef>
                <a:spcPts val="600"/>
              </a:spcBef>
              <a:spcAft>
                <a:spcPts val="600"/>
              </a:spcAft>
              <a:buNone/>
              <a:tabLst>
                <a:tab pos="1774825" algn="l"/>
                <a:tab pos="2279650" algn="l"/>
              </a:tabLst>
            </a:pPr>
            <a:r>
              <a:rPr lang="en-US" altLang="zh-CN" sz="2400" dirty="0">
                <a:cs typeface="+mn-ea"/>
                <a:sym typeface="+mn-lt"/>
              </a:rPr>
              <a:t>f </a:t>
            </a:r>
            <a:r>
              <a:rPr lang="zh-CN" altLang="en-US" sz="2400" dirty="0">
                <a:cs typeface="+mn-ea"/>
                <a:sym typeface="+mn-lt"/>
              </a:rPr>
              <a:t>为缺页率</a:t>
            </a:r>
            <a:endParaRPr lang="en-US" altLang="zh-CN" sz="2400" dirty="0">
              <a:cs typeface="+mn-ea"/>
              <a:sym typeface="+mn-lt"/>
            </a:endParaRPr>
          </a:p>
          <a:p>
            <a:pPr marL="0" indent="0">
              <a:lnSpc>
                <a:spcPct val="123000"/>
              </a:lnSpc>
              <a:spcBef>
                <a:spcPts val="600"/>
              </a:spcBef>
              <a:spcAft>
                <a:spcPts val="600"/>
              </a:spcAft>
              <a:buNone/>
              <a:tabLst>
                <a:tab pos="1774825" algn="l"/>
                <a:tab pos="2279650" algn="l"/>
              </a:tabLst>
            </a:pPr>
            <a:r>
              <a:rPr lang="en-US" altLang="zh-CN" sz="2400" i="1" dirty="0">
                <a:cs typeface="+mn-ea"/>
                <a:sym typeface="+mn-lt"/>
              </a:rPr>
              <a:t>t</a:t>
            </a:r>
            <a:r>
              <a:rPr lang="en-US" altLang="zh-CN" sz="2400" dirty="0">
                <a:cs typeface="+mn-ea"/>
                <a:sym typeface="+mn-lt"/>
              </a:rPr>
              <a:t> = (1 – f) </a:t>
            </a:r>
            <a:r>
              <a:rPr lang="zh-CN" altLang="en-US" sz="2400" dirty="0">
                <a:cs typeface="+mn-ea"/>
                <a:sym typeface="+mn-lt"/>
              </a:rPr>
              <a:t>×</a:t>
            </a:r>
            <a:r>
              <a:rPr lang="en-US" altLang="zh-CN" sz="2400" dirty="0">
                <a:cs typeface="+mn-ea"/>
                <a:sym typeface="+mn-lt"/>
              </a:rPr>
              <a:t> 200ns + f </a:t>
            </a:r>
            <a:r>
              <a:rPr lang="zh-CN" altLang="en-US" sz="2400" dirty="0">
                <a:cs typeface="+mn-ea"/>
                <a:sym typeface="+mn-lt"/>
              </a:rPr>
              <a:t>×</a:t>
            </a:r>
            <a:r>
              <a:rPr lang="en-US" altLang="zh-CN" sz="2400" dirty="0">
                <a:cs typeface="+mn-ea"/>
                <a:sym typeface="+mn-lt"/>
              </a:rPr>
              <a:t> 8ms </a:t>
            </a:r>
            <a:endParaRPr lang="en-US" altLang="zh-CN" sz="2400" dirty="0">
              <a:cs typeface="+mn-ea"/>
              <a:sym typeface="+mn-lt"/>
            </a:endParaRPr>
          </a:p>
          <a:p>
            <a:pPr marL="0" indent="0">
              <a:lnSpc>
                <a:spcPct val="123000"/>
              </a:lnSpc>
              <a:spcBef>
                <a:spcPts val="600"/>
              </a:spcBef>
              <a:spcAft>
                <a:spcPts val="600"/>
              </a:spcAft>
              <a:buNone/>
              <a:tabLst>
                <a:tab pos="1774825" algn="l"/>
                <a:tab pos="2279650" algn="l"/>
              </a:tabLst>
            </a:pPr>
            <a:r>
              <a:rPr lang="en-US" altLang="zh-CN" sz="2400" dirty="0">
                <a:cs typeface="+mn-ea"/>
                <a:sym typeface="+mn-lt"/>
              </a:rPr>
              <a:t>  = (1 – f) </a:t>
            </a:r>
            <a:r>
              <a:rPr lang="zh-CN" altLang="en-US" sz="2400" dirty="0">
                <a:cs typeface="+mn-ea"/>
                <a:sym typeface="+mn-lt"/>
              </a:rPr>
              <a:t>×</a:t>
            </a:r>
            <a:r>
              <a:rPr lang="en-US" altLang="zh-CN" sz="2400" dirty="0">
                <a:cs typeface="+mn-ea"/>
                <a:sym typeface="+mn-lt"/>
              </a:rPr>
              <a:t> 200ns + f </a:t>
            </a:r>
            <a:r>
              <a:rPr lang="zh-CN" altLang="en-US" sz="2400" dirty="0">
                <a:cs typeface="+mn-ea"/>
                <a:sym typeface="+mn-lt"/>
              </a:rPr>
              <a:t>×</a:t>
            </a:r>
            <a:r>
              <a:rPr lang="en-US" altLang="zh-CN" sz="2400" dirty="0">
                <a:cs typeface="+mn-ea"/>
                <a:sym typeface="+mn-lt"/>
              </a:rPr>
              <a:t>8,000,000ns </a:t>
            </a:r>
            <a:endParaRPr lang="en-US" altLang="zh-CN" sz="2400" dirty="0">
              <a:cs typeface="+mn-ea"/>
              <a:sym typeface="+mn-lt"/>
            </a:endParaRPr>
          </a:p>
          <a:p>
            <a:pPr marL="0" indent="0">
              <a:lnSpc>
                <a:spcPct val="123000"/>
              </a:lnSpc>
              <a:spcBef>
                <a:spcPts val="600"/>
              </a:spcBef>
              <a:spcAft>
                <a:spcPts val="600"/>
              </a:spcAft>
              <a:buNone/>
              <a:tabLst>
                <a:tab pos="1774825" algn="l"/>
                <a:tab pos="2279650" algn="l"/>
              </a:tabLst>
            </a:pPr>
            <a:r>
              <a:rPr lang="en-US" altLang="zh-CN" sz="2400" dirty="0">
                <a:cs typeface="+mn-ea"/>
                <a:sym typeface="+mn-lt"/>
              </a:rPr>
              <a:t>  = 200ns + f </a:t>
            </a:r>
            <a:r>
              <a:rPr lang="zh-CN" altLang="en-US" sz="2400" dirty="0">
                <a:cs typeface="+mn-ea"/>
                <a:sym typeface="+mn-lt"/>
              </a:rPr>
              <a:t>×</a:t>
            </a:r>
            <a:r>
              <a:rPr lang="en-US" altLang="zh-CN" sz="2400" dirty="0">
                <a:cs typeface="+mn-ea"/>
                <a:sym typeface="+mn-lt"/>
              </a:rPr>
              <a:t> 7,999,800ns</a:t>
            </a:r>
            <a:endParaRPr lang="en-US" altLang="zh-CN" sz="2400" dirty="0">
              <a:cs typeface="+mn-ea"/>
              <a:sym typeface="+mn-lt"/>
            </a:endParaRPr>
          </a:p>
          <a:p>
            <a:pPr marL="0" indent="0">
              <a:lnSpc>
                <a:spcPct val="123000"/>
              </a:lnSpc>
              <a:spcBef>
                <a:spcPts val="600"/>
              </a:spcBef>
              <a:spcAft>
                <a:spcPts val="600"/>
              </a:spcAft>
              <a:buNone/>
              <a:tabLst>
                <a:tab pos="1774825" algn="l"/>
                <a:tab pos="2279650" algn="l"/>
              </a:tabLst>
            </a:pPr>
            <a:r>
              <a:rPr lang="zh-CN" altLang="en-US" sz="2400" dirty="0">
                <a:cs typeface="+mn-ea"/>
                <a:sym typeface="+mn-lt"/>
              </a:rPr>
              <a:t>如果每</a:t>
            </a:r>
            <a:r>
              <a:rPr lang="en-US" altLang="zh-CN" sz="2400" dirty="0">
                <a:cs typeface="+mn-ea"/>
                <a:sym typeface="+mn-lt"/>
              </a:rPr>
              <a:t>1,000</a:t>
            </a:r>
            <a:r>
              <a:rPr lang="zh-CN" altLang="en-US" sz="2400" dirty="0">
                <a:cs typeface="+mn-ea"/>
                <a:sym typeface="+mn-lt"/>
              </a:rPr>
              <a:t>次访问中有一个缺页中断，那么：</a:t>
            </a:r>
            <a:endParaRPr lang="zh-CN" altLang="en-US" sz="2400" dirty="0">
              <a:cs typeface="+mn-ea"/>
              <a:sym typeface="+mn-lt"/>
            </a:endParaRPr>
          </a:p>
          <a:p>
            <a:pPr marL="0" indent="0">
              <a:lnSpc>
                <a:spcPct val="123000"/>
              </a:lnSpc>
              <a:spcBef>
                <a:spcPts val="600"/>
              </a:spcBef>
              <a:spcAft>
                <a:spcPts val="600"/>
              </a:spcAft>
              <a:buNone/>
              <a:tabLst>
                <a:tab pos="1774825" algn="l"/>
                <a:tab pos="2279650" algn="l"/>
              </a:tabLst>
            </a:pPr>
            <a:r>
              <a:rPr lang="en-US" altLang="zh-CN" sz="2400" dirty="0">
                <a:cs typeface="+mn-ea"/>
                <a:sym typeface="+mn-lt"/>
              </a:rPr>
              <a:t>     </a:t>
            </a:r>
            <a:r>
              <a:rPr lang="en-US" altLang="zh-CN" sz="2400" i="1" dirty="0">
                <a:cs typeface="+mn-ea"/>
                <a:sym typeface="+mn-lt"/>
              </a:rPr>
              <a:t>t </a:t>
            </a:r>
            <a:r>
              <a:rPr lang="en-US" altLang="zh-CN" sz="2400" dirty="0">
                <a:cs typeface="+mn-ea"/>
                <a:sym typeface="+mn-lt"/>
              </a:rPr>
              <a:t>= 8.2 </a:t>
            </a:r>
            <a:r>
              <a:rPr lang="en-US" altLang="zh-CN" sz="2400" dirty="0" err="1">
                <a:cs typeface="+mn-ea"/>
                <a:sym typeface="+mn-lt"/>
              </a:rPr>
              <a:t>ms</a:t>
            </a:r>
            <a:r>
              <a:rPr lang="en-US" altLang="zh-CN" sz="2400" dirty="0">
                <a:cs typeface="+mn-ea"/>
                <a:sym typeface="+mn-lt"/>
              </a:rPr>
              <a:t> </a:t>
            </a:r>
            <a:endParaRPr lang="en-US" altLang="zh-CN" sz="2400" dirty="0">
              <a:cs typeface="+mn-ea"/>
              <a:sym typeface="+mn-lt"/>
            </a:endParaRPr>
          </a:p>
          <a:p>
            <a:pPr marL="0" indent="0">
              <a:lnSpc>
                <a:spcPct val="123000"/>
              </a:lnSpc>
              <a:spcBef>
                <a:spcPts val="600"/>
              </a:spcBef>
              <a:spcAft>
                <a:spcPts val="600"/>
              </a:spcAft>
              <a:buNone/>
              <a:tabLst>
                <a:tab pos="1774825" algn="l"/>
                <a:tab pos="2279650" algn="l"/>
              </a:tabLst>
            </a:pPr>
            <a:r>
              <a:rPr lang="zh-CN" altLang="en-US" sz="2400" b="1" dirty="0">
                <a:solidFill>
                  <a:srgbClr val="FF0000"/>
                </a:solidFill>
                <a:cs typeface="+mn-ea"/>
                <a:sym typeface="+mn-lt"/>
              </a:rPr>
              <a:t>    这是导致计算机速度放慢</a:t>
            </a:r>
            <a:r>
              <a:rPr lang="en-US" altLang="zh-CN" sz="2400" b="1" dirty="0">
                <a:solidFill>
                  <a:srgbClr val="FF0000"/>
                </a:solidFill>
                <a:cs typeface="+mn-ea"/>
                <a:sym typeface="+mn-lt"/>
              </a:rPr>
              <a:t>40</a:t>
            </a:r>
            <a:r>
              <a:rPr lang="zh-CN" altLang="en-US" sz="2400" b="1" dirty="0">
                <a:solidFill>
                  <a:srgbClr val="FF0000"/>
                </a:solidFill>
                <a:cs typeface="+mn-ea"/>
                <a:sym typeface="+mn-lt"/>
              </a:rPr>
              <a:t>倍的影响因子！</a:t>
            </a:r>
            <a:endParaRPr lang="en-US" altLang="zh-CN" sz="2400" b="1" dirty="0">
              <a:cs typeface="+mn-ea"/>
              <a:sym typeface="+mn-lt"/>
            </a:endParaRPr>
          </a:p>
          <a:p>
            <a:pPr marL="0" indent="0">
              <a:lnSpc>
                <a:spcPct val="123000"/>
              </a:lnSpc>
              <a:spcBef>
                <a:spcPts val="600"/>
              </a:spcBef>
              <a:spcAft>
                <a:spcPts val="600"/>
              </a:spcAft>
              <a:buNone/>
              <a:tabLst>
                <a:tab pos="1774825" algn="l"/>
                <a:tab pos="2279650" algn="l"/>
              </a:tabLst>
            </a:pPr>
            <a:endParaRPr lang="zh-CN" altLang="en-US" sz="2400" dirty="0">
              <a:cs typeface="+mn-ea"/>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b="1" dirty="0">
                <a:solidFill>
                  <a:srgbClr val="0000FF"/>
                </a:solidFill>
                <a:cs typeface="+mn-ea"/>
                <a:sym typeface="+mn-lt"/>
              </a:rPr>
              <a:t>6.3 </a:t>
            </a:r>
            <a:r>
              <a:rPr lang="zh-CN" altLang="en-US" sz="2400" b="1" dirty="0">
                <a:solidFill>
                  <a:srgbClr val="0000FF"/>
                </a:solidFill>
                <a:cs typeface="+mn-ea"/>
                <a:sym typeface="+mn-lt"/>
              </a:rPr>
              <a:t>页面置换算法</a:t>
            </a:r>
            <a:endParaRPr lang="en-US" altLang="zh-CN" sz="2400" b="1" dirty="0">
              <a:solidFill>
                <a:srgbClr val="0000FF"/>
              </a:solidFill>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cs typeface="+mn-ea"/>
                <a:sym typeface="+mn-lt"/>
              </a:rPr>
              <a:t>6.5 </a:t>
            </a:r>
            <a:r>
              <a:rPr lang="zh-CN" altLang="en-US" sz="2400" dirty="0">
                <a:cs typeface="+mn-ea"/>
                <a:sym typeface="+mn-lt"/>
              </a:rPr>
              <a:t>请求分段存储管理方式</a:t>
            </a:r>
            <a:endParaRPr lang="zh-CN" altLang="en-US" sz="2400" dirty="0">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cs typeface="+mn-ea"/>
                <a:sym typeface="+mn-lt"/>
              </a:rPr>
              <a:t>6.6 </a:t>
            </a:r>
            <a:r>
              <a:rPr lang="zh-CN" altLang="en-US" sz="2400" dirty="0">
                <a:cs typeface="+mn-ea"/>
                <a:sym typeface="+mn-lt"/>
              </a:rPr>
              <a:t>虚拟存储器实现实例</a:t>
            </a:r>
            <a:endParaRPr lang="zh-CN" altLang="en-US" sz="2400" dirty="0">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页面置换</a:t>
            </a:r>
            <a:endParaRPr lang="zh-CN" altLang="en-US" sz="2800" b="1" dirty="0">
              <a:solidFill>
                <a:schemeClr val="bg1"/>
              </a:solidFill>
              <a:cs typeface="+mn-ea"/>
              <a:sym typeface="+mn-lt"/>
            </a:endParaRPr>
          </a:p>
        </p:txBody>
      </p:sp>
      <p:sp>
        <p:nvSpPr>
          <p:cNvPr id="22" name="îśḻiďé"/>
          <p:cNvSpPr/>
          <p:nvPr/>
        </p:nvSpPr>
        <p:spPr bwMode="auto">
          <a:xfrm>
            <a:off x="1243909" y="1646786"/>
            <a:ext cx="846430" cy="846430"/>
          </a:xfrm>
          <a:prstGeom prst="ellipse">
            <a:avLst/>
          </a:prstGeom>
          <a:solidFill>
            <a:schemeClr val="accent2"/>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3" name="išľiďe"/>
          <p:cNvSpPr/>
          <p:nvPr/>
        </p:nvSpPr>
        <p:spPr bwMode="auto">
          <a:xfrm>
            <a:off x="1953324" y="3435269"/>
            <a:ext cx="847397" cy="846430"/>
          </a:xfrm>
          <a:prstGeom prst="ellipse">
            <a:avLst/>
          </a:prstGeom>
          <a:solidFill>
            <a:schemeClr val="accent3"/>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4" name="íśľîḋé"/>
          <p:cNvSpPr/>
          <p:nvPr/>
        </p:nvSpPr>
        <p:spPr bwMode="auto">
          <a:xfrm>
            <a:off x="1356558" y="4879630"/>
            <a:ext cx="846430" cy="847396"/>
          </a:xfrm>
          <a:prstGeom prst="ellipse">
            <a:avLst/>
          </a:prstGeom>
          <a:solidFill>
            <a:schemeClr val="accent4"/>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5" name="ïṡḷidè"/>
          <p:cNvSpPr/>
          <p:nvPr/>
        </p:nvSpPr>
        <p:spPr bwMode="auto">
          <a:xfrm>
            <a:off x="2204667" y="3686389"/>
            <a:ext cx="344710" cy="344189"/>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26" name="iṡļîḍé"/>
          <p:cNvSpPr/>
          <p:nvPr/>
        </p:nvSpPr>
        <p:spPr bwMode="auto">
          <a:xfrm>
            <a:off x="1607418" y="5131234"/>
            <a:ext cx="344710" cy="344189"/>
          </a:xfrm>
          <a:custGeom>
            <a:avLst/>
            <a:gdLst>
              <a:gd name="connsiteX0" fmla="*/ 257564 w 607639"/>
              <a:gd name="connsiteY0" fmla="*/ 92370 h 606722"/>
              <a:gd name="connsiteX1" fmla="*/ 277411 w 607639"/>
              <a:gd name="connsiteY1" fmla="*/ 112098 h 606722"/>
              <a:gd name="connsiteX2" fmla="*/ 277411 w 607639"/>
              <a:gd name="connsiteY2" fmla="*/ 329729 h 606722"/>
              <a:gd name="connsiteX3" fmla="*/ 495281 w 607639"/>
              <a:gd name="connsiteY3" fmla="*/ 329729 h 606722"/>
              <a:gd name="connsiteX4" fmla="*/ 515128 w 607639"/>
              <a:gd name="connsiteY4" fmla="*/ 349546 h 606722"/>
              <a:gd name="connsiteX5" fmla="*/ 257564 w 607639"/>
              <a:gd name="connsiteY5" fmla="*/ 606722 h 606722"/>
              <a:gd name="connsiteX6" fmla="*/ 0 w 607639"/>
              <a:gd name="connsiteY6" fmla="*/ 349546 h 606722"/>
              <a:gd name="connsiteX7" fmla="*/ 257564 w 607639"/>
              <a:gd name="connsiteY7" fmla="*/ 92370 h 606722"/>
              <a:gd name="connsiteX8" fmla="*/ 350027 w 607639"/>
              <a:gd name="connsiteY8" fmla="*/ 0 h 606722"/>
              <a:gd name="connsiteX9" fmla="*/ 607639 w 607639"/>
              <a:gd name="connsiteY9" fmla="*/ 257220 h 606722"/>
              <a:gd name="connsiteX10" fmla="*/ 587788 w 607639"/>
              <a:gd name="connsiteY10" fmla="*/ 277040 h 606722"/>
              <a:gd name="connsiteX11" fmla="*/ 350027 w 607639"/>
              <a:gd name="connsiteY11" fmla="*/ 277040 h 606722"/>
              <a:gd name="connsiteX12" fmla="*/ 330176 w 607639"/>
              <a:gd name="connsiteY12" fmla="*/ 257220 h 606722"/>
              <a:gd name="connsiteX13" fmla="*/ 330176 w 607639"/>
              <a:gd name="connsiteY13" fmla="*/ 19820 h 606722"/>
              <a:gd name="connsiteX14" fmla="*/ 350027 w 607639"/>
              <a:gd name="connsiteY14"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7639" h="606722">
                <a:moveTo>
                  <a:pt x="257564" y="92370"/>
                </a:moveTo>
                <a:cubicBezTo>
                  <a:pt x="268511" y="92370"/>
                  <a:pt x="277411" y="101168"/>
                  <a:pt x="277411" y="112098"/>
                </a:cubicBezTo>
                <a:lnTo>
                  <a:pt x="277411" y="329729"/>
                </a:lnTo>
                <a:lnTo>
                  <a:pt x="495281" y="329729"/>
                </a:lnTo>
                <a:cubicBezTo>
                  <a:pt x="506228" y="329729"/>
                  <a:pt x="515128" y="338616"/>
                  <a:pt x="515128" y="349546"/>
                </a:cubicBezTo>
                <a:cubicBezTo>
                  <a:pt x="515128" y="491286"/>
                  <a:pt x="399607" y="606722"/>
                  <a:pt x="257564" y="606722"/>
                </a:cubicBezTo>
                <a:cubicBezTo>
                  <a:pt x="115521" y="606722"/>
                  <a:pt x="0" y="491286"/>
                  <a:pt x="0" y="349546"/>
                </a:cubicBezTo>
                <a:cubicBezTo>
                  <a:pt x="0" y="207717"/>
                  <a:pt x="115521" y="92370"/>
                  <a:pt x="257564" y="92370"/>
                </a:cubicBezTo>
                <a:close/>
                <a:moveTo>
                  <a:pt x="350027" y="0"/>
                </a:moveTo>
                <a:cubicBezTo>
                  <a:pt x="492007" y="0"/>
                  <a:pt x="607639" y="115367"/>
                  <a:pt x="607639" y="257220"/>
                </a:cubicBezTo>
                <a:cubicBezTo>
                  <a:pt x="607639" y="268152"/>
                  <a:pt x="598737" y="277040"/>
                  <a:pt x="587788" y="277040"/>
                </a:cubicBezTo>
                <a:lnTo>
                  <a:pt x="350027" y="277040"/>
                </a:lnTo>
                <a:cubicBezTo>
                  <a:pt x="339078" y="277040"/>
                  <a:pt x="330176" y="268152"/>
                  <a:pt x="330176" y="257220"/>
                </a:cubicBezTo>
                <a:lnTo>
                  <a:pt x="330176" y="19820"/>
                </a:lnTo>
                <a:cubicBezTo>
                  <a:pt x="330176" y="8888"/>
                  <a:pt x="339078" y="0"/>
                  <a:pt x="350027"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27" name="ïslíḓé"/>
          <p:cNvSpPr/>
          <p:nvPr/>
        </p:nvSpPr>
        <p:spPr bwMode="auto">
          <a:xfrm>
            <a:off x="1495397" y="1900170"/>
            <a:ext cx="343455" cy="339662"/>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91440" tIns="45720" rIns="91440" bIns="4572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28" name="ïṣľîḋê"/>
          <p:cNvSpPr/>
          <p:nvPr/>
        </p:nvSpPr>
        <p:spPr>
          <a:xfrm>
            <a:off x="2341827" y="1518452"/>
            <a:ext cx="8051950" cy="1665696"/>
          </a:xfrm>
          <a:prstGeom prst="rect">
            <a:avLst/>
          </a:prstGeom>
        </p:spPr>
        <p:txBody>
          <a:bodyPr wrap="square" lIns="91440" tIns="45720" rIns="91440" bIns="45720" anchor="ctr" anchorCtr="0">
            <a:normAutofit/>
          </a:bodyPr>
          <a:lstStyle/>
          <a:p>
            <a:pPr>
              <a:lnSpc>
                <a:spcPct val="123000"/>
              </a:lnSpc>
            </a:pPr>
            <a:r>
              <a:rPr lang="zh-CN" altLang="en-US" sz="2400" dirty="0">
                <a:cs typeface="+mn-ea"/>
                <a:sym typeface="+mn-lt"/>
              </a:rPr>
              <a:t>页面置换：找到内存中没有使用的一些页，换出</a:t>
            </a:r>
            <a:endParaRPr lang="zh-CN" altLang="en-US" sz="2400" dirty="0">
              <a:cs typeface="+mn-ea"/>
              <a:sym typeface="+mn-lt"/>
            </a:endParaRPr>
          </a:p>
          <a:p>
            <a:pPr marL="342900" indent="-342900">
              <a:lnSpc>
                <a:spcPct val="123000"/>
              </a:lnSpc>
              <a:buClr>
                <a:schemeClr val="tx1"/>
              </a:buClr>
              <a:buFont typeface="Wingdings" panose="05000000000000000000" pitchFamily="2" charset="2"/>
              <a:buChar char="Ø"/>
            </a:pPr>
            <a:r>
              <a:rPr lang="zh-CN" altLang="en-US" sz="2400" dirty="0">
                <a:cs typeface="+mn-ea"/>
                <a:sym typeface="+mn-lt"/>
              </a:rPr>
              <a:t>算法：替换策略</a:t>
            </a:r>
            <a:endParaRPr lang="zh-CN" altLang="en-US" sz="2400" dirty="0">
              <a:cs typeface="+mn-ea"/>
              <a:sym typeface="+mn-lt"/>
            </a:endParaRPr>
          </a:p>
          <a:p>
            <a:pPr marL="342900" indent="-342900">
              <a:lnSpc>
                <a:spcPct val="123000"/>
              </a:lnSpc>
              <a:buClr>
                <a:schemeClr val="tx1"/>
              </a:buClr>
              <a:buFont typeface="Wingdings" panose="05000000000000000000" pitchFamily="2" charset="2"/>
              <a:buChar char="Ø"/>
            </a:pPr>
            <a:r>
              <a:rPr lang="zh-CN" altLang="en-US" sz="2400" dirty="0">
                <a:cs typeface="+mn-ea"/>
                <a:sym typeface="+mn-lt"/>
              </a:rPr>
              <a:t>性能 ：找出一个导致最小缺页数的算法</a:t>
            </a:r>
            <a:endParaRPr lang="zh-CN" altLang="en-US" sz="2400" dirty="0">
              <a:cs typeface="+mn-ea"/>
              <a:sym typeface="+mn-lt"/>
            </a:endParaRPr>
          </a:p>
        </p:txBody>
      </p:sp>
      <p:sp>
        <p:nvSpPr>
          <p:cNvPr id="29" name="îṧľïdè"/>
          <p:cNvSpPr/>
          <p:nvPr/>
        </p:nvSpPr>
        <p:spPr>
          <a:xfrm>
            <a:off x="2932850" y="3215469"/>
            <a:ext cx="6512240" cy="1066230"/>
          </a:xfrm>
          <a:prstGeom prst="rect">
            <a:avLst/>
          </a:prstGeom>
        </p:spPr>
        <p:txBody>
          <a:bodyPr wrap="square" lIns="91440" tIns="45720" rIns="91440" bIns="45720" anchor="ctr" anchorCtr="0">
            <a:normAutofit/>
          </a:bodyPr>
          <a:lstStyle/>
          <a:p>
            <a:pPr>
              <a:lnSpc>
                <a:spcPct val="132000"/>
              </a:lnSpc>
            </a:pPr>
            <a:r>
              <a:rPr lang="zh-CN" altLang="en-US" sz="2400" dirty="0">
                <a:solidFill>
                  <a:srgbClr val="0000FF"/>
                </a:solidFill>
                <a:cs typeface="+mn-ea"/>
                <a:sym typeface="+mn-lt"/>
              </a:rPr>
              <a:t>同一个页可能会被装入内存多次</a:t>
            </a:r>
            <a:endParaRPr lang="zh-CN" altLang="en-US" sz="2400" dirty="0">
              <a:solidFill>
                <a:srgbClr val="0000FF"/>
              </a:solidFill>
              <a:cs typeface="+mn-ea"/>
              <a:sym typeface="+mn-lt"/>
            </a:endParaRPr>
          </a:p>
        </p:txBody>
      </p:sp>
      <p:sp>
        <p:nvSpPr>
          <p:cNvPr id="30" name="ïśļíde"/>
          <p:cNvSpPr/>
          <p:nvPr/>
        </p:nvSpPr>
        <p:spPr>
          <a:xfrm>
            <a:off x="2377022" y="4667621"/>
            <a:ext cx="9163223" cy="1271413"/>
          </a:xfrm>
          <a:prstGeom prst="rect">
            <a:avLst/>
          </a:prstGeom>
        </p:spPr>
        <p:txBody>
          <a:bodyPr wrap="square" lIns="91440" tIns="45720" rIns="91440" bIns="45720" anchor="ctr" anchorCtr="0">
            <a:normAutofit/>
          </a:bodyPr>
          <a:lstStyle/>
          <a:p>
            <a:pPr>
              <a:lnSpc>
                <a:spcPct val="123000"/>
              </a:lnSpc>
            </a:pPr>
            <a:r>
              <a:rPr lang="zh-CN" altLang="en-US" sz="2400" dirty="0">
                <a:cs typeface="+mn-ea"/>
                <a:sym typeface="+mn-lt"/>
              </a:rPr>
              <a:t>页面置换完善了逻辑内存和物理内存的划分</a:t>
            </a:r>
            <a:r>
              <a:rPr lang="en-US" altLang="zh-CN" sz="2400" dirty="0">
                <a:cs typeface="+mn-ea"/>
                <a:sym typeface="+mn-lt"/>
              </a:rPr>
              <a:t>——</a:t>
            </a:r>
            <a:r>
              <a:rPr lang="zh-CN" altLang="en-US" sz="2400" dirty="0">
                <a:cs typeface="+mn-ea"/>
                <a:sym typeface="+mn-lt"/>
              </a:rPr>
              <a:t>在一个较小的物理内存基础之上可以提供一个大的虚拟内存</a:t>
            </a:r>
            <a:endParaRPr lang="zh-CN" altLang="en-US" sz="2400" dirty="0">
              <a:cs typeface="+mn-ea"/>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页面置换算法</a:t>
            </a:r>
            <a:endParaRPr lang="zh-CN" altLang="en-US" sz="2800" b="1" dirty="0">
              <a:solidFill>
                <a:schemeClr val="bg1"/>
              </a:solidFill>
              <a:cs typeface="+mn-ea"/>
              <a:sym typeface="+mn-lt"/>
            </a:endParaRPr>
          </a:p>
        </p:txBody>
      </p:sp>
      <p:sp>
        <p:nvSpPr>
          <p:cNvPr id="4" name="i$lîďê"/>
          <p:cNvSpPr/>
          <p:nvPr/>
        </p:nvSpPr>
        <p:spPr>
          <a:xfrm>
            <a:off x="1802479" y="3827734"/>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需要一个最小的缺页率</a:t>
            </a:r>
            <a:endParaRPr lang="zh-CN" altLang="en-US" sz="2400" dirty="0">
              <a:cs typeface="+mn-ea"/>
              <a:sym typeface="+mn-lt"/>
            </a:endParaRPr>
          </a:p>
        </p:txBody>
      </p:sp>
      <p:sp>
        <p:nvSpPr>
          <p:cNvPr id="6" name="ïṧḷïḋè"/>
          <p:cNvSpPr/>
          <p:nvPr/>
        </p:nvSpPr>
        <p:spPr>
          <a:xfrm>
            <a:off x="1802481" y="4579144"/>
            <a:ext cx="9640836" cy="845114"/>
          </a:xfrm>
          <a:prstGeom prst="rect">
            <a:avLst/>
          </a:prstGeom>
          <a:noFill/>
          <a:ln>
            <a:noFill/>
          </a:ln>
        </p:spPr>
        <p:txBody>
          <a:bodyPr wrap="square" lIns="91440" tIns="45720" rIns="91440" bIns="45720" anchor="ctr" anchorCtr="0">
            <a:noAutofit/>
          </a:bodyPr>
          <a:lstStyle/>
          <a:p>
            <a:r>
              <a:rPr lang="zh-CN" altLang="en-US" sz="2400" dirty="0">
                <a:cs typeface="+mn-ea"/>
                <a:sym typeface="+mn-lt"/>
              </a:rPr>
              <a:t>通过运行一个内存访问的特殊序列（访问序列），计算这个序列的缺页次数</a:t>
            </a:r>
            <a:endParaRPr lang="zh-CN" altLang="en-US" sz="2400" dirty="0">
              <a:cs typeface="+mn-ea"/>
              <a:sym typeface="+mn-lt"/>
            </a:endParaRPr>
          </a:p>
        </p:txBody>
      </p:sp>
      <p:sp>
        <p:nvSpPr>
          <p:cNvPr id="7" name="îs1iďé"/>
          <p:cNvSpPr/>
          <p:nvPr/>
        </p:nvSpPr>
        <p:spPr>
          <a:xfrm>
            <a:off x="1821535" y="2036875"/>
            <a:ext cx="4650286" cy="1531952"/>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最佳置换算法（</a:t>
            </a:r>
            <a:r>
              <a:rPr lang="en-US" altLang="zh-CN" sz="2200" dirty="0">
                <a:solidFill>
                  <a:srgbClr val="FF0000"/>
                </a:solidFill>
                <a:cs typeface="+mn-ea"/>
                <a:sym typeface="+mn-lt"/>
              </a:rPr>
              <a:t>OPT</a:t>
            </a:r>
            <a:r>
              <a:rPr lang="zh-CN" altLang="en-US" sz="2200" dirty="0">
                <a:solidFill>
                  <a:srgbClr val="FF0000"/>
                </a:solidFill>
                <a:cs typeface="+mn-ea"/>
                <a:sym typeface="+mn-lt"/>
              </a:rPr>
              <a:t>）</a:t>
            </a:r>
            <a:endParaRPr lang="zh-CN" altLang="en-US" sz="2200" dirty="0">
              <a:solidFill>
                <a:srgbClr val="FF0000"/>
              </a:solidFill>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先进先出置换算法（</a:t>
            </a:r>
            <a:r>
              <a:rPr lang="en-US" altLang="zh-CN" sz="2200" dirty="0">
                <a:solidFill>
                  <a:srgbClr val="FF0000"/>
                </a:solidFill>
                <a:cs typeface="+mn-ea"/>
                <a:sym typeface="+mn-lt"/>
              </a:rPr>
              <a:t>FIFO</a:t>
            </a:r>
            <a:r>
              <a:rPr lang="zh-CN" altLang="en-US" sz="2200" dirty="0">
                <a:solidFill>
                  <a:srgbClr val="FF0000"/>
                </a:solidFill>
                <a:cs typeface="+mn-ea"/>
                <a:sym typeface="+mn-lt"/>
              </a:rPr>
              <a:t>）</a:t>
            </a:r>
            <a:endParaRPr lang="zh-CN" altLang="en-US" sz="2200" dirty="0">
              <a:solidFill>
                <a:srgbClr val="FF0000"/>
              </a:solidFill>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最近最久未使用置换算法（</a:t>
            </a:r>
            <a:r>
              <a:rPr lang="en-US" altLang="zh-CN" sz="2200" dirty="0">
                <a:solidFill>
                  <a:srgbClr val="FF0000"/>
                </a:solidFill>
                <a:cs typeface="+mn-ea"/>
                <a:sym typeface="+mn-lt"/>
              </a:rPr>
              <a:t>LRU</a:t>
            </a:r>
            <a:r>
              <a:rPr lang="zh-CN" altLang="en-US" sz="2200" dirty="0">
                <a:solidFill>
                  <a:srgbClr val="FF0000"/>
                </a:solidFill>
                <a:cs typeface="+mn-ea"/>
                <a:sym typeface="+mn-lt"/>
              </a:rPr>
              <a:t>）</a:t>
            </a:r>
            <a:endParaRPr lang="zh-CN" altLang="en-US" sz="2200" dirty="0">
              <a:solidFill>
                <a:srgbClr val="FF0000"/>
              </a:solidFill>
              <a:cs typeface="+mn-ea"/>
              <a:sym typeface="+mn-lt"/>
            </a:endParaRPr>
          </a:p>
        </p:txBody>
      </p:sp>
      <p:sp>
        <p:nvSpPr>
          <p:cNvPr id="8" name="íšḻíḑê"/>
          <p:cNvSpPr/>
          <p:nvPr/>
        </p:nvSpPr>
        <p:spPr>
          <a:xfrm>
            <a:off x="1802480" y="1570119"/>
            <a:ext cx="3696051" cy="405747"/>
          </a:xfrm>
          <a:prstGeom prst="rect">
            <a:avLst/>
          </a:prstGeom>
          <a:noFill/>
          <a:ln>
            <a:noFill/>
          </a:ln>
        </p:spPr>
        <p:txBody>
          <a:bodyPr wrap="square" lIns="91440" tIns="45720" rIns="91440" bIns="45720" anchor="ctr" anchorCtr="0">
            <a:noAutofit/>
          </a:bodyPr>
          <a:lstStyle/>
          <a:p>
            <a:r>
              <a:rPr lang="zh-CN" altLang="en-US" sz="2400" dirty="0">
                <a:solidFill>
                  <a:srgbClr val="0000FF"/>
                </a:solidFill>
                <a:cs typeface="+mn-ea"/>
                <a:sym typeface="+mn-lt"/>
              </a:rPr>
              <a:t>页面置换算法</a:t>
            </a:r>
            <a:endParaRPr lang="zh-CN" altLang="en-US" sz="2400" dirty="0">
              <a:solidFill>
                <a:srgbClr val="0000FF"/>
              </a:solidFill>
              <a:cs typeface="+mn-ea"/>
              <a:sym typeface="+mn-lt"/>
            </a:endParaRPr>
          </a:p>
        </p:txBody>
      </p:sp>
      <p:sp>
        <p:nvSpPr>
          <p:cNvPr id="9" name="îSļiḓè"/>
          <p:cNvSpPr/>
          <p:nvPr/>
        </p:nvSpPr>
        <p:spPr>
          <a:xfrm>
            <a:off x="1118977" y="155655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10" name="íṥḻîḓe"/>
          <p:cNvSpPr/>
          <p:nvPr/>
        </p:nvSpPr>
        <p:spPr>
          <a:xfrm>
            <a:off x="1118977" y="4535179"/>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11" name="îşļiḓè"/>
          <p:cNvSpPr/>
          <p:nvPr/>
        </p:nvSpPr>
        <p:spPr>
          <a:xfrm>
            <a:off x="1118977" y="368994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12" name="îṡḷíďe"/>
          <p:cNvSpPr/>
          <p:nvPr/>
        </p:nvSpPr>
        <p:spPr>
          <a:xfrm>
            <a:off x="1309232" y="1752695"/>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13" name="íSlíḋe"/>
          <p:cNvSpPr/>
          <p:nvPr/>
        </p:nvSpPr>
        <p:spPr>
          <a:xfrm>
            <a:off x="1309231" y="3911961"/>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14" name="ïśḷïḓe"/>
          <p:cNvSpPr/>
          <p:nvPr/>
        </p:nvSpPr>
        <p:spPr>
          <a:xfrm>
            <a:off x="1338170" y="4724639"/>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15" name="îs1iďé"/>
          <p:cNvSpPr/>
          <p:nvPr/>
        </p:nvSpPr>
        <p:spPr>
          <a:xfrm>
            <a:off x="6713131" y="2062711"/>
            <a:ext cx="4650286" cy="1506116"/>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最少使用算法（</a:t>
            </a:r>
            <a:r>
              <a:rPr lang="en-US" altLang="zh-CN" sz="2200" dirty="0">
                <a:solidFill>
                  <a:srgbClr val="FF0000"/>
                </a:solidFill>
                <a:cs typeface="+mn-ea"/>
                <a:sym typeface="+mn-lt"/>
              </a:rPr>
              <a:t>LFU</a:t>
            </a:r>
            <a:r>
              <a:rPr lang="zh-CN" altLang="en-US" sz="2200" dirty="0">
                <a:solidFill>
                  <a:srgbClr val="FF0000"/>
                </a:solidFill>
                <a:cs typeface="+mn-ea"/>
                <a:sym typeface="+mn-lt"/>
              </a:rPr>
              <a:t>）</a:t>
            </a:r>
            <a:endParaRPr lang="zh-CN" altLang="en-US" sz="2200" dirty="0">
              <a:solidFill>
                <a:srgbClr val="FF0000"/>
              </a:solidFill>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en-US" altLang="zh-CN" sz="2200" dirty="0">
                <a:solidFill>
                  <a:srgbClr val="FF0000"/>
                </a:solidFill>
                <a:cs typeface="+mn-ea"/>
                <a:sym typeface="+mn-lt"/>
              </a:rPr>
              <a:t>Clock</a:t>
            </a:r>
            <a:r>
              <a:rPr lang="zh-CN" altLang="en-US" sz="2200" dirty="0">
                <a:solidFill>
                  <a:srgbClr val="FF0000"/>
                </a:solidFill>
                <a:cs typeface="+mn-ea"/>
                <a:sym typeface="+mn-lt"/>
              </a:rPr>
              <a:t>置换算法</a:t>
            </a:r>
            <a:endParaRPr lang="zh-CN" altLang="en-US" sz="2200" dirty="0">
              <a:solidFill>
                <a:srgbClr val="FF0000"/>
              </a:solidFill>
              <a:cs typeface="+mn-ea"/>
              <a:sym typeface="+mn-lt"/>
            </a:endParaRPr>
          </a:p>
          <a:p>
            <a:pPr marL="342900" indent="-342900">
              <a:lnSpc>
                <a:spcPct val="120000"/>
              </a:lnSpc>
              <a:spcBef>
                <a:spcPts val="600"/>
              </a:spcBef>
              <a:buClr>
                <a:srgbClr val="FF0000"/>
              </a:buClr>
              <a:buFont typeface="Wingdings" panose="05000000000000000000" pitchFamily="2" charset="2"/>
              <a:buChar char="Ø"/>
            </a:pPr>
            <a:r>
              <a:rPr lang="zh-CN" altLang="en-US" sz="2200" dirty="0">
                <a:solidFill>
                  <a:srgbClr val="FF0000"/>
                </a:solidFill>
                <a:cs typeface="+mn-ea"/>
                <a:sym typeface="+mn-lt"/>
              </a:rPr>
              <a:t>页面缓冲算法</a:t>
            </a:r>
            <a:endParaRPr lang="zh-CN" altLang="en-US" sz="2200" dirty="0">
              <a:solidFill>
                <a:srgbClr val="FF0000"/>
              </a:solidFill>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最佳置换算法</a:t>
            </a:r>
            <a:r>
              <a:rPr lang="en-US" altLang="zh-CN" sz="2800" b="1" dirty="0">
                <a:solidFill>
                  <a:schemeClr val="bg1"/>
                </a:solidFill>
                <a:cs typeface="+mn-ea"/>
                <a:sym typeface="+mn-lt"/>
              </a:rPr>
              <a:t>OPT</a:t>
            </a:r>
            <a:endParaRPr lang="zh-CN" altLang="en-US" sz="2800" b="1" dirty="0">
              <a:solidFill>
                <a:schemeClr val="bg1"/>
              </a:solidFill>
              <a:cs typeface="+mn-ea"/>
              <a:sym typeface="+mn-lt"/>
            </a:endParaRPr>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89014" y="1378224"/>
            <a:ext cx="527050" cy="527050"/>
          </a:xfrm>
          <a:prstGeom prst="rect">
            <a:avLst/>
          </a:prstGeom>
          <a:ln>
            <a:noFill/>
          </a:ln>
          <a:effectLst>
            <a:softEdge rad="0"/>
          </a:effectLst>
        </p:spPr>
      </p:pic>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89014" y="1989998"/>
            <a:ext cx="527050" cy="527050"/>
          </a:xfrm>
          <a:prstGeom prst="rect">
            <a:avLst/>
          </a:prstGeom>
          <a:ln>
            <a:noFill/>
          </a:ln>
          <a:effectLst>
            <a:softEdge rad="0"/>
          </a:effectLst>
        </p:spPr>
      </p:pic>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89014" y="4891521"/>
            <a:ext cx="527050" cy="527050"/>
          </a:xfrm>
          <a:prstGeom prst="rect">
            <a:avLst/>
          </a:prstGeom>
          <a:ln>
            <a:noFill/>
          </a:ln>
          <a:effectLst>
            <a:softEdge rad="0"/>
          </a:effectLst>
        </p:spPr>
      </p:pic>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89014" y="5509994"/>
            <a:ext cx="527050" cy="527050"/>
          </a:xfrm>
          <a:prstGeom prst="rect">
            <a:avLst/>
          </a:prstGeom>
          <a:ln>
            <a:noFill/>
          </a:ln>
          <a:effectLst>
            <a:softEdge rad="0"/>
          </a:effectLst>
        </p:spPr>
      </p:pic>
      <p:sp>
        <p:nvSpPr>
          <p:cNvPr id="31" name="内容占位符 2"/>
          <p:cNvSpPr txBox="1"/>
          <p:nvPr/>
        </p:nvSpPr>
        <p:spPr>
          <a:xfrm>
            <a:off x="2222465" y="1378224"/>
            <a:ext cx="8315329" cy="36527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tabLst>
                <a:tab pos="1890395" algn="l"/>
              </a:tabLst>
            </a:pPr>
            <a:r>
              <a:rPr lang="zh-CN" altLang="en-US" sz="2400" dirty="0">
                <a:cs typeface="+mn-ea"/>
                <a:sym typeface="+mn-lt"/>
              </a:rPr>
              <a:t>被置换的页将是之后最长时间不被使用的页</a:t>
            </a:r>
            <a:endParaRPr lang="zh-CN" altLang="en-US" sz="2400" dirty="0">
              <a:cs typeface="+mn-ea"/>
              <a:sym typeface="+mn-lt"/>
            </a:endParaRPr>
          </a:p>
          <a:p>
            <a:pPr marL="0" indent="0">
              <a:lnSpc>
                <a:spcPct val="123000"/>
              </a:lnSpc>
              <a:buNone/>
              <a:tabLst>
                <a:tab pos="1890395" algn="l"/>
              </a:tabLst>
            </a:pPr>
            <a:r>
              <a:rPr lang="zh-CN" altLang="zh-CN" sz="2400" dirty="0">
                <a:cs typeface="+mn-ea"/>
                <a:sym typeface="+mn-lt"/>
              </a:rPr>
              <a:t>4 </a:t>
            </a:r>
            <a:r>
              <a:rPr lang="zh-CN" altLang="en-US" sz="2400" dirty="0">
                <a:cs typeface="+mn-ea"/>
                <a:sym typeface="+mn-lt"/>
              </a:rPr>
              <a:t>帧的例子</a:t>
            </a:r>
            <a:endParaRPr lang="en-US" altLang="zh-CN" sz="2400" dirty="0">
              <a:cs typeface="+mn-ea"/>
              <a:sym typeface="+mn-lt"/>
            </a:endParaRPr>
          </a:p>
          <a:p>
            <a:pPr marL="0" indent="0">
              <a:lnSpc>
                <a:spcPct val="123000"/>
              </a:lnSpc>
              <a:buNone/>
              <a:tabLst>
                <a:tab pos="1890395" algn="l"/>
              </a:tabLst>
            </a:pPr>
            <a:r>
              <a:rPr lang="en-US" altLang="zh-CN" sz="2400" dirty="0">
                <a:cs typeface="+mn-ea"/>
                <a:sym typeface="+mn-lt"/>
              </a:rPr>
              <a:t>	 1, 2, 3, 4, 1, 2, 5, 1, 2, 3, 4, 5</a:t>
            </a:r>
            <a:br>
              <a:rPr lang="en-US" altLang="zh-CN" sz="2400" dirty="0">
                <a:cs typeface="+mn-ea"/>
                <a:sym typeface="+mn-lt"/>
              </a:rPr>
            </a:br>
            <a:br>
              <a:rPr lang="en-US" altLang="zh-CN" sz="2400" dirty="0">
                <a:cs typeface="+mn-ea"/>
                <a:sym typeface="+mn-lt"/>
              </a:rPr>
            </a:br>
            <a:br>
              <a:rPr lang="en-US" altLang="zh-CN" sz="2400" dirty="0">
                <a:cs typeface="+mn-ea"/>
                <a:sym typeface="+mn-lt"/>
              </a:rPr>
            </a:br>
            <a:br>
              <a:rPr lang="en-US" altLang="zh-CN" sz="2400" dirty="0">
                <a:cs typeface="+mn-ea"/>
                <a:sym typeface="+mn-lt"/>
              </a:rPr>
            </a:br>
            <a:endParaRPr lang="en-US" altLang="zh-CN" sz="2400" dirty="0">
              <a:cs typeface="+mn-ea"/>
              <a:sym typeface="+mn-lt"/>
            </a:endParaRPr>
          </a:p>
          <a:p>
            <a:pPr marL="0" indent="0">
              <a:lnSpc>
                <a:spcPct val="123000"/>
              </a:lnSpc>
              <a:buNone/>
              <a:tabLst>
                <a:tab pos="1890395" algn="l"/>
              </a:tabLst>
            </a:pPr>
            <a:r>
              <a:rPr lang="zh-CN" altLang="en-US" sz="2400" dirty="0">
                <a:cs typeface="+mn-ea"/>
                <a:sym typeface="+mn-lt"/>
              </a:rPr>
              <a:t>怎样知道被置换的页是之后最长时间不被使用的页？</a:t>
            </a:r>
            <a:endParaRPr lang="zh-CN" altLang="en-US" sz="2400" dirty="0">
              <a:cs typeface="+mn-ea"/>
              <a:sym typeface="+mn-lt"/>
            </a:endParaRPr>
          </a:p>
          <a:p>
            <a:pPr marL="0" indent="0">
              <a:lnSpc>
                <a:spcPct val="123000"/>
              </a:lnSpc>
              <a:buNone/>
              <a:tabLst>
                <a:tab pos="1890395" algn="l"/>
              </a:tabLst>
            </a:pPr>
            <a:r>
              <a:rPr lang="zh-CN" altLang="en-US" sz="2400" dirty="0">
                <a:cs typeface="+mn-ea"/>
                <a:sym typeface="+mn-lt"/>
              </a:rPr>
              <a:t>无法实现的算法，可用来评价其他算法</a:t>
            </a:r>
            <a:endParaRPr lang="zh-CN" altLang="en-US" sz="2400" dirty="0">
              <a:cs typeface="+mn-ea"/>
              <a:sym typeface="+mn-lt"/>
            </a:endParaRPr>
          </a:p>
        </p:txBody>
      </p:sp>
      <p:grpSp>
        <p:nvGrpSpPr>
          <p:cNvPr id="32" name="组合 3"/>
          <p:cNvGrpSpPr/>
          <p:nvPr/>
        </p:nvGrpSpPr>
        <p:grpSpPr bwMode="auto">
          <a:xfrm>
            <a:off x="4514295" y="3164887"/>
            <a:ext cx="2208460" cy="1493935"/>
            <a:chOff x="3581400" y="2995020"/>
            <a:chExt cx="2208266" cy="1991913"/>
          </a:xfrm>
        </p:grpSpPr>
        <p:sp>
          <p:nvSpPr>
            <p:cNvPr id="33" name="Rectangle 4"/>
            <p:cNvSpPr>
              <a:spLocks noChangeArrowheads="1"/>
            </p:cNvSpPr>
            <p:nvPr/>
          </p:nvSpPr>
          <p:spPr bwMode="auto">
            <a:xfrm>
              <a:off x="3581400" y="30480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dirty="0">
                  <a:latin typeface="+mn-lt"/>
                  <a:ea typeface="+mn-ea"/>
                  <a:cs typeface="+mn-ea"/>
                  <a:sym typeface="+mn-lt"/>
                </a:rPr>
                <a:t>1</a:t>
              </a:r>
              <a:endParaRPr lang="zh-CN" altLang="en-US" b="0" dirty="0">
                <a:latin typeface="+mn-lt"/>
                <a:ea typeface="+mn-ea"/>
                <a:cs typeface="+mn-ea"/>
                <a:sym typeface="+mn-lt"/>
              </a:endParaRPr>
            </a:p>
          </p:txBody>
        </p:sp>
        <p:sp>
          <p:nvSpPr>
            <p:cNvPr id="34" name="Rectangle 5"/>
            <p:cNvSpPr>
              <a:spLocks noChangeArrowheads="1"/>
            </p:cNvSpPr>
            <p:nvPr/>
          </p:nvSpPr>
          <p:spPr bwMode="auto">
            <a:xfrm>
              <a:off x="3581400" y="35052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dirty="0">
                  <a:latin typeface="+mn-lt"/>
                  <a:ea typeface="+mn-ea"/>
                  <a:cs typeface="+mn-ea"/>
                  <a:sym typeface="+mn-lt"/>
                </a:rPr>
                <a:t>2</a:t>
              </a:r>
              <a:endParaRPr lang="zh-CN" altLang="en-US" b="0" dirty="0">
                <a:latin typeface="+mn-lt"/>
                <a:ea typeface="+mn-ea"/>
                <a:cs typeface="+mn-ea"/>
                <a:sym typeface="+mn-lt"/>
              </a:endParaRPr>
            </a:p>
          </p:txBody>
        </p:sp>
        <p:sp>
          <p:nvSpPr>
            <p:cNvPr id="35" name="Rectangle 6"/>
            <p:cNvSpPr>
              <a:spLocks noChangeArrowheads="1"/>
            </p:cNvSpPr>
            <p:nvPr/>
          </p:nvSpPr>
          <p:spPr bwMode="auto">
            <a:xfrm>
              <a:off x="3581400" y="39624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lt"/>
                  <a:ea typeface="+mn-ea"/>
                  <a:cs typeface="+mn-ea"/>
                  <a:sym typeface="+mn-lt"/>
                </a:rPr>
                <a:t>3</a:t>
              </a:r>
              <a:endParaRPr lang="zh-CN" altLang="en-US" b="0">
                <a:latin typeface="+mn-lt"/>
                <a:ea typeface="+mn-ea"/>
                <a:cs typeface="+mn-ea"/>
                <a:sym typeface="+mn-lt"/>
              </a:endParaRPr>
            </a:p>
          </p:txBody>
        </p:sp>
        <p:sp>
          <p:nvSpPr>
            <p:cNvPr id="36" name="Text Box 7"/>
            <p:cNvSpPr txBox="1">
              <a:spLocks noChangeArrowheads="1"/>
            </p:cNvSpPr>
            <p:nvPr/>
          </p:nvSpPr>
          <p:spPr bwMode="auto">
            <a:xfrm>
              <a:off x="4024914" y="2995020"/>
              <a:ext cx="338524" cy="6155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lt"/>
                  <a:ea typeface="+mn-ea"/>
                  <a:cs typeface="+mn-ea"/>
                  <a:sym typeface="+mn-lt"/>
                </a:rPr>
                <a:t>4</a:t>
              </a:r>
              <a:endParaRPr lang="zh-CN" altLang="en-US" b="0" dirty="0">
                <a:latin typeface="+mn-lt"/>
                <a:ea typeface="+mn-ea"/>
                <a:cs typeface="+mn-ea"/>
                <a:sym typeface="+mn-lt"/>
              </a:endParaRPr>
            </a:p>
          </p:txBody>
        </p:sp>
        <p:sp>
          <p:nvSpPr>
            <p:cNvPr id="37" name="Text Box 8"/>
            <p:cNvSpPr txBox="1">
              <a:spLocks noChangeArrowheads="1"/>
            </p:cNvSpPr>
            <p:nvPr/>
          </p:nvSpPr>
          <p:spPr bwMode="auto">
            <a:xfrm>
              <a:off x="4409281" y="3496800"/>
              <a:ext cx="1380385" cy="6155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lt"/>
                  <a:ea typeface="+mn-ea"/>
                  <a:cs typeface="+mn-ea"/>
                  <a:sym typeface="+mn-lt"/>
                </a:rPr>
                <a:t>6 次缺页</a:t>
              </a:r>
              <a:endParaRPr lang="en-US" altLang="zh-CN" b="0" dirty="0">
                <a:latin typeface="+mn-lt"/>
                <a:ea typeface="+mn-ea"/>
                <a:cs typeface="+mn-ea"/>
                <a:sym typeface="+mn-lt"/>
              </a:endParaRPr>
            </a:p>
          </p:txBody>
        </p:sp>
        <p:sp>
          <p:nvSpPr>
            <p:cNvPr id="38" name="Rectangle 9"/>
            <p:cNvSpPr>
              <a:spLocks noChangeArrowheads="1"/>
            </p:cNvSpPr>
            <p:nvPr/>
          </p:nvSpPr>
          <p:spPr bwMode="auto">
            <a:xfrm>
              <a:off x="3581400" y="44196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dirty="0">
                  <a:latin typeface="+mn-lt"/>
                  <a:ea typeface="+mn-ea"/>
                  <a:cs typeface="+mn-ea"/>
                  <a:sym typeface="+mn-lt"/>
                </a:rPr>
                <a:t>4</a:t>
              </a:r>
              <a:endParaRPr lang="zh-CN" altLang="en-US" b="0" dirty="0">
                <a:latin typeface="+mn-lt"/>
                <a:ea typeface="+mn-ea"/>
                <a:cs typeface="+mn-ea"/>
                <a:sym typeface="+mn-lt"/>
              </a:endParaRPr>
            </a:p>
          </p:txBody>
        </p:sp>
        <p:sp>
          <p:nvSpPr>
            <p:cNvPr id="39" name="Text Box 10"/>
            <p:cNvSpPr txBox="1">
              <a:spLocks noChangeArrowheads="1"/>
            </p:cNvSpPr>
            <p:nvPr/>
          </p:nvSpPr>
          <p:spPr bwMode="auto">
            <a:xfrm>
              <a:off x="4024914" y="4371380"/>
              <a:ext cx="338524" cy="6155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lt"/>
                  <a:ea typeface="+mn-ea"/>
                  <a:cs typeface="+mn-ea"/>
                  <a:sym typeface="+mn-lt"/>
                </a:rPr>
                <a:t>5</a:t>
              </a:r>
              <a:endParaRPr lang="zh-CN" altLang="en-US" b="0">
                <a:latin typeface="+mn-lt"/>
                <a:ea typeface="+mn-ea"/>
                <a:cs typeface="+mn-ea"/>
                <a:sym typeface="+mn-lt"/>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最佳置换算法例子</a:t>
            </a:r>
            <a:endParaRPr lang="zh-CN" altLang="en-US" sz="2800" b="1" dirty="0">
              <a:solidFill>
                <a:schemeClr val="bg1"/>
              </a:solidFill>
              <a:cs typeface="+mn-ea"/>
              <a:sym typeface="+mn-lt"/>
            </a:endParaRPr>
          </a:p>
        </p:txBody>
      </p:sp>
      <p:pic>
        <p:nvPicPr>
          <p:cNvPr id="16" name="Picture 5"/>
          <p:cNvPicPr>
            <a:picLocks noChangeAspect="1" noChangeArrowheads="1"/>
          </p:cNvPicPr>
          <p:nvPr/>
        </p:nvPicPr>
        <p:blipFill>
          <a:blip r:embed="rId1">
            <a:extLst>
              <a:ext uri="{28A0092B-C50C-407E-A947-70E740481C1C}">
                <a14:useLocalDpi xmlns:a14="http://schemas.microsoft.com/office/drawing/2010/main" val="0"/>
              </a:ext>
            </a:extLst>
          </a:blip>
          <a:srcRect l="471" t="32074" r="781" b="32076"/>
          <a:stretch>
            <a:fillRect/>
          </a:stretch>
        </p:blipFill>
        <p:spPr bwMode="auto">
          <a:xfrm>
            <a:off x="177164" y="2119469"/>
            <a:ext cx="11635227" cy="2425897"/>
          </a:xfrm>
          <a:prstGeom prst="rect">
            <a:avLst/>
          </a:prstGeom>
          <a:noFill/>
          <a:ln w="38100" cmpd="dbl">
            <a:solidFill>
              <a:schemeClr val="accent2">
                <a:lumMod val="40000"/>
                <a:lumOff val="6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先进先出置换算法</a:t>
            </a:r>
            <a:endParaRPr lang="zh-CN" altLang="en-US" sz="2800" b="1" dirty="0">
              <a:solidFill>
                <a:schemeClr val="bg1"/>
              </a:solidFill>
              <a:cs typeface="+mn-ea"/>
              <a:sym typeface="+mn-lt"/>
            </a:endParaRPr>
          </a:p>
        </p:txBody>
      </p:sp>
      <p:sp>
        <p:nvSpPr>
          <p:cNvPr id="22" name="内容占位符 2"/>
          <p:cNvSpPr txBox="1"/>
          <p:nvPr/>
        </p:nvSpPr>
        <p:spPr>
          <a:xfrm>
            <a:off x="2112886" y="1294889"/>
            <a:ext cx="7772400" cy="29575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600"/>
              </a:spcBef>
              <a:spcAft>
                <a:spcPts val="600"/>
              </a:spcAft>
              <a:buNone/>
            </a:pPr>
            <a:r>
              <a:rPr lang="zh-CN" altLang="en-US" sz="2400" dirty="0">
                <a:solidFill>
                  <a:srgbClr val="FF0000"/>
                </a:solidFill>
              </a:rPr>
              <a:t>总是淘汰最先进入内存的页面</a:t>
            </a:r>
            <a:r>
              <a:rPr lang="zh-CN" altLang="en-US" sz="2400" dirty="0"/>
              <a:t>，即选择在内存中驻留时间最久的页面予以淘汰</a:t>
            </a:r>
            <a:endParaRPr lang="en-US" altLang="zh-CN" sz="2400" dirty="0"/>
          </a:p>
          <a:p>
            <a:pPr marL="0" indent="0">
              <a:lnSpc>
                <a:spcPct val="123000"/>
              </a:lnSpc>
              <a:spcBef>
                <a:spcPts val="600"/>
              </a:spcBef>
              <a:spcAft>
                <a:spcPts val="600"/>
              </a:spcAft>
              <a:buNone/>
            </a:pPr>
            <a:r>
              <a:rPr lang="zh-CN" altLang="en-US" sz="2400" dirty="0"/>
              <a:t>引用串 </a:t>
            </a:r>
            <a:r>
              <a:rPr lang="en-US" altLang="zh-CN" sz="2400" dirty="0"/>
              <a:t>: 1, 2, 3, 4, 1, 2, 5, 1, 2, 3, 4, 5</a:t>
            </a:r>
            <a:endParaRPr lang="en-US" altLang="zh-CN" sz="2400" dirty="0"/>
          </a:p>
          <a:p>
            <a:pPr lvl="1">
              <a:lnSpc>
                <a:spcPct val="123000"/>
              </a:lnSpc>
              <a:spcBef>
                <a:spcPts val="600"/>
              </a:spcBef>
              <a:spcAft>
                <a:spcPts val="600"/>
              </a:spcAft>
              <a:buClr>
                <a:srgbClr val="FF0000"/>
              </a:buClr>
              <a:buFont typeface="Wingdings" panose="05000000000000000000" pitchFamily="2" charset="2"/>
              <a:buChar char="Ø"/>
            </a:pPr>
            <a:r>
              <a:rPr lang="en-US" altLang="zh-CN" sz="2400" dirty="0"/>
              <a:t>3 </a:t>
            </a:r>
            <a:r>
              <a:rPr lang="zh-CN" altLang="en-US" sz="2400" dirty="0"/>
              <a:t>个页：</a:t>
            </a:r>
            <a:r>
              <a:rPr lang="en-US" altLang="zh-CN" sz="2400" dirty="0"/>
              <a:t>9</a:t>
            </a:r>
            <a:r>
              <a:rPr lang="zh-CN" altLang="en-US" sz="2400" dirty="0"/>
              <a:t>次缺页</a:t>
            </a:r>
            <a:endParaRPr lang="en-US" altLang="zh-CN" sz="2400" dirty="0"/>
          </a:p>
          <a:p>
            <a:pPr lvl="1">
              <a:lnSpc>
                <a:spcPct val="123000"/>
              </a:lnSpc>
              <a:spcBef>
                <a:spcPts val="600"/>
              </a:spcBef>
              <a:spcAft>
                <a:spcPts val="600"/>
              </a:spcAft>
              <a:buClr>
                <a:srgbClr val="FF0000"/>
              </a:buClr>
              <a:buFont typeface="Wingdings" panose="05000000000000000000" pitchFamily="2" charset="2"/>
              <a:buChar char="Ø"/>
            </a:pPr>
            <a:r>
              <a:rPr lang="en-US" altLang="zh-CN" sz="2400" dirty="0"/>
              <a:t>4 </a:t>
            </a:r>
            <a:r>
              <a:rPr lang="zh-CN" altLang="en-US" sz="2400" dirty="0"/>
              <a:t>个页框：</a:t>
            </a:r>
            <a:r>
              <a:rPr lang="en-US" altLang="zh-CN" sz="2400" dirty="0"/>
              <a:t>10</a:t>
            </a:r>
            <a:r>
              <a:rPr lang="zh-CN" altLang="en-US" sz="2400" dirty="0"/>
              <a:t>次缺页</a:t>
            </a:r>
            <a:endParaRPr lang="zh-CN" altLang="en-US" sz="2400" dirty="0"/>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89014" y="1378224"/>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89014" y="2327352"/>
            <a:ext cx="527050" cy="527050"/>
          </a:xfrm>
          <a:prstGeom prst="rect">
            <a:avLst/>
          </a:prstGeom>
          <a:ln>
            <a:noFill/>
          </a:ln>
          <a:effectLst>
            <a:softEdge rad="0"/>
          </a:effectLst>
        </p:spPr>
      </p:pic>
      <p:grpSp>
        <p:nvGrpSpPr>
          <p:cNvPr id="3" name="组合 2"/>
          <p:cNvGrpSpPr/>
          <p:nvPr/>
        </p:nvGrpSpPr>
        <p:grpSpPr>
          <a:xfrm>
            <a:off x="7244180" y="2454907"/>
            <a:ext cx="4003829" cy="3325313"/>
            <a:chOff x="6871317" y="2854402"/>
            <a:chExt cx="4003829" cy="3325313"/>
          </a:xfrm>
        </p:grpSpPr>
        <p:grpSp>
          <p:nvGrpSpPr>
            <p:cNvPr id="25" name="组合 3"/>
            <p:cNvGrpSpPr/>
            <p:nvPr/>
          </p:nvGrpSpPr>
          <p:grpSpPr bwMode="auto">
            <a:xfrm>
              <a:off x="6954101" y="2935158"/>
              <a:ext cx="3791487" cy="3189201"/>
              <a:chOff x="3209425" y="2109978"/>
              <a:chExt cx="3246225" cy="3828671"/>
            </a:xfrm>
          </p:grpSpPr>
          <p:sp>
            <p:nvSpPr>
              <p:cNvPr id="26" name="Rectangle 4"/>
              <p:cNvSpPr>
                <a:spLocks noChangeArrowheads="1"/>
              </p:cNvSpPr>
              <p:nvPr/>
            </p:nvSpPr>
            <p:spPr bwMode="auto">
              <a:xfrm>
                <a:off x="3657600" y="22383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1</a:t>
                </a:r>
                <a:endParaRPr lang="zh-CN" altLang="en-US" b="0">
                  <a:latin typeface="+mn-ea"/>
                  <a:ea typeface="+mn-ea"/>
                </a:endParaRPr>
              </a:p>
            </p:txBody>
          </p:sp>
          <p:sp>
            <p:nvSpPr>
              <p:cNvPr id="27" name="Rectangle 5"/>
              <p:cNvSpPr>
                <a:spLocks noChangeArrowheads="1"/>
              </p:cNvSpPr>
              <p:nvPr/>
            </p:nvSpPr>
            <p:spPr bwMode="auto">
              <a:xfrm>
                <a:off x="3657600" y="26955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2</a:t>
                </a:r>
                <a:endParaRPr lang="zh-CN" altLang="en-US" b="0">
                  <a:latin typeface="+mn-ea"/>
                  <a:ea typeface="+mn-ea"/>
                </a:endParaRPr>
              </a:p>
            </p:txBody>
          </p:sp>
          <p:sp>
            <p:nvSpPr>
              <p:cNvPr id="28" name="Rectangle 6"/>
              <p:cNvSpPr>
                <a:spLocks noChangeArrowheads="1"/>
              </p:cNvSpPr>
              <p:nvPr/>
            </p:nvSpPr>
            <p:spPr bwMode="auto">
              <a:xfrm>
                <a:off x="3657600" y="31527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3</a:t>
                </a:r>
                <a:endParaRPr lang="zh-CN" altLang="en-US" b="0">
                  <a:latin typeface="+mn-ea"/>
                  <a:ea typeface="+mn-ea"/>
                </a:endParaRPr>
              </a:p>
            </p:txBody>
          </p:sp>
          <p:sp>
            <p:nvSpPr>
              <p:cNvPr id="29" name="Text Box 7"/>
              <p:cNvSpPr txBox="1">
                <a:spLocks noChangeArrowheads="1"/>
              </p:cNvSpPr>
              <p:nvPr/>
            </p:nvSpPr>
            <p:spPr bwMode="auto">
              <a:xfrm>
                <a:off x="3241177" y="2109978"/>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30" name="Text Box 8"/>
              <p:cNvSpPr txBox="1">
                <a:spLocks noChangeArrowheads="1"/>
              </p:cNvSpPr>
              <p:nvPr/>
            </p:nvSpPr>
            <p:spPr bwMode="auto">
              <a:xfrm>
                <a:off x="3241177" y="2552890"/>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31" name="Text Box 9"/>
              <p:cNvSpPr txBox="1">
                <a:spLocks noChangeArrowheads="1"/>
              </p:cNvSpPr>
              <p:nvPr/>
            </p:nvSpPr>
            <p:spPr bwMode="auto">
              <a:xfrm>
                <a:off x="3241177" y="3029140"/>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3</a:t>
                </a:r>
                <a:endParaRPr lang="zh-CN" altLang="en-US" b="0">
                  <a:latin typeface="+mn-ea"/>
                  <a:ea typeface="+mn-ea"/>
                </a:endParaRPr>
              </a:p>
            </p:txBody>
          </p:sp>
          <p:sp>
            <p:nvSpPr>
              <p:cNvPr id="32" name="Text Box 10"/>
              <p:cNvSpPr txBox="1">
                <a:spLocks noChangeArrowheads="1"/>
              </p:cNvSpPr>
              <p:nvPr/>
            </p:nvSpPr>
            <p:spPr bwMode="auto">
              <a:xfrm>
                <a:off x="4085727" y="2148078"/>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33" name="Text Box 11"/>
              <p:cNvSpPr txBox="1">
                <a:spLocks noChangeArrowheads="1"/>
              </p:cNvSpPr>
              <p:nvPr/>
            </p:nvSpPr>
            <p:spPr bwMode="auto">
              <a:xfrm>
                <a:off x="4085727" y="259098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34" name="Text Box 12"/>
              <p:cNvSpPr txBox="1">
                <a:spLocks noChangeArrowheads="1"/>
              </p:cNvSpPr>
              <p:nvPr/>
            </p:nvSpPr>
            <p:spPr bwMode="auto">
              <a:xfrm>
                <a:off x="4085727" y="306723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35" name="Text Box 13"/>
              <p:cNvSpPr txBox="1">
                <a:spLocks noChangeArrowheads="1"/>
              </p:cNvSpPr>
              <p:nvPr/>
            </p:nvSpPr>
            <p:spPr bwMode="auto">
              <a:xfrm>
                <a:off x="4466726" y="2148078"/>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5</a:t>
                </a:r>
                <a:endParaRPr lang="zh-CN" altLang="en-US" b="0">
                  <a:latin typeface="+mn-ea"/>
                  <a:ea typeface="+mn-ea"/>
                </a:endParaRPr>
              </a:p>
            </p:txBody>
          </p:sp>
          <p:sp>
            <p:nvSpPr>
              <p:cNvPr id="36" name="Text Box 14"/>
              <p:cNvSpPr txBox="1">
                <a:spLocks noChangeArrowheads="1"/>
              </p:cNvSpPr>
              <p:nvPr/>
            </p:nvSpPr>
            <p:spPr bwMode="auto">
              <a:xfrm>
                <a:off x="4466726" y="259098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ea"/>
                    <a:ea typeface="+mn-ea"/>
                  </a:rPr>
                  <a:t>3</a:t>
                </a:r>
                <a:endParaRPr lang="zh-CN" altLang="en-US" b="0" dirty="0">
                  <a:latin typeface="+mn-ea"/>
                  <a:ea typeface="+mn-ea"/>
                </a:endParaRPr>
              </a:p>
            </p:txBody>
          </p:sp>
          <p:sp>
            <p:nvSpPr>
              <p:cNvPr id="37" name="Text Box 15"/>
              <p:cNvSpPr txBox="1">
                <a:spLocks noChangeArrowheads="1"/>
              </p:cNvSpPr>
              <p:nvPr/>
            </p:nvSpPr>
            <p:spPr bwMode="auto">
              <a:xfrm>
                <a:off x="4466726" y="3067239"/>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38" name="Text Box 16"/>
              <p:cNvSpPr txBox="1">
                <a:spLocks noChangeArrowheads="1"/>
              </p:cNvSpPr>
              <p:nvPr/>
            </p:nvSpPr>
            <p:spPr bwMode="auto">
              <a:xfrm>
                <a:off x="5002284" y="2590989"/>
                <a:ext cx="1393682"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9 次缺页</a:t>
                </a:r>
                <a:endParaRPr lang="en-US" altLang="zh-CN" b="0">
                  <a:latin typeface="+mn-ea"/>
                  <a:ea typeface="+mn-ea"/>
                </a:endParaRPr>
              </a:p>
            </p:txBody>
          </p:sp>
          <p:sp>
            <p:nvSpPr>
              <p:cNvPr id="39" name="Rectangle 17"/>
              <p:cNvSpPr>
                <a:spLocks noChangeArrowheads="1"/>
              </p:cNvSpPr>
              <p:nvPr/>
            </p:nvSpPr>
            <p:spPr bwMode="auto">
              <a:xfrm>
                <a:off x="3625850" y="39624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1</a:t>
                </a:r>
                <a:endParaRPr lang="zh-CN" altLang="en-US" b="0">
                  <a:latin typeface="+mn-ea"/>
                  <a:ea typeface="+mn-ea"/>
                </a:endParaRPr>
              </a:p>
            </p:txBody>
          </p:sp>
          <p:sp>
            <p:nvSpPr>
              <p:cNvPr id="40" name="Rectangle 18"/>
              <p:cNvSpPr>
                <a:spLocks noChangeArrowheads="1"/>
              </p:cNvSpPr>
              <p:nvPr/>
            </p:nvSpPr>
            <p:spPr bwMode="auto">
              <a:xfrm>
                <a:off x="3625850" y="44196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2</a:t>
                </a:r>
                <a:endParaRPr lang="zh-CN" altLang="en-US" b="0">
                  <a:latin typeface="+mn-ea"/>
                  <a:ea typeface="+mn-ea"/>
                </a:endParaRPr>
              </a:p>
            </p:txBody>
          </p:sp>
          <p:sp>
            <p:nvSpPr>
              <p:cNvPr id="41" name="Rectangle 19"/>
              <p:cNvSpPr>
                <a:spLocks noChangeArrowheads="1"/>
              </p:cNvSpPr>
              <p:nvPr/>
            </p:nvSpPr>
            <p:spPr bwMode="auto">
              <a:xfrm>
                <a:off x="3625850" y="48768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a:latin typeface="+mn-ea"/>
                    <a:ea typeface="+mn-ea"/>
                  </a:rPr>
                  <a:t>3</a:t>
                </a:r>
                <a:endParaRPr lang="zh-CN" altLang="en-US" b="0">
                  <a:latin typeface="+mn-ea"/>
                  <a:ea typeface="+mn-ea"/>
                </a:endParaRPr>
              </a:p>
            </p:txBody>
          </p:sp>
          <p:sp>
            <p:nvSpPr>
              <p:cNvPr id="42" name="Text Box 20"/>
              <p:cNvSpPr txBox="1">
                <a:spLocks noChangeArrowheads="1"/>
              </p:cNvSpPr>
              <p:nvPr/>
            </p:nvSpPr>
            <p:spPr bwMode="auto">
              <a:xfrm>
                <a:off x="3209426" y="383400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43" name="Text Box 21"/>
              <p:cNvSpPr txBox="1">
                <a:spLocks noChangeArrowheads="1"/>
              </p:cNvSpPr>
              <p:nvPr/>
            </p:nvSpPr>
            <p:spPr bwMode="auto">
              <a:xfrm>
                <a:off x="3209425" y="427691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44" name="Text Box 22"/>
              <p:cNvSpPr txBox="1">
                <a:spLocks noChangeArrowheads="1"/>
              </p:cNvSpPr>
              <p:nvPr/>
            </p:nvSpPr>
            <p:spPr bwMode="auto">
              <a:xfrm>
                <a:off x="3209425" y="47531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ea"/>
                    <a:ea typeface="+mn-ea"/>
                  </a:rPr>
                  <a:t>3</a:t>
                </a:r>
                <a:endParaRPr lang="zh-CN" altLang="en-US" b="0" dirty="0">
                  <a:latin typeface="+mn-ea"/>
                  <a:ea typeface="+mn-ea"/>
                </a:endParaRPr>
              </a:p>
            </p:txBody>
          </p:sp>
          <p:sp>
            <p:nvSpPr>
              <p:cNvPr id="45" name="Text Box 23"/>
              <p:cNvSpPr txBox="1">
                <a:spLocks noChangeArrowheads="1"/>
              </p:cNvSpPr>
              <p:nvPr/>
            </p:nvSpPr>
            <p:spPr bwMode="auto">
              <a:xfrm>
                <a:off x="4053975" y="387210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5</a:t>
                </a:r>
                <a:endParaRPr lang="zh-CN" altLang="en-US" b="0">
                  <a:latin typeface="+mn-ea"/>
                  <a:ea typeface="+mn-ea"/>
                </a:endParaRPr>
              </a:p>
            </p:txBody>
          </p:sp>
          <p:sp>
            <p:nvSpPr>
              <p:cNvPr id="46" name="Text Box 24"/>
              <p:cNvSpPr txBox="1">
                <a:spLocks noChangeArrowheads="1"/>
              </p:cNvSpPr>
              <p:nvPr/>
            </p:nvSpPr>
            <p:spPr bwMode="auto">
              <a:xfrm>
                <a:off x="4053975" y="431501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1</a:t>
                </a:r>
                <a:endParaRPr lang="zh-CN" altLang="en-US" b="0">
                  <a:latin typeface="+mn-ea"/>
                  <a:ea typeface="+mn-ea"/>
                </a:endParaRPr>
              </a:p>
            </p:txBody>
          </p:sp>
          <p:sp>
            <p:nvSpPr>
              <p:cNvPr id="47" name="Text Box 25"/>
              <p:cNvSpPr txBox="1">
                <a:spLocks noChangeArrowheads="1"/>
              </p:cNvSpPr>
              <p:nvPr/>
            </p:nvSpPr>
            <p:spPr bwMode="auto">
              <a:xfrm>
                <a:off x="4053975" y="4791264"/>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2</a:t>
                </a:r>
                <a:endParaRPr lang="zh-CN" altLang="en-US" b="0">
                  <a:latin typeface="+mn-ea"/>
                  <a:ea typeface="+mn-ea"/>
                </a:endParaRPr>
              </a:p>
            </p:txBody>
          </p:sp>
          <p:sp>
            <p:nvSpPr>
              <p:cNvPr id="48" name="Text Box 26"/>
              <p:cNvSpPr txBox="1">
                <a:spLocks noChangeArrowheads="1"/>
              </p:cNvSpPr>
              <p:nvPr/>
            </p:nvSpPr>
            <p:spPr bwMode="auto">
              <a:xfrm>
                <a:off x="4434976" y="3872103"/>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49" name="Text Box 28"/>
              <p:cNvSpPr txBox="1">
                <a:spLocks noChangeArrowheads="1"/>
              </p:cNvSpPr>
              <p:nvPr/>
            </p:nvSpPr>
            <p:spPr bwMode="auto">
              <a:xfrm>
                <a:off x="4434976" y="43340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5</a:t>
                </a:r>
                <a:endParaRPr lang="zh-CN" altLang="en-US" b="0">
                  <a:latin typeface="+mn-ea"/>
                  <a:ea typeface="+mn-ea"/>
                </a:endParaRPr>
              </a:p>
            </p:txBody>
          </p:sp>
          <p:sp>
            <p:nvSpPr>
              <p:cNvPr id="50" name="Text Box 29"/>
              <p:cNvSpPr txBox="1">
                <a:spLocks noChangeArrowheads="1"/>
              </p:cNvSpPr>
              <p:nvPr/>
            </p:nvSpPr>
            <p:spPr bwMode="auto">
              <a:xfrm>
                <a:off x="4879099" y="4315015"/>
                <a:ext cx="1576551"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dirty="0">
                    <a:latin typeface="+mn-ea"/>
                    <a:ea typeface="+mn-ea"/>
                  </a:rPr>
                  <a:t>10 次缺页</a:t>
                </a:r>
                <a:endParaRPr lang="en-US" altLang="zh-CN" b="0" dirty="0">
                  <a:latin typeface="+mn-ea"/>
                  <a:ea typeface="+mn-ea"/>
                </a:endParaRPr>
              </a:p>
            </p:txBody>
          </p:sp>
          <p:sp>
            <p:nvSpPr>
              <p:cNvPr id="51" name="Rectangle 30"/>
              <p:cNvSpPr>
                <a:spLocks noChangeArrowheads="1"/>
              </p:cNvSpPr>
              <p:nvPr/>
            </p:nvSpPr>
            <p:spPr bwMode="auto">
              <a:xfrm>
                <a:off x="3625850" y="53340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b="0" dirty="0">
                    <a:latin typeface="+mn-ea"/>
                    <a:ea typeface="+mn-ea"/>
                  </a:rPr>
                  <a:t>4</a:t>
                </a:r>
                <a:endParaRPr lang="zh-CN" altLang="en-US" b="0" dirty="0">
                  <a:latin typeface="+mn-ea"/>
                  <a:ea typeface="+mn-ea"/>
                </a:endParaRPr>
              </a:p>
            </p:txBody>
          </p:sp>
          <p:sp>
            <p:nvSpPr>
              <p:cNvPr id="52" name="Text Box 31"/>
              <p:cNvSpPr txBox="1">
                <a:spLocks noChangeArrowheads="1"/>
              </p:cNvSpPr>
              <p:nvPr/>
            </p:nvSpPr>
            <p:spPr bwMode="auto">
              <a:xfrm>
                <a:off x="3215776" y="52484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4</a:t>
                </a:r>
                <a:endParaRPr lang="zh-CN" altLang="en-US" b="0">
                  <a:latin typeface="+mn-ea"/>
                  <a:ea typeface="+mn-ea"/>
                </a:endParaRPr>
              </a:p>
            </p:txBody>
          </p:sp>
          <p:sp>
            <p:nvSpPr>
              <p:cNvPr id="53" name="Text Box 32"/>
              <p:cNvSpPr txBox="1">
                <a:spLocks noChangeArrowheads="1"/>
              </p:cNvSpPr>
              <p:nvPr/>
            </p:nvSpPr>
            <p:spPr bwMode="auto">
              <a:xfrm>
                <a:off x="4053976" y="5248465"/>
                <a:ext cx="369297" cy="690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b="0">
                    <a:latin typeface="+mn-ea"/>
                    <a:ea typeface="+mn-ea"/>
                  </a:rPr>
                  <a:t>3</a:t>
                </a:r>
                <a:endParaRPr lang="zh-CN" altLang="en-US" b="0">
                  <a:latin typeface="+mn-ea"/>
                  <a:ea typeface="+mn-ea"/>
                </a:endParaRPr>
              </a:p>
            </p:txBody>
          </p:sp>
        </p:grpSp>
        <p:sp>
          <p:nvSpPr>
            <p:cNvPr id="2" name="矩形 1"/>
            <p:cNvSpPr/>
            <p:nvPr/>
          </p:nvSpPr>
          <p:spPr>
            <a:xfrm>
              <a:off x="6871317" y="2854402"/>
              <a:ext cx="4003829" cy="33253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 name="直接连接符 4"/>
          <p:cNvCxnSpPr/>
          <p:nvPr/>
        </p:nvCxnSpPr>
        <p:spPr>
          <a:xfrm>
            <a:off x="1392192" y="4518734"/>
            <a:ext cx="54169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1392192" y="4831489"/>
            <a:ext cx="54169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392192" y="5151992"/>
            <a:ext cx="54169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392192" y="5437409"/>
            <a:ext cx="54169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392192" y="5780220"/>
            <a:ext cx="5416981"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先进先出置换算法例子</a:t>
            </a:r>
            <a:endParaRPr lang="zh-CN" altLang="en-US" sz="2800" b="1" dirty="0">
              <a:solidFill>
                <a:schemeClr val="bg1"/>
              </a:solidFill>
              <a:cs typeface="+mn-ea"/>
              <a:sym typeface="+mn-lt"/>
            </a:endParaRPr>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l="655" t="32359" r="452" b="32361"/>
          <a:stretch>
            <a:fillRect/>
          </a:stretch>
        </p:blipFill>
        <p:spPr bwMode="auto">
          <a:xfrm>
            <a:off x="111026" y="2037529"/>
            <a:ext cx="11969947" cy="2401305"/>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最近最少使用算法</a:t>
            </a:r>
            <a:r>
              <a:rPr lang="en-US" altLang="zh-CN" sz="2800" b="1" dirty="0">
                <a:solidFill>
                  <a:schemeClr val="bg1"/>
                </a:solidFill>
                <a:cs typeface="+mn-ea"/>
                <a:sym typeface="+mn-lt"/>
              </a:rPr>
              <a:t>(LRU) </a:t>
            </a:r>
            <a:endParaRPr lang="zh-CN" altLang="en-US" sz="2800" b="1" dirty="0">
              <a:solidFill>
                <a:schemeClr val="bg1"/>
              </a:solidFill>
              <a:cs typeface="+mn-ea"/>
              <a:sym typeface="+mn-lt"/>
            </a:endParaRPr>
          </a:p>
        </p:txBody>
      </p:sp>
      <p:pic>
        <p:nvPicPr>
          <p:cNvPr id="5" name="Picture 7"/>
          <p:cNvPicPr>
            <a:picLocks noChangeAspect="1" noChangeArrowheads="1"/>
          </p:cNvPicPr>
          <p:nvPr/>
        </p:nvPicPr>
        <p:blipFill>
          <a:blip r:embed="rId1">
            <a:extLst>
              <a:ext uri="{28A0092B-C50C-407E-A947-70E740481C1C}">
                <a14:useLocalDpi xmlns:a14="http://schemas.microsoft.com/office/drawing/2010/main" val="0"/>
              </a:ext>
            </a:extLst>
          </a:blip>
          <a:srcRect l="809" t="32875" r="789" b="32362"/>
          <a:stretch>
            <a:fillRect/>
          </a:stretch>
        </p:blipFill>
        <p:spPr bwMode="auto">
          <a:xfrm>
            <a:off x="278667" y="2633339"/>
            <a:ext cx="11634666" cy="2311523"/>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i$lîďê"/>
          <p:cNvSpPr/>
          <p:nvPr/>
        </p:nvSpPr>
        <p:spPr>
          <a:xfrm>
            <a:off x="278667" y="1753341"/>
            <a:ext cx="7089158" cy="392877"/>
          </a:xfrm>
          <a:prstGeom prst="rect">
            <a:avLst/>
          </a:prstGeom>
          <a:noFill/>
          <a:ln>
            <a:noFill/>
          </a:ln>
        </p:spPr>
        <p:txBody>
          <a:bodyPr wrap="square" lIns="91440" tIns="45720" rIns="91440" bIns="45720" anchor="ctr" anchorCtr="0">
            <a:noAutofit/>
          </a:bodyPr>
          <a:lstStyle/>
          <a:p>
            <a:r>
              <a:rPr lang="zh-CN" altLang="en-US" sz="3200" dirty="0"/>
              <a:t>选择</a:t>
            </a:r>
            <a:r>
              <a:rPr lang="zh-CN" altLang="en-US" sz="3200" dirty="0">
                <a:solidFill>
                  <a:srgbClr val="FF0000"/>
                </a:solidFill>
              </a:rPr>
              <a:t>最近最久未使用的页面</a:t>
            </a:r>
            <a:r>
              <a:rPr lang="zh-CN" altLang="en-US" sz="3200" dirty="0"/>
              <a:t>予以淘汰</a:t>
            </a:r>
            <a:endParaRPr lang="zh-CN" altLang="en-US"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LRU</a:t>
            </a:r>
            <a:r>
              <a:rPr lang="zh-CN" altLang="en-US" sz="2800" b="1" dirty="0">
                <a:solidFill>
                  <a:schemeClr val="bg1"/>
                </a:solidFill>
                <a:cs typeface="+mn-ea"/>
                <a:sym typeface="+mn-lt"/>
              </a:rPr>
              <a:t>算法的硬件支持</a:t>
            </a:r>
            <a:endParaRPr lang="zh-CN" altLang="en-US" sz="2800" b="1" dirty="0">
              <a:solidFill>
                <a:schemeClr val="bg1"/>
              </a:solidFill>
              <a:cs typeface="+mn-ea"/>
              <a:sym typeface="+mn-lt"/>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2915" y="1469968"/>
            <a:ext cx="11619865" cy="4400888"/>
            <a:chOff x="660400" y="1469968"/>
            <a:chExt cx="11619865" cy="4400888"/>
          </a:xfrm>
        </p:grpSpPr>
        <p:sp>
          <p:nvSpPr>
            <p:cNvPr id="7" name="iṥlídè"/>
            <p:cNvSpPr/>
            <p:nvPr/>
          </p:nvSpPr>
          <p:spPr>
            <a:xfrm>
              <a:off x="8776335" y="1960542"/>
              <a:ext cx="3503930" cy="2823845"/>
            </a:xfrm>
            <a:prstGeom prst="rect">
              <a:avLst/>
            </a:prstGeom>
            <a:blipFill>
              <a:blip r:embed="rId2"/>
              <a:stretch>
                <a:fillRect t="-27413" b="-27272"/>
              </a:stretch>
            </a:blipFill>
            <a:ln w="28575">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cs typeface="+mn-ea"/>
                <a:sym typeface="+mn-lt"/>
              </a:endParaRPr>
            </a:p>
          </p:txBody>
        </p:sp>
        <p:grpSp>
          <p:nvGrpSpPr>
            <p:cNvPr id="10" name="iṡļiḓe"/>
            <p:cNvGrpSpPr/>
            <p:nvPr/>
          </p:nvGrpSpPr>
          <p:grpSpPr>
            <a:xfrm>
              <a:off x="660400" y="1469968"/>
              <a:ext cx="7918627" cy="2244981"/>
              <a:chOff x="660400" y="1469968"/>
              <a:chExt cx="7918627" cy="2244981"/>
            </a:xfrm>
          </p:grpSpPr>
          <p:grpSp>
            <p:nvGrpSpPr>
              <p:cNvPr id="21" name="iSḻíḓè"/>
              <p:cNvGrpSpPr/>
              <p:nvPr/>
            </p:nvGrpSpPr>
            <p:grpSpPr>
              <a:xfrm>
                <a:off x="1530998" y="1562342"/>
                <a:ext cx="7048029" cy="2152607"/>
                <a:chOff x="1592243" y="1562342"/>
                <a:chExt cx="8889331" cy="2152607"/>
              </a:xfrm>
            </p:grpSpPr>
            <p:sp>
              <p:nvSpPr>
                <p:cNvPr id="25" name="îṧľîḋé"/>
                <p:cNvSpPr txBox="1"/>
                <p:nvPr/>
              </p:nvSpPr>
              <p:spPr>
                <a:xfrm>
                  <a:off x="1592243" y="1562342"/>
                  <a:ext cx="8861891" cy="523217"/>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cs typeface="+mn-ea"/>
                      <a:sym typeface="+mn-lt"/>
                    </a:rPr>
                    <a:t>寄存器：为内存中的每个页面设置一个移位寄存器</a:t>
                  </a:r>
                  <a:endParaRPr lang="zh-CN" altLang="en-US" sz="2400" dirty="0">
                    <a:cs typeface="+mn-ea"/>
                    <a:sym typeface="+mn-lt"/>
                  </a:endParaRPr>
                </a:p>
              </p:txBody>
            </p:sp>
            <p:sp>
              <p:nvSpPr>
                <p:cNvPr id="26" name="íşļîḓé"/>
                <p:cNvSpPr/>
                <p:nvPr/>
              </p:nvSpPr>
              <p:spPr bwMode="auto">
                <a:xfrm>
                  <a:off x="1619683" y="2340412"/>
                  <a:ext cx="8861891" cy="137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cs typeface="+mn-ea"/>
                      <a:sym typeface="+mn-lt"/>
                    </a:rPr>
                    <a:t>被访问的页面对应寄存器的</a:t>
                  </a:r>
                  <a:r>
                    <a:rPr lang="en-US" altLang="zh-CN" sz="2400" dirty="0">
                      <a:cs typeface="+mn-ea"/>
                      <a:sym typeface="+mn-lt"/>
                    </a:rPr>
                    <a:t>Rn-1</a:t>
                  </a:r>
                  <a:r>
                    <a:rPr lang="zh-CN" altLang="en-US" sz="2400" dirty="0">
                      <a:cs typeface="+mn-ea"/>
                      <a:sym typeface="+mn-lt"/>
                    </a:rPr>
                    <a:t>位置为</a:t>
                  </a:r>
                  <a:r>
                    <a:rPr lang="en-US" altLang="zh-CN" sz="2400" dirty="0">
                      <a:cs typeface="+mn-ea"/>
                      <a:sym typeface="+mn-lt"/>
                    </a:rPr>
                    <a:t>1</a:t>
                  </a:r>
                  <a:r>
                    <a:rPr lang="zh-CN" altLang="en-US" sz="2400" dirty="0">
                      <a:cs typeface="+mn-ea"/>
                      <a:sym typeface="+mn-lt"/>
                    </a:rPr>
                    <a:t>，定时右移</a:t>
                  </a:r>
                  <a:endParaRPr lang="zh-CN" altLang="en-US" sz="2400" dirty="0">
                    <a:cs typeface="+mn-ea"/>
                    <a:sym typeface="+mn-lt"/>
                  </a:endParaRPr>
                </a:p>
                <a:p>
                  <a:pPr marL="342900" lvl="1" indent="-342900">
                    <a:lnSpc>
                      <a:spcPct val="132000"/>
                    </a:lnSpc>
                    <a:buClr>
                      <a:schemeClr val="accent4">
                        <a:lumMod val="40000"/>
                        <a:lumOff val="60000"/>
                      </a:schemeClr>
                    </a:buClr>
                    <a:buFont typeface="Wingdings" panose="05000000000000000000" pitchFamily="2" charset="2"/>
                    <a:buChar char="Ø"/>
                  </a:pPr>
                  <a:r>
                    <a:rPr lang="zh-CN" altLang="en-US" sz="2400" dirty="0">
                      <a:solidFill>
                        <a:srgbClr val="FF0000"/>
                      </a:solidFill>
                      <a:cs typeface="+mn-ea"/>
                      <a:sym typeface="+mn-lt"/>
                    </a:rPr>
                    <a:t>具有最小数值的寄存器所对应的页面为淘汰页</a:t>
                  </a:r>
                  <a:endParaRPr lang="zh-CN" altLang="en-US" sz="2400" dirty="0">
                    <a:solidFill>
                      <a:srgbClr val="FF0000"/>
                    </a:solidFill>
                    <a:cs typeface="+mn-ea"/>
                    <a:sym typeface="+mn-lt"/>
                  </a:endParaRPr>
                </a:p>
              </p:txBody>
            </p:sp>
          </p:grpSp>
          <p:grpSp>
            <p:nvGrpSpPr>
              <p:cNvPr id="22" name="ïS1íḋé"/>
              <p:cNvGrpSpPr/>
              <p:nvPr/>
            </p:nvGrpSpPr>
            <p:grpSpPr>
              <a:xfrm>
                <a:off x="660400" y="1469968"/>
                <a:ext cx="733394" cy="733394"/>
                <a:chOff x="660400" y="1469968"/>
                <a:chExt cx="733394" cy="733394"/>
              </a:xfrm>
            </p:grpSpPr>
            <p:sp>
              <p:nvSpPr>
                <p:cNvPr id="23" name="islîḋe"/>
                <p:cNvSpPr/>
                <p:nvPr/>
              </p:nvSpPr>
              <p:spPr>
                <a:xfrm>
                  <a:off x="660400" y="1469968"/>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cs typeface="+mn-ea"/>
                    <a:sym typeface="+mn-lt"/>
                  </a:endParaRPr>
                </a:p>
              </p:txBody>
            </p:sp>
            <p:sp>
              <p:nvSpPr>
                <p:cNvPr id="24" name="îŝlîďe"/>
                <p:cNvSpPr/>
                <p:nvPr/>
              </p:nvSpPr>
              <p:spPr>
                <a:xfrm>
                  <a:off x="797603" y="1654839"/>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grpSp>
          <p:nvGrpSpPr>
            <p:cNvPr id="11" name="iŝļïḓê"/>
            <p:cNvGrpSpPr/>
            <p:nvPr/>
          </p:nvGrpSpPr>
          <p:grpSpPr>
            <a:xfrm>
              <a:off x="660400" y="4251929"/>
              <a:ext cx="7462668" cy="1618927"/>
              <a:chOff x="660400" y="1860585"/>
              <a:chExt cx="7462668" cy="1618927"/>
            </a:xfrm>
          </p:grpSpPr>
          <p:grpSp>
            <p:nvGrpSpPr>
              <p:cNvPr id="13" name="ïṧļïḓe"/>
              <p:cNvGrpSpPr/>
              <p:nvPr/>
            </p:nvGrpSpPr>
            <p:grpSpPr>
              <a:xfrm>
                <a:off x="1539875" y="1917087"/>
                <a:ext cx="6583193" cy="1562425"/>
                <a:chOff x="1603439" y="1917087"/>
                <a:chExt cx="8303055" cy="1562425"/>
              </a:xfrm>
            </p:grpSpPr>
            <p:sp>
              <p:nvSpPr>
                <p:cNvPr id="18" name="ïšļíďè"/>
                <p:cNvSpPr txBox="1"/>
                <p:nvPr/>
              </p:nvSpPr>
              <p:spPr>
                <a:xfrm>
                  <a:off x="1603439" y="1917087"/>
                  <a:ext cx="8303055" cy="389423"/>
                </a:xfrm>
                <a:prstGeom prst="rect">
                  <a:avLst/>
                </a:prstGeom>
                <a:noFill/>
              </p:spPr>
              <p:txBody>
                <a:bodyPr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400" dirty="0">
                      <a:cs typeface="+mn-ea"/>
                      <a:sym typeface="+mn-lt"/>
                    </a:rPr>
                    <a:t>栈：保存当前使用的各个页面的页面号</a:t>
                  </a:r>
                  <a:endParaRPr lang="zh-CN" altLang="en-US" sz="2400" dirty="0">
                    <a:cs typeface="+mn-ea"/>
                    <a:sym typeface="+mn-lt"/>
                  </a:endParaRPr>
                </a:p>
              </p:txBody>
            </p:sp>
            <p:sp>
              <p:nvSpPr>
                <p:cNvPr id="19" name="íşľíḑè"/>
                <p:cNvSpPr/>
                <p:nvPr/>
              </p:nvSpPr>
              <p:spPr bwMode="auto">
                <a:xfrm>
                  <a:off x="1619683" y="2392974"/>
                  <a:ext cx="7413448" cy="108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342900" lvl="1" indent="-342900">
                    <a:lnSpc>
                      <a:spcPct val="123000"/>
                    </a:lnSpc>
                    <a:buFont typeface="Wingdings" panose="05000000000000000000" pitchFamily="2" charset="2"/>
                    <a:buChar char="Ø"/>
                  </a:pPr>
                  <a:r>
                    <a:rPr lang="zh-CN" altLang="en-US" sz="2400" dirty="0">
                      <a:cs typeface="+mn-ea"/>
                      <a:sym typeface="+mn-lt"/>
                    </a:rPr>
                    <a:t>被访问的页，移到栈顶</a:t>
                  </a:r>
                  <a:endParaRPr lang="zh-CN" altLang="en-US" sz="2400" dirty="0">
                    <a:cs typeface="+mn-ea"/>
                    <a:sym typeface="+mn-lt"/>
                  </a:endParaRPr>
                </a:p>
                <a:p>
                  <a:pPr marL="342900" lvl="1" indent="-342900">
                    <a:lnSpc>
                      <a:spcPct val="123000"/>
                    </a:lnSpc>
                    <a:buFont typeface="Wingdings" panose="05000000000000000000" pitchFamily="2" charset="2"/>
                    <a:buChar char="Ø"/>
                  </a:pPr>
                  <a:r>
                    <a:rPr lang="zh-CN" altLang="en-US" sz="2400" dirty="0">
                      <a:cs typeface="+mn-ea"/>
                      <a:sym typeface="+mn-lt"/>
                    </a:rPr>
                    <a:t>栈底是最近最久未使用页面的页面号</a:t>
                  </a:r>
                  <a:endParaRPr lang="zh-CN" altLang="en-US" sz="2400" dirty="0">
                    <a:cs typeface="+mn-ea"/>
                    <a:sym typeface="+mn-lt"/>
                  </a:endParaRPr>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1600" dirty="0">
                    <a:solidFill>
                      <a:schemeClr val="bg1"/>
                    </a:solidFill>
                    <a:cs typeface="+mn-ea"/>
                    <a:sym typeface="+mn-lt"/>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cxnSp>
          <p:nvCxnSpPr>
            <p:cNvPr id="12" name="直接连接符 11"/>
            <p:cNvCxnSpPr/>
            <p:nvPr/>
          </p:nvCxnSpPr>
          <p:spPr>
            <a:xfrm>
              <a:off x="693366" y="4034536"/>
              <a:ext cx="759663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最少使用置换算法</a:t>
            </a:r>
            <a:r>
              <a:rPr lang="en-US" altLang="zh-CN" sz="2800" b="1" dirty="0">
                <a:solidFill>
                  <a:schemeClr val="bg1"/>
                </a:solidFill>
                <a:cs typeface="+mn-ea"/>
                <a:sym typeface="+mn-lt"/>
              </a:rPr>
              <a:t>LFU</a:t>
            </a:r>
            <a:endParaRPr lang="zh-CN" altLang="en-US" sz="2800" b="1" dirty="0">
              <a:solidFill>
                <a:schemeClr val="bg1"/>
              </a:solidFill>
              <a:cs typeface="+mn-ea"/>
              <a:sym typeface="+mn-lt"/>
            </a:endParaRPr>
          </a:p>
        </p:txBody>
      </p:sp>
      <p:sp>
        <p:nvSpPr>
          <p:cNvPr id="6" name="íSľïdé"/>
          <p:cNvSpPr/>
          <p:nvPr/>
        </p:nvSpPr>
        <p:spPr>
          <a:xfrm>
            <a:off x="1906927" y="1924829"/>
            <a:ext cx="567702" cy="51193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cs typeface="+mn-ea"/>
              <a:sym typeface="+mn-lt"/>
            </a:endParaRPr>
          </a:p>
        </p:txBody>
      </p:sp>
      <p:sp>
        <p:nvSpPr>
          <p:cNvPr id="7" name="ïŝļíḓê"/>
          <p:cNvSpPr/>
          <p:nvPr/>
        </p:nvSpPr>
        <p:spPr bwMode="auto">
          <a:xfrm>
            <a:off x="8689292" y="2556677"/>
            <a:ext cx="556774" cy="553604"/>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91440" tIns="45720" rIns="91440" bIns="45720">
            <a:normAutofit/>
          </a:bodyPr>
          <a:lstStyle/>
          <a:p>
            <a:endParaRPr lang="zh-CN" altLang="en-US">
              <a:cs typeface="+mn-ea"/>
              <a:sym typeface="+mn-lt"/>
            </a:endParaRPr>
          </a:p>
        </p:txBody>
      </p:sp>
      <p:sp>
        <p:nvSpPr>
          <p:cNvPr id="8" name="îṧľîdé"/>
          <p:cNvSpPr/>
          <p:nvPr/>
        </p:nvSpPr>
        <p:spPr>
          <a:xfrm>
            <a:off x="3945450" y="1508926"/>
            <a:ext cx="4034934" cy="2095500"/>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9" name="内容占位符 2"/>
          <p:cNvSpPr txBox="1"/>
          <p:nvPr/>
        </p:nvSpPr>
        <p:spPr>
          <a:xfrm>
            <a:off x="894703" y="2556676"/>
            <a:ext cx="3766074" cy="308426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580"/>
              </a:spcBef>
              <a:buNone/>
              <a:defRPr/>
            </a:pPr>
            <a:r>
              <a:rPr lang="zh-CN" altLang="en-US" sz="2400" dirty="0">
                <a:cs typeface="+mn-ea"/>
                <a:sym typeface="+mn-lt"/>
              </a:rPr>
              <a:t>为内存中的每个页面设置一个移位寄存器，用来记录该页面的被访问频率</a:t>
            </a:r>
            <a:endParaRPr lang="zh-CN" altLang="en-US" sz="2400" dirty="0">
              <a:cs typeface="+mn-ea"/>
              <a:sym typeface="+mn-lt"/>
            </a:endParaRPr>
          </a:p>
        </p:txBody>
      </p:sp>
      <p:sp>
        <p:nvSpPr>
          <p:cNvPr id="10" name="内容占位符 2"/>
          <p:cNvSpPr txBox="1"/>
          <p:nvPr/>
        </p:nvSpPr>
        <p:spPr>
          <a:xfrm>
            <a:off x="7696200" y="3235045"/>
            <a:ext cx="4062082" cy="111501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580"/>
              </a:spcBef>
              <a:buNone/>
              <a:defRPr/>
            </a:pPr>
            <a:r>
              <a:rPr lang="en-US" altLang="zh-CN" sz="2400" dirty="0">
                <a:cs typeface="+mn-ea"/>
                <a:sym typeface="+mn-lt"/>
              </a:rPr>
              <a:t>LFU </a:t>
            </a:r>
            <a:r>
              <a:rPr lang="zh-CN" altLang="en-US" sz="2400" dirty="0">
                <a:cs typeface="+mn-ea"/>
                <a:sym typeface="+mn-lt"/>
              </a:rPr>
              <a:t>选择在</a:t>
            </a:r>
            <a:r>
              <a:rPr lang="zh-CN" altLang="en-US" sz="2400" dirty="0">
                <a:solidFill>
                  <a:srgbClr val="FF0000"/>
                </a:solidFill>
                <a:cs typeface="+mn-ea"/>
                <a:sym typeface="+mn-lt"/>
              </a:rPr>
              <a:t>最近时期使用最少的页面</a:t>
            </a:r>
            <a:r>
              <a:rPr lang="zh-CN" altLang="en-US" sz="2400" dirty="0">
                <a:cs typeface="+mn-ea"/>
                <a:sym typeface="+mn-lt"/>
              </a:rPr>
              <a:t>作为淘汰页</a:t>
            </a:r>
            <a:endParaRPr lang="zh-CN" altLang="en-US" sz="2400" dirty="0">
              <a:cs typeface="+mn-ea"/>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en-US" altLang="zh-CN" sz="2800" b="1" dirty="0">
                <a:solidFill>
                  <a:schemeClr val="bg1"/>
                </a:solidFill>
                <a:cs typeface="+mn-ea"/>
                <a:sym typeface="+mn-lt"/>
              </a:rPr>
              <a:t>Clock</a:t>
            </a:r>
            <a:r>
              <a:rPr lang="zh-CN" altLang="en-US" sz="2800" b="1" dirty="0">
                <a:solidFill>
                  <a:schemeClr val="bg1"/>
                </a:solidFill>
                <a:cs typeface="+mn-ea"/>
                <a:sym typeface="+mn-lt"/>
              </a:rPr>
              <a:t>置换算法</a:t>
            </a:r>
            <a:endParaRPr lang="zh-CN" altLang="en-US" sz="2800" b="1" dirty="0">
              <a:solidFill>
                <a:schemeClr val="bg1"/>
              </a:solidFill>
              <a:cs typeface="+mn-ea"/>
              <a:sym typeface="+mn-lt"/>
            </a:endParaRPr>
          </a:p>
        </p:txBody>
      </p:sp>
      <p:sp>
        <p:nvSpPr>
          <p:cNvPr id="11" name="矩形 10"/>
          <p:cNvSpPr/>
          <p:nvPr/>
        </p:nvSpPr>
        <p:spPr>
          <a:xfrm>
            <a:off x="1458809" y="1036938"/>
            <a:ext cx="9327559" cy="1291969"/>
          </a:xfrm>
          <a:prstGeom prst="rect">
            <a:avLst/>
          </a:prstGeom>
        </p:spPr>
        <p:txBody>
          <a:bodyPr wrap="square">
            <a:noAutofit/>
          </a:bodyPr>
          <a:lstStyle/>
          <a:p>
            <a:pPr>
              <a:lnSpc>
                <a:spcPct val="132000"/>
              </a:lnSpc>
              <a:spcBef>
                <a:spcPts val="600"/>
              </a:spcBef>
              <a:spcAft>
                <a:spcPts val="600"/>
              </a:spcAft>
            </a:pPr>
            <a:r>
              <a:rPr lang="en-US" altLang="zh-CN" sz="2400" dirty="0">
                <a:cs typeface="+mn-ea"/>
                <a:sym typeface="+mn-lt"/>
              </a:rPr>
              <a:t>LRU</a:t>
            </a:r>
            <a:r>
              <a:rPr lang="zh-CN" altLang="en-US" sz="2400" dirty="0">
                <a:cs typeface="+mn-ea"/>
                <a:sym typeface="+mn-lt"/>
              </a:rPr>
              <a:t>的近似算法，又称最近未用</a:t>
            </a:r>
            <a:r>
              <a:rPr lang="en-US" altLang="zh-CN" sz="2400" dirty="0">
                <a:cs typeface="+mn-ea"/>
                <a:sym typeface="+mn-lt"/>
              </a:rPr>
              <a:t>(NRU)</a:t>
            </a:r>
            <a:r>
              <a:rPr lang="zh-CN" altLang="en-US" sz="2400" dirty="0">
                <a:cs typeface="+mn-ea"/>
                <a:sym typeface="+mn-lt"/>
              </a:rPr>
              <a:t>或二次机会页面置换算法</a:t>
            </a:r>
            <a:endParaRPr lang="zh-CN" altLang="en-US" sz="2400" dirty="0">
              <a:cs typeface="+mn-ea"/>
              <a:sym typeface="+mn-lt"/>
            </a:endParaRPr>
          </a:p>
          <a:p>
            <a:pPr>
              <a:lnSpc>
                <a:spcPct val="132000"/>
              </a:lnSpc>
              <a:spcBef>
                <a:spcPts val="600"/>
              </a:spcBef>
              <a:spcAft>
                <a:spcPts val="600"/>
              </a:spcAft>
            </a:pPr>
            <a:r>
              <a:rPr lang="zh-CN" altLang="en-US" sz="2400" dirty="0">
                <a:solidFill>
                  <a:srgbClr val="FF0000"/>
                </a:solidFill>
                <a:cs typeface="+mn-ea"/>
                <a:sym typeface="+mn-lt"/>
              </a:rPr>
              <a:t>简单的</a:t>
            </a:r>
            <a:r>
              <a:rPr lang="en-US" altLang="zh-CN" sz="2400" dirty="0">
                <a:cs typeface="+mn-ea"/>
                <a:sym typeface="+mn-lt"/>
              </a:rPr>
              <a:t>Clock</a:t>
            </a:r>
            <a:r>
              <a:rPr lang="zh-CN" altLang="en-US" sz="2400" dirty="0">
                <a:cs typeface="+mn-ea"/>
                <a:sym typeface="+mn-lt"/>
              </a:rPr>
              <a:t>算法</a:t>
            </a:r>
            <a:endParaRPr lang="zh-CN" altLang="en-US" sz="2400" dirty="0">
              <a:cs typeface="+mn-ea"/>
              <a:sym typeface="+mn-lt"/>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1082813"/>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1731959"/>
            <a:ext cx="527050" cy="527050"/>
          </a:xfrm>
          <a:prstGeom prst="rect">
            <a:avLst/>
          </a:prstGeom>
          <a:ln>
            <a:noFill/>
          </a:ln>
          <a:effectLst>
            <a:softEdge rad="0"/>
          </a:effectLst>
        </p:spPr>
      </p:pic>
      <p:sp>
        <p:nvSpPr>
          <p:cNvPr id="14" name="矩形 13"/>
          <p:cNvSpPr/>
          <p:nvPr/>
        </p:nvSpPr>
        <p:spPr>
          <a:xfrm>
            <a:off x="1502431" y="2215623"/>
            <a:ext cx="8405049" cy="1557381"/>
          </a:xfrm>
          <a:prstGeom prst="rect">
            <a:avLst/>
          </a:prstGeom>
        </p:spPr>
        <p:txBody>
          <a:bodyPr wrap="square">
            <a:noAutofit/>
          </a:bodyPr>
          <a:lstStyle/>
          <a:p>
            <a:pPr marL="342900" indent="-342900">
              <a:lnSpc>
                <a:spcPct val="123000"/>
              </a:lnSpc>
              <a:buClr>
                <a:srgbClr val="FF0000"/>
              </a:buClr>
              <a:buFont typeface="Wingdings" panose="05000000000000000000" pitchFamily="2" charset="2"/>
              <a:buChar char="Ø"/>
            </a:pPr>
            <a:r>
              <a:rPr lang="zh-CN" altLang="en-US" sz="2400" dirty="0">
                <a:cs typeface="+mn-ea"/>
                <a:sym typeface="+mn-lt"/>
              </a:rPr>
              <a:t>每个页都与一个访问位相关联，初始值位</a:t>
            </a:r>
            <a:r>
              <a:rPr lang="en-US" altLang="zh-CN" sz="2400" dirty="0">
                <a:cs typeface="+mn-ea"/>
                <a:sym typeface="+mn-lt"/>
              </a:rPr>
              <a:t>0</a:t>
            </a:r>
            <a:endParaRPr lang="en-US" altLang="zh-CN" sz="2400" dirty="0">
              <a:cs typeface="+mn-ea"/>
              <a:sym typeface="+mn-lt"/>
            </a:endParaRPr>
          </a:p>
          <a:p>
            <a:pPr marL="342900" indent="-342900">
              <a:lnSpc>
                <a:spcPct val="123000"/>
              </a:lnSpc>
              <a:buClr>
                <a:srgbClr val="FF0000"/>
              </a:buClr>
              <a:buFont typeface="Wingdings" panose="05000000000000000000" pitchFamily="2" charset="2"/>
              <a:buChar char="Ø"/>
            </a:pPr>
            <a:r>
              <a:rPr lang="zh-CN" altLang="en-US" sz="2400" dirty="0">
                <a:cs typeface="+mn-ea"/>
                <a:sym typeface="+mn-lt"/>
              </a:rPr>
              <a:t>当页被访问时置访问位为</a:t>
            </a:r>
            <a:r>
              <a:rPr lang="en-US" altLang="zh-CN" sz="2400" dirty="0">
                <a:cs typeface="+mn-ea"/>
                <a:sym typeface="+mn-lt"/>
              </a:rPr>
              <a:t>1</a:t>
            </a:r>
            <a:endParaRPr lang="en-US" altLang="zh-CN" sz="2400" dirty="0">
              <a:cs typeface="+mn-ea"/>
              <a:sym typeface="+mn-lt"/>
            </a:endParaRPr>
          </a:p>
          <a:p>
            <a:pPr marL="342900" indent="-342900">
              <a:lnSpc>
                <a:spcPct val="123000"/>
              </a:lnSpc>
              <a:buClr>
                <a:srgbClr val="FF0000"/>
              </a:buClr>
              <a:buFont typeface="Wingdings" panose="05000000000000000000" pitchFamily="2" charset="2"/>
              <a:buChar char="Ø"/>
            </a:pPr>
            <a:r>
              <a:rPr lang="zh-CN" altLang="en-US" sz="2400" dirty="0">
                <a:cs typeface="+mn-ea"/>
                <a:sym typeface="+mn-lt"/>
              </a:rPr>
              <a:t>置换时选择访问位为</a:t>
            </a:r>
            <a:r>
              <a:rPr lang="en-US" altLang="zh-CN" sz="2400" dirty="0">
                <a:cs typeface="+mn-ea"/>
                <a:sym typeface="+mn-lt"/>
              </a:rPr>
              <a:t>0</a:t>
            </a:r>
            <a:r>
              <a:rPr lang="zh-CN" altLang="en-US" sz="2400" dirty="0">
                <a:cs typeface="+mn-ea"/>
                <a:sym typeface="+mn-lt"/>
              </a:rPr>
              <a:t>的页 ；若为</a:t>
            </a:r>
            <a:r>
              <a:rPr lang="en-US" altLang="zh-CN" sz="2400" dirty="0">
                <a:cs typeface="+mn-ea"/>
                <a:sym typeface="+mn-lt"/>
              </a:rPr>
              <a:t>1</a:t>
            </a:r>
            <a:r>
              <a:rPr lang="zh-CN" altLang="en-US" sz="2400" dirty="0">
                <a:cs typeface="+mn-ea"/>
                <a:sym typeface="+mn-lt"/>
              </a:rPr>
              <a:t>，重新置为</a:t>
            </a:r>
            <a:r>
              <a:rPr lang="en-US" altLang="zh-CN" sz="2400" dirty="0">
                <a:cs typeface="+mn-ea"/>
                <a:sym typeface="+mn-lt"/>
              </a:rPr>
              <a:t>0</a:t>
            </a:r>
            <a:endParaRPr lang="en-US" altLang="zh-CN" sz="2400" dirty="0">
              <a:cs typeface="+mn-ea"/>
              <a:sym typeface="+mn-lt"/>
            </a:endParaRPr>
          </a:p>
        </p:txBody>
      </p:sp>
      <p:pic>
        <p:nvPicPr>
          <p:cNvPr id="15" name="图片 14"/>
          <p:cNvPicPr>
            <a:picLocks noChangeAspect="1"/>
          </p:cNvPicPr>
          <p:nvPr/>
        </p:nvPicPr>
        <p:blipFill>
          <a:blip r:embed="rId2">
            <a:clrChange>
              <a:clrFrom>
                <a:srgbClr val="FFFFFF"/>
              </a:clrFrom>
              <a:clrTo>
                <a:srgbClr val="FFFFFF">
                  <a:alpha val="0"/>
                </a:srgbClr>
              </a:clrTo>
            </a:clrChange>
          </a:blip>
          <a:stretch>
            <a:fillRect/>
          </a:stretch>
        </p:blipFill>
        <p:spPr>
          <a:xfrm>
            <a:off x="2284520" y="3684229"/>
            <a:ext cx="7819122" cy="271462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Text Box 4"/>
          <p:cNvSpPr txBox="1"/>
          <p:nvPr/>
        </p:nvSpPr>
        <p:spPr>
          <a:xfrm>
            <a:off x="2495550" y="115888"/>
            <a:ext cx="4233545" cy="521970"/>
          </a:xfrm>
          <a:prstGeom prst="rect">
            <a:avLst/>
          </a:prstGeom>
          <a:noFill/>
          <a:ln w="9525">
            <a:noFill/>
          </a:ln>
        </p:spPr>
        <p:txBody>
          <a:bodyPr wrap="none" anchor="t" anchorCtr="0">
            <a:spAutoFit/>
          </a:bodyPr>
          <a:p>
            <a:r>
              <a:rPr lang="en-US" altLang="zh-CN" sz="2800" dirty="0">
                <a:solidFill>
                  <a:srgbClr val="FF0066"/>
                </a:solidFill>
                <a:latin typeface="Times New Roman" panose="02020603050405020304" charset="0"/>
                <a:ea typeface="宋体" panose="02010600030101010101" pitchFamily="2" charset="-122"/>
              </a:rPr>
              <a:t>3.3  Clock</a:t>
            </a:r>
            <a:r>
              <a:rPr lang="zh-CN" altLang="en-US" sz="2800" dirty="0">
                <a:solidFill>
                  <a:srgbClr val="FF0066"/>
                </a:solidFill>
                <a:latin typeface="Times New Roman" panose="02020603050405020304" charset="0"/>
                <a:ea typeface="宋体" panose="02010600030101010101" pitchFamily="2" charset="-122"/>
              </a:rPr>
              <a:t>置换算法</a:t>
            </a:r>
            <a:r>
              <a:rPr lang="en-US" altLang="zh-CN" sz="2800" dirty="0">
                <a:solidFill>
                  <a:srgbClr val="FF0066"/>
                </a:solidFill>
                <a:latin typeface="Times New Roman" panose="02020603050405020304" charset="0"/>
                <a:ea typeface="宋体" panose="02010600030101010101" pitchFamily="2" charset="-122"/>
              </a:rPr>
              <a:t>—</a:t>
            </a:r>
            <a:r>
              <a:rPr lang="zh-CN" altLang="en-US" sz="2800" dirty="0">
                <a:solidFill>
                  <a:srgbClr val="FF0066"/>
                </a:solidFill>
                <a:latin typeface="Times New Roman" panose="02020603050405020304" charset="0"/>
                <a:ea typeface="宋体" panose="02010600030101010101" pitchFamily="2" charset="-122"/>
              </a:rPr>
              <a:t>案例 </a:t>
            </a:r>
            <a:endParaRPr lang="zh-CN" altLang="en-US" sz="2800" dirty="0">
              <a:solidFill>
                <a:srgbClr val="FF0066"/>
              </a:solidFill>
              <a:latin typeface="Times New Roman" panose="02020603050405020304" charset="0"/>
              <a:ea typeface="宋体" panose="02010600030101010101" pitchFamily="2" charset="-122"/>
            </a:endParaRPr>
          </a:p>
        </p:txBody>
      </p:sp>
      <p:sp>
        <p:nvSpPr>
          <p:cNvPr id="33794" name="Rectangle 12"/>
          <p:cNvSpPr/>
          <p:nvPr/>
        </p:nvSpPr>
        <p:spPr>
          <a:xfrm>
            <a:off x="1684338" y="981075"/>
            <a:ext cx="8923337" cy="1216025"/>
          </a:xfrm>
          <a:prstGeom prst="rect">
            <a:avLst/>
          </a:prstGeom>
          <a:noFill/>
          <a:ln w="9525">
            <a:noFill/>
          </a:ln>
        </p:spPr>
        <p:txBody>
          <a:bodyPr anchor="t" anchorCtr="0"/>
          <a:p>
            <a:pPr marL="342900" indent="-342900">
              <a:lnSpc>
                <a:spcPct val="140000"/>
              </a:lnSpc>
              <a:spcBef>
                <a:spcPct val="20000"/>
              </a:spcBef>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系统为某进程分配了五个内存块，并考虑到有以下页面号引用串：1,3,4,2,5,6,3,4,7。</a:t>
            </a:r>
            <a:endParaRPr lang="zh-CN" altLang="en-US" sz="2500" dirty="0">
              <a:latin typeface="宋体" panose="02010600030101010101" pitchFamily="2" charset="-122"/>
              <a:ea typeface="宋体" panose="02010600030101010101" pitchFamily="2" charset="-122"/>
            </a:endParaRPr>
          </a:p>
        </p:txBody>
      </p:sp>
      <p:pic>
        <p:nvPicPr>
          <p:cNvPr id="33795" name="图片 6"/>
          <p:cNvPicPr>
            <a:picLocks noChangeAspect="1"/>
          </p:cNvPicPr>
          <p:nvPr>
            <p:custDataLst>
              <p:tags r:id="rId1"/>
            </p:custDataLst>
          </p:nvPr>
        </p:nvPicPr>
        <p:blipFill>
          <a:blip r:embed="rId2"/>
          <a:stretch>
            <a:fillRect/>
          </a:stretch>
        </p:blipFill>
        <p:spPr>
          <a:xfrm>
            <a:off x="1990725" y="2209800"/>
            <a:ext cx="3792538" cy="2730500"/>
          </a:xfrm>
          <a:prstGeom prst="rect">
            <a:avLst/>
          </a:prstGeom>
          <a:noFill/>
          <a:ln w="9525">
            <a:noFill/>
          </a:ln>
        </p:spPr>
      </p:pic>
      <p:pic>
        <p:nvPicPr>
          <p:cNvPr id="33796" name="图片 7"/>
          <p:cNvPicPr>
            <a:picLocks noChangeAspect="1"/>
          </p:cNvPicPr>
          <p:nvPr/>
        </p:nvPicPr>
        <p:blipFill>
          <a:blip r:embed="rId3"/>
          <a:stretch>
            <a:fillRect/>
          </a:stretch>
        </p:blipFill>
        <p:spPr>
          <a:xfrm>
            <a:off x="6600825" y="3716338"/>
            <a:ext cx="3679825" cy="2843212"/>
          </a:xfrm>
          <a:prstGeom prst="rect">
            <a:avLst/>
          </a:prstGeom>
          <a:noFill/>
          <a:ln w="9525">
            <a:noFill/>
          </a:ln>
        </p:spPr>
      </p:pic>
      <p:sp>
        <p:nvSpPr>
          <p:cNvPr id="33797" name="文本框 99"/>
          <p:cNvSpPr txBox="1"/>
          <p:nvPr/>
        </p:nvSpPr>
        <p:spPr>
          <a:xfrm>
            <a:off x="5448300" y="2133600"/>
            <a:ext cx="4638675" cy="1106805"/>
          </a:xfrm>
          <a:prstGeom prst="rect">
            <a:avLst/>
          </a:prstGeom>
          <a:noFill/>
          <a:ln w="9525">
            <a:noFill/>
          </a:ln>
        </p:spPr>
        <p:txBody>
          <a:bodyPr wrap="square" anchor="t" anchorCtr="0">
            <a:spAutoFit/>
          </a:bodyPr>
          <a:p>
            <a:pPr eaLnBrk="0" hangingPunct="0"/>
            <a:r>
              <a:rPr lang="zh-CN" altLang="zh-CN" sz="2200" b="0">
                <a:latin typeface="Times New Roman" panose="02020603050405020304" charset="0"/>
                <a:ea typeface="宋体" panose="02010600030101010101" pitchFamily="2" charset="-122"/>
              </a:rPr>
              <a:t>第一步：刚开始先将前五个页面装入五个物理块，这时五个页面均已被访问过，所以访问位置为</a:t>
            </a:r>
            <a:r>
              <a:rPr lang="en-US" altLang="zh-CN" sz="2200" b="0">
                <a:latin typeface="Times New Roman" panose="02020603050405020304" charset="0"/>
                <a:ea typeface="宋体" panose="02010600030101010101" pitchFamily="2" charset="-122"/>
              </a:rPr>
              <a:t>1</a:t>
            </a:r>
            <a:endParaRPr lang="zh-CN" altLang="en-US" sz="2200">
              <a:latin typeface="Times New Roman" panose="02020603050405020304" charset="0"/>
              <a:ea typeface="宋体" panose="02010600030101010101" pitchFamily="2" charset="-122"/>
            </a:endParaRPr>
          </a:p>
        </p:txBody>
      </p:sp>
      <p:sp>
        <p:nvSpPr>
          <p:cNvPr id="33798" name="文本框 1"/>
          <p:cNvSpPr txBox="1"/>
          <p:nvPr/>
        </p:nvSpPr>
        <p:spPr>
          <a:xfrm>
            <a:off x="1990725" y="5413375"/>
            <a:ext cx="4568825" cy="1445260"/>
          </a:xfrm>
          <a:prstGeom prst="rect">
            <a:avLst/>
          </a:prstGeom>
          <a:noFill/>
          <a:ln w="9525">
            <a:noFill/>
          </a:ln>
        </p:spPr>
        <p:txBody>
          <a:bodyPr wrap="square" anchor="t" anchorCtr="0">
            <a:spAutoFit/>
          </a:bodyPr>
          <a:p>
            <a:pPr eaLnBrk="0" hangingPunct="0"/>
            <a:r>
              <a:rPr lang="zh-CN" altLang="zh-CN" sz="2200" b="0">
                <a:latin typeface="Times New Roman" panose="02020603050405020304" charset="0"/>
                <a:ea typeface="宋体" panose="02010600030101010101" pitchFamily="2" charset="-122"/>
              </a:rPr>
              <a:t>第二步：访问到</a:t>
            </a:r>
            <a:r>
              <a:rPr lang="en-US" altLang="zh-CN" sz="2200" b="0">
                <a:latin typeface="Times New Roman" panose="02020603050405020304" charset="0"/>
                <a:ea typeface="宋体" panose="02010600030101010101" pitchFamily="2" charset="-122"/>
              </a:rPr>
              <a:t>6</a:t>
            </a:r>
            <a:r>
              <a:rPr lang="zh-CN" altLang="zh-CN" sz="2200" b="0">
                <a:latin typeface="Times New Roman" panose="02020603050405020304" charset="0"/>
                <a:ea typeface="宋体" panose="02010600030101010101" pitchFamily="2" charset="-122"/>
              </a:rPr>
              <a:t>号页，需要换出一个页面。开始进行扫描，扫描一圈后，物理块中的五个页面的访问位全都置</a:t>
            </a:r>
            <a:r>
              <a:rPr lang="en-US" altLang="zh-CN" sz="2200" b="0">
                <a:latin typeface="Times New Roman" panose="02020603050405020304" charset="0"/>
                <a:ea typeface="宋体" panose="02010600030101010101" pitchFamily="2" charset="-122"/>
              </a:rPr>
              <a:t>0</a:t>
            </a:r>
            <a:endParaRPr lang="zh-CN" altLang="en-US" sz="2200">
              <a:latin typeface="Times New Roman" panose="02020603050405020304"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ext Box 4"/>
          <p:cNvSpPr txBox="1"/>
          <p:nvPr/>
        </p:nvSpPr>
        <p:spPr>
          <a:xfrm>
            <a:off x="2495550" y="115888"/>
            <a:ext cx="4233545" cy="521970"/>
          </a:xfrm>
          <a:prstGeom prst="rect">
            <a:avLst/>
          </a:prstGeom>
          <a:noFill/>
          <a:ln w="9525">
            <a:noFill/>
          </a:ln>
        </p:spPr>
        <p:txBody>
          <a:bodyPr wrap="none" anchor="t" anchorCtr="0">
            <a:spAutoFit/>
          </a:bodyPr>
          <a:p>
            <a:r>
              <a:rPr lang="en-US" altLang="zh-CN" sz="2800" dirty="0">
                <a:solidFill>
                  <a:srgbClr val="FF0066"/>
                </a:solidFill>
                <a:latin typeface="Times New Roman" panose="02020603050405020304" charset="0"/>
                <a:ea typeface="宋体" panose="02010600030101010101" pitchFamily="2" charset="-122"/>
              </a:rPr>
              <a:t>3.3  Clock</a:t>
            </a:r>
            <a:r>
              <a:rPr lang="zh-CN" altLang="en-US" sz="2800" dirty="0">
                <a:solidFill>
                  <a:srgbClr val="FF0066"/>
                </a:solidFill>
                <a:latin typeface="Times New Roman" panose="02020603050405020304" charset="0"/>
                <a:ea typeface="宋体" panose="02010600030101010101" pitchFamily="2" charset="-122"/>
              </a:rPr>
              <a:t>置换算法</a:t>
            </a:r>
            <a:r>
              <a:rPr lang="en-US" altLang="zh-CN" sz="2800" dirty="0">
                <a:solidFill>
                  <a:srgbClr val="FF0066"/>
                </a:solidFill>
                <a:latin typeface="Times New Roman" panose="02020603050405020304" charset="0"/>
                <a:ea typeface="宋体" panose="02010600030101010101" pitchFamily="2" charset="-122"/>
              </a:rPr>
              <a:t>—</a:t>
            </a:r>
            <a:r>
              <a:rPr lang="zh-CN" altLang="en-US" sz="2800" dirty="0">
                <a:solidFill>
                  <a:srgbClr val="FF0066"/>
                </a:solidFill>
                <a:latin typeface="Times New Roman" panose="02020603050405020304" charset="0"/>
                <a:ea typeface="宋体" panose="02010600030101010101" pitchFamily="2" charset="-122"/>
              </a:rPr>
              <a:t>案例 </a:t>
            </a:r>
            <a:endParaRPr lang="zh-CN" altLang="en-US" sz="2800" dirty="0">
              <a:solidFill>
                <a:srgbClr val="FF0066"/>
              </a:solidFill>
              <a:latin typeface="Times New Roman" panose="02020603050405020304" charset="0"/>
              <a:ea typeface="宋体" panose="02010600030101010101" pitchFamily="2" charset="-122"/>
            </a:endParaRPr>
          </a:p>
        </p:txBody>
      </p:sp>
      <p:sp>
        <p:nvSpPr>
          <p:cNvPr id="34818" name="Rectangle 12"/>
          <p:cNvSpPr/>
          <p:nvPr/>
        </p:nvSpPr>
        <p:spPr>
          <a:xfrm>
            <a:off x="1684338" y="981075"/>
            <a:ext cx="8923337" cy="1216025"/>
          </a:xfrm>
          <a:prstGeom prst="rect">
            <a:avLst/>
          </a:prstGeom>
          <a:noFill/>
          <a:ln w="9525">
            <a:noFill/>
          </a:ln>
        </p:spPr>
        <p:txBody>
          <a:bodyPr anchor="t" anchorCtr="0"/>
          <a:p>
            <a:pPr marL="342900" indent="-342900">
              <a:lnSpc>
                <a:spcPct val="140000"/>
              </a:lnSpc>
              <a:spcBef>
                <a:spcPct val="20000"/>
              </a:spcBef>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系统为某进程分配了五个内存块，并考虑到有以下页面号引用串：1,3,4,2,5,6,3,4,7。</a:t>
            </a:r>
            <a:endParaRPr lang="zh-CN" altLang="en-US" sz="2500" dirty="0">
              <a:latin typeface="宋体" panose="02010600030101010101" pitchFamily="2" charset="-122"/>
              <a:ea typeface="宋体" panose="02010600030101010101" pitchFamily="2" charset="-122"/>
            </a:endParaRPr>
          </a:p>
        </p:txBody>
      </p:sp>
      <p:sp>
        <p:nvSpPr>
          <p:cNvPr id="34819" name="文本框 99"/>
          <p:cNvSpPr txBox="1"/>
          <p:nvPr>
            <p:custDataLst>
              <p:tags r:id="rId1"/>
            </p:custDataLst>
          </p:nvPr>
        </p:nvSpPr>
        <p:spPr>
          <a:xfrm>
            <a:off x="5448300" y="2133600"/>
            <a:ext cx="4638675" cy="1445260"/>
          </a:xfrm>
          <a:prstGeom prst="rect">
            <a:avLst/>
          </a:prstGeom>
          <a:noFill/>
          <a:ln w="9525">
            <a:noFill/>
          </a:ln>
        </p:spPr>
        <p:txBody>
          <a:bodyPr wrap="square" anchor="t" anchorCtr="0">
            <a:spAutoFit/>
          </a:bodyPr>
          <a:p>
            <a:pPr eaLnBrk="0" hangingPunct="0"/>
            <a:r>
              <a:rPr lang="zh-CN" altLang="zh-CN" sz="2200" b="0">
                <a:latin typeface="Times New Roman" panose="02020603050405020304" charset="0"/>
                <a:ea typeface="宋体" panose="02010600030101010101" pitchFamily="2" charset="-122"/>
              </a:rPr>
              <a:t>第三步：再进行第二轮扫描，1号页（0）淘汰，6号页进来并且将6号页访问位置为1，扫描页指针指向下一位</a:t>
            </a:r>
            <a:endParaRPr lang="zh-CN" altLang="zh-CN" sz="2200" b="0">
              <a:latin typeface="Times New Roman" panose="02020603050405020304" charset="0"/>
              <a:ea typeface="宋体" panose="02010600030101010101" pitchFamily="2" charset="-122"/>
            </a:endParaRPr>
          </a:p>
        </p:txBody>
      </p:sp>
      <p:sp>
        <p:nvSpPr>
          <p:cNvPr id="34820" name="文本框 1"/>
          <p:cNvSpPr txBox="1"/>
          <p:nvPr>
            <p:custDataLst>
              <p:tags r:id="rId2"/>
            </p:custDataLst>
          </p:nvPr>
        </p:nvSpPr>
        <p:spPr>
          <a:xfrm>
            <a:off x="1990725" y="5300663"/>
            <a:ext cx="4568825" cy="1445260"/>
          </a:xfrm>
          <a:prstGeom prst="rect">
            <a:avLst/>
          </a:prstGeom>
          <a:noFill/>
          <a:ln w="9525">
            <a:noFill/>
          </a:ln>
        </p:spPr>
        <p:txBody>
          <a:bodyPr wrap="square" anchor="t" anchorCtr="0">
            <a:spAutoFit/>
          </a:bodyPr>
          <a:p>
            <a:pPr eaLnBrk="0" hangingPunct="0"/>
            <a:r>
              <a:rPr lang="zh-CN" altLang="zh-CN" sz="2200" b="0">
                <a:latin typeface="Times New Roman" panose="02020603050405020304" charset="0"/>
                <a:ea typeface="宋体" panose="02010600030101010101" pitchFamily="2" charset="-122"/>
              </a:rPr>
              <a:t>第四步：按照访问顺序，该访问3号页和4号页，所以将3号页和4号页的访问位置为1，扫描页指针不动（因为没有淘汰）</a:t>
            </a:r>
            <a:endParaRPr lang="zh-CN" altLang="zh-CN" sz="2200" b="0">
              <a:latin typeface="Times New Roman" panose="02020603050405020304" charset="0"/>
              <a:ea typeface="宋体" panose="02010600030101010101" pitchFamily="2" charset="-122"/>
            </a:endParaRPr>
          </a:p>
        </p:txBody>
      </p:sp>
      <p:pic>
        <p:nvPicPr>
          <p:cNvPr id="34821" name="图片 8"/>
          <p:cNvPicPr>
            <a:picLocks noChangeAspect="1"/>
          </p:cNvPicPr>
          <p:nvPr>
            <p:custDataLst>
              <p:tags r:id="rId3"/>
            </p:custDataLst>
          </p:nvPr>
        </p:nvPicPr>
        <p:blipFill>
          <a:blip r:embed="rId4"/>
          <a:stretch>
            <a:fillRect/>
          </a:stretch>
        </p:blipFill>
        <p:spPr>
          <a:xfrm>
            <a:off x="1990725" y="2349500"/>
            <a:ext cx="3484563" cy="2673350"/>
          </a:xfrm>
          <a:prstGeom prst="rect">
            <a:avLst/>
          </a:prstGeom>
          <a:noFill/>
          <a:ln w="9525">
            <a:noFill/>
          </a:ln>
        </p:spPr>
      </p:pic>
      <p:pic>
        <p:nvPicPr>
          <p:cNvPr id="34822" name="图片 9"/>
          <p:cNvPicPr>
            <a:picLocks noChangeAspect="1"/>
          </p:cNvPicPr>
          <p:nvPr>
            <p:custDataLst>
              <p:tags r:id="rId5"/>
            </p:custDataLst>
          </p:nvPr>
        </p:nvPicPr>
        <p:blipFill>
          <a:blip r:embed="rId6"/>
          <a:stretch>
            <a:fillRect/>
          </a:stretch>
        </p:blipFill>
        <p:spPr>
          <a:xfrm>
            <a:off x="6672263" y="3716338"/>
            <a:ext cx="3757612" cy="2906712"/>
          </a:xfrm>
          <a:prstGeom prst="rect">
            <a:avLst/>
          </a:prstGeom>
          <a:noFill/>
          <a:ln w="9525">
            <a:noFill/>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Text Box 4"/>
          <p:cNvSpPr txBox="1"/>
          <p:nvPr/>
        </p:nvSpPr>
        <p:spPr>
          <a:xfrm>
            <a:off x="2495550" y="115888"/>
            <a:ext cx="4233545" cy="521970"/>
          </a:xfrm>
          <a:prstGeom prst="rect">
            <a:avLst/>
          </a:prstGeom>
          <a:noFill/>
          <a:ln w="9525">
            <a:noFill/>
          </a:ln>
        </p:spPr>
        <p:txBody>
          <a:bodyPr wrap="none" anchor="t" anchorCtr="0">
            <a:spAutoFit/>
          </a:bodyPr>
          <a:p>
            <a:r>
              <a:rPr lang="en-US" altLang="zh-CN" sz="2800" dirty="0">
                <a:solidFill>
                  <a:srgbClr val="FF0066"/>
                </a:solidFill>
                <a:latin typeface="Times New Roman" panose="02020603050405020304" charset="0"/>
                <a:ea typeface="宋体" panose="02010600030101010101" pitchFamily="2" charset="-122"/>
              </a:rPr>
              <a:t>3.3  Clock</a:t>
            </a:r>
            <a:r>
              <a:rPr lang="zh-CN" altLang="en-US" sz="2800" dirty="0">
                <a:solidFill>
                  <a:srgbClr val="FF0066"/>
                </a:solidFill>
                <a:latin typeface="Times New Roman" panose="02020603050405020304" charset="0"/>
                <a:ea typeface="宋体" panose="02010600030101010101" pitchFamily="2" charset="-122"/>
              </a:rPr>
              <a:t>置换算法</a:t>
            </a:r>
            <a:r>
              <a:rPr lang="en-US" altLang="zh-CN" sz="2800" dirty="0">
                <a:solidFill>
                  <a:srgbClr val="FF0066"/>
                </a:solidFill>
                <a:latin typeface="Times New Roman" panose="02020603050405020304" charset="0"/>
                <a:ea typeface="宋体" panose="02010600030101010101" pitchFamily="2" charset="-122"/>
              </a:rPr>
              <a:t>—</a:t>
            </a:r>
            <a:r>
              <a:rPr lang="zh-CN" altLang="en-US" sz="2800" dirty="0">
                <a:solidFill>
                  <a:srgbClr val="FF0066"/>
                </a:solidFill>
                <a:latin typeface="Times New Roman" panose="02020603050405020304" charset="0"/>
                <a:ea typeface="宋体" panose="02010600030101010101" pitchFamily="2" charset="-122"/>
              </a:rPr>
              <a:t>案例 </a:t>
            </a:r>
            <a:endParaRPr lang="zh-CN" altLang="en-US" sz="2800" dirty="0">
              <a:solidFill>
                <a:srgbClr val="FF0066"/>
              </a:solidFill>
              <a:latin typeface="Times New Roman" panose="02020603050405020304" charset="0"/>
              <a:ea typeface="宋体" panose="02010600030101010101" pitchFamily="2" charset="-122"/>
            </a:endParaRPr>
          </a:p>
        </p:txBody>
      </p:sp>
      <p:sp>
        <p:nvSpPr>
          <p:cNvPr id="35842" name="Rectangle 12"/>
          <p:cNvSpPr/>
          <p:nvPr/>
        </p:nvSpPr>
        <p:spPr>
          <a:xfrm>
            <a:off x="1684338" y="981075"/>
            <a:ext cx="8923337" cy="1216025"/>
          </a:xfrm>
          <a:prstGeom prst="rect">
            <a:avLst/>
          </a:prstGeom>
          <a:noFill/>
          <a:ln w="9525">
            <a:noFill/>
          </a:ln>
        </p:spPr>
        <p:txBody>
          <a:bodyPr anchor="t" anchorCtr="0"/>
          <a:p>
            <a:pPr marL="342900" indent="-342900">
              <a:lnSpc>
                <a:spcPct val="140000"/>
              </a:lnSpc>
              <a:spcBef>
                <a:spcPct val="20000"/>
              </a:spcBef>
            </a:pPr>
            <a:r>
              <a:rPr lang="en-US" altLang="zh-CN" sz="2500" dirty="0">
                <a:latin typeface="宋体" panose="02010600030101010101" pitchFamily="2" charset="-122"/>
                <a:ea typeface="宋体" panose="02010600030101010101" pitchFamily="2" charset="-122"/>
              </a:rPr>
              <a:t>  </a:t>
            </a:r>
            <a:r>
              <a:rPr lang="zh-CN" altLang="en-US" sz="2500" dirty="0">
                <a:latin typeface="宋体" panose="02010600030101010101" pitchFamily="2" charset="-122"/>
                <a:ea typeface="宋体" panose="02010600030101010101" pitchFamily="2" charset="-122"/>
              </a:rPr>
              <a:t>系统为某进程分配了五个内存块，并考虑到有以下页面号引用串：1,3,4,2,5,6,3,4,7。</a:t>
            </a:r>
            <a:endParaRPr lang="zh-CN" altLang="en-US" sz="2500" dirty="0">
              <a:latin typeface="宋体" panose="02010600030101010101" pitchFamily="2" charset="-122"/>
              <a:ea typeface="宋体" panose="02010600030101010101" pitchFamily="2" charset="-122"/>
            </a:endParaRPr>
          </a:p>
        </p:txBody>
      </p:sp>
      <p:sp>
        <p:nvSpPr>
          <p:cNvPr id="35843" name="文本框 1"/>
          <p:cNvSpPr txBox="1"/>
          <p:nvPr/>
        </p:nvSpPr>
        <p:spPr>
          <a:xfrm>
            <a:off x="2063750" y="4868863"/>
            <a:ext cx="8458200" cy="1783715"/>
          </a:xfrm>
          <a:prstGeom prst="rect">
            <a:avLst/>
          </a:prstGeom>
          <a:noFill/>
          <a:ln w="9525">
            <a:noFill/>
          </a:ln>
        </p:spPr>
        <p:txBody>
          <a:bodyPr wrap="square" anchor="t" anchorCtr="0">
            <a:spAutoFit/>
          </a:bodyPr>
          <a:p>
            <a:pPr eaLnBrk="0" hangingPunct="0"/>
            <a:r>
              <a:rPr lang="zh-CN" altLang="zh-CN" sz="2200" b="0">
                <a:latin typeface="Times New Roman" panose="02020603050405020304" charset="0"/>
                <a:ea typeface="宋体" panose="02010600030101010101" pitchFamily="2" charset="-122"/>
              </a:rPr>
              <a:t>第五步：访问7号页，7号页没有在物理块中，所以需要淘汰一个页面。扫描页指针从3号页开始扫描，3号页和4号页的访问位都是1，所以继续检查且将3号页和4号页的访问位置为0。2号页的访问位是0，所以淘汰2号页。7号页进入物理块中且将访问位置为1。扫描页指针指向下一位，也就是5号页</a:t>
            </a:r>
            <a:endParaRPr lang="zh-CN" altLang="zh-CN" sz="2200" b="0">
              <a:latin typeface="Times New Roman" panose="02020603050405020304" charset="0"/>
              <a:ea typeface="宋体" panose="02010600030101010101" pitchFamily="2" charset="-122"/>
            </a:endParaRPr>
          </a:p>
        </p:txBody>
      </p:sp>
      <p:pic>
        <p:nvPicPr>
          <p:cNvPr id="35844" name="图片 10"/>
          <p:cNvPicPr>
            <a:picLocks noChangeAspect="1"/>
          </p:cNvPicPr>
          <p:nvPr/>
        </p:nvPicPr>
        <p:blipFill>
          <a:blip r:embed="rId1"/>
          <a:stretch>
            <a:fillRect/>
          </a:stretch>
        </p:blipFill>
        <p:spPr>
          <a:xfrm>
            <a:off x="5951538" y="2079625"/>
            <a:ext cx="3530600" cy="2698750"/>
          </a:xfrm>
          <a:prstGeom prst="rect">
            <a:avLst/>
          </a:prstGeom>
          <a:noFill/>
          <a:ln w="9525">
            <a:noFill/>
          </a:ln>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改进型</a:t>
            </a:r>
            <a:r>
              <a:rPr lang="en-US" altLang="zh-CN" sz="2800" b="1" dirty="0">
                <a:solidFill>
                  <a:schemeClr val="bg1"/>
                </a:solidFill>
                <a:cs typeface="+mn-ea"/>
                <a:sym typeface="+mn-lt"/>
              </a:rPr>
              <a:t>Clock</a:t>
            </a:r>
            <a:r>
              <a:rPr lang="zh-CN" altLang="en-US" sz="2800" b="1" dirty="0">
                <a:solidFill>
                  <a:schemeClr val="bg1"/>
                </a:solidFill>
                <a:cs typeface="+mn-ea"/>
                <a:sym typeface="+mn-lt"/>
              </a:rPr>
              <a:t>算法</a:t>
            </a:r>
            <a:endParaRPr lang="zh-CN" altLang="en-US" sz="2800" b="1" dirty="0">
              <a:solidFill>
                <a:schemeClr val="bg1"/>
              </a:solidFill>
              <a:cs typeface="+mn-ea"/>
              <a:sym typeface="+mn-lt"/>
            </a:endParaRPr>
          </a:p>
        </p:txBody>
      </p:sp>
      <p:sp>
        <p:nvSpPr>
          <p:cNvPr id="11" name="矩形 10"/>
          <p:cNvSpPr/>
          <p:nvPr/>
        </p:nvSpPr>
        <p:spPr>
          <a:xfrm>
            <a:off x="1458809" y="1303270"/>
            <a:ext cx="9327559" cy="1291969"/>
          </a:xfrm>
          <a:prstGeom prst="rect">
            <a:avLst/>
          </a:prstGeom>
        </p:spPr>
        <p:txBody>
          <a:bodyPr wrap="square">
            <a:noAutofit/>
          </a:bodyPr>
          <a:lstStyle/>
          <a:p>
            <a:pPr>
              <a:lnSpc>
                <a:spcPct val="132000"/>
              </a:lnSpc>
              <a:spcBef>
                <a:spcPts val="600"/>
              </a:spcBef>
              <a:spcAft>
                <a:spcPts val="600"/>
              </a:spcAft>
            </a:pPr>
            <a:r>
              <a:rPr lang="zh-CN" altLang="en-US" sz="2400" dirty="0">
                <a:cs typeface="+mn-ea"/>
                <a:sym typeface="+mn-lt"/>
              </a:rPr>
              <a:t>除须考虑页面的使用情况外，还须增加置换代价</a:t>
            </a:r>
            <a:endParaRPr lang="zh-CN" altLang="en-US" sz="2400" dirty="0">
              <a:cs typeface="+mn-ea"/>
              <a:sym typeface="+mn-lt"/>
            </a:endParaRPr>
          </a:p>
          <a:p>
            <a:pPr>
              <a:lnSpc>
                <a:spcPct val="132000"/>
              </a:lnSpc>
              <a:spcBef>
                <a:spcPts val="600"/>
              </a:spcBef>
              <a:spcAft>
                <a:spcPts val="600"/>
              </a:spcAft>
            </a:pPr>
            <a:r>
              <a:rPr lang="zh-CN" altLang="en-US" sz="2400" dirty="0">
                <a:cs typeface="+mn-ea"/>
                <a:sym typeface="+mn-lt"/>
              </a:rPr>
              <a:t>淘汰时，同时检查访问位</a:t>
            </a:r>
            <a:r>
              <a:rPr lang="en-US" altLang="zh-CN" sz="2400" dirty="0">
                <a:cs typeface="+mn-ea"/>
                <a:sym typeface="+mn-lt"/>
              </a:rPr>
              <a:t>A</a:t>
            </a:r>
            <a:r>
              <a:rPr lang="zh-CN" altLang="en-US" sz="2400" dirty="0">
                <a:cs typeface="+mn-ea"/>
                <a:sym typeface="+mn-lt"/>
              </a:rPr>
              <a:t>与修改位</a:t>
            </a:r>
            <a:r>
              <a:rPr lang="en-US" altLang="zh-CN" sz="2400" dirty="0">
                <a:cs typeface="+mn-ea"/>
                <a:sym typeface="+mn-lt"/>
              </a:rPr>
              <a:t>M</a:t>
            </a:r>
            <a:endParaRPr lang="en-US" altLang="zh-CN" sz="2400" dirty="0">
              <a:cs typeface="+mn-ea"/>
              <a:sym typeface="+mn-lt"/>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1349145"/>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1998291"/>
            <a:ext cx="527050" cy="527050"/>
          </a:xfrm>
          <a:prstGeom prst="rect">
            <a:avLst/>
          </a:prstGeom>
          <a:ln>
            <a:noFill/>
          </a:ln>
          <a:effectLst>
            <a:softEdge rad="0"/>
          </a:effectLst>
        </p:spPr>
      </p:pic>
      <p:sp>
        <p:nvSpPr>
          <p:cNvPr id="14" name="矩形 13"/>
          <p:cNvSpPr/>
          <p:nvPr/>
        </p:nvSpPr>
        <p:spPr>
          <a:xfrm>
            <a:off x="1415187" y="2579703"/>
            <a:ext cx="10143539" cy="2631491"/>
          </a:xfrm>
          <a:prstGeom prst="rect">
            <a:avLst/>
          </a:prstGeom>
        </p:spPr>
        <p:txBody>
          <a:bodyPr wrap="square">
            <a:noAutofit/>
          </a:bodyPr>
          <a:lstStyle/>
          <a:p>
            <a:pPr marL="342900" indent="-342900">
              <a:lnSpc>
                <a:spcPct val="123000"/>
              </a:lnSpc>
              <a:buClr>
                <a:srgbClr val="FF0000"/>
              </a:buClr>
              <a:buFont typeface="Wingdings" panose="05000000000000000000" pitchFamily="2" charset="2"/>
              <a:buChar char="Ø"/>
            </a:pPr>
            <a:r>
              <a:rPr lang="zh-CN" altLang="en-US" sz="2200" dirty="0">
                <a:solidFill>
                  <a:srgbClr val="FF0000"/>
                </a:solidFill>
                <a:cs typeface="+mn-ea"/>
                <a:sym typeface="+mn-lt"/>
              </a:rPr>
              <a:t>第</a:t>
            </a:r>
            <a:r>
              <a:rPr lang="en-US" altLang="zh-CN" sz="2200" dirty="0">
                <a:solidFill>
                  <a:srgbClr val="FF0000"/>
                </a:solidFill>
                <a:cs typeface="+mn-ea"/>
                <a:sym typeface="+mn-lt"/>
              </a:rPr>
              <a:t>1</a:t>
            </a:r>
            <a:r>
              <a:rPr lang="zh-CN" altLang="en-US" sz="2200" dirty="0">
                <a:solidFill>
                  <a:srgbClr val="FF0000"/>
                </a:solidFill>
                <a:cs typeface="+mn-ea"/>
                <a:sym typeface="+mn-lt"/>
              </a:rPr>
              <a:t>类</a:t>
            </a:r>
            <a:r>
              <a:rPr lang="zh-CN" altLang="en-US" sz="2200" dirty="0">
                <a:cs typeface="+mn-ea"/>
                <a:sym typeface="+mn-lt"/>
              </a:rPr>
              <a:t>（</a:t>
            </a:r>
            <a:r>
              <a:rPr lang="en-US" altLang="zh-CN" sz="2200" dirty="0">
                <a:cs typeface="+mn-ea"/>
                <a:sym typeface="+mn-lt"/>
              </a:rPr>
              <a:t>A=0</a:t>
            </a:r>
            <a:r>
              <a:rPr lang="zh-CN" altLang="en-US" sz="2200" dirty="0">
                <a:cs typeface="+mn-ea"/>
                <a:sym typeface="+mn-lt"/>
              </a:rPr>
              <a:t>，</a:t>
            </a:r>
            <a:r>
              <a:rPr lang="en-US" altLang="zh-CN" sz="2200" dirty="0">
                <a:cs typeface="+mn-ea"/>
                <a:sym typeface="+mn-lt"/>
              </a:rPr>
              <a:t>M=0</a:t>
            </a:r>
            <a:r>
              <a:rPr lang="zh-CN" altLang="en-US" sz="2200" dirty="0">
                <a:cs typeface="+mn-ea"/>
                <a:sym typeface="+mn-lt"/>
              </a:rPr>
              <a:t>）：表示该页最近既未被访问、又未被修改，是最佳淘汰页。</a:t>
            </a:r>
            <a:endParaRPr lang="zh-CN" altLang="en-US" sz="2200" dirty="0">
              <a:cs typeface="+mn-ea"/>
              <a:sym typeface="+mn-lt"/>
            </a:endParaRPr>
          </a:p>
          <a:p>
            <a:pPr marL="342900" indent="-342900">
              <a:lnSpc>
                <a:spcPct val="123000"/>
              </a:lnSpc>
              <a:buClr>
                <a:srgbClr val="FF0000"/>
              </a:buClr>
              <a:buFont typeface="Wingdings" panose="05000000000000000000" pitchFamily="2" charset="2"/>
              <a:buChar char="Ø"/>
            </a:pPr>
            <a:r>
              <a:rPr lang="zh-CN" altLang="en-US" sz="2200" dirty="0">
                <a:solidFill>
                  <a:srgbClr val="FF0000"/>
                </a:solidFill>
                <a:cs typeface="+mn-ea"/>
                <a:sym typeface="+mn-lt"/>
              </a:rPr>
              <a:t>第</a:t>
            </a:r>
            <a:r>
              <a:rPr lang="en-US" altLang="zh-CN" sz="2200" dirty="0">
                <a:solidFill>
                  <a:srgbClr val="FF0000"/>
                </a:solidFill>
                <a:cs typeface="+mn-ea"/>
                <a:sym typeface="+mn-lt"/>
              </a:rPr>
              <a:t>2</a:t>
            </a:r>
            <a:r>
              <a:rPr lang="zh-CN" altLang="en-US" sz="2200" dirty="0">
                <a:solidFill>
                  <a:srgbClr val="FF0000"/>
                </a:solidFill>
                <a:cs typeface="+mn-ea"/>
                <a:sym typeface="+mn-lt"/>
              </a:rPr>
              <a:t>类</a:t>
            </a:r>
            <a:r>
              <a:rPr lang="zh-CN" altLang="en-US" sz="2200" dirty="0">
                <a:cs typeface="+mn-ea"/>
                <a:sym typeface="+mn-lt"/>
              </a:rPr>
              <a:t>（</a:t>
            </a:r>
            <a:r>
              <a:rPr lang="en-US" altLang="zh-CN" sz="2200" dirty="0">
                <a:cs typeface="+mn-ea"/>
                <a:sym typeface="+mn-lt"/>
              </a:rPr>
              <a:t>A=0</a:t>
            </a:r>
            <a:r>
              <a:rPr lang="zh-CN" altLang="en-US" sz="2200" dirty="0">
                <a:cs typeface="+mn-ea"/>
                <a:sym typeface="+mn-lt"/>
              </a:rPr>
              <a:t>，</a:t>
            </a:r>
            <a:r>
              <a:rPr lang="en-US" altLang="zh-CN" sz="2200" dirty="0">
                <a:cs typeface="+mn-ea"/>
                <a:sym typeface="+mn-lt"/>
              </a:rPr>
              <a:t>M=1</a:t>
            </a:r>
            <a:r>
              <a:rPr lang="zh-CN" altLang="en-US" sz="2200" dirty="0">
                <a:cs typeface="+mn-ea"/>
                <a:sym typeface="+mn-lt"/>
              </a:rPr>
              <a:t>）：表示该页最近未被访问，但已被修改，并不是很好的淘汰页。</a:t>
            </a:r>
            <a:endParaRPr lang="zh-CN" altLang="en-US" sz="2200" dirty="0">
              <a:cs typeface="+mn-ea"/>
              <a:sym typeface="+mn-lt"/>
            </a:endParaRPr>
          </a:p>
          <a:p>
            <a:pPr marL="342900" indent="-342900">
              <a:lnSpc>
                <a:spcPct val="123000"/>
              </a:lnSpc>
              <a:buClr>
                <a:srgbClr val="FF0000"/>
              </a:buClr>
              <a:buFont typeface="Wingdings" panose="05000000000000000000" pitchFamily="2" charset="2"/>
              <a:buChar char="Ø"/>
            </a:pPr>
            <a:r>
              <a:rPr lang="zh-CN" altLang="en-US" sz="2200" dirty="0">
                <a:solidFill>
                  <a:srgbClr val="FF0000"/>
                </a:solidFill>
                <a:cs typeface="+mn-ea"/>
                <a:sym typeface="+mn-lt"/>
              </a:rPr>
              <a:t>第</a:t>
            </a:r>
            <a:r>
              <a:rPr lang="en-US" altLang="zh-CN" sz="2200" dirty="0">
                <a:solidFill>
                  <a:srgbClr val="FF0000"/>
                </a:solidFill>
                <a:cs typeface="+mn-ea"/>
                <a:sym typeface="+mn-lt"/>
              </a:rPr>
              <a:t>3</a:t>
            </a:r>
            <a:r>
              <a:rPr lang="zh-CN" altLang="en-US" sz="2200" dirty="0">
                <a:solidFill>
                  <a:srgbClr val="FF0000"/>
                </a:solidFill>
                <a:cs typeface="+mn-ea"/>
                <a:sym typeface="+mn-lt"/>
              </a:rPr>
              <a:t>类</a:t>
            </a:r>
            <a:r>
              <a:rPr lang="zh-CN" altLang="en-US" sz="2200" dirty="0">
                <a:cs typeface="+mn-ea"/>
                <a:sym typeface="+mn-lt"/>
              </a:rPr>
              <a:t>（</a:t>
            </a:r>
            <a:r>
              <a:rPr lang="en-US" altLang="zh-CN" sz="2200" dirty="0">
                <a:cs typeface="+mn-ea"/>
                <a:sym typeface="+mn-lt"/>
              </a:rPr>
              <a:t>A=1</a:t>
            </a:r>
            <a:r>
              <a:rPr lang="zh-CN" altLang="en-US" sz="2200" dirty="0">
                <a:cs typeface="+mn-ea"/>
                <a:sym typeface="+mn-lt"/>
              </a:rPr>
              <a:t>，</a:t>
            </a:r>
            <a:r>
              <a:rPr lang="en-US" altLang="zh-CN" sz="2200" dirty="0">
                <a:cs typeface="+mn-ea"/>
                <a:sym typeface="+mn-lt"/>
              </a:rPr>
              <a:t>M=0</a:t>
            </a:r>
            <a:r>
              <a:rPr lang="zh-CN" altLang="en-US" sz="2200" dirty="0">
                <a:cs typeface="+mn-ea"/>
                <a:sym typeface="+mn-lt"/>
              </a:rPr>
              <a:t>）：表示该页最近已被访问，但未被修改，该页有可能再被访问。</a:t>
            </a:r>
            <a:endParaRPr lang="zh-CN" altLang="en-US" sz="2200" dirty="0">
              <a:cs typeface="+mn-ea"/>
              <a:sym typeface="+mn-lt"/>
            </a:endParaRPr>
          </a:p>
          <a:p>
            <a:pPr marL="342900" indent="-342900">
              <a:lnSpc>
                <a:spcPct val="123000"/>
              </a:lnSpc>
              <a:buClr>
                <a:srgbClr val="FF0000"/>
              </a:buClr>
              <a:buFont typeface="Wingdings" panose="05000000000000000000" pitchFamily="2" charset="2"/>
              <a:buChar char="Ø"/>
            </a:pPr>
            <a:r>
              <a:rPr lang="zh-CN" altLang="en-US" sz="2200" dirty="0">
                <a:solidFill>
                  <a:srgbClr val="FF0000"/>
                </a:solidFill>
                <a:cs typeface="+mn-ea"/>
                <a:sym typeface="+mn-lt"/>
              </a:rPr>
              <a:t>第</a:t>
            </a:r>
            <a:r>
              <a:rPr lang="en-US" altLang="zh-CN" sz="2200" dirty="0">
                <a:solidFill>
                  <a:srgbClr val="FF0000"/>
                </a:solidFill>
                <a:cs typeface="+mn-ea"/>
                <a:sym typeface="+mn-lt"/>
              </a:rPr>
              <a:t>4</a:t>
            </a:r>
            <a:r>
              <a:rPr lang="zh-CN" altLang="en-US" sz="2200" dirty="0">
                <a:solidFill>
                  <a:srgbClr val="FF0000"/>
                </a:solidFill>
                <a:cs typeface="+mn-ea"/>
                <a:sym typeface="+mn-lt"/>
              </a:rPr>
              <a:t>类</a:t>
            </a:r>
            <a:r>
              <a:rPr lang="zh-CN" altLang="en-US" sz="2200" dirty="0">
                <a:cs typeface="+mn-ea"/>
                <a:sym typeface="+mn-lt"/>
              </a:rPr>
              <a:t>（</a:t>
            </a:r>
            <a:r>
              <a:rPr lang="en-US" altLang="zh-CN" sz="2200" dirty="0">
                <a:cs typeface="+mn-ea"/>
                <a:sym typeface="+mn-lt"/>
              </a:rPr>
              <a:t>A=1</a:t>
            </a:r>
            <a:r>
              <a:rPr lang="zh-CN" altLang="en-US" sz="2200" dirty="0">
                <a:cs typeface="+mn-ea"/>
                <a:sym typeface="+mn-lt"/>
              </a:rPr>
              <a:t>，</a:t>
            </a:r>
            <a:r>
              <a:rPr lang="en-US" altLang="zh-CN" sz="2200" dirty="0">
                <a:cs typeface="+mn-ea"/>
                <a:sym typeface="+mn-lt"/>
              </a:rPr>
              <a:t>M=1</a:t>
            </a:r>
            <a:r>
              <a:rPr lang="zh-CN" altLang="en-US" sz="2200" dirty="0">
                <a:cs typeface="+mn-ea"/>
                <a:sym typeface="+mn-lt"/>
              </a:rPr>
              <a:t>）：表示该页最近已被访问且被修改，该页有可能再被访问。</a:t>
            </a:r>
            <a:endParaRPr lang="zh-CN" altLang="en-US" sz="2200" dirty="0">
              <a:cs typeface="+mn-ea"/>
              <a:sym typeface="+mn-lt"/>
            </a:endParaRPr>
          </a:p>
        </p:txBody>
      </p:sp>
      <p:sp>
        <p:nvSpPr>
          <p:cNvPr id="16" name="矩形 15"/>
          <p:cNvSpPr/>
          <p:nvPr/>
        </p:nvSpPr>
        <p:spPr>
          <a:xfrm>
            <a:off x="1458809" y="5279610"/>
            <a:ext cx="9327559" cy="703941"/>
          </a:xfrm>
          <a:prstGeom prst="rect">
            <a:avLst/>
          </a:prstGeom>
        </p:spPr>
        <p:txBody>
          <a:bodyPr wrap="square">
            <a:noAutofit/>
          </a:bodyPr>
          <a:lstStyle/>
          <a:p>
            <a:pPr>
              <a:lnSpc>
                <a:spcPct val="132000"/>
              </a:lnSpc>
              <a:spcBef>
                <a:spcPts val="600"/>
              </a:spcBef>
              <a:spcAft>
                <a:spcPts val="600"/>
              </a:spcAft>
            </a:pPr>
            <a:r>
              <a:rPr lang="zh-CN" altLang="en-US" sz="2400" dirty="0">
                <a:cs typeface="+mn-ea"/>
                <a:sym typeface="+mn-lt"/>
              </a:rPr>
              <a:t>置换时，循环依次查找第</a:t>
            </a:r>
            <a:r>
              <a:rPr lang="en-US" altLang="zh-CN" sz="2400" dirty="0">
                <a:cs typeface="+mn-ea"/>
                <a:sym typeface="+mn-lt"/>
              </a:rPr>
              <a:t>1</a:t>
            </a:r>
            <a:r>
              <a:rPr lang="zh-CN" altLang="en-US" sz="2400" dirty="0">
                <a:cs typeface="+mn-ea"/>
                <a:sym typeface="+mn-lt"/>
              </a:rPr>
              <a:t>类、第</a:t>
            </a:r>
            <a:r>
              <a:rPr lang="en-US" altLang="zh-CN" sz="2400" dirty="0">
                <a:cs typeface="+mn-ea"/>
                <a:sym typeface="+mn-lt"/>
              </a:rPr>
              <a:t>2</a:t>
            </a:r>
            <a:r>
              <a:rPr lang="zh-CN" altLang="en-US" sz="2400" dirty="0">
                <a:cs typeface="+mn-ea"/>
                <a:sym typeface="+mn-lt"/>
              </a:rPr>
              <a:t>类页面，找到为止</a:t>
            </a:r>
            <a:endParaRPr lang="zh-CN" altLang="en-US" sz="2400" dirty="0">
              <a:cs typeface="+mn-ea"/>
              <a:sym typeface="+mn-lt"/>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88137" y="5325485"/>
            <a:ext cx="527050" cy="527050"/>
          </a:xfrm>
          <a:prstGeom prst="rect">
            <a:avLst/>
          </a:prstGeom>
          <a:ln>
            <a:noFill/>
          </a:ln>
          <a:effectLst>
            <a:softEdge rad="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页面缓冲算法</a:t>
            </a:r>
            <a:r>
              <a:rPr lang="en-US" altLang="zh-CN" sz="2800" b="1" dirty="0">
                <a:solidFill>
                  <a:schemeClr val="bg1"/>
                </a:solidFill>
                <a:cs typeface="+mn-ea"/>
                <a:sym typeface="+mn-lt"/>
              </a:rPr>
              <a:t>PBA</a:t>
            </a:r>
            <a:endParaRPr lang="zh-CN" altLang="en-US" sz="2800" b="1" dirty="0">
              <a:solidFill>
                <a:schemeClr val="bg1"/>
              </a:solidFill>
              <a:cs typeface="+mn-ea"/>
              <a:sym typeface="+mn-lt"/>
            </a:endParaRPr>
          </a:p>
        </p:txBody>
      </p:sp>
      <p:sp>
        <p:nvSpPr>
          <p:cNvPr id="220" name="íšḻîḋè"/>
          <p:cNvSpPr/>
          <p:nvPr/>
        </p:nvSpPr>
        <p:spPr>
          <a:xfrm>
            <a:off x="1765900" y="2744370"/>
            <a:ext cx="838882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显著降低页面换进、换出的频率，减少了开销</a:t>
            </a:r>
            <a:endParaRPr lang="zh-CN" altLang="en-US" sz="22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200" dirty="0">
                <a:cs typeface="+mn-ea"/>
                <a:sym typeface="+mn-lt"/>
              </a:rPr>
              <a:t>可采用较简单的置换策略，如不需要硬件支持</a:t>
            </a:r>
            <a:endParaRPr lang="zh-CN" altLang="en-US" sz="2200" dirty="0">
              <a:cs typeface="+mn-ea"/>
              <a:sym typeface="+mn-lt"/>
            </a:endParaRPr>
          </a:p>
        </p:txBody>
      </p:sp>
      <p:sp>
        <p:nvSpPr>
          <p:cNvPr id="221" name="i$lîďê"/>
          <p:cNvSpPr/>
          <p:nvPr/>
        </p:nvSpPr>
        <p:spPr>
          <a:xfrm>
            <a:off x="1821535" y="2293244"/>
            <a:ext cx="3696051" cy="392877"/>
          </a:xfrm>
          <a:prstGeom prst="rect">
            <a:avLst/>
          </a:prstGeom>
          <a:noFill/>
          <a:ln>
            <a:noFill/>
          </a:ln>
        </p:spPr>
        <p:txBody>
          <a:bodyPr wrap="square" lIns="91440" tIns="45720" rIns="91440" bIns="45720" anchor="ctr" anchorCtr="0">
            <a:noAutofit/>
          </a:bodyPr>
          <a:lstStyle/>
          <a:p>
            <a:r>
              <a:rPr lang="zh-CN" altLang="en-US" sz="2400" dirty="0">
                <a:solidFill>
                  <a:srgbClr val="0000FF"/>
                </a:solidFill>
                <a:cs typeface="+mn-ea"/>
                <a:sym typeface="+mn-lt"/>
              </a:rPr>
              <a:t>目的：</a:t>
            </a:r>
            <a:endParaRPr lang="zh-CN" altLang="en-US" sz="2400" dirty="0">
              <a:solidFill>
                <a:srgbClr val="0000FF"/>
              </a:solidFill>
              <a:cs typeface="+mn-ea"/>
              <a:sym typeface="+mn-lt"/>
            </a:endParaRPr>
          </a:p>
        </p:txBody>
      </p:sp>
      <p:sp>
        <p:nvSpPr>
          <p:cNvPr id="222" name="î$ļíḋè"/>
          <p:cNvSpPr/>
          <p:nvPr/>
        </p:nvSpPr>
        <p:spPr>
          <a:xfrm>
            <a:off x="1821535" y="4178855"/>
            <a:ext cx="9730290" cy="6132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设置两个链表：</a:t>
            </a:r>
            <a:endParaRPr lang="en-US" altLang="zh-CN" sz="2200" dirty="0">
              <a:cs typeface="+mn-ea"/>
              <a:sym typeface="+mn-lt"/>
            </a:endParaRPr>
          </a:p>
          <a:p>
            <a:pPr lvl="1">
              <a:lnSpc>
                <a:spcPct val="120000"/>
              </a:lnSpc>
              <a:buClr>
                <a:srgbClr val="FF0000"/>
              </a:buClr>
            </a:pPr>
            <a:r>
              <a:rPr lang="zh-CN" altLang="en-US" sz="2200" dirty="0">
                <a:cs typeface="+mn-ea"/>
                <a:sym typeface="+mn-lt"/>
              </a:rPr>
              <a:t>①空闲页面链表：保存空闲物理块</a:t>
            </a:r>
            <a:endParaRPr lang="zh-CN" altLang="en-US" sz="2200" dirty="0">
              <a:cs typeface="+mn-ea"/>
              <a:sym typeface="+mn-lt"/>
            </a:endParaRPr>
          </a:p>
          <a:p>
            <a:pPr lvl="1">
              <a:lnSpc>
                <a:spcPct val="120000"/>
              </a:lnSpc>
              <a:buClr>
                <a:srgbClr val="FF0000"/>
              </a:buClr>
            </a:pPr>
            <a:r>
              <a:rPr lang="zh-CN" altLang="en-US" sz="2200" dirty="0">
                <a:cs typeface="+mn-ea"/>
                <a:sym typeface="+mn-lt"/>
              </a:rPr>
              <a:t>②修改页面链表：保存已修改且需要被换出的页面等被换出的页面数目达到一定值时，再一起换出外存，</a:t>
            </a:r>
            <a:endParaRPr lang="zh-CN" altLang="en-US" sz="2200" dirty="0">
              <a:cs typeface="+mn-ea"/>
              <a:sym typeface="+mn-lt"/>
            </a:endParaRPr>
          </a:p>
        </p:txBody>
      </p:sp>
      <p:sp>
        <p:nvSpPr>
          <p:cNvPr id="223" name="ïṧḷïḋè"/>
          <p:cNvSpPr/>
          <p:nvPr/>
        </p:nvSpPr>
        <p:spPr>
          <a:xfrm>
            <a:off x="1821537" y="3763752"/>
            <a:ext cx="3696051" cy="415102"/>
          </a:xfrm>
          <a:prstGeom prst="rect">
            <a:avLst/>
          </a:prstGeom>
          <a:noFill/>
          <a:ln>
            <a:noFill/>
          </a:ln>
        </p:spPr>
        <p:txBody>
          <a:bodyPr wrap="square" lIns="91440" tIns="45720" rIns="91440" bIns="45720" anchor="ctr" anchorCtr="0">
            <a:noAutofit/>
          </a:bodyPr>
          <a:lstStyle/>
          <a:p>
            <a:r>
              <a:rPr lang="zh-CN" altLang="en-US" sz="2400" dirty="0">
                <a:cs typeface="+mn-ea"/>
                <a:sym typeface="+mn-lt"/>
              </a:rPr>
              <a:t>具体做法：</a:t>
            </a:r>
            <a:endParaRPr lang="zh-CN" altLang="en-US" sz="2400" dirty="0">
              <a:cs typeface="+mn-ea"/>
              <a:sym typeface="+mn-lt"/>
            </a:endParaRPr>
          </a:p>
        </p:txBody>
      </p:sp>
      <p:sp>
        <p:nvSpPr>
          <p:cNvPr id="224" name="îs1iďé"/>
          <p:cNvSpPr/>
          <p:nvPr/>
        </p:nvSpPr>
        <p:spPr>
          <a:xfrm>
            <a:off x="1821535" y="1637377"/>
            <a:ext cx="9711234" cy="1490610"/>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zh-CN" altLang="en-US" sz="2200" dirty="0">
                <a:cs typeface="+mn-ea"/>
                <a:sym typeface="+mn-lt"/>
              </a:rPr>
              <a:t>页面置换算法、写回磁盘的频率、读入内存的频率</a:t>
            </a:r>
            <a:endParaRPr lang="zh-CN" altLang="en-US" sz="2200" dirty="0">
              <a:cs typeface="+mn-ea"/>
              <a:sym typeface="+mn-lt"/>
            </a:endParaRPr>
          </a:p>
        </p:txBody>
      </p:sp>
      <p:sp>
        <p:nvSpPr>
          <p:cNvPr id="225" name="íšḻíḑê"/>
          <p:cNvSpPr/>
          <p:nvPr/>
        </p:nvSpPr>
        <p:spPr>
          <a:xfrm>
            <a:off x="1802480" y="1232766"/>
            <a:ext cx="3696051" cy="405747"/>
          </a:xfrm>
          <a:prstGeom prst="rect">
            <a:avLst/>
          </a:prstGeom>
          <a:noFill/>
          <a:ln>
            <a:noFill/>
          </a:ln>
        </p:spPr>
        <p:txBody>
          <a:bodyPr wrap="square" lIns="91440" tIns="45720" rIns="91440" bIns="45720" anchor="ctr" anchorCtr="0">
            <a:noAutofit/>
          </a:bodyPr>
          <a:lstStyle/>
          <a:p>
            <a:r>
              <a:rPr lang="zh-CN" altLang="en-US" sz="2400" dirty="0"/>
              <a:t>影响效率的因素：</a:t>
            </a:r>
            <a:endParaRPr lang="en-US" altLang="zh-CN" sz="2400" dirty="0"/>
          </a:p>
        </p:txBody>
      </p:sp>
      <p:sp>
        <p:nvSpPr>
          <p:cNvPr id="226"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7" name="íṥḻîḓe"/>
          <p:cNvSpPr/>
          <p:nvPr/>
        </p:nvSpPr>
        <p:spPr>
          <a:xfrm>
            <a:off x="1138033" y="371978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8" name="îşļiḓè"/>
          <p:cNvSpPr/>
          <p:nvPr/>
        </p:nvSpPr>
        <p:spPr>
          <a:xfrm>
            <a:off x="1138033" y="224423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9"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0" name="íSlíḋe"/>
          <p:cNvSpPr/>
          <p:nvPr/>
        </p:nvSpPr>
        <p:spPr>
          <a:xfrm>
            <a:off x="1328287" y="2466251"/>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1" name="ïśḷïḓe"/>
          <p:cNvSpPr/>
          <p:nvPr/>
        </p:nvSpPr>
        <p:spPr>
          <a:xfrm>
            <a:off x="1357226" y="390924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访问内存的有效时间</a:t>
            </a:r>
            <a:r>
              <a:rPr lang="en-US" altLang="zh-CN" sz="2800" b="1" dirty="0">
                <a:solidFill>
                  <a:schemeClr val="bg1"/>
                </a:solidFill>
                <a:cs typeface="+mn-ea"/>
                <a:sym typeface="+mn-lt"/>
              </a:rPr>
              <a:t>EAT</a:t>
            </a:r>
            <a:endParaRPr lang="zh-CN" altLang="en-US" sz="2800" b="1" dirty="0">
              <a:solidFill>
                <a:schemeClr val="bg1"/>
              </a:solidFill>
              <a:cs typeface="+mn-ea"/>
              <a:sym typeface="+mn-lt"/>
            </a:endParaRPr>
          </a:p>
        </p:txBody>
      </p:sp>
      <p:sp>
        <p:nvSpPr>
          <p:cNvPr id="220" name="íšḻîḋè"/>
          <p:cNvSpPr/>
          <p:nvPr/>
        </p:nvSpPr>
        <p:spPr>
          <a:xfrm>
            <a:off x="1765900" y="2744370"/>
            <a:ext cx="8388829" cy="9331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en-US" altLang="zh-CN" sz="2200" dirty="0">
                <a:cs typeface="+mn-ea"/>
                <a:sym typeface="+mn-lt"/>
              </a:rPr>
              <a:t>EAT= </a:t>
            </a:r>
            <a:r>
              <a:rPr lang="el-GR" altLang="zh-CN" sz="2200" dirty="0">
                <a:cs typeface="+mn-ea"/>
                <a:sym typeface="+mn-lt"/>
              </a:rPr>
              <a:t>λ + </a:t>
            </a:r>
            <a:r>
              <a:rPr lang="en-US" altLang="zh-CN" sz="2200" dirty="0">
                <a:cs typeface="+mn-ea"/>
                <a:sym typeface="+mn-lt"/>
              </a:rPr>
              <a:t>t + </a:t>
            </a:r>
            <a:r>
              <a:rPr lang="el-GR" altLang="zh-CN" sz="2200" dirty="0">
                <a:cs typeface="+mn-ea"/>
                <a:sym typeface="+mn-lt"/>
              </a:rPr>
              <a:t>λ + </a:t>
            </a:r>
            <a:r>
              <a:rPr lang="en-US" altLang="zh-CN" sz="2200" dirty="0">
                <a:cs typeface="+mn-ea"/>
                <a:sym typeface="+mn-lt"/>
              </a:rPr>
              <a:t>t = 2(</a:t>
            </a:r>
            <a:r>
              <a:rPr lang="el-GR" altLang="zh-CN" sz="2200" dirty="0">
                <a:cs typeface="+mn-ea"/>
                <a:sym typeface="+mn-lt"/>
              </a:rPr>
              <a:t>λ + </a:t>
            </a:r>
            <a:r>
              <a:rPr lang="en-US" altLang="zh-CN" sz="2200" dirty="0">
                <a:cs typeface="+mn-ea"/>
                <a:sym typeface="+mn-lt"/>
              </a:rPr>
              <a:t>t)</a:t>
            </a:r>
            <a:endParaRPr lang="en-US" altLang="zh-CN" sz="2200" dirty="0">
              <a:cs typeface="+mn-ea"/>
              <a:sym typeface="+mn-lt"/>
            </a:endParaRPr>
          </a:p>
        </p:txBody>
      </p:sp>
      <p:sp>
        <p:nvSpPr>
          <p:cNvPr id="221" name="i$lîďê"/>
          <p:cNvSpPr/>
          <p:nvPr/>
        </p:nvSpPr>
        <p:spPr>
          <a:xfrm>
            <a:off x="1821535" y="2293244"/>
            <a:ext cx="6914092"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访问页</a:t>
            </a:r>
            <a:r>
              <a:rPr lang="zh-CN" altLang="en-US" sz="2400" dirty="0">
                <a:solidFill>
                  <a:srgbClr val="FF0000"/>
                </a:solidFill>
                <a:cs typeface="+mn-ea"/>
                <a:sym typeface="+mn-lt"/>
              </a:rPr>
              <a:t>在内存</a:t>
            </a:r>
            <a:r>
              <a:rPr lang="zh-CN" altLang="en-US" sz="2400" dirty="0">
                <a:cs typeface="+mn-ea"/>
                <a:sym typeface="+mn-lt"/>
              </a:rPr>
              <a:t>，且其对应页表项不在快表中</a:t>
            </a:r>
            <a:endParaRPr lang="zh-CN" altLang="en-US" sz="2400" dirty="0">
              <a:cs typeface="+mn-ea"/>
              <a:sym typeface="+mn-lt"/>
            </a:endParaRPr>
          </a:p>
        </p:txBody>
      </p:sp>
      <p:sp>
        <p:nvSpPr>
          <p:cNvPr id="222" name="î$ļíḋè"/>
          <p:cNvSpPr/>
          <p:nvPr/>
        </p:nvSpPr>
        <p:spPr>
          <a:xfrm>
            <a:off x="1821535" y="3788236"/>
            <a:ext cx="9730290" cy="61323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需进行缺页中断处理，有效时间可分为查找快表的时间、查找页表的时间、处理缺页的时间、更新快表的时间和访问实际物理地址的时间</a:t>
            </a:r>
            <a:endParaRPr lang="zh-CN" altLang="en-US" sz="22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200" dirty="0">
                <a:cs typeface="+mn-ea"/>
                <a:sym typeface="+mn-lt"/>
              </a:rPr>
              <a:t>假设缺页中断处理时间为</a:t>
            </a:r>
            <a:r>
              <a:rPr lang="en-US" altLang="zh-CN" sz="2200" dirty="0">
                <a:cs typeface="+mn-ea"/>
                <a:sym typeface="+mn-lt"/>
              </a:rPr>
              <a:t>ε</a:t>
            </a:r>
            <a:endParaRPr lang="en-US" altLang="zh-CN" sz="2200" dirty="0">
              <a:cs typeface="+mn-ea"/>
              <a:sym typeface="+mn-lt"/>
            </a:endParaRPr>
          </a:p>
          <a:p>
            <a:pPr>
              <a:lnSpc>
                <a:spcPct val="120000"/>
              </a:lnSpc>
              <a:buClr>
                <a:srgbClr val="FF0000"/>
              </a:buClr>
            </a:pPr>
            <a:r>
              <a:rPr lang="en-US" altLang="zh-CN" sz="2200" dirty="0">
                <a:cs typeface="+mn-ea"/>
                <a:sym typeface="+mn-lt"/>
              </a:rPr>
              <a:t>               EAT = λ + t + ε + λ + t = ε + 2(λ + t) </a:t>
            </a:r>
            <a:endParaRPr lang="en-US" altLang="zh-CN" sz="2200" dirty="0">
              <a:cs typeface="+mn-ea"/>
              <a:sym typeface="+mn-lt"/>
            </a:endParaRPr>
          </a:p>
          <a:p>
            <a:pPr marL="342900" indent="-342900">
              <a:lnSpc>
                <a:spcPct val="120000"/>
              </a:lnSpc>
              <a:buClr>
                <a:srgbClr val="FF0000"/>
              </a:buClr>
              <a:buFont typeface="Wingdings" panose="05000000000000000000" pitchFamily="2" charset="2"/>
              <a:buChar char="Ø"/>
            </a:pPr>
            <a:r>
              <a:rPr lang="en-US" altLang="zh-CN" sz="2200" dirty="0">
                <a:cs typeface="+mn-ea"/>
                <a:sym typeface="+mn-lt"/>
              </a:rPr>
              <a:t>f</a:t>
            </a:r>
            <a:r>
              <a:rPr lang="zh-CN" altLang="en-US" sz="2200" dirty="0">
                <a:cs typeface="+mn-ea"/>
                <a:sym typeface="+mn-lt"/>
              </a:rPr>
              <a:t>为缺页率， </a:t>
            </a:r>
            <a:r>
              <a:rPr lang="en-US" altLang="zh-CN" sz="2200" dirty="0">
                <a:cs typeface="+mn-ea"/>
                <a:sym typeface="+mn-lt"/>
              </a:rPr>
              <a:t>φ</a:t>
            </a:r>
            <a:r>
              <a:rPr lang="zh-CN" altLang="en-US" sz="2200" dirty="0">
                <a:cs typeface="+mn-ea"/>
                <a:sym typeface="+mn-lt"/>
              </a:rPr>
              <a:t>为缺页中断处理时间</a:t>
            </a:r>
            <a:endParaRPr lang="zh-CN" altLang="en-US" sz="2200" dirty="0">
              <a:cs typeface="+mn-ea"/>
              <a:sym typeface="+mn-lt"/>
            </a:endParaRPr>
          </a:p>
          <a:p>
            <a:pPr>
              <a:lnSpc>
                <a:spcPct val="120000"/>
              </a:lnSpc>
              <a:buClr>
                <a:srgbClr val="FF0000"/>
              </a:buClr>
            </a:pPr>
            <a:r>
              <a:rPr lang="zh-CN" altLang="en-US" sz="2200" dirty="0">
                <a:solidFill>
                  <a:srgbClr val="FF0000"/>
                </a:solidFill>
                <a:cs typeface="+mn-ea"/>
                <a:sym typeface="+mn-lt"/>
              </a:rPr>
              <a:t>             </a:t>
            </a:r>
            <a:r>
              <a:rPr lang="en-US" altLang="zh-CN" sz="2200" dirty="0">
                <a:solidFill>
                  <a:srgbClr val="FF0000"/>
                </a:solidFill>
                <a:cs typeface="+mn-ea"/>
                <a:sym typeface="+mn-lt"/>
              </a:rPr>
              <a:t>EAT = t + f ×(φ + t) + (1- f) × t </a:t>
            </a:r>
            <a:endParaRPr lang="zh-CN" altLang="en-US" sz="2200" dirty="0">
              <a:solidFill>
                <a:srgbClr val="FF0000"/>
              </a:solidFill>
              <a:cs typeface="+mn-ea"/>
              <a:sym typeface="+mn-lt"/>
            </a:endParaRPr>
          </a:p>
        </p:txBody>
      </p:sp>
      <p:sp>
        <p:nvSpPr>
          <p:cNvPr id="223" name="ïṧḷïḋè"/>
          <p:cNvSpPr/>
          <p:nvPr/>
        </p:nvSpPr>
        <p:spPr>
          <a:xfrm>
            <a:off x="1821537" y="3373133"/>
            <a:ext cx="3696051" cy="415102"/>
          </a:xfrm>
          <a:prstGeom prst="rect">
            <a:avLst/>
          </a:prstGeom>
          <a:noFill/>
          <a:ln>
            <a:noFill/>
          </a:ln>
        </p:spPr>
        <p:txBody>
          <a:bodyPr wrap="square" lIns="91440" tIns="45720" rIns="91440" bIns="45720" anchor="ctr" anchorCtr="0">
            <a:noAutofit/>
          </a:bodyPr>
          <a:lstStyle/>
          <a:p>
            <a:r>
              <a:rPr lang="zh-CN" altLang="en-US" sz="2400" dirty="0">
                <a:cs typeface="+mn-ea"/>
                <a:sym typeface="+mn-lt"/>
              </a:rPr>
              <a:t>访问页</a:t>
            </a:r>
            <a:r>
              <a:rPr lang="zh-CN" altLang="en-US" sz="2400" dirty="0">
                <a:solidFill>
                  <a:srgbClr val="0000FF"/>
                </a:solidFill>
                <a:cs typeface="+mn-ea"/>
                <a:sym typeface="+mn-lt"/>
              </a:rPr>
              <a:t>不在内</a:t>
            </a:r>
            <a:r>
              <a:rPr lang="zh-CN" altLang="en-US" sz="2400" dirty="0">
                <a:cs typeface="+mn-ea"/>
                <a:sym typeface="+mn-lt"/>
              </a:rPr>
              <a:t>存中</a:t>
            </a:r>
            <a:endParaRPr lang="zh-CN" altLang="en-US" sz="2400" dirty="0">
              <a:cs typeface="+mn-ea"/>
              <a:sym typeface="+mn-lt"/>
            </a:endParaRPr>
          </a:p>
        </p:txBody>
      </p:sp>
      <p:sp>
        <p:nvSpPr>
          <p:cNvPr id="224" name="îs1iďé"/>
          <p:cNvSpPr/>
          <p:nvPr/>
        </p:nvSpPr>
        <p:spPr>
          <a:xfrm>
            <a:off x="1821535" y="1637377"/>
            <a:ext cx="9711234" cy="501272"/>
          </a:xfrm>
          <a:prstGeom prst="rect">
            <a:avLst/>
          </a:prstGeom>
          <a:noFill/>
          <a:ln>
            <a:noFill/>
          </a:ln>
        </p:spPr>
        <p:txBody>
          <a:bodyPr wrap="square" lIns="91440" tIns="45720" rIns="91440" bIns="45720" anchor="t" anchorCtr="0">
            <a:normAutofit/>
          </a:bodyPr>
          <a:lstStyle/>
          <a:p>
            <a:pPr marL="342900" indent="-342900">
              <a:lnSpc>
                <a:spcPct val="120000"/>
              </a:lnSpc>
              <a:spcBef>
                <a:spcPts val="600"/>
              </a:spcBef>
              <a:buClr>
                <a:srgbClr val="FF0000"/>
              </a:buClr>
              <a:buFont typeface="Wingdings" panose="05000000000000000000" pitchFamily="2" charset="2"/>
              <a:buChar char="Ø"/>
            </a:pPr>
            <a:r>
              <a:rPr lang="en-US" altLang="zh-CN" sz="2200" dirty="0">
                <a:cs typeface="+mn-ea"/>
                <a:sym typeface="+mn-lt"/>
              </a:rPr>
              <a:t>EAT= </a:t>
            </a:r>
            <a:r>
              <a:rPr lang="el-GR" altLang="zh-CN" sz="2200" dirty="0">
                <a:cs typeface="+mn-ea"/>
                <a:sym typeface="+mn-lt"/>
              </a:rPr>
              <a:t>λ + </a:t>
            </a:r>
            <a:r>
              <a:rPr lang="en-US" altLang="zh-CN" sz="2200" dirty="0">
                <a:cs typeface="+mn-ea"/>
                <a:sym typeface="+mn-lt"/>
              </a:rPr>
              <a:t>t</a:t>
            </a:r>
            <a:endParaRPr lang="en-US" altLang="zh-CN" sz="2200" dirty="0">
              <a:cs typeface="+mn-ea"/>
              <a:sym typeface="+mn-lt"/>
            </a:endParaRPr>
          </a:p>
        </p:txBody>
      </p:sp>
      <p:sp>
        <p:nvSpPr>
          <p:cNvPr id="225" name="íšḻíḑê"/>
          <p:cNvSpPr/>
          <p:nvPr/>
        </p:nvSpPr>
        <p:spPr>
          <a:xfrm>
            <a:off x="1802480" y="1232766"/>
            <a:ext cx="6462631" cy="405747"/>
          </a:xfrm>
          <a:prstGeom prst="rect">
            <a:avLst/>
          </a:prstGeom>
          <a:noFill/>
          <a:ln>
            <a:noFill/>
          </a:ln>
        </p:spPr>
        <p:txBody>
          <a:bodyPr wrap="square" lIns="91440" tIns="45720" rIns="91440" bIns="45720" anchor="ctr" anchorCtr="0">
            <a:noAutofit/>
          </a:bodyPr>
          <a:lstStyle/>
          <a:p>
            <a:r>
              <a:rPr lang="zh-CN" altLang="en-US" sz="2400" dirty="0"/>
              <a:t>访问页</a:t>
            </a:r>
            <a:r>
              <a:rPr lang="zh-CN" altLang="en-US" sz="2400" dirty="0">
                <a:solidFill>
                  <a:srgbClr val="FF0000"/>
                </a:solidFill>
              </a:rPr>
              <a:t>在内存</a:t>
            </a:r>
            <a:r>
              <a:rPr lang="zh-CN" altLang="en-US" sz="2400" dirty="0"/>
              <a:t>，且其对应页表项在快表中</a:t>
            </a:r>
            <a:endParaRPr lang="en-US" altLang="zh-CN" sz="2400" dirty="0"/>
          </a:p>
        </p:txBody>
      </p:sp>
      <p:sp>
        <p:nvSpPr>
          <p:cNvPr id="226" name="îSļiḓè"/>
          <p:cNvSpPr/>
          <p:nvPr/>
        </p:nvSpPr>
        <p:spPr>
          <a:xfrm>
            <a:off x="1118977" y="121920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7" name="íṥḻîḓe"/>
          <p:cNvSpPr/>
          <p:nvPr/>
        </p:nvSpPr>
        <p:spPr>
          <a:xfrm>
            <a:off x="1138033" y="332916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8" name="îşļiḓè"/>
          <p:cNvSpPr/>
          <p:nvPr/>
        </p:nvSpPr>
        <p:spPr>
          <a:xfrm>
            <a:off x="1138033" y="2244234"/>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29" name="îṡḷíďe"/>
          <p:cNvSpPr/>
          <p:nvPr/>
        </p:nvSpPr>
        <p:spPr>
          <a:xfrm>
            <a:off x="1309232" y="1415342"/>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0" name="íSlíḋe"/>
          <p:cNvSpPr/>
          <p:nvPr/>
        </p:nvSpPr>
        <p:spPr>
          <a:xfrm>
            <a:off x="1328287" y="2466251"/>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231" name="ïśḷïḓe"/>
          <p:cNvSpPr/>
          <p:nvPr/>
        </p:nvSpPr>
        <p:spPr>
          <a:xfrm>
            <a:off x="1357226" y="3518628"/>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b="1" dirty="0">
                <a:solidFill>
                  <a:srgbClr val="0000FF"/>
                </a:solidFill>
                <a:cs typeface="+mn-ea"/>
                <a:sym typeface="+mn-lt"/>
              </a:rPr>
              <a:t>6.4 </a:t>
            </a:r>
            <a:r>
              <a:rPr lang="zh-CN" altLang="en-US" sz="2400" b="1" dirty="0">
                <a:solidFill>
                  <a:srgbClr val="0000FF"/>
                </a:solidFill>
                <a:cs typeface="+mn-ea"/>
                <a:sym typeface="+mn-lt"/>
              </a:rPr>
              <a:t>抖动与工作集</a:t>
            </a:r>
            <a:endParaRPr lang="zh-CN" altLang="en-US" sz="2400" b="1" dirty="0">
              <a:solidFill>
                <a:srgbClr val="0000FF"/>
              </a:solidFill>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cs typeface="+mn-ea"/>
                <a:sym typeface="+mn-lt"/>
              </a:rPr>
              <a:t>6.5 </a:t>
            </a:r>
            <a:r>
              <a:rPr lang="zh-CN" altLang="en-US" sz="2400" dirty="0">
                <a:cs typeface="+mn-ea"/>
                <a:sym typeface="+mn-lt"/>
              </a:rPr>
              <a:t>请求分段存储管理方式</a:t>
            </a:r>
            <a:endParaRPr lang="zh-CN" altLang="en-US" sz="2400" dirty="0">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cs typeface="+mn-ea"/>
                <a:sym typeface="+mn-lt"/>
              </a:rPr>
              <a:t>6.6 </a:t>
            </a:r>
            <a:r>
              <a:rPr lang="zh-CN" altLang="en-US" sz="2400" dirty="0">
                <a:cs typeface="+mn-ea"/>
                <a:sym typeface="+mn-lt"/>
              </a:rPr>
              <a:t>虚拟存储器实现实例</a:t>
            </a:r>
            <a:endParaRPr lang="zh-CN" altLang="en-US" sz="2400" dirty="0">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抖动</a:t>
            </a:r>
            <a:endParaRPr lang="zh-CN" altLang="en-US" sz="2800" b="1" dirty="0">
              <a:solidFill>
                <a:schemeClr val="bg1"/>
              </a:solidFill>
              <a:cs typeface="+mn-ea"/>
              <a:sym typeface="+mn-lt"/>
            </a:endParaRPr>
          </a:p>
        </p:txBody>
      </p:sp>
      <p:sp>
        <p:nvSpPr>
          <p:cNvPr id="11" name="内容占位符 2"/>
          <p:cNvSpPr txBox="1"/>
          <p:nvPr/>
        </p:nvSpPr>
        <p:spPr>
          <a:xfrm>
            <a:off x="2173548" y="1625168"/>
            <a:ext cx="10139779" cy="33944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None/>
            </a:pPr>
            <a:r>
              <a:rPr lang="zh-CN" altLang="en-US" sz="2400" dirty="0"/>
              <a:t>如果一个进程没有足够的页，那么缺页率将很高，这将导致:</a:t>
            </a:r>
            <a:endParaRPr lang="zh-CN" altLang="en-US" sz="2400" dirty="0"/>
          </a:p>
          <a:p>
            <a:pPr lvl="1">
              <a:lnSpc>
                <a:spcPct val="120000"/>
              </a:lnSpc>
              <a:spcBef>
                <a:spcPts val="600"/>
              </a:spcBef>
              <a:spcAft>
                <a:spcPts val="600"/>
              </a:spcAft>
              <a:buClr>
                <a:srgbClr val="FF0000"/>
              </a:buClr>
              <a:buFont typeface="Wingdings" panose="05000000000000000000" pitchFamily="2" charset="2"/>
              <a:buChar char="Ø"/>
            </a:pPr>
            <a:r>
              <a:rPr lang="en-US" altLang="zh-CN" sz="2400" dirty="0"/>
              <a:t>CPU</a:t>
            </a:r>
            <a:r>
              <a:rPr lang="zh-CN" altLang="en-US" sz="2400" dirty="0"/>
              <a:t>利用率低下.</a:t>
            </a:r>
            <a:endParaRPr lang="zh-CN" altLang="en-US" sz="2400" dirty="0"/>
          </a:p>
          <a:p>
            <a:pPr lvl="1">
              <a:lnSpc>
                <a:spcPct val="120000"/>
              </a:lnSpc>
              <a:spcBef>
                <a:spcPts val="600"/>
              </a:spcBef>
              <a:spcAft>
                <a:spcPts val="600"/>
              </a:spcAft>
              <a:buClr>
                <a:srgbClr val="FF0000"/>
              </a:buClr>
              <a:buFont typeface="Wingdings" panose="05000000000000000000" pitchFamily="2" charset="2"/>
              <a:buChar char="Ø"/>
            </a:pPr>
            <a:r>
              <a:rPr lang="zh-CN" altLang="en-US" sz="2400" dirty="0"/>
              <a:t>操作系统认为需要增加多道程序设计的道数</a:t>
            </a:r>
            <a:endParaRPr lang="zh-CN" altLang="en-US" sz="2400" dirty="0"/>
          </a:p>
          <a:p>
            <a:pPr lvl="1">
              <a:lnSpc>
                <a:spcPct val="120000"/>
              </a:lnSpc>
              <a:spcBef>
                <a:spcPts val="600"/>
              </a:spcBef>
              <a:spcAft>
                <a:spcPts val="600"/>
              </a:spcAft>
              <a:buClr>
                <a:srgbClr val="FF0000"/>
              </a:buClr>
              <a:buFont typeface="Wingdings" panose="05000000000000000000" pitchFamily="2" charset="2"/>
              <a:buChar char="Ø"/>
            </a:pPr>
            <a:r>
              <a:rPr lang="zh-CN" altLang="en-US" sz="2400" dirty="0"/>
              <a:t>系统中将加入一个新的进程</a:t>
            </a:r>
            <a:endParaRPr lang="en-US" altLang="zh-CN" sz="2400" dirty="0"/>
          </a:p>
          <a:p>
            <a:pPr marL="457200" lvl="1" indent="0">
              <a:lnSpc>
                <a:spcPct val="120000"/>
              </a:lnSpc>
              <a:spcBef>
                <a:spcPts val="600"/>
              </a:spcBef>
              <a:spcAft>
                <a:spcPts val="600"/>
              </a:spcAft>
              <a:buNone/>
            </a:pPr>
            <a:endParaRPr lang="zh-CN" altLang="en-US" sz="2400" dirty="0"/>
          </a:p>
          <a:p>
            <a:pPr marL="0" indent="0">
              <a:lnSpc>
                <a:spcPct val="120000"/>
              </a:lnSpc>
              <a:spcBef>
                <a:spcPts val="600"/>
              </a:spcBef>
              <a:spcAft>
                <a:spcPts val="600"/>
              </a:spcAft>
              <a:buNone/>
            </a:pPr>
            <a:r>
              <a:rPr lang="zh-CN" altLang="en-US" sz="2400" dirty="0">
                <a:solidFill>
                  <a:srgbClr val="FF0000"/>
                </a:solidFill>
              </a:rPr>
              <a:t>抖动</a:t>
            </a:r>
            <a:r>
              <a:rPr lang="en-US" altLang="zh-CN" sz="2400" dirty="0"/>
              <a:t>(Thrashing)</a:t>
            </a:r>
            <a:r>
              <a:rPr lang="zh-CN" altLang="en-US" sz="2400" dirty="0"/>
              <a:t>  </a:t>
            </a:r>
            <a:r>
              <a:rPr lang="zh-CN" altLang="en-US" sz="2400" dirty="0">
                <a:sym typeface="Symbol" panose="05050102010706020507" pitchFamily="18" charset="2"/>
              </a:rPr>
              <a:t>：一个进程的页面经常换入换出</a:t>
            </a:r>
            <a:endParaRPr lang="zh-CN" altLang="en-US" sz="2400" dirty="0">
              <a:sym typeface="Symbol" panose="05050102010706020507" pitchFamily="18" charset="2"/>
            </a:endParaRPr>
          </a:p>
          <a:p>
            <a:pPr marL="0" indent="0">
              <a:lnSpc>
                <a:spcPct val="120000"/>
              </a:lnSpc>
              <a:spcBef>
                <a:spcPts val="600"/>
              </a:spcBef>
              <a:spcAft>
                <a:spcPts val="600"/>
              </a:spcAft>
              <a:buNone/>
            </a:pPr>
            <a:endParaRPr lang="zh-CN" altLang="en-US" sz="2400" dirty="0"/>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91819" y="1625168"/>
            <a:ext cx="527050" cy="527050"/>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91819" y="4554736"/>
            <a:ext cx="527050" cy="527050"/>
          </a:xfrm>
          <a:prstGeom prst="rect">
            <a:avLst/>
          </a:prstGeom>
          <a:ln>
            <a:noFill/>
          </a:ln>
          <a:effectLst>
            <a:softEdge rad="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处理机的利用率</a:t>
            </a:r>
            <a:endParaRPr lang="zh-CN" altLang="en-US" sz="2800" b="1" dirty="0">
              <a:solidFill>
                <a:schemeClr val="bg1"/>
              </a:solidFill>
              <a:cs typeface="+mn-ea"/>
              <a:sym typeface="+mn-lt"/>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83267" y="1068776"/>
            <a:ext cx="9067006" cy="5108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产生“抖动”的原因</a:t>
            </a:r>
            <a:endParaRPr lang="zh-CN" altLang="en-US" sz="2800" b="1" dirty="0">
              <a:solidFill>
                <a:schemeClr val="bg1"/>
              </a:solidFill>
              <a:cs typeface="+mn-ea"/>
              <a:sym typeface="+mn-l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91819" y="1740577"/>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491819" y="4954230"/>
            <a:ext cx="527050" cy="527050"/>
          </a:xfrm>
          <a:prstGeom prst="rect">
            <a:avLst/>
          </a:prstGeom>
          <a:ln>
            <a:noFill/>
          </a:ln>
          <a:effectLst>
            <a:softEdge rad="0"/>
          </a:effectLst>
        </p:spPr>
      </p:pic>
      <p:sp>
        <p:nvSpPr>
          <p:cNvPr id="8" name="内容占位符 2"/>
          <p:cNvSpPr txBox="1"/>
          <p:nvPr/>
        </p:nvSpPr>
        <p:spPr>
          <a:xfrm>
            <a:off x="2234214" y="1731764"/>
            <a:ext cx="8229600" cy="33944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None/>
            </a:pPr>
            <a:r>
              <a:rPr lang="zh-CN" altLang="en-US" sz="2400" dirty="0">
                <a:solidFill>
                  <a:srgbClr val="FF0000"/>
                </a:solidFill>
              </a:rPr>
              <a:t>根本原因：</a:t>
            </a:r>
            <a:endParaRPr lang="en-US" altLang="zh-CN" sz="2400" dirty="0"/>
          </a:p>
          <a:p>
            <a:pPr lvl="1">
              <a:lnSpc>
                <a:spcPct val="120000"/>
              </a:lnSpc>
              <a:spcBef>
                <a:spcPts val="600"/>
              </a:spcBef>
              <a:spcAft>
                <a:spcPts val="600"/>
              </a:spcAft>
              <a:buClr>
                <a:srgbClr val="FF0000"/>
              </a:buClr>
              <a:buFont typeface="Wingdings" panose="05000000000000000000" pitchFamily="2" charset="2"/>
              <a:buChar char="Ø"/>
            </a:pPr>
            <a:r>
              <a:rPr lang="zh-CN" altLang="en-US" sz="2400" dirty="0"/>
              <a:t>同时在系统中运行的进程太多；</a:t>
            </a:r>
            <a:endParaRPr lang="en-US" altLang="zh-CN" sz="2400" dirty="0"/>
          </a:p>
          <a:p>
            <a:pPr lvl="1">
              <a:lnSpc>
                <a:spcPct val="120000"/>
              </a:lnSpc>
              <a:spcBef>
                <a:spcPts val="600"/>
              </a:spcBef>
              <a:spcAft>
                <a:spcPts val="600"/>
              </a:spcAft>
              <a:buClr>
                <a:srgbClr val="FF0000"/>
              </a:buClr>
              <a:buFont typeface="Wingdings" panose="05000000000000000000" pitchFamily="2" charset="2"/>
              <a:buChar char="Ø"/>
            </a:pPr>
            <a:r>
              <a:rPr lang="zh-CN" altLang="en-US" sz="2400" dirty="0"/>
              <a:t>因此分配给每一个进程的物理块太少，不能满足进程运行的基本要求，致使进程在运行时，频繁缺页，必须请求系统将所缺页面调入内存。</a:t>
            </a:r>
            <a:endParaRPr lang="en-US" altLang="zh-CN" sz="2400" dirty="0"/>
          </a:p>
          <a:p>
            <a:pPr marL="457200" lvl="1" indent="0">
              <a:lnSpc>
                <a:spcPct val="120000"/>
              </a:lnSpc>
              <a:spcBef>
                <a:spcPts val="600"/>
              </a:spcBef>
              <a:spcAft>
                <a:spcPts val="600"/>
              </a:spcAft>
              <a:buNone/>
            </a:pPr>
            <a:endParaRPr lang="en-US" altLang="zh-CN" sz="2400" dirty="0"/>
          </a:p>
          <a:p>
            <a:pPr marL="0" indent="0">
              <a:lnSpc>
                <a:spcPct val="120000"/>
              </a:lnSpc>
              <a:spcBef>
                <a:spcPts val="600"/>
              </a:spcBef>
              <a:spcAft>
                <a:spcPts val="600"/>
              </a:spcAft>
              <a:buNone/>
            </a:pPr>
            <a:r>
              <a:rPr lang="zh-CN" altLang="zh-CN" sz="2400" dirty="0"/>
              <a:t>抖动的发生与系统为进程分配物理块的多少有关。</a:t>
            </a:r>
            <a:endParaRPr lang="zh-CN" alt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缺页率与物理块数之间的关系</a:t>
            </a:r>
            <a:endParaRPr lang="zh-CN" altLang="en-US" sz="2800" b="1" dirty="0">
              <a:solidFill>
                <a:schemeClr val="bg1"/>
              </a:solidFill>
              <a:cs typeface="+mn-ea"/>
              <a:sym typeface="+mn-l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16657" y="1660679"/>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16657" y="3285229"/>
            <a:ext cx="527050" cy="527050"/>
          </a:xfrm>
          <a:prstGeom prst="rect">
            <a:avLst/>
          </a:prstGeom>
          <a:ln>
            <a:noFill/>
          </a:ln>
          <a:effectLst>
            <a:softEdge rad="0"/>
          </a:effectLst>
        </p:spPr>
      </p:pic>
      <p:sp>
        <p:nvSpPr>
          <p:cNvPr id="8" name="内容占位符 2"/>
          <p:cNvSpPr txBox="1"/>
          <p:nvPr/>
        </p:nvSpPr>
        <p:spPr>
          <a:xfrm>
            <a:off x="1359052" y="1651866"/>
            <a:ext cx="2991004" cy="42559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None/>
            </a:pPr>
            <a:r>
              <a:rPr lang="zh-CN" altLang="en-US" sz="2400" dirty="0"/>
              <a:t>进程发生缺页的时间间隔与所获得的物理块数有关。</a:t>
            </a:r>
            <a:endParaRPr lang="en-US" altLang="zh-CN" sz="2400" dirty="0"/>
          </a:p>
          <a:p>
            <a:pPr marL="0" indent="0">
              <a:lnSpc>
                <a:spcPct val="120000"/>
              </a:lnSpc>
              <a:spcBef>
                <a:spcPts val="600"/>
              </a:spcBef>
              <a:spcAft>
                <a:spcPts val="600"/>
              </a:spcAft>
              <a:buNone/>
            </a:pPr>
            <a:r>
              <a:rPr lang="zh-CN" altLang="en-US" sz="2400" dirty="0"/>
              <a:t>根据程序运行的局部性原理，如果能够</a:t>
            </a:r>
            <a:r>
              <a:rPr lang="zh-CN" altLang="en-US" sz="2400" dirty="0">
                <a:solidFill>
                  <a:srgbClr val="FF0000"/>
                </a:solidFill>
              </a:rPr>
              <a:t>预知某段时间内程序要访问的页面</a:t>
            </a:r>
            <a:r>
              <a:rPr lang="zh-CN" altLang="en-US" sz="2400" dirty="0"/>
              <a:t>，并将它们预先调入内存，将会大大降低缺页率。</a:t>
            </a:r>
            <a:endParaRPr lang="zh-CN" altLang="en-US" sz="2400" dirty="0"/>
          </a:p>
        </p:txBody>
      </p:sp>
      <p:pic>
        <p:nvPicPr>
          <p:cNvPr id="6" name="图片 5"/>
          <p:cNvPicPr>
            <a:picLocks noChangeAspect="1"/>
          </p:cNvPicPr>
          <p:nvPr/>
        </p:nvPicPr>
        <p:blipFill>
          <a:blip r:embed="rId2">
            <a:clrChange>
              <a:clrFrom>
                <a:srgbClr val="FFFFFF"/>
              </a:clrFrom>
              <a:clrTo>
                <a:srgbClr val="FFFFFF">
                  <a:alpha val="0"/>
                </a:srgbClr>
              </a:clrTo>
            </a:clrChange>
          </a:blip>
          <a:stretch>
            <a:fillRect/>
          </a:stretch>
        </p:blipFill>
        <p:spPr>
          <a:xfrm>
            <a:off x="4450525" y="2045685"/>
            <a:ext cx="7258970" cy="373925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工作集定义</a:t>
            </a:r>
            <a:endParaRPr lang="zh-CN" altLang="en-US" sz="2800" b="1" dirty="0">
              <a:solidFill>
                <a:schemeClr val="bg1"/>
              </a:solidFill>
              <a:cs typeface="+mn-ea"/>
              <a:sym typeface="+mn-l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16657" y="1660679"/>
            <a:ext cx="527050" cy="527050"/>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16657" y="2335319"/>
            <a:ext cx="527050" cy="527050"/>
          </a:xfrm>
          <a:prstGeom prst="rect">
            <a:avLst/>
          </a:prstGeom>
          <a:ln>
            <a:noFill/>
          </a:ln>
          <a:effectLst>
            <a:softEdge rad="0"/>
          </a:effectLst>
        </p:spPr>
      </p:pic>
      <p:sp>
        <p:nvSpPr>
          <p:cNvPr id="8" name="内容占位符 2"/>
          <p:cNvSpPr txBox="1"/>
          <p:nvPr/>
        </p:nvSpPr>
        <p:spPr>
          <a:xfrm>
            <a:off x="1359051" y="1651866"/>
            <a:ext cx="10013243" cy="425591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600"/>
              </a:spcBef>
              <a:spcAft>
                <a:spcPts val="600"/>
              </a:spcAft>
              <a:buNone/>
            </a:pPr>
            <a:r>
              <a:rPr lang="zh-CN" altLang="en-US" sz="2400" dirty="0"/>
              <a:t>所谓</a:t>
            </a:r>
            <a:r>
              <a:rPr lang="zh-CN" altLang="en-US" sz="2400" dirty="0">
                <a:solidFill>
                  <a:srgbClr val="FF0000"/>
                </a:solidFill>
              </a:rPr>
              <a:t>工作集</a:t>
            </a:r>
            <a:r>
              <a:rPr lang="zh-CN" altLang="en-US" sz="2400" dirty="0"/>
              <a:t>，指在某段时间间隔</a:t>
            </a:r>
            <a:r>
              <a:rPr lang="en-US" altLang="zh-CN" sz="2400" dirty="0"/>
              <a:t>Δ</a:t>
            </a:r>
            <a:r>
              <a:rPr lang="zh-CN" altLang="en-US" sz="2400" dirty="0"/>
              <a:t>里进程实际要访问页面的集合。</a:t>
            </a:r>
            <a:endParaRPr lang="en-US" altLang="zh-CN" sz="2400" dirty="0"/>
          </a:p>
          <a:p>
            <a:pPr marL="0" indent="0">
              <a:lnSpc>
                <a:spcPct val="120000"/>
              </a:lnSpc>
              <a:spcBef>
                <a:spcPts val="600"/>
              </a:spcBef>
              <a:spcAft>
                <a:spcPts val="600"/>
              </a:spcAft>
              <a:buNone/>
            </a:pPr>
            <a:r>
              <a:rPr lang="zh-CN" altLang="en-US" sz="2400" dirty="0"/>
              <a:t>把某进程在时间</a:t>
            </a:r>
            <a:r>
              <a:rPr lang="en-US" altLang="zh-CN" sz="2400" dirty="0"/>
              <a:t>t</a:t>
            </a:r>
            <a:r>
              <a:rPr lang="zh-CN" altLang="en-US" sz="2400" dirty="0"/>
              <a:t>的工作集记为</a:t>
            </a:r>
            <a:r>
              <a:rPr lang="en-US" altLang="zh-CN" sz="2400" dirty="0"/>
              <a:t>w(t</a:t>
            </a:r>
            <a:r>
              <a:rPr lang="zh-CN" altLang="en-US" sz="2400" dirty="0"/>
              <a:t>，</a:t>
            </a:r>
            <a:r>
              <a:rPr lang="en-US" altLang="zh-CN" sz="2400" dirty="0"/>
              <a:t>Δ),</a:t>
            </a:r>
            <a:r>
              <a:rPr lang="zh-CN" altLang="en-US" sz="2400" dirty="0"/>
              <a:t>其中的变量</a:t>
            </a:r>
            <a:r>
              <a:rPr lang="en-US" altLang="zh-CN" sz="2400" dirty="0"/>
              <a:t>Δ</a:t>
            </a:r>
            <a:r>
              <a:rPr lang="zh-CN" altLang="en-US" sz="2400" dirty="0"/>
              <a:t>称为工作集的“窗口尺寸”。</a:t>
            </a:r>
            <a:endParaRPr lang="zh-CN" altLang="en-US" sz="2400" dirty="0"/>
          </a:p>
          <a:p>
            <a:pPr indent="-431800">
              <a:lnSpc>
                <a:spcPct val="120000"/>
              </a:lnSpc>
              <a:spcBef>
                <a:spcPts val="600"/>
              </a:spcBef>
              <a:spcAft>
                <a:spcPts val="600"/>
              </a:spcAft>
              <a:buClr>
                <a:srgbClr val="0000FF"/>
              </a:buClr>
              <a:buFont typeface="Wingdings" panose="05000000000000000000" pitchFamily="2" charset="2"/>
              <a:buChar char="u"/>
            </a:pPr>
            <a:r>
              <a:rPr lang="zh-CN" altLang="en-US" sz="2400" dirty="0"/>
              <a:t>工作集</a:t>
            </a:r>
            <a:r>
              <a:rPr lang="en-US" altLang="zh-CN" sz="2400" dirty="0"/>
              <a:t>w(t</a:t>
            </a:r>
            <a:r>
              <a:rPr lang="zh-CN" altLang="en-US" sz="2400" dirty="0"/>
              <a:t>，</a:t>
            </a:r>
            <a:r>
              <a:rPr lang="en-US" altLang="zh-CN" sz="2400" dirty="0"/>
              <a:t>Δ)</a:t>
            </a:r>
            <a:r>
              <a:rPr lang="zh-CN" altLang="en-US" sz="2400" dirty="0"/>
              <a:t>是二元函数，即在不同时间</a:t>
            </a:r>
            <a:r>
              <a:rPr lang="en-US" altLang="zh-CN" sz="2400" dirty="0"/>
              <a:t>t</a:t>
            </a:r>
            <a:r>
              <a:rPr lang="zh-CN" altLang="en-US" sz="2400" dirty="0"/>
              <a:t>的工作集大小不同，所含的</a:t>
            </a:r>
            <a:br>
              <a:rPr lang="en-US" altLang="zh-CN" sz="2400" dirty="0"/>
            </a:br>
            <a:r>
              <a:rPr lang="zh-CN" altLang="en-US" sz="2400" dirty="0"/>
              <a:t>   页面数也不同；工作集与窗口尺寸</a:t>
            </a:r>
            <a:r>
              <a:rPr lang="en-US" altLang="zh-CN" sz="2400" dirty="0"/>
              <a:t>Δ</a:t>
            </a:r>
            <a:r>
              <a:rPr lang="zh-CN" altLang="en-US" sz="2400" dirty="0"/>
              <a:t>有关，是</a:t>
            </a:r>
            <a:r>
              <a:rPr lang="en-US" altLang="zh-CN" sz="2400" dirty="0"/>
              <a:t>Δ</a:t>
            </a:r>
            <a:r>
              <a:rPr lang="zh-CN" altLang="en-US" sz="2400" dirty="0"/>
              <a:t>的非降函数，即：</a:t>
            </a:r>
            <a:endParaRPr lang="zh-CN" altLang="en-US" sz="2400" dirty="0"/>
          </a:p>
        </p:txBody>
      </p:sp>
      <p:pic>
        <p:nvPicPr>
          <p:cNvPr id="9" name="图片 8"/>
          <p:cNvPicPr>
            <a:picLocks noChangeAspect="1"/>
          </p:cNvPicPr>
          <p:nvPr/>
        </p:nvPicPr>
        <p:blipFill>
          <a:blip r:embed="rId2"/>
          <a:stretch>
            <a:fillRect/>
          </a:stretch>
        </p:blipFill>
        <p:spPr>
          <a:xfrm>
            <a:off x="3049163" y="4443650"/>
            <a:ext cx="6093674" cy="114040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工作集举例</a:t>
            </a:r>
            <a:endParaRPr lang="zh-CN" altLang="en-US" sz="2800" b="1" dirty="0">
              <a:solidFill>
                <a:schemeClr val="bg1"/>
              </a:solidFill>
              <a:cs typeface="+mn-ea"/>
              <a:sym typeface="+mn-lt"/>
            </a:endParaRPr>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1101217"/>
            <a:ext cx="8305800" cy="5132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抖动的预防方法</a:t>
            </a:r>
            <a:endParaRPr lang="zh-CN" altLang="en-US" sz="2800" b="1" dirty="0">
              <a:solidFill>
                <a:schemeClr val="bg1"/>
              </a:solidFill>
              <a:cs typeface="+mn-ea"/>
              <a:sym typeface="+mn-lt"/>
            </a:endParaRPr>
          </a:p>
        </p:txBody>
      </p:sp>
      <p:sp>
        <p:nvSpPr>
          <p:cNvPr id="5" name="iśḷíḑe"/>
          <p:cNvSpPr/>
          <p:nvPr/>
        </p:nvSpPr>
        <p:spPr>
          <a:xfrm>
            <a:off x="669925" y="1265766"/>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01</a:t>
            </a:r>
            <a:endParaRPr lang="zh-CN" altLang="en-US" sz="2400" b="1" kern="0" dirty="0">
              <a:solidFill>
                <a:prstClr val="white"/>
              </a:solidFill>
              <a:cs typeface="+mn-ea"/>
              <a:sym typeface="+mn-lt"/>
            </a:endParaRPr>
          </a:p>
        </p:txBody>
      </p:sp>
      <p:sp>
        <p:nvSpPr>
          <p:cNvPr id="6" name="ïś1ïḑè"/>
          <p:cNvSpPr/>
          <p:nvPr/>
        </p:nvSpPr>
        <p:spPr>
          <a:xfrm>
            <a:off x="669925" y="2163402"/>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02</a:t>
            </a:r>
            <a:endParaRPr lang="zh-CN" altLang="en-US" sz="2400" b="1" kern="0" dirty="0">
              <a:solidFill>
                <a:prstClr val="white"/>
              </a:solidFill>
              <a:cs typeface="+mn-ea"/>
              <a:sym typeface="+mn-lt"/>
            </a:endParaRPr>
          </a:p>
        </p:txBody>
      </p:sp>
      <p:sp>
        <p:nvSpPr>
          <p:cNvPr id="7" name="iśḷíḑe"/>
          <p:cNvSpPr/>
          <p:nvPr/>
        </p:nvSpPr>
        <p:spPr>
          <a:xfrm>
            <a:off x="669925" y="3087669"/>
            <a:ext cx="774099" cy="77409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03</a:t>
            </a:r>
            <a:endParaRPr lang="zh-CN" altLang="en-US" sz="2400" b="1" kern="0" dirty="0">
              <a:solidFill>
                <a:prstClr val="white"/>
              </a:solidFill>
              <a:cs typeface="+mn-ea"/>
              <a:sym typeface="+mn-lt"/>
            </a:endParaRPr>
          </a:p>
        </p:txBody>
      </p:sp>
      <p:sp>
        <p:nvSpPr>
          <p:cNvPr id="8" name="ïś1ïḑè"/>
          <p:cNvSpPr/>
          <p:nvPr/>
        </p:nvSpPr>
        <p:spPr>
          <a:xfrm>
            <a:off x="669925" y="5680954"/>
            <a:ext cx="774099" cy="77409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defTabSz="1218565">
              <a:defRPr/>
            </a:pPr>
            <a:r>
              <a:rPr lang="en-US" altLang="zh-CN" sz="2400" b="1" kern="0" dirty="0">
                <a:solidFill>
                  <a:prstClr val="white"/>
                </a:solidFill>
                <a:cs typeface="+mn-ea"/>
                <a:sym typeface="+mn-lt"/>
              </a:rPr>
              <a:t>04</a:t>
            </a:r>
            <a:endParaRPr lang="zh-CN" altLang="en-US" sz="2400" b="1" kern="0" dirty="0">
              <a:solidFill>
                <a:prstClr val="white"/>
              </a:solidFill>
              <a:cs typeface="+mn-ea"/>
              <a:sym typeface="+mn-lt"/>
            </a:endParaRPr>
          </a:p>
        </p:txBody>
      </p:sp>
      <p:sp>
        <p:nvSpPr>
          <p:cNvPr id="9" name="内容占位符 2"/>
          <p:cNvSpPr txBox="1"/>
          <p:nvPr/>
        </p:nvSpPr>
        <p:spPr>
          <a:xfrm>
            <a:off x="1620101" y="1364823"/>
            <a:ext cx="9901974" cy="3440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800" dirty="0">
                <a:cs typeface="+mn-ea"/>
                <a:sym typeface="+mn-lt"/>
              </a:rPr>
              <a:t>采取</a:t>
            </a:r>
            <a:r>
              <a:rPr lang="zh-CN" altLang="en-US" sz="2800" dirty="0">
                <a:solidFill>
                  <a:srgbClr val="FF0000"/>
                </a:solidFill>
                <a:cs typeface="+mn-ea"/>
                <a:sym typeface="+mn-lt"/>
              </a:rPr>
              <a:t>局部置换策略</a:t>
            </a:r>
            <a:r>
              <a:rPr lang="zh-CN" altLang="en-US" sz="2800" dirty="0">
                <a:cs typeface="+mn-ea"/>
                <a:sym typeface="+mn-lt"/>
              </a:rPr>
              <a:t>：只能在分配给自己的内存空间内进行置换；</a:t>
            </a:r>
            <a:endParaRPr lang="zh-CN" altLang="en-US" sz="2800" dirty="0">
              <a:cs typeface="+mn-ea"/>
              <a:sym typeface="+mn-lt"/>
            </a:endParaRPr>
          </a:p>
        </p:txBody>
      </p:sp>
      <p:sp>
        <p:nvSpPr>
          <p:cNvPr id="12" name="内容占位符 2"/>
          <p:cNvSpPr txBox="1"/>
          <p:nvPr/>
        </p:nvSpPr>
        <p:spPr>
          <a:xfrm>
            <a:off x="1620101" y="2294560"/>
            <a:ext cx="7914516" cy="365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800" dirty="0">
                <a:cs typeface="+mn-ea"/>
                <a:sym typeface="+mn-lt"/>
              </a:rPr>
              <a:t>把工作集算法融入到处理机调度中；</a:t>
            </a:r>
            <a:endParaRPr lang="zh-CN" altLang="en-US" sz="2800" dirty="0">
              <a:cs typeface="+mn-ea"/>
              <a:sym typeface="+mn-lt"/>
            </a:endParaRPr>
          </a:p>
        </p:txBody>
      </p:sp>
      <p:sp>
        <p:nvSpPr>
          <p:cNvPr id="13" name="内容占位符 2"/>
          <p:cNvSpPr txBox="1"/>
          <p:nvPr/>
        </p:nvSpPr>
        <p:spPr>
          <a:xfrm>
            <a:off x="1620101" y="3272587"/>
            <a:ext cx="7914516" cy="3674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800" dirty="0">
                <a:cs typeface="+mn-ea"/>
                <a:sym typeface="+mn-lt"/>
              </a:rPr>
              <a:t>利用“</a:t>
            </a:r>
            <a:r>
              <a:rPr lang="en-US" altLang="zh-CN" sz="2800" dirty="0">
                <a:solidFill>
                  <a:srgbClr val="0000FF"/>
                </a:solidFill>
                <a:cs typeface="+mn-ea"/>
                <a:sym typeface="+mn-lt"/>
              </a:rPr>
              <a:t>L=S”</a:t>
            </a:r>
            <a:r>
              <a:rPr lang="zh-CN" altLang="en-US" sz="2800" dirty="0">
                <a:solidFill>
                  <a:srgbClr val="0000FF"/>
                </a:solidFill>
                <a:cs typeface="+mn-ea"/>
                <a:sym typeface="+mn-lt"/>
              </a:rPr>
              <a:t>准则</a:t>
            </a:r>
            <a:r>
              <a:rPr lang="zh-CN" altLang="en-US" sz="2800" dirty="0">
                <a:cs typeface="+mn-ea"/>
                <a:sym typeface="+mn-lt"/>
              </a:rPr>
              <a:t>调节缺页率：</a:t>
            </a:r>
            <a:endParaRPr lang="zh-CN" altLang="en-US" sz="2800" dirty="0">
              <a:cs typeface="+mn-ea"/>
              <a:sym typeface="+mn-lt"/>
            </a:endParaRPr>
          </a:p>
        </p:txBody>
      </p:sp>
      <p:sp>
        <p:nvSpPr>
          <p:cNvPr id="14" name="内容占位符 2"/>
          <p:cNvSpPr txBox="1"/>
          <p:nvPr/>
        </p:nvSpPr>
        <p:spPr>
          <a:xfrm>
            <a:off x="1620101" y="5921386"/>
            <a:ext cx="2637756" cy="3434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800" dirty="0">
                <a:cs typeface="+mn-ea"/>
                <a:sym typeface="+mn-lt"/>
              </a:rPr>
              <a:t>选择暂停进程。</a:t>
            </a:r>
            <a:endParaRPr lang="zh-CN" altLang="en-US" sz="2800" dirty="0">
              <a:cs typeface="+mn-ea"/>
              <a:sym typeface="+mn-lt"/>
            </a:endParaRPr>
          </a:p>
        </p:txBody>
      </p:sp>
      <p:sp>
        <p:nvSpPr>
          <p:cNvPr id="15" name="内容占位符 2"/>
          <p:cNvSpPr txBox="1"/>
          <p:nvPr/>
        </p:nvSpPr>
        <p:spPr>
          <a:xfrm>
            <a:off x="1128220" y="3735510"/>
            <a:ext cx="4739920" cy="203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buClr>
                <a:srgbClr val="0000FF"/>
              </a:buClr>
              <a:buFont typeface="Wingdings" panose="05000000000000000000" pitchFamily="2" charset="2"/>
              <a:buChar char="Ø"/>
            </a:pPr>
            <a:r>
              <a:rPr lang="en-US" altLang="zh-CN" sz="2400" dirty="0">
                <a:cs typeface="+mn-ea"/>
                <a:sym typeface="+mn-lt"/>
              </a:rPr>
              <a:t>L</a:t>
            </a:r>
            <a:r>
              <a:rPr lang="zh-CN" altLang="en-US" sz="2400" dirty="0">
                <a:cs typeface="+mn-ea"/>
                <a:sym typeface="+mn-lt"/>
              </a:rPr>
              <a:t>是缺页之间的平均时间</a:t>
            </a:r>
            <a:endParaRPr lang="zh-CN" altLang="en-US" sz="2400" dirty="0">
              <a:cs typeface="+mn-ea"/>
              <a:sym typeface="+mn-lt"/>
            </a:endParaRPr>
          </a:p>
          <a:p>
            <a:pPr lvl="1">
              <a:lnSpc>
                <a:spcPct val="120000"/>
              </a:lnSpc>
              <a:buClr>
                <a:srgbClr val="0000FF"/>
              </a:buClr>
              <a:buFont typeface="Wingdings" panose="05000000000000000000" pitchFamily="2" charset="2"/>
              <a:buChar char="Ø"/>
            </a:pPr>
            <a:r>
              <a:rPr lang="en-US" altLang="zh-CN" sz="2400" dirty="0">
                <a:cs typeface="+mn-ea"/>
                <a:sym typeface="+mn-lt"/>
              </a:rPr>
              <a:t>S</a:t>
            </a:r>
            <a:r>
              <a:rPr lang="zh-CN" altLang="en-US" sz="2400" dirty="0">
                <a:cs typeface="+mn-ea"/>
                <a:sym typeface="+mn-lt"/>
              </a:rPr>
              <a:t>是平均缺页服务时间，即用于置换一个页面的时间</a:t>
            </a:r>
            <a:endParaRPr lang="zh-CN" altLang="en-US" sz="2400" dirty="0">
              <a:cs typeface="+mn-ea"/>
              <a:sym typeface="+mn-lt"/>
            </a:endParaRPr>
          </a:p>
          <a:p>
            <a:pPr lvl="1">
              <a:lnSpc>
                <a:spcPct val="120000"/>
              </a:lnSpc>
              <a:buClr>
                <a:srgbClr val="0000FF"/>
              </a:buClr>
              <a:buFont typeface="Wingdings" panose="05000000000000000000" pitchFamily="2" charset="2"/>
              <a:buChar char="Ø"/>
            </a:pPr>
            <a:r>
              <a:rPr lang="en-US" altLang="zh-CN" sz="2400" dirty="0">
                <a:cs typeface="+mn-ea"/>
                <a:sym typeface="+mn-lt"/>
              </a:rPr>
              <a:t>L&gt;S</a:t>
            </a:r>
            <a:r>
              <a:rPr lang="zh-CN" altLang="en-US" sz="2400" dirty="0">
                <a:cs typeface="+mn-ea"/>
                <a:sym typeface="+mn-lt"/>
              </a:rPr>
              <a:t>，说明很少发生缺页</a:t>
            </a:r>
            <a:endParaRPr lang="zh-CN" altLang="en-US" sz="2400" dirty="0">
              <a:cs typeface="+mn-ea"/>
              <a:sym typeface="+mn-lt"/>
            </a:endParaRPr>
          </a:p>
        </p:txBody>
      </p:sp>
      <p:sp>
        <p:nvSpPr>
          <p:cNvPr id="16" name="内容占位符 2"/>
          <p:cNvSpPr txBox="1"/>
          <p:nvPr/>
        </p:nvSpPr>
        <p:spPr>
          <a:xfrm>
            <a:off x="6044217" y="3696556"/>
            <a:ext cx="5019563" cy="1796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buClr>
                <a:srgbClr val="0000FF"/>
              </a:buClr>
              <a:buFont typeface="Wingdings" panose="05000000000000000000" pitchFamily="2" charset="2"/>
              <a:buChar char="Ø"/>
            </a:pPr>
            <a:r>
              <a:rPr lang="en-US" altLang="zh-CN" sz="2400" dirty="0">
                <a:cs typeface="+mn-ea"/>
                <a:sym typeface="+mn-lt"/>
              </a:rPr>
              <a:t>L&lt;S</a:t>
            </a:r>
            <a:r>
              <a:rPr lang="zh-CN" altLang="en-US" sz="2400" dirty="0">
                <a:cs typeface="+mn-ea"/>
                <a:sym typeface="+mn-lt"/>
              </a:rPr>
              <a:t>，说明频繁缺页</a:t>
            </a:r>
            <a:endParaRPr lang="zh-CN" altLang="en-US" sz="2400" dirty="0">
              <a:cs typeface="+mn-ea"/>
              <a:sym typeface="+mn-lt"/>
            </a:endParaRPr>
          </a:p>
          <a:p>
            <a:pPr lvl="1">
              <a:lnSpc>
                <a:spcPct val="120000"/>
              </a:lnSpc>
              <a:buClr>
                <a:srgbClr val="0000FF"/>
              </a:buClr>
              <a:buFont typeface="Wingdings" panose="05000000000000000000" pitchFamily="2" charset="2"/>
              <a:buChar char="Ø"/>
            </a:pPr>
            <a:r>
              <a:rPr lang="en-US" altLang="zh-CN" sz="2400" dirty="0">
                <a:cs typeface="+mn-ea"/>
                <a:sym typeface="+mn-lt"/>
              </a:rPr>
              <a:t>L=S</a:t>
            </a:r>
            <a:r>
              <a:rPr lang="zh-CN" altLang="en-US" sz="2400" dirty="0">
                <a:cs typeface="+mn-ea"/>
                <a:sym typeface="+mn-lt"/>
              </a:rPr>
              <a:t>，磁盘和处理机都可达到最大利用率</a:t>
            </a:r>
            <a:endParaRPr lang="en-US" altLang="zh-CN" sz="2400" dirty="0">
              <a:cs typeface="+mn-ea"/>
              <a:sym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b="1" dirty="0">
                <a:solidFill>
                  <a:srgbClr val="0000FF"/>
                </a:solidFill>
                <a:cs typeface="+mn-ea"/>
                <a:sym typeface="+mn-lt"/>
              </a:rPr>
              <a:t>6.5 </a:t>
            </a:r>
            <a:r>
              <a:rPr lang="zh-CN" altLang="en-US" sz="2400" b="1" dirty="0">
                <a:solidFill>
                  <a:srgbClr val="0000FF"/>
                </a:solidFill>
                <a:cs typeface="+mn-ea"/>
                <a:sym typeface="+mn-lt"/>
              </a:rPr>
              <a:t>请求分段存储管理方式</a:t>
            </a:r>
            <a:endParaRPr lang="zh-CN" altLang="en-US" sz="2400" b="1" dirty="0">
              <a:solidFill>
                <a:srgbClr val="0000FF"/>
              </a:solidFill>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dirty="0">
                <a:cs typeface="+mn-ea"/>
                <a:sym typeface="+mn-lt"/>
              </a:rPr>
              <a:t>6.6 </a:t>
            </a:r>
            <a:r>
              <a:rPr lang="zh-CN" altLang="en-US" sz="2400" dirty="0">
                <a:cs typeface="+mn-ea"/>
                <a:sym typeface="+mn-lt"/>
              </a:rPr>
              <a:t>虚拟存储器实现实例</a:t>
            </a:r>
            <a:endParaRPr lang="zh-CN" altLang="en-US" sz="2400" dirty="0">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请求分段中的硬件支持（</a:t>
            </a:r>
            <a:r>
              <a:rPr lang="en-US" altLang="zh-CN" sz="2800" b="1" dirty="0">
                <a:solidFill>
                  <a:schemeClr val="bg1"/>
                </a:solidFill>
                <a:cs typeface="+mn-ea"/>
                <a:sym typeface="+mn-lt"/>
              </a:rPr>
              <a:t>1</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5" name="矩形: 圆角 4"/>
          <p:cNvSpPr/>
          <p:nvPr/>
        </p:nvSpPr>
        <p:spPr>
          <a:xfrm>
            <a:off x="881726" y="1331757"/>
            <a:ext cx="2127804"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olidFill>
                  <a:schemeClr val="bg1"/>
                </a:solidFill>
                <a:sym typeface="Wingdings" panose="05000000000000000000" pitchFamily="2" charset="2"/>
              </a:rPr>
              <a:t>请求段表机制</a:t>
            </a:r>
            <a:endParaRPr lang="zh-CN" altLang="en-US" sz="2400" dirty="0">
              <a:solidFill>
                <a:schemeClr val="bg1"/>
              </a:solidFill>
              <a:sym typeface="Wingdings" panose="05000000000000000000" pitchFamily="2" charset="2"/>
            </a:endParaRPr>
          </a:p>
        </p:txBody>
      </p:sp>
      <p:sp>
        <p:nvSpPr>
          <p:cNvPr id="6" name="内容占位符 2"/>
          <p:cNvSpPr txBox="1"/>
          <p:nvPr/>
        </p:nvSpPr>
        <p:spPr>
          <a:xfrm>
            <a:off x="881725" y="2054341"/>
            <a:ext cx="10321894" cy="332552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存取方式：表示段存取属性为只执行、只读或允许读</a:t>
            </a:r>
            <a:r>
              <a:rPr lang="en-US" altLang="zh-CN" sz="2400" dirty="0">
                <a:cs typeface="+mn-ea"/>
                <a:sym typeface="+mn-lt"/>
              </a:rPr>
              <a:t>/</a:t>
            </a:r>
            <a:r>
              <a:rPr lang="zh-CN" altLang="en-US" sz="2400" dirty="0">
                <a:cs typeface="+mn-ea"/>
                <a:sym typeface="+mn-lt"/>
              </a:rPr>
              <a:t>写</a:t>
            </a:r>
            <a:endParaRPr lang="zh-CN" altLang="en-US" sz="2400" dirty="0">
              <a:cs typeface="+mn-ea"/>
              <a:sym typeface="+mn-lt"/>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访问字段</a:t>
            </a:r>
            <a:r>
              <a:rPr lang="en-US" altLang="zh-CN" sz="2400" dirty="0">
                <a:cs typeface="+mn-ea"/>
                <a:sym typeface="+mn-lt"/>
              </a:rPr>
              <a:t>A</a:t>
            </a:r>
            <a:r>
              <a:rPr lang="zh-CN" altLang="en-US" sz="2400" dirty="0">
                <a:cs typeface="+mn-ea"/>
                <a:sym typeface="+mn-lt"/>
              </a:rPr>
              <a:t>：记录该段在一段时间内被访问的次数</a:t>
            </a:r>
            <a:endParaRPr lang="zh-CN" altLang="en-US" sz="2400" dirty="0">
              <a:cs typeface="+mn-ea"/>
              <a:sym typeface="+mn-lt"/>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修改位</a:t>
            </a:r>
            <a:r>
              <a:rPr lang="en-US" altLang="zh-CN" sz="2400" dirty="0">
                <a:cs typeface="+mn-ea"/>
                <a:sym typeface="+mn-lt"/>
              </a:rPr>
              <a:t>M</a:t>
            </a:r>
            <a:r>
              <a:rPr lang="zh-CN" altLang="en-US" sz="2400" dirty="0">
                <a:cs typeface="+mn-ea"/>
                <a:sym typeface="+mn-lt"/>
              </a:rPr>
              <a:t>：标志该段调入内存后是否被修改过</a:t>
            </a:r>
            <a:endParaRPr lang="zh-CN" altLang="en-US" sz="2400" dirty="0">
              <a:cs typeface="+mn-ea"/>
              <a:sym typeface="+mn-lt"/>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存在位</a:t>
            </a:r>
            <a:r>
              <a:rPr lang="en-US" altLang="zh-CN" sz="2400" dirty="0">
                <a:cs typeface="+mn-ea"/>
                <a:sym typeface="+mn-lt"/>
              </a:rPr>
              <a:t>P</a:t>
            </a:r>
            <a:r>
              <a:rPr lang="zh-CN" altLang="en-US" sz="2400" dirty="0">
                <a:cs typeface="+mn-ea"/>
                <a:sym typeface="+mn-lt"/>
              </a:rPr>
              <a:t>：指示该段是否在内存</a:t>
            </a:r>
            <a:endParaRPr lang="zh-CN" altLang="en-US" sz="2400" dirty="0">
              <a:cs typeface="+mn-ea"/>
              <a:sym typeface="+mn-lt"/>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增补位：表示该段在运行过程中是否做过动态增长</a:t>
            </a:r>
            <a:endParaRPr lang="zh-CN" altLang="en-US" sz="2400" dirty="0">
              <a:cs typeface="+mn-ea"/>
              <a:sym typeface="+mn-lt"/>
            </a:endParaRPr>
          </a:p>
          <a:p>
            <a:pPr marL="342265" lvl="1" indent="-5334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外存始址：指示该段在外存中的起始地址（盘块号）</a:t>
            </a:r>
            <a:endParaRPr lang="zh-CN" altLang="en-US" sz="2400" dirty="0">
              <a:cs typeface="+mn-ea"/>
              <a:sym typeface="+mn-lt"/>
            </a:endParaRPr>
          </a:p>
        </p:txBody>
      </p:sp>
      <p:graphicFrame>
        <p:nvGraphicFramePr>
          <p:cNvPr id="11" name="表格 10"/>
          <p:cNvGraphicFramePr>
            <a:graphicFrameLocks noGrp="1"/>
          </p:cNvGraphicFramePr>
          <p:nvPr/>
        </p:nvGraphicFramePr>
        <p:xfrm>
          <a:off x="810702" y="5521134"/>
          <a:ext cx="10996600" cy="523219"/>
        </p:xfrm>
        <a:graphic>
          <a:graphicData uri="http://schemas.openxmlformats.org/drawingml/2006/table">
            <a:tbl>
              <a:tblPr>
                <a:tableStyleId>{5C22544A-7EE6-4342-B048-85BDC9FD1C3A}</a:tableStyleId>
              </a:tblPr>
              <a:tblGrid>
                <a:gridCol w="877481"/>
                <a:gridCol w="889519"/>
                <a:gridCol w="1417881"/>
                <a:gridCol w="1349663"/>
                <a:gridCol w="1578394"/>
                <a:gridCol w="1246663"/>
                <a:gridCol w="1231952"/>
                <a:gridCol w="1060736"/>
                <a:gridCol w="1344311"/>
              </a:tblGrid>
              <a:tr h="523219">
                <a:tc>
                  <a:txBody>
                    <a:bodyPr/>
                    <a:lstStyle/>
                    <a:p>
                      <a:pPr indent="0" algn="ctr" fontAlgn="auto">
                        <a:spcAft>
                          <a:spcPts val="0"/>
                        </a:spcAft>
                      </a:pPr>
                      <a:r>
                        <a:rPr lang="zh-CN" sz="2200" kern="1050" dirty="0">
                          <a:solidFill>
                            <a:schemeClr val="bg1"/>
                          </a:solidFill>
                          <a:effectLst/>
                          <a:latin typeface="+mn-ea"/>
                          <a:ea typeface="+mn-ea"/>
                        </a:rPr>
                        <a:t>段名</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段长</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段的始址</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存取方式</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访问字段</a:t>
                      </a:r>
                      <a:r>
                        <a:rPr lang="en-US" sz="2200" kern="1050" dirty="0">
                          <a:solidFill>
                            <a:schemeClr val="bg1"/>
                          </a:solidFill>
                          <a:effectLst/>
                          <a:latin typeface="+mn-ea"/>
                          <a:ea typeface="+mn-ea"/>
                        </a:rPr>
                        <a:t>A</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修改位</a:t>
                      </a:r>
                      <a:r>
                        <a:rPr lang="en-US" sz="2200" kern="1050" dirty="0">
                          <a:solidFill>
                            <a:schemeClr val="bg1"/>
                          </a:solidFill>
                          <a:effectLst/>
                          <a:latin typeface="+mn-ea"/>
                          <a:ea typeface="+mn-ea"/>
                        </a:rPr>
                        <a:t>M</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存在位</a:t>
                      </a:r>
                      <a:r>
                        <a:rPr lang="en-US" sz="2200" kern="1050" dirty="0">
                          <a:solidFill>
                            <a:schemeClr val="bg1"/>
                          </a:solidFill>
                          <a:effectLst/>
                          <a:latin typeface="+mn-ea"/>
                          <a:ea typeface="+mn-ea"/>
                        </a:rPr>
                        <a:t>P</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增补位</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2200" kern="1050" dirty="0">
                          <a:solidFill>
                            <a:schemeClr val="bg1"/>
                          </a:solidFill>
                          <a:effectLst/>
                          <a:latin typeface="+mn-ea"/>
                          <a:ea typeface="+mn-ea"/>
                        </a:rPr>
                        <a:t>外存始址</a:t>
                      </a:r>
                      <a:endParaRPr lang="zh-CN" sz="22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请求分段中的硬件支持（</a:t>
            </a:r>
            <a:r>
              <a:rPr lang="en-US" altLang="zh-CN" sz="2800" b="1" dirty="0">
                <a:solidFill>
                  <a:schemeClr val="bg1"/>
                </a:solidFill>
                <a:cs typeface="+mn-ea"/>
                <a:sym typeface="+mn-lt"/>
              </a:rPr>
              <a:t>2</a:t>
            </a:r>
            <a:r>
              <a:rPr lang="zh-CN" altLang="en-US" sz="2800" b="1" dirty="0">
                <a:solidFill>
                  <a:schemeClr val="bg1"/>
                </a:solidFill>
                <a:cs typeface="+mn-ea"/>
                <a:sym typeface="+mn-lt"/>
              </a:rPr>
              <a:t>）</a:t>
            </a:r>
            <a:endParaRPr lang="zh-CN" altLang="en-US" sz="2800" b="1" dirty="0">
              <a:solidFill>
                <a:schemeClr val="bg1"/>
              </a:solidFill>
              <a:cs typeface="+mn-ea"/>
              <a:sym typeface="+mn-lt"/>
            </a:endParaRPr>
          </a:p>
        </p:txBody>
      </p:sp>
      <p:sp>
        <p:nvSpPr>
          <p:cNvPr id="5" name="矩形: 圆角 4"/>
          <p:cNvSpPr/>
          <p:nvPr/>
        </p:nvSpPr>
        <p:spPr>
          <a:xfrm>
            <a:off x="881726" y="1331757"/>
            <a:ext cx="2243214"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sym typeface="Wingdings" panose="05000000000000000000" pitchFamily="2" charset="2"/>
              </a:rPr>
              <a:t>缺段中断机构</a:t>
            </a:r>
            <a:endParaRPr lang="zh-CN" altLang="en-US" sz="2400" dirty="0">
              <a:sym typeface="Wingdings" panose="05000000000000000000" pitchFamily="2" charset="2"/>
            </a:endParaRPr>
          </a:p>
        </p:txBody>
      </p:sp>
      <p:sp>
        <p:nvSpPr>
          <p:cNvPr id="7" name="矩形: 圆角 4"/>
          <p:cNvSpPr/>
          <p:nvPr/>
        </p:nvSpPr>
        <p:spPr>
          <a:xfrm>
            <a:off x="6723322" y="1331757"/>
            <a:ext cx="2109022" cy="5703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dirty="0"/>
              <a:t>地址变换机构</a:t>
            </a:r>
            <a:endParaRPr lang="en-US" altLang="zh-CN" sz="2400" dirty="0"/>
          </a:p>
        </p:txBody>
      </p:sp>
      <p:sp>
        <p:nvSpPr>
          <p:cNvPr id="8" name="内容占位符 2"/>
          <p:cNvSpPr txBox="1"/>
          <p:nvPr/>
        </p:nvSpPr>
        <p:spPr>
          <a:xfrm>
            <a:off x="6723321" y="2054342"/>
            <a:ext cx="4586950" cy="155887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若段不在内存中，则必须先将所缺的段调入内存，并修改段表，然后利用段表进行地址变换。</a:t>
            </a:r>
            <a:endParaRPr lang="zh-CN" altLang="en-US" sz="2400" dirty="0">
              <a:cs typeface="+mn-ea"/>
              <a:sym typeface="+mn-lt"/>
            </a:endParaRPr>
          </a:p>
        </p:txBody>
      </p:sp>
      <p:cxnSp>
        <p:nvCxnSpPr>
          <p:cNvPr id="4" name="直接连接符 3"/>
          <p:cNvCxnSpPr/>
          <p:nvPr/>
        </p:nvCxnSpPr>
        <p:spPr>
          <a:xfrm>
            <a:off x="6228522" y="1470991"/>
            <a:ext cx="0" cy="45587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042991" y="5512904"/>
            <a:ext cx="56586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042991" y="5711687"/>
            <a:ext cx="5658678"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内容占位符 2"/>
          <p:cNvSpPr txBox="1"/>
          <p:nvPr/>
        </p:nvSpPr>
        <p:spPr>
          <a:xfrm>
            <a:off x="881726" y="2054340"/>
            <a:ext cx="4586950" cy="365733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在指令执行期间产生和处理中断信号</a:t>
            </a:r>
            <a:endParaRPr lang="zh-CN" altLang="en-US" sz="2400" dirty="0">
              <a:cs typeface="+mn-ea"/>
              <a:sym typeface="+mn-lt"/>
            </a:endParaRP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一条指令在执行期间，可能产生多次缺段中断</a:t>
            </a:r>
            <a:endParaRPr lang="zh-CN" altLang="en-US" sz="2400" dirty="0">
              <a:cs typeface="+mn-ea"/>
              <a:sym typeface="+mn-lt"/>
            </a:endParaRPr>
          </a:p>
          <a:p>
            <a:pPr marL="342900" lvl="1" indent="-342900">
              <a:lnSpc>
                <a:spcPct val="132000"/>
              </a:lnSpc>
              <a:spcBef>
                <a:spcPts val="370"/>
              </a:spcBef>
              <a:buClr>
                <a:srgbClr val="E71101"/>
              </a:buClr>
              <a:buSzPct val="100000"/>
              <a:buFont typeface="Wingdings" panose="05000000000000000000" pitchFamily="2" charset="2"/>
              <a:buChar char="n"/>
              <a:defRPr/>
            </a:pPr>
            <a:r>
              <a:rPr lang="zh-CN" altLang="en-US" sz="2400" dirty="0">
                <a:cs typeface="+mn-ea"/>
                <a:sym typeface="+mn-lt"/>
              </a:rPr>
              <a:t>由于段不是定长的，对缺段中断的处理要比对缺页中断的处理复杂</a:t>
            </a:r>
            <a:endParaRPr lang="zh-CN" altLang="en-US" sz="2400" dirty="0">
              <a:cs typeface="+mn-ea"/>
              <a:sym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分段的共享</a:t>
            </a:r>
            <a:endParaRPr lang="zh-CN" altLang="en-US" sz="2800" b="1" dirty="0">
              <a:solidFill>
                <a:schemeClr val="bg1"/>
              </a:solidFill>
              <a:cs typeface="+mn-ea"/>
              <a:sym typeface="+mn-lt"/>
            </a:endParaRPr>
          </a:p>
        </p:txBody>
      </p:sp>
      <p:sp>
        <p:nvSpPr>
          <p:cNvPr id="21" name="íšḻîḋè"/>
          <p:cNvSpPr/>
          <p:nvPr/>
        </p:nvSpPr>
        <p:spPr>
          <a:xfrm>
            <a:off x="1336416" y="2973978"/>
            <a:ext cx="10453130" cy="168679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cs typeface="+mn-ea"/>
                <a:sym typeface="+mn-lt"/>
              </a:rPr>
              <a:t>对首次请求使用共享段的用户，分配内存，调入共享段，修改该进程段表相应项，再为共享段表增加一项，</a:t>
            </a:r>
            <a:r>
              <a:rPr lang="en-US" altLang="zh-CN" sz="2000" dirty="0">
                <a:cs typeface="+mn-ea"/>
                <a:sym typeface="+mn-lt"/>
              </a:rPr>
              <a:t>count=1</a:t>
            </a:r>
            <a:endParaRPr lang="en-US" altLang="zh-CN" sz="20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000" dirty="0">
                <a:cs typeface="+mn-ea"/>
                <a:sym typeface="+mn-lt"/>
              </a:rPr>
              <a:t>对其他使用共享段的用户，修改该进程段表相应项，再为共享段表增加一项，</a:t>
            </a:r>
            <a:r>
              <a:rPr lang="en-US" altLang="zh-CN" sz="2000" dirty="0">
                <a:cs typeface="+mn-ea"/>
                <a:sym typeface="+mn-lt"/>
              </a:rPr>
              <a:t>count=count+1</a:t>
            </a:r>
            <a:endParaRPr lang="en-US" altLang="zh-CN" sz="2000" dirty="0">
              <a:cs typeface="+mn-ea"/>
              <a:sym typeface="+mn-lt"/>
            </a:endParaRPr>
          </a:p>
        </p:txBody>
      </p:sp>
      <p:sp>
        <p:nvSpPr>
          <p:cNvPr id="22" name="i$lîďê"/>
          <p:cNvSpPr/>
          <p:nvPr/>
        </p:nvSpPr>
        <p:spPr>
          <a:xfrm>
            <a:off x="1392050" y="2522853"/>
            <a:ext cx="3696051" cy="392877"/>
          </a:xfrm>
          <a:prstGeom prst="rect">
            <a:avLst/>
          </a:prstGeom>
          <a:noFill/>
          <a:ln>
            <a:noFill/>
          </a:ln>
        </p:spPr>
        <p:txBody>
          <a:bodyPr wrap="square" lIns="91440" tIns="45720" rIns="91440" bIns="45720" anchor="ctr" anchorCtr="0">
            <a:noAutofit/>
          </a:bodyPr>
          <a:lstStyle/>
          <a:p>
            <a:r>
              <a:rPr lang="zh-CN" altLang="en-US" sz="2400" dirty="0">
                <a:cs typeface="+mn-ea"/>
                <a:sym typeface="+mn-lt"/>
              </a:rPr>
              <a:t>共享段的分配</a:t>
            </a:r>
            <a:endParaRPr lang="zh-CN" altLang="en-US" sz="2400" dirty="0">
              <a:cs typeface="+mn-ea"/>
              <a:sym typeface="+mn-lt"/>
            </a:endParaRPr>
          </a:p>
        </p:txBody>
      </p:sp>
      <p:sp>
        <p:nvSpPr>
          <p:cNvPr id="23" name="î$ļíḋè"/>
          <p:cNvSpPr/>
          <p:nvPr/>
        </p:nvSpPr>
        <p:spPr>
          <a:xfrm>
            <a:off x="1392050" y="5089527"/>
            <a:ext cx="9642894" cy="136453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000" dirty="0">
                <a:cs typeface="+mn-ea"/>
                <a:sym typeface="+mn-lt"/>
              </a:rPr>
              <a:t>撤销在该进程段表中共享段所对应的表项，并执行</a:t>
            </a:r>
            <a:r>
              <a:rPr lang="en-US" altLang="zh-CN" sz="2000" dirty="0">
                <a:cs typeface="+mn-ea"/>
                <a:sym typeface="+mn-lt"/>
              </a:rPr>
              <a:t>count=count-1</a:t>
            </a:r>
            <a:r>
              <a:rPr lang="zh-CN" altLang="en-US" sz="2000" dirty="0">
                <a:cs typeface="+mn-ea"/>
                <a:sym typeface="+mn-lt"/>
              </a:rPr>
              <a:t>操作</a:t>
            </a:r>
            <a:endParaRPr lang="zh-CN" altLang="en-US" sz="20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000" dirty="0">
                <a:cs typeface="+mn-ea"/>
                <a:sym typeface="+mn-lt"/>
              </a:rPr>
              <a:t>若为</a:t>
            </a:r>
            <a:r>
              <a:rPr lang="en-US" altLang="zh-CN" sz="2000" dirty="0">
                <a:cs typeface="+mn-ea"/>
                <a:sym typeface="+mn-lt"/>
              </a:rPr>
              <a:t>0</a:t>
            </a:r>
            <a:r>
              <a:rPr lang="zh-CN" altLang="en-US" sz="2000" dirty="0">
                <a:cs typeface="+mn-ea"/>
                <a:sym typeface="+mn-lt"/>
              </a:rPr>
              <a:t>，回收该共享段的内存，并取消共享段表中对应的表项</a:t>
            </a:r>
            <a:endParaRPr lang="zh-CN" altLang="en-US" sz="20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000" dirty="0">
                <a:cs typeface="+mn-ea"/>
                <a:sym typeface="+mn-lt"/>
              </a:rPr>
              <a:t>若不为</a:t>
            </a:r>
            <a:r>
              <a:rPr lang="en-US" altLang="zh-CN" sz="2000" dirty="0">
                <a:cs typeface="+mn-ea"/>
                <a:sym typeface="+mn-lt"/>
              </a:rPr>
              <a:t>0</a:t>
            </a:r>
            <a:r>
              <a:rPr lang="zh-CN" altLang="en-US" sz="2000" dirty="0">
                <a:cs typeface="+mn-ea"/>
                <a:sym typeface="+mn-lt"/>
              </a:rPr>
              <a:t>，只取消调用者进程在共享段表中的有关记录</a:t>
            </a:r>
            <a:endParaRPr lang="zh-CN" altLang="en-US" sz="2000" dirty="0">
              <a:cs typeface="+mn-ea"/>
              <a:sym typeface="+mn-lt"/>
            </a:endParaRPr>
          </a:p>
        </p:txBody>
      </p:sp>
      <p:sp>
        <p:nvSpPr>
          <p:cNvPr id="24" name="ïṧḷïḋè"/>
          <p:cNvSpPr/>
          <p:nvPr/>
        </p:nvSpPr>
        <p:spPr>
          <a:xfrm>
            <a:off x="1392052" y="4635788"/>
            <a:ext cx="3696051" cy="415102"/>
          </a:xfrm>
          <a:prstGeom prst="rect">
            <a:avLst/>
          </a:prstGeom>
          <a:noFill/>
          <a:ln>
            <a:noFill/>
          </a:ln>
        </p:spPr>
        <p:txBody>
          <a:bodyPr wrap="square" lIns="91440" tIns="45720" rIns="91440" bIns="45720" anchor="ctr" anchorCtr="0">
            <a:noAutofit/>
          </a:bodyPr>
          <a:lstStyle/>
          <a:p>
            <a:r>
              <a:rPr lang="zh-CN" altLang="en-US" sz="2400" dirty="0">
                <a:cs typeface="+mn-ea"/>
                <a:sym typeface="+mn-lt"/>
              </a:rPr>
              <a:t>共享段的回收</a:t>
            </a:r>
            <a:endParaRPr lang="zh-CN" altLang="en-US" sz="2400" dirty="0">
              <a:cs typeface="+mn-ea"/>
              <a:sym typeface="+mn-lt"/>
            </a:endParaRPr>
          </a:p>
        </p:txBody>
      </p:sp>
      <p:sp>
        <p:nvSpPr>
          <p:cNvPr id="26" name="íšḻíḑê"/>
          <p:cNvSpPr/>
          <p:nvPr/>
        </p:nvSpPr>
        <p:spPr>
          <a:xfrm>
            <a:off x="1392050" y="1255740"/>
            <a:ext cx="4894534"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共享段表：</a:t>
            </a:r>
            <a:r>
              <a:rPr lang="zh-CN" altLang="en-US" sz="2400" dirty="0">
                <a:cs typeface="+mn-ea"/>
                <a:sym typeface="+mn-lt"/>
              </a:rPr>
              <a:t>保存所有的共享段</a:t>
            </a:r>
            <a:endParaRPr lang="zh-CN" altLang="en-US" sz="2400" dirty="0">
              <a:cs typeface="+mn-ea"/>
              <a:sym typeface="+mn-lt"/>
            </a:endParaRPr>
          </a:p>
        </p:txBody>
      </p:sp>
      <p:sp>
        <p:nvSpPr>
          <p:cNvPr id="27" name="îSļiḓè"/>
          <p:cNvSpPr/>
          <p:nvPr/>
        </p:nvSpPr>
        <p:spPr>
          <a:xfrm>
            <a:off x="708548" y="114468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8" name="íṥḻîḓe"/>
          <p:cNvSpPr/>
          <p:nvPr/>
        </p:nvSpPr>
        <p:spPr>
          <a:xfrm>
            <a:off x="708548" y="459182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9" name="îşļiḓè"/>
          <p:cNvSpPr/>
          <p:nvPr/>
        </p:nvSpPr>
        <p:spPr>
          <a:xfrm>
            <a:off x="708548" y="2491598"/>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30" name="îṡḷíďe"/>
          <p:cNvSpPr/>
          <p:nvPr/>
        </p:nvSpPr>
        <p:spPr>
          <a:xfrm>
            <a:off x="898803" y="134081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31" name="íSlíḋe"/>
          <p:cNvSpPr/>
          <p:nvPr/>
        </p:nvSpPr>
        <p:spPr>
          <a:xfrm>
            <a:off x="898802" y="2695860"/>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32" name="ïśḷïḓe"/>
          <p:cNvSpPr/>
          <p:nvPr/>
        </p:nvSpPr>
        <p:spPr>
          <a:xfrm>
            <a:off x="927741" y="4781283"/>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14" name="íšḻîḋè"/>
          <p:cNvSpPr/>
          <p:nvPr/>
        </p:nvSpPr>
        <p:spPr>
          <a:xfrm>
            <a:off x="1392050" y="1746056"/>
            <a:ext cx="2886987" cy="62587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共享进程计数</a:t>
            </a:r>
            <a:r>
              <a:rPr lang="en-US" altLang="zh-CN" sz="2200" dirty="0">
                <a:cs typeface="+mn-ea"/>
                <a:sym typeface="+mn-lt"/>
              </a:rPr>
              <a:t>count</a:t>
            </a:r>
            <a:endParaRPr lang="en-US" altLang="zh-CN" sz="2200" dirty="0">
              <a:cs typeface="+mn-ea"/>
              <a:sym typeface="+mn-lt"/>
            </a:endParaRPr>
          </a:p>
        </p:txBody>
      </p:sp>
      <p:sp>
        <p:nvSpPr>
          <p:cNvPr id="15" name="íšḻîḋè"/>
          <p:cNvSpPr/>
          <p:nvPr/>
        </p:nvSpPr>
        <p:spPr>
          <a:xfrm>
            <a:off x="4334672" y="1738186"/>
            <a:ext cx="2886987" cy="49994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存取控制字段</a:t>
            </a:r>
            <a:endParaRPr lang="zh-CN" altLang="en-US" sz="2200" dirty="0">
              <a:cs typeface="+mn-ea"/>
              <a:sym typeface="+mn-lt"/>
            </a:endParaRPr>
          </a:p>
        </p:txBody>
      </p:sp>
      <p:sp>
        <p:nvSpPr>
          <p:cNvPr id="16" name="íšḻîḋè"/>
          <p:cNvSpPr/>
          <p:nvPr/>
        </p:nvSpPr>
        <p:spPr>
          <a:xfrm>
            <a:off x="4334672" y="2212052"/>
            <a:ext cx="2886987" cy="499944"/>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200" dirty="0">
                <a:cs typeface="+mn-ea"/>
                <a:sym typeface="+mn-lt"/>
              </a:rPr>
              <a:t>段号</a:t>
            </a:r>
            <a:endParaRPr lang="zh-CN" altLang="en-US" sz="2200" dirty="0">
              <a:cs typeface="+mn-ea"/>
              <a:sym typeface="+mn-lt"/>
            </a:endParaRPr>
          </a:p>
        </p:txBody>
      </p:sp>
      <p:pic>
        <p:nvPicPr>
          <p:cNvPr id="17" name="图片 16"/>
          <p:cNvPicPr>
            <a:picLocks noChangeAspect="1"/>
          </p:cNvPicPr>
          <p:nvPr/>
        </p:nvPicPr>
        <p:blipFill>
          <a:blip r:embed="rId1"/>
          <a:stretch>
            <a:fillRect/>
          </a:stretch>
        </p:blipFill>
        <p:spPr>
          <a:xfrm>
            <a:off x="6736952" y="1081241"/>
            <a:ext cx="5052594" cy="191973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分段保护</a:t>
            </a:r>
            <a:endParaRPr lang="zh-CN" altLang="en-US" sz="2800" b="1" dirty="0">
              <a:solidFill>
                <a:schemeClr val="bg1"/>
              </a:solidFill>
              <a:cs typeface="+mn-ea"/>
              <a:sym typeface="+mn-lt"/>
            </a:endParaRPr>
          </a:p>
        </p:txBody>
      </p:sp>
      <p:sp>
        <p:nvSpPr>
          <p:cNvPr id="14" name="íšḻîḋè"/>
          <p:cNvSpPr/>
          <p:nvPr/>
        </p:nvSpPr>
        <p:spPr>
          <a:xfrm>
            <a:off x="1336416" y="3329085"/>
            <a:ext cx="10453130" cy="968293"/>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通过“存取控制”字段决定段的访问方式；</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基于硬件实现。</a:t>
            </a:r>
            <a:endParaRPr lang="zh-CN" altLang="en-US" sz="2400" dirty="0">
              <a:cs typeface="+mn-ea"/>
              <a:sym typeface="+mn-lt"/>
            </a:endParaRPr>
          </a:p>
        </p:txBody>
      </p:sp>
      <p:sp>
        <p:nvSpPr>
          <p:cNvPr id="15" name="i$lîďê"/>
          <p:cNvSpPr/>
          <p:nvPr/>
        </p:nvSpPr>
        <p:spPr>
          <a:xfrm>
            <a:off x="1392050" y="2886838"/>
            <a:ext cx="5829609" cy="392877"/>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存取控制检查：</a:t>
            </a:r>
            <a:r>
              <a:rPr lang="zh-CN" altLang="en-US" sz="2400" dirty="0">
                <a:solidFill>
                  <a:srgbClr val="0000FF"/>
                </a:solidFill>
                <a:cs typeface="+mn-ea"/>
                <a:sym typeface="+mn-lt"/>
              </a:rPr>
              <a:t>以段为基本单位</a:t>
            </a:r>
            <a:r>
              <a:rPr lang="zh-CN" altLang="en-US" sz="2400" dirty="0">
                <a:cs typeface="+mn-ea"/>
                <a:sym typeface="+mn-lt"/>
              </a:rPr>
              <a:t>进行。</a:t>
            </a:r>
            <a:endParaRPr lang="zh-CN" altLang="en-US" sz="2400" dirty="0">
              <a:cs typeface="+mn-ea"/>
              <a:sym typeface="+mn-lt"/>
            </a:endParaRPr>
          </a:p>
        </p:txBody>
      </p:sp>
      <p:sp>
        <p:nvSpPr>
          <p:cNvPr id="16" name="î$ļíḋè"/>
          <p:cNvSpPr/>
          <p:nvPr/>
        </p:nvSpPr>
        <p:spPr>
          <a:xfrm>
            <a:off x="1392050" y="4920851"/>
            <a:ext cx="9642894" cy="1364539"/>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低编号的环具有高优先权；</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一个程序可以访问驻留在相同环或较低特权环（外环）中的数据；</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一个程序可以调用驻留在相同环或较高特权环（内环）中的服务。</a:t>
            </a:r>
            <a:endParaRPr lang="zh-CN" altLang="en-US" sz="2400" dirty="0">
              <a:cs typeface="+mn-ea"/>
              <a:sym typeface="+mn-lt"/>
            </a:endParaRPr>
          </a:p>
        </p:txBody>
      </p:sp>
      <p:sp>
        <p:nvSpPr>
          <p:cNvPr id="17" name="ïṧḷïḋè"/>
          <p:cNvSpPr/>
          <p:nvPr/>
        </p:nvSpPr>
        <p:spPr>
          <a:xfrm>
            <a:off x="1392052" y="4467112"/>
            <a:ext cx="3696051" cy="415102"/>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环保护机构：</a:t>
            </a:r>
            <a:endParaRPr lang="zh-CN" altLang="en-US" sz="2400" dirty="0">
              <a:solidFill>
                <a:srgbClr val="FF0000"/>
              </a:solidFill>
              <a:cs typeface="+mn-ea"/>
              <a:sym typeface="+mn-lt"/>
            </a:endParaRPr>
          </a:p>
        </p:txBody>
      </p:sp>
      <p:sp>
        <p:nvSpPr>
          <p:cNvPr id="18" name="íšḻíḑê"/>
          <p:cNvSpPr/>
          <p:nvPr/>
        </p:nvSpPr>
        <p:spPr>
          <a:xfrm>
            <a:off x="1392050" y="1255740"/>
            <a:ext cx="4894534" cy="405747"/>
          </a:xfrm>
          <a:prstGeom prst="rect">
            <a:avLst/>
          </a:prstGeom>
          <a:noFill/>
          <a:ln>
            <a:noFill/>
          </a:ln>
        </p:spPr>
        <p:txBody>
          <a:bodyPr wrap="square" lIns="91440" tIns="45720" rIns="91440" bIns="45720" anchor="ctr" anchorCtr="0">
            <a:noAutofit/>
          </a:bodyPr>
          <a:lstStyle/>
          <a:p>
            <a:r>
              <a:rPr lang="zh-CN" altLang="en-US" sz="2400" dirty="0">
                <a:solidFill>
                  <a:srgbClr val="FF0000"/>
                </a:solidFill>
                <a:cs typeface="+mn-ea"/>
                <a:sym typeface="+mn-lt"/>
              </a:rPr>
              <a:t>越界检查：</a:t>
            </a:r>
            <a:endParaRPr lang="zh-CN" altLang="en-US" sz="2400" dirty="0">
              <a:solidFill>
                <a:srgbClr val="FF0000"/>
              </a:solidFill>
              <a:cs typeface="+mn-ea"/>
              <a:sym typeface="+mn-lt"/>
            </a:endParaRPr>
          </a:p>
        </p:txBody>
      </p:sp>
      <p:sp>
        <p:nvSpPr>
          <p:cNvPr id="19" name="îSļiḓè"/>
          <p:cNvSpPr/>
          <p:nvPr/>
        </p:nvSpPr>
        <p:spPr>
          <a:xfrm>
            <a:off x="708548" y="1144681"/>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25" name="íṥḻîḓe"/>
          <p:cNvSpPr/>
          <p:nvPr/>
        </p:nvSpPr>
        <p:spPr>
          <a:xfrm>
            <a:off x="708548" y="4423147"/>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33" name="îşļiḓè"/>
          <p:cNvSpPr/>
          <p:nvPr/>
        </p:nvSpPr>
        <p:spPr>
          <a:xfrm>
            <a:off x="708548" y="2855583"/>
            <a:ext cx="627867" cy="627867"/>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34" name="îṡḷíďe"/>
          <p:cNvSpPr/>
          <p:nvPr/>
        </p:nvSpPr>
        <p:spPr>
          <a:xfrm>
            <a:off x="898803" y="1340819"/>
            <a:ext cx="261147" cy="247870"/>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35" name="íSlíḋe"/>
          <p:cNvSpPr/>
          <p:nvPr/>
        </p:nvSpPr>
        <p:spPr>
          <a:xfrm>
            <a:off x="898802" y="3059845"/>
            <a:ext cx="261148" cy="228804"/>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36" name="ïśḷïḓe"/>
          <p:cNvSpPr/>
          <p:nvPr/>
        </p:nvSpPr>
        <p:spPr>
          <a:xfrm>
            <a:off x="927741" y="4612607"/>
            <a:ext cx="211585" cy="259306"/>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91440" tIns="45720" rIns="91440" bIns="45720" anchor="ctr">
            <a:normAutofit fontScale="25000" lnSpcReduction="20000"/>
          </a:bodyPr>
          <a:lstStyle/>
          <a:p>
            <a:pPr algn="ctr"/>
            <a:endParaRPr>
              <a:cs typeface="+mn-ea"/>
              <a:sym typeface="+mn-lt"/>
            </a:endParaRPr>
          </a:p>
        </p:txBody>
      </p:sp>
      <p:sp>
        <p:nvSpPr>
          <p:cNvPr id="37" name="íšḻîḋè"/>
          <p:cNvSpPr/>
          <p:nvPr/>
        </p:nvSpPr>
        <p:spPr>
          <a:xfrm>
            <a:off x="1392050" y="1710544"/>
            <a:ext cx="7432354" cy="625876"/>
          </a:xfrm>
          <a:prstGeom prst="rect">
            <a:avLst/>
          </a:prstGeom>
          <a:noFill/>
          <a:ln>
            <a:noFill/>
          </a:ln>
        </p:spPr>
        <p:txBody>
          <a:bodyPr wrap="square" lIns="91440" tIns="45720" rIns="91440" bIns="45720" anchor="t" anchorCtr="0">
            <a:noAutofit/>
          </a:bodyPr>
          <a:lstStyle/>
          <a:p>
            <a:pPr marL="342900" indent="-342900">
              <a:lnSpc>
                <a:spcPct val="120000"/>
              </a:lnSpc>
              <a:buClr>
                <a:srgbClr val="FF0000"/>
              </a:buClr>
              <a:buFont typeface="Wingdings" panose="05000000000000000000" pitchFamily="2" charset="2"/>
              <a:buChar char="Ø"/>
            </a:pPr>
            <a:r>
              <a:rPr lang="zh-CN" altLang="en-US" sz="2400" dirty="0">
                <a:cs typeface="+mn-ea"/>
                <a:sym typeface="+mn-lt"/>
              </a:rPr>
              <a:t>由地址变换机构来完成；</a:t>
            </a:r>
            <a:endParaRPr lang="zh-CN" altLang="en-US" sz="2400" dirty="0">
              <a:cs typeface="+mn-ea"/>
              <a:sym typeface="+mn-lt"/>
            </a:endParaRPr>
          </a:p>
          <a:p>
            <a:pPr marL="342900" indent="-342900">
              <a:lnSpc>
                <a:spcPct val="120000"/>
              </a:lnSpc>
              <a:buClr>
                <a:srgbClr val="FF0000"/>
              </a:buClr>
              <a:buFont typeface="Wingdings" panose="05000000000000000000" pitchFamily="2" charset="2"/>
              <a:buChar char="Ø"/>
            </a:pPr>
            <a:r>
              <a:rPr lang="zh-CN" altLang="en-US" sz="2400" dirty="0">
                <a:cs typeface="+mn-ea"/>
                <a:sym typeface="+mn-lt"/>
              </a:rPr>
              <a:t>比较段号与段表长度；段内地址与段表长度。</a:t>
            </a:r>
            <a:endParaRPr lang="zh-CN" altLang="en-US" sz="2400" dirty="0">
              <a:cs typeface="+mn-ea"/>
              <a:sym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669925" y="5602927"/>
            <a:ext cx="10850563" cy="296271"/>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cs typeface="+mn-ea"/>
                <a:sym typeface="+mn-lt"/>
              </a:rPr>
              <a:t>Date</a:t>
            </a:r>
            <a:endParaRPr lang="zh-CN" altLang="en-US" dirty="0">
              <a:cs typeface="+mn-ea"/>
              <a:sym typeface="+mn-lt"/>
            </a:endParaRPr>
          </a:p>
        </p:txBody>
      </p:sp>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771525" y="257830"/>
            <a:ext cx="1980029" cy="523220"/>
          </a:xfrm>
          <a:prstGeom prst="rect">
            <a:avLst/>
          </a:prstGeom>
        </p:spPr>
        <p:txBody>
          <a:bodyPr wrap="none">
            <a:spAutoFit/>
          </a:bodyPr>
          <a:lstStyle/>
          <a:p>
            <a:r>
              <a:rPr lang="zh-CN" altLang="en-US" sz="2800" b="1" dirty="0">
                <a:solidFill>
                  <a:schemeClr val="bg1"/>
                </a:solidFill>
                <a:cs typeface="+mn-ea"/>
                <a:sym typeface="+mn-lt"/>
              </a:rPr>
              <a:t>内容导航：</a:t>
            </a:r>
            <a:endParaRPr lang="zh-CN" altLang="en-US" sz="2800" b="1" dirty="0">
              <a:solidFill>
                <a:schemeClr val="bg1"/>
              </a:solidFill>
              <a:cs typeface="+mn-ea"/>
              <a:sym typeface="+mn-lt"/>
            </a:endParaRPr>
          </a:p>
        </p:txBody>
      </p:sp>
      <p:sp>
        <p:nvSpPr>
          <p:cNvPr id="22" name="矩形 21"/>
          <p:cNvSpPr/>
          <p:nvPr/>
        </p:nvSpPr>
        <p:spPr>
          <a:xfrm>
            <a:off x="1696469" y="1737498"/>
            <a:ext cx="4500146" cy="461665"/>
          </a:xfrm>
          <a:prstGeom prst="rect">
            <a:avLst/>
          </a:prstGeom>
        </p:spPr>
        <p:txBody>
          <a:bodyPr wrap="square">
            <a:spAutoFit/>
          </a:bodyPr>
          <a:lstStyle/>
          <a:p>
            <a:r>
              <a:rPr lang="en-US" altLang="zh-CN" sz="2400" dirty="0">
                <a:cs typeface="+mn-ea"/>
                <a:sym typeface="+mn-lt"/>
              </a:rPr>
              <a:t>6.1 </a:t>
            </a:r>
            <a:r>
              <a:rPr lang="zh-CN" altLang="en-US" sz="2400" dirty="0">
                <a:cs typeface="+mn-ea"/>
                <a:sym typeface="+mn-lt"/>
              </a:rPr>
              <a:t>虚拟存储器概述</a:t>
            </a:r>
            <a:endParaRPr lang="zh-CN" altLang="en-US" sz="2400" dirty="0">
              <a:cs typeface="+mn-ea"/>
              <a:sym typeface="+mn-lt"/>
            </a:endParaRPr>
          </a:p>
        </p:txBody>
      </p:sp>
      <p:sp>
        <p:nvSpPr>
          <p:cNvPr id="23" name="矩形 22"/>
          <p:cNvSpPr/>
          <p:nvPr/>
        </p:nvSpPr>
        <p:spPr>
          <a:xfrm>
            <a:off x="1696468" y="2375673"/>
            <a:ext cx="4399531" cy="461665"/>
          </a:xfrm>
          <a:prstGeom prst="rect">
            <a:avLst/>
          </a:prstGeom>
        </p:spPr>
        <p:txBody>
          <a:bodyPr wrap="square">
            <a:spAutoFit/>
          </a:bodyPr>
          <a:lstStyle/>
          <a:p>
            <a:r>
              <a:rPr lang="en-US" altLang="zh-CN" sz="2400" dirty="0">
                <a:cs typeface="+mn-ea"/>
                <a:sym typeface="+mn-lt"/>
              </a:rPr>
              <a:t>6.2 </a:t>
            </a:r>
            <a:r>
              <a:rPr lang="zh-CN" altLang="en-US" sz="2400" dirty="0">
                <a:cs typeface="+mn-ea"/>
                <a:sym typeface="+mn-lt"/>
              </a:rPr>
              <a:t>请求分页存储管理方式</a:t>
            </a:r>
            <a:endParaRPr lang="en-US" altLang="zh-CN" sz="2400" dirty="0">
              <a:cs typeface="+mn-ea"/>
              <a:sym typeface="+mn-lt"/>
            </a:endParaRPr>
          </a:p>
        </p:txBody>
      </p:sp>
      <p:sp>
        <p:nvSpPr>
          <p:cNvPr id="24" name="矩形 23"/>
          <p:cNvSpPr/>
          <p:nvPr/>
        </p:nvSpPr>
        <p:spPr>
          <a:xfrm>
            <a:off x="1696468" y="2994798"/>
            <a:ext cx="3488967" cy="461665"/>
          </a:xfrm>
          <a:prstGeom prst="rect">
            <a:avLst/>
          </a:prstGeom>
        </p:spPr>
        <p:txBody>
          <a:bodyPr wrap="square">
            <a:spAutoFit/>
          </a:bodyPr>
          <a:lstStyle/>
          <a:p>
            <a:r>
              <a:rPr lang="en-US" altLang="zh-CN" sz="2400" dirty="0">
                <a:cs typeface="+mn-ea"/>
                <a:sym typeface="+mn-lt"/>
              </a:rPr>
              <a:t>6.3 </a:t>
            </a:r>
            <a:r>
              <a:rPr lang="zh-CN" altLang="en-US" sz="2400" dirty="0">
                <a:cs typeface="+mn-ea"/>
                <a:sym typeface="+mn-lt"/>
              </a:rPr>
              <a:t>页面置换算法</a:t>
            </a:r>
            <a:endParaRPr lang="en-US" altLang="zh-CN" sz="2400" dirty="0">
              <a:cs typeface="+mn-ea"/>
              <a:sym typeface="+mn-lt"/>
            </a:endParaRPr>
          </a:p>
        </p:txBody>
      </p:sp>
      <p:sp>
        <p:nvSpPr>
          <p:cNvPr id="25" name="矩形 24"/>
          <p:cNvSpPr/>
          <p:nvPr/>
        </p:nvSpPr>
        <p:spPr>
          <a:xfrm>
            <a:off x="1696468" y="3613923"/>
            <a:ext cx="3488967" cy="461665"/>
          </a:xfrm>
          <a:prstGeom prst="rect">
            <a:avLst/>
          </a:prstGeom>
        </p:spPr>
        <p:txBody>
          <a:bodyPr wrap="square">
            <a:spAutoFit/>
          </a:bodyPr>
          <a:lstStyle/>
          <a:p>
            <a:r>
              <a:rPr lang="en-US" altLang="zh-CN" sz="2400" dirty="0">
                <a:cs typeface="+mn-ea"/>
                <a:sym typeface="+mn-lt"/>
              </a:rPr>
              <a:t>6.4 </a:t>
            </a:r>
            <a:r>
              <a:rPr lang="zh-CN" altLang="en-US" sz="2400" dirty="0">
                <a:cs typeface="+mn-ea"/>
                <a:sym typeface="+mn-lt"/>
              </a:rPr>
              <a:t>抖动与工作集</a:t>
            </a:r>
            <a:endParaRPr lang="zh-CN" altLang="en-US" sz="2400" dirty="0">
              <a:cs typeface="+mn-ea"/>
              <a:sym typeface="+mn-lt"/>
            </a:endParaRPr>
          </a:p>
        </p:txBody>
      </p:sp>
      <p:sp>
        <p:nvSpPr>
          <p:cNvPr id="27" name="矩形 26"/>
          <p:cNvSpPr/>
          <p:nvPr/>
        </p:nvSpPr>
        <p:spPr>
          <a:xfrm>
            <a:off x="1696469" y="4233048"/>
            <a:ext cx="3905342" cy="461665"/>
          </a:xfrm>
          <a:prstGeom prst="rect">
            <a:avLst/>
          </a:prstGeom>
        </p:spPr>
        <p:txBody>
          <a:bodyPr wrap="square">
            <a:spAutoFit/>
          </a:bodyPr>
          <a:lstStyle/>
          <a:p>
            <a:r>
              <a:rPr lang="en-US" altLang="zh-CN" sz="2400" dirty="0">
                <a:cs typeface="+mn-ea"/>
                <a:sym typeface="+mn-lt"/>
              </a:rPr>
              <a:t>6.5 </a:t>
            </a:r>
            <a:r>
              <a:rPr lang="zh-CN" altLang="en-US" sz="2400" dirty="0">
                <a:cs typeface="+mn-ea"/>
                <a:sym typeface="+mn-lt"/>
              </a:rPr>
              <a:t>请求分段存储管理方式</a:t>
            </a:r>
            <a:endParaRPr lang="zh-CN" altLang="en-US" sz="2400" dirty="0">
              <a:cs typeface="+mn-ea"/>
              <a:sym typeface="+mn-lt"/>
            </a:endParaRPr>
          </a:p>
        </p:txBody>
      </p:sp>
      <p:sp>
        <p:nvSpPr>
          <p:cNvPr id="28" name="矩形 27"/>
          <p:cNvSpPr/>
          <p:nvPr/>
        </p:nvSpPr>
        <p:spPr>
          <a:xfrm>
            <a:off x="1696468" y="4852173"/>
            <a:ext cx="3682151" cy="461665"/>
          </a:xfrm>
          <a:prstGeom prst="rect">
            <a:avLst/>
          </a:prstGeom>
        </p:spPr>
        <p:txBody>
          <a:bodyPr wrap="square">
            <a:spAutoFit/>
          </a:bodyPr>
          <a:lstStyle/>
          <a:p>
            <a:r>
              <a:rPr lang="en-US" altLang="zh-CN" sz="2400" b="1" dirty="0">
                <a:solidFill>
                  <a:srgbClr val="0000FF"/>
                </a:solidFill>
                <a:cs typeface="+mn-ea"/>
                <a:sym typeface="+mn-lt"/>
              </a:rPr>
              <a:t>6.6 </a:t>
            </a:r>
            <a:r>
              <a:rPr lang="zh-CN" altLang="en-US" sz="2400" b="1" dirty="0">
                <a:solidFill>
                  <a:srgbClr val="0000FF"/>
                </a:solidFill>
                <a:cs typeface="+mn-ea"/>
                <a:sym typeface="+mn-lt"/>
              </a:rPr>
              <a:t>虚拟存储器实现实例</a:t>
            </a:r>
            <a:endParaRPr lang="zh-CN" altLang="en-US" sz="2400" b="1" dirty="0">
              <a:solidFill>
                <a:srgbClr val="0000FF"/>
              </a:solidFill>
              <a:cs typeface="+mn-ea"/>
              <a:sym typeface="+mn-lt"/>
            </a:endParaRPr>
          </a:p>
        </p:txBody>
      </p:sp>
      <p:sp>
        <p:nvSpPr>
          <p:cNvPr id="3" name="矩形 2"/>
          <p:cNvSpPr/>
          <p:nvPr/>
        </p:nvSpPr>
        <p:spPr>
          <a:xfrm>
            <a:off x="7395099" y="2386337"/>
            <a:ext cx="3801041" cy="646331"/>
          </a:xfrm>
          <a:prstGeom prst="rect">
            <a:avLst/>
          </a:prstGeom>
        </p:spPr>
        <p:txBody>
          <a:bodyPr wrap="none">
            <a:spAutoFit/>
          </a:bodyPr>
          <a:lstStyle/>
          <a:p>
            <a:r>
              <a:rPr lang="zh-CN" altLang="en-US" sz="3600" dirty="0">
                <a:solidFill>
                  <a:srgbClr val="000000"/>
                </a:solidFill>
                <a:cs typeface="+mn-ea"/>
                <a:sym typeface="+mn-lt"/>
              </a:rPr>
              <a:t>第</a:t>
            </a:r>
            <a:r>
              <a:rPr lang="en-US" altLang="zh-CN" sz="3600" dirty="0">
                <a:solidFill>
                  <a:srgbClr val="000000"/>
                </a:solidFill>
                <a:cs typeface="+mn-ea"/>
                <a:sym typeface="+mn-lt"/>
              </a:rPr>
              <a:t>6</a:t>
            </a:r>
            <a:r>
              <a:rPr lang="zh-CN" altLang="en-US" sz="3600" dirty="0">
                <a:solidFill>
                  <a:srgbClr val="000000"/>
                </a:solidFill>
                <a:cs typeface="+mn-ea"/>
                <a:sym typeface="+mn-lt"/>
              </a:rPr>
              <a:t>章 虚拟存储器</a:t>
            </a:r>
            <a:endParaRPr lang="zh-CN" altLang="en-US" sz="3600" dirty="0">
              <a:cs typeface="+mn-ea"/>
              <a:sym typeface="+mn-lt"/>
            </a:endParaRPr>
          </a:p>
        </p:txBody>
      </p:sp>
      <p:cxnSp>
        <p:nvCxnSpPr>
          <p:cNvPr id="5" name="直接连接符 4"/>
          <p:cNvCxnSpPr/>
          <p:nvPr/>
        </p:nvCxnSpPr>
        <p:spPr>
          <a:xfrm>
            <a:off x="7421733" y="3190471"/>
            <a:ext cx="412538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526" y="6375042"/>
            <a:ext cx="12201526" cy="4829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1700488"/>
            <a:ext cx="527050" cy="527050"/>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285628"/>
            <a:ext cx="527050" cy="527050"/>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2941097"/>
            <a:ext cx="527050" cy="527050"/>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3559570"/>
            <a:ext cx="527050" cy="527050"/>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185650"/>
            <a:ext cx="527050" cy="527050"/>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69418" y="4823363"/>
            <a:ext cx="527050" cy="527050"/>
          </a:xfrm>
          <a:prstGeom prst="rect">
            <a:avLst/>
          </a:prstGeom>
          <a:ln>
            <a:noFill/>
          </a:ln>
          <a:effectLst>
            <a:softEdge rad="0"/>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实例</a:t>
            </a:r>
            <a:r>
              <a:rPr lang="en-US" altLang="zh-CN" sz="2800" b="1" dirty="0">
                <a:solidFill>
                  <a:schemeClr val="bg1"/>
                </a:solidFill>
                <a:cs typeface="+mn-ea"/>
                <a:sym typeface="+mn-lt"/>
              </a:rPr>
              <a:t>1</a:t>
            </a:r>
            <a:r>
              <a:rPr lang="zh-CN" altLang="en-US" sz="2800" b="1" dirty="0">
                <a:solidFill>
                  <a:schemeClr val="bg1"/>
                </a:solidFill>
                <a:cs typeface="+mn-ea"/>
                <a:sym typeface="+mn-lt"/>
              </a:rPr>
              <a:t>：</a:t>
            </a:r>
            <a:r>
              <a:rPr lang="en-US" altLang="zh-CN" sz="2800" b="1" dirty="0">
                <a:solidFill>
                  <a:schemeClr val="bg1"/>
                </a:solidFill>
                <a:cs typeface="+mn-ea"/>
                <a:sym typeface="+mn-lt"/>
              </a:rPr>
              <a:t>Windows XP</a:t>
            </a:r>
            <a:r>
              <a:rPr lang="zh-CN" altLang="en-US" sz="2800" b="1" dirty="0">
                <a:solidFill>
                  <a:schemeClr val="bg1"/>
                </a:solidFill>
                <a:cs typeface="+mn-ea"/>
                <a:sym typeface="+mn-lt"/>
              </a:rPr>
              <a:t>系统</a:t>
            </a:r>
            <a:endParaRPr lang="zh-CN" altLang="en-US" sz="2800" b="1" dirty="0">
              <a:solidFill>
                <a:schemeClr val="bg1"/>
              </a:solidFill>
              <a:cs typeface="+mn-ea"/>
              <a:sym typeface="+mn-lt"/>
            </a:endParaRPr>
          </a:p>
        </p:txBody>
      </p:sp>
      <p:sp>
        <p:nvSpPr>
          <p:cNvPr id="22" name="内容占位符 2"/>
          <p:cNvSpPr txBox="1"/>
          <p:nvPr/>
        </p:nvSpPr>
        <p:spPr>
          <a:xfrm>
            <a:off x="1411550" y="1085850"/>
            <a:ext cx="10173808" cy="54747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spcAft>
                <a:spcPts val="600"/>
              </a:spcAft>
              <a:buNone/>
            </a:pPr>
            <a:r>
              <a:rPr lang="zh-CN" altLang="en-US" sz="2400" dirty="0"/>
              <a:t>采用</a:t>
            </a:r>
            <a:r>
              <a:rPr lang="zh-CN" altLang="zh-CN" sz="2400" dirty="0">
                <a:solidFill>
                  <a:srgbClr val="FF0000"/>
                </a:solidFill>
              </a:rPr>
              <a:t>请求页面调度</a:t>
            </a:r>
            <a:r>
              <a:rPr lang="zh-CN" altLang="zh-CN" sz="2400" dirty="0"/>
              <a:t>以及</a:t>
            </a:r>
            <a:r>
              <a:rPr lang="zh-CN" altLang="zh-CN" sz="2400" dirty="0">
                <a:solidFill>
                  <a:srgbClr val="FF0000"/>
                </a:solidFill>
              </a:rPr>
              <a:t>簇</a:t>
            </a:r>
            <a:r>
              <a:rPr lang="zh-CN" altLang="zh-CN" sz="2400" dirty="0"/>
              <a:t>来实现</a:t>
            </a:r>
            <a:r>
              <a:rPr lang="zh-CN" altLang="zh-CN" sz="2400" dirty="0">
                <a:solidFill>
                  <a:srgbClr val="0000FF"/>
                </a:solidFill>
              </a:rPr>
              <a:t>虚拟存储器</a:t>
            </a:r>
            <a:endParaRPr lang="en-US" altLang="zh-CN" sz="2400" dirty="0"/>
          </a:p>
          <a:p>
            <a:pPr marL="0" indent="0">
              <a:lnSpc>
                <a:spcPct val="110000"/>
              </a:lnSpc>
              <a:spcBef>
                <a:spcPts val="600"/>
              </a:spcBef>
              <a:spcAft>
                <a:spcPts val="600"/>
              </a:spcAft>
              <a:buNone/>
            </a:pPr>
            <a:r>
              <a:rPr lang="zh-CN" altLang="en-US" sz="2400" dirty="0"/>
              <a:t>使用</a:t>
            </a:r>
            <a:r>
              <a:rPr lang="zh-CN" altLang="zh-CN" sz="2400" dirty="0"/>
              <a:t>簇在处理缺页中断时，不但会调入不在内存中的页（出错页），还会调入出错页周围的页</a:t>
            </a:r>
            <a:endParaRPr lang="en-US" altLang="zh-CN" sz="2400" dirty="0"/>
          </a:p>
          <a:p>
            <a:pPr marL="0" indent="0">
              <a:lnSpc>
                <a:spcPct val="110000"/>
              </a:lnSpc>
              <a:spcBef>
                <a:spcPts val="600"/>
              </a:spcBef>
              <a:spcAft>
                <a:spcPts val="600"/>
              </a:spcAft>
              <a:buNone/>
            </a:pPr>
            <a:r>
              <a:rPr lang="zh-CN" altLang="zh-CN" sz="2400" dirty="0"/>
              <a:t>创建进程时，系统会为</a:t>
            </a:r>
            <a:r>
              <a:rPr lang="zh-CN" altLang="en-US" sz="2400" dirty="0"/>
              <a:t>其</a:t>
            </a:r>
            <a:r>
              <a:rPr lang="zh-CN" altLang="zh-CN" sz="2400" dirty="0"/>
              <a:t>分配工作集的最小值和最大值</a:t>
            </a:r>
            <a:endParaRPr lang="en-US" altLang="zh-CN" sz="2400" dirty="0"/>
          </a:p>
          <a:p>
            <a:pPr lvl="1" indent="-360045">
              <a:lnSpc>
                <a:spcPct val="110000"/>
              </a:lnSpc>
              <a:spcBef>
                <a:spcPts val="600"/>
              </a:spcBef>
              <a:spcAft>
                <a:spcPts val="600"/>
              </a:spcAft>
              <a:buClr>
                <a:srgbClr val="FF0000"/>
              </a:buClr>
              <a:buFont typeface="Wingdings" panose="05000000000000000000" pitchFamily="2" charset="2"/>
              <a:buChar char="p"/>
            </a:pPr>
            <a:r>
              <a:rPr lang="zh-CN" altLang="en-US" sz="2400" dirty="0"/>
              <a:t>最小值：</a:t>
            </a:r>
            <a:r>
              <a:rPr lang="zh-CN" altLang="zh-CN" sz="2400" dirty="0"/>
              <a:t>进程在内存中时所保证页面数的最小值</a:t>
            </a:r>
            <a:endParaRPr lang="en-US" altLang="zh-CN" sz="2400" dirty="0"/>
          </a:p>
          <a:p>
            <a:pPr lvl="1" indent="-360045">
              <a:lnSpc>
                <a:spcPct val="110000"/>
              </a:lnSpc>
              <a:spcBef>
                <a:spcPts val="600"/>
              </a:spcBef>
              <a:spcAft>
                <a:spcPts val="600"/>
              </a:spcAft>
              <a:buClr>
                <a:srgbClr val="FF0000"/>
              </a:buClr>
              <a:buFont typeface="Wingdings" panose="05000000000000000000" pitchFamily="2" charset="2"/>
              <a:buChar char="p"/>
            </a:pPr>
            <a:r>
              <a:rPr lang="zh-CN" altLang="en-US" sz="2400" dirty="0"/>
              <a:t>若内存足够，可分配更多的页面，直到达到最大值</a:t>
            </a:r>
            <a:endParaRPr lang="en-US" altLang="zh-CN" sz="2400" dirty="0"/>
          </a:p>
          <a:p>
            <a:pPr lvl="1" indent="-360045">
              <a:lnSpc>
                <a:spcPct val="110000"/>
              </a:lnSpc>
              <a:spcBef>
                <a:spcPts val="600"/>
              </a:spcBef>
              <a:spcAft>
                <a:spcPts val="600"/>
              </a:spcAft>
              <a:buClr>
                <a:srgbClr val="FF0000"/>
              </a:buClr>
              <a:buFont typeface="Wingdings" panose="05000000000000000000" pitchFamily="2" charset="2"/>
              <a:buChar char="p"/>
            </a:pPr>
            <a:r>
              <a:rPr lang="zh-CN" altLang="en-US" sz="2400" dirty="0"/>
              <a:t>通过维护空闲块链表（与一个阈值关联）来实现</a:t>
            </a:r>
            <a:endParaRPr lang="en-US" altLang="zh-CN" sz="2400" dirty="0"/>
          </a:p>
          <a:p>
            <a:pPr lvl="1" indent="-360045">
              <a:lnSpc>
                <a:spcPct val="110000"/>
              </a:lnSpc>
              <a:spcBef>
                <a:spcPts val="600"/>
              </a:spcBef>
              <a:spcAft>
                <a:spcPts val="600"/>
              </a:spcAft>
              <a:buClr>
                <a:srgbClr val="FF0000"/>
              </a:buClr>
              <a:buFont typeface="Wingdings" panose="05000000000000000000" pitchFamily="2" charset="2"/>
              <a:buChar char="p"/>
            </a:pPr>
            <a:r>
              <a:rPr lang="zh-CN" altLang="en-US" sz="2400" dirty="0"/>
              <a:t>采用局部置换方式</a:t>
            </a:r>
            <a:endParaRPr lang="en-US" altLang="zh-CN" sz="2400" dirty="0"/>
          </a:p>
          <a:p>
            <a:pPr marL="0" indent="0">
              <a:lnSpc>
                <a:spcPct val="110000"/>
              </a:lnSpc>
              <a:spcBef>
                <a:spcPts val="600"/>
              </a:spcBef>
              <a:spcAft>
                <a:spcPts val="600"/>
              </a:spcAft>
              <a:buNone/>
            </a:pPr>
            <a:r>
              <a:rPr lang="zh-CN" altLang="en-US" sz="2400" dirty="0"/>
              <a:t>置换算法与处理器类型有关</a:t>
            </a:r>
            <a:endParaRPr lang="en-US" altLang="zh-CN" sz="2400" dirty="0"/>
          </a:p>
          <a:p>
            <a:pPr lvl="1" indent="-360045">
              <a:lnSpc>
                <a:spcPct val="110000"/>
              </a:lnSpc>
              <a:spcBef>
                <a:spcPts val="600"/>
              </a:spcBef>
              <a:spcAft>
                <a:spcPts val="600"/>
              </a:spcAft>
              <a:buClr>
                <a:srgbClr val="FF0000"/>
              </a:buClr>
              <a:buFont typeface="Wingdings" panose="05000000000000000000" pitchFamily="2" charset="2"/>
              <a:buChar char="p"/>
            </a:pPr>
            <a:r>
              <a:rPr lang="zh-CN" altLang="en-US" sz="2400" dirty="0"/>
              <a:t>如</a:t>
            </a:r>
            <a:r>
              <a:rPr lang="en-US" altLang="zh-CN" sz="2400" dirty="0"/>
              <a:t>80x86</a:t>
            </a:r>
            <a:r>
              <a:rPr lang="zh-CN" altLang="en-US" sz="2400" dirty="0"/>
              <a:t>系统，采用</a:t>
            </a:r>
            <a:r>
              <a:rPr lang="zh-CN" altLang="en-US" sz="2400" dirty="0">
                <a:solidFill>
                  <a:srgbClr val="FF0000"/>
                </a:solidFill>
              </a:rPr>
              <a:t>改进型</a:t>
            </a:r>
            <a:r>
              <a:rPr lang="en-US" altLang="zh-CN" sz="2400" dirty="0"/>
              <a:t>Clock</a:t>
            </a:r>
            <a:r>
              <a:rPr lang="zh-CN" altLang="en-US" sz="2400" dirty="0"/>
              <a:t>算法</a:t>
            </a:r>
            <a:endParaRPr lang="zh-CN" altLang="en-US" sz="2400" dirty="0"/>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61045" y="1042868"/>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61045" y="1628008"/>
            <a:ext cx="527050" cy="527050"/>
          </a:xfrm>
          <a:prstGeom prst="rect">
            <a:avLst/>
          </a:prstGeom>
          <a:ln>
            <a:noFill/>
          </a:ln>
          <a:effectLst>
            <a:softEdge rad="0"/>
          </a:effectLst>
        </p:spPr>
      </p:pic>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61045" y="2547002"/>
            <a:ext cx="527050" cy="527050"/>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61045" y="5288082"/>
            <a:ext cx="527050" cy="527050"/>
          </a:xfrm>
          <a:prstGeom prst="rect">
            <a:avLst/>
          </a:prstGeom>
          <a:ln>
            <a:noFill/>
          </a:ln>
          <a:effectLst>
            <a:softEdge rad="0"/>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实例</a:t>
            </a:r>
            <a:r>
              <a:rPr lang="en-US" altLang="zh-CN" sz="2800" b="1" dirty="0">
                <a:solidFill>
                  <a:schemeClr val="bg1"/>
                </a:solidFill>
                <a:cs typeface="+mn-ea"/>
                <a:sym typeface="+mn-lt"/>
              </a:rPr>
              <a:t>2</a:t>
            </a:r>
            <a:r>
              <a:rPr lang="zh-CN" altLang="en-US" sz="2800" b="1" dirty="0">
                <a:solidFill>
                  <a:schemeClr val="bg1"/>
                </a:solidFill>
                <a:cs typeface="+mn-ea"/>
                <a:sym typeface="+mn-lt"/>
              </a:rPr>
              <a:t>：</a:t>
            </a:r>
            <a:r>
              <a:rPr lang="en-US" altLang="zh-CN" sz="2800" b="1" dirty="0">
                <a:solidFill>
                  <a:schemeClr val="bg1"/>
                </a:solidFill>
                <a:cs typeface="+mn-ea"/>
                <a:sym typeface="+mn-lt"/>
              </a:rPr>
              <a:t>Linux</a:t>
            </a:r>
            <a:r>
              <a:rPr lang="zh-CN" altLang="en-US" sz="2800" b="1" dirty="0">
                <a:solidFill>
                  <a:schemeClr val="bg1"/>
                </a:solidFill>
                <a:cs typeface="+mn-ea"/>
                <a:sym typeface="+mn-lt"/>
              </a:rPr>
              <a:t>系统（以</a:t>
            </a:r>
            <a:r>
              <a:rPr lang="en-US" altLang="zh-CN" sz="2800" b="1" dirty="0">
                <a:solidFill>
                  <a:schemeClr val="bg1"/>
                </a:solidFill>
                <a:cs typeface="+mn-ea"/>
                <a:sym typeface="+mn-lt"/>
              </a:rPr>
              <a:t>32</a:t>
            </a:r>
            <a:r>
              <a:rPr lang="zh-CN" altLang="en-US" sz="2800" b="1" dirty="0">
                <a:solidFill>
                  <a:schemeClr val="bg1"/>
                </a:solidFill>
                <a:cs typeface="+mn-ea"/>
                <a:sym typeface="+mn-lt"/>
              </a:rPr>
              <a:t>位为例）</a:t>
            </a:r>
            <a:endParaRPr lang="zh-CN" altLang="en-US" sz="2800" b="1" dirty="0">
              <a:solidFill>
                <a:schemeClr val="bg1"/>
              </a:solidFill>
              <a:cs typeface="+mn-ea"/>
              <a:sym typeface="+mn-lt"/>
            </a:endParaRPr>
          </a:p>
        </p:txBody>
      </p:sp>
      <p:sp>
        <p:nvSpPr>
          <p:cNvPr id="22" name="内容占位符 2"/>
          <p:cNvSpPr txBox="1"/>
          <p:nvPr/>
        </p:nvSpPr>
        <p:spPr>
          <a:xfrm>
            <a:off x="1320430" y="1255358"/>
            <a:ext cx="5834972" cy="43472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spcAft>
                <a:spcPts val="600"/>
              </a:spcAft>
              <a:buNone/>
            </a:pPr>
            <a:r>
              <a:rPr lang="zh-CN" altLang="en-US" sz="2400" dirty="0">
                <a:solidFill>
                  <a:srgbClr val="0000FF"/>
                </a:solidFill>
              </a:rPr>
              <a:t>虚拟存储器</a:t>
            </a:r>
            <a:r>
              <a:rPr lang="zh-CN" altLang="en-US" sz="2400" dirty="0"/>
              <a:t>是大小为</a:t>
            </a:r>
            <a:r>
              <a:rPr lang="en-US" altLang="zh-CN" sz="2400" dirty="0"/>
              <a:t>4GB</a:t>
            </a:r>
            <a:r>
              <a:rPr lang="zh-CN" altLang="en-US" sz="2400" dirty="0"/>
              <a:t>的线性虚拟空间。</a:t>
            </a:r>
            <a:endParaRPr lang="zh-CN" altLang="en-US" sz="2400" dirty="0"/>
          </a:p>
          <a:p>
            <a:pPr marL="0" indent="0">
              <a:lnSpc>
                <a:spcPct val="110000"/>
              </a:lnSpc>
              <a:spcBef>
                <a:spcPts val="600"/>
              </a:spcBef>
              <a:spcAft>
                <a:spcPts val="600"/>
              </a:spcAft>
              <a:buNone/>
            </a:pPr>
            <a:r>
              <a:rPr lang="en-US" altLang="zh-CN" sz="2400" dirty="0"/>
              <a:t>4GB</a:t>
            </a:r>
            <a:r>
              <a:rPr lang="zh-CN" altLang="en-US" sz="2400" dirty="0"/>
              <a:t>的地址空间</a:t>
            </a:r>
            <a:r>
              <a:rPr lang="zh-CN" altLang="en-US" sz="2400" dirty="0">
                <a:solidFill>
                  <a:srgbClr val="FF0000"/>
                </a:solidFill>
              </a:rPr>
              <a:t>分为两个部分</a:t>
            </a:r>
            <a:r>
              <a:rPr lang="zh-CN" altLang="en-US" sz="2400" dirty="0"/>
              <a:t>：</a:t>
            </a:r>
            <a:endParaRPr lang="en-US" altLang="zh-CN" sz="2400" dirty="0"/>
          </a:p>
          <a:p>
            <a:pPr indent="-360045">
              <a:lnSpc>
                <a:spcPct val="110000"/>
              </a:lnSpc>
              <a:spcBef>
                <a:spcPts val="600"/>
              </a:spcBef>
              <a:spcAft>
                <a:spcPts val="600"/>
              </a:spcAft>
              <a:buClr>
                <a:srgbClr val="FF0000"/>
              </a:buClr>
              <a:buFont typeface="Wingdings" panose="05000000000000000000" pitchFamily="2" charset="2"/>
              <a:buChar char="p"/>
            </a:pPr>
            <a:r>
              <a:rPr lang="zh-CN" altLang="en-US" sz="2400" dirty="0"/>
              <a:t>用户空间占据</a:t>
            </a:r>
            <a:r>
              <a:rPr lang="en-US" altLang="zh-CN" sz="2400" dirty="0"/>
              <a:t>0~3GB</a:t>
            </a:r>
            <a:r>
              <a:rPr lang="zh-CN" altLang="en-US" sz="2400" dirty="0"/>
              <a:t>（</a:t>
            </a:r>
            <a:r>
              <a:rPr lang="en-US" altLang="zh-CN" sz="2400" dirty="0"/>
              <a:t>0xC0000000</a:t>
            </a:r>
            <a:r>
              <a:rPr lang="zh-CN" altLang="en-US" sz="2400" dirty="0"/>
              <a:t>）</a:t>
            </a:r>
            <a:endParaRPr lang="zh-CN" altLang="en-US" sz="2400" dirty="0"/>
          </a:p>
          <a:p>
            <a:pPr lvl="1" indent="-360045">
              <a:lnSpc>
                <a:spcPct val="110000"/>
              </a:lnSpc>
              <a:spcBef>
                <a:spcPts val="600"/>
              </a:spcBef>
              <a:spcAft>
                <a:spcPts val="600"/>
              </a:spcAft>
              <a:buClr>
                <a:srgbClr val="FF0000"/>
              </a:buClr>
              <a:buFont typeface="Wingdings" panose="05000000000000000000" pitchFamily="2" charset="2"/>
              <a:buChar char="Ø"/>
            </a:pPr>
            <a:r>
              <a:rPr lang="zh-CN" altLang="en-US" sz="2200" dirty="0"/>
              <a:t>由用户进程使用（</a:t>
            </a:r>
            <a:r>
              <a:rPr lang="en-US" altLang="zh-CN" sz="2200" dirty="0">
                <a:solidFill>
                  <a:srgbClr val="FFC000"/>
                </a:solidFill>
              </a:rPr>
              <a:t>MMU</a:t>
            </a:r>
            <a:r>
              <a:rPr lang="zh-CN" altLang="en-US" sz="2200" dirty="0"/>
              <a:t>）</a:t>
            </a:r>
            <a:endParaRPr lang="zh-CN" altLang="en-US" sz="2200" dirty="0"/>
          </a:p>
          <a:p>
            <a:pPr lvl="1" indent="-360045">
              <a:lnSpc>
                <a:spcPct val="110000"/>
              </a:lnSpc>
              <a:spcBef>
                <a:spcPts val="600"/>
              </a:spcBef>
              <a:spcAft>
                <a:spcPts val="600"/>
              </a:spcAft>
              <a:buClr>
                <a:srgbClr val="FF0000"/>
              </a:buClr>
              <a:buFont typeface="Wingdings" panose="05000000000000000000" pitchFamily="2" charset="2"/>
              <a:buChar char="Ø"/>
            </a:pPr>
            <a:r>
              <a:rPr lang="zh-CN" altLang="en-US" sz="2200" dirty="0"/>
              <a:t>使用请求页式存储管理</a:t>
            </a:r>
            <a:endParaRPr lang="zh-CN" altLang="en-US" sz="2200" dirty="0"/>
          </a:p>
          <a:p>
            <a:pPr indent="-360045">
              <a:lnSpc>
                <a:spcPct val="110000"/>
              </a:lnSpc>
              <a:spcBef>
                <a:spcPts val="600"/>
              </a:spcBef>
              <a:spcAft>
                <a:spcPts val="600"/>
              </a:spcAft>
              <a:buClr>
                <a:srgbClr val="FF0000"/>
              </a:buClr>
              <a:buFont typeface="Wingdings" panose="05000000000000000000" pitchFamily="2" charset="2"/>
              <a:buChar char="p"/>
            </a:pPr>
            <a:r>
              <a:rPr lang="zh-CN" altLang="en-US" sz="2400" dirty="0"/>
              <a:t>内核空间占据</a:t>
            </a:r>
            <a:r>
              <a:rPr lang="en-US" altLang="zh-CN" sz="2400" dirty="0"/>
              <a:t>3GB~4GB</a:t>
            </a:r>
            <a:endParaRPr lang="en-US" altLang="zh-CN" sz="2400" dirty="0"/>
          </a:p>
          <a:p>
            <a:pPr lvl="1" indent="-360045">
              <a:lnSpc>
                <a:spcPct val="110000"/>
              </a:lnSpc>
              <a:spcBef>
                <a:spcPts val="600"/>
              </a:spcBef>
              <a:spcAft>
                <a:spcPts val="600"/>
              </a:spcAft>
              <a:buClr>
                <a:srgbClr val="FF0000"/>
              </a:buClr>
              <a:buFont typeface="Wingdings" panose="05000000000000000000" pitchFamily="2" charset="2"/>
              <a:buChar char="Ø"/>
            </a:pPr>
            <a:r>
              <a:rPr lang="zh-CN" altLang="en-US" sz="2200" dirty="0"/>
              <a:t>由内核负责</a:t>
            </a:r>
            <a:endParaRPr lang="zh-CN" altLang="en-US" sz="2200" dirty="0"/>
          </a:p>
          <a:p>
            <a:pPr lvl="1" indent="-360045">
              <a:lnSpc>
                <a:spcPct val="110000"/>
              </a:lnSpc>
              <a:spcBef>
                <a:spcPts val="600"/>
              </a:spcBef>
              <a:spcAft>
                <a:spcPts val="600"/>
              </a:spcAft>
              <a:buClr>
                <a:srgbClr val="FF0000"/>
              </a:buClr>
              <a:buFont typeface="Wingdings" panose="05000000000000000000" pitchFamily="2" charset="2"/>
              <a:buChar char="Ø"/>
            </a:pPr>
            <a:r>
              <a:rPr lang="zh-CN" altLang="en-US" sz="2200" dirty="0"/>
              <a:t>使用</a:t>
            </a:r>
            <a:r>
              <a:rPr lang="en-US" altLang="zh-CN" sz="2200" dirty="0"/>
              <a:t>buddy</a:t>
            </a:r>
            <a:r>
              <a:rPr lang="zh-CN" altLang="en-US" sz="2200" dirty="0"/>
              <a:t>和</a:t>
            </a:r>
            <a:r>
              <a:rPr lang="en-US" altLang="zh-CN" sz="2200" dirty="0"/>
              <a:t>slab</a:t>
            </a:r>
            <a:r>
              <a:rPr lang="zh-CN" altLang="en-US" sz="2200" dirty="0"/>
              <a:t>内存管理</a:t>
            </a:r>
            <a:br>
              <a:rPr lang="en-US" altLang="zh-CN" sz="2200" dirty="0"/>
            </a:br>
            <a:r>
              <a:rPr lang="zh-CN" altLang="en-US" sz="2200" dirty="0"/>
              <a:t>（</a:t>
            </a:r>
            <a:r>
              <a:rPr lang="en-US" altLang="zh-CN" sz="2200" dirty="0">
                <a:solidFill>
                  <a:srgbClr val="FFC000"/>
                </a:solidFill>
              </a:rPr>
              <a:t>zoned buddy </a:t>
            </a:r>
            <a:r>
              <a:rPr lang="zh-CN" altLang="en-US" sz="2200" dirty="0">
                <a:solidFill>
                  <a:srgbClr val="FFC000"/>
                </a:solidFill>
              </a:rPr>
              <a:t>分配器和</a:t>
            </a:r>
            <a:r>
              <a:rPr lang="en-US" altLang="zh-CN" sz="2200" dirty="0">
                <a:solidFill>
                  <a:srgbClr val="FFC000"/>
                </a:solidFill>
              </a:rPr>
              <a:t>slab</a:t>
            </a:r>
            <a:r>
              <a:rPr lang="zh-CN" altLang="en-US" sz="2200" dirty="0">
                <a:solidFill>
                  <a:srgbClr val="FFC000"/>
                </a:solidFill>
              </a:rPr>
              <a:t>分配器</a:t>
            </a:r>
            <a:r>
              <a:rPr lang="zh-CN" altLang="en-US" sz="2200" dirty="0"/>
              <a:t>）</a:t>
            </a:r>
            <a:endParaRPr lang="zh-CN" altLang="en-US" sz="2200" dirty="0"/>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212376"/>
            <a:ext cx="527050" cy="527050"/>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1797516"/>
            <a:ext cx="527050" cy="527050"/>
          </a:xfrm>
          <a:prstGeom prst="rect">
            <a:avLst/>
          </a:prstGeom>
          <a:ln>
            <a:noFill/>
          </a:ln>
          <a:effectLst>
            <a:softEdge rad="0"/>
          </a:effectLst>
        </p:spPr>
      </p:pic>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9925" y="2716510"/>
            <a:ext cx="527050" cy="527050"/>
          </a:xfrm>
          <a:prstGeom prst="rect">
            <a:avLst/>
          </a:prstGeom>
          <a:ln>
            <a:noFill/>
          </a:ln>
          <a:effectLst>
            <a:softEdge rad="0"/>
          </a:effectLst>
        </p:spPr>
      </p:pic>
      <p:pic>
        <p:nvPicPr>
          <p:cNvPr id="8" name="图片 7"/>
          <p:cNvPicPr>
            <a:picLocks noChangeAspect="1"/>
          </p:cNvPicPr>
          <p:nvPr/>
        </p:nvPicPr>
        <p:blipFill>
          <a:blip r:embed="rId2">
            <a:clrChange>
              <a:clrFrom>
                <a:srgbClr val="FFFFFF"/>
              </a:clrFrom>
              <a:clrTo>
                <a:srgbClr val="FFFFFF">
                  <a:alpha val="0"/>
                </a:srgbClr>
              </a:clrTo>
            </a:clrChange>
          </a:blip>
          <a:stretch>
            <a:fillRect/>
          </a:stretch>
        </p:blipFill>
        <p:spPr>
          <a:xfrm>
            <a:off x="5555077" y="2585621"/>
            <a:ext cx="5624468" cy="3244917"/>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6章 知识导图"/>
          <p:cNvPicPr>
            <a:picLocks noChangeAspect="1"/>
          </p:cNvPicPr>
          <p:nvPr/>
        </p:nvPicPr>
        <p:blipFill>
          <a:blip r:embed="rId1"/>
          <a:stretch>
            <a:fillRect/>
          </a:stretch>
        </p:blipFill>
        <p:spPr>
          <a:xfrm>
            <a:off x="4676775" y="1689735"/>
            <a:ext cx="7465695" cy="4504690"/>
          </a:xfrm>
          <a:prstGeom prst="rect">
            <a:avLst/>
          </a:prstGeom>
        </p:spPr>
      </p:pic>
      <p:sp>
        <p:nvSpPr>
          <p:cNvPr id="19" name="任意多边形: 形状 18"/>
          <p:cNvSpPr/>
          <p:nvPr/>
        </p:nvSpPr>
        <p:spPr>
          <a:xfrm>
            <a:off x="-9525" y="-1"/>
            <a:ext cx="12201525" cy="1255073"/>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任意多边形: 形状 10"/>
          <p:cNvSpPr/>
          <p:nvPr/>
        </p:nvSpPr>
        <p:spPr bwMode="auto">
          <a:xfrm>
            <a:off x="-9526" y="252740"/>
            <a:ext cx="12201525" cy="1128723"/>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91440" tIns="45720" rIns="91440" bIns="4572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sp>
        <p:nvSpPr>
          <p:cNvPr id="20" name="矩形 19"/>
          <p:cNvSpPr/>
          <p:nvPr/>
        </p:nvSpPr>
        <p:spPr>
          <a:xfrm>
            <a:off x="771525" y="257830"/>
            <a:ext cx="4334841" cy="523220"/>
          </a:xfrm>
          <a:prstGeom prst="rect">
            <a:avLst/>
          </a:prstGeom>
        </p:spPr>
        <p:txBody>
          <a:bodyPr wrap="none">
            <a:spAutoFit/>
          </a:bodyPr>
          <a:lstStyle/>
          <a:p>
            <a:r>
              <a:rPr lang="zh-CN" altLang="en-US" sz="2800" b="1" dirty="0">
                <a:solidFill>
                  <a:schemeClr val="bg1"/>
                </a:solidFill>
                <a:cs typeface="+mn-ea"/>
                <a:sym typeface="+mn-lt"/>
              </a:rPr>
              <a:t>学而时习之（第</a:t>
            </a:r>
            <a:r>
              <a:rPr lang="en-US" altLang="zh-CN" sz="2800" b="1" dirty="0">
                <a:solidFill>
                  <a:schemeClr val="bg1"/>
                </a:solidFill>
                <a:cs typeface="+mn-ea"/>
                <a:sym typeface="+mn-lt"/>
              </a:rPr>
              <a:t>6</a:t>
            </a:r>
            <a:r>
              <a:rPr lang="zh-CN" altLang="en-US" sz="2800" b="1" dirty="0">
                <a:solidFill>
                  <a:schemeClr val="bg1"/>
                </a:solidFill>
                <a:cs typeface="+mn-ea"/>
                <a:sym typeface="+mn-lt"/>
              </a:rPr>
              <a:t>章总结）</a:t>
            </a:r>
            <a:endParaRPr lang="zh-CN" altLang="en-US" sz="2800" b="1" dirty="0">
              <a:solidFill>
                <a:schemeClr val="bg1"/>
              </a:solidFill>
              <a:cs typeface="+mn-ea"/>
              <a:sym typeface="+mn-lt"/>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44475" y="261476"/>
            <a:ext cx="527050" cy="527050"/>
          </a:xfrm>
          <a:prstGeom prst="rect">
            <a:avLst/>
          </a:prstGeom>
        </p:spPr>
      </p:pic>
      <p:graphicFrame>
        <p:nvGraphicFramePr>
          <p:cNvPr id="8" name="表格 7"/>
          <p:cNvGraphicFramePr/>
          <p:nvPr>
            <p:custDataLst>
              <p:tags r:id="rId3"/>
            </p:custDataLst>
          </p:nvPr>
        </p:nvGraphicFramePr>
        <p:xfrm>
          <a:off x="462431" y="1634204"/>
          <a:ext cx="4173963" cy="4789452"/>
        </p:xfrm>
        <a:graphic>
          <a:graphicData uri="http://schemas.openxmlformats.org/drawingml/2006/table">
            <a:tbl>
              <a:tblPr firstRow="1" bandRow="1">
                <a:tableStyleId>{72833802-FEF1-4C79-8D5D-14CF1EAF98D9}</a:tableStyleId>
              </a:tblPr>
              <a:tblGrid>
                <a:gridCol w="1221039"/>
                <a:gridCol w="2952924"/>
              </a:tblGrid>
              <a:tr h="399121">
                <a:tc>
                  <a:txBody>
                    <a:bodyPr/>
                    <a:lstStyle/>
                    <a:p>
                      <a:pPr marL="71755" indent="0" algn="ctr">
                        <a:lnSpc>
                          <a:spcPct val="100000"/>
                        </a:lnSpc>
                        <a:spcBef>
                          <a:spcPts val="300"/>
                        </a:spcBef>
                        <a:spcAft>
                          <a:spcPts val="300"/>
                        </a:spcAft>
                        <a:buNone/>
                      </a:pPr>
                      <a:r>
                        <a:rPr lang="en-US" sz="2000" b="0" dirty="0">
                          <a:solidFill>
                            <a:schemeClr val="tx1"/>
                          </a:solidFill>
                          <a:latin typeface="+mn-lt"/>
                          <a:ea typeface="+mn-ea"/>
                          <a:cs typeface="+mn-ea"/>
                          <a:sym typeface="+mn-lt"/>
                        </a:rPr>
                        <a:t>第1章</a:t>
                      </a:r>
                      <a:endParaRPr lang="en-US" altLang="en-US" sz="2000" b="0" dirty="0">
                        <a:solidFill>
                          <a:schemeClr val="tx1"/>
                        </a:solidFill>
                        <a:latin typeface="+mn-lt"/>
                        <a:ea typeface="+mn-ea"/>
                        <a:cs typeface="+mn-ea"/>
                        <a:sym typeface="+mn-lt"/>
                      </a:endParaRPr>
                    </a:p>
                  </a:txBody>
                  <a:tcPr marL="98738" marR="98738" marT="0" marB="0" anchor="ctr">
                    <a:noFill/>
                  </a:tcPr>
                </a:tc>
                <a:tc>
                  <a:txBody>
                    <a:bodyPr/>
                    <a:lstStyle/>
                    <a:p>
                      <a:pPr marL="71755" indent="0" algn="l">
                        <a:lnSpc>
                          <a:spcPct val="100000"/>
                        </a:lnSpc>
                        <a:spcBef>
                          <a:spcPts val="300"/>
                        </a:spcBef>
                        <a:spcAft>
                          <a:spcPts val="300"/>
                        </a:spcAft>
                        <a:buNone/>
                      </a:pPr>
                      <a:r>
                        <a:rPr lang="en-US" sz="2000" b="0" dirty="0" err="1">
                          <a:solidFill>
                            <a:schemeClr val="tx1"/>
                          </a:solidFill>
                          <a:latin typeface="+mn-lt"/>
                          <a:ea typeface="+mn-ea"/>
                          <a:cs typeface="+mn-ea"/>
                          <a:sym typeface="+mn-lt"/>
                        </a:rPr>
                        <a:t>操作系统引论</a:t>
                      </a:r>
                      <a:endParaRPr lang="en-US" altLang="en-US" sz="2000" b="0" dirty="0">
                        <a:solidFill>
                          <a:schemeClr val="tx1"/>
                        </a:solidFill>
                        <a:latin typeface="+mn-lt"/>
                        <a:ea typeface="+mn-ea"/>
                        <a:cs typeface="+mn-ea"/>
                        <a:sym typeface="+mn-lt"/>
                      </a:endParaRPr>
                    </a:p>
                  </a:txBody>
                  <a:tcPr marL="98738" marR="98738" marT="0" marB="0" anchor="ctr">
                    <a:no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进程的描述与控制</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第3章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处理机调度与死锁</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dirty="0">
                          <a:latin typeface="+mn-lt"/>
                          <a:ea typeface="+mn-ea"/>
                          <a:cs typeface="+mn-ea"/>
                          <a:sym typeface="+mn-lt"/>
                        </a:rPr>
                        <a:t>第4章</a:t>
                      </a:r>
                      <a:endParaRPr lang="en-US" altLang="en-US" sz="2000" b="0" dirty="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进程同步</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第5章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b="1" dirty="0">
                          <a:solidFill>
                            <a:schemeClr val="bg1"/>
                          </a:solidFill>
                          <a:latin typeface="+mn-lt"/>
                          <a:ea typeface="+mn-ea"/>
                          <a:cs typeface="+mn-ea"/>
                          <a:sym typeface="+mn-lt"/>
                        </a:rPr>
                        <a:t>第6章</a:t>
                      </a:r>
                      <a:endParaRPr lang="en-US" altLang="en-US" sz="2000" b="1" dirty="0">
                        <a:solidFill>
                          <a:schemeClr val="bg1"/>
                        </a:solidFill>
                        <a:latin typeface="+mn-lt"/>
                        <a:ea typeface="+mn-ea"/>
                        <a:cs typeface="+mn-ea"/>
                        <a:sym typeface="+mn-lt"/>
                      </a:endParaRPr>
                    </a:p>
                  </a:txBody>
                  <a:tcPr marL="98738" marR="98738" marT="0" marB="0" anchor="ctr">
                    <a:solidFill>
                      <a:schemeClr val="accent2"/>
                    </a:solidFill>
                  </a:tcPr>
                </a:tc>
                <a:tc>
                  <a:txBody>
                    <a:bodyPr/>
                    <a:lstStyle/>
                    <a:p>
                      <a:pPr marL="71755" indent="0" algn="l">
                        <a:lnSpc>
                          <a:spcPct val="100000"/>
                        </a:lnSpc>
                        <a:spcBef>
                          <a:spcPts val="300"/>
                        </a:spcBef>
                        <a:spcAft>
                          <a:spcPts val="300"/>
                        </a:spcAft>
                        <a:buNone/>
                      </a:pPr>
                      <a:r>
                        <a:rPr lang="en-US" sz="2000" b="1" dirty="0" err="1">
                          <a:solidFill>
                            <a:schemeClr val="bg1"/>
                          </a:solidFill>
                          <a:latin typeface="+mn-lt"/>
                          <a:ea typeface="+mn-ea"/>
                          <a:cs typeface="+mn-ea"/>
                          <a:sym typeface="+mn-lt"/>
                        </a:rPr>
                        <a:t>虚拟存储器</a:t>
                      </a:r>
                      <a:endParaRPr lang="en-US" altLang="en-US" sz="2000" b="1" dirty="0">
                        <a:solidFill>
                          <a:schemeClr val="bg1"/>
                        </a:solidFill>
                        <a:latin typeface="+mn-lt"/>
                        <a:ea typeface="+mn-ea"/>
                        <a:cs typeface="+mn-ea"/>
                        <a:sym typeface="+mn-lt"/>
                      </a:endParaRPr>
                    </a:p>
                  </a:txBody>
                  <a:tcPr marL="98738" marR="98738" marT="0" marB="0" anchor="ctr">
                    <a:solidFill>
                      <a:schemeClr val="accent2"/>
                    </a:solidFill>
                  </a:tcP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第7章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输入</a:t>
                      </a:r>
                      <a:r>
                        <a:rPr lang="en-US" sz="2000" dirty="0">
                          <a:latin typeface="+mn-lt"/>
                          <a:ea typeface="+mn-ea"/>
                          <a:cs typeface="+mn-ea"/>
                          <a:sym typeface="+mn-lt"/>
                        </a:rPr>
                        <a:t>/</a:t>
                      </a:r>
                      <a:r>
                        <a:rPr lang="en-US" sz="2000" dirty="0" err="1">
                          <a:latin typeface="+mn-lt"/>
                          <a:ea typeface="+mn-ea"/>
                          <a:cs typeface="+mn-ea"/>
                          <a:sym typeface="+mn-lt"/>
                        </a:rPr>
                        <a:t>输出系统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第8章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文件管理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第9章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磁盘存储器管理</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第10章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多处理机操作系统</a:t>
                      </a:r>
                      <a:endParaRPr lang="en-US" altLang="en-US" sz="2000" b="0" dirty="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第11章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a:latin typeface="+mn-lt"/>
                          <a:ea typeface="+mn-ea"/>
                          <a:cs typeface="+mn-ea"/>
                          <a:sym typeface="+mn-lt"/>
                        </a:rPr>
                        <a:t>虚拟化和云计算</a:t>
                      </a:r>
                      <a:endParaRPr lang="en-US" altLang="en-US" sz="2000" b="0">
                        <a:solidFill>
                          <a:srgbClr val="000000"/>
                        </a:solidFill>
                        <a:latin typeface="+mn-lt"/>
                        <a:ea typeface="+mn-ea"/>
                        <a:cs typeface="+mn-ea"/>
                        <a:sym typeface="+mn-lt"/>
                      </a:endParaRPr>
                    </a:p>
                  </a:txBody>
                  <a:tcPr marL="98738" marR="98738" marT="0" marB="0" anchor="ctr"/>
                </a:tc>
              </a:tr>
              <a:tr h="399121">
                <a:tc>
                  <a:txBody>
                    <a:bodyPr/>
                    <a:lstStyle/>
                    <a:p>
                      <a:pPr marL="71755" indent="0" algn="ctr">
                        <a:lnSpc>
                          <a:spcPct val="100000"/>
                        </a:lnSpc>
                        <a:spcBef>
                          <a:spcPts val="300"/>
                        </a:spcBef>
                        <a:spcAft>
                          <a:spcPts val="300"/>
                        </a:spcAft>
                        <a:buNone/>
                      </a:pPr>
                      <a:r>
                        <a:rPr lang="en-US" sz="2000">
                          <a:latin typeface="+mn-lt"/>
                          <a:ea typeface="+mn-ea"/>
                          <a:cs typeface="+mn-ea"/>
                          <a:sym typeface="+mn-lt"/>
                        </a:rPr>
                        <a:t>第12章</a:t>
                      </a:r>
                      <a:endParaRPr lang="en-US" altLang="en-US" sz="2000" b="0">
                        <a:solidFill>
                          <a:srgbClr val="000000"/>
                        </a:solidFill>
                        <a:latin typeface="+mn-lt"/>
                        <a:ea typeface="+mn-ea"/>
                        <a:cs typeface="+mn-ea"/>
                        <a:sym typeface="+mn-lt"/>
                      </a:endParaRPr>
                    </a:p>
                  </a:txBody>
                  <a:tcPr marL="98738" marR="98738" marT="0" marB="0" anchor="ctr"/>
                </a:tc>
                <a:tc>
                  <a:txBody>
                    <a:bodyPr/>
                    <a:lstStyle/>
                    <a:p>
                      <a:pPr marL="71755" indent="0" algn="l">
                        <a:lnSpc>
                          <a:spcPct val="100000"/>
                        </a:lnSpc>
                        <a:spcBef>
                          <a:spcPts val="300"/>
                        </a:spcBef>
                        <a:spcAft>
                          <a:spcPts val="300"/>
                        </a:spcAft>
                        <a:buNone/>
                      </a:pPr>
                      <a:r>
                        <a:rPr lang="en-US" sz="2000" dirty="0" err="1">
                          <a:latin typeface="+mn-lt"/>
                          <a:ea typeface="+mn-ea"/>
                          <a:cs typeface="+mn-ea"/>
                          <a:sym typeface="+mn-lt"/>
                        </a:rPr>
                        <a:t>保护和安全</a:t>
                      </a:r>
                      <a:endParaRPr lang="en-US" altLang="en-US" sz="2000" b="0" dirty="0">
                        <a:solidFill>
                          <a:srgbClr val="000000"/>
                        </a:solidFill>
                        <a:latin typeface="+mn-lt"/>
                        <a:ea typeface="+mn-ea"/>
                        <a:cs typeface="+mn-ea"/>
                        <a:sym typeface="+mn-lt"/>
                      </a:endParaRPr>
                    </a:p>
                  </a:txBody>
                  <a:tcPr marL="98738" marR="98738" marT="0" marB="0" anchor="ctr"/>
                </a:tc>
              </a:tr>
            </a:tbl>
          </a:graphicData>
        </a:graphic>
      </p:graphicFrame>
      <p:sp>
        <p:nvSpPr>
          <p:cNvPr id="14" name="前凸带形 3"/>
          <p:cNvSpPr/>
          <p:nvPr/>
        </p:nvSpPr>
        <p:spPr>
          <a:xfrm>
            <a:off x="10056495" y="6290310"/>
            <a:ext cx="1924685" cy="392430"/>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cs typeface="+mn-ea"/>
                <a:sym typeface="+mn-lt"/>
              </a:rPr>
              <a:t>本章学习结束</a:t>
            </a:r>
            <a:endParaRPr lang="zh-CN" altLang="en-US" sz="1400" b="1" dirty="0">
              <a:solidFill>
                <a:schemeClr val="bg1"/>
              </a:solidFill>
              <a:cs typeface="+mn-ea"/>
              <a:sym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第一次作业</a:t>
            </a:r>
            <a:endParaRPr lang="zh-CN" altLang="en-US" sz="2800" b="1" dirty="0">
              <a:solidFill>
                <a:schemeClr val="bg1"/>
              </a:solidFill>
              <a:cs typeface="+mn-ea"/>
              <a:sym typeface="+mn-lt"/>
            </a:endParaRPr>
          </a:p>
        </p:txBody>
      </p:sp>
      <p:sp>
        <p:nvSpPr>
          <p:cNvPr id="7" name="流程图: 预定义过程 6"/>
          <p:cNvSpPr/>
          <p:nvPr/>
        </p:nvSpPr>
        <p:spPr>
          <a:xfrm>
            <a:off x="1846580"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a:t>
            </a:r>
            <a:endParaRPr lang="en-US" altLang="zh-CN" sz="2800">
              <a:solidFill>
                <a:schemeClr val="tx1"/>
              </a:solidFill>
              <a:cs typeface="+mn-ea"/>
              <a:sym typeface="+mn-lt"/>
            </a:endParaRPr>
          </a:p>
        </p:txBody>
      </p:sp>
      <p:sp>
        <p:nvSpPr>
          <p:cNvPr id="8" name="立方体 7"/>
          <p:cNvSpPr/>
          <p:nvPr/>
        </p:nvSpPr>
        <p:spPr>
          <a:xfrm>
            <a:off x="1831143" y="5161168"/>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18</a:t>
            </a:r>
            <a:endParaRPr lang="en-US" altLang="zh-CN" sz="2800" dirty="0">
              <a:solidFill>
                <a:schemeClr val="tx1"/>
              </a:solidFill>
              <a:cs typeface="+mn-ea"/>
              <a:sym typeface="+mn-lt"/>
            </a:endParaRPr>
          </a:p>
        </p:txBody>
      </p:sp>
      <p:sp>
        <p:nvSpPr>
          <p:cNvPr id="9" name="圆柱形 8"/>
          <p:cNvSpPr/>
          <p:nvPr/>
        </p:nvSpPr>
        <p:spPr>
          <a:xfrm>
            <a:off x="1890395" y="3590672"/>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13</a:t>
            </a:r>
            <a:endParaRPr lang="en-US" altLang="zh-CN" sz="2800" dirty="0">
              <a:solidFill>
                <a:srgbClr val="7030A0"/>
              </a:solidFill>
              <a:cs typeface="+mn-ea"/>
              <a:sym typeface="+mn-lt"/>
            </a:endParaRPr>
          </a:p>
        </p:txBody>
      </p:sp>
      <p:sp>
        <p:nvSpPr>
          <p:cNvPr id="10" name="矩形 9"/>
          <p:cNvSpPr/>
          <p:nvPr/>
        </p:nvSpPr>
        <p:spPr>
          <a:xfrm>
            <a:off x="1414780" y="1233204"/>
            <a:ext cx="9288780" cy="1900613"/>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629947" y="1675678"/>
            <a:ext cx="553998" cy="1015663"/>
          </a:xfrm>
          <a:prstGeom prst="rect">
            <a:avLst/>
          </a:prstGeom>
          <a:noFill/>
        </p:spPr>
        <p:txBody>
          <a:bodyPr vert="eaVert" wrap="none" rtlCol="0">
            <a:spAutoFit/>
          </a:bodyPr>
          <a:lstStyle/>
          <a:p>
            <a:r>
              <a:rPr lang="zh-CN" altLang="en-US" sz="2400" dirty="0">
                <a:solidFill>
                  <a:schemeClr val="tx1"/>
                </a:solidFill>
                <a:cs typeface="+mn-ea"/>
                <a:sym typeface="+mn-lt"/>
              </a:rPr>
              <a:t>简答题</a:t>
            </a:r>
            <a:endParaRPr lang="zh-CN" altLang="en-US" sz="2400" dirty="0">
              <a:solidFill>
                <a:schemeClr val="tx1"/>
              </a:solidFill>
              <a:cs typeface="+mn-ea"/>
              <a:sym typeface="+mn-lt"/>
            </a:endParaRPr>
          </a:p>
        </p:txBody>
      </p:sp>
      <p:sp>
        <p:nvSpPr>
          <p:cNvPr id="12" name="矩形 11"/>
          <p:cNvSpPr/>
          <p:nvPr/>
        </p:nvSpPr>
        <p:spPr>
          <a:xfrm>
            <a:off x="1414780" y="3473197"/>
            <a:ext cx="9288780" cy="94680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030A0"/>
              </a:solidFill>
              <a:cs typeface="+mn-ea"/>
              <a:sym typeface="+mn-lt"/>
            </a:endParaRPr>
          </a:p>
        </p:txBody>
      </p:sp>
      <p:sp>
        <p:nvSpPr>
          <p:cNvPr id="13" name="文本框 12"/>
          <p:cNvSpPr txBox="1"/>
          <p:nvPr/>
        </p:nvSpPr>
        <p:spPr>
          <a:xfrm>
            <a:off x="629947" y="3413084"/>
            <a:ext cx="553998" cy="1006913"/>
          </a:xfrm>
          <a:prstGeom prst="rect">
            <a:avLst/>
          </a:prstGeom>
          <a:noFill/>
          <a:ln>
            <a:noFill/>
          </a:ln>
        </p:spPr>
        <p:txBody>
          <a:bodyPr vert="eaVert" wrap="square" rtlCol="0">
            <a:spAutoFit/>
          </a:bodyPr>
          <a:lstStyle/>
          <a:p>
            <a:r>
              <a:rPr lang="zh-CN" altLang="en-US" sz="2400" dirty="0">
                <a:solidFill>
                  <a:srgbClr val="7030A0"/>
                </a:solidFill>
                <a:cs typeface="+mn-ea"/>
                <a:sym typeface="+mn-lt"/>
              </a:rPr>
              <a:t>计算题</a:t>
            </a:r>
            <a:endParaRPr lang="zh-CN" altLang="en-US" sz="2400" dirty="0">
              <a:solidFill>
                <a:srgbClr val="7030A0"/>
              </a:solidFill>
              <a:cs typeface="+mn-ea"/>
              <a:sym typeface="+mn-lt"/>
            </a:endParaRPr>
          </a:p>
        </p:txBody>
      </p:sp>
      <p:sp>
        <p:nvSpPr>
          <p:cNvPr id="14" name="矩形 13"/>
          <p:cNvSpPr/>
          <p:nvPr/>
        </p:nvSpPr>
        <p:spPr>
          <a:xfrm>
            <a:off x="1417123" y="5076078"/>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629947" y="4759377"/>
            <a:ext cx="553998" cy="1631216"/>
          </a:xfrm>
          <a:prstGeom prst="rect">
            <a:avLst/>
          </a:prstGeom>
          <a:noFill/>
        </p:spPr>
        <p:txBody>
          <a:bodyPr vert="eaVert" wrap="none" rtlCol="0">
            <a:spAutoFit/>
          </a:bodyPr>
          <a:lstStyle/>
          <a:p>
            <a:r>
              <a:rPr lang="zh-CN" altLang="en-US" sz="2400" dirty="0">
                <a:solidFill>
                  <a:srgbClr val="0000FF"/>
                </a:solidFill>
                <a:cs typeface="+mn-ea"/>
                <a:sym typeface="+mn-lt"/>
              </a:rPr>
              <a:t>综合应用题</a:t>
            </a:r>
            <a:endParaRPr lang="zh-CN" altLang="en-US" sz="2400" dirty="0">
              <a:solidFill>
                <a:srgbClr val="0000FF"/>
              </a:solidFill>
              <a:cs typeface="+mn-ea"/>
              <a:sym typeface="+mn-lt"/>
            </a:endParaRPr>
          </a:p>
        </p:txBody>
      </p:sp>
      <p:sp>
        <p:nvSpPr>
          <p:cNvPr id="16" name="圆柱形 15"/>
          <p:cNvSpPr/>
          <p:nvPr/>
        </p:nvSpPr>
        <p:spPr>
          <a:xfrm>
            <a:off x="2992120" y="3590672"/>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14</a:t>
            </a:r>
            <a:endParaRPr lang="en-US" altLang="zh-CN" sz="2800" dirty="0">
              <a:solidFill>
                <a:srgbClr val="7030A0"/>
              </a:solidFill>
              <a:cs typeface="+mn-ea"/>
              <a:sym typeface="+mn-lt"/>
            </a:endParaRPr>
          </a:p>
        </p:txBody>
      </p:sp>
      <p:sp>
        <p:nvSpPr>
          <p:cNvPr id="18" name="立方体 17"/>
          <p:cNvSpPr/>
          <p:nvPr/>
        </p:nvSpPr>
        <p:spPr>
          <a:xfrm>
            <a:off x="2932868" y="5161168"/>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19</a:t>
            </a:r>
            <a:endParaRPr lang="en-US" altLang="zh-CN" sz="2800" dirty="0">
              <a:solidFill>
                <a:schemeClr val="tx1"/>
              </a:solidFill>
              <a:cs typeface="+mn-ea"/>
              <a:sym typeface="+mn-lt"/>
            </a:endParaRPr>
          </a:p>
        </p:txBody>
      </p:sp>
      <p:sp>
        <p:nvSpPr>
          <p:cNvPr id="19" name="流程图: 预定义过程 18"/>
          <p:cNvSpPr/>
          <p:nvPr/>
        </p:nvSpPr>
        <p:spPr>
          <a:xfrm>
            <a:off x="2948305"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a:t>
            </a:r>
            <a:endParaRPr lang="en-US" altLang="zh-CN" sz="2800">
              <a:solidFill>
                <a:schemeClr val="tx1"/>
              </a:solidFill>
              <a:cs typeface="+mn-ea"/>
              <a:sym typeface="+mn-lt"/>
            </a:endParaRPr>
          </a:p>
        </p:txBody>
      </p:sp>
      <p:sp>
        <p:nvSpPr>
          <p:cNvPr id="21" name="流程图: 预定义过程 20"/>
          <p:cNvSpPr/>
          <p:nvPr/>
        </p:nvSpPr>
        <p:spPr>
          <a:xfrm>
            <a:off x="40500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3</a:t>
            </a:r>
            <a:endParaRPr lang="en-US" altLang="zh-CN" sz="2800">
              <a:solidFill>
                <a:schemeClr val="tx1"/>
              </a:solidFill>
              <a:cs typeface="+mn-ea"/>
              <a:sym typeface="+mn-lt"/>
            </a:endParaRPr>
          </a:p>
        </p:txBody>
      </p:sp>
      <p:sp>
        <p:nvSpPr>
          <p:cNvPr id="22" name="流程图: 预定义过程 21"/>
          <p:cNvSpPr/>
          <p:nvPr/>
        </p:nvSpPr>
        <p:spPr>
          <a:xfrm>
            <a:off x="51517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4</a:t>
            </a:r>
            <a:endParaRPr lang="en-US" altLang="zh-CN" sz="2800">
              <a:solidFill>
                <a:schemeClr val="tx1"/>
              </a:solidFill>
              <a:cs typeface="+mn-ea"/>
              <a:sym typeface="+mn-lt"/>
            </a:endParaRPr>
          </a:p>
        </p:txBody>
      </p:sp>
      <p:sp>
        <p:nvSpPr>
          <p:cNvPr id="23" name="流程图: 预定义过程 22"/>
          <p:cNvSpPr/>
          <p:nvPr/>
        </p:nvSpPr>
        <p:spPr>
          <a:xfrm>
            <a:off x="625348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5</a:t>
            </a:r>
            <a:endParaRPr lang="en-US" altLang="zh-CN" sz="2800">
              <a:solidFill>
                <a:schemeClr val="tx1"/>
              </a:solidFill>
              <a:cs typeface="+mn-ea"/>
              <a:sym typeface="+mn-lt"/>
            </a:endParaRPr>
          </a:p>
        </p:txBody>
      </p:sp>
      <p:sp>
        <p:nvSpPr>
          <p:cNvPr id="24" name="流程图: 预定义过程 23"/>
          <p:cNvSpPr/>
          <p:nvPr/>
        </p:nvSpPr>
        <p:spPr>
          <a:xfrm>
            <a:off x="735520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6</a:t>
            </a:r>
            <a:endParaRPr lang="en-US" altLang="zh-CN" sz="2800">
              <a:solidFill>
                <a:schemeClr val="tx1"/>
              </a:solidFill>
              <a:cs typeface="+mn-ea"/>
              <a:sym typeface="+mn-lt"/>
            </a:endParaRPr>
          </a:p>
        </p:txBody>
      </p:sp>
      <p:sp>
        <p:nvSpPr>
          <p:cNvPr id="25" name="流程图: 预定义过程 24"/>
          <p:cNvSpPr/>
          <p:nvPr/>
        </p:nvSpPr>
        <p:spPr>
          <a:xfrm>
            <a:off x="84569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7</a:t>
            </a:r>
            <a:endParaRPr lang="en-US" altLang="zh-CN" sz="2800">
              <a:solidFill>
                <a:schemeClr val="tx1"/>
              </a:solidFill>
              <a:cs typeface="+mn-ea"/>
              <a:sym typeface="+mn-lt"/>
            </a:endParaRPr>
          </a:p>
        </p:txBody>
      </p:sp>
      <p:sp>
        <p:nvSpPr>
          <p:cNvPr id="26" name="流程图: 预定义过程 25"/>
          <p:cNvSpPr/>
          <p:nvPr/>
        </p:nvSpPr>
        <p:spPr>
          <a:xfrm>
            <a:off x="95586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8</a:t>
            </a:r>
            <a:endParaRPr lang="en-US" altLang="zh-CN" sz="2800">
              <a:solidFill>
                <a:schemeClr val="tx1"/>
              </a:solidFill>
              <a:cs typeface="+mn-ea"/>
              <a:sym typeface="+mn-lt"/>
            </a:endParaRPr>
          </a:p>
        </p:txBody>
      </p:sp>
      <p:sp>
        <p:nvSpPr>
          <p:cNvPr id="27" name="流程图: 预定义过程 26"/>
          <p:cNvSpPr/>
          <p:nvPr/>
        </p:nvSpPr>
        <p:spPr>
          <a:xfrm>
            <a:off x="184658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9</a:t>
            </a:r>
            <a:endParaRPr lang="en-US" altLang="zh-CN" sz="2800">
              <a:solidFill>
                <a:schemeClr val="tx1"/>
              </a:solidFill>
              <a:cs typeface="+mn-ea"/>
              <a:sym typeface="+mn-lt"/>
            </a:endParaRPr>
          </a:p>
        </p:txBody>
      </p:sp>
      <p:sp>
        <p:nvSpPr>
          <p:cNvPr id="28" name="流程图: 预定义过程 27"/>
          <p:cNvSpPr/>
          <p:nvPr/>
        </p:nvSpPr>
        <p:spPr>
          <a:xfrm>
            <a:off x="294830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10</a:t>
            </a:r>
            <a:endParaRPr lang="en-US" altLang="zh-CN" sz="2800">
              <a:solidFill>
                <a:schemeClr val="tx1"/>
              </a:solidFill>
              <a:cs typeface="+mn-ea"/>
              <a:sym typeface="+mn-lt"/>
            </a:endParaRPr>
          </a:p>
        </p:txBody>
      </p:sp>
      <p:sp>
        <p:nvSpPr>
          <p:cNvPr id="29" name="流程图: 预定义过程 28"/>
          <p:cNvSpPr/>
          <p:nvPr/>
        </p:nvSpPr>
        <p:spPr>
          <a:xfrm>
            <a:off x="405003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11</a:t>
            </a:r>
            <a:endParaRPr lang="en-US" altLang="zh-CN" sz="2800">
              <a:solidFill>
                <a:schemeClr val="tx1"/>
              </a:solidFill>
              <a:cs typeface="+mn-ea"/>
              <a:sym typeface="+mn-lt"/>
            </a:endParaRPr>
          </a:p>
        </p:txBody>
      </p:sp>
      <p:sp>
        <p:nvSpPr>
          <p:cNvPr id="30" name="流程图: 预定义过程 29"/>
          <p:cNvSpPr/>
          <p:nvPr/>
        </p:nvSpPr>
        <p:spPr>
          <a:xfrm>
            <a:off x="515175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12</a:t>
            </a:r>
            <a:endParaRPr lang="en-US" altLang="zh-CN" sz="2800">
              <a:solidFill>
                <a:schemeClr val="tx1"/>
              </a:solidFill>
              <a:cs typeface="+mn-ea"/>
              <a:sym typeface="+mn-lt"/>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cs typeface="+mn-ea"/>
                <a:sym typeface="+mn-lt"/>
              </a:rPr>
              <a:t>标黄色为本次作业</a:t>
            </a:r>
            <a:endParaRPr lang="zh-CN" altLang="en-US" sz="2400" b="1" dirty="0">
              <a:cs typeface="+mn-ea"/>
              <a:sym typeface="+mn-lt"/>
            </a:endParaRPr>
          </a:p>
        </p:txBody>
      </p:sp>
      <p:sp>
        <p:nvSpPr>
          <p:cNvPr id="73" name="圆柱形 8"/>
          <p:cNvSpPr/>
          <p:nvPr/>
        </p:nvSpPr>
        <p:spPr>
          <a:xfrm>
            <a:off x="4093527" y="3593056"/>
            <a:ext cx="653415" cy="712470"/>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15</a:t>
            </a:r>
            <a:endParaRPr lang="en-US" altLang="zh-CN" sz="2800" dirty="0">
              <a:solidFill>
                <a:srgbClr val="7030A0"/>
              </a:solidFill>
              <a:cs typeface="+mn-ea"/>
              <a:sym typeface="+mn-lt"/>
            </a:endParaRPr>
          </a:p>
        </p:txBody>
      </p:sp>
      <p:sp>
        <p:nvSpPr>
          <p:cNvPr id="74" name="圆柱形 15"/>
          <p:cNvSpPr/>
          <p:nvPr/>
        </p:nvSpPr>
        <p:spPr>
          <a:xfrm>
            <a:off x="5195252" y="3593056"/>
            <a:ext cx="653415" cy="712470"/>
          </a:xfrm>
          <a:prstGeom prst="can">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16</a:t>
            </a:r>
            <a:endParaRPr lang="en-US" altLang="zh-CN" sz="2800" dirty="0">
              <a:solidFill>
                <a:srgbClr val="7030A0"/>
              </a:solidFill>
              <a:cs typeface="+mn-ea"/>
              <a:sym typeface="+mn-lt"/>
            </a:endParaRPr>
          </a:p>
        </p:txBody>
      </p:sp>
      <p:sp>
        <p:nvSpPr>
          <p:cNvPr id="75" name="圆柱形 15"/>
          <p:cNvSpPr/>
          <p:nvPr/>
        </p:nvSpPr>
        <p:spPr>
          <a:xfrm>
            <a:off x="6296659" y="3605400"/>
            <a:ext cx="653415" cy="712470"/>
          </a:xfrm>
          <a:prstGeom prst="can">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17</a:t>
            </a:r>
            <a:endParaRPr lang="en-US" altLang="zh-CN" sz="2800" dirty="0">
              <a:solidFill>
                <a:srgbClr val="7030A0"/>
              </a:solidFill>
              <a:cs typeface="+mn-ea"/>
              <a:sym typeface="+mn-lt"/>
            </a:endParaRPr>
          </a:p>
        </p:txBody>
      </p:sp>
      <p:sp>
        <p:nvSpPr>
          <p:cNvPr id="76" name="立方体 75"/>
          <p:cNvSpPr/>
          <p:nvPr/>
        </p:nvSpPr>
        <p:spPr>
          <a:xfrm>
            <a:off x="3972680" y="5161168"/>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20</a:t>
            </a:r>
            <a:endParaRPr lang="en-US" altLang="zh-CN" sz="2800" dirty="0">
              <a:solidFill>
                <a:schemeClr val="tx1"/>
              </a:solidFill>
              <a:cs typeface="+mn-ea"/>
              <a:sym typeface="+mn-lt"/>
            </a:endParaRPr>
          </a:p>
        </p:txBody>
      </p:sp>
      <p:sp>
        <p:nvSpPr>
          <p:cNvPr id="77" name="立方体 76"/>
          <p:cNvSpPr/>
          <p:nvPr/>
        </p:nvSpPr>
        <p:spPr>
          <a:xfrm>
            <a:off x="5074405" y="5161168"/>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21</a:t>
            </a:r>
            <a:endParaRPr lang="en-US" altLang="zh-CN" sz="2800" dirty="0">
              <a:solidFill>
                <a:schemeClr val="tx1"/>
              </a:solidFill>
              <a:cs typeface="+mn-ea"/>
              <a:sym typeface="+mn-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第二次作业</a:t>
            </a:r>
            <a:endParaRPr lang="zh-CN" altLang="en-US" sz="2800" b="1" dirty="0">
              <a:solidFill>
                <a:schemeClr val="bg1"/>
              </a:solidFill>
              <a:cs typeface="+mn-ea"/>
              <a:sym typeface="+mn-lt"/>
            </a:endParaRPr>
          </a:p>
        </p:txBody>
      </p:sp>
      <p:sp>
        <p:nvSpPr>
          <p:cNvPr id="7" name="流程图: 预定义过程 6"/>
          <p:cNvSpPr/>
          <p:nvPr/>
        </p:nvSpPr>
        <p:spPr>
          <a:xfrm>
            <a:off x="1846580" y="1476409"/>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a:t>
            </a:r>
            <a:endParaRPr lang="en-US" altLang="zh-CN" sz="2800">
              <a:solidFill>
                <a:schemeClr val="tx1"/>
              </a:solidFill>
              <a:cs typeface="+mn-ea"/>
              <a:sym typeface="+mn-lt"/>
            </a:endParaRPr>
          </a:p>
        </p:txBody>
      </p:sp>
      <p:sp>
        <p:nvSpPr>
          <p:cNvPr id="8" name="立方体 7"/>
          <p:cNvSpPr/>
          <p:nvPr/>
        </p:nvSpPr>
        <p:spPr>
          <a:xfrm>
            <a:off x="1831143" y="5161168"/>
            <a:ext cx="776605" cy="776605"/>
          </a:xfrm>
          <a:prstGeom prst="cub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18</a:t>
            </a:r>
            <a:endParaRPr lang="en-US" altLang="zh-CN" sz="2800" dirty="0">
              <a:solidFill>
                <a:schemeClr val="tx1"/>
              </a:solidFill>
              <a:cs typeface="+mn-ea"/>
              <a:sym typeface="+mn-lt"/>
            </a:endParaRPr>
          </a:p>
        </p:txBody>
      </p:sp>
      <p:sp>
        <p:nvSpPr>
          <p:cNvPr id="9" name="圆柱形 8"/>
          <p:cNvSpPr/>
          <p:nvPr/>
        </p:nvSpPr>
        <p:spPr>
          <a:xfrm>
            <a:off x="1890395" y="3590672"/>
            <a:ext cx="653415" cy="712470"/>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13</a:t>
            </a:r>
            <a:endParaRPr lang="en-US" altLang="zh-CN" sz="2800" dirty="0">
              <a:solidFill>
                <a:srgbClr val="7030A0"/>
              </a:solidFill>
              <a:cs typeface="+mn-ea"/>
              <a:sym typeface="+mn-lt"/>
            </a:endParaRPr>
          </a:p>
        </p:txBody>
      </p:sp>
      <p:sp>
        <p:nvSpPr>
          <p:cNvPr id="10" name="矩形 9"/>
          <p:cNvSpPr/>
          <p:nvPr/>
        </p:nvSpPr>
        <p:spPr>
          <a:xfrm>
            <a:off x="1414780" y="1233204"/>
            <a:ext cx="9288780" cy="1900613"/>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629947" y="1675678"/>
            <a:ext cx="553998" cy="1015663"/>
          </a:xfrm>
          <a:prstGeom prst="rect">
            <a:avLst/>
          </a:prstGeom>
          <a:noFill/>
        </p:spPr>
        <p:txBody>
          <a:bodyPr vert="eaVert" wrap="none" rtlCol="0">
            <a:spAutoFit/>
          </a:bodyPr>
          <a:lstStyle/>
          <a:p>
            <a:r>
              <a:rPr lang="zh-CN" altLang="en-US" sz="2400" dirty="0">
                <a:solidFill>
                  <a:schemeClr val="tx1"/>
                </a:solidFill>
                <a:cs typeface="+mn-ea"/>
                <a:sym typeface="+mn-lt"/>
              </a:rPr>
              <a:t>简答题</a:t>
            </a:r>
            <a:endParaRPr lang="zh-CN" altLang="en-US" sz="2400" dirty="0">
              <a:solidFill>
                <a:schemeClr val="tx1"/>
              </a:solidFill>
              <a:cs typeface="+mn-ea"/>
              <a:sym typeface="+mn-lt"/>
            </a:endParaRPr>
          </a:p>
        </p:txBody>
      </p:sp>
      <p:sp>
        <p:nvSpPr>
          <p:cNvPr id="12" name="矩形 11"/>
          <p:cNvSpPr/>
          <p:nvPr/>
        </p:nvSpPr>
        <p:spPr>
          <a:xfrm>
            <a:off x="1414780" y="3473197"/>
            <a:ext cx="9288780" cy="946800"/>
          </a:xfrm>
          <a:prstGeom prst="rect">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030A0"/>
              </a:solidFill>
              <a:cs typeface="+mn-ea"/>
              <a:sym typeface="+mn-lt"/>
            </a:endParaRPr>
          </a:p>
        </p:txBody>
      </p:sp>
      <p:sp>
        <p:nvSpPr>
          <p:cNvPr id="13" name="文本框 12"/>
          <p:cNvSpPr txBox="1"/>
          <p:nvPr/>
        </p:nvSpPr>
        <p:spPr>
          <a:xfrm>
            <a:off x="629947" y="3413084"/>
            <a:ext cx="553998" cy="1006913"/>
          </a:xfrm>
          <a:prstGeom prst="rect">
            <a:avLst/>
          </a:prstGeom>
          <a:noFill/>
          <a:ln>
            <a:noFill/>
          </a:ln>
        </p:spPr>
        <p:txBody>
          <a:bodyPr vert="eaVert" wrap="square" rtlCol="0">
            <a:spAutoFit/>
          </a:bodyPr>
          <a:lstStyle/>
          <a:p>
            <a:r>
              <a:rPr lang="zh-CN" altLang="en-US" sz="2400" dirty="0">
                <a:solidFill>
                  <a:srgbClr val="7030A0"/>
                </a:solidFill>
                <a:cs typeface="+mn-ea"/>
                <a:sym typeface="+mn-lt"/>
              </a:rPr>
              <a:t>计算题</a:t>
            </a:r>
            <a:endParaRPr lang="zh-CN" altLang="en-US" sz="2400" dirty="0">
              <a:solidFill>
                <a:srgbClr val="7030A0"/>
              </a:solidFill>
              <a:cs typeface="+mn-ea"/>
              <a:sym typeface="+mn-lt"/>
            </a:endParaRPr>
          </a:p>
        </p:txBody>
      </p:sp>
      <p:sp>
        <p:nvSpPr>
          <p:cNvPr id="14" name="矩形 13"/>
          <p:cNvSpPr/>
          <p:nvPr/>
        </p:nvSpPr>
        <p:spPr>
          <a:xfrm>
            <a:off x="1417123" y="5076078"/>
            <a:ext cx="9288780" cy="946150"/>
          </a:xfrm>
          <a:prstGeom prst="rect">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629947" y="4759377"/>
            <a:ext cx="553998" cy="1631216"/>
          </a:xfrm>
          <a:prstGeom prst="rect">
            <a:avLst/>
          </a:prstGeom>
          <a:noFill/>
        </p:spPr>
        <p:txBody>
          <a:bodyPr vert="eaVert" wrap="none" rtlCol="0">
            <a:spAutoFit/>
          </a:bodyPr>
          <a:lstStyle/>
          <a:p>
            <a:r>
              <a:rPr lang="zh-CN" altLang="en-US" sz="2400" dirty="0">
                <a:solidFill>
                  <a:srgbClr val="0000FF"/>
                </a:solidFill>
                <a:cs typeface="+mn-ea"/>
                <a:sym typeface="+mn-lt"/>
              </a:rPr>
              <a:t>综合应用题</a:t>
            </a:r>
            <a:endParaRPr lang="zh-CN" altLang="en-US" sz="2400" dirty="0">
              <a:solidFill>
                <a:srgbClr val="0000FF"/>
              </a:solidFill>
              <a:cs typeface="+mn-ea"/>
              <a:sym typeface="+mn-lt"/>
            </a:endParaRPr>
          </a:p>
        </p:txBody>
      </p:sp>
      <p:sp>
        <p:nvSpPr>
          <p:cNvPr id="16" name="圆柱形 15"/>
          <p:cNvSpPr/>
          <p:nvPr/>
        </p:nvSpPr>
        <p:spPr>
          <a:xfrm>
            <a:off x="2992120" y="3590672"/>
            <a:ext cx="653415" cy="712470"/>
          </a:xfrm>
          <a:prstGeom prst="can">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14</a:t>
            </a:r>
            <a:endParaRPr lang="en-US" altLang="zh-CN" sz="2800" dirty="0">
              <a:solidFill>
                <a:srgbClr val="7030A0"/>
              </a:solidFill>
              <a:cs typeface="+mn-ea"/>
              <a:sym typeface="+mn-lt"/>
            </a:endParaRPr>
          </a:p>
        </p:txBody>
      </p:sp>
      <p:sp>
        <p:nvSpPr>
          <p:cNvPr id="18" name="立方体 17"/>
          <p:cNvSpPr/>
          <p:nvPr/>
        </p:nvSpPr>
        <p:spPr>
          <a:xfrm>
            <a:off x="2932868" y="5161168"/>
            <a:ext cx="776605" cy="776605"/>
          </a:xfrm>
          <a:prstGeom prst="cube">
            <a:avLst/>
          </a:prstGeom>
          <a:noFill/>
          <a:ln>
            <a:solidFill>
              <a:srgbClr val="0000FF"/>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19</a:t>
            </a:r>
            <a:endParaRPr lang="en-US" altLang="zh-CN" sz="2800" dirty="0">
              <a:solidFill>
                <a:schemeClr val="tx1"/>
              </a:solidFill>
              <a:cs typeface="+mn-ea"/>
              <a:sym typeface="+mn-lt"/>
            </a:endParaRPr>
          </a:p>
        </p:txBody>
      </p:sp>
      <p:sp>
        <p:nvSpPr>
          <p:cNvPr id="19" name="流程图: 预定义过程 18"/>
          <p:cNvSpPr/>
          <p:nvPr/>
        </p:nvSpPr>
        <p:spPr>
          <a:xfrm>
            <a:off x="2948305" y="1476409"/>
            <a:ext cx="741045" cy="512445"/>
          </a:xfrm>
          <a:prstGeom prst="flowChartPredefined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2</a:t>
            </a:r>
            <a:endParaRPr lang="en-US" altLang="zh-CN" sz="2800">
              <a:solidFill>
                <a:schemeClr val="tx1"/>
              </a:solidFill>
              <a:cs typeface="+mn-ea"/>
              <a:sym typeface="+mn-lt"/>
            </a:endParaRPr>
          </a:p>
        </p:txBody>
      </p:sp>
      <p:sp>
        <p:nvSpPr>
          <p:cNvPr id="21" name="流程图: 预定义过程 20"/>
          <p:cNvSpPr/>
          <p:nvPr/>
        </p:nvSpPr>
        <p:spPr>
          <a:xfrm>
            <a:off x="4050030"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3</a:t>
            </a:r>
            <a:endParaRPr lang="en-US" altLang="zh-CN" sz="2800">
              <a:solidFill>
                <a:schemeClr val="tx1"/>
              </a:solidFill>
              <a:cs typeface="+mn-ea"/>
              <a:sym typeface="+mn-lt"/>
            </a:endParaRPr>
          </a:p>
        </p:txBody>
      </p:sp>
      <p:sp>
        <p:nvSpPr>
          <p:cNvPr id="22" name="流程图: 预定义过程 21"/>
          <p:cNvSpPr/>
          <p:nvPr/>
        </p:nvSpPr>
        <p:spPr>
          <a:xfrm>
            <a:off x="5151755" y="1476409"/>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4</a:t>
            </a:r>
            <a:endParaRPr lang="en-US" altLang="zh-CN" sz="2800">
              <a:solidFill>
                <a:schemeClr val="tx1"/>
              </a:solidFill>
              <a:cs typeface="+mn-ea"/>
              <a:sym typeface="+mn-lt"/>
            </a:endParaRPr>
          </a:p>
        </p:txBody>
      </p:sp>
      <p:sp>
        <p:nvSpPr>
          <p:cNvPr id="23" name="流程图: 预定义过程 22"/>
          <p:cNvSpPr/>
          <p:nvPr/>
        </p:nvSpPr>
        <p:spPr>
          <a:xfrm>
            <a:off x="625348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5</a:t>
            </a:r>
            <a:endParaRPr lang="en-US" altLang="zh-CN" sz="2800">
              <a:solidFill>
                <a:schemeClr val="tx1"/>
              </a:solidFill>
              <a:cs typeface="+mn-ea"/>
              <a:sym typeface="+mn-lt"/>
            </a:endParaRPr>
          </a:p>
        </p:txBody>
      </p:sp>
      <p:sp>
        <p:nvSpPr>
          <p:cNvPr id="24" name="流程图: 预定义过程 23"/>
          <p:cNvSpPr/>
          <p:nvPr/>
        </p:nvSpPr>
        <p:spPr>
          <a:xfrm>
            <a:off x="735520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6</a:t>
            </a:r>
            <a:endParaRPr lang="en-US" altLang="zh-CN" sz="2800">
              <a:solidFill>
                <a:schemeClr val="tx1"/>
              </a:solidFill>
              <a:cs typeface="+mn-ea"/>
              <a:sym typeface="+mn-lt"/>
            </a:endParaRPr>
          </a:p>
        </p:txBody>
      </p:sp>
      <p:sp>
        <p:nvSpPr>
          <p:cNvPr id="25" name="流程图: 预定义过程 24"/>
          <p:cNvSpPr/>
          <p:nvPr/>
        </p:nvSpPr>
        <p:spPr>
          <a:xfrm>
            <a:off x="8456930"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7</a:t>
            </a:r>
            <a:endParaRPr lang="en-US" altLang="zh-CN" sz="2800">
              <a:solidFill>
                <a:schemeClr val="tx1"/>
              </a:solidFill>
              <a:cs typeface="+mn-ea"/>
              <a:sym typeface="+mn-lt"/>
            </a:endParaRPr>
          </a:p>
        </p:txBody>
      </p:sp>
      <p:sp>
        <p:nvSpPr>
          <p:cNvPr id="26" name="流程图: 预定义过程 25"/>
          <p:cNvSpPr/>
          <p:nvPr/>
        </p:nvSpPr>
        <p:spPr>
          <a:xfrm>
            <a:off x="9558655" y="1476409"/>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8</a:t>
            </a:r>
            <a:endParaRPr lang="en-US" altLang="zh-CN" sz="2800">
              <a:solidFill>
                <a:schemeClr val="tx1"/>
              </a:solidFill>
              <a:cs typeface="+mn-ea"/>
              <a:sym typeface="+mn-lt"/>
            </a:endParaRPr>
          </a:p>
        </p:txBody>
      </p:sp>
      <p:sp>
        <p:nvSpPr>
          <p:cNvPr id="27" name="流程图: 预定义过程 26"/>
          <p:cNvSpPr/>
          <p:nvPr/>
        </p:nvSpPr>
        <p:spPr>
          <a:xfrm>
            <a:off x="1846580"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9</a:t>
            </a:r>
            <a:endParaRPr lang="en-US" altLang="zh-CN" sz="2800">
              <a:solidFill>
                <a:schemeClr val="tx1"/>
              </a:solidFill>
              <a:cs typeface="+mn-ea"/>
              <a:sym typeface="+mn-lt"/>
            </a:endParaRPr>
          </a:p>
        </p:txBody>
      </p:sp>
      <p:sp>
        <p:nvSpPr>
          <p:cNvPr id="28" name="流程图: 预定义过程 27"/>
          <p:cNvSpPr/>
          <p:nvPr/>
        </p:nvSpPr>
        <p:spPr>
          <a:xfrm>
            <a:off x="2948305" y="2237774"/>
            <a:ext cx="741045" cy="512445"/>
          </a:xfrm>
          <a:prstGeom prst="flowChartPredefinedProcess">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10</a:t>
            </a:r>
            <a:endParaRPr lang="en-US" altLang="zh-CN" sz="2800">
              <a:solidFill>
                <a:schemeClr val="tx1"/>
              </a:solidFill>
              <a:cs typeface="+mn-ea"/>
              <a:sym typeface="+mn-lt"/>
            </a:endParaRPr>
          </a:p>
        </p:txBody>
      </p:sp>
      <p:sp>
        <p:nvSpPr>
          <p:cNvPr id="29" name="流程图: 预定义过程 28"/>
          <p:cNvSpPr/>
          <p:nvPr/>
        </p:nvSpPr>
        <p:spPr>
          <a:xfrm>
            <a:off x="4050030" y="2237774"/>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11</a:t>
            </a:r>
            <a:endParaRPr lang="en-US" altLang="zh-CN" sz="2800">
              <a:solidFill>
                <a:schemeClr val="tx1"/>
              </a:solidFill>
              <a:cs typeface="+mn-ea"/>
              <a:sym typeface="+mn-lt"/>
            </a:endParaRPr>
          </a:p>
        </p:txBody>
      </p:sp>
      <p:sp>
        <p:nvSpPr>
          <p:cNvPr id="30" name="流程图: 预定义过程 29"/>
          <p:cNvSpPr/>
          <p:nvPr/>
        </p:nvSpPr>
        <p:spPr>
          <a:xfrm>
            <a:off x="5151755" y="2237774"/>
            <a:ext cx="741045" cy="512445"/>
          </a:xfrm>
          <a:prstGeom prst="flowChartPredefinedProcess">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solidFill>
                <a:cs typeface="+mn-ea"/>
                <a:sym typeface="+mn-lt"/>
              </a:rPr>
              <a:t>12</a:t>
            </a:r>
            <a:endParaRPr lang="en-US" altLang="zh-CN" sz="2800">
              <a:solidFill>
                <a:schemeClr val="tx1"/>
              </a:solidFill>
              <a:cs typeface="+mn-ea"/>
              <a:sym typeface="+mn-lt"/>
            </a:endParaRPr>
          </a:p>
        </p:txBody>
      </p:sp>
      <p:sp>
        <p:nvSpPr>
          <p:cNvPr id="43" name="文本框 42"/>
          <p:cNvSpPr txBox="1"/>
          <p:nvPr/>
        </p:nvSpPr>
        <p:spPr>
          <a:xfrm>
            <a:off x="11064240" y="2720343"/>
            <a:ext cx="553998" cy="2554545"/>
          </a:xfrm>
          <a:prstGeom prst="rect">
            <a:avLst/>
          </a:prstGeom>
          <a:noFill/>
        </p:spPr>
        <p:txBody>
          <a:bodyPr vert="eaVert" wrap="none" rtlCol="0">
            <a:spAutoFit/>
          </a:bodyPr>
          <a:lstStyle/>
          <a:p>
            <a:r>
              <a:rPr lang="zh-CN" altLang="en-US" sz="2400" b="1" dirty="0">
                <a:cs typeface="+mn-ea"/>
                <a:sym typeface="+mn-lt"/>
              </a:rPr>
              <a:t>标黄色为本次作业</a:t>
            </a:r>
            <a:endParaRPr lang="zh-CN" altLang="en-US" sz="2400" b="1" dirty="0">
              <a:cs typeface="+mn-ea"/>
              <a:sym typeface="+mn-lt"/>
            </a:endParaRPr>
          </a:p>
        </p:txBody>
      </p:sp>
      <p:sp>
        <p:nvSpPr>
          <p:cNvPr id="73" name="圆柱形 8"/>
          <p:cNvSpPr/>
          <p:nvPr/>
        </p:nvSpPr>
        <p:spPr>
          <a:xfrm>
            <a:off x="4093527" y="3593056"/>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15</a:t>
            </a:r>
            <a:endParaRPr lang="en-US" altLang="zh-CN" sz="2800" dirty="0">
              <a:solidFill>
                <a:srgbClr val="7030A0"/>
              </a:solidFill>
              <a:cs typeface="+mn-ea"/>
              <a:sym typeface="+mn-lt"/>
            </a:endParaRPr>
          </a:p>
        </p:txBody>
      </p:sp>
      <p:sp>
        <p:nvSpPr>
          <p:cNvPr id="74" name="圆柱形 15"/>
          <p:cNvSpPr/>
          <p:nvPr/>
        </p:nvSpPr>
        <p:spPr>
          <a:xfrm>
            <a:off x="5195252" y="3593056"/>
            <a:ext cx="653415" cy="712470"/>
          </a:xfrm>
          <a:prstGeom prst="can">
            <a:avLst/>
          </a:prstGeom>
          <a:solidFill>
            <a:srgbClr val="FFFF0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16</a:t>
            </a:r>
            <a:endParaRPr lang="en-US" altLang="zh-CN" sz="2800" dirty="0">
              <a:solidFill>
                <a:srgbClr val="7030A0"/>
              </a:solidFill>
              <a:cs typeface="+mn-ea"/>
              <a:sym typeface="+mn-lt"/>
            </a:endParaRPr>
          </a:p>
        </p:txBody>
      </p:sp>
      <p:sp>
        <p:nvSpPr>
          <p:cNvPr id="75" name="圆柱形 15"/>
          <p:cNvSpPr/>
          <p:nvPr/>
        </p:nvSpPr>
        <p:spPr>
          <a:xfrm>
            <a:off x="6296659" y="3605400"/>
            <a:ext cx="653415" cy="712470"/>
          </a:xfrm>
          <a:prstGeom prst="can">
            <a:avLst/>
          </a:prstGeom>
          <a:noFill/>
          <a:ln>
            <a:solidFill>
              <a:srgbClr val="7030A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7030A0"/>
                </a:solidFill>
                <a:cs typeface="+mn-ea"/>
                <a:sym typeface="+mn-lt"/>
              </a:rPr>
              <a:t>17</a:t>
            </a:r>
            <a:endParaRPr lang="en-US" altLang="zh-CN" sz="2800" dirty="0">
              <a:solidFill>
                <a:srgbClr val="7030A0"/>
              </a:solidFill>
              <a:cs typeface="+mn-ea"/>
              <a:sym typeface="+mn-lt"/>
            </a:endParaRPr>
          </a:p>
        </p:txBody>
      </p:sp>
      <p:sp>
        <p:nvSpPr>
          <p:cNvPr id="76" name="立方体 75"/>
          <p:cNvSpPr/>
          <p:nvPr/>
        </p:nvSpPr>
        <p:spPr>
          <a:xfrm>
            <a:off x="3972680" y="5161168"/>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20</a:t>
            </a:r>
            <a:endParaRPr lang="en-US" altLang="zh-CN" sz="2800" dirty="0">
              <a:solidFill>
                <a:schemeClr val="tx1"/>
              </a:solidFill>
              <a:cs typeface="+mn-ea"/>
              <a:sym typeface="+mn-lt"/>
            </a:endParaRPr>
          </a:p>
        </p:txBody>
      </p:sp>
      <p:sp>
        <p:nvSpPr>
          <p:cNvPr id="77" name="立方体 76"/>
          <p:cNvSpPr/>
          <p:nvPr/>
        </p:nvSpPr>
        <p:spPr>
          <a:xfrm>
            <a:off x="5074405" y="5161168"/>
            <a:ext cx="776605" cy="776605"/>
          </a:xfrm>
          <a:prstGeom prst="cube">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cs typeface="+mn-ea"/>
                <a:sym typeface="+mn-lt"/>
              </a:rPr>
              <a:t>21</a:t>
            </a:r>
            <a:endParaRPr lang="en-US" altLang="zh-CN" sz="2800" dirty="0">
              <a:solidFill>
                <a:schemeClr val="tx1"/>
              </a:solidFill>
              <a:cs typeface="+mn-ea"/>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669925" y="1127201"/>
            <a:ext cx="10755637"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积极推进操作系统产品化</a:t>
            </a:r>
            <a:endParaRPr lang="zh-CN" altLang="en-US" sz="2400" dirty="0">
              <a:solidFill>
                <a:srgbClr val="0000FF"/>
              </a:solidFill>
              <a:cs typeface="+mn-ea"/>
              <a:sym typeface="+mn-lt"/>
            </a:endParaRP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坚决构建基于国产操作系统的产业氛围</a:t>
            </a:r>
            <a:endParaRPr lang="zh-CN" altLang="en-US" sz="2400" dirty="0">
              <a:solidFill>
                <a:srgbClr val="0000FF"/>
              </a:solidFill>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200" dirty="0">
                <a:cs typeface="+mn-ea"/>
                <a:sym typeface="+mn-lt"/>
              </a:rPr>
              <a:t>国内</a:t>
            </a:r>
            <a:r>
              <a:rPr lang="en-US" altLang="zh-CN" sz="2200" dirty="0">
                <a:cs typeface="+mn-ea"/>
                <a:sym typeface="+mn-lt"/>
              </a:rPr>
              <a:t>Linux</a:t>
            </a:r>
            <a:r>
              <a:rPr lang="zh-CN" altLang="en-US" sz="2200" dirty="0">
                <a:cs typeface="+mn-ea"/>
                <a:sym typeface="+mn-lt"/>
              </a:rPr>
              <a:t>系统的发展与国际上</a:t>
            </a:r>
            <a:r>
              <a:rPr lang="en-US" altLang="zh-CN" sz="2200" dirty="0">
                <a:cs typeface="+mn-ea"/>
                <a:sym typeface="+mn-lt"/>
              </a:rPr>
              <a:t>Linux</a:t>
            </a:r>
            <a:r>
              <a:rPr lang="zh-CN" altLang="en-US" sz="2200" dirty="0">
                <a:cs typeface="+mn-ea"/>
                <a:sym typeface="+mn-lt"/>
              </a:rPr>
              <a:t>系统的市场占有情况密切相关。</a:t>
            </a:r>
            <a:endParaRPr lang="zh-CN" altLang="en-US" sz="22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200" dirty="0">
                <a:cs typeface="+mn-ea"/>
                <a:sym typeface="+mn-lt"/>
              </a:rPr>
              <a:t>随着大数据与云计算等前沿技术的快速发展，越来越多的互联网公司开始构建自主控制与维护的云计算平台。具有开源与跨平台等属性的</a:t>
            </a:r>
            <a:r>
              <a:rPr lang="en-US" altLang="zh-CN" sz="2200" dirty="0">
                <a:cs typeface="+mn-ea"/>
                <a:sym typeface="+mn-lt"/>
              </a:rPr>
              <a:t>Linux</a:t>
            </a:r>
            <a:r>
              <a:rPr lang="zh-CN" altLang="en-US" sz="2200" dirty="0">
                <a:cs typeface="+mn-ea"/>
                <a:sym typeface="+mn-lt"/>
              </a:rPr>
              <a:t>系统，搭配采用</a:t>
            </a:r>
            <a:r>
              <a:rPr lang="en-US" altLang="zh-CN" sz="2200" dirty="0">
                <a:cs typeface="+mn-ea"/>
                <a:sym typeface="+mn-lt"/>
              </a:rPr>
              <a:t>Arm64</a:t>
            </a:r>
            <a:r>
              <a:rPr lang="zh-CN" altLang="en-US" sz="2200" dirty="0">
                <a:cs typeface="+mn-ea"/>
                <a:sym typeface="+mn-lt"/>
              </a:rPr>
              <a:t>芯片的计算平台，成为了这些互联网公司的首选技术方案。与此同时，</a:t>
            </a:r>
            <a:r>
              <a:rPr lang="en-US" altLang="zh-CN" sz="2200" dirty="0">
                <a:cs typeface="+mn-ea"/>
                <a:sym typeface="+mn-lt"/>
              </a:rPr>
              <a:t>Linux</a:t>
            </a:r>
            <a:r>
              <a:rPr lang="zh-CN" altLang="en-US" sz="2200" dirty="0">
                <a:cs typeface="+mn-ea"/>
                <a:sym typeface="+mn-lt"/>
              </a:rPr>
              <a:t>服务器端解决方案通过互联网企业迅速应用到了大数据与云计算的市场环境中。</a:t>
            </a:r>
            <a:endParaRPr lang="zh-CN" altLang="en-US" sz="22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200" dirty="0">
                <a:cs typeface="+mn-ea"/>
                <a:sym typeface="+mn-lt"/>
              </a:rPr>
              <a:t>但是，互联网企业使用</a:t>
            </a:r>
            <a:r>
              <a:rPr lang="en-US" altLang="zh-CN" sz="2200" dirty="0">
                <a:cs typeface="+mn-ea"/>
                <a:sym typeface="+mn-lt"/>
              </a:rPr>
              <a:t>Linux</a:t>
            </a:r>
            <a:r>
              <a:rPr lang="zh-CN" altLang="en-US" sz="2200" dirty="0">
                <a:cs typeface="+mn-ea"/>
                <a:sym typeface="+mn-lt"/>
              </a:rPr>
              <a:t>服务器端时，并未因采用</a:t>
            </a:r>
            <a:r>
              <a:rPr lang="en-US" altLang="zh-CN" sz="2200" dirty="0">
                <a:cs typeface="+mn-ea"/>
                <a:sym typeface="+mn-lt"/>
              </a:rPr>
              <a:t>Linux</a:t>
            </a:r>
            <a:r>
              <a:rPr lang="zh-CN" altLang="en-US" sz="2200" dirty="0">
                <a:cs typeface="+mn-ea"/>
                <a:sym typeface="+mn-lt"/>
              </a:rPr>
              <a:t>系统而形成典型的操作系统销售市场，专业的</a:t>
            </a:r>
            <a:r>
              <a:rPr lang="en-US" altLang="zh-CN" sz="2200" dirty="0">
                <a:cs typeface="+mn-ea"/>
                <a:sym typeface="+mn-lt"/>
              </a:rPr>
              <a:t>Linux</a:t>
            </a:r>
            <a:r>
              <a:rPr lang="zh-CN" altLang="en-US" sz="2200" dirty="0">
                <a:cs typeface="+mn-ea"/>
                <a:sym typeface="+mn-lt"/>
              </a:rPr>
              <a:t>系统厂商在服务器市场中还未形成较大的市场影响力。目前，国内海量的应用软件都是基于</a:t>
            </a:r>
            <a:r>
              <a:rPr lang="en-US" altLang="zh-CN" sz="2200" dirty="0">
                <a:cs typeface="+mn-ea"/>
                <a:sym typeface="+mn-lt"/>
              </a:rPr>
              <a:t>Windows</a:t>
            </a:r>
            <a:r>
              <a:rPr lang="zh-CN" altLang="en-US" sz="2200" dirty="0">
                <a:cs typeface="+mn-ea"/>
                <a:sym typeface="+mn-lt"/>
              </a:rPr>
              <a:t>系统的，因为该系统用户学习成本低、熟练程度高；而针对</a:t>
            </a:r>
            <a:r>
              <a:rPr lang="en-US" altLang="zh-CN" sz="2200" dirty="0">
                <a:cs typeface="+mn-ea"/>
                <a:sym typeface="+mn-lt"/>
              </a:rPr>
              <a:t>Linux</a:t>
            </a:r>
            <a:r>
              <a:rPr lang="zh-CN" altLang="en-US" sz="2200" dirty="0">
                <a:cs typeface="+mn-ea"/>
                <a:sym typeface="+mn-lt"/>
              </a:rPr>
              <a:t>系统，存在用户熟练程度低、对专业技术支持团队的依赖程度高、使用和维护成本高等问题。</a:t>
            </a:r>
            <a:endParaRPr lang="zh-CN" altLang="en-US" sz="2200" dirty="0">
              <a:cs typeface="+mn-ea"/>
              <a:sym typeface="+mn-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669925" y="78668"/>
            <a:ext cx="7026275" cy="523220"/>
          </a:xfrm>
          <a:prstGeom prst="rect">
            <a:avLst/>
          </a:prstGeom>
        </p:spPr>
        <p:txBody>
          <a:bodyPr wrap="square">
            <a:spAutoFit/>
          </a:bodyPr>
          <a:lstStyle/>
          <a:p>
            <a:r>
              <a:rPr lang="zh-CN" altLang="en-US" sz="2800" b="1" dirty="0">
                <a:solidFill>
                  <a:schemeClr val="bg1"/>
                </a:solidFill>
                <a:cs typeface="+mn-ea"/>
                <a:sym typeface="+mn-lt"/>
              </a:rPr>
              <a:t>课程思政小讲堂</a:t>
            </a:r>
            <a:endParaRPr lang="zh-CN" altLang="en-US" sz="2800" b="1" dirty="0">
              <a:solidFill>
                <a:schemeClr val="bg1"/>
              </a:solidFill>
              <a:cs typeface="+mn-ea"/>
              <a:sym typeface="+mn-lt"/>
            </a:endParaRPr>
          </a:p>
        </p:txBody>
      </p:sp>
      <p:sp>
        <p:nvSpPr>
          <p:cNvPr id="52" name="内容占位符 3"/>
          <p:cNvSpPr txBox="1"/>
          <p:nvPr/>
        </p:nvSpPr>
        <p:spPr>
          <a:xfrm>
            <a:off x="669925" y="1109446"/>
            <a:ext cx="10666859" cy="54295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积极推进操作系统产品化</a:t>
            </a:r>
            <a:endParaRPr lang="zh-CN" altLang="en-US" sz="2400" dirty="0">
              <a:solidFill>
                <a:srgbClr val="0000FF"/>
              </a:solidFill>
              <a:cs typeface="+mn-ea"/>
              <a:sym typeface="+mn-lt"/>
            </a:endParaRPr>
          </a:p>
          <a:p>
            <a:pPr marL="0" indent="0" algn="ctr">
              <a:lnSpc>
                <a:spcPct val="125000"/>
              </a:lnSpc>
              <a:spcBef>
                <a:spcPts val="300"/>
              </a:spcBef>
              <a:spcAft>
                <a:spcPts val="300"/>
              </a:spcAft>
              <a:buFont typeface="Arial" panose="020B0604020202020204" pitchFamily="34" charset="0"/>
              <a:buNone/>
            </a:pPr>
            <a:r>
              <a:rPr lang="zh-CN" altLang="en-US" sz="2400" dirty="0">
                <a:solidFill>
                  <a:srgbClr val="0000FF"/>
                </a:solidFill>
                <a:cs typeface="+mn-ea"/>
                <a:sym typeface="+mn-lt"/>
              </a:rPr>
              <a:t>坚决构建基于国产操作系统的产业氛围</a:t>
            </a:r>
            <a:endParaRPr lang="zh-CN" altLang="en-US" sz="2400" dirty="0">
              <a:solidFill>
                <a:srgbClr val="0000FF"/>
              </a:solidFill>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400" dirty="0">
                <a:cs typeface="+mn-ea"/>
                <a:sym typeface="+mn-lt"/>
              </a:rPr>
              <a:t>为了更好、更快地解决上述问题，亟须建立顺畅的产品服务情况与用户使用预期的沟通渠道，通过了解并满足用户针对操作系统在使用、维护等方面的多种需求，提升国产（基于</a:t>
            </a:r>
            <a:r>
              <a:rPr lang="en-US" altLang="zh-CN" sz="2400" dirty="0">
                <a:cs typeface="+mn-ea"/>
                <a:sym typeface="+mn-lt"/>
              </a:rPr>
              <a:t>Linux</a:t>
            </a:r>
            <a:r>
              <a:rPr lang="zh-CN" altLang="en-US" sz="2400" dirty="0">
                <a:cs typeface="+mn-ea"/>
                <a:sym typeface="+mn-lt"/>
              </a:rPr>
              <a:t>系统进行二次开发的）操作系统的整体性能。同时，亟须确定一个兼具稳定性和一致性的开发接口，以使开发</a:t>
            </a:r>
            <a:r>
              <a:rPr lang="en-US" altLang="zh-CN" sz="2400" dirty="0">
                <a:cs typeface="+mn-ea"/>
                <a:sym typeface="+mn-lt"/>
              </a:rPr>
              <a:t>Linux</a:t>
            </a:r>
            <a:r>
              <a:rPr lang="zh-CN" altLang="en-US" sz="2400" dirty="0">
                <a:cs typeface="+mn-ea"/>
                <a:sym typeface="+mn-lt"/>
              </a:rPr>
              <a:t>系统应用软件的代码可以跨平台落地，进而减少因操作系统不同而导致的应用软件重复开发与测试工作，最终形成基于较为成熟的国产操作系统的产业氛围。</a:t>
            </a:r>
            <a:endParaRPr lang="zh-CN" altLang="en-US" sz="2400" dirty="0">
              <a:cs typeface="+mn-ea"/>
              <a:sym typeface="+mn-lt"/>
            </a:endParaRPr>
          </a:p>
          <a:p>
            <a:pPr marL="0" indent="457200" algn="just">
              <a:lnSpc>
                <a:spcPct val="125000"/>
              </a:lnSpc>
              <a:spcBef>
                <a:spcPts val="300"/>
              </a:spcBef>
              <a:spcAft>
                <a:spcPts val="300"/>
              </a:spcAft>
              <a:buFont typeface="Arial" panose="020B0604020202020204" pitchFamily="34" charset="0"/>
              <a:buNone/>
            </a:pPr>
            <a:r>
              <a:rPr lang="zh-CN" altLang="en-US" sz="2400" dirty="0">
                <a:cs typeface="+mn-ea"/>
                <a:sym typeface="+mn-lt"/>
              </a:rPr>
              <a:t>那么，应该如何建立产品服务情况与用户使用预期的沟通渠道？又应该如何确定兼具稳定性和一致性的开发接口呢？</a:t>
            </a:r>
            <a:endParaRPr lang="zh-CN" altLang="en-US" sz="2400" dirty="0">
              <a:cs typeface="+mn-ea"/>
              <a:sym typeface="+mn-lt"/>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A6S0wzOvQ8a50SA42PUNRg"/>
</p:tagLst>
</file>

<file path=ppt/tags/tag8.xml><?xml version="1.0" encoding="utf-8"?>
<p:tagLst xmlns:p="http://schemas.openxmlformats.org/presentationml/2006/main">
  <p:tag name="KSO_WM_UNIT_TABLE_BEAUTIFY" val="smartTable{58a06314-7e72-4d48-85a8-7253ed818c17}"/>
</p:tagLst>
</file>

<file path=ppt/tags/tag9.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0.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1.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2.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3.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4.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5.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6.xml><?xml version="1.0" encoding="utf-8"?>
<p:tagLst xmlns:p="http://schemas.openxmlformats.org/presentationml/2006/main">
  <p:tag name="KSO_WM_DIAGRAM_VIRTUALLY_FRAME" val="{&quot;height&quot;:252.7791338582677,&quot;left&quot;:88.10842519685039,&quot;top&quot;:106.14125984251969,&quot;width&quot;:819.9837795275591}"/>
</p:tagLst>
</file>

<file path=ppt/tags/tag17.xml><?xml version="1.0" encoding="utf-8"?>
<p:tagLst xmlns:p="http://schemas.openxmlformats.org/presentationml/2006/main">
  <p:tag name="ISLIDE.DIAGRAM" val="272399"/>
</p:tagLst>
</file>

<file path=ppt/tags/tag18.xml><?xml version="1.0" encoding="utf-8"?>
<p:tagLst xmlns:p="http://schemas.openxmlformats.org/presentationml/2006/main">
  <p:tag name="KSO_WM_UNIT_PLACING_PICTURE_USER_VIEWPORT" val="{&quot;height&quot;:2498,&quot;width&quot;:3471}"/>
</p:tagLst>
</file>

<file path=ppt/tags/tag19.xml><?xml version="1.0" encoding="utf-8"?>
<p:tagLst xmlns:p="http://schemas.openxmlformats.org/presentationml/2006/main">
  <p:tag name="KSO_WM_DIAGRAM_VIRTUALLY_FRAME" val="{&quot;height&quot;:363.25,&quot;left&quot;:36.75,&quot;top&quot;:168,&quot;width&quot;:784.5}"/>
</p:tagLst>
</file>

<file path=ppt/tags/tag20.xml><?xml version="1.0" encoding="utf-8"?>
<p:tagLst xmlns:p="http://schemas.openxmlformats.org/presentationml/2006/main">
  <p:tag name="KSO_WM_DIAGRAM_VIRTUALLY_FRAME" val="{&quot;height&quot;:363.25,&quot;left&quot;:36.75,&quot;top&quot;:168,&quot;width&quot;:784.5}"/>
</p:tagLst>
</file>

<file path=ppt/tags/tag21.xml><?xml version="1.0" encoding="utf-8"?>
<p:tagLst xmlns:p="http://schemas.openxmlformats.org/presentationml/2006/main">
  <p:tag name="KSO_WM_DIAGRAM_VIRTUALLY_FRAME" val="{&quot;height&quot;:363.25,&quot;left&quot;:36.75,&quot;top&quot;:168,&quot;width&quot;:784.5}"/>
</p:tagLst>
</file>

<file path=ppt/tags/tag22.xml><?xml version="1.0" encoding="utf-8"?>
<p:tagLst xmlns:p="http://schemas.openxmlformats.org/presentationml/2006/main">
  <p:tag name="KSO_WM_DIAGRAM_VIRTUALLY_FRAME" val="{&quot;height&quot;:363.25,&quot;left&quot;:36.75,&quot;top&quot;:168,&quot;width&quot;:784.5}"/>
</p:tagLst>
</file>

<file path=ppt/tags/tag23.xml><?xml version="1.0" encoding="utf-8"?>
<p:tagLst xmlns:p="http://schemas.openxmlformats.org/presentationml/2006/main">
  <p:tag name="KSO_WM_UNIT_TABLE_BEAUTIFY" val="smartTable{58a06314-7e72-4d48-85a8-7253ed818c17}"/>
</p:tagLst>
</file>

<file path=ppt/tags/tag24.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074baa65-1bcf-453b-aed6-4412331b316e"/>
  <p:tag name="commondata" val="eyJoZGlkIjoiMzEwNTM5NzYwMDRjMzkwZTVkZjY2ODkwMGIxNGU0OTUifQ=="/>
</p:tagLst>
</file>

<file path=ppt/theme/theme1.xml><?xml version="1.0" encoding="utf-8"?>
<a:theme xmlns:a="http://schemas.openxmlformats.org/drawingml/2006/main" name="主题5">
  <a:themeElements>
    <a:clrScheme name="自定义 15">
      <a:dk1>
        <a:srgbClr val="000000"/>
      </a:dk1>
      <a:lt1>
        <a:srgbClr val="FFFFFF"/>
      </a:lt1>
      <a:dk2>
        <a:srgbClr val="768394"/>
      </a:dk2>
      <a:lt2>
        <a:srgbClr val="F0F0F0"/>
      </a:lt2>
      <a:accent1>
        <a:srgbClr val="07416B"/>
      </a:accent1>
      <a:accent2>
        <a:srgbClr val="FFC000"/>
      </a:accent2>
      <a:accent3>
        <a:srgbClr val="00002E"/>
      </a:accent3>
      <a:accent4>
        <a:srgbClr val="031684"/>
      </a:accent4>
      <a:accent5>
        <a:srgbClr val="969696"/>
      </a:accent5>
      <a:accent6>
        <a:srgbClr val="B2B2B2"/>
      </a:accent6>
      <a:hlink>
        <a:srgbClr val="4472C4"/>
      </a:hlink>
      <a:folHlink>
        <a:srgbClr val="BFBFBF"/>
      </a:folHlink>
    </a:clrScheme>
    <a:fontScheme name="1tffttnl">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7187</Words>
  <Application>WPS 演示</Application>
  <PresentationFormat>自定义</PresentationFormat>
  <Paragraphs>897</Paragraphs>
  <Slides>54</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6" baseType="lpstr">
      <vt:lpstr>Arial</vt:lpstr>
      <vt:lpstr>宋体</vt:lpstr>
      <vt:lpstr>Wingdings</vt:lpstr>
      <vt:lpstr>Times New Roman</vt:lpstr>
      <vt:lpstr>微软雅黑</vt:lpstr>
      <vt:lpstr>Arial Unicode MS</vt:lpstr>
      <vt:lpstr>Calibri</vt:lpstr>
      <vt:lpstr>华文新魏</vt:lpstr>
      <vt:lpstr>Symbol</vt:lpstr>
      <vt:lpstr>Courier New</vt:lpstr>
      <vt:lpstr>主题5</vt:lpstr>
      <vt:lpstr>TCLayout.ActiveDocument.1</vt:lpstr>
      <vt:lpstr>第6章 虚拟存储器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韦平</cp:lastModifiedBy>
  <cp:revision>163</cp:revision>
  <cp:lastPrinted>2019-04-18T16:00:00Z</cp:lastPrinted>
  <dcterms:created xsi:type="dcterms:W3CDTF">2019-04-18T16:00:00Z</dcterms:created>
  <dcterms:modified xsi:type="dcterms:W3CDTF">2025-06-12T07:36:39Z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F67F328A13C842F7B830E4D49FD7FDA8</vt:lpwstr>
  </property>
  <property fmtid="{D5CDD505-2E9C-101B-9397-08002B2CF9AE}" pid="4" name="KSOProductBuildVer">
    <vt:lpwstr>2052-12.1.0.21171</vt:lpwstr>
  </property>
</Properties>
</file>