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7"/>
  </p:notesMasterIdLst>
  <p:sldIdLst>
    <p:sldId id="484" r:id="rId3"/>
    <p:sldId id="312" r:id="rId4"/>
    <p:sldId id="315" r:id="rId5"/>
    <p:sldId id="392" r:id="rId6"/>
    <p:sldId id="396" r:id="rId7"/>
    <p:sldId id="397" r:id="rId8"/>
    <p:sldId id="398" r:id="rId9"/>
    <p:sldId id="400" r:id="rId10"/>
    <p:sldId id="399" r:id="rId11"/>
    <p:sldId id="401" r:id="rId12"/>
    <p:sldId id="439" r:id="rId13"/>
    <p:sldId id="402" r:id="rId14"/>
    <p:sldId id="403" r:id="rId15"/>
    <p:sldId id="404" r:id="rId16"/>
    <p:sldId id="405" r:id="rId17"/>
    <p:sldId id="406" r:id="rId18"/>
    <p:sldId id="407" r:id="rId19"/>
    <p:sldId id="410" r:id="rId20"/>
    <p:sldId id="408" r:id="rId21"/>
    <p:sldId id="409" r:id="rId22"/>
    <p:sldId id="411" r:id="rId23"/>
    <p:sldId id="412" r:id="rId24"/>
    <p:sldId id="413" r:id="rId25"/>
    <p:sldId id="414" r:id="rId26"/>
    <p:sldId id="440" r:id="rId27"/>
    <p:sldId id="417" r:id="rId28"/>
    <p:sldId id="416" r:id="rId29"/>
    <p:sldId id="418" r:id="rId30"/>
    <p:sldId id="419" r:id="rId31"/>
    <p:sldId id="420" r:id="rId32"/>
    <p:sldId id="421" r:id="rId33"/>
    <p:sldId id="441" r:id="rId34"/>
    <p:sldId id="423" r:id="rId35"/>
    <p:sldId id="424" r:id="rId36"/>
    <p:sldId id="427" r:id="rId37"/>
    <p:sldId id="425" r:id="rId38"/>
    <p:sldId id="428" r:id="rId39"/>
    <p:sldId id="426" r:id="rId40"/>
    <p:sldId id="429" r:id="rId41"/>
    <p:sldId id="430" r:id="rId42"/>
    <p:sldId id="431" r:id="rId43"/>
    <p:sldId id="432" r:id="rId44"/>
    <p:sldId id="435" r:id="rId45"/>
    <p:sldId id="433" r:id="rId46"/>
    <p:sldId id="434" r:id="rId47"/>
    <p:sldId id="436" r:id="rId48"/>
    <p:sldId id="438" r:id="rId49"/>
    <p:sldId id="437" r:id="rId50"/>
    <p:sldId id="351" r:id="rId51"/>
    <p:sldId id="309" r:id="rId52"/>
    <p:sldId id="393" r:id="rId53"/>
    <p:sldId id="364" r:id="rId54"/>
    <p:sldId id="394" r:id="rId55"/>
    <p:sldId id="395" r:id="rId56"/>
  </p:sldIdLst>
  <p:sldSz cx="12192000" cy="6858000"/>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FFC0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182" autoAdjust="0"/>
  </p:normalViewPr>
  <p:slideViewPr>
    <p:cSldViewPr snapToGrid="0">
      <p:cViewPr varScale="1">
        <p:scale>
          <a:sx n="74" d="100"/>
          <a:sy n="74" d="100"/>
        </p:scale>
        <p:origin x="624" y="-108"/>
      </p:cViewPr>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gs" Target="tags/tag15.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notesMaster" Target="notesMasters/notesMaster1.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11491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5.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7.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3.png"/><Relationship Id="rId2" Type="http://schemas.openxmlformats.org/officeDocument/2006/relationships/tags" Target="../tags/tag8.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13.jpe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tags" Target="../tags/tag10.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jpeg"/><Relationship Id="rId1" Type="http://schemas.openxmlformats.org/officeDocument/2006/relationships/tags" Target="../tags/tag1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jpeg"/><Relationship Id="rId1" Type="http://schemas.openxmlformats.org/officeDocument/2006/relationships/tags" Target="../tags/tag13.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4.xml"/><Relationship Id="rId2" Type="http://schemas.openxmlformats.org/officeDocument/2006/relationships/image" Target="../media/image3.png"/><Relationship Id="rId1"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45" name="think-cell Slide" r:id="rId2" imgW="9525" imgH="9525" progId="TCLayout.ActiveDocument.1">
                  <p:embed/>
                </p:oleObj>
              </mc:Choice>
              <mc:Fallback>
                <p:oleObj name="think-cell Slide" r:id="rId2" imgW="9525" imgH="9525" progId="TCLayout.ActiveDocument.1">
                  <p:embed/>
                  <p:pic>
                    <p:nvPicPr>
                      <p:cNvPr id="0" name="图片 1044"/>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4800" dirty="0">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4800" dirty="0">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2000" b="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主讲教师：韦平</a:t>
            </a:r>
            <a:endParaRPr lang="en-US" altLang="zh-CN" b="1"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6" name="矩形 5"/>
          <p:cNvSpPr/>
          <p:nvPr/>
        </p:nvSpPr>
        <p:spPr>
          <a:xfrm>
            <a:off x="933450" y="5034280"/>
            <a:ext cx="6122035" cy="1553210"/>
          </a:xfrm>
          <a:prstGeom prst="rect">
            <a:avLst/>
          </a:prstGeom>
        </p:spPr>
        <p:txBody>
          <a:bodyPr wrap="square">
            <a:spAutoFit/>
          </a:bodyPr>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学院：软件学院</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邮箱：</a:t>
            </a:r>
            <a:r>
              <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weip@ynu.edu.cn</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办公地点：软件学院</a:t>
            </a:r>
            <a:r>
              <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1323</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gn="l">
              <a:lnSpc>
                <a:spcPct val="132000"/>
              </a:lnSpc>
            </a:pPr>
            <a:r>
              <a:rPr lang="zh-CN" altLang="en-US"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办公电话：</a:t>
            </a:r>
            <a:r>
              <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15121079110</a:t>
            </a:r>
            <a:endParaRPr lang="en-US" altLang="zh-CN"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12章 知识导图"/>
          <p:cNvPicPr>
            <a:picLocks noChangeAspect="1"/>
          </p:cNvPicPr>
          <p:nvPr/>
        </p:nvPicPr>
        <p:blipFill>
          <a:blip r:embed="rId1"/>
          <a:stretch>
            <a:fillRect/>
          </a:stretch>
        </p:blipFill>
        <p:spPr>
          <a:xfrm>
            <a:off x="4261485" y="788670"/>
            <a:ext cx="7661275" cy="59099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2739853"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章知识导图</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aphicFrame>
        <p:nvGraphicFramePr>
          <p:cNvPr id="30" name="表格 29"/>
          <p:cNvGraphicFramePr/>
          <p:nvPr>
            <p:custDataLst>
              <p:tags r:id="rId2"/>
            </p:custDataLst>
          </p:nvPr>
        </p:nvGraphicFramePr>
        <p:xfrm>
          <a:off x="462431" y="1634204"/>
          <a:ext cx="3689691" cy="4789452"/>
        </p:xfrm>
        <a:graphic>
          <a:graphicData uri="http://schemas.openxmlformats.org/drawingml/2006/table">
            <a:tbl>
              <a:tblPr firstRow="1" bandRow="1">
                <a:tableStyleId>{72833802-FEF1-4C79-8D5D-14CF1EAF98D9}</a:tableStyleId>
              </a:tblPr>
              <a:tblGrid>
                <a:gridCol w="1079371"/>
                <a:gridCol w="2610320"/>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第1章</a:t>
                      </a:r>
                      <a:endParaRPr lang="en-US" altLang="en-US" sz="2000" b="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操作系统引论</a:t>
                      </a:r>
                      <a:endParaRPr lang="en-US" altLang="en-US" sz="2000" b="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第2章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进程的描述与控制</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第3章</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处理机调度与死锁</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第4章</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进程同步</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第5章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存储器管理</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第6章</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虚拟存储器</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第7章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输入</a:t>
                      </a: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输出系统</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第8章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文件管理</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第9章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磁盘存储器管理</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第10章</a:t>
                      </a:r>
                      <a:endParaRPr lang="en-US" altLang="en-US" sz="200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c>
                  <a:txBody>
                    <a:bodyPr/>
                    <a:lstStyle/>
                    <a:p>
                      <a:pPr marL="71755" indent="0" algn="l" defTabSz="914400" rtl="0" eaLnBrk="1" latinLnBrk="0" hangingPunct="1">
                        <a:lnSpc>
                          <a:spcPct val="100000"/>
                        </a:lnSpc>
                        <a:spcBef>
                          <a:spcPts val="300"/>
                        </a:spcBef>
                        <a:spcAft>
                          <a:spcPts val="300"/>
                        </a:spcAft>
                        <a:buNone/>
                      </a:pPr>
                      <a:r>
                        <a:rPr lang="en-US" sz="2000" kern="1200" dirty="0" err="1">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多处理机操作系统</a:t>
                      </a:r>
                      <a:endParaRPr lang="en-US" altLang="en-US" sz="200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r>
              <a:tr h="399121">
                <a:tc>
                  <a:txBody>
                    <a:bodyPr/>
                    <a:lstStyle/>
                    <a:p>
                      <a:pPr marL="71755" indent="0" algn="l" defTabSz="914400" rtl="0" eaLnBrk="1" latinLnBrk="0" hangingPunct="1">
                        <a:lnSpc>
                          <a:spcPct val="100000"/>
                        </a:lnSpc>
                        <a:spcBef>
                          <a:spcPts val="300"/>
                        </a:spcBef>
                        <a:spcAft>
                          <a:spcPts val="300"/>
                        </a:spcAft>
                        <a:buNone/>
                      </a:pPr>
                      <a:r>
                        <a:rPr lang="en-US" sz="2000" b="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第11章</a:t>
                      </a:r>
                      <a:endParaRPr lang="en-US" altLang="en-US" sz="2000" b="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c>
                  <a:txBody>
                    <a:bodyPr/>
                    <a:lstStyle/>
                    <a:p>
                      <a:pPr marL="71755" indent="0" algn="l" defTabSz="914400" rtl="0" eaLnBrk="1" latinLnBrk="0" hangingPunct="1">
                        <a:lnSpc>
                          <a:spcPct val="100000"/>
                        </a:lnSpc>
                        <a:spcBef>
                          <a:spcPts val="300"/>
                        </a:spcBef>
                        <a:spcAft>
                          <a:spcPts val="300"/>
                        </a:spcAft>
                        <a:buNone/>
                      </a:pPr>
                      <a:r>
                        <a:rPr lang="en-US" sz="2000" b="0" kern="1200" dirty="0" err="1">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虚拟化和云计算</a:t>
                      </a:r>
                      <a:endParaRPr lang="en-US" altLang="en-US" sz="2000" b="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r>
              <a:tr h="399121">
                <a:tc>
                  <a:txBody>
                    <a:bodyPr/>
                    <a:lstStyle/>
                    <a:p>
                      <a:pPr marL="0" indent="0" algn="ctr">
                        <a:lnSpc>
                          <a:spcPct val="100000"/>
                        </a:lnSpc>
                        <a:spcBef>
                          <a:spcPts val="300"/>
                        </a:spcBef>
                        <a:spcAft>
                          <a:spcPts val="300"/>
                        </a:spcAft>
                        <a:buNone/>
                      </a:pPr>
                      <a:r>
                        <a:rPr lang="en-US" sz="2000" b="1" kern="120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第12章</a:t>
                      </a:r>
                      <a:endParaRPr lang="en-US" altLang="en-US" sz="2000" b="1" kern="120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kern="1200" dirty="0" err="1">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保护和安全</a:t>
                      </a:r>
                      <a:endParaRPr lang="en-US" altLang="en-US" sz="2000" b="1" kern="120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solidFill>
                      <a:schemeClr val="accent2"/>
                    </a:solidFill>
                  </a:tcP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内容导航：</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endPar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12.2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数据加密技术</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12.3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矩形 24"/>
          <p:cNvSpPr/>
          <p:nvPr/>
        </p:nvSpPr>
        <p:spPr>
          <a:xfrm>
            <a:off x="1379227" y="3667722"/>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12.4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矩形 2"/>
          <p:cNvSpPr/>
          <p:nvPr/>
        </p:nvSpPr>
        <p:spPr>
          <a:xfrm>
            <a:off x="7632441" y="2349214"/>
            <a:ext cx="4058796" cy="646331"/>
          </a:xfrm>
          <a:prstGeom prst="rect">
            <a:avLst/>
          </a:prstGeom>
        </p:spPr>
        <p:txBody>
          <a:bodyPr wrap="square">
            <a:spAutoFit/>
          </a:bodyPr>
          <a:lstStyle/>
          <a:p>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36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cxnSp>
        <p:nvCxnSpPr>
          <p:cNvPr id="5" name="直接连接符 4"/>
          <p:cNvCxnSpPr/>
          <p:nvPr/>
        </p:nvCxnSpPr>
        <p:spPr>
          <a:xfrm>
            <a:off x="7567127" y="3190471"/>
            <a:ext cx="397999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81373"/>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99518"/>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641362"/>
            <a:ext cx="527050" cy="527050"/>
          </a:xfrm>
          <a:prstGeom prst="rect">
            <a:avLst/>
          </a:prstGeom>
          <a:ln>
            <a:noFill/>
          </a:ln>
          <a:effectLst>
            <a:softEdge rad="0"/>
          </a:effectLst>
        </p:spPr>
      </p:pic>
      <p:sp>
        <p:nvSpPr>
          <p:cNvPr id="18" name="矩形 17"/>
          <p:cNvSpPr/>
          <p:nvPr/>
        </p:nvSpPr>
        <p:spPr>
          <a:xfrm>
            <a:off x="1379227" y="4282526"/>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12.5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来自系统外部的攻击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237504"/>
            <a:ext cx="527050" cy="527050"/>
          </a:xfrm>
          <a:prstGeom prst="rect">
            <a:avLst/>
          </a:prstGeom>
          <a:ln>
            <a:noFill/>
          </a:ln>
          <a:effectLst>
            <a:softEdge rad="0"/>
          </a:effectLst>
        </p:spPr>
      </p:pic>
      <p:sp>
        <p:nvSpPr>
          <p:cNvPr id="27" name="矩形 26"/>
          <p:cNvSpPr/>
          <p:nvPr/>
        </p:nvSpPr>
        <p:spPr>
          <a:xfrm>
            <a:off x="1379227" y="4868899"/>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12.6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可信系统</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23877"/>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 name="ïşľîďè"/>
          <p:cNvSpPr/>
          <p:nvPr/>
        </p:nvSpPr>
        <p:spPr>
          <a:xfrm>
            <a:off x="-788524" y="113412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6"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7" name="í$1iďè"/>
          <p:cNvGrpSpPr/>
          <p:nvPr/>
        </p:nvGrpSpPr>
        <p:grpSpPr>
          <a:xfrm>
            <a:off x="3348471" y="1174124"/>
            <a:ext cx="7381904" cy="1648925"/>
            <a:chOff x="4136995" y="1170302"/>
            <a:chExt cx="7381904" cy="1648925"/>
          </a:xfrm>
        </p:grpSpPr>
        <p:sp>
          <p:nvSpPr>
            <p:cNvPr id="8"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9" name="ïSḻiḍé"/>
            <p:cNvSpPr txBox="1"/>
            <p:nvPr/>
          </p:nvSpPr>
          <p:spPr>
            <a:xfrm>
              <a:off x="4882718" y="1170302"/>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solidFill>
                    <a:srgbClr val="0000FF"/>
                  </a:solidFill>
                  <a:latin typeface="+mj-ea"/>
                  <a:ea typeface="+mj-ea"/>
                </a:rPr>
                <a:t>保护</a:t>
              </a:r>
              <a:r>
                <a:rPr lang="zh-CN" altLang="en-US" sz="2400" dirty="0">
                  <a:latin typeface="+mj-ea"/>
                  <a:ea typeface="+mj-ea"/>
                </a:rPr>
                <a:t>可被定义为：</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能够对攻击、入侵和损害系统的行为进行防御或监视的设施</a:t>
              </a:r>
              <a:endParaRPr lang="zh-CN" altLang="en-US" sz="2400" dirty="0">
                <a:latin typeface="+mj-ea"/>
                <a:ea typeface="+mj-ea"/>
              </a:endParaRPr>
            </a:p>
          </p:txBody>
        </p:sp>
      </p:grpSp>
      <p:grpSp>
        <p:nvGrpSpPr>
          <p:cNvPr id="10" name="išḷîḓé"/>
          <p:cNvGrpSpPr/>
          <p:nvPr/>
        </p:nvGrpSpPr>
        <p:grpSpPr>
          <a:xfrm>
            <a:off x="3348471" y="3286056"/>
            <a:ext cx="8378932" cy="801176"/>
            <a:chOff x="4136995" y="3233565"/>
            <a:chExt cx="8378932" cy="801176"/>
          </a:xfrm>
        </p:grpSpPr>
        <p:sp>
          <p:nvSpPr>
            <p:cNvPr id="11"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2"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安全</a:t>
              </a:r>
              <a:r>
                <a:rPr lang="zh-CN" altLang="en-US" sz="2400" dirty="0"/>
                <a:t>可被定义为：</a:t>
              </a:r>
              <a:endParaRPr lang="zh-CN" altLang="en-US" sz="2400" dirty="0"/>
            </a:p>
            <a:p>
              <a:pPr marL="342900" indent="-342900">
                <a:lnSpc>
                  <a:spcPct val="130000"/>
                </a:lnSpc>
                <a:buClr>
                  <a:srgbClr val="FF0000"/>
                </a:buClr>
                <a:buFont typeface="Wingdings" panose="05000000000000000000" pitchFamily="2" charset="2"/>
                <a:buChar char="Ø"/>
              </a:pPr>
              <a:r>
                <a:rPr lang="zh-CN" altLang="en-US" sz="2400" dirty="0"/>
                <a:t>对系统完整性和数据安全性的可信度衡量</a:t>
              </a:r>
              <a:endParaRPr lang="zh-CN" altLang="en-US" sz="2400" dirty="0"/>
            </a:p>
          </p:txBody>
        </p:sp>
      </p:grpSp>
      <p:grpSp>
        <p:nvGrpSpPr>
          <p:cNvPr id="13" name="ïSlíḍê"/>
          <p:cNvGrpSpPr/>
          <p:nvPr/>
        </p:nvGrpSpPr>
        <p:grpSpPr>
          <a:xfrm>
            <a:off x="3348471" y="4550239"/>
            <a:ext cx="8361970" cy="1311067"/>
            <a:chOff x="4136995" y="4892764"/>
            <a:chExt cx="8361970" cy="1311067"/>
          </a:xfrm>
        </p:grpSpPr>
        <p:sp>
          <p:nvSpPr>
            <p:cNvPr id="1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5" name="íṧļîḋê"/>
            <p:cNvSpPr txBox="1"/>
            <p:nvPr/>
          </p:nvSpPr>
          <p:spPr>
            <a:xfrm>
              <a:off x="4865756" y="4892764"/>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实现“安全环境”是目标</a:t>
              </a:r>
              <a:r>
                <a:rPr lang="zh-CN" altLang="en-US" sz="2400" dirty="0">
                  <a:solidFill>
                    <a:srgbClr val="0000FF"/>
                  </a:solidFill>
                </a:rPr>
                <a:t>，</a:t>
              </a:r>
              <a:r>
                <a:rPr lang="zh-CN" altLang="en-US" sz="2400" dirty="0"/>
                <a:t>而保护是为了实现该目标所采取的方法和措施</a:t>
              </a:r>
              <a:endParaRPr lang="zh-CN" altLang="en-US" sz="24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实现“安全环境”的主要目标</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 name="内容占位符 2"/>
          <p:cNvSpPr txBox="1"/>
          <p:nvPr/>
        </p:nvSpPr>
        <p:spPr>
          <a:xfrm>
            <a:off x="1618445" y="1145149"/>
            <a:ext cx="10024058" cy="5867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200" dirty="0">
                <a:latin typeface="+mn-ea"/>
                <a:cs typeface="+mn-ea"/>
                <a:sym typeface="Times New Roman" panose="02020603050405020304" pitchFamily="18" charset="0"/>
              </a:rPr>
              <a:t>数据机密性</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en-US" sz="2000" dirty="0">
                <a:latin typeface="+mn-ea"/>
                <a:cs typeface="+mn-ea"/>
                <a:sym typeface="Times New Roman" panose="02020603050405020304" pitchFamily="18" charset="0"/>
              </a:rPr>
              <a:t>是</a:t>
            </a:r>
            <a:r>
              <a:rPr lang="zh-CN" altLang="zh-CN" sz="2000" dirty="0">
                <a:latin typeface="+mn-ea"/>
                <a:cs typeface="+mn-ea"/>
                <a:sym typeface="Times New Roman" panose="02020603050405020304" pitchFamily="18" charset="0"/>
              </a:rPr>
              <a:t>指将机密的数据置于保密状态，仅允许被授权用户访问系统中的信息，以避免数据暴露</a:t>
            </a:r>
            <a:endParaRPr lang="en-US" altLang="zh-CN" sz="2000" dirty="0">
              <a:latin typeface="+mn-ea"/>
              <a:cs typeface="+mn-ea"/>
              <a:sym typeface="Times New Roman" panose="02020603050405020304" pitchFamily="18" charset="0"/>
            </a:endParaRPr>
          </a:p>
          <a:p>
            <a:pPr marL="0" indent="0">
              <a:lnSpc>
                <a:spcPct val="123000"/>
              </a:lnSpc>
              <a:buNone/>
            </a:pPr>
            <a:r>
              <a:rPr lang="zh-CN" altLang="en-US" sz="2200" dirty="0">
                <a:latin typeface="+mn-ea"/>
                <a:cs typeface="+mn-ea"/>
                <a:sym typeface="Times New Roman" panose="02020603050405020304" pitchFamily="18" charset="0"/>
              </a:rPr>
              <a:t>数据完整性</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是指未经授权的用户，不能擅自篡改系统中所保存的数据</a:t>
            </a:r>
            <a:endParaRPr lang="en-US" altLang="zh-CN" sz="2000" dirty="0">
              <a:latin typeface="+mn-ea"/>
              <a:cs typeface="+mn-ea"/>
              <a:sym typeface="Times New Roman" panose="02020603050405020304" pitchFamily="18" charset="0"/>
            </a:endParaRPr>
          </a:p>
          <a:p>
            <a:pPr marL="0" indent="0">
              <a:lnSpc>
                <a:spcPct val="123000"/>
              </a:lnSpc>
              <a:buNone/>
            </a:pPr>
            <a:r>
              <a:rPr lang="zh-CN" altLang="en-US" sz="2200" dirty="0">
                <a:latin typeface="+mn-ea"/>
                <a:cs typeface="+mn-ea"/>
                <a:sym typeface="Times New Roman" panose="02020603050405020304" pitchFamily="18" charset="0"/>
              </a:rPr>
              <a:t>系统可用性</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是指保证计算机中的资源可供授权用户随时访问，而系统不会拒绝服务</a:t>
            </a:r>
            <a:endParaRPr lang="en-US" altLang="zh-CN" sz="2000" dirty="0">
              <a:latin typeface="+mn-ea"/>
              <a:cs typeface="+mn-ea"/>
              <a:sym typeface="Times New Roman" panose="02020603050405020304" pitchFamily="18" charset="0"/>
            </a:endParaRPr>
          </a:p>
          <a:p>
            <a:pPr marL="0" indent="0">
              <a:lnSpc>
                <a:spcPct val="123000"/>
              </a:lnSpc>
              <a:buNone/>
            </a:pPr>
            <a:r>
              <a:rPr lang="zh-CN" altLang="en-US" sz="2200" dirty="0">
                <a:latin typeface="+mn-ea"/>
                <a:cs typeface="+mn-ea"/>
                <a:sym typeface="Times New Roman" panose="02020603050405020304" pitchFamily="18" charset="0"/>
              </a:rPr>
              <a:t>面对的</a:t>
            </a:r>
            <a:r>
              <a:rPr lang="zh-CN" altLang="en-US" sz="2200" dirty="0">
                <a:solidFill>
                  <a:srgbClr val="FF0000"/>
                </a:solidFill>
                <a:latin typeface="+mn-ea"/>
                <a:cs typeface="+mn-ea"/>
                <a:sym typeface="Times New Roman" panose="02020603050405020304" pitchFamily="18" charset="0"/>
              </a:rPr>
              <a:t>三个威胁</a:t>
            </a:r>
            <a:endParaRPr lang="en-US" altLang="zh-CN" sz="22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攻击者通过各种方式窃取系统中的机密信息以使其暴露</a:t>
            </a:r>
            <a:endParaRPr lang="en-US" altLang="zh-CN" sz="20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攻击者擅自修改系统中所保存的数据以使其被破坏（即实现数据篡改）</a:t>
            </a:r>
            <a:endParaRPr lang="en-US" altLang="zh-CN" sz="2000" dirty="0">
              <a:latin typeface="+mn-ea"/>
              <a:cs typeface="+mn-ea"/>
              <a:sym typeface="Times New Roman" panose="02020603050405020304" pitchFamily="18" charset="0"/>
            </a:endParaRPr>
          </a:p>
          <a:p>
            <a:pPr lvl="1">
              <a:lnSpc>
                <a:spcPct val="123000"/>
              </a:lnSpc>
              <a:buClr>
                <a:srgbClr val="FF0000"/>
              </a:buClr>
              <a:buFont typeface="Wingdings" panose="05000000000000000000" pitchFamily="2" charset="2"/>
              <a:buChar char="Ø"/>
            </a:pPr>
            <a:r>
              <a:rPr lang="zh-CN" altLang="zh-CN" sz="2000" dirty="0">
                <a:latin typeface="+mn-ea"/>
                <a:cs typeface="+mn-ea"/>
                <a:sym typeface="Times New Roman" panose="02020603050405020304" pitchFamily="18" charset="0"/>
              </a:rPr>
              <a:t>攻击者采用多种方法来扰乱系统以使其瘫痪而拒绝提供服务</a:t>
            </a:r>
            <a:endParaRPr lang="zh-CN" altLang="en-US" sz="2000" dirty="0">
              <a:latin typeface="+mn-ea"/>
              <a:cs typeface="+mn-ea"/>
              <a:sym typeface="Times New Roman" panose="02020603050405020304" pitchFamily="18" charset="0"/>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935" y="1145149"/>
            <a:ext cx="527050" cy="527050"/>
          </a:xfrm>
          <a:prstGeom prst="rect">
            <a:avLst/>
          </a:prstGeom>
          <a:ln>
            <a:noFill/>
          </a:ln>
          <a:effectLst>
            <a:softEdge rad="0"/>
          </a:effectLst>
        </p:spPr>
      </p:pic>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935" y="2542581"/>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935" y="3559971"/>
            <a:ext cx="527050" cy="527050"/>
          </a:xfrm>
          <a:prstGeom prst="rect">
            <a:avLst/>
          </a:prstGeom>
          <a:ln>
            <a:noFill/>
          </a:ln>
          <a:effectLst>
            <a:softEdge rad="0"/>
          </a:effectLst>
        </p:spPr>
      </p:pic>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935" y="4634236"/>
            <a:ext cx="527050" cy="527050"/>
          </a:xfrm>
          <a:prstGeom prst="rect">
            <a:avLst/>
          </a:prstGeom>
          <a:ln>
            <a:noFill/>
          </a:ln>
          <a:effectLst>
            <a:softEdge rad="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12.1.2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系统安全的特征</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内容占位符 2"/>
          <p:cNvSpPr txBox="1"/>
          <p:nvPr/>
        </p:nvSpPr>
        <p:spPr>
          <a:xfrm>
            <a:off x="1622738" y="1164464"/>
            <a:ext cx="9672033" cy="54166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zh-CN" sz="2200" dirty="0">
                <a:latin typeface="+mn-ea"/>
                <a:cs typeface="+mn-ea"/>
                <a:sym typeface="Times New Roman" panose="02020603050405020304" pitchFamily="18" charset="0"/>
              </a:rPr>
              <a:t>信息技术安全评价通用准则，简称</a:t>
            </a:r>
            <a:r>
              <a:rPr lang="en-US" altLang="zh-CN" sz="2200" dirty="0">
                <a:solidFill>
                  <a:srgbClr val="FF0000"/>
                </a:solidFill>
                <a:latin typeface="+mn-ea"/>
                <a:cs typeface="+mn-ea"/>
                <a:sym typeface="Times New Roman" panose="02020603050405020304" pitchFamily="18" charset="0"/>
              </a:rPr>
              <a:t>CC</a:t>
            </a:r>
            <a:r>
              <a:rPr lang="zh-CN" altLang="en-US" sz="2200" dirty="0">
                <a:latin typeface="+mn-ea"/>
                <a:cs typeface="+mn-ea"/>
                <a:sym typeface="Times New Roman" panose="02020603050405020304" pitchFamily="18" charset="0"/>
              </a:rPr>
              <a:t>，作为了国际标准。</a:t>
            </a:r>
            <a:endParaRPr lang="en-US" altLang="zh-CN" sz="2200" dirty="0">
              <a:latin typeface="+mn-ea"/>
              <a:cs typeface="+mn-ea"/>
              <a:sym typeface="Times New Roman" panose="02020603050405020304" pitchFamily="18" charset="0"/>
            </a:endParaRPr>
          </a:p>
          <a:p>
            <a:pPr lvl="1" indent="-431800">
              <a:lnSpc>
                <a:spcPct val="132000"/>
              </a:lnSpc>
              <a:buClr>
                <a:srgbClr val="FF0000"/>
              </a:buClr>
              <a:buFont typeface="Wingdings" panose="05000000000000000000" pitchFamily="2" charset="2"/>
              <a:buChar char="Ø"/>
            </a:pPr>
            <a:r>
              <a:rPr lang="en-US" altLang="zh-CN" sz="2200" dirty="0">
                <a:latin typeface="+mn-ea"/>
                <a:cs typeface="+mn-ea"/>
                <a:sym typeface="Times New Roman" panose="02020603050405020304" pitchFamily="18" charset="0"/>
              </a:rPr>
              <a:t>1983</a:t>
            </a:r>
            <a:r>
              <a:rPr lang="zh-CN" altLang="en-US" sz="2200" dirty="0">
                <a:latin typeface="+mn-ea"/>
                <a:cs typeface="+mn-ea"/>
                <a:sym typeface="Times New Roman" panose="02020603050405020304" pitchFamily="18" charset="0"/>
              </a:rPr>
              <a:t>年，美国国防部颁布了历史上第一个计算机安全</a:t>
            </a:r>
            <a:r>
              <a:rPr lang="zh-CN" altLang="zh-CN" sz="2200" dirty="0">
                <a:latin typeface="+mn-ea"/>
                <a:cs typeface="+mn-ea"/>
                <a:sym typeface="Times New Roman" panose="02020603050405020304" pitchFamily="18" charset="0"/>
              </a:rPr>
              <a:t>评价标准</a:t>
            </a:r>
            <a:r>
              <a:rPr lang="zh-CN" altLang="en-US" sz="2200" dirty="0">
                <a:latin typeface="+mn-ea"/>
                <a:cs typeface="+mn-ea"/>
                <a:sym typeface="Times New Roman" panose="02020603050405020304" pitchFamily="18" charset="0"/>
              </a:rPr>
              <a:t>，最核心文件是</a:t>
            </a:r>
            <a:r>
              <a:rPr lang="en-US" altLang="zh-CN" sz="2200" dirty="0">
                <a:latin typeface="+mn-ea"/>
                <a:cs typeface="+mn-ea"/>
                <a:sym typeface="Times New Roman" panose="02020603050405020304" pitchFamily="18" charset="0"/>
              </a:rPr>
              <a:t>TCSEC</a:t>
            </a:r>
            <a:r>
              <a:rPr lang="zh-CN" altLang="en-US" sz="2200" dirty="0">
                <a:latin typeface="+mn-ea"/>
                <a:cs typeface="+mn-ea"/>
                <a:sym typeface="Times New Roman" panose="02020603050405020304" pitchFamily="18" charset="0"/>
              </a:rPr>
              <a:t>，因</a:t>
            </a:r>
            <a:r>
              <a:rPr lang="zh-CN" altLang="zh-CN" sz="2200" dirty="0">
                <a:latin typeface="+mn-ea"/>
                <a:cs typeface="+mn-ea"/>
                <a:sym typeface="Times New Roman" panose="02020603050405020304" pitchFamily="18" charset="0"/>
              </a:rPr>
              <a:t>它是橙色封皮</a:t>
            </a:r>
            <a:r>
              <a:rPr lang="zh-CN" altLang="en-US" sz="2200" dirty="0">
                <a:latin typeface="+mn-ea"/>
                <a:cs typeface="+mn-ea"/>
                <a:sym typeface="Times New Roman" panose="02020603050405020304" pitchFamily="18" charset="0"/>
              </a:rPr>
              <a:t>，简称“橙皮书”。</a:t>
            </a:r>
            <a:endParaRPr lang="en-US" altLang="zh-CN" sz="2200" dirty="0">
              <a:latin typeface="+mn-ea"/>
              <a:cs typeface="+mn-ea"/>
              <a:sym typeface="Times New Roman" panose="02020603050405020304" pitchFamily="18" charset="0"/>
            </a:endParaRPr>
          </a:p>
          <a:p>
            <a:pPr marL="0" indent="0">
              <a:lnSpc>
                <a:spcPct val="132000"/>
              </a:lnSpc>
              <a:buNone/>
            </a:pPr>
            <a:r>
              <a:rPr lang="zh-CN" altLang="en-US" sz="2200" dirty="0">
                <a:latin typeface="+mn-ea"/>
                <a:cs typeface="+mn-ea"/>
                <a:sym typeface="Times New Roman" panose="02020603050405020304" pitchFamily="18" charset="0"/>
              </a:rPr>
              <a:t>计算机安全的分类：</a:t>
            </a:r>
            <a:endParaRPr lang="en-US" altLang="zh-CN" sz="2200" dirty="0">
              <a:latin typeface="+mn-ea"/>
              <a:cs typeface="+mn-ea"/>
              <a:sym typeface="Times New Roman" panose="02020603050405020304" pitchFamily="18" charset="0"/>
            </a:endParaRPr>
          </a:p>
          <a:p>
            <a:pPr lvl="1" indent="-431800">
              <a:lnSpc>
                <a:spcPct val="132000"/>
              </a:lnSpc>
              <a:buClr>
                <a:srgbClr val="FF0000"/>
              </a:buClr>
              <a:buFont typeface="Wingdings" panose="05000000000000000000" pitchFamily="2" charset="2"/>
              <a:buChar char="Ø"/>
            </a:pPr>
            <a:r>
              <a:rPr lang="en-US" altLang="zh-CN" sz="2200" dirty="0">
                <a:latin typeface="+mn-ea"/>
                <a:cs typeface="+mn-ea"/>
                <a:sym typeface="Times New Roman" panose="02020603050405020304" pitchFamily="18" charset="0"/>
              </a:rPr>
              <a:t>TCSEC</a:t>
            </a:r>
            <a:r>
              <a:rPr lang="zh-CN" altLang="zh-CN" sz="2200" dirty="0">
                <a:latin typeface="+mn-ea"/>
                <a:cs typeface="+mn-ea"/>
                <a:sym typeface="Times New Roman" panose="02020603050405020304" pitchFamily="18" charset="0"/>
              </a:rPr>
              <a:t>将计算机系统的安全程度划分为</a:t>
            </a:r>
            <a:r>
              <a:rPr lang="en-US" altLang="zh-CN" sz="2200" dirty="0">
                <a:solidFill>
                  <a:srgbClr val="FF0000"/>
                </a:solidFill>
                <a:latin typeface="+mn-ea"/>
                <a:cs typeface="+mn-ea"/>
                <a:sym typeface="Times New Roman" panose="02020603050405020304" pitchFamily="18" charset="0"/>
              </a:rPr>
              <a:t>4</a:t>
            </a:r>
            <a:r>
              <a:rPr lang="zh-CN" altLang="zh-CN" sz="2200" dirty="0">
                <a:solidFill>
                  <a:srgbClr val="FF0000"/>
                </a:solidFill>
                <a:latin typeface="+mn-ea"/>
                <a:cs typeface="+mn-ea"/>
                <a:sym typeface="Times New Roman" panose="02020603050405020304" pitchFamily="18" charset="0"/>
              </a:rPr>
              <a:t>类：</a:t>
            </a:r>
            <a:r>
              <a:rPr lang="en-US" altLang="zh-CN" sz="2200" dirty="0">
                <a:solidFill>
                  <a:srgbClr val="FF0000"/>
                </a:solidFill>
                <a:latin typeface="+mn-ea"/>
                <a:cs typeface="+mn-ea"/>
                <a:sym typeface="Times New Roman" panose="02020603050405020304" pitchFamily="18" charset="0"/>
              </a:rPr>
              <a:t>D</a:t>
            </a:r>
            <a:r>
              <a:rPr lang="zh-CN" altLang="zh-CN" sz="2200" dirty="0">
                <a:solidFill>
                  <a:srgbClr val="FF0000"/>
                </a:solidFill>
                <a:latin typeface="+mn-ea"/>
                <a:cs typeface="+mn-ea"/>
                <a:sym typeface="Times New Roman" panose="02020603050405020304" pitchFamily="18" charset="0"/>
              </a:rPr>
              <a:t>、</a:t>
            </a:r>
            <a:r>
              <a:rPr lang="en-US" altLang="zh-CN" sz="2200" dirty="0">
                <a:solidFill>
                  <a:srgbClr val="FF0000"/>
                </a:solidFill>
                <a:latin typeface="+mn-ea"/>
                <a:cs typeface="+mn-ea"/>
                <a:sym typeface="Times New Roman" panose="02020603050405020304" pitchFamily="18" charset="0"/>
              </a:rPr>
              <a:t>C</a:t>
            </a:r>
            <a:r>
              <a:rPr lang="zh-CN" altLang="zh-CN" sz="2200" dirty="0">
                <a:solidFill>
                  <a:srgbClr val="FF0000"/>
                </a:solidFill>
                <a:latin typeface="+mn-ea"/>
                <a:cs typeface="+mn-ea"/>
                <a:sym typeface="Times New Roman" panose="02020603050405020304" pitchFamily="18" charset="0"/>
              </a:rPr>
              <a:t>、</a:t>
            </a:r>
            <a:r>
              <a:rPr lang="en-US" altLang="zh-CN" sz="2200" dirty="0">
                <a:solidFill>
                  <a:srgbClr val="FF0000"/>
                </a:solidFill>
                <a:latin typeface="+mn-ea"/>
                <a:cs typeface="+mn-ea"/>
                <a:sym typeface="Times New Roman" panose="02020603050405020304" pitchFamily="18" charset="0"/>
              </a:rPr>
              <a:t>B</a:t>
            </a:r>
            <a:r>
              <a:rPr lang="zh-CN" altLang="zh-CN" sz="2200" dirty="0">
                <a:solidFill>
                  <a:srgbClr val="FF0000"/>
                </a:solidFill>
                <a:latin typeface="+mn-ea"/>
                <a:cs typeface="+mn-ea"/>
                <a:sym typeface="Times New Roman" panose="02020603050405020304" pitchFamily="18" charset="0"/>
              </a:rPr>
              <a:t>、</a:t>
            </a:r>
            <a:r>
              <a:rPr lang="en-US" altLang="zh-CN" sz="2200" dirty="0">
                <a:solidFill>
                  <a:srgbClr val="FF0000"/>
                </a:solidFill>
                <a:latin typeface="+mn-ea"/>
                <a:cs typeface="+mn-ea"/>
                <a:sym typeface="Times New Roman" panose="02020603050405020304" pitchFamily="18" charset="0"/>
              </a:rPr>
              <a:t>A</a:t>
            </a:r>
            <a:r>
              <a:rPr lang="zh-CN" altLang="en-US" sz="2200" dirty="0">
                <a:solidFill>
                  <a:srgbClr val="FF0000"/>
                </a:solidFill>
                <a:latin typeface="+mn-ea"/>
                <a:cs typeface="+mn-ea"/>
                <a:sym typeface="Times New Roman" panose="02020603050405020304" pitchFamily="18" charset="0"/>
              </a:rPr>
              <a:t>。</a:t>
            </a:r>
            <a:endParaRPr lang="en-US" altLang="zh-CN" sz="2200" dirty="0">
              <a:solidFill>
                <a:srgbClr val="FF0000"/>
              </a:solidFill>
              <a:latin typeface="+mn-ea"/>
              <a:cs typeface="+mn-ea"/>
              <a:sym typeface="Times New Roman" panose="02020603050405020304" pitchFamily="18" charset="0"/>
            </a:endParaRPr>
          </a:p>
          <a:p>
            <a:pPr lvl="1" indent="-431800">
              <a:lnSpc>
                <a:spcPct val="132000"/>
              </a:lnSpc>
              <a:buClr>
                <a:srgbClr val="FF0000"/>
              </a:buClr>
              <a:buFont typeface="Wingdings" panose="05000000000000000000" pitchFamily="2" charset="2"/>
              <a:buChar char="Ø"/>
            </a:pPr>
            <a:r>
              <a:rPr lang="zh-CN" altLang="zh-CN" sz="2200" dirty="0">
                <a:latin typeface="+mn-ea"/>
                <a:cs typeface="+mn-ea"/>
                <a:sym typeface="Times New Roman" panose="02020603050405020304" pitchFamily="18" charset="0"/>
              </a:rPr>
              <a:t>共分为</a:t>
            </a:r>
            <a:r>
              <a:rPr lang="en-US" altLang="zh-CN" sz="2200" dirty="0">
                <a:latin typeface="+mn-ea"/>
                <a:cs typeface="+mn-ea"/>
                <a:sym typeface="Times New Roman" panose="02020603050405020304" pitchFamily="18" charset="0"/>
              </a:rPr>
              <a:t>7</a:t>
            </a:r>
            <a:r>
              <a:rPr lang="zh-CN" altLang="zh-CN" sz="2200" dirty="0">
                <a:latin typeface="+mn-ea"/>
                <a:cs typeface="+mn-ea"/>
                <a:sym typeface="Times New Roman" panose="02020603050405020304" pitchFamily="18" charset="0"/>
              </a:rPr>
              <a:t>个等级：</a:t>
            </a:r>
            <a:r>
              <a:rPr lang="en-US" altLang="zh-CN" sz="2200" dirty="0">
                <a:latin typeface="+mn-ea"/>
                <a:cs typeface="+mn-ea"/>
                <a:sym typeface="Times New Roman" panose="02020603050405020304" pitchFamily="18" charset="0"/>
              </a:rPr>
              <a:t>D</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3</a:t>
            </a:r>
            <a:r>
              <a:rPr lang="zh-CN" altLang="zh-CN" sz="2200" dirty="0">
                <a:latin typeface="+mn-ea"/>
                <a:cs typeface="+mn-ea"/>
                <a:sym typeface="Times New Roman" panose="02020603050405020304" pitchFamily="18" charset="0"/>
              </a:rPr>
              <a:t>、</a:t>
            </a:r>
            <a:r>
              <a:rPr lang="en-US" altLang="zh-CN" sz="2200" dirty="0">
                <a:latin typeface="+mn-ea"/>
                <a:cs typeface="+mn-ea"/>
                <a:sym typeface="Times New Roman" panose="02020603050405020304" pitchFamily="18" charset="0"/>
              </a:rPr>
              <a:t>A</a:t>
            </a:r>
            <a:r>
              <a:rPr lang="en-US" altLang="zh-CN" sz="2200" baseline="-25000" dirty="0">
                <a:latin typeface="+mn-ea"/>
                <a:cs typeface="+mn-ea"/>
                <a:sym typeface="Times New Roman" panose="02020603050405020304" pitchFamily="18" charset="0"/>
              </a:rPr>
              <a:t>1</a:t>
            </a:r>
            <a:r>
              <a:rPr lang="zh-CN" altLang="en-US" sz="2200" baseline="-25000" dirty="0">
                <a:latin typeface="+mn-ea"/>
                <a:cs typeface="+mn-ea"/>
                <a:sym typeface="Times New Roman" panose="02020603050405020304" pitchFamily="18" charset="0"/>
              </a:rPr>
              <a:t>。</a:t>
            </a:r>
            <a:endParaRPr lang="en-US" altLang="zh-CN" sz="2200" baseline="-25000" dirty="0">
              <a:latin typeface="+mn-ea"/>
              <a:cs typeface="+mn-ea"/>
              <a:sym typeface="Times New Roman" panose="02020603050405020304" pitchFamily="18" charset="0"/>
            </a:endParaRPr>
          </a:p>
          <a:p>
            <a:pPr marL="1233805" lvl="2" indent="-457200">
              <a:lnSpc>
                <a:spcPct val="132000"/>
              </a:lnSpc>
              <a:buFont typeface="+mj-ea"/>
              <a:buAutoNum type="circleNumDbPlain"/>
            </a:pPr>
            <a:r>
              <a:rPr lang="en-US" altLang="zh-CN" sz="2000" dirty="0">
                <a:solidFill>
                  <a:srgbClr val="0000FF"/>
                </a:solidFill>
                <a:latin typeface="+mn-ea"/>
                <a:cs typeface="+mn-ea"/>
                <a:sym typeface="Times New Roman" panose="02020603050405020304" pitchFamily="18" charset="0"/>
              </a:rPr>
              <a:t>D</a:t>
            </a:r>
            <a:r>
              <a:rPr lang="zh-CN" altLang="en-US" sz="2000" dirty="0">
                <a:solidFill>
                  <a:srgbClr val="0000FF"/>
                </a:solidFill>
                <a:latin typeface="+mn-ea"/>
                <a:cs typeface="+mn-ea"/>
                <a:sym typeface="Times New Roman" panose="02020603050405020304" pitchFamily="18" charset="0"/>
              </a:rPr>
              <a:t>类</a:t>
            </a:r>
            <a:r>
              <a:rPr lang="zh-CN" altLang="en-US" sz="2000" dirty="0">
                <a:latin typeface="+mn-ea"/>
                <a:cs typeface="+mn-ea"/>
                <a:sym typeface="Times New Roman" panose="02020603050405020304" pitchFamily="18" charset="0"/>
              </a:rPr>
              <a:t>，最低安全类别，</a:t>
            </a:r>
            <a:r>
              <a:rPr lang="zh-CN" altLang="zh-CN" sz="2000" dirty="0">
                <a:latin typeface="+mn-ea"/>
                <a:cs typeface="+mn-ea"/>
                <a:sym typeface="Times New Roman" panose="02020603050405020304" pitchFamily="18" charset="0"/>
              </a:rPr>
              <a:t>又称为安全保护欠缺级。凡是无法达到另外</a:t>
            </a:r>
            <a:r>
              <a:rPr lang="en-US" altLang="zh-CN" sz="2000" dirty="0">
                <a:latin typeface="+mn-ea"/>
                <a:cs typeface="+mn-ea"/>
                <a:sym typeface="Times New Roman" panose="02020603050405020304" pitchFamily="18" charset="0"/>
              </a:rPr>
              <a:t>3</a:t>
            </a:r>
            <a:r>
              <a:rPr lang="zh-CN" altLang="zh-CN" sz="2000" dirty="0">
                <a:latin typeface="+mn-ea"/>
                <a:cs typeface="+mn-ea"/>
                <a:sym typeface="Times New Roman" panose="02020603050405020304" pitchFamily="18" charset="0"/>
              </a:rPr>
              <a:t>类标准要求的，都被归为</a:t>
            </a:r>
            <a:r>
              <a:rPr lang="en-US" altLang="zh-CN" sz="2000" dirty="0">
                <a:latin typeface="+mn-ea"/>
                <a:cs typeface="+mn-ea"/>
                <a:sym typeface="Times New Roman" panose="02020603050405020304" pitchFamily="18" charset="0"/>
              </a:rPr>
              <a:t>D</a:t>
            </a:r>
            <a:r>
              <a:rPr lang="zh-CN" altLang="zh-CN" sz="2000" dirty="0">
                <a:latin typeface="+mn-ea"/>
                <a:cs typeface="+mn-ea"/>
                <a:sym typeface="Times New Roman" panose="02020603050405020304" pitchFamily="18" charset="0"/>
              </a:rPr>
              <a:t>类。</a:t>
            </a:r>
            <a:r>
              <a:rPr lang="en-US" altLang="zh-CN" sz="2000" dirty="0">
                <a:latin typeface="+mn-ea"/>
                <a:cs typeface="+mn-ea"/>
                <a:sym typeface="Times New Roman" panose="02020603050405020304" pitchFamily="18" charset="0"/>
              </a:rPr>
              <a:t>MS-DOS</a:t>
            </a:r>
            <a:r>
              <a:rPr lang="zh-CN" altLang="en-US" sz="2000" dirty="0">
                <a:latin typeface="+mn-ea"/>
                <a:cs typeface="+mn-ea"/>
                <a:sym typeface="Times New Roman" panose="02020603050405020304" pitchFamily="18" charset="0"/>
              </a:rPr>
              <a:t>属于</a:t>
            </a:r>
            <a:r>
              <a:rPr lang="en-US" altLang="zh-CN" sz="2000" dirty="0">
                <a:latin typeface="+mn-ea"/>
                <a:cs typeface="+mn-ea"/>
                <a:sym typeface="Times New Roman" panose="02020603050405020304" pitchFamily="18" charset="0"/>
              </a:rPr>
              <a:t>D</a:t>
            </a:r>
            <a:r>
              <a:rPr lang="zh-CN" altLang="en-US" sz="2000" dirty="0">
                <a:latin typeface="+mn-ea"/>
                <a:cs typeface="+mn-ea"/>
                <a:sym typeface="Times New Roman" panose="02020603050405020304" pitchFamily="18" charset="0"/>
              </a:rPr>
              <a:t>类。</a:t>
            </a:r>
            <a:endParaRPr lang="en-US" altLang="zh-CN" sz="2000" dirty="0">
              <a:latin typeface="+mn-ea"/>
              <a:cs typeface="+mn-ea"/>
              <a:sym typeface="Times New Roman" panose="02020603050405020304" pitchFamily="18" charset="0"/>
            </a:endParaRPr>
          </a:p>
          <a:p>
            <a:pPr marL="1233805" lvl="2" indent="-457200">
              <a:lnSpc>
                <a:spcPct val="132000"/>
              </a:lnSpc>
              <a:buFont typeface="+mj-ea"/>
              <a:buAutoNum type="circleNumDbPlain"/>
            </a:pPr>
            <a:r>
              <a:rPr lang="en-US" altLang="zh-CN" sz="2000" dirty="0">
                <a:solidFill>
                  <a:srgbClr val="0000FF"/>
                </a:solidFill>
                <a:latin typeface="+mn-ea"/>
                <a:cs typeface="+mn-ea"/>
                <a:sym typeface="Times New Roman" panose="02020603050405020304" pitchFamily="18" charset="0"/>
              </a:rPr>
              <a:t>C</a:t>
            </a:r>
            <a:r>
              <a:rPr lang="en-US" altLang="zh-CN" sz="2000" baseline="-25000" dirty="0">
                <a:solidFill>
                  <a:srgbClr val="0000FF"/>
                </a:solidFill>
                <a:latin typeface="+mn-ea"/>
                <a:cs typeface="+mn-ea"/>
                <a:sym typeface="Times New Roman" panose="02020603050405020304" pitchFamily="18" charset="0"/>
              </a:rPr>
              <a:t>1</a:t>
            </a:r>
            <a:r>
              <a:rPr lang="en-US" altLang="zh-CN" sz="2000" dirty="0">
                <a:solidFill>
                  <a:srgbClr val="0000FF"/>
                </a:solidFill>
                <a:latin typeface="+mn-ea"/>
                <a:cs typeface="+mn-ea"/>
                <a:sym typeface="Times New Roman" panose="02020603050405020304" pitchFamily="18" charset="0"/>
              </a:rPr>
              <a:t>级</a:t>
            </a:r>
            <a:r>
              <a:rPr lang="zh-CN" altLang="zh-CN" sz="2000" dirty="0">
                <a:latin typeface="+mn-ea"/>
                <a:cs typeface="+mn-ea"/>
                <a:sym typeface="Times New Roman" panose="02020603050405020304" pitchFamily="18" charset="0"/>
              </a:rPr>
              <a:t>。</a:t>
            </a:r>
            <a:r>
              <a:rPr lang="en-US" altLang="zh-CN" sz="2000" dirty="0">
                <a:latin typeface="+mn-ea"/>
                <a:cs typeface="+mn-ea"/>
                <a:sym typeface="Times New Roman" panose="02020603050405020304" pitchFamily="18" charset="0"/>
              </a:rPr>
              <a:t>C</a:t>
            </a:r>
            <a:r>
              <a:rPr lang="zh-CN" altLang="zh-CN" sz="2000" dirty="0">
                <a:latin typeface="+mn-ea"/>
                <a:cs typeface="+mn-ea"/>
                <a:sym typeface="Times New Roman" panose="02020603050405020304" pitchFamily="18" charset="0"/>
              </a:rPr>
              <a:t>类是仅高于</a:t>
            </a:r>
            <a:r>
              <a:rPr lang="en-US" altLang="zh-CN" sz="2000" dirty="0">
                <a:latin typeface="+mn-ea"/>
                <a:cs typeface="+mn-ea"/>
                <a:sym typeface="Times New Roman" panose="02020603050405020304" pitchFamily="18" charset="0"/>
              </a:rPr>
              <a:t>D</a:t>
            </a:r>
            <a:r>
              <a:rPr lang="zh-CN" altLang="zh-CN" sz="2000" dirty="0">
                <a:latin typeface="+mn-ea"/>
                <a:cs typeface="+mn-ea"/>
                <a:sym typeface="Times New Roman" panose="02020603050405020304" pitchFamily="18" charset="0"/>
              </a:rPr>
              <a:t>类的安全类别。</a:t>
            </a:r>
            <a:r>
              <a:rPr lang="en-US" altLang="zh-CN" sz="2000" dirty="0">
                <a:latin typeface="+mn-ea"/>
                <a:cs typeface="+mn-ea"/>
                <a:sym typeface="Times New Roman" panose="02020603050405020304" pitchFamily="18" charset="0"/>
              </a:rPr>
              <a:t>C</a:t>
            </a:r>
            <a:r>
              <a:rPr lang="zh-CN" altLang="zh-CN" sz="2000" dirty="0">
                <a:latin typeface="+mn-ea"/>
                <a:cs typeface="+mn-ea"/>
                <a:sym typeface="Times New Roman" panose="02020603050405020304" pitchFamily="18" charset="0"/>
              </a:rPr>
              <a:t>类分为两级：</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1</a:t>
            </a:r>
            <a:r>
              <a:rPr lang="zh-CN" altLang="zh-CN" sz="2000" dirty="0">
                <a:latin typeface="+mn-ea"/>
                <a:cs typeface="+mn-ea"/>
                <a:sym typeface="Times New Roman" panose="02020603050405020304" pitchFamily="18" charset="0"/>
              </a:rPr>
              <a:t>和</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2</a:t>
            </a:r>
            <a:r>
              <a:rPr lang="zh-CN" altLang="zh-CN" sz="2000" dirty="0">
                <a:latin typeface="+mn-ea"/>
                <a:cs typeface="+mn-ea"/>
                <a:sym typeface="Times New Roman" panose="02020603050405020304" pitchFamily="18" charset="0"/>
              </a:rPr>
              <a:t>。</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1</a:t>
            </a:r>
            <a:r>
              <a:rPr lang="zh-CN" altLang="zh-CN" sz="2000" dirty="0">
                <a:latin typeface="+mn-ea"/>
                <a:cs typeface="+mn-ea"/>
                <a:sym typeface="Times New Roman" panose="02020603050405020304" pitchFamily="18" charset="0"/>
              </a:rPr>
              <a:t>级要求</a:t>
            </a:r>
            <a:r>
              <a:rPr lang="en-US" altLang="zh-CN" sz="2000" dirty="0">
                <a:latin typeface="+mn-ea"/>
                <a:cs typeface="+mn-ea"/>
                <a:sym typeface="Times New Roman" panose="02020603050405020304" pitchFamily="18" charset="0"/>
              </a:rPr>
              <a:t>OS</a:t>
            </a:r>
            <a:r>
              <a:rPr lang="zh-CN" altLang="zh-CN" sz="2000" dirty="0">
                <a:latin typeface="+mn-ea"/>
                <a:cs typeface="+mn-ea"/>
                <a:sym typeface="Times New Roman" panose="02020603050405020304" pitchFamily="18" charset="0"/>
              </a:rPr>
              <a:t>使用保护模式和用户登录验证，并赋予用户自主访问控制权，即允许用户指定其他用户对自己文件的使用权限。大部分的</a:t>
            </a:r>
            <a:r>
              <a:rPr lang="en-US" altLang="zh-CN" sz="2000" dirty="0">
                <a:latin typeface="+mn-ea"/>
                <a:cs typeface="+mn-ea"/>
                <a:sym typeface="Times New Roman" panose="02020603050405020304" pitchFamily="18" charset="0"/>
              </a:rPr>
              <a:t>UNIX</a:t>
            </a:r>
            <a:r>
              <a:rPr lang="zh-CN" altLang="zh-CN" sz="2000" dirty="0">
                <a:latin typeface="+mn-ea"/>
                <a:cs typeface="+mn-ea"/>
                <a:sym typeface="Times New Roman" panose="02020603050405020304" pitchFamily="18" charset="0"/>
              </a:rPr>
              <a:t>系统属于</a:t>
            </a:r>
            <a:r>
              <a:rPr lang="en-US" altLang="zh-CN" sz="2000" dirty="0">
                <a:latin typeface="+mn-ea"/>
                <a:cs typeface="+mn-ea"/>
                <a:sym typeface="Times New Roman" panose="02020603050405020304" pitchFamily="18" charset="0"/>
              </a:rPr>
              <a:t>C</a:t>
            </a:r>
            <a:r>
              <a:rPr lang="en-US" altLang="zh-CN" sz="2000" baseline="-25000" dirty="0">
                <a:latin typeface="+mn-ea"/>
                <a:cs typeface="+mn-ea"/>
                <a:sym typeface="Times New Roman" panose="02020603050405020304" pitchFamily="18" charset="0"/>
              </a:rPr>
              <a:t>1</a:t>
            </a:r>
            <a:r>
              <a:rPr lang="zh-CN" altLang="zh-CN" sz="2000" dirty="0">
                <a:latin typeface="+mn-ea"/>
                <a:cs typeface="+mn-ea"/>
                <a:sym typeface="Times New Roman" panose="02020603050405020304" pitchFamily="18" charset="0"/>
              </a:rPr>
              <a:t>级。</a:t>
            </a:r>
            <a:endParaRPr lang="zh-CN" altLang="en-US" sz="2000" dirty="0">
              <a:latin typeface="+mn-ea"/>
              <a:cs typeface="+mn-ea"/>
              <a:sym typeface="Times New Roman" panose="02020603050405020304" pitchFamily="18" charset="0"/>
            </a:endParaRPr>
          </a:p>
        </p:txBody>
      </p:sp>
      <p:sp>
        <p:nvSpPr>
          <p:cNvPr id="5" name="íSľïdé"/>
          <p:cNvSpPr/>
          <p:nvPr/>
        </p:nvSpPr>
        <p:spPr>
          <a:xfrm>
            <a:off x="773586" y="1255128"/>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6" name="ïŝļíḓê"/>
          <p:cNvSpPr/>
          <p:nvPr/>
        </p:nvSpPr>
        <p:spPr bwMode="auto">
          <a:xfrm>
            <a:off x="784514" y="2633950"/>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计算机安全的分类（</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974501" y="1280373"/>
            <a:ext cx="10217239" cy="48499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C</a:t>
            </a:r>
            <a:r>
              <a:rPr lang="en-US" altLang="zh-CN" sz="2200" baseline="-25000" dirty="0">
                <a:solidFill>
                  <a:srgbClr val="0000FF"/>
                </a:solidFill>
                <a:latin typeface="+mn-ea"/>
                <a:cs typeface="+mn-ea"/>
                <a:sym typeface="Times New Roman" panose="02020603050405020304" pitchFamily="18" charset="0"/>
              </a:rPr>
              <a:t>2</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，称为受控存取控制级。它是在</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级的基础上，增加了一个个体层访问控制</a:t>
            </a:r>
            <a:r>
              <a:rPr lang="zh-CN" altLang="en-US" sz="2200" dirty="0">
                <a:latin typeface="+mn-ea"/>
                <a:cs typeface="+mn-ea"/>
                <a:sym typeface="Times New Roman" panose="02020603050405020304" pitchFamily="18" charset="0"/>
              </a:rPr>
              <a:t>。</a:t>
            </a:r>
            <a:r>
              <a:rPr lang="zh-CN" altLang="zh-CN" sz="2200" dirty="0">
                <a:latin typeface="+mn-ea"/>
                <a:cs typeface="+mn-ea"/>
                <a:sym typeface="Times New Roman" panose="02020603050405020304" pitchFamily="18" charset="0"/>
              </a:rPr>
              <a:t>当前广泛使用的安全软件大多属于</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B</a:t>
            </a:r>
            <a:r>
              <a:rPr lang="en-US" altLang="zh-CN" sz="2200" baseline="-25000" dirty="0">
                <a:solidFill>
                  <a:srgbClr val="0000FF"/>
                </a:solidFill>
                <a:latin typeface="+mn-ea"/>
                <a:cs typeface="+mn-ea"/>
                <a:sym typeface="Times New Roman" panose="02020603050405020304" pitchFamily="18" charset="0"/>
              </a:rPr>
              <a:t>1</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，具有</a:t>
            </a:r>
            <a:r>
              <a:rPr lang="en-US" altLang="zh-CN" sz="2200" dirty="0">
                <a:latin typeface="+mn-ea"/>
                <a:cs typeface="+mn-ea"/>
                <a:sym typeface="Times New Roman" panose="02020603050405020304" pitchFamily="18" charset="0"/>
              </a:rPr>
              <a:t>C</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级的全部安全属性。在</a:t>
            </a:r>
            <a:r>
              <a:rPr lang="en-US" altLang="zh-CN" sz="2200" dirty="0">
                <a:latin typeface="+mn-ea"/>
                <a:cs typeface="+mn-ea"/>
                <a:sym typeface="Times New Roman" panose="02020603050405020304" pitchFamily="18" charset="0"/>
              </a:rPr>
              <a:t>B</a:t>
            </a:r>
            <a:r>
              <a:rPr lang="zh-CN" altLang="zh-CN" sz="2200" dirty="0">
                <a:latin typeface="+mn-ea"/>
                <a:cs typeface="+mn-ea"/>
                <a:sym typeface="Times New Roman" panose="02020603050405020304" pitchFamily="18" charset="0"/>
              </a:rPr>
              <a:t>类系统中，会为每个可控用户和对象贴上一个安全标注。</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B</a:t>
            </a:r>
            <a:r>
              <a:rPr lang="en-US" altLang="zh-CN" sz="2200" baseline="-25000" dirty="0">
                <a:solidFill>
                  <a:srgbClr val="0000FF"/>
                </a:solidFill>
                <a:latin typeface="+mn-ea"/>
                <a:cs typeface="+mn-ea"/>
                <a:sym typeface="Times New Roman" panose="02020603050405020304" pitchFamily="18" charset="0"/>
              </a:rPr>
              <a:t>2</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，具有</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1</a:t>
            </a:r>
            <a:r>
              <a:rPr lang="zh-CN" altLang="zh-CN" sz="2200" dirty="0">
                <a:latin typeface="+mn-ea"/>
                <a:cs typeface="+mn-ea"/>
                <a:sym typeface="Times New Roman" panose="02020603050405020304" pitchFamily="18" charset="0"/>
              </a:rPr>
              <a:t>级的全部安全属性。</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级要求系统必须采用自上而下的结构化设计方法，并能够对设计方法进行检验，对可能存在的隐蔽信道进行安全分析。</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B</a:t>
            </a:r>
            <a:r>
              <a:rPr lang="en-US" altLang="zh-CN" sz="2200" baseline="-25000" dirty="0">
                <a:solidFill>
                  <a:srgbClr val="0000FF"/>
                </a:solidFill>
                <a:latin typeface="+mn-ea"/>
                <a:cs typeface="+mn-ea"/>
                <a:sym typeface="Times New Roman" panose="02020603050405020304" pitchFamily="18" charset="0"/>
              </a:rPr>
              <a:t>3</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，具有</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2</a:t>
            </a:r>
            <a:r>
              <a:rPr lang="zh-CN" altLang="zh-CN" sz="2200" dirty="0">
                <a:latin typeface="+mn-ea"/>
                <a:cs typeface="+mn-ea"/>
                <a:sym typeface="Times New Roman" panose="02020603050405020304" pitchFamily="18" charset="0"/>
              </a:rPr>
              <a:t>级的全部安全属性。在</a:t>
            </a:r>
            <a:r>
              <a:rPr lang="en-US" altLang="zh-CN" sz="2200" dirty="0">
                <a:latin typeface="+mn-ea"/>
                <a:cs typeface="+mn-ea"/>
                <a:sym typeface="Times New Roman" panose="02020603050405020304" pitchFamily="18" charset="0"/>
              </a:rPr>
              <a:t>B</a:t>
            </a:r>
            <a:r>
              <a:rPr lang="en-US" altLang="zh-CN" sz="2200" baseline="-25000" dirty="0">
                <a:latin typeface="+mn-ea"/>
                <a:cs typeface="+mn-ea"/>
                <a:sym typeface="Times New Roman" panose="02020603050405020304" pitchFamily="18" charset="0"/>
              </a:rPr>
              <a:t>3</a:t>
            </a:r>
            <a:r>
              <a:rPr lang="zh-CN" altLang="zh-CN" sz="2200" dirty="0">
                <a:latin typeface="+mn-ea"/>
                <a:cs typeface="+mn-ea"/>
                <a:sym typeface="Times New Roman" panose="02020603050405020304" pitchFamily="18" charset="0"/>
              </a:rPr>
              <a:t>级系统中必须包含用户和组的访问控制表、足够的安全审计和灾难恢复能力。</a:t>
            </a:r>
            <a:endParaRPr lang="en-US" altLang="zh-CN" sz="2200" dirty="0">
              <a:latin typeface="+mn-ea"/>
              <a:cs typeface="+mn-ea"/>
              <a:sym typeface="Times New Roman" panose="02020603050405020304" pitchFamily="18" charset="0"/>
            </a:endParaRPr>
          </a:p>
          <a:p>
            <a:pPr marL="457200" indent="-457200">
              <a:lnSpc>
                <a:spcPct val="123000"/>
              </a:lnSpc>
              <a:buFont typeface="+mj-ea"/>
              <a:buAutoNum type="circleNumDbPlain" startAt="3"/>
            </a:pPr>
            <a:r>
              <a:rPr lang="en-US" altLang="zh-CN" sz="2200" dirty="0">
                <a:solidFill>
                  <a:srgbClr val="0000FF"/>
                </a:solidFill>
                <a:latin typeface="+mn-ea"/>
                <a:cs typeface="+mn-ea"/>
                <a:sym typeface="Times New Roman" panose="02020603050405020304" pitchFamily="18" charset="0"/>
              </a:rPr>
              <a:t>A</a:t>
            </a:r>
            <a:r>
              <a:rPr lang="en-US" altLang="zh-CN" sz="2200" baseline="-25000" dirty="0">
                <a:solidFill>
                  <a:srgbClr val="0000FF"/>
                </a:solidFill>
                <a:latin typeface="+mn-ea"/>
                <a:cs typeface="+mn-ea"/>
                <a:sym typeface="Times New Roman" panose="02020603050405020304" pitchFamily="18" charset="0"/>
              </a:rPr>
              <a:t>1</a:t>
            </a:r>
            <a:r>
              <a:rPr lang="en-US" altLang="zh-CN" sz="2200" dirty="0">
                <a:solidFill>
                  <a:srgbClr val="0000FF"/>
                </a:solidFill>
                <a:latin typeface="+mn-ea"/>
                <a:cs typeface="+mn-ea"/>
                <a:sym typeface="Times New Roman" panose="02020603050405020304" pitchFamily="18" charset="0"/>
              </a:rPr>
              <a:t>级</a:t>
            </a:r>
            <a:r>
              <a:rPr lang="zh-CN" altLang="zh-CN" sz="2200" dirty="0">
                <a:latin typeface="+mn-ea"/>
                <a:cs typeface="+mn-ea"/>
                <a:sym typeface="Times New Roman" panose="02020603050405020304" pitchFamily="18" charset="0"/>
              </a:rPr>
              <a:t>，要求系统具有强制存取控制和形式化模型技术的应用，能证明模型是正确的，并须说明有关实现方法是与保护模型一致的。</a:t>
            </a:r>
            <a:endParaRPr lang="zh-CN" altLang="en-US" sz="2200" dirty="0">
              <a:latin typeface="+mn-ea"/>
              <a:cs typeface="+mn-ea"/>
              <a:sym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内容导航：</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12.2  </a:t>
            </a:r>
            <a:r>
              <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数据加密技术</a:t>
            </a:r>
            <a:endPar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12.3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矩形 24"/>
          <p:cNvSpPr/>
          <p:nvPr/>
        </p:nvSpPr>
        <p:spPr>
          <a:xfrm>
            <a:off x="1379227" y="3667722"/>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12.4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矩形 2"/>
          <p:cNvSpPr/>
          <p:nvPr/>
        </p:nvSpPr>
        <p:spPr>
          <a:xfrm>
            <a:off x="7632441" y="2349214"/>
            <a:ext cx="4058796" cy="646331"/>
          </a:xfrm>
          <a:prstGeom prst="rect">
            <a:avLst/>
          </a:prstGeom>
        </p:spPr>
        <p:txBody>
          <a:bodyPr wrap="square">
            <a:spAutoFit/>
          </a:bodyPr>
          <a:lstStyle/>
          <a:p>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36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cxnSp>
        <p:nvCxnSpPr>
          <p:cNvPr id="5" name="直接连接符 4"/>
          <p:cNvCxnSpPr/>
          <p:nvPr/>
        </p:nvCxnSpPr>
        <p:spPr>
          <a:xfrm>
            <a:off x="7567127" y="3190471"/>
            <a:ext cx="397999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81373"/>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99518"/>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641362"/>
            <a:ext cx="527050" cy="527050"/>
          </a:xfrm>
          <a:prstGeom prst="rect">
            <a:avLst/>
          </a:prstGeom>
          <a:ln>
            <a:noFill/>
          </a:ln>
          <a:effectLst>
            <a:softEdge rad="0"/>
          </a:effectLst>
        </p:spPr>
      </p:pic>
      <p:sp>
        <p:nvSpPr>
          <p:cNvPr id="18" name="矩形 17"/>
          <p:cNvSpPr/>
          <p:nvPr/>
        </p:nvSpPr>
        <p:spPr>
          <a:xfrm>
            <a:off x="1379227" y="4282526"/>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12.5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来自系统外部的攻击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237504"/>
            <a:ext cx="527050" cy="527050"/>
          </a:xfrm>
          <a:prstGeom prst="rect">
            <a:avLst/>
          </a:prstGeom>
          <a:ln>
            <a:noFill/>
          </a:ln>
          <a:effectLst>
            <a:softEdge rad="0"/>
          </a:effectLst>
        </p:spPr>
      </p:pic>
      <p:sp>
        <p:nvSpPr>
          <p:cNvPr id="27" name="矩形 26"/>
          <p:cNvSpPr/>
          <p:nvPr/>
        </p:nvSpPr>
        <p:spPr>
          <a:xfrm>
            <a:off x="1379227" y="4868899"/>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12.6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可信系统</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23877"/>
            <a:ext cx="527050" cy="527050"/>
          </a:xfrm>
          <a:prstGeom prst="rect">
            <a:avLst/>
          </a:prstGeom>
          <a:ln>
            <a:noFill/>
          </a:ln>
          <a:effectLst>
            <a:softEdge rad="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12.2.1</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数据加密原理</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íSľïdé"/>
          <p:cNvSpPr/>
          <p:nvPr/>
        </p:nvSpPr>
        <p:spPr>
          <a:xfrm>
            <a:off x="1906927" y="165437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5" name="ïŝļíḓê"/>
          <p:cNvSpPr/>
          <p:nvPr/>
        </p:nvSpPr>
        <p:spPr bwMode="auto">
          <a:xfrm>
            <a:off x="8689292" y="2286218"/>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6" name="îṧľîdé"/>
          <p:cNvSpPr/>
          <p:nvPr/>
        </p:nvSpPr>
        <p:spPr>
          <a:xfrm>
            <a:off x="3703687" y="1495090"/>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内容占位符 2"/>
          <p:cNvSpPr txBox="1"/>
          <p:nvPr/>
        </p:nvSpPr>
        <p:spPr>
          <a:xfrm>
            <a:off x="894703" y="2286218"/>
            <a:ext cx="325229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加密</a:t>
            </a:r>
            <a:r>
              <a:rPr lang="zh-CN" altLang="en-US" sz="2400" dirty="0"/>
              <a:t>是一种密写科学，用于</a:t>
            </a:r>
            <a:r>
              <a:rPr lang="zh-CN" altLang="en-US" sz="2400" dirty="0">
                <a:solidFill>
                  <a:srgbClr val="0000FF"/>
                </a:solidFill>
              </a:rPr>
              <a:t>把系统中的数据</a:t>
            </a:r>
            <a:r>
              <a:rPr lang="en-US" altLang="zh-CN" sz="2400" dirty="0">
                <a:solidFill>
                  <a:srgbClr val="0000FF"/>
                </a:solidFill>
              </a:rPr>
              <a:t>(</a:t>
            </a:r>
            <a:r>
              <a:rPr lang="zh-CN" altLang="en-US" sz="2400" dirty="0">
                <a:solidFill>
                  <a:srgbClr val="0000FF"/>
                </a:solidFill>
              </a:rPr>
              <a:t>称为明文</a:t>
            </a:r>
            <a:r>
              <a:rPr lang="en-US" altLang="zh-CN" sz="2400" dirty="0">
                <a:solidFill>
                  <a:srgbClr val="0000FF"/>
                </a:solidFill>
              </a:rPr>
              <a:t>)</a:t>
            </a:r>
            <a:r>
              <a:rPr lang="zh-CN" altLang="en-US" sz="2400" dirty="0">
                <a:solidFill>
                  <a:srgbClr val="0000FF"/>
                </a:solidFill>
              </a:rPr>
              <a:t>转换为密文</a:t>
            </a:r>
            <a:r>
              <a:rPr lang="zh-CN" altLang="en-US" sz="2400" dirty="0"/>
              <a:t>。使攻击者即使截获到被加密的数据，也无法了解数据的内容，从而有效地保护了系统中信息的安全性</a:t>
            </a:r>
            <a:endParaRPr lang="zh-CN" altLang="en-US" sz="2400" dirty="0">
              <a:solidFill>
                <a:schemeClr val="tx1">
                  <a:lumMod val="65000"/>
                  <a:lumOff val="35000"/>
                </a:schemeClr>
              </a:solidFill>
            </a:endParaRPr>
          </a:p>
        </p:txBody>
      </p:sp>
      <p:sp>
        <p:nvSpPr>
          <p:cNvPr id="8" name="内容占位符 2"/>
          <p:cNvSpPr txBox="1"/>
          <p:nvPr/>
        </p:nvSpPr>
        <p:spPr>
          <a:xfrm>
            <a:off x="7696200" y="2964586"/>
            <a:ext cx="3315237" cy="221271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数据加密技术包括：</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数据加密</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数据解密</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smtClean="0">
                <a:solidFill>
                  <a:srgbClr val="0000FF"/>
                </a:solidFill>
              </a:rPr>
              <a:t>数字签名</a:t>
            </a:r>
            <a:endParaRPr lang="zh-CN" altLang="en-US" sz="2400" dirty="0">
              <a:solidFill>
                <a:srgbClr val="0000FF"/>
              </a:solidFill>
            </a:endParaRPr>
          </a:p>
        </p:txBody>
      </p:sp>
      <p:sp>
        <p:nvSpPr>
          <p:cNvPr id="9" name="内容占位符 2"/>
          <p:cNvSpPr txBox="1"/>
          <p:nvPr/>
        </p:nvSpPr>
        <p:spPr>
          <a:xfrm>
            <a:off x="9694601" y="3479741"/>
            <a:ext cx="2012296" cy="16975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smtClean="0">
                <a:solidFill>
                  <a:srgbClr val="0000FF"/>
                </a:solidFill>
              </a:rPr>
              <a:t>签名</a:t>
            </a:r>
            <a:r>
              <a:rPr lang="zh-CN" altLang="en-US" sz="2400" dirty="0">
                <a:solidFill>
                  <a:srgbClr val="0000FF"/>
                </a:solidFill>
              </a:rPr>
              <a:t>识别</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数字证明</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a:solidFill>
                  <a:srgbClr val="0000FF"/>
                </a:solidFill>
              </a:rPr>
              <a:t>…</a:t>
            </a:r>
            <a:endParaRPr lang="en-US" altLang="zh-CN" sz="2400" dirty="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数据加密模型</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851586" y="1289050"/>
            <a:ext cx="3849203" cy="5783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2400" dirty="0">
                <a:latin typeface="+mn-ea"/>
                <a:cs typeface="+mn-ea"/>
                <a:sym typeface="Times New Roman" panose="02020603050405020304" pitchFamily="18" charset="0"/>
              </a:rPr>
              <a:t>数据加密模型由</a:t>
            </a:r>
            <a:r>
              <a:rPr lang="en-US" altLang="zh-CN" sz="2400" dirty="0">
                <a:latin typeface="+mn-ea"/>
                <a:cs typeface="+mn-ea"/>
                <a:sym typeface="Times New Roman" panose="02020603050405020304" pitchFamily="18" charset="0"/>
              </a:rPr>
              <a:t>4</a:t>
            </a:r>
            <a:r>
              <a:rPr lang="zh-CN" altLang="zh-CN" sz="2400" dirty="0">
                <a:latin typeface="+mn-ea"/>
                <a:cs typeface="+mn-ea"/>
                <a:sym typeface="Times New Roman" panose="02020603050405020304" pitchFamily="18" charset="0"/>
              </a:rPr>
              <a:t>部分</a:t>
            </a:r>
            <a:r>
              <a:rPr lang="zh-CN" altLang="zh-CN" sz="2400" dirty="0" smtClean="0">
                <a:latin typeface="+mn-ea"/>
                <a:cs typeface="+mn-ea"/>
                <a:sym typeface="Times New Roman" panose="02020603050405020304" pitchFamily="18" charset="0"/>
              </a:rPr>
              <a:t>组成</a:t>
            </a:r>
            <a:endParaRPr lang="en-US" altLang="zh-CN" sz="2400" dirty="0">
              <a:latin typeface="+mn-ea"/>
              <a:cs typeface="+mn-ea"/>
              <a:sym typeface="Times New Roman" panose="02020603050405020304" pitchFamily="18" charset="0"/>
            </a:endParaRPr>
          </a:p>
        </p:txBody>
      </p:sp>
      <p:grpSp>
        <p:nvGrpSpPr>
          <p:cNvPr id="5"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10344" y="1929384"/>
            <a:ext cx="11229049" cy="3733571"/>
            <a:chOff x="410344" y="1929384"/>
            <a:chExt cx="11229049" cy="3733571"/>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isľîdê"/>
            <p:cNvSpPr txBox="1"/>
            <p:nvPr/>
          </p:nvSpPr>
          <p:spPr>
            <a:xfrm>
              <a:off x="410344" y="4201239"/>
              <a:ext cx="2905986"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明文：</a:t>
              </a:r>
              <a:r>
                <a:rPr lang="zh-CN" altLang="en-US" sz="2200" dirty="0"/>
                <a:t>被加密的文本，称为明文</a:t>
              </a:r>
              <a:r>
                <a:rPr lang="en-US" altLang="zh-CN" sz="2200" dirty="0"/>
                <a:t>P</a:t>
              </a:r>
              <a:r>
                <a:rPr lang="zh-CN" altLang="en-US" sz="2200" dirty="0"/>
                <a:t>。</a:t>
              </a:r>
              <a:endParaRPr lang="zh-CN" altLang="en-US" sz="2200" dirty="0"/>
            </a:p>
          </p:txBody>
        </p:sp>
        <p:sp>
          <p:nvSpPr>
            <p:cNvPr id="1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5" name="isľîdê"/>
            <p:cNvSpPr txBox="1"/>
            <p:nvPr/>
          </p:nvSpPr>
          <p:spPr>
            <a:xfrm>
              <a:off x="3387554" y="4182861"/>
              <a:ext cx="2462076"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密文：</a:t>
              </a:r>
              <a:r>
                <a:rPr lang="zh-CN" altLang="en-US" sz="2200" dirty="0"/>
                <a:t>加密后的文本，称为密文</a:t>
              </a:r>
              <a:r>
                <a:rPr lang="en-US" altLang="zh-CN" sz="2200" dirty="0"/>
                <a:t>Y</a:t>
              </a:r>
              <a:r>
                <a:rPr lang="zh-CN" altLang="en-US" sz="2200" dirty="0"/>
                <a:t>。</a:t>
              </a:r>
              <a:endParaRPr lang="zh-CN" altLang="en-US" sz="2200" dirty="0"/>
            </a:p>
          </p:txBody>
        </p:sp>
        <p:sp>
          <p:nvSpPr>
            <p:cNvPr id="26" name="isľîdê"/>
            <p:cNvSpPr txBox="1"/>
            <p:nvPr/>
          </p:nvSpPr>
          <p:spPr>
            <a:xfrm>
              <a:off x="5920854" y="4182861"/>
              <a:ext cx="3184799"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加密（解密）</a:t>
              </a:r>
              <a:r>
                <a:rPr lang="zh-CN" altLang="en-US" sz="2200" dirty="0"/>
                <a:t>算法</a:t>
              </a:r>
              <a:r>
                <a:rPr lang="en-US" altLang="zh-CN" sz="2200" dirty="0" err="1"/>
                <a:t>EKe</a:t>
              </a:r>
              <a:r>
                <a:rPr lang="zh-CN" altLang="en-US" sz="2200" dirty="0"/>
                <a:t>（</a:t>
              </a:r>
              <a:r>
                <a:rPr lang="en-US" altLang="zh-CN" sz="2200" dirty="0" err="1"/>
                <a:t>DKd</a:t>
              </a:r>
              <a:r>
                <a:rPr lang="zh-CN" altLang="en-US" sz="2200" dirty="0"/>
                <a:t>）：用于实现从明文（密文）到密文（明文）转换的公式、规则或程序。</a:t>
              </a:r>
              <a:endParaRPr lang="zh-CN" altLang="en-US" sz="2200" dirty="0"/>
            </a:p>
          </p:txBody>
        </p:sp>
        <p:sp>
          <p:nvSpPr>
            <p:cNvPr id="27" name="isľîdê"/>
            <p:cNvSpPr txBox="1"/>
            <p:nvPr/>
          </p:nvSpPr>
          <p:spPr>
            <a:xfrm>
              <a:off x="9105653" y="4182861"/>
              <a:ext cx="2533740" cy="1461716"/>
            </a:xfrm>
            <a:prstGeom prst="rect">
              <a:avLst/>
            </a:prstGeom>
            <a:noFill/>
            <a:ln>
              <a:noFill/>
            </a:ln>
          </p:spPr>
          <p:txBody>
            <a:bodyPr wrap="square" lIns="91440" tIns="45720" rIns="91440" bIns="45720" anchor="t" anchorCtr="0">
              <a:noAutofit/>
            </a:bodyPr>
            <a:lstStyle/>
            <a:p>
              <a:pPr lvl="1" indent="-457200" algn="ctr">
                <a:lnSpc>
                  <a:spcPct val="120000"/>
                </a:lnSpc>
                <a:buClr>
                  <a:srgbClr val="0000FF"/>
                </a:buClr>
                <a:buFont typeface="+mj-ea"/>
                <a:buAutoNum type="circleNumDbPlain"/>
              </a:pPr>
              <a:r>
                <a:rPr lang="zh-CN" altLang="en-US" sz="2200" dirty="0">
                  <a:solidFill>
                    <a:srgbClr val="0000FF"/>
                  </a:solidFill>
                </a:rPr>
                <a:t>密钥</a:t>
              </a:r>
              <a:r>
                <a:rPr lang="en-US" altLang="zh-CN" sz="2200" dirty="0">
                  <a:solidFill>
                    <a:srgbClr val="0000FF"/>
                  </a:solidFill>
                </a:rPr>
                <a:t>K</a:t>
              </a:r>
              <a:r>
                <a:rPr lang="zh-CN" altLang="en-US" sz="2200" dirty="0">
                  <a:solidFill>
                    <a:srgbClr val="0000FF"/>
                  </a:solidFill>
                </a:rPr>
                <a:t>：</a:t>
              </a:r>
              <a:r>
                <a:rPr lang="zh-CN" altLang="en-US" sz="2200" dirty="0"/>
                <a:t>加密和解密算法中的关键参数。</a:t>
              </a:r>
              <a:endParaRPr lang="zh-CN" altLang="en-US" sz="22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数据加密模型</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449768" y="1982792"/>
            <a:ext cx="3733294" cy="33490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32000"/>
              </a:lnSpc>
              <a:buClr>
                <a:srgbClr val="FF0000"/>
              </a:buClr>
              <a:buFont typeface="Wingdings" panose="05000000000000000000" pitchFamily="2" charset="2"/>
              <a:buChar char="p"/>
            </a:pPr>
            <a:r>
              <a:rPr lang="zh-CN" altLang="zh-CN" sz="2400" dirty="0" smtClean="0">
                <a:latin typeface="+mn-ea"/>
                <a:cs typeface="+mn-ea"/>
                <a:sym typeface="Times New Roman" panose="02020603050405020304" pitchFamily="18" charset="0"/>
              </a:rPr>
              <a:t>设计</a:t>
            </a:r>
            <a:r>
              <a:rPr lang="zh-CN" altLang="zh-CN" sz="2400" dirty="0">
                <a:latin typeface="+mn-ea"/>
                <a:cs typeface="+mn-ea"/>
                <a:sym typeface="Times New Roman" panose="02020603050405020304" pitchFamily="18" charset="0"/>
              </a:rPr>
              <a:t>密码技术称为密码编码</a:t>
            </a:r>
            <a:endParaRPr lang="en-US" altLang="zh-CN" sz="2400" dirty="0">
              <a:latin typeface="+mn-ea"/>
              <a:cs typeface="+mn-ea"/>
              <a:sym typeface="Times New Roman" panose="02020603050405020304" pitchFamily="18" charset="0"/>
            </a:endParaRPr>
          </a:p>
          <a:p>
            <a:pPr lvl="1" indent="-442595">
              <a:lnSpc>
                <a:spcPct val="132000"/>
              </a:lnSpc>
              <a:buClr>
                <a:srgbClr val="FF0000"/>
              </a:buClr>
              <a:buFont typeface="Wingdings" panose="05000000000000000000" pitchFamily="2" charset="2"/>
              <a:buChar char="p"/>
            </a:pPr>
            <a:r>
              <a:rPr lang="zh-CN" altLang="zh-CN" sz="2400" dirty="0">
                <a:latin typeface="+mn-ea"/>
                <a:cs typeface="+mn-ea"/>
                <a:sym typeface="Times New Roman" panose="02020603050405020304" pitchFamily="18" charset="0"/>
              </a:rPr>
              <a:t>将破译密码技术称为密码分析</a:t>
            </a:r>
            <a:endParaRPr lang="en-US" altLang="zh-CN" sz="2400" dirty="0">
              <a:latin typeface="+mn-ea"/>
              <a:cs typeface="+mn-ea"/>
              <a:sym typeface="Times New Roman" panose="02020603050405020304" pitchFamily="18" charset="0"/>
            </a:endParaRPr>
          </a:p>
          <a:p>
            <a:pPr lvl="1" indent="-442595">
              <a:lnSpc>
                <a:spcPct val="132000"/>
              </a:lnSpc>
              <a:buClr>
                <a:srgbClr val="FF0000"/>
              </a:buClr>
              <a:buFont typeface="Wingdings" panose="05000000000000000000" pitchFamily="2" charset="2"/>
              <a:buChar char="p"/>
            </a:pPr>
            <a:r>
              <a:rPr lang="zh-CN" altLang="zh-CN" sz="2400" dirty="0">
                <a:latin typeface="+mn-ea"/>
                <a:cs typeface="+mn-ea"/>
                <a:sym typeface="Times New Roman" panose="02020603050405020304" pitchFamily="18" charset="0"/>
              </a:rPr>
              <a:t>密码编码和密码分析</a:t>
            </a:r>
            <a:r>
              <a:rPr lang="zh-CN" altLang="zh-CN" sz="2400" dirty="0" smtClean="0">
                <a:latin typeface="+mn-ea"/>
                <a:cs typeface="+mn-ea"/>
                <a:sym typeface="Times New Roman" panose="02020603050405020304" pitchFamily="18" charset="0"/>
              </a:rPr>
              <a:t>合起来称为</a:t>
            </a:r>
            <a:r>
              <a:rPr lang="zh-CN" altLang="zh-CN" sz="2400" b="1" dirty="0">
                <a:solidFill>
                  <a:srgbClr val="FF0000"/>
                </a:solidFill>
                <a:latin typeface="+mn-ea"/>
                <a:cs typeface="+mn-ea"/>
                <a:sym typeface="Times New Roman" panose="02020603050405020304" pitchFamily="18" charset="0"/>
              </a:rPr>
              <a:t>密码学</a:t>
            </a:r>
            <a:endParaRPr lang="zh-CN" altLang="zh-CN" sz="2400" b="1" dirty="0">
              <a:solidFill>
                <a:srgbClr val="FF0000"/>
              </a:solidFill>
              <a:latin typeface="+mn-ea"/>
              <a:cs typeface="+mn-ea"/>
              <a:sym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4610637" y="2116053"/>
            <a:ext cx="6453353" cy="3082537"/>
          </a:xfrm>
          <a:prstGeom prst="rect">
            <a:avLst/>
          </a:prstGeom>
          <a:ln>
            <a:solidFill>
              <a:schemeClr val="accent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基本加密方法 </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易位法</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5" name="iṡļiḓe"/>
          <p:cNvGrpSpPr/>
          <p:nvPr/>
        </p:nvGrpSpPr>
        <p:grpSpPr>
          <a:xfrm>
            <a:off x="660400" y="1298467"/>
            <a:ext cx="11020738" cy="942458"/>
            <a:chOff x="660400" y="1787149"/>
            <a:chExt cx="11020738" cy="942458"/>
          </a:xfrm>
        </p:grpSpPr>
        <p:sp>
          <p:nvSpPr>
            <p:cNvPr id="10" name="îṧľîḋé"/>
            <p:cNvSpPr txBox="1"/>
            <p:nvPr/>
          </p:nvSpPr>
          <p:spPr>
            <a:xfrm>
              <a:off x="1296567" y="1835355"/>
              <a:ext cx="10384571" cy="89425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solidFill>
                    <a:srgbClr val="FF0000"/>
                  </a:solidFill>
                </a:rPr>
                <a:t>易位法</a:t>
              </a:r>
              <a:r>
                <a:rPr lang="zh-CN" altLang="en-US" sz="2400" dirty="0"/>
                <a:t>是指按照一定的规则，重新安排明文中的比特或字符的顺序以形成密文，而字符本身却保持不变。</a:t>
              </a:r>
              <a:endParaRPr lang="zh-CN" altLang="en-US" sz="2400" dirty="0"/>
            </a:p>
          </p:txBody>
        </p:sp>
        <p:grpSp>
          <p:nvGrpSpPr>
            <p:cNvPr id="7" name="ïS1íḋé"/>
            <p:cNvGrpSpPr/>
            <p:nvPr/>
          </p:nvGrpSpPr>
          <p:grpSpPr>
            <a:xfrm>
              <a:off x="660400" y="1787149"/>
              <a:ext cx="497734" cy="497734"/>
              <a:chOff x="660400" y="1787149"/>
              <a:chExt cx="497734" cy="497734"/>
            </a:xfrm>
          </p:grpSpPr>
          <p:sp>
            <p:nvSpPr>
              <p:cNvPr id="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iŝļïḓê"/>
          <p:cNvGrpSpPr/>
          <p:nvPr/>
        </p:nvGrpSpPr>
        <p:grpSpPr>
          <a:xfrm>
            <a:off x="660400" y="2664840"/>
            <a:ext cx="5475356" cy="3503922"/>
            <a:chOff x="660400" y="2092934"/>
            <a:chExt cx="5475356" cy="3503922"/>
          </a:xfrm>
        </p:grpSpPr>
        <p:grpSp>
          <p:nvGrpSpPr>
            <p:cNvPr id="13" name="ïṧļïḓe"/>
            <p:cNvGrpSpPr/>
            <p:nvPr/>
          </p:nvGrpSpPr>
          <p:grpSpPr>
            <a:xfrm>
              <a:off x="1296567" y="2092934"/>
              <a:ext cx="4839189" cy="3503922"/>
              <a:chOff x="1296567" y="2092934"/>
              <a:chExt cx="6103428" cy="3503922"/>
            </a:xfrm>
          </p:grpSpPr>
          <p:sp>
            <p:nvSpPr>
              <p:cNvPr id="17" name="ïšļíďè"/>
              <p:cNvSpPr txBox="1"/>
              <p:nvPr/>
            </p:nvSpPr>
            <p:spPr>
              <a:xfrm>
                <a:off x="1296567" y="2092934"/>
                <a:ext cx="6103428" cy="796591"/>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zh-CN" altLang="en-US" sz="2400" dirty="0"/>
                  <a:t>按易位单位的不同，易位法又可分成</a:t>
                </a:r>
                <a:r>
                  <a:rPr lang="zh-CN" altLang="en-US" sz="2400" dirty="0">
                    <a:solidFill>
                      <a:srgbClr val="FF0000"/>
                    </a:solidFill>
                  </a:rPr>
                  <a:t>比特易位</a:t>
                </a:r>
                <a:r>
                  <a:rPr lang="zh-CN" altLang="en-US" sz="2400" dirty="0"/>
                  <a:t>和</a:t>
                </a:r>
                <a:r>
                  <a:rPr lang="zh-CN" altLang="en-US" sz="2400" dirty="0">
                    <a:solidFill>
                      <a:srgbClr val="FF0000"/>
                    </a:solidFill>
                  </a:rPr>
                  <a:t>字符易位</a:t>
                </a:r>
                <a:r>
                  <a:rPr lang="zh-CN" altLang="en-US" sz="2400" dirty="0"/>
                  <a:t>两种</a:t>
                </a:r>
                <a:endParaRPr lang="zh-CN" altLang="en-US" sz="2400" dirty="0"/>
              </a:p>
            </p:txBody>
          </p:sp>
          <p:sp>
            <p:nvSpPr>
              <p:cNvPr id="18" name="íşľíḑè"/>
              <p:cNvSpPr/>
              <p:nvPr/>
            </p:nvSpPr>
            <p:spPr bwMode="auto">
              <a:xfrm>
                <a:off x="1296567" y="3114290"/>
                <a:ext cx="6103428" cy="2482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600"/>
                  </a:spcBef>
                  <a:spcAft>
                    <a:spcPts val="600"/>
                  </a:spcAft>
                  <a:buFont typeface="Wingdings" panose="05000000000000000000" pitchFamily="2" charset="2"/>
                  <a:buChar char="Ø"/>
                </a:pPr>
                <a:r>
                  <a:rPr lang="zh-CN" altLang="en-US" sz="2200" dirty="0"/>
                  <a:t>比特易位法简单易行，并可用硬件实现，主要用于数字通信中</a:t>
                </a:r>
                <a:endParaRPr lang="zh-CN" altLang="en-US" sz="2200" dirty="0"/>
              </a:p>
              <a:p>
                <a:pPr marL="342900" lvl="1" indent="-342900">
                  <a:lnSpc>
                    <a:spcPct val="132000"/>
                  </a:lnSpc>
                  <a:spcBef>
                    <a:spcPts val="600"/>
                  </a:spcBef>
                  <a:spcAft>
                    <a:spcPts val="600"/>
                  </a:spcAft>
                  <a:buFont typeface="Wingdings" panose="05000000000000000000" pitchFamily="2" charset="2"/>
                  <a:buChar char="Ø"/>
                </a:pPr>
                <a:r>
                  <a:rPr lang="zh-CN" altLang="en-US" sz="2200" dirty="0"/>
                  <a:t>字符易位法利用密钥对明文进行易位后形成密文</a:t>
                </a:r>
                <a:endParaRPr lang="zh-CN" altLang="en-US" sz="2200" dirty="0"/>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2" name="组合 1"/>
          <p:cNvGrpSpPr/>
          <p:nvPr/>
        </p:nvGrpSpPr>
        <p:grpSpPr>
          <a:xfrm>
            <a:off x="6441165" y="2540986"/>
            <a:ext cx="5516352" cy="2991174"/>
            <a:chOff x="6424933" y="1290523"/>
            <a:chExt cx="5516352" cy="2991174"/>
          </a:xfrm>
        </p:grpSpPr>
        <p:pic>
          <p:nvPicPr>
            <p:cNvPr id="4" name="图片 3"/>
            <p:cNvPicPr>
              <a:picLocks noChangeAspect="1"/>
            </p:cNvPicPr>
            <p:nvPr/>
          </p:nvPicPr>
          <p:blipFill rotWithShape="1">
            <a:blip r:embed="rId1"/>
            <a:srcRect r="50646"/>
            <a:stretch>
              <a:fillRect/>
            </a:stretch>
          </p:blipFill>
          <p:spPr>
            <a:xfrm>
              <a:off x="6424933" y="1298467"/>
              <a:ext cx="2989523" cy="2983230"/>
            </a:xfrm>
            <a:prstGeom prst="rect">
              <a:avLst/>
            </a:prstGeom>
          </p:spPr>
        </p:pic>
        <p:pic>
          <p:nvPicPr>
            <p:cNvPr id="23" name="图片 22"/>
            <p:cNvPicPr>
              <a:picLocks noChangeAspect="1"/>
            </p:cNvPicPr>
            <p:nvPr/>
          </p:nvPicPr>
          <p:blipFill rotWithShape="1">
            <a:blip r:embed="rId1"/>
            <a:srcRect l="64663"/>
            <a:stretch>
              <a:fillRect/>
            </a:stretch>
          </p:blipFill>
          <p:spPr>
            <a:xfrm>
              <a:off x="9800822" y="1290523"/>
              <a:ext cx="2140463" cy="2983230"/>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基本加密方法 </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置换法</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300194" y="4617312"/>
            <a:ext cx="11391900" cy="1485900"/>
          </a:xfrm>
          <a:prstGeom prst="rect">
            <a:avLst/>
          </a:prstGeom>
          <a:ln>
            <a:solidFill>
              <a:schemeClr val="accent1"/>
            </a:solidFill>
          </a:ln>
        </p:spPr>
      </p:pic>
      <p:grpSp>
        <p:nvGrpSpPr>
          <p:cNvPr id="5"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669925" y="1258329"/>
            <a:ext cx="11125200" cy="2821817"/>
            <a:chOff x="660400" y="1580301"/>
            <a:chExt cx="11125200" cy="2821817"/>
          </a:xfrm>
        </p:grpSpPr>
        <p:sp>
          <p:nvSpPr>
            <p:cNvPr id="6" name="íṥḻîḑe"/>
            <p:cNvSpPr/>
            <p:nvPr/>
          </p:nvSpPr>
          <p:spPr>
            <a:xfrm>
              <a:off x="682048" y="1580301"/>
              <a:ext cx="3476055" cy="1008354"/>
            </a:xfrm>
            <a:prstGeom prst="rect">
              <a:avLst/>
            </a:prstGeom>
            <a:blipFill>
              <a:blip r:embed="rId3"/>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7" name="ïşḻiḍé"/>
            <p:cNvSpPr/>
            <p:nvPr/>
          </p:nvSpPr>
          <p:spPr>
            <a:xfrm>
              <a:off x="660400" y="273201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50000"/>
                </a:lnSpc>
              </a:pPr>
              <a:r>
                <a:rPr lang="zh-CN" altLang="en-US" sz="2000" dirty="0">
                  <a:solidFill>
                    <a:srgbClr val="FF0000"/>
                  </a:solidFill>
                </a:rPr>
                <a:t>置换法</a:t>
              </a:r>
              <a:r>
                <a:rPr lang="zh-CN" altLang="en-US" sz="2000" dirty="0">
                  <a:solidFill>
                    <a:schemeClr val="tx1"/>
                  </a:solidFill>
                </a:rPr>
                <a:t>是指按照一定的规则，用一个字符去置换（替代）另一个字符以形成密文</a:t>
              </a:r>
              <a:endParaRPr lang="zh-CN" altLang="en-US" sz="2000" dirty="0">
                <a:solidFill>
                  <a:schemeClr val="tx1"/>
                </a:solidFill>
              </a:endParaRPr>
            </a:p>
          </p:txBody>
        </p:sp>
        <p:sp>
          <p:nvSpPr>
            <p:cNvPr id="8" name="îŝļiḋe"/>
            <p:cNvSpPr/>
            <p:nvPr/>
          </p:nvSpPr>
          <p:spPr>
            <a:xfrm>
              <a:off x="4352677" y="1580301"/>
              <a:ext cx="3476055" cy="1008354"/>
            </a:xfrm>
            <a:prstGeom prst="rect">
              <a:avLst/>
            </a:prstGeom>
            <a:blipFill>
              <a:blip r:embed="rId4"/>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9" name="ïšlïḑè"/>
            <p:cNvSpPr/>
            <p:nvPr/>
          </p:nvSpPr>
          <p:spPr>
            <a:xfrm>
              <a:off x="4331029" y="273201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50000"/>
                </a:lnSpc>
              </a:pPr>
              <a:r>
                <a:rPr lang="zh-CN" altLang="en-US" sz="2000" dirty="0">
                  <a:solidFill>
                    <a:schemeClr val="tx1"/>
                  </a:solidFill>
                </a:rPr>
                <a:t>这种密码很容易被破译</a:t>
              </a:r>
              <a:endParaRPr lang="zh-CN" altLang="en-US" sz="2000" dirty="0">
                <a:solidFill>
                  <a:schemeClr val="tx1"/>
                </a:solidFill>
              </a:endParaRPr>
            </a:p>
          </p:txBody>
        </p:sp>
        <p:sp>
          <p:nvSpPr>
            <p:cNvPr id="10" name="íŝḻiďé"/>
            <p:cNvSpPr/>
            <p:nvPr/>
          </p:nvSpPr>
          <p:spPr>
            <a:xfrm>
              <a:off x="8023305" y="1580301"/>
              <a:ext cx="3762295" cy="1008354"/>
            </a:xfrm>
            <a:prstGeom prst="rect">
              <a:avLst/>
            </a:prstGeom>
            <a:blipFill>
              <a:blip r:embed="rId5"/>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í$ḷîḋe"/>
            <p:cNvSpPr/>
            <p:nvPr/>
          </p:nvSpPr>
          <p:spPr>
            <a:xfrm>
              <a:off x="8001657" y="2732018"/>
              <a:ext cx="37839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30000"/>
                </a:lnSpc>
              </a:pPr>
              <a:r>
                <a:rPr lang="zh-CN" altLang="en-US" sz="2000" dirty="0">
                  <a:solidFill>
                    <a:schemeClr val="tx1"/>
                  </a:solidFill>
                </a:rPr>
                <a:t>例如，将</a:t>
              </a:r>
              <a:r>
                <a:rPr lang="en-US" altLang="zh-CN" sz="2000" dirty="0">
                  <a:solidFill>
                    <a:schemeClr val="tx1"/>
                  </a:solidFill>
                </a:rPr>
                <a:t>26</a:t>
              </a:r>
              <a:r>
                <a:rPr lang="zh-CN" altLang="en-US" sz="2000" dirty="0">
                  <a:solidFill>
                    <a:schemeClr val="tx1"/>
                  </a:solidFill>
                </a:rPr>
                <a:t>个英文字母通过密钥</a:t>
              </a:r>
              <a:r>
                <a:rPr lang="en-US" altLang="zh-CN" sz="2000" dirty="0">
                  <a:solidFill>
                    <a:schemeClr val="tx1"/>
                  </a:solidFill>
                </a:rPr>
                <a:t>QWERTYUIOPASDFGHJKLZXCVBNM </a:t>
              </a:r>
              <a:r>
                <a:rPr lang="zh-CN" altLang="en-US" sz="2000" dirty="0">
                  <a:solidFill>
                    <a:schemeClr val="tx1"/>
                  </a:solidFill>
                </a:rPr>
                <a:t>映像到另外</a:t>
              </a:r>
              <a:r>
                <a:rPr lang="en-US" altLang="zh-CN" sz="2000" dirty="0">
                  <a:solidFill>
                    <a:schemeClr val="tx1"/>
                  </a:solidFill>
                </a:rPr>
                <a:t>26</a:t>
              </a:r>
              <a:r>
                <a:rPr lang="zh-CN" altLang="en-US" sz="2000" dirty="0">
                  <a:solidFill>
                    <a:schemeClr val="tx1"/>
                  </a:solidFill>
                </a:rPr>
                <a:t>个特定字母中，利用置换法和密钥，可将</a:t>
              </a:r>
              <a:r>
                <a:rPr lang="en-US" altLang="zh-CN" sz="2000" dirty="0">
                  <a:solidFill>
                    <a:schemeClr val="tx1"/>
                  </a:solidFill>
                </a:rPr>
                <a:t>attack</a:t>
              </a:r>
              <a:r>
                <a:rPr lang="zh-CN" altLang="en-US" sz="2000" dirty="0">
                  <a:solidFill>
                    <a:schemeClr val="tx1"/>
                  </a:solidFill>
                </a:rPr>
                <a:t>加密而使其变为</a:t>
              </a:r>
              <a:r>
                <a:rPr lang="en-US" altLang="zh-CN" sz="2000" dirty="0">
                  <a:solidFill>
                    <a:schemeClr val="tx1"/>
                  </a:solidFill>
                </a:rPr>
                <a:t>QZZQEA</a:t>
              </a:r>
              <a:r>
                <a:rPr lang="zh-CN" altLang="en-US" sz="2000" dirty="0">
                  <a:solidFill>
                    <a:schemeClr val="tx1"/>
                  </a:solidFill>
                </a:rPr>
                <a:t>，</a:t>
              </a:r>
              <a:endParaRPr lang="zh-CN" altLang="en-US" sz="2000" dirty="0">
                <a:solidFill>
                  <a:schemeClr val="tx1"/>
                </a:solidFil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12.2.2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对称加密算法与非对称加密算法</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íšḻîḋè"/>
          <p:cNvSpPr/>
          <p:nvPr/>
        </p:nvSpPr>
        <p:spPr>
          <a:xfrm>
            <a:off x="1476386" y="3538331"/>
            <a:ext cx="8517619" cy="84830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加密密钥</a:t>
            </a:r>
            <a:r>
              <a:rPr lang="en-US" altLang="zh-CN" sz="2000" dirty="0" err="1"/>
              <a:t>Ke</a:t>
            </a:r>
            <a:r>
              <a:rPr lang="zh-CN" altLang="en-US" sz="2000" dirty="0"/>
              <a:t>和解密密钥</a:t>
            </a:r>
            <a:r>
              <a:rPr lang="en-US" altLang="zh-CN" sz="2000" dirty="0" err="1"/>
              <a:t>Kd</a:t>
            </a:r>
            <a:r>
              <a:rPr lang="zh-CN" altLang="en-US" sz="2000" dirty="0"/>
              <a:t>不同，而且难以由</a:t>
            </a:r>
            <a:r>
              <a:rPr lang="en-US" altLang="zh-CN" sz="2000" dirty="0" err="1"/>
              <a:t>Ke</a:t>
            </a:r>
            <a:r>
              <a:rPr lang="zh-CN" altLang="en-US" sz="2000" dirty="0"/>
              <a:t>推导出</a:t>
            </a:r>
            <a:r>
              <a:rPr lang="en-US" altLang="zh-CN" sz="2000" dirty="0" err="1"/>
              <a:t>Kd</a:t>
            </a:r>
            <a:endParaRPr lang="en-US" altLang="zh-CN" sz="2000" dirty="0"/>
          </a:p>
          <a:p>
            <a:pPr marL="342900" indent="-342900">
              <a:lnSpc>
                <a:spcPct val="120000"/>
              </a:lnSpc>
              <a:buClr>
                <a:srgbClr val="FF0000"/>
              </a:buClr>
              <a:buFont typeface="Wingdings" panose="05000000000000000000" pitchFamily="2" charset="2"/>
              <a:buChar char="Ø"/>
            </a:pPr>
            <a:r>
              <a:rPr lang="zh-CN" altLang="en-US" sz="2000" dirty="0"/>
              <a:t>可将其中的一个密钥公开而成为公开密钥</a:t>
            </a:r>
            <a:endParaRPr lang="zh-CN" altLang="en-US" sz="2000" dirty="0"/>
          </a:p>
        </p:txBody>
      </p:sp>
      <p:sp>
        <p:nvSpPr>
          <p:cNvPr id="5" name="i$lîďê"/>
          <p:cNvSpPr/>
          <p:nvPr/>
        </p:nvSpPr>
        <p:spPr>
          <a:xfrm>
            <a:off x="1532022" y="3072557"/>
            <a:ext cx="6555910"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非对称加密算法</a:t>
            </a:r>
            <a:r>
              <a:rPr lang="zh-CN" altLang="en-US" sz="2400" dirty="0"/>
              <a:t>，也称公开密钥算法</a:t>
            </a:r>
            <a:endParaRPr lang="zh-CN" altLang="en-US" sz="2400" dirty="0"/>
          </a:p>
        </p:txBody>
      </p:sp>
      <p:sp>
        <p:nvSpPr>
          <p:cNvPr id="6" name="î$ļíḋè"/>
          <p:cNvSpPr/>
          <p:nvPr/>
        </p:nvSpPr>
        <p:spPr>
          <a:xfrm>
            <a:off x="1532023" y="4916493"/>
            <a:ext cx="10187752" cy="167749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非对称加密算法要比对称加密算法处理速度慢，但密钥管理简单</a:t>
            </a:r>
            <a:endParaRPr lang="zh-CN" altLang="en-US" sz="2000" dirty="0"/>
          </a:p>
          <a:p>
            <a:pPr marL="342900" indent="-342900">
              <a:lnSpc>
                <a:spcPct val="120000"/>
              </a:lnSpc>
              <a:buClr>
                <a:srgbClr val="FF0000"/>
              </a:buClr>
              <a:buFont typeface="Wingdings" panose="05000000000000000000" pitchFamily="2" charset="2"/>
              <a:buChar char="Ø"/>
            </a:pPr>
            <a:r>
              <a:rPr lang="zh-CN" altLang="en-US" sz="2000" dirty="0"/>
              <a:t>当前通常同时应用这两种加密算法</a:t>
            </a:r>
            <a:endParaRPr lang="zh-CN" altLang="en-US" sz="2000" dirty="0"/>
          </a:p>
          <a:p>
            <a:pPr marL="800100" lvl="1" indent="-342900">
              <a:lnSpc>
                <a:spcPct val="120000"/>
              </a:lnSpc>
              <a:buClr>
                <a:srgbClr val="FF0000"/>
              </a:buClr>
              <a:buFont typeface="Wingdings" panose="05000000000000000000" pitchFamily="2" charset="2"/>
              <a:buChar char="p"/>
            </a:pPr>
            <a:r>
              <a:rPr lang="zh-CN" altLang="en-US" sz="2000" dirty="0"/>
              <a:t>利用公开密钥技术传递对称密码，而利用对称密钥技术来对实际传输的数据进行加密和解密</a:t>
            </a:r>
            <a:endParaRPr lang="zh-CN" altLang="en-US" sz="2000" dirty="0"/>
          </a:p>
        </p:txBody>
      </p:sp>
      <p:sp>
        <p:nvSpPr>
          <p:cNvPr id="7" name="ïṧḷïḋè"/>
          <p:cNvSpPr/>
          <p:nvPr/>
        </p:nvSpPr>
        <p:spPr>
          <a:xfrm>
            <a:off x="1532024" y="4455234"/>
            <a:ext cx="3696051" cy="415102"/>
          </a:xfrm>
          <a:prstGeom prst="rect">
            <a:avLst/>
          </a:prstGeom>
          <a:noFill/>
          <a:ln>
            <a:noFill/>
          </a:ln>
        </p:spPr>
        <p:txBody>
          <a:bodyPr wrap="square" lIns="91440" tIns="45720" rIns="91440" bIns="45720" anchor="ctr" anchorCtr="0">
            <a:noAutofit/>
          </a:bodyPr>
          <a:lstStyle/>
          <a:p>
            <a:r>
              <a:rPr lang="zh-CN" altLang="en-US" sz="2400" dirty="0"/>
              <a:t>两者</a:t>
            </a:r>
            <a:r>
              <a:rPr lang="zh-CN" altLang="en-US" sz="2400" dirty="0">
                <a:solidFill>
                  <a:srgbClr val="0000FF"/>
                </a:solidFill>
              </a:rPr>
              <a:t>区别：</a:t>
            </a:r>
            <a:endParaRPr lang="zh-CN" altLang="en-US" sz="2400" dirty="0">
              <a:solidFill>
                <a:srgbClr val="0000FF"/>
              </a:solidFill>
            </a:endParaRPr>
          </a:p>
        </p:txBody>
      </p:sp>
      <p:sp>
        <p:nvSpPr>
          <p:cNvPr id="8" name="îs1iďé"/>
          <p:cNvSpPr/>
          <p:nvPr/>
        </p:nvSpPr>
        <p:spPr>
          <a:xfrm>
            <a:off x="1551080" y="1688448"/>
            <a:ext cx="9711234" cy="1663381"/>
          </a:xfrm>
          <a:prstGeom prst="rect">
            <a:avLst/>
          </a:prstGeom>
          <a:noFill/>
          <a:ln>
            <a:noFill/>
          </a:ln>
        </p:spPr>
        <p:txBody>
          <a:bodyPr wrap="square" lIns="91440" tIns="45720" rIns="91440" bIns="45720" anchor="t" anchorCtr="0">
            <a:normAutofit/>
          </a:bodyPr>
          <a:lstStyle/>
          <a:p>
            <a:pPr marL="342900" indent="-342900">
              <a:spcBef>
                <a:spcPts val="800"/>
              </a:spcBef>
              <a:buClr>
                <a:srgbClr val="FF0000"/>
              </a:buClr>
              <a:buFont typeface="Wingdings" panose="05000000000000000000" pitchFamily="2" charset="2"/>
              <a:buChar char="Ø"/>
            </a:pPr>
            <a:r>
              <a:rPr lang="zh-CN" altLang="en-US" sz="2000" dirty="0"/>
              <a:t>加密算法和解密算法往往使用相同的密钥；</a:t>
            </a:r>
            <a:endParaRPr lang="zh-CN" altLang="en-US" sz="2000" dirty="0"/>
          </a:p>
          <a:p>
            <a:pPr marL="342900" indent="-342900">
              <a:spcBef>
                <a:spcPts val="800"/>
              </a:spcBef>
              <a:buClr>
                <a:srgbClr val="FF0000"/>
              </a:buClr>
              <a:buFont typeface="Wingdings" panose="05000000000000000000" pitchFamily="2" charset="2"/>
              <a:buChar char="Ø"/>
            </a:pPr>
            <a:r>
              <a:rPr lang="zh-CN" altLang="en-US" sz="2000" dirty="0"/>
              <a:t>或者知道了加密密钥</a:t>
            </a:r>
            <a:r>
              <a:rPr lang="en-US" altLang="zh-CN" sz="2000" dirty="0" err="1"/>
              <a:t>Ke</a:t>
            </a:r>
            <a:r>
              <a:rPr lang="zh-CN" altLang="en-US" sz="2000" dirty="0"/>
              <a:t>后，就很容易推导出解密密钥</a:t>
            </a:r>
            <a:r>
              <a:rPr lang="en-US" altLang="zh-CN" sz="2000" dirty="0" err="1"/>
              <a:t>Kd</a:t>
            </a:r>
            <a:endParaRPr lang="en-US" altLang="zh-CN" sz="2000" dirty="0"/>
          </a:p>
          <a:p>
            <a:pPr marL="342900" indent="-342900">
              <a:spcBef>
                <a:spcPts val="800"/>
              </a:spcBef>
              <a:buClr>
                <a:srgbClr val="FF0000"/>
              </a:buClr>
              <a:buFont typeface="Wingdings" panose="05000000000000000000" pitchFamily="2" charset="2"/>
              <a:buChar char="Ø"/>
            </a:pPr>
            <a:r>
              <a:rPr lang="zh-CN" altLang="en-US" sz="2000" dirty="0"/>
              <a:t>最具代表性的算法：数据加密标准</a:t>
            </a:r>
            <a:r>
              <a:rPr lang="en-US" altLang="zh-CN" sz="2000" dirty="0"/>
              <a:t>DES</a:t>
            </a:r>
            <a:r>
              <a:rPr lang="zh-CN" altLang="en-US" sz="2000" dirty="0"/>
              <a:t>、</a:t>
            </a:r>
            <a:r>
              <a:rPr lang="en-US" altLang="zh-CN" sz="2000" dirty="0"/>
              <a:t>DEP</a:t>
            </a:r>
            <a:endParaRPr lang="en-US" altLang="zh-CN" sz="2000" dirty="0"/>
          </a:p>
        </p:txBody>
      </p:sp>
      <p:sp>
        <p:nvSpPr>
          <p:cNvPr id="9" name="íšḻíḑê"/>
          <p:cNvSpPr/>
          <p:nvPr/>
        </p:nvSpPr>
        <p:spPr>
          <a:xfrm>
            <a:off x="1532023" y="1258524"/>
            <a:ext cx="9311988"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对称加密算法</a:t>
            </a:r>
            <a:r>
              <a:rPr lang="zh-CN" altLang="en-US" sz="2400" dirty="0"/>
              <a:t>的加密算法和解密算法之间，存在着一定的相依关系</a:t>
            </a:r>
            <a:endParaRPr lang="zh-CN" altLang="en-US" sz="2400" dirty="0"/>
          </a:p>
        </p:txBody>
      </p:sp>
      <p:sp>
        <p:nvSpPr>
          <p:cNvPr id="10" name="îSļiḓè"/>
          <p:cNvSpPr/>
          <p:nvPr/>
        </p:nvSpPr>
        <p:spPr>
          <a:xfrm>
            <a:off x="848520" y="124496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íṥḻîḓe"/>
          <p:cNvSpPr/>
          <p:nvPr/>
        </p:nvSpPr>
        <p:spPr>
          <a:xfrm>
            <a:off x="848520" y="437263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848520" y="297203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1038775" y="144110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038774" y="319404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ïśḷïḓe"/>
          <p:cNvSpPr/>
          <p:nvPr/>
        </p:nvSpPr>
        <p:spPr>
          <a:xfrm>
            <a:off x="1067713" y="456209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12.2.3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数字签名与数字证明书</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948744" y="1270930"/>
            <a:ext cx="1588394" cy="4805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smtClean="0">
                <a:solidFill>
                  <a:srgbClr val="FF0000"/>
                </a:solidFill>
                <a:latin typeface="+mn-ea"/>
                <a:cs typeface="+mn-ea"/>
                <a:sym typeface="Times New Roman" panose="02020603050405020304" pitchFamily="18" charset="0"/>
              </a:rPr>
              <a:t>数字签名</a:t>
            </a:r>
            <a:endParaRPr lang="en-US" altLang="zh-CN" sz="2400" dirty="0">
              <a:latin typeface="+mn-ea"/>
              <a:cs typeface="+mn-ea"/>
              <a:sym typeface="Times New Roman" panose="02020603050405020304" pitchFamily="18" charset="0"/>
            </a:endParaRPr>
          </a:p>
        </p:txBody>
      </p:sp>
      <p:sp>
        <p:nvSpPr>
          <p:cNvPr id="4" name="îṧľîdé"/>
          <p:cNvSpPr/>
          <p:nvPr/>
        </p:nvSpPr>
        <p:spPr>
          <a:xfrm>
            <a:off x="3496365" y="1751527"/>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 name="内容占位符 2"/>
          <p:cNvSpPr txBox="1"/>
          <p:nvPr/>
        </p:nvSpPr>
        <p:spPr>
          <a:xfrm>
            <a:off x="420710" y="2146426"/>
            <a:ext cx="2958730"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t>在利用计算机网络传送报文时，可将公开密钥法用于电子（数字）签名，以代替传统的手写签名</a:t>
            </a:r>
            <a:endParaRPr lang="zh-CN" altLang="en-US" sz="2400" dirty="0"/>
          </a:p>
        </p:txBody>
      </p:sp>
      <p:sp>
        <p:nvSpPr>
          <p:cNvPr id="6" name="内容占位符 2"/>
          <p:cNvSpPr txBox="1"/>
          <p:nvPr/>
        </p:nvSpPr>
        <p:spPr>
          <a:xfrm>
            <a:off x="7282437" y="2891892"/>
            <a:ext cx="4656278"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需要满足</a:t>
            </a:r>
            <a:r>
              <a:rPr lang="en-US" altLang="zh-CN" sz="2400" dirty="0">
                <a:solidFill>
                  <a:srgbClr val="0000FF"/>
                </a:solidFill>
              </a:rPr>
              <a:t>3</a:t>
            </a:r>
            <a:r>
              <a:rPr lang="zh-CN" altLang="en-US" sz="2400" dirty="0">
                <a:solidFill>
                  <a:srgbClr val="0000FF"/>
                </a:solidFill>
              </a:rPr>
              <a:t>个条件</a:t>
            </a:r>
            <a:r>
              <a:rPr lang="zh-CN" altLang="en-US" sz="2400" dirty="0"/>
              <a:t>：</a:t>
            </a:r>
            <a:endParaRPr lang="zh-CN" altLang="en-US" sz="2400" dirty="0"/>
          </a:p>
          <a:p>
            <a:pPr marL="457200" lvl="2"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接收者能够核实发送者对报文的签名</a:t>
            </a:r>
            <a:endParaRPr lang="zh-CN" altLang="en-US" sz="2400" dirty="0">
              <a:solidFill>
                <a:schemeClr val="tx1">
                  <a:lumMod val="65000"/>
                  <a:lumOff val="35000"/>
                </a:schemeClr>
              </a:solidFill>
            </a:endParaRPr>
          </a:p>
          <a:p>
            <a:pPr marL="457200" lvl="2"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发送者事后不能抵赖其对报文的签名</a:t>
            </a:r>
            <a:endParaRPr lang="zh-CN" altLang="en-US" sz="2400" dirty="0">
              <a:solidFill>
                <a:schemeClr val="tx1">
                  <a:lumMod val="65000"/>
                  <a:lumOff val="35000"/>
                </a:schemeClr>
              </a:solidFill>
            </a:endParaRPr>
          </a:p>
          <a:p>
            <a:pPr marL="457200" lvl="2"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chemeClr val="tx1">
                    <a:lumMod val="65000"/>
                    <a:lumOff val="35000"/>
                  </a:schemeClr>
                </a:solidFill>
              </a:rPr>
              <a:t>接收者无法伪造对报文的签名</a:t>
            </a:r>
            <a:endParaRPr lang="zh-CN" altLang="en-US" sz="2400" dirty="0">
              <a:solidFill>
                <a:schemeClr val="tx1">
                  <a:lumMod val="65000"/>
                  <a:lumOff val="35000"/>
                </a:schemeClr>
              </a:solidFill>
            </a:endParaRPr>
          </a:p>
        </p:txBody>
      </p:sp>
      <p:sp>
        <p:nvSpPr>
          <p:cNvPr id="7" name="íSľïdé"/>
          <p:cNvSpPr/>
          <p:nvPr/>
        </p:nvSpPr>
        <p:spPr>
          <a:xfrm>
            <a:off x="4393705" y="2186383"/>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8" name="ïŝļíḓê"/>
          <p:cNvSpPr/>
          <p:nvPr/>
        </p:nvSpPr>
        <p:spPr bwMode="auto">
          <a:xfrm>
            <a:off x="5476229" y="313495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数字签名方法介绍</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5" name="iṡļiḓe"/>
          <p:cNvGrpSpPr/>
          <p:nvPr/>
        </p:nvGrpSpPr>
        <p:grpSpPr>
          <a:xfrm>
            <a:off x="660400" y="1298467"/>
            <a:ext cx="11007859" cy="2333733"/>
            <a:chOff x="660400" y="1787149"/>
            <a:chExt cx="11007859" cy="2333733"/>
          </a:xfrm>
        </p:grpSpPr>
        <p:grpSp>
          <p:nvGrpSpPr>
            <p:cNvPr id="6" name="iSḻíḓè"/>
            <p:cNvGrpSpPr/>
            <p:nvPr/>
          </p:nvGrpSpPr>
          <p:grpSpPr>
            <a:xfrm>
              <a:off x="1296566" y="1835355"/>
              <a:ext cx="10371693" cy="2285527"/>
              <a:chOff x="1296566" y="1835355"/>
              <a:chExt cx="13081304" cy="2285527"/>
            </a:xfrm>
          </p:grpSpPr>
          <p:sp>
            <p:nvSpPr>
              <p:cNvPr id="10"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简单</a:t>
                </a:r>
                <a:r>
                  <a:rPr lang="zh-CN" altLang="en-US" sz="2400" dirty="0"/>
                  <a:t>数字签名</a:t>
                </a:r>
                <a:r>
                  <a:rPr lang="en-US" altLang="zh-CN" sz="2400" dirty="0"/>
                  <a:t>(a)</a:t>
                </a:r>
                <a:endParaRPr lang="en-US" altLang="zh-CN" sz="2400" dirty="0"/>
              </a:p>
            </p:txBody>
          </p:sp>
          <p:sp>
            <p:nvSpPr>
              <p:cNvPr id="11" name="íşļîḓé"/>
              <p:cNvSpPr/>
              <p:nvPr/>
            </p:nvSpPr>
            <p:spPr bwMode="auto">
              <a:xfrm>
                <a:off x="1296566" y="2279077"/>
                <a:ext cx="13081304"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发送者</a:t>
                </a:r>
                <a:r>
                  <a:rPr lang="en-US" altLang="zh-CN" sz="2200" dirty="0"/>
                  <a:t>A</a:t>
                </a:r>
                <a:r>
                  <a:rPr lang="zh-CN" altLang="en-US" sz="2200" dirty="0"/>
                  <a:t>可使用私用密钥</a:t>
                </a:r>
                <a:r>
                  <a:rPr lang="en-US" altLang="zh-CN" sz="2200" dirty="0" err="1"/>
                  <a:t>Kda</a:t>
                </a:r>
                <a:r>
                  <a:rPr lang="zh-CN" altLang="en-US" sz="2200" dirty="0"/>
                  <a:t>对明文</a:t>
                </a:r>
                <a:r>
                  <a:rPr lang="en-US" altLang="zh-CN" sz="2200" dirty="0"/>
                  <a:t>P</a:t>
                </a:r>
                <a:r>
                  <a:rPr lang="zh-CN" altLang="en-US" sz="2200" dirty="0"/>
                  <a:t>进行加密，形成</a:t>
                </a:r>
                <a:r>
                  <a:rPr lang="en-US" altLang="zh-CN" sz="2200" dirty="0" err="1"/>
                  <a:t>D</a:t>
                </a:r>
                <a:r>
                  <a:rPr lang="en-US" altLang="zh-CN" sz="2200" baseline="-25000" dirty="0" err="1"/>
                  <a:t>Kda</a:t>
                </a:r>
                <a:r>
                  <a:rPr lang="en-US" altLang="zh-CN" sz="2200" dirty="0"/>
                  <a:t>(P)</a:t>
                </a:r>
                <a:r>
                  <a:rPr lang="zh-CN" altLang="en-US" sz="2200" dirty="0"/>
                  <a:t>，然后将其传送给接收者</a:t>
                </a:r>
                <a:r>
                  <a:rPr lang="en-US" altLang="zh-CN" sz="2200" dirty="0"/>
                  <a:t>B</a:t>
                </a:r>
                <a:r>
                  <a:rPr lang="zh-CN" altLang="en-US" sz="2200" dirty="0"/>
                  <a:t>。</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接收者</a:t>
                </a:r>
                <a:r>
                  <a:rPr lang="en-US" altLang="zh-CN" sz="2200" dirty="0"/>
                  <a:t>B</a:t>
                </a:r>
                <a:r>
                  <a:rPr lang="zh-CN" altLang="en-US" sz="2200" dirty="0"/>
                  <a:t>可利用</a:t>
                </a:r>
                <a:r>
                  <a:rPr lang="en-US" altLang="zh-CN" sz="2200" dirty="0"/>
                  <a:t>A</a:t>
                </a:r>
                <a:r>
                  <a:rPr lang="zh-CN" altLang="en-US" sz="2200" dirty="0"/>
                  <a:t>的公开密钥</a:t>
                </a:r>
                <a:r>
                  <a:rPr lang="en-US" altLang="zh-CN" sz="2200" dirty="0"/>
                  <a:t>Kea</a:t>
                </a:r>
                <a:r>
                  <a:rPr lang="zh-CN" altLang="en-US" sz="2200" dirty="0"/>
                  <a:t>对</a:t>
                </a:r>
                <a:r>
                  <a:rPr lang="en-US" altLang="zh-CN" sz="2200" dirty="0" err="1"/>
                  <a:t>D</a:t>
                </a:r>
                <a:r>
                  <a:rPr lang="en-US" altLang="zh-CN" sz="2200" baseline="-25000" dirty="0" err="1"/>
                  <a:t>Kda</a:t>
                </a:r>
                <a:r>
                  <a:rPr lang="en-US" altLang="zh-CN" sz="2200" dirty="0"/>
                  <a:t>(P)</a:t>
                </a:r>
                <a:r>
                  <a:rPr lang="zh-CN" altLang="en-US" sz="2200" dirty="0"/>
                  <a:t>进行解密，得到</a:t>
                </a:r>
                <a:r>
                  <a:rPr lang="en-US" altLang="zh-CN" sz="2200" dirty="0" err="1"/>
                  <a:t>E</a:t>
                </a:r>
                <a:r>
                  <a:rPr lang="en-US" altLang="zh-CN" sz="2200" baseline="-25000" dirty="0" err="1"/>
                  <a:t>Kea</a:t>
                </a:r>
                <a:r>
                  <a:rPr lang="en-US" altLang="zh-CN" sz="2200" dirty="0"/>
                  <a:t>[</a:t>
                </a:r>
                <a:r>
                  <a:rPr lang="en-US" altLang="zh-CN" sz="2200" dirty="0" err="1"/>
                  <a:t>D</a:t>
                </a:r>
                <a:r>
                  <a:rPr lang="en-US" altLang="zh-CN" sz="2200" baseline="-25000" dirty="0" err="1"/>
                  <a:t>Kda</a:t>
                </a:r>
                <a:r>
                  <a:rPr lang="en-US" altLang="zh-CN" sz="2200" dirty="0"/>
                  <a:t>(P)]=P</a:t>
                </a:r>
                <a:endParaRPr lang="en-US" altLang="zh-CN" sz="2200" dirty="0"/>
              </a:p>
            </p:txBody>
          </p:sp>
        </p:grpSp>
        <p:grpSp>
          <p:nvGrpSpPr>
            <p:cNvPr id="7" name="ïS1íḋé"/>
            <p:cNvGrpSpPr/>
            <p:nvPr/>
          </p:nvGrpSpPr>
          <p:grpSpPr>
            <a:xfrm>
              <a:off x="660400" y="1787149"/>
              <a:ext cx="497734" cy="497734"/>
              <a:chOff x="660400" y="1787149"/>
              <a:chExt cx="497734" cy="497734"/>
            </a:xfrm>
          </p:grpSpPr>
          <p:sp>
            <p:nvSpPr>
              <p:cNvPr id="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iŝļïḓê"/>
          <p:cNvGrpSpPr/>
          <p:nvPr/>
        </p:nvGrpSpPr>
        <p:grpSpPr>
          <a:xfrm>
            <a:off x="669925" y="3428005"/>
            <a:ext cx="6297847" cy="2728095"/>
            <a:chOff x="660400" y="2092935"/>
            <a:chExt cx="6297847" cy="2728095"/>
          </a:xfrm>
        </p:grpSpPr>
        <p:grpSp>
          <p:nvGrpSpPr>
            <p:cNvPr id="13" name="ïṧļïḓe"/>
            <p:cNvGrpSpPr/>
            <p:nvPr/>
          </p:nvGrpSpPr>
          <p:grpSpPr>
            <a:xfrm>
              <a:off x="1296567" y="2092935"/>
              <a:ext cx="5661680" cy="2728095"/>
              <a:chOff x="1296567" y="2092935"/>
              <a:chExt cx="7140794" cy="2728095"/>
            </a:xfrm>
          </p:grpSpPr>
          <p:sp>
            <p:nvSpPr>
              <p:cNvPr id="17"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保密</a:t>
                </a:r>
                <a:r>
                  <a:rPr lang="zh-CN" altLang="en-US" sz="2400" dirty="0"/>
                  <a:t>数字签名</a:t>
                </a:r>
                <a:r>
                  <a:rPr lang="en-US" altLang="zh-CN" sz="2400" dirty="0"/>
                  <a:t>(b)</a:t>
                </a:r>
                <a:endParaRPr lang="en-US" altLang="zh-CN" sz="2400" dirty="0"/>
              </a:p>
            </p:txBody>
          </p:sp>
          <p:sp>
            <p:nvSpPr>
              <p:cNvPr id="18" name="íşľíḑè"/>
              <p:cNvSpPr/>
              <p:nvPr/>
            </p:nvSpPr>
            <p:spPr bwMode="auto">
              <a:xfrm>
                <a:off x="1312811" y="2588173"/>
                <a:ext cx="3778014" cy="223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buFont typeface="Wingdings" panose="05000000000000000000" pitchFamily="2" charset="2"/>
                  <a:buChar char="Ø"/>
                </a:pPr>
                <a:r>
                  <a:rPr lang="zh-CN" altLang="en-US" sz="2200" dirty="0"/>
                  <a:t>为了实现在发送者</a:t>
                </a:r>
                <a:r>
                  <a:rPr lang="en-US" altLang="zh-CN" sz="2200" dirty="0"/>
                  <a:t>A</a:t>
                </a:r>
                <a:r>
                  <a:rPr lang="zh-CN" altLang="en-US" sz="2200" dirty="0"/>
                  <a:t>和接收者</a:t>
                </a:r>
                <a:r>
                  <a:rPr lang="en-US" altLang="zh-CN" sz="2200" dirty="0"/>
                  <a:t>B</a:t>
                </a:r>
                <a:r>
                  <a:rPr lang="zh-CN" altLang="en-US" sz="2200" dirty="0"/>
                  <a:t>之间的保密数字签名，要求</a:t>
                </a:r>
                <a:r>
                  <a:rPr lang="en-US" altLang="zh-CN" sz="2200" dirty="0"/>
                  <a:t>A</a:t>
                </a:r>
                <a:r>
                  <a:rPr lang="zh-CN" altLang="en-US" sz="2200" dirty="0"/>
                  <a:t>和</a:t>
                </a:r>
                <a:r>
                  <a:rPr lang="en-US" altLang="zh-CN" sz="2200" dirty="0"/>
                  <a:t>B</a:t>
                </a:r>
                <a:r>
                  <a:rPr lang="zh-CN" altLang="en-US" sz="2200" dirty="0"/>
                  <a:t>都具有密钥，再加密和解密</a:t>
                </a:r>
                <a:endParaRPr lang="zh-CN" altLang="en-US" sz="2200" dirty="0"/>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pic>
        <p:nvPicPr>
          <p:cNvPr id="23" name="图片 22"/>
          <p:cNvPicPr>
            <a:picLocks noChangeAspect="1"/>
          </p:cNvPicPr>
          <p:nvPr/>
        </p:nvPicPr>
        <p:blipFill>
          <a:blip r:embed="rId1"/>
          <a:stretch>
            <a:fillRect/>
          </a:stretch>
        </p:blipFill>
        <p:spPr>
          <a:xfrm>
            <a:off x="4465735" y="3562750"/>
            <a:ext cx="7368599" cy="2380367"/>
          </a:xfrm>
          <a:prstGeom prst="rect">
            <a:avLst/>
          </a:prstGeom>
          <a:ln>
            <a:solidFill>
              <a:schemeClr val="accent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数字证明书</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ïşľîďè"/>
          <p:cNvSpPr/>
          <p:nvPr/>
        </p:nvSpPr>
        <p:spPr>
          <a:xfrm>
            <a:off x="0" y="1147001"/>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14700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187003"/>
            <a:ext cx="7381904" cy="1648925"/>
            <a:chOff x="4136995" y="1170302"/>
            <a:chExt cx="7381904" cy="1648925"/>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2"/>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由大家都信得过的认证机构</a:t>
              </a:r>
              <a:r>
                <a:rPr lang="en-US" altLang="zh-CN" sz="2400" dirty="0">
                  <a:latin typeface="+mj-ea"/>
                  <a:ea typeface="+mj-ea"/>
                </a:rPr>
                <a:t>CA</a:t>
              </a:r>
              <a:r>
                <a:rPr lang="zh-CN" altLang="en-US" sz="2400" dirty="0">
                  <a:latin typeface="+mj-ea"/>
                  <a:ea typeface="+mj-ea"/>
                </a:rPr>
                <a:t>为公开密钥发放一份公开密钥证明书，该公开密钥证明书又称为</a:t>
              </a:r>
              <a:r>
                <a:rPr lang="zh-CN" altLang="en-US" sz="2400" dirty="0">
                  <a:solidFill>
                    <a:srgbClr val="FF0000"/>
                  </a:solidFill>
                  <a:latin typeface="+mj-ea"/>
                  <a:ea typeface="+mj-ea"/>
                </a:rPr>
                <a:t>数字证明书</a:t>
              </a:r>
              <a:r>
                <a:rPr lang="zh-CN" altLang="en-US" sz="2400" dirty="0">
                  <a:latin typeface="+mj-ea"/>
                  <a:ea typeface="+mj-ea"/>
                </a:rPr>
                <a:t>，用于证明通信请求者的身份。</a:t>
              </a:r>
              <a:endParaRPr lang="zh-CN" altLang="en-US" sz="2400" dirty="0">
                <a:latin typeface="+mj-ea"/>
                <a:ea typeface="+mj-ea"/>
              </a:endParaRPr>
            </a:p>
          </p:txBody>
        </p:sp>
      </p:grpSp>
      <p:grpSp>
        <p:nvGrpSpPr>
          <p:cNvPr id="12" name="ïSlíḍê"/>
          <p:cNvGrpSpPr/>
          <p:nvPr/>
        </p:nvGrpSpPr>
        <p:grpSpPr>
          <a:xfrm>
            <a:off x="4183062" y="3299791"/>
            <a:ext cx="7335838" cy="2395919"/>
            <a:chOff x="4183062" y="3629437"/>
            <a:chExt cx="7335838" cy="2395919"/>
          </a:xfrm>
        </p:grpSpPr>
        <p:sp>
          <p:nvSpPr>
            <p:cNvPr id="13" name="ïsľíḓê"/>
            <p:cNvSpPr/>
            <p:nvPr/>
          </p:nvSpPr>
          <p:spPr>
            <a:xfrm>
              <a:off x="4183062" y="379658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8" y="3629437"/>
              <a:ext cx="6636182" cy="2395919"/>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国际电信联盟（</a:t>
              </a:r>
              <a:r>
                <a:rPr lang="en-US" altLang="zh-CN" sz="2400" dirty="0">
                  <a:solidFill>
                    <a:srgbClr val="0000FF"/>
                  </a:solidFill>
                </a:rPr>
                <a:t>ITU</a:t>
              </a:r>
              <a:r>
                <a:rPr lang="zh-CN" altLang="en-US" sz="2400" dirty="0">
                  <a:solidFill>
                    <a:srgbClr val="0000FF"/>
                  </a:solidFill>
                </a:rPr>
                <a:t>）</a:t>
              </a:r>
              <a:r>
                <a:rPr lang="zh-CN" altLang="en-US" sz="2400" dirty="0"/>
                <a:t>制定的</a:t>
              </a:r>
              <a:r>
                <a:rPr lang="en-US" altLang="zh-CN" sz="2400" dirty="0"/>
                <a:t>X.509</a:t>
              </a:r>
              <a:r>
                <a:rPr lang="zh-CN" altLang="en-US" sz="2400" dirty="0"/>
                <a:t>标准中，规定了数字证明书的内容</a:t>
              </a:r>
              <a:endParaRPr lang="zh-CN" altLang="en-US" sz="2400" dirty="0"/>
            </a:p>
            <a:p>
              <a:pPr marL="457200" lvl="2" indent="-342900">
                <a:lnSpc>
                  <a:spcPct val="130000"/>
                </a:lnSpc>
                <a:buClr>
                  <a:srgbClr val="FF0000"/>
                </a:buClr>
                <a:buFont typeface="Wingdings" panose="05000000000000000000" pitchFamily="2" charset="2"/>
                <a:buChar char="Ø"/>
              </a:pPr>
              <a:r>
                <a:rPr lang="zh-CN" altLang="en-US" sz="2400" dirty="0"/>
                <a:t>用户名称、发证机构名称、公开密钥、公开密钥的有效日期、数字证明书的编号以及发证者的签名。</a:t>
              </a:r>
              <a:endParaRPr lang="zh-CN" altLang="en-US" sz="24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内容导航：</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12.2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数据加密技术</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12.3  </a:t>
            </a:r>
            <a:r>
              <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endPar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矩形 24"/>
          <p:cNvSpPr/>
          <p:nvPr/>
        </p:nvSpPr>
        <p:spPr>
          <a:xfrm>
            <a:off x="1379227" y="3667722"/>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12.4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矩形 2"/>
          <p:cNvSpPr/>
          <p:nvPr/>
        </p:nvSpPr>
        <p:spPr>
          <a:xfrm>
            <a:off x="7632441" y="2349214"/>
            <a:ext cx="4058796" cy="646331"/>
          </a:xfrm>
          <a:prstGeom prst="rect">
            <a:avLst/>
          </a:prstGeom>
        </p:spPr>
        <p:txBody>
          <a:bodyPr wrap="square">
            <a:spAutoFit/>
          </a:bodyPr>
          <a:lstStyle/>
          <a:p>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36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cxnSp>
        <p:nvCxnSpPr>
          <p:cNvPr id="5" name="直接连接符 4"/>
          <p:cNvCxnSpPr/>
          <p:nvPr/>
        </p:nvCxnSpPr>
        <p:spPr>
          <a:xfrm>
            <a:off x="7567127" y="3190471"/>
            <a:ext cx="397999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81373"/>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99518"/>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641362"/>
            <a:ext cx="527050" cy="527050"/>
          </a:xfrm>
          <a:prstGeom prst="rect">
            <a:avLst/>
          </a:prstGeom>
          <a:ln>
            <a:noFill/>
          </a:ln>
          <a:effectLst>
            <a:softEdge rad="0"/>
          </a:effectLst>
        </p:spPr>
      </p:pic>
      <p:sp>
        <p:nvSpPr>
          <p:cNvPr id="18" name="矩形 17"/>
          <p:cNvSpPr/>
          <p:nvPr/>
        </p:nvSpPr>
        <p:spPr>
          <a:xfrm>
            <a:off x="1379227" y="4282526"/>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12.5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来自系统外部的攻击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237504"/>
            <a:ext cx="527050" cy="527050"/>
          </a:xfrm>
          <a:prstGeom prst="rect">
            <a:avLst/>
          </a:prstGeom>
          <a:ln>
            <a:noFill/>
          </a:ln>
          <a:effectLst>
            <a:softEdge rad="0"/>
          </a:effectLst>
        </p:spPr>
      </p:pic>
      <p:sp>
        <p:nvSpPr>
          <p:cNvPr id="27" name="矩形 26"/>
          <p:cNvSpPr/>
          <p:nvPr/>
        </p:nvSpPr>
        <p:spPr>
          <a:xfrm>
            <a:off x="1379227" y="4868899"/>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12.6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可信系统</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23877"/>
            <a:ext cx="527050" cy="527050"/>
          </a:xfrm>
          <a:prstGeom prst="rect">
            <a:avLst/>
          </a:prstGeom>
          <a:ln>
            <a:noFill/>
          </a:ln>
          <a:effectLst>
            <a:softEdge rad="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12.3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1854558" y="1257842"/>
            <a:ext cx="9519540" cy="46614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zh-CN" sz="2400" dirty="0">
                <a:solidFill>
                  <a:srgbClr val="FF0000"/>
                </a:solidFill>
                <a:latin typeface="+mn-ea"/>
                <a:cs typeface="+mn-ea"/>
                <a:sym typeface="Times New Roman" panose="02020603050405020304" pitchFamily="18" charset="0"/>
              </a:rPr>
              <a:t>验证</a:t>
            </a:r>
            <a:r>
              <a:rPr lang="zh-CN" altLang="en-US" sz="2400" dirty="0">
                <a:latin typeface="+mn-ea"/>
                <a:cs typeface="+mn-ea"/>
                <a:sym typeface="Times New Roman" panose="02020603050405020304" pitchFamily="18" charset="0"/>
              </a:rPr>
              <a:t>又</a:t>
            </a:r>
            <a:r>
              <a:rPr lang="zh-CN" altLang="zh-CN" sz="2400" dirty="0">
                <a:latin typeface="+mn-ea"/>
                <a:cs typeface="+mn-ea"/>
                <a:sym typeface="Times New Roman" panose="02020603050405020304" pitchFamily="18" charset="0"/>
              </a:rPr>
              <a:t>称为</a:t>
            </a:r>
            <a:r>
              <a:rPr lang="zh-CN" altLang="zh-CN" sz="2400" dirty="0">
                <a:solidFill>
                  <a:srgbClr val="0000FF"/>
                </a:solidFill>
                <a:latin typeface="+mn-ea"/>
                <a:cs typeface="+mn-ea"/>
                <a:sym typeface="Times New Roman" panose="02020603050405020304" pitchFamily="18" charset="0"/>
              </a:rPr>
              <a:t>识别或认证</a:t>
            </a:r>
            <a:endParaRPr lang="en-US" altLang="zh-CN" sz="2400" dirty="0">
              <a:latin typeface="+mn-ea"/>
              <a:cs typeface="+mn-ea"/>
              <a:sym typeface="Times New Roman" panose="02020603050405020304" pitchFamily="18" charset="0"/>
            </a:endParaRPr>
          </a:p>
          <a:p>
            <a:pPr marL="0" indent="0">
              <a:lnSpc>
                <a:spcPct val="123000"/>
              </a:lnSpc>
              <a:spcBef>
                <a:spcPts val="600"/>
              </a:spcBef>
              <a:spcAft>
                <a:spcPts val="600"/>
              </a:spcAft>
              <a:buNone/>
            </a:pPr>
            <a:r>
              <a:rPr lang="zh-CN" altLang="zh-CN" sz="2400" dirty="0">
                <a:latin typeface="+mn-ea"/>
                <a:cs typeface="+mn-ea"/>
                <a:sym typeface="Times New Roman" panose="02020603050405020304" pitchFamily="18" charset="0"/>
              </a:rPr>
              <a:t>用户验证</a:t>
            </a:r>
            <a:r>
              <a:rPr lang="zh-CN" altLang="en-US" sz="2400" dirty="0">
                <a:latin typeface="+mn-ea"/>
                <a:cs typeface="+mn-ea"/>
                <a:sym typeface="Times New Roman" panose="02020603050405020304" pitchFamily="18" charset="0"/>
              </a:rPr>
              <a:t>：</a:t>
            </a:r>
            <a:r>
              <a:rPr lang="zh-CN" altLang="zh-CN" sz="2400" dirty="0">
                <a:latin typeface="+mn-ea"/>
                <a:cs typeface="+mn-ea"/>
                <a:sym typeface="Times New Roman" panose="02020603050405020304" pitchFamily="18" charset="0"/>
              </a:rPr>
              <a:t>当用户要登录一台多用户计算机时，</a:t>
            </a:r>
            <a:r>
              <a:rPr lang="en-US" altLang="zh-CN" sz="2400" dirty="0">
                <a:latin typeface="+mn-ea"/>
                <a:cs typeface="+mn-ea"/>
                <a:sym typeface="Times New Roman" panose="02020603050405020304" pitchFamily="18" charset="0"/>
              </a:rPr>
              <a:t>OS</a:t>
            </a:r>
            <a:r>
              <a:rPr lang="zh-CN" altLang="zh-CN" sz="2400" dirty="0">
                <a:latin typeface="+mn-ea"/>
                <a:cs typeface="+mn-ea"/>
                <a:sym typeface="Times New Roman" panose="02020603050405020304" pitchFamily="18" charset="0"/>
              </a:rPr>
              <a:t>将对该用户进行验证</a:t>
            </a:r>
            <a:r>
              <a:rPr lang="zh-CN" altLang="en-US" sz="2400" dirty="0">
                <a:latin typeface="+mn-ea"/>
                <a:cs typeface="+mn-ea"/>
                <a:sym typeface="Times New Roman" panose="02020603050405020304" pitchFamily="18" charset="0"/>
              </a:rPr>
              <a:t>，</a:t>
            </a:r>
            <a:r>
              <a:rPr lang="zh-CN" altLang="zh-CN" sz="2400" dirty="0">
                <a:latin typeface="+mn-ea"/>
                <a:cs typeface="+mn-ea"/>
                <a:sym typeface="Times New Roman" panose="02020603050405020304" pitchFamily="18" charset="0"/>
              </a:rPr>
              <a:t>目的在于确定被验证对象（包括人和事）是否真实</a:t>
            </a:r>
            <a:endParaRPr lang="en-US" altLang="zh-CN" sz="2400" dirty="0">
              <a:latin typeface="+mn-ea"/>
              <a:cs typeface="+mn-ea"/>
              <a:sym typeface="Times New Roman" panose="02020603050405020304" pitchFamily="18" charset="0"/>
            </a:endParaRPr>
          </a:p>
          <a:p>
            <a:pPr marL="0" indent="0">
              <a:lnSpc>
                <a:spcPct val="123000"/>
              </a:lnSpc>
              <a:spcBef>
                <a:spcPts val="600"/>
              </a:spcBef>
              <a:spcAft>
                <a:spcPts val="600"/>
              </a:spcAft>
              <a:buNone/>
            </a:pPr>
            <a:r>
              <a:rPr lang="zh-CN" altLang="zh-CN" sz="2400" dirty="0">
                <a:latin typeface="+mn-ea"/>
                <a:cs typeface="+mn-ea"/>
                <a:sym typeface="Times New Roman" panose="02020603050405020304" pitchFamily="18" charset="0"/>
              </a:rPr>
              <a:t>通常将验证技术的应用作为保障网络安全的第一道防线</a:t>
            </a:r>
            <a:endParaRPr lang="en-US" altLang="zh-CN" sz="2400" dirty="0">
              <a:latin typeface="+mn-ea"/>
              <a:cs typeface="+mn-ea"/>
              <a:sym typeface="Times New Roman" panose="02020603050405020304" pitchFamily="18" charset="0"/>
            </a:endParaRPr>
          </a:p>
          <a:p>
            <a:pPr marL="0" indent="0">
              <a:lnSpc>
                <a:spcPct val="123000"/>
              </a:lnSpc>
              <a:spcBef>
                <a:spcPts val="600"/>
              </a:spcBef>
              <a:spcAft>
                <a:spcPts val="600"/>
              </a:spcAft>
              <a:buNone/>
            </a:pPr>
            <a:r>
              <a:rPr lang="zh-CN" altLang="en-US" sz="2400" dirty="0">
                <a:latin typeface="+mn-ea"/>
                <a:cs typeface="+mn-ea"/>
                <a:sym typeface="Times New Roman" panose="02020603050405020304" pitchFamily="18" charset="0"/>
              </a:rPr>
              <a:t>目前</a:t>
            </a:r>
            <a:r>
              <a:rPr lang="zh-CN" altLang="zh-CN" sz="2400" dirty="0">
                <a:latin typeface="+mn-ea"/>
                <a:cs typeface="+mn-ea"/>
                <a:sym typeface="Times New Roman" panose="02020603050405020304" pitchFamily="18" charset="0"/>
              </a:rPr>
              <a:t>验证</a:t>
            </a:r>
            <a:r>
              <a:rPr lang="zh-CN" altLang="zh-CN" sz="2400" dirty="0">
                <a:solidFill>
                  <a:srgbClr val="FF0000"/>
                </a:solidFill>
                <a:latin typeface="+mn-ea"/>
                <a:cs typeface="+mn-ea"/>
                <a:sym typeface="Times New Roman" panose="02020603050405020304" pitchFamily="18" charset="0"/>
              </a:rPr>
              <a:t>主要依据</a:t>
            </a:r>
            <a:r>
              <a:rPr lang="en-US" altLang="zh-CN" sz="2400" dirty="0">
                <a:solidFill>
                  <a:srgbClr val="FF0000"/>
                </a:solidFill>
                <a:latin typeface="+mn-ea"/>
                <a:cs typeface="+mn-ea"/>
                <a:sym typeface="Times New Roman" panose="02020603050405020304" pitchFamily="18" charset="0"/>
              </a:rPr>
              <a:t>3</a:t>
            </a:r>
            <a:r>
              <a:rPr lang="zh-CN" altLang="zh-CN" sz="2400" dirty="0">
                <a:solidFill>
                  <a:srgbClr val="FF0000"/>
                </a:solidFill>
                <a:latin typeface="+mn-ea"/>
                <a:cs typeface="+mn-ea"/>
                <a:sym typeface="Times New Roman" panose="02020603050405020304" pitchFamily="18" charset="0"/>
              </a:rPr>
              <a:t>方面的信息</a:t>
            </a:r>
            <a:r>
              <a:rPr lang="zh-CN" altLang="zh-CN" sz="2400" dirty="0">
                <a:latin typeface="+mn-ea"/>
                <a:cs typeface="+mn-ea"/>
                <a:sym typeface="Times New Roman" panose="02020603050405020304" pitchFamily="18" charset="0"/>
              </a:rPr>
              <a:t>来确定被验证对象的身份</a:t>
            </a:r>
            <a:endParaRPr lang="en-US" altLang="zh-CN" sz="2400" dirty="0">
              <a:latin typeface="+mn-ea"/>
              <a:cs typeface="+mn-ea"/>
              <a:sym typeface="Times New Roman" panose="02020603050405020304" pitchFamily="18" charset="0"/>
            </a:endParaRPr>
          </a:p>
          <a:p>
            <a:pPr marL="431800" lvl="1" indent="-457200">
              <a:lnSpc>
                <a:spcPct val="123000"/>
              </a:lnSpc>
              <a:spcBef>
                <a:spcPts val="600"/>
              </a:spcBef>
              <a:spcAft>
                <a:spcPts val="600"/>
              </a:spcAft>
              <a:buClr>
                <a:srgbClr val="FF0000"/>
              </a:buClr>
              <a:buFont typeface="+mj-ea"/>
              <a:buAutoNum type="circleNumDbPlain"/>
            </a:pPr>
            <a:r>
              <a:rPr lang="zh-CN" altLang="zh-CN" sz="2400" dirty="0" smtClean="0">
                <a:latin typeface="+mn-ea"/>
                <a:cs typeface="+mn-ea"/>
                <a:sym typeface="Times New Roman" panose="02020603050405020304" pitchFamily="18" charset="0"/>
              </a:rPr>
              <a:t>所</a:t>
            </a:r>
            <a:r>
              <a:rPr lang="zh-CN" altLang="zh-CN" sz="2400" dirty="0">
                <a:latin typeface="+mn-ea"/>
                <a:cs typeface="+mn-ea"/>
                <a:sym typeface="Times New Roman" panose="02020603050405020304" pitchFamily="18" charset="0"/>
              </a:rPr>
              <a:t>知，基于用户所知道的信息，如系统的登录名、口令等</a:t>
            </a:r>
            <a:endParaRPr lang="en-US" altLang="zh-CN" sz="2400" dirty="0">
              <a:latin typeface="+mn-ea"/>
              <a:cs typeface="+mn-ea"/>
              <a:sym typeface="Times New Roman" panose="02020603050405020304" pitchFamily="18" charset="0"/>
            </a:endParaRPr>
          </a:p>
          <a:p>
            <a:pPr marL="431800" lvl="1" indent="-457200">
              <a:lnSpc>
                <a:spcPct val="123000"/>
              </a:lnSpc>
              <a:spcBef>
                <a:spcPts val="600"/>
              </a:spcBef>
              <a:spcAft>
                <a:spcPts val="600"/>
              </a:spcAft>
              <a:buClr>
                <a:srgbClr val="FF0000"/>
              </a:buClr>
              <a:buFont typeface="+mj-ea"/>
              <a:buAutoNum type="circleNumDbPlain"/>
            </a:pPr>
            <a:r>
              <a:rPr lang="zh-CN" altLang="zh-CN" sz="2400" dirty="0" smtClean="0">
                <a:latin typeface="+mn-ea"/>
                <a:cs typeface="+mn-ea"/>
                <a:sym typeface="Times New Roman" panose="02020603050405020304" pitchFamily="18" charset="0"/>
              </a:rPr>
              <a:t>所有</a:t>
            </a:r>
            <a:r>
              <a:rPr lang="zh-CN" altLang="zh-CN" sz="2400" dirty="0">
                <a:latin typeface="+mn-ea"/>
                <a:cs typeface="+mn-ea"/>
                <a:sym typeface="Times New Roman" panose="02020603050405020304" pitchFamily="18" charset="0"/>
              </a:rPr>
              <a:t>基于用户所具有的东西，如身份证、信用卡等。</a:t>
            </a:r>
            <a:endParaRPr lang="en-US" altLang="zh-CN" sz="2400" dirty="0">
              <a:latin typeface="+mn-ea"/>
              <a:cs typeface="+mn-ea"/>
              <a:sym typeface="Times New Roman" panose="02020603050405020304" pitchFamily="18" charset="0"/>
            </a:endParaRPr>
          </a:p>
          <a:p>
            <a:pPr marL="431800" lvl="1" indent="-457200">
              <a:lnSpc>
                <a:spcPct val="123000"/>
              </a:lnSpc>
              <a:spcBef>
                <a:spcPts val="600"/>
              </a:spcBef>
              <a:spcAft>
                <a:spcPts val="600"/>
              </a:spcAft>
              <a:buClr>
                <a:srgbClr val="FF0000"/>
              </a:buClr>
              <a:buFont typeface="+mj-ea"/>
              <a:buAutoNum type="circleNumDbPlain"/>
            </a:pPr>
            <a:r>
              <a:rPr lang="zh-CN" altLang="zh-CN" sz="2400" dirty="0" smtClean="0">
                <a:latin typeface="+mn-ea"/>
                <a:cs typeface="+mn-ea"/>
                <a:sym typeface="Times New Roman" panose="02020603050405020304" pitchFamily="18" charset="0"/>
              </a:rPr>
              <a:t>用户</a:t>
            </a:r>
            <a:r>
              <a:rPr lang="zh-CN" altLang="zh-CN" sz="2400" dirty="0">
                <a:latin typeface="+mn-ea"/>
                <a:cs typeface="+mn-ea"/>
                <a:sym typeface="Times New Roman" panose="02020603050405020304" pitchFamily="18" charset="0"/>
              </a:rPr>
              <a:t>特征，基于用户所具有的特征，特别是生理特征，如指纹、声纹、</a:t>
            </a:r>
            <a:r>
              <a:rPr lang="en-US" altLang="zh-CN" sz="2400" dirty="0">
                <a:latin typeface="+mn-ea"/>
                <a:cs typeface="+mn-ea"/>
                <a:sym typeface="Times New Roman" panose="02020603050405020304" pitchFamily="18" charset="0"/>
              </a:rPr>
              <a:t>DNA</a:t>
            </a:r>
            <a:r>
              <a:rPr lang="zh-CN" altLang="zh-CN" sz="2400" dirty="0">
                <a:latin typeface="+mn-ea"/>
                <a:cs typeface="+mn-ea"/>
                <a:sym typeface="Times New Roman" panose="02020603050405020304" pitchFamily="18" charset="0"/>
              </a:rPr>
              <a:t>等</a:t>
            </a:r>
            <a:endParaRPr lang="zh-CN" altLang="en-US" sz="2400" dirty="0">
              <a:latin typeface="+mn-ea"/>
              <a:cs typeface="+mn-ea"/>
              <a:sym typeface="Times New Roman" panose="02020603050405020304" pitchFamily="18" charset="0"/>
            </a:endParaRPr>
          </a:p>
        </p:txBody>
      </p:sp>
      <p:sp>
        <p:nvSpPr>
          <p:cNvPr id="4" name="îSļiḓè"/>
          <p:cNvSpPr/>
          <p:nvPr/>
        </p:nvSpPr>
        <p:spPr>
          <a:xfrm>
            <a:off x="900036" y="121920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5" name="íṥḻîḓe"/>
          <p:cNvSpPr/>
          <p:nvPr/>
        </p:nvSpPr>
        <p:spPr>
          <a:xfrm>
            <a:off x="900036" y="27877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îşļiḓè"/>
          <p:cNvSpPr/>
          <p:nvPr/>
        </p:nvSpPr>
        <p:spPr>
          <a:xfrm>
            <a:off x="900036" y="19592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ṡḷíďe"/>
          <p:cNvSpPr/>
          <p:nvPr/>
        </p:nvSpPr>
        <p:spPr>
          <a:xfrm>
            <a:off x="1090291" y="141534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8" name="íSlíḋe"/>
          <p:cNvSpPr/>
          <p:nvPr/>
        </p:nvSpPr>
        <p:spPr>
          <a:xfrm>
            <a:off x="1090290" y="218127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ïśḷïḓe"/>
          <p:cNvSpPr/>
          <p:nvPr/>
        </p:nvSpPr>
        <p:spPr>
          <a:xfrm>
            <a:off x="1119229" y="29772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0" name="îSļiḓè"/>
          <p:cNvSpPr/>
          <p:nvPr/>
        </p:nvSpPr>
        <p:spPr>
          <a:xfrm>
            <a:off x="900036" y="359221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îṡḷíďe"/>
          <p:cNvSpPr/>
          <p:nvPr/>
        </p:nvSpPr>
        <p:spPr>
          <a:xfrm>
            <a:off x="1090291" y="378835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12.3.1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口令验证技术（</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íSľïdé"/>
          <p:cNvSpPr/>
          <p:nvPr/>
        </p:nvSpPr>
        <p:spPr>
          <a:xfrm>
            <a:off x="928133" y="120361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5" name="ïŝļíḓê"/>
          <p:cNvSpPr/>
          <p:nvPr/>
        </p:nvSpPr>
        <p:spPr bwMode="auto">
          <a:xfrm>
            <a:off x="8255574" y="183545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6" name="îṧľîdé"/>
          <p:cNvSpPr/>
          <p:nvPr/>
        </p:nvSpPr>
        <p:spPr>
          <a:xfrm>
            <a:off x="3496470" y="1203612"/>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内容占位符 2"/>
          <p:cNvSpPr txBox="1"/>
          <p:nvPr/>
        </p:nvSpPr>
        <p:spPr>
          <a:xfrm>
            <a:off x="778794" y="1835459"/>
            <a:ext cx="326517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None/>
              <a:defRPr/>
            </a:pPr>
            <a:r>
              <a:rPr lang="zh-CN" altLang="en-US" sz="2500" dirty="0">
                <a:solidFill>
                  <a:srgbClr val="FF0000"/>
                </a:solidFill>
              </a:rPr>
              <a:t>口令</a:t>
            </a:r>
            <a:endParaRPr lang="zh-CN" altLang="en-US" sz="2500" dirty="0">
              <a:solidFill>
                <a:srgbClr val="FF0000"/>
              </a:solidFill>
            </a:endParaRPr>
          </a:p>
          <a:p>
            <a:pPr marL="342900" lvl="1" indent="-342900">
              <a:lnSpc>
                <a:spcPct val="132000"/>
              </a:lnSpc>
              <a:spcBef>
                <a:spcPts val="30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登录程序通过输入的用户名和口令，验证用户的合法性</a:t>
            </a:r>
            <a:endParaRPr lang="zh-CN" altLang="en-US" sz="2000" dirty="0">
              <a:solidFill>
                <a:schemeClr val="tx1">
                  <a:lumMod val="65000"/>
                  <a:lumOff val="35000"/>
                </a:schemeClr>
              </a:solidFill>
            </a:endParaRPr>
          </a:p>
          <a:p>
            <a:pPr marL="342900" lvl="1" indent="-342900">
              <a:lnSpc>
                <a:spcPct val="132000"/>
              </a:lnSpc>
              <a:spcBef>
                <a:spcPts val="30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口令由字母、数字和特殊符号混合组成，它可由系统自动生成，也可由用户自己</a:t>
            </a:r>
            <a:r>
              <a:rPr lang="zh-CN" altLang="en-US" sz="2000" dirty="0" smtClean="0">
                <a:solidFill>
                  <a:schemeClr val="tx1">
                    <a:lumMod val="65000"/>
                    <a:lumOff val="35000"/>
                  </a:schemeClr>
                </a:solidFill>
              </a:rPr>
              <a:t>选定</a:t>
            </a:r>
            <a:endParaRPr lang="zh-CN" altLang="en-US" sz="2000" dirty="0">
              <a:solidFill>
                <a:schemeClr val="tx1">
                  <a:lumMod val="65000"/>
                  <a:lumOff val="35000"/>
                </a:schemeClr>
              </a:solidFill>
            </a:endParaRPr>
          </a:p>
        </p:txBody>
      </p:sp>
      <p:sp>
        <p:nvSpPr>
          <p:cNvPr id="8" name="内容占位符 2"/>
          <p:cNvSpPr txBox="1"/>
          <p:nvPr/>
        </p:nvSpPr>
        <p:spPr>
          <a:xfrm>
            <a:off x="7696200" y="2488070"/>
            <a:ext cx="3778876" cy="408659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500" dirty="0"/>
              <a:t>提高口令安全性的</a:t>
            </a:r>
            <a:r>
              <a:rPr lang="zh-CN" altLang="en-US" sz="2500" dirty="0">
                <a:solidFill>
                  <a:srgbClr val="FF0000"/>
                </a:solidFill>
              </a:rPr>
              <a:t>方法：</a:t>
            </a:r>
            <a:endParaRPr lang="zh-CN" altLang="en-US" sz="2500" dirty="0">
              <a:solidFill>
                <a:srgbClr val="FF0000"/>
              </a:solidFill>
            </a:endParaRP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口令应适当长</a:t>
            </a:r>
            <a:endParaRPr lang="zh-CN" altLang="en-US" sz="20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口令应包含多种字符</a:t>
            </a:r>
            <a:endParaRPr lang="zh-CN" altLang="en-US" sz="20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口令机制中应具有自动断开连接功能</a:t>
            </a:r>
            <a:endParaRPr lang="zh-CN" altLang="en-US" sz="20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系统不应将口令回送</a:t>
            </a:r>
            <a:endParaRPr lang="zh-CN" altLang="en-US" sz="20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n"/>
              <a:defRPr/>
            </a:pPr>
            <a:r>
              <a:rPr lang="zh-CN" altLang="en-US" sz="2000" dirty="0">
                <a:solidFill>
                  <a:schemeClr val="tx1">
                    <a:lumMod val="65000"/>
                    <a:lumOff val="35000"/>
                  </a:schemeClr>
                </a:solidFill>
              </a:rPr>
              <a:t>系统应记录和报告用户登录情况</a:t>
            </a:r>
            <a:endParaRPr lang="zh-CN" altLang="en-US" sz="2000" dirty="0">
              <a:solidFill>
                <a:schemeClr val="tx1">
                  <a:lumMod val="65000"/>
                  <a:lumOff val="35000"/>
                </a:schemeClr>
              </a:solidFill>
            </a:endParaRPr>
          </a:p>
        </p:txBody>
      </p:sp>
      <p:sp>
        <p:nvSpPr>
          <p:cNvPr id="9" name="内容占位符 2"/>
          <p:cNvSpPr txBox="1"/>
          <p:nvPr/>
        </p:nvSpPr>
        <p:spPr>
          <a:xfrm>
            <a:off x="778795" y="5158208"/>
            <a:ext cx="5969736"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2" indent="-342900">
              <a:lnSpc>
                <a:spcPct val="132000"/>
              </a:lnSpc>
              <a:spcBef>
                <a:spcPts val="300"/>
              </a:spcBef>
              <a:buClr>
                <a:srgbClr val="E71101"/>
              </a:buClr>
              <a:buSzPct val="60000"/>
              <a:buFont typeface="Wingdings" panose="05000000000000000000" pitchFamily="2" charset="2"/>
              <a:buChar char="Ø"/>
              <a:defRPr/>
            </a:pPr>
            <a:r>
              <a:rPr lang="zh-CN" altLang="en-US" sz="2000" dirty="0" smtClean="0">
                <a:solidFill>
                  <a:schemeClr val="tx1">
                    <a:lumMod val="65000"/>
                    <a:lumOff val="35000"/>
                  </a:schemeClr>
                </a:solidFill>
              </a:rPr>
              <a:t>系统</a:t>
            </a:r>
            <a:r>
              <a:rPr lang="zh-CN" altLang="en-US" sz="2000" dirty="0">
                <a:solidFill>
                  <a:schemeClr val="tx1">
                    <a:lumMod val="65000"/>
                    <a:lumOff val="35000"/>
                  </a:schemeClr>
                </a:solidFill>
              </a:rPr>
              <a:t>所产生的口令往往不便于记忆</a:t>
            </a:r>
            <a:endParaRPr lang="zh-CN" altLang="en-US" sz="2000" dirty="0">
              <a:solidFill>
                <a:schemeClr val="tx1">
                  <a:lumMod val="65000"/>
                  <a:lumOff val="35000"/>
                </a:schemeClr>
              </a:solidFill>
            </a:endParaRPr>
          </a:p>
          <a:p>
            <a:pPr marL="800100" lvl="2" indent="-342900">
              <a:lnSpc>
                <a:spcPct val="132000"/>
              </a:lnSpc>
              <a:spcBef>
                <a:spcPts val="30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用户自己规定的口令通常容易记忆，但很容易被攻击者猜中</a:t>
            </a:r>
            <a:endParaRPr lang="zh-CN" altLang="en-US" sz="2000"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口令验证技术（</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768439" y="1125827"/>
            <a:ext cx="10874062" cy="51950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lnSpc>
                <a:spcPct val="123000"/>
              </a:lnSpc>
              <a:buClr>
                <a:srgbClr val="FF0000"/>
              </a:buClr>
              <a:buFont typeface="Wingdings" panose="05000000000000000000" pitchFamily="2" charset="2"/>
              <a:buChar char="n"/>
            </a:pPr>
            <a:r>
              <a:rPr lang="zh-CN" altLang="en-US" sz="2200" dirty="0">
                <a:solidFill>
                  <a:srgbClr val="FF0000"/>
                </a:solidFill>
                <a:latin typeface="+mn-ea"/>
                <a:cs typeface="+mn-ea"/>
                <a:sym typeface="Times New Roman" panose="02020603050405020304" pitchFamily="18" charset="0"/>
              </a:rPr>
              <a:t>一次性口令</a:t>
            </a:r>
            <a:r>
              <a:rPr lang="zh-CN" altLang="en-US" sz="2200" dirty="0">
                <a:latin typeface="+mn-ea"/>
                <a:cs typeface="+mn-ea"/>
                <a:sym typeface="Times New Roman" panose="02020603050405020304" pitchFamily="18" charset="0"/>
              </a:rPr>
              <a:t>：</a:t>
            </a:r>
            <a:r>
              <a:rPr lang="zh-CN" altLang="zh-CN" sz="2200" dirty="0">
                <a:latin typeface="+mn-ea"/>
                <a:cs typeface="+mn-ea"/>
                <a:sym typeface="Times New Roman" panose="02020603050405020304" pitchFamily="18" charset="0"/>
              </a:rPr>
              <a:t>口令被使用一次后就换另一个口令</a:t>
            </a:r>
            <a:endParaRPr lang="en-US" altLang="zh-CN" sz="22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用户给系统提供一张口令表，其中记录有其使用的口令序列</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系统为该表设置一指针，用于指示下次用户登录时所应使用的</a:t>
            </a:r>
            <a:r>
              <a:rPr lang="zh-CN" altLang="zh-CN" sz="2000" dirty="0" smtClean="0">
                <a:latin typeface="+mn-ea"/>
                <a:cs typeface="+mn-ea"/>
                <a:sym typeface="Times New Roman" panose="02020603050405020304" pitchFamily="18" charset="0"/>
              </a:rPr>
              <a:t>口令</a:t>
            </a:r>
            <a:endParaRPr lang="en-US" altLang="zh-CN" sz="2000" dirty="0">
              <a:latin typeface="+mn-ea"/>
              <a:cs typeface="+mn-ea"/>
              <a:sym typeface="Times New Roman" panose="02020603050405020304" pitchFamily="18" charset="0"/>
            </a:endParaRPr>
          </a:p>
          <a:p>
            <a:pPr indent="-442595">
              <a:lnSpc>
                <a:spcPct val="123000"/>
              </a:lnSpc>
              <a:buClr>
                <a:srgbClr val="FF0000"/>
              </a:buClr>
              <a:buFont typeface="Wingdings" panose="05000000000000000000" pitchFamily="2" charset="2"/>
              <a:buChar char="n"/>
            </a:pPr>
            <a:r>
              <a:rPr lang="zh-CN" altLang="en-US" sz="2200" dirty="0">
                <a:solidFill>
                  <a:srgbClr val="FF0000"/>
                </a:solidFill>
                <a:latin typeface="+mn-ea"/>
                <a:cs typeface="+mn-ea"/>
                <a:sym typeface="Times New Roman" panose="02020603050405020304" pitchFamily="18" charset="0"/>
              </a:rPr>
              <a:t>口令文件</a:t>
            </a:r>
            <a:r>
              <a:rPr lang="zh-CN" altLang="en-US" sz="2200" dirty="0">
                <a:latin typeface="+mn-ea"/>
                <a:cs typeface="+mn-ea"/>
                <a:sym typeface="Times New Roman" panose="02020603050405020304" pitchFamily="18" charset="0"/>
              </a:rPr>
              <a:t>：</a:t>
            </a:r>
            <a:r>
              <a:rPr lang="zh-CN" altLang="zh-CN" sz="2200" dirty="0">
                <a:latin typeface="+mn-ea"/>
                <a:cs typeface="+mn-ea"/>
                <a:sym typeface="Times New Roman" panose="02020603050405020304" pitchFamily="18" charset="0"/>
              </a:rPr>
              <a:t>保存合法用户口令和用户特权</a:t>
            </a:r>
            <a:r>
              <a:rPr lang="zh-CN" altLang="en-US" sz="2200" dirty="0">
                <a:latin typeface="+mn-ea"/>
                <a:cs typeface="+mn-ea"/>
                <a:sym typeface="Times New Roman" panose="02020603050405020304" pitchFamily="18" charset="0"/>
              </a:rPr>
              <a:t>的文件</a:t>
            </a:r>
            <a:endParaRPr lang="en-US" altLang="zh-CN" sz="22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保证口令文件安全性最有效的方法是利用加密技术</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应该妥善保管好已加密的口令</a:t>
            </a:r>
            <a:r>
              <a:rPr lang="zh-CN" altLang="zh-CN" sz="2000" dirty="0" smtClean="0">
                <a:latin typeface="+mn-ea"/>
                <a:cs typeface="+mn-ea"/>
                <a:sym typeface="Times New Roman" panose="02020603050405020304" pitchFamily="18" charset="0"/>
              </a:rPr>
              <a:t>文件</a:t>
            </a:r>
            <a:endParaRPr lang="en-US" altLang="zh-CN" sz="2000" dirty="0">
              <a:latin typeface="+mn-ea"/>
              <a:cs typeface="+mn-ea"/>
              <a:sym typeface="Times New Roman" panose="02020603050405020304" pitchFamily="18" charset="0"/>
            </a:endParaRPr>
          </a:p>
          <a:p>
            <a:pPr indent="-442595">
              <a:lnSpc>
                <a:spcPct val="123000"/>
              </a:lnSpc>
              <a:buClr>
                <a:srgbClr val="FF0000"/>
              </a:buClr>
              <a:buFont typeface="Wingdings" panose="05000000000000000000" pitchFamily="2" charset="2"/>
              <a:buChar char="n"/>
            </a:pPr>
            <a:r>
              <a:rPr lang="zh-CN" altLang="en-US" sz="2200" dirty="0">
                <a:solidFill>
                  <a:srgbClr val="0000FF"/>
                </a:solidFill>
                <a:latin typeface="+mn-ea"/>
                <a:cs typeface="+mn-ea"/>
                <a:sym typeface="Times New Roman" panose="02020603050405020304" pitchFamily="18" charset="0"/>
              </a:rPr>
              <a:t>挑战</a:t>
            </a:r>
            <a:r>
              <a:rPr lang="en-US" altLang="zh-CN" sz="2200" dirty="0">
                <a:solidFill>
                  <a:srgbClr val="0000FF"/>
                </a:solidFill>
                <a:latin typeface="+mn-ea"/>
                <a:cs typeface="+mn-ea"/>
                <a:sym typeface="Times New Roman" panose="02020603050405020304" pitchFamily="18" charset="0"/>
              </a:rPr>
              <a:t>-</a:t>
            </a:r>
            <a:r>
              <a:rPr lang="zh-CN" altLang="en-US" sz="2200" dirty="0">
                <a:solidFill>
                  <a:srgbClr val="0000FF"/>
                </a:solidFill>
                <a:latin typeface="+mn-ea"/>
                <a:cs typeface="+mn-ea"/>
                <a:sym typeface="Times New Roman" panose="02020603050405020304" pitchFamily="18" charset="0"/>
              </a:rPr>
              <a:t>响应</a:t>
            </a:r>
            <a:r>
              <a:rPr lang="zh-CN" altLang="en-US" sz="2200" dirty="0">
                <a:latin typeface="+mn-ea"/>
                <a:cs typeface="+mn-ea"/>
                <a:sym typeface="Times New Roman" panose="02020603050405020304" pitchFamily="18" charset="0"/>
              </a:rPr>
              <a:t>验证：</a:t>
            </a:r>
            <a:endParaRPr lang="en-US" altLang="zh-CN" sz="22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由用户自己选择一个算法，并将该算法告知服务器。</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每当用户登录时，服务器就给用户发来一个随机数，用户收到随机数后，按所选算法对其进行运算，并将</a:t>
            </a:r>
            <a:r>
              <a:rPr lang="zh-CN" altLang="en-US" sz="2000" dirty="0">
                <a:latin typeface="+mn-ea"/>
                <a:cs typeface="+mn-ea"/>
                <a:sym typeface="Times New Roman" panose="02020603050405020304" pitchFamily="18" charset="0"/>
              </a:rPr>
              <a:t>结果</a:t>
            </a:r>
            <a:r>
              <a:rPr lang="zh-CN" altLang="zh-CN" sz="2000" dirty="0">
                <a:latin typeface="+mn-ea"/>
                <a:cs typeface="+mn-ea"/>
                <a:sym typeface="Times New Roman" panose="02020603050405020304" pitchFamily="18" charset="0"/>
              </a:rPr>
              <a:t>作为口令</a:t>
            </a:r>
            <a:endParaRPr lang="en-US" altLang="zh-CN" sz="2000" dirty="0">
              <a:latin typeface="+mn-ea"/>
              <a:cs typeface="+mn-ea"/>
              <a:sym typeface="Times New Roman" panose="02020603050405020304" pitchFamily="18" charset="0"/>
            </a:endParaRPr>
          </a:p>
          <a:p>
            <a:pPr lvl="1">
              <a:lnSpc>
                <a:spcPct val="123000"/>
              </a:lnSpc>
              <a:buFont typeface="Wingdings" panose="05000000000000000000" pitchFamily="2" charset="2"/>
              <a:buChar char="Ø"/>
            </a:pPr>
            <a:r>
              <a:rPr lang="zh-CN" altLang="zh-CN" sz="2000" dirty="0">
                <a:latin typeface="+mn-ea"/>
                <a:cs typeface="+mn-ea"/>
                <a:sym typeface="Times New Roman" panose="02020603050405020304" pitchFamily="18" charset="0"/>
              </a:rPr>
              <a:t>服务器再将所收到的口令与自己（利用</a:t>
            </a:r>
            <a:r>
              <a:rPr lang="en-US" altLang="zh-CN" sz="2000" dirty="0">
                <a:latin typeface="+mn-ea"/>
                <a:cs typeface="+mn-ea"/>
                <a:sym typeface="Times New Roman" panose="02020603050405020304" pitchFamily="18" charset="0"/>
              </a:rPr>
              <a:t> </a:t>
            </a:r>
            <a:r>
              <a:rPr lang="zh-CN" altLang="zh-CN" sz="2000" dirty="0">
                <a:latin typeface="+mn-ea"/>
                <a:cs typeface="+mn-ea"/>
                <a:sym typeface="Times New Roman" panose="02020603050405020304" pitchFamily="18" charset="0"/>
              </a:rPr>
              <a:t>算法）计算的结果进行比较，若两者相同，则允许用户登录，否则拒绝用户登录</a:t>
            </a:r>
            <a:endParaRPr lang="en-US" altLang="zh-CN" sz="2000" dirty="0">
              <a:latin typeface="+mn-ea"/>
              <a:cs typeface="+mn-ea"/>
              <a:sym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12.3.2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基于物理标志的验证技术</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64783" y="1607316"/>
            <a:ext cx="7400184" cy="2475287"/>
            <a:chOff x="4118716" y="1337038"/>
            <a:chExt cx="7400184" cy="2475287"/>
          </a:xfrm>
        </p:grpSpPr>
        <p:sp>
          <p:nvSpPr>
            <p:cNvPr id="7" name="îslîďê"/>
            <p:cNvSpPr/>
            <p:nvPr/>
          </p:nvSpPr>
          <p:spPr>
            <a:xfrm>
              <a:off x="4118716" y="1532309"/>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8" name="ïSḻiḍé"/>
            <p:cNvSpPr txBox="1"/>
            <p:nvPr/>
          </p:nvSpPr>
          <p:spPr>
            <a:xfrm>
              <a:off x="4882719" y="1337038"/>
              <a:ext cx="6636181" cy="247528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b="1" dirty="0">
                  <a:latin typeface="+mj-ea"/>
                  <a:ea typeface="+mj-ea"/>
                </a:rPr>
                <a:t>基于</a:t>
              </a:r>
              <a:r>
                <a:rPr lang="zh-CN" altLang="en-US" sz="2400" b="1" dirty="0">
                  <a:solidFill>
                    <a:srgbClr val="FF0000"/>
                  </a:solidFill>
                  <a:latin typeface="+mj-ea"/>
                  <a:ea typeface="+mj-ea"/>
                </a:rPr>
                <a:t>磁卡</a:t>
              </a:r>
              <a:r>
                <a:rPr lang="zh-CN" altLang="en-US" sz="2400" b="1" dirty="0">
                  <a:latin typeface="+mj-ea"/>
                  <a:ea typeface="+mj-ea"/>
                </a:rPr>
                <a:t>的验证技术</a:t>
              </a:r>
              <a:endParaRPr lang="zh-CN" altLang="en-US" sz="2400" b="1"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将磁卡上的数据读入计算机，验证该用户是否合法</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400" dirty="0">
                  <a:latin typeface="+mj-ea"/>
                  <a:ea typeface="+mj-ea"/>
                </a:rPr>
                <a:t>可增设了口令机制，即磁卡验证时，要求用户输入</a:t>
              </a:r>
              <a:r>
                <a:rPr lang="zh-CN" altLang="en-US" sz="2400" dirty="0" smtClean="0">
                  <a:latin typeface="+mj-ea"/>
                  <a:ea typeface="+mj-ea"/>
                </a:rPr>
                <a:t>口令</a:t>
              </a:r>
              <a:endParaRPr lang="zh-CN" altLang="en-US" sz="2400" dirty="0">
                <a:latin typeface="+mj-ea"/>
                <a:ea typeface="+mj-ea"/>
              </a:endParaRPr>
            </a:p>
          </p:txBody>
        </p:sp>
      </p:grpSp>
      <p:grpSp>
        <p:nvGrpSpPr>
          <p:cNvPr id="9" name="išḷîḓé"/>
          <p:cNvGrpSpPr/>
          <p:nvPr/>
        </p:nvGrpSpPr>
        <p:grpSpPr>
          <a:xfrm>
            <a:off x="4137718" y="4315300"/>
            <a:ext cx="7722859" cy="1763616"/>
            <a:chOff x="4136995" y="3233565"/>
            <a:chExt cx="7722859" cy="1763616"/>
          </a:xfrm>
        </p:grpSpPr>
        <p:sp>
          <p:nvSpPr>
            <p:cNvPr id="10"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1" name="îŝľîḓè"/>
            <p:cNvSpPr txBox="1"/>
            <p:nvPr/>
          </p:nvSpPr>
          <p:spPr>
            <a:xfrm>
              <a:off x="4882718" y="3233565"/>
              <a:ext cx="6977136"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t>基于</a:t>
              </a:r>
              <a:r>
                <a:rPr lang="en-US" altLang="zh-CN" sz="2400" b="1" dirty="0">
                  <a:solidFill>
                    <a:srgbClr val="FF0000"/>
                  </a:solidFill>
                </a:rPr>
                <a:t>IC</a:t>
              </a:r>
              <a:r>
                <a:rPr lang="zh-CN" altLang="en-US" sz="2400" b="1" dirty="0">
                  <a:solidFill>
                    <a:srgbClr val="FF0000"/>
                  </a:solidFill>
                </a:rPr>
                <a:t>卡</a:t>
              </a:r>
              <a:r>
                <a:rPr lang="zh-CN" altLang="en-US" sz="2400" b="1" dirty="0"/>
                <a:t>的验证技术</a:t>
              </a:r>
              <a:endParaRPr lang="zh-CN" altLang="en-US" sz="2400" b="1" dirty="0"/>
            </a:p>
            <a:p>
              <a:pPr marL="342900" indent="-342900">
                <a:lnSpc>
                  <a:spcPct val="130000"/>
                </a:lnSpc>
                <a:buFont typeface="Wingdings" panose="05000000000000000000" pitchFamily="2" charset="2"/>
                <a:buChar char="Ø"/>
              </a:pPr>
              <a:r>
                <a:rPr lang="en-US" altLang="zh-CN" sz="2400" dirty="0"/>
                <a:t>IC</a:t>
              </a:r>
              <a:r>
                <a:rPr lang="zh-CN" altLang="en-US" sz="2400" dirty="0"/>
                <a:t>卡类型：存储器卡、微处理器卡、密码卡</a:t>
              </a:r>
              <a:endParaRPr lang="zh-CN" altLang="en-US" sz="2400" dirty="0"/>
            </a:p>
            <a:p>
              <a:pPr marL="342900" indent="-342900">
                <a:lnSpc>
                  <a:spcPct val="130000"/>
                </a:lnSpc>
                <a:buFont typeface="Wingdings" panose="05000000000000000000" pitchFamily="2" charset="2"/>
                <a:buChar char="Ø"/>
              </a:pPr>
              <a:r>
                <a:rPr lang="zh-CN" altLang="en-US" sz="2400" dirty="0"/>
                <a:t>可采用不同的验证机制，如挑战</a:t>
              </a:r>
              <a:r>
                <a:rPr lang="en-US" altLang="zh-CN" sz="2400" dirty="0"/>
                <a:t>-</a:t>
              </a:r>
              <a:r>
                <a:rPr lang="zh-CN" altLang="en-US" sz="2400" dirty="0"/>
                <a:t>验证机制</a:t>
              </a:r>
              <a:endParaRPr lang="zh-CN" altLang="en-US" sz="2400"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12.3.3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生物识别验证技术</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内容占位符 2"/>
          <p:cNvSpPr txBox="1"/>
          <p:nvPr/>
        </p:nvSpPr>
        <p:spPr>
          <a:xfrm>
            <a:off x="768439" y="1125828"/>
            <a:ext cx="10874062" cy="16302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23000"/>
              </a:lnSpc>
              <a:buClr>
                <a:srgbClr val="FF0000"/>
              </a:buClr>
              <a:buFont typeface="Wingdings" panose="05000000000000000000" pitchFamily="2" charset="2"/>
              <a:buChar char="n"/>
            </a:pPr>
            <a:r>
              <a:rPr lang="zh-CN" altLang="en-US" sz="2400" dirty="0">
                <a:latin typeface="+mn-ea"/>
                <a:cs typeface="+mn-ea"/>
                <a:sym typeface="Times New Roman" panose="02020603050405020304" pitchFamily="18" charset="0"/>
              </a:rPr>
              <a:t>利用人体具有的、不可模仿的、难以伪造的特定生物标志来进行验证，因此具有很高的可靠性</a:t>
            </a:r>
            <a:endParaRPr lang="zh-CN" altLang="en-US" sz="2400" dirty="0">
              <a:latin typeface="+mn-ea"/>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en-US" sz="2400" dirty="0">
                <a:latin typeface="+mn-ea"/>
                <a:cs typeface="+mn-ea"/>
                <a:sym typeface="Times New Roman" panose="02020603050405020304" pitchFamily="18" charset="0"/>
              </a:rPr>
              <a:t>常用于</a:t>
            </a:r>
            <a:r>
              <a:rPr lang="zh-CN" altLang="en-US" sz="2400" dirty="0">
                <a:solidFill>
                  <a:srgbClr val="FF0000"/>
                </a:solidFill>
                <a:latin typeface="+mn-ea"/>
                <a:cs typeface="+mn-ea"/>
                <a:sym typeface="Times New Roman" panose="02020603050405020304" pitchFamily="18" charset="0"/>
              </a:rPr>
              <a:t>身份识别</a:t>
            </a:r>
            <a:r>
              <a:rPr lang="zh-CN" altLang="en-US" sz="2400" dirty="0">
                <a:latin typeface="+mn-ea"/>
                <a:cs typeface="+mn-ea"/>
                <a:sym typeface="Times New Roman" panose="02020603050405020304" pitchFamily="18" charset="0"/>
              </a:rPr>
              <a:t>的生理标志</a:t>
            </a:r>
            <a:endParaRPr lang="zh-CN" altLang="en-US" sz="2400" dirty="0">
              <a:latin typeface="+mn-ea"/>
              <a:cs typeface="+mn-ea"/>
              <a:sym typeface="Times New Roman" panose="02020603050405020304" pitchFamily="18" charset="0"/>
            </a:endParaRPr>
          </a:p>
        </p:txBody>
      </p:sp>
      <p:sp>
        <p:nvSpPr>
          <p:cNvPr id="43" name="内容占位符 2"/>
          <p:cNvSpPr txBox="1"/>
          <p:nvPr/>
        </p:nvSpPr>
        <p:spPr>
          <a:xfrm>
            <a:off x="2338007" y="2856863"/>
            <a:ext cx="6342354" cy="17924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0"/>
              </a:spcBef>
              <a:buNone/>
            </a:pPr>
            <a:r>
              <a:rPr lang="zh-CN" altLang="en-US" sz="2400" dirty="0"/>
              <a:t>被选用的生理标志应具有</a:t>
            </a:r>
            <a:r>
              <a:rPr lang="en-US" altLang="zh-CN" sz="2400" dirty="0"/>
              <a:t>3</a:t>
            </a:r>
            <a:r>
              <a:rPr lang="zh-CN" altLang="en-US" sz="2400" dirty="0"/>
              <a:t>个条件</a:t>
            </a:r>
            <a:endParaRPr lang="zh-CN" altLang="en-US" sz="2400" dirty="0"/>
          </a:p>
          <a:p>
            <a:pPr indent="-442595">
              <a:lnSpc>
                <a:spcPct val="132000"/>
              </a:lnSpc>
              <a:spcBef>
                <a:spcPts val="0"/>
              </a:spcBef>
              <a:buClr>
                <a:srgbClr val="FF0000"/>
              </a:buClr>
              <a:buFont typeface="Wingdings" panose="05000000000000000000" pitchFamily="2" charset="2"/>
              <a:buChar char="l"/>
            </a:pPr>
            <a:r>
              <a:rPr lang="zh-CN" altLang="en-US" sz="2200" dirty="0"/>
              <a:t>足够的可变性</a:t>
            </a:r>
            <a:endParaRPr lang="zh-CN" altLang="en-US" sz="2200" dirty="0"/>
          </a:p>
          <a:p>
            <a:pPr indent="-442595">
              <a:lnSpc>
                <a:spcPct val="132000"/>
              </a:lnSpc>
              <a:spcBef>
                <a:spcPts val="0"/>
              </a:spcBef>
              <a:buClr>
                <a:srgbClr val="FF0000"/>
              </a:buClr>
              <a:buFont typeface="Wingdings" panose="05000000000000000000" pitchFamily="2" charset="2"/>
              <a:buChar char="l"/>
            </a:pPr>
            <a:r>
              <a:rPr lang="zh-CN" altLang="en-US" sz="2200" dirty="0"/>
              <a:t>应保持稳定，不会经常发生变化</a:t>
            </a:r>
            <a:endParaRPr lang="zh-CN" altLang="en-US" sz="2200" dirty="0"/>
          </a:p>
          <a:p>
            <a:pPr indent="-442595">
              <a:lnSpc>
                <a:spcPct val="132000"/>
              </a:lnSpc>
              <a:spcBef>
                <a:spcPts val="0"/>
              </a:spcBef>
              <a:buClr>
                <a:srgbClr val="FF0000"/>
              </a:buClr>
              <a:buFont typeface="Wingdings" panose="05000000000000000000" pitchFamily="2" charset="2"/>
              <a:buChar char="l"/>
            </a:pPr>
            <a:r>
              <a:rPr lang="zh-CN" altLang="en-US" sz="2200" dirty="0"/>
              <a:t>不易被伪装</a:t>
            </a:r>
            <a:endParaRPr lang="zh-CN" altLang="en-US" sz="2200" dirty="0"/>
          </a:p>
        </p:txBody>
      </p:sp>
      <p:grpSp>
        <p:nvGrpSpPr>
          <p:cNvPr id="44" name="组合 43"/>
          <p:cNvGrpSpPr/>
          <p:nvPr/>
        </p:nvGrpSpPr>
        <p:grpSpPr>
          <a:xfrm>
            <a:off x="1452763" y="3011411"/>
            <a:ext cx="712277" cy="418475"/>
            <a:chOff x="673100" y="2982961"/>
            <a:chExt cx="1597850" cy="938764"/>
          </a:xfrm>
        </p:grpSpPr>
        <p:sp>
          <p:nvSpPr>
            <p:cNvPr id="45"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46"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47" name="组合 46"/>
          <p:cNvGrpSpPr/>
          <p:nvPr/>
        </p:nvGrpSpPr>
        <p:grpSpPr>
          <a:xfrm>
            <a:off x="1505666" y="4932613"/>
            <a:ext cx="712277" cy="418475"/>
            <a:chOff x="673100" y="2982961"/>
            <a:chExt cx="1597850" cy="938764"/>
          </a:xfrm>
        </p:grpSpPr>
        <p:sp>
          <p:nvSpPr>
            <p:cNvPr id="48"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49"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50" name="内容占位符 2"/>
          <p:cNvSpPr txBox="1"/>
          <p:nvPr/>
        </p:nvSpPr>
        <p:spPr>
          <a:xfrm>
            <a:off x="2326516" y="4930365"/>
            <a:ext cx="1459873" cy="5689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smtClean="0">
                <a:solidFill>
                  <a:srgbClr val="0000FF"/>
                </a:solidFill>
              </a:rPr>
              <a:t>指纹</a:t>
            </a:r>
            <a:endParaRPr lang="zh-CN" altLang="en-US" sz="2400" dirty="0" smtClean="0">
              <a:solidFill>
                <a:srgbClr val="0000FF"/>
              </a:solidFill>
            </a:endParaRPr>
          </a:p>
        </p:txBody>
      </p:sp>
      <p:sp>
        <p:nvSpPr>
          <p:cNvPr id="51" name="内容占位符 2"/>
          <p:cNvSpPr txBox="1"/>
          <p:nvPr/>
        </p:nvSpPr>
        <p:spPr>
          <a:xfrm>
            <a:off x="3894962" y="4930365"/>
            <a:ext cx="1459873" cy="5689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smtClean="0">
                <a:solidFill>
                  <a:srgbClr val="0000FF"/>
                </a:solidFill>
              </a:rPr>
              <a:t>眼纹</a:t>
            </a:r>
            <a:endParaRPr lang="zh-CN" altLang="en-US" sz="2400" dirty="0" smtClean="0">
              <a:solidFill>
                <a:srgbClr val="0000FF"/>
              </a:solidFill>
            </a:endParaRPr>
          </a:p>
        </p:txBody>
      </p:sp>
      <p:sp>
        <p:nvSpPr>
          <p:cNvPr id="52" name="内容占位符 2"/>
          <p:cNvSpPr txBox="1"/>
          <p:nvPr/>
        </p:nvSpPr>
        <p:spPr>
          <a:xfrm>
            <a:off x="5509184" y="4930365"/>
            <a:ext cx="1459873" cy="4207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smtClean="0">
                <a:solidFill>
                  <a:srgbClr val="0000FF"/>
                </a:solidFill>
              </a:rPr>
              <a:t>声音</a:t>
            </a:r>
            <a:endParaRPr lang="zh-CN" altLang="en-US" sz="2400" dirty="0" smtClean="0">
              <a:solidFill>
                <a:srgbClr val="0000FF"/>
              </a:solidFill>
            </a:endParaRPr>
          </a:p>
        </p:txBody>
      </p:sp>
      <p:sp>
        <p:nvSpPr>
          <p:cNvPr id="53" name="内容占位符 2"/>
          <p:cNvSpPr txBox="1"/>
          <p:nvPr/>
        </p:nvSpPr>
        <p:spPr>
          <a:xfrm>
            <a:off x="7350863" y="4930365"/>
            <a:ext cx="1459873" cy="5689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buClr>
                <a:srgbClr val="0000FF"/>
              </a:buClr>
              <a:buFont typeface="Wingdings" panose="05000000000000000000" pitchFamily="2" charset="2"/>
              <a:buChar char="l"/>
            </a:pPr>
            <a:r>
              <a:rPr lang="zh-CN" altLang="en-US" sz="2400" dirty="0" smtClean="0">
                <a:solidFill>
                  <a:srgbClr val="0000FF"/>
                </a:solidFill>
              </a:rPr>
              <a:t>人脸</a:t>
            </a:r>
            <a:endParaRPr lang="zh-CN" altLang="en-US" sz="2400" dirty="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生物识别系统的组成</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îṧľîdé"/>
          <p:cNvSpPr/>
          <p:nvPr/>
        </p:nvSpPr>
        <p:spPr>
          <a:xfrm>
            <a:off x="4537029" y="1595322"/>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 name="内容占位符 2"/>
          <p:cNvSpPr txBox="1"/>
          <p:nvPr/>
        </p:nvSpPr>
        <p:spPr>
          <a:xfrm>
            <a:off x="946219" y="1839430"/>
            <a:ext cx="3381082" cy="35310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t>对生物识别系统的要求：</a:t>
            </a:r>
            <a:endParaRPr lang="zh-CN" altLang="en-US"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性能需求：应具有具有很强的抗欺骗和防伪造能力。</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易于被用户接受</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成本合理</a:t>
            </a:r>
            <a:endParaRPr lang="zh-CN" altLang="en-US" sz="2200" dirty="0">
              <a:solidFill>
                <a:schemeClr val="tx1">
                  <a:lumMod val="65000"/>
                  <a:lumOff val="35000"/>
                </a:schemeClr>
              </a:solidFill>
            </a:endParaRPr>
          </a:p>
        </p:txBody>
      </p:sp>
      <p:sp>
        <p:nvSpPr>
          <p:cNvPr id="6" name="内容占位符 2"/>
          <p:cNvSpPr txBox="1"/>
          <p:nvPr/>
        </p:nvSpPr>
        <p:spPr>
          <a:xfrm>
            <a:off x="8323101" y="2735687"/>
            <a:ext cx="3551220"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生物识别系统的</a:t>
            </a:r>
            <a:r>
              <a:rPr lang="zh-CN" altLang="en-US" sz="2400" dirty="0">
                <a:solidFill>
                  <a:srgbClr val="FF0000"/>
                </a:solidFill>
              </a:rPr>
              <a:t>组成</a:t>
            </a:r>
            <a:r>
              <a:rPr lang="zh-CN" altLang="en-US" sz="2400" dirty="0"/>
              <a:t>：</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rgbClr val="FF0000"/>
                </a:solidFill>
              </a:rPr>
              <a:t>生物特征采集器</a:t>
            </a:r>
            <a:endParaRPr lang="zh-CN" altLang="en-US" sz="2200" dirty="0">
              <a:solidFill>
                <a:srgbClr val="FF0000"/>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rgbClr val="FF0000"/>
                </a:solidFill>
              </a:rPr>
              <a:t>注册部分</a:t>
            </a:r>
            <a:endParaRPr lang="zh-CN" altLang="en-US" sz="2200" dirty="0">
              <a:solidFill>
                <a:srgbClr val="FF0000"/>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rgbClr val="FF0000"/>
                </a:solidFill>
              </a:rPr>
              <a:t>识别部分</a:t>
            </a:r>
            <a:endParaRPr lang="zh-CN" altLang="en-US" sz="2200" dirty="0">
              <a:solidFill>
                <a:srgbClr val="FF0000"/>
              </a:solidFill>
            </a:endParaRPr>
          </a:p>
        </p:txBody>
      </p:sp>
      <p:sp>
        <p:nvSpPr>
          <p:cNvPr id="7" name="íSľïdé"/>
          <p:cNvSpPr/>
          <p:nvPr/>
        </p:nvSpPr>
        <p:spPr>
          <a:xfrm>
            <a:off x="5434369" y="2030178"/>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8" name="ïŝļíḓê"/>
          <p:cNvSpPr/>
          <p:nvPr/>
        </p:nvSpPr>
        <p:spPr bwMode="auto">
          <a:xfrm>
            <a:off x="6516893" y="2978752"/>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指纹识别系统</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îŝļiḋe"/>
          <p:cNvSpPr/>
          <p:nvPr/>
        </p:nvSpPr>
        <p:spPr>
          <a:xfrm>
            <a:off x="883141" y="1323483"/>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5" name="í$1iďè"/>
          <p:cNvGrpSpPr/>
          <p:nvPr/>
        </p:nvGrpSpPr>
        <p:grpSpPr>
          <a:xfrm>
            <a:off x="1007429" y="1739649"/>
            <a:ext cx="10507661" cy="582314"/>
            <a:chOff x="4136995" y="1556469"/>
            <a:chExt cx="10507661" cy="582314"/>
          </a:xfrm>
        </p:grpSpPr>
        <p:sp>
          <p:nvSpPr>
            <p:cNvPr id="6" name="îslîďê"/>
            <p:cNvSpPr/>
            <p:nvPr/>
          </p:nvSpPr>
          <p:spPr>
            <a:xfrm>
              <a:off x="4136995" y="175792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7" name="ïSḻiḍé"/>
            <p:cNvSpPr txBox="1"/>
            <p:nvPr/>
          </p:nvSpPr>
          <p:spPr>
            <a:xfrm>
              <a:off x="4882719" y="1556469"/>
              <a:ext cx="9761937" cy="58231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指纹识别系统逐步小型化，</a:t>
              </a:r>
              <a:r>
                <a:rPr lang="zh-CN" altLang="en-US" sz="2400" dirty="0">
                  <a:solidFill>
                    <a:srgbClr val="FF0000"/>
                  </a:solidFill>
                </a:rPr>
                <a:t>该技术已进入广泛应用阶段。</a:t>
              </a:r>
              <a:endParaRPr lang="zh-CN" altLang="en-US" sz="2400" dirty="0">
                <a:solidFill>
                  <a:srgbClr val="FF0000"/>
                </a:solidFill>
              </a:endParaRPr>
            </a:p>
          </p:txBody>
        </p:sp>
      </p:grpSp>
      <p:grpSp>
        <p:nvGrpSpPr>
          <p:cNvPr id="8" name="išḷîḓé"/>
          <p:cNvGrpSpPr/>
          <p:nvPr/>
        </p:nvGrpSpPr>
        <p:grpSpPr>
          <a:xfrm>
            <a:off x="1007429" y="2832864"/>
            <a:ext cx="10132796" cy="1481627"/>
            <a:chOff x="4136995" y="2564791"/>
            <a:chExt cx="10132796" cy="1481627"/>
          </a:xfrm>
        </p:grpSpPr>
        <p:sp>
          <p:nvSpPr>
            <p:cNvPr id="9" name="íśľïḋé"/>
            <p:cNvSpPr/>
            <p:nvPr/>
          </p:nvSpPr>
          <p:spPr>
            <a:xfrm>
              <a:off x="4136995" y="305099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10" name="îśľíḍe"/>
            <p:cNvGrpSpPr/>
            <p:nvPr/>
          </p:nvGrpSpPr>
          <p:grpSpPr>
            <a:xfrm>
              <a:off x="4882719" y="2564791"/>
              <a:ext cx="9387072" cy="1481627"/>
              <a:chOff x="5523309" y="2034654"/>
              <a:chExt cx="8559454" cy="1481627"/>
            </a:xfrm>
          </p:grpSpPr>
          <p:sp>
            <p:nvSpPr>
              <p:cNvPr id="11" name="îŝľîḓè"/>
              <p:cNvSpPr txBox="1"/>
              <p:nvPr/>
            </p:nvSpPr>
            <p:spPr>
              <a:xfrm>
                <a:off x="5523309" y="2034654"/>
                <a:ext cx="5952420"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指纹传感器：</a:t>
                </a:r>
                <a:r>
                  <a:rPr lang="zh-CN" altLang="en-US" sz="2400" dirty="0"/>
                  <a:t>实现指纹图像采集的硬件。</a:t>
                </a:r>
                <a:endParaRPr lang="zh-CN" altLang="en-US" sz="2400" dirty="0"/>
              </a:p>
            </p:txBody>
          </p:sp>
          <p:sp>
            <p:nvSpPr>
              <p:cNvPr id="12" name="iṥlîde"/>
              <p:cNvSpPr/>
              <p:nvPr/>
            </p:nvSpPr>
            <p:spPr bwMode="auto">
              <a:xfrm>
                <a:off x="5523309" y="2405353"/>
                <a:ext cx="8559454" cy="1110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lnSpc>
                    <a:spcPct val="132000"/>
                  </a:lnSpc>
                  <a:buFont typeface="Wingdings" panose="05000000000000000000" pitchFamily="2" charset="2"/>
                  <a:buChar char="Ø"/>
                </a:pPr>
                <a:r>
                  <a:rPr lang="zh-CN" altLang="en-US" sz="2000" dirty="0"/>
                  <a:t>是指纹识别系统的重要组成部分；</a:t>
                </a:r>
                <a:endParaRPr lang="zh-CN" altLang="en-US" sz="2000" dirty="0"/>
              </a:p>
              <a:p>
                <a:pPr marL="342900" indent="-342900">
                  <a:lnSpc>
                    <a:spcPct val="132000"/>
                  </a:lnSpc>
                  <a:buFont typeface="Wingdings" panose="05000000000000000000" pitchFamily="2" charset="2"/>
                  <a:buChar char="Ø"/>
                </a:pPr>
                <a:r>
                  <a:rPr lang="zh-CN" altLang="en-US" sz="2000" dirty="0"/>
                  <a:t>指纹图像采集质量的好坏，直接影响所形成的指纹图像的质量；</a:t>
                </a:r>
                <a:endParaRPr lang="zh-CN" altLang="en-US" sz="2000" dirty="0"/>
              </a:p>
              <a:p>
                <a:pPr marL="342900" indent="-342900">
                  <a:lnSpc>
                    <a:spcPct val="132000"/>
                  </a:lnSpc>
                  <a:buFont typeface="Wingdings" panose="05000000000000000000" pitchFamily="2" charset="2"/>
                  <a:buChar char="Ø"/>
                </a:pPr>
                <a:r>
                  <a:rPr lang="zh-CN" altLang="en-US" sz="2000" dirty="0"/>
                  <a:t>光学式和压感式指纹传感器应用较广。</a:t>
                </a:r>
                <a:endParaRPr lang="zh-CN" altLang="en-US" sz="2000" dirty="0"/>
              </a:p>
            </p:txBody>
          </p:sp>
        </p:grpSp>
      </p:grpSp>
      <p:grpSp>
        <p:nvGrpSpPr>
          <p:cNvPr id="13" name="ïSlíḍê"/>
          <p:cNvGrpSpPr/>
          <p:nvPr/>
        </p:nvGrpSpPr>
        <p:grpSpPr>
          <a:xfrm>
            <a:off x="1007429" y="4887077"/>
            <a:ext cx="10596435" cy="417624"/>
            <a:chOff x="4136995" y="4889461"/>
            <a:chExt cx="10596435" cy="417624"/>
          </a:xfrm>
        </p:grpSpPr>
        <p:sp>
          <p:nvSpPr>
            <p:cNvPr id="14" name="ïsľíḓê"/>
            <p:cNvSpPr/>
            <p:nvPr/>
          </p:nvSpPr>
          <p:spPr>
            <a:xfrm>
              <a:off x="4136995" y="4943159"/>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6" name="íṧļîḋê"/>
            <p:cNvSpPr txBox="1"/>
            <p:nvPr/>
          </p:nvSpPr>
          <p:spPr>
            <a:xfrm>
              <a:off x="4882719" y="4889461"/>
              <a:ext cx="9850711" cy="417624"/>
            </a:xfrm>
            <a:prstGeom prst="rect">
              <a:avLst/>
            </a:prstGeom>
            <a:noFill/>
          </p:spPr>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指纹识别系统，包括了嵌入式指纹识别系统。</a:t>
              </a:r>
              <a:endParaRPr lang="zh-CN" altLang="en-US" sz="2400" dirty="0"/>
            </a:p>
          </p:txBody>
        </p:sp>
      </p:grpSp>
      <p:cxnSp>
        <p:nvCxnSpPr>
          <p:cNvPr id="18" name="直接连接符 17"/>
          <p:cNvCxnSpPr/>
          <p:nvPr/>
        </p:nvCxnSpPr>
        <p:spPr>
          <a:xfrm>
            <a:off x="1841929" y="2414826"/>
            <a:ext cx="976193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841929" y="4637304"/>
            <a:ext cx="976193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841929" y="5500188"/>
            <a:ext cx="976193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内容导航：</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12.2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数据加密技术</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12.3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矩形 24"/>
          <p:cNvSpPr/>
          <p:nvPr/>
        </p:nvSpPr>
        <p:spPr>
          <a:xfrm>
            <a:off x="1379227" y="3667722"/>
            <a:ext cx="5254838" cy="461665"/>
          </a:xfrm>
          <a:prstGeom prst="rect">
            <a:avLst/>
          </a:prstGeom>
        </p:spPr>
        <p:txBody>
          <a:bodyPr wrap="square">
            <a:spAutoFit/>
          </a:bodyPr>
          <a:lstStyle/>
          <a:p>
            <a:r>
              <a:rPr lang="en-US" altLang="zh-CN"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12.4  </a:t>
            </a:r>
            <a:r>
              <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endPar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矩形 2"/>
          <p:cNvSpPr/>
          <p:nvPr/>
        </p:nvSpPr>
        <p:spPr>
          <a:xfrm>
            <a:off x="7632441" y="2349214"/>
            <a:ext cx="4058796" cy="646331"/>
          </a:xfrm>
          <a:prstGeom prst="rect">
            <a:avLst/>
          </a:prstGeom>
        </p:spPr>
        <p:txBody>
          <a:bodyPr wrap="square">
            <a:spAutoFit/>
          </a:bodyPr>
          <a:lstStyle/>
          <a:p>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36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cxnSp>
        <p:nvCxnSpPr>
          <p:cNvPr id="5" name="直接连接符 4"/>
          <p:cNvCxnSpPr/>
          <p:nvPr/>
        </p:nvCxnSpPr>
        <p:spPr>
          <a:xfrm>
            <a:off x="7567127" y="3190471"/>
            <a:ext cx="397999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81373"/>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99518"/>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641362"/>
            <a:ext cx="527050" cy="527050"/>
          </a:xfrm>
          <a:prstGeom prst="rect">
            <a:avLst/>
          </a:prstGeom>
          <a:ln>
            <a:noFill/>
          </a:ln>
          <a:effectLst>
            <a:softEdge rad="0"/>
          </a:effectLst>
        </p:spPr>
      </p:pic>
      <p:sp>
        <p:nvSpPr>
          <p:cNvPr id="18" name="矩形 17"/>
          <p:cNvSpPr/>
          <p:nvPr/>
        </p:nvSpPr>
        <p:spPr>
          <a:xfrm>
            <a:off x="1379227" y="4282526"/>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12.5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来自系统外部的攻击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237504"/>
            <a:ext cx="527050" cy="527050"/>
          </a:xfrm>
          <a:prstGeom prst="rect">
            <a:avLst/>
          </a:prstGeom>
          <a:ln>
            <a:noFill/>
          </a:ln>
          <a:effectLst>
            <a:softEdge rad="0"/>
          </a:effectLst>
        </p:spPr>
      </p:pic>
      <p:sp>
        <p:nvSpPr>
          <p:cNvPr id="27" name="矩形 26"/>
          <p:cNvSpPr/>
          <p:nvPr/>
        </p:nvSpPr>
        <p:spPr>
          <a:xfrm>
            <a:off x="1379227" y="4868899"/>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12.6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可信系统</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23877"/>
            <a:ext cx="527050" cy="527050"/>
          </a:xfrm>
          <a:prstGeom prst="rect">
            <a:avLst/>
          </a:prstGeom>
          <a:ln>
            <a:noFill/>
          </a:ln>
          <a:effectLst>
            <a:softEdge rad="0"/>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12.4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íšḻîḋè"/>
          <p:cNvSpPr/>
          <p:nvPr/>
        </p:nvSpPr>
        <p:spPr>
          <a:xfrm>
            <a:off x="1981293" y="3178375"/>
            <a:ext cx="9571056" cy="3067879"/>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t>以合法用户身份直接进行攻击</a:t>
            </a:r>
            <a:endParaRPr lang="zh-CN" altLang="en-US" sz="2200" dirty="0"/>
          </a:p>
          <a:p>
            <a:pPr marL="800100" lvl="1" indent="-342900">
              <a:lnSpc>
                <a:spcPct val="120000"/>
              </a:lnSpc>
              <a:spcBef>
                <a:spcPts val="600"/>
              </a:spcBef>
              <a:spcAft>
                <a:spcPts val="600"/>
              </a:spcAft>
              <a:buClr>
                <a:srgbClr val="FF0000"/>
              </a:buClr>
              <a:buFont typeface="Wingdings" panose="05000000000000000000" pitchFamily="2" charset="2"/>
              <a:buChar char="p"/>
            </a:pPr>
            <a:r>
              <a:rPr lang="zh-CN" altLang="en-US" sz="2200" dirty="0"/>
              <a:t>攻击者获得或假冒合法用户身份，再利用合法用户所拥有的权限来读取、修改、删除系统中的文件，或对系统中的其他资源进行破坏</a:t>
            </a:r>
            <a:endParaRPr lang="zh-CN" altLang="en-US" sz="2200" dirty="0"/>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t>通过代理功能进行间接攻击</a:t>
            </a:r>
            <a:endParaRPr lang="zh-CN" altLang="en-US" sz="2200" dirty="0"/>
          </a:p>
          <a:p>
            <a:pPr marL="800100" lvl="1" indent="-342900">
              <a:lnSpc>
                <a:spcPct val="120000"/>
              </a:lnSpc>
              <a:spcBef>
                <a:spcPts val="600"/>
              </a:spcBef>
              <a:spcAft>
                <a:spcPts val="600"/>
              </a:spcAft>
              <a:buClr>
                <a:srgbClr val="FF0000"/>
              </a:buClr>
              <a:buFont typeface="Wingdings" panose="05000000000000000000" pitchFamily="2" charset="2"/>
              <a:buChar char="p"/>
            </a:pPr>
            <a:r>
              <a:rPr lang="zh-CN" altLang="en-US" sz="2200" dirty="0"/>
              <a:t>攻击者将一个代理程序置入被攻击系统的一个应用程序中，当应用程序执行并调用到代理程序时，它就会执行攻击者预先设计的破坏任务</a:t>
            </a:r>
            <a:endParaRPr lang="zh-CN" altLang="en-US" sz="2200" dirty="0"/>
          </a:p>
        </p:txBody>
      </p:sp>
      <p:sp>
        <p:nvSpPr>
          <p:cNvPr id="5" name="i$lîďê"/>
          <p:cNvSpPr/>
          <p:nvPr/>
        </p:nvSpPr>
        <p:spPr>
          <a:xfrm>
            <a:off x="1981294" y="2686412"/>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内部攻击</a:t>
            </a:r>
            <a:endParaRPr lang="zh-CN" altLang="en-US" sz="2400" dirty="0">
              <a:solidFill>
                <a:srgbClr val="FF0000"/>
              </a:solidFill>
            </a:endParaRPr>
          </a:p>
        </p:txBody>
      </p:sp>
      <p:sp>
        <p:nvSpPr>
          <p:cNvPr id="8" name="îs1iďé"/>
          <p:cNvSpPr/>
          <p:nvPr/>
        </p:nvSpPr>
        <p:spPr>
          <a:xfrm>
            <a:off x="1353427" y="1832413"/>
            <a:ext cx="4778623" cy="576439"/>
          </a:xfrm>
          <a:prstGeom prst="rect">
            <a:avLst/>
          </a:prstGeom>
          <a:noFill/>
          <a:ln>
            <a:noFill/>
          </a:ln>
        </p:spPr>
        <p:txBody>
          <a:bodyPr wrap="square" lIns="91440" tIns="45720" rIns="91440" bIns="45720" anchor="t" anchorCtr="0">
            <a:normAutofit fontScale="92500"/>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rPr>
              <a:t>内部攻击</a:t>
            </a:r>
            <a:r>
              <a:rPr lang="zh-CN" altLang="en-US" sz="2400" dirty="0"/>
              <a:t>：攻击来自系统的</a:t>
            </a:r>
            <a:r>
              <a:rPr lang="zh-CN" altLang="en-US" sz="2400" dirty="0" smtClean="0"/>
              <a:t>内部</a:t>
            </a:r>
            <a:endParaRPr lang="zh-CN" altLang="en-US" sz="2400" dirty="0"/>
          </a:p>
        </p:txBody>
      </p:sp>
      <p:sp>
        <p:nvSpPr>
          <p:cNvPr id="9" name="íšḻíḑê"/>
          <p:cNvSpPr/>
          <p:nvPr/>
        </p:nvSpPr>
        <p:spPr>
          <a:xfrm>
            <a:off x="1353428" y="1338592"/>
            <a:ext cx="3696051" cy="405747"/>
          </a:xfrm>
          <a:prstGeom prst="rect">
            <a:avLst/>
          </a:prstGeom>
          <a:noFill/>
          <a:ln>
            <a:noFill/>
          </a:ln>
        </p:spPr>
        <p:txBody>
          <a:bodyPr wrap="square" lIns="91440" tIns="45720" rIns="91440" bIns="45720" anchor="ctr" anchorCtr="0">
            <a:noAutofit/>
          </a:bodyPr>
          <a:lstStyle/>
          <a:p>
            <a:r>
              <a:rPr lang="zh-CN" altLang="en-US" sz="2400" dirty="0"/>
              <a:t>系统攻击</a:t>
            </a:r>
            <a:endParaRPr lang="zh-CN" altLang="en-US" sz="2400" dirty="0"/>
          </a:p>
        </p:txBody>
      </p:sp>
      <p:sp>
        <p:nvSpPr>
          <p:cNvPr id="10" name="îSļiḓè"/>
          <p:cNvSpPr/>
          <p:nvPr/>
        </p:nvSpPr>
        <p:spPr>
          <a:xfrm>
            <a:off x="669925" y="132503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1297792" y="2676039"/>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860180" y="1521168"/>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488046" y="289805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9" name="îs1iďé"/>
          <p:cNvSpPr/>
          <p:nvPr/>
        </p:nvSpPr>
        <p:spPr>
          <a:xfrm>
            <a:off x="5998786" y="1832413"/>
            <a:ext cx="5698466" cy="523971"/>
          </a:xfrm>
          <a:prstGeom prst="rect">
            <a:avLst/>
          </a:prstGeom>
          <a:noFill/>
          <a:ln>
            <a:noFill/>
          </a:ln>
        </p:spPr>
        <p:txBody>
          <a:bodyPr wrap="square" lIns="91440" tIns="45720" rIns="91440" bIns="45720" anchor="t" anchorCtr="0">
            <a:normAutofit lnSpcReduction="10000"/>
          </a:bodyPr>
          <a:lstStyle/>
          <a:p>
            <a:pPr marL="342900" indent="-342900">
              <a:lnSpc>
                <a:spcPct val="120000"/>
              </a:lnSpc>
              <a:buClr>
                <a:srgbClr val="FF0000"/>
              </a:buClr>
              <a:buFont typeface="Wingdings" panose="05000000000000000000" pitchFamily="2" charset="2"/>
              <a:buChar char="Ø"/>
            </a:pPr>
            <a:r>
              <a:rPr lang="zh-CN" altLang="en-US" sz="2400" dirty="0" smtClean="0">
                <a:solidFill>
                  <a:srgbClr val="0000FF"/>
                </a:solidFill>
              </a:rPr>
              <a:t>外部</a:t>
            </a:r>
            <a:r>
              <a:rPr lang="zh-CN" altLang="en-US" sz="2400" dirty="0">
                <a:solidFill>
                  <a:srgbClr val="0000FF"/>
                </a:solidFill>
              </a:rPr>
              <a:t>攻击</a:t>
            </a:r>
            <a:r>
              <a:rPr lang="zh-CN" altLang="en-US" sz="2400" dirty="0"/>
              <a:t>：攻击来自系统的外部</a:t>
            </a:r>
            <a:endParaRPr lang="zh-CN"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12.4.1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早期常用的内部攻击方式</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5"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32660" y="1741228"/>
            <a:ext cx="11385658" cy="4002749"/>
            <a:chOff x="527899" y="1535166"/>
            <a:chExt cx="11385658" cy="4002749"/>
          </a:xfrm>
        </p:grpSpPr>
        <p:sp>
          <p:nvSpPr>
            <p:cNvPr id="6"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7"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8"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9"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10"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1"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2"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3"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4"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5"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6"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17"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18"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19"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1"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2"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3"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4"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6" name="îṩļiḓè"/>
            <p:cNvSpPr/>
            <p:nvPr/>
          </p:nvSpPr>
          <p:spPr>
            <a:xfrm>
              <a:off x="706927" y="1583168"/>
              <a:ext cx="3486182" cy="965402"/>
            </a:xfrm>
            <a:prstGeom prst="rect">
              <a:avLst/>
            </a:prstGeom>
          </p:spPr>
          <p:txBody>
            <a:bodyPr wrap="square" lIns="91440" tIns="45720" rIns="91440" bIns="45720" anchor="ctr" anchorCtr="0">
              <a:normAutofit lnSpcReduction="10000"/>
            </a:bodyPr>
            <a:lstStyle/>
            <a:p>
              <a:pPr marL="457200" indent="-457200">
                <a:lnSpc>
                  <a:spcPct val="123000"/>
                </a:lnSpc>
                <a:spcBef>
                  <a:spcPts val="600"/>
                </a:spcBef>
                <a:buClr>
                  <a:srgbClr val="0000FF"/>
                </a:buClr>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窃取尚未清除的有用信息</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 name="ïṣľîḋê"/>
            <p:cNvSpPr/>
            <p:nvPr/>
          </p:nvSpPr>
          <p:spPr>
            <a:xfrm>
              <a:off x="8072999" y="1535166"/>
              <a:ext cx="3840558" cy="1079558"/>
            </a:xfrm>
            <a:prstGeom prst="rect">
              <a:avLst/>
            </a:prstGeom>
          </p:spPr>
          <p:txBody>
            <a:bodyPr wrap="square" lIns="91440" tIns="45720" rIns="91440" bIns="45720" anchor="ctr" anchorCtr="0">
              <a:normAutofit/>
            </a:bodyPr>
            <a:lstStyle/>
            <a:p>
              <a:pPr marL="457200" indent="-457200">
                <a:lnSpc>
                  <a:spcPct val="123000"/>
                </a:lnSpc>
                <a:spcBef>
                  <a:spcPts val="600"/>
                </a:spcBef>
                <a:buClr>
                  <a:srgbClr val="0000FF"/>
                </a:buClr>
                <a:buFont typeface="+mj-ea"/>
                <a:buAutoNum type="circleNumDbPlain" startAt="4"/>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尝试许多在明文规定中不允许做的操作</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 name="išľïḓe"/>
            <p:cNvSpPr/>
            <p:nvPr/>
          </p:nvSpPr>
          <p:spPr>
            <a:xfrm>
              <a:off x="527899" y="3161434"/>
              <a:ext cx="3019285" cy="934048"/>
            </a:xfrm>
            <a:prstGeom prst="rect">
              <a:avLst/>
            </a:prstGeom>
          </p:spPr>
          <p:txBody>
            <a:bodyPr wrap="square" lIns="91440" tIns="45720" rIns="91440" bIns="45720" anchor="ctr" anchorCtr="0">
              <a:noAutofit/>
            </a:bodyPr>
            <a:lstStyle/>
            <a:p>
              <a:pPr marL="457200" indent="-457200">
                <a:lnSpc>
                  <a:spcPct val="123000"/>
                </a:lnSpc>
                <a:spcBef>
                  <a:spcPts val="600"/>
                </a:spcBef>
                <a:buClr>
                  <a:srgbClr val="0000FF"/>
                </a:buClr>
                <a:buFont typeface="+mj-ea"/>
                <a:buAutoNum type="circleNumDbPlain" startAt="2"/>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通过非法的系统调用来搅乱系统</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îṧľïdè"/>
            <p:cNvSpPr/>
            <p:nvPr/>
          </p:nvSpPr>
          <p:spPr>
            <a:xfrm>
              <a:off x="8644278" y="2998236"/>
              <a:ext cx="3225282" cy="762630"/>
            </a:xfrm>
            <a:prstGeom prst="rect">
              <a:avLst/>
            </a:prstGeom>
          </p:spPr>
          <p:txBody>
            <a:bodyPr wrap="square" lIns="91440" tIns="45720" rIns="91440" bIns="45720" anchor="ctr" anchorCtr="0">
              <a:normAutofit/>
            </a:bodyPr>
            <a:lstStyle/>
            <a:p>
              <a:pPr marL="457200" indent="-457200">
                <a:lnSpc>
                  <a:spcPct val="123000"/>
                </a:lnSpc>
                <a:spcBef>
                  <a:spcPts val="600"/>
                </a:spcBef>
                <a:buClr>
                  <a:srgbClr val="0000FF"/>
                </a:buClr>
                <a:buFont typeface="+mj-ea"/>
                <a:buAutoNum type="circleNumDbPlain" startAt="5"/>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在</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OS</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中增添陷阱门</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0" name="işľîḓé"/>
            <p:cNvSpPr/>
            <p:nvPr/>
          </p:nvSpPr>
          <p:spPr>
            <a:xfrm>
              <a:off x="665164" y="4708346"/>
              <a:ext cx="3325122" cy="829569"/>
            </a:xfrm>
            <a:prstGeom prst="rect">
              <a:avLst/>
            </a:prstGeom>
          </p:spPr>
          <p:txBody>
            <a:bodyPr wrap="square" lIns="91440" tIns="45720" rIns="91440" bIns="45720" anchor="ctr" anchorCtr="0">
              <a:normAutofit fontScale="92500" lnSpcReduction="20000"/>
            </a:bodyPr>
            <a:lstStyle/>
            <a:p>
              <a:pPr marL="457200" indent="-457200">
                <a:lnSpc>
                  <a:spcPct val="123000"/>
                </a:lnSpc>
                <a:spcBef>
                  <a:spcPts val="600"/>
                </a:spcBef>
                <a:buClr>
                  <a:srgbClr val="0000FF"/>
                </a:buClr>
                <a:buFont typeface="+mj-ea"/>
                <a:buAutoNum type="circleNumDbPlain" startAt="3"/>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使系统自己封杀校验口令程序</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1" name="ïśļíde"/>
            <p:cNvSpPr/>
            <p:nvPr/>
          </p:nvSpPr>
          <p:spPr>
            <a:xfrm>
              <a:off x="8029002" y="4708346"/>
              <a:ext cx="3485135" cy="467559"/>
            </a:xfrm>
            <a:prstGeom prst="rect">
              <a:avLst/>
            </a:prstGeom>
          </p:spPr>
          <p:txBody>
            <a:bodyPr wrap="square" lIns="91440" tIns="45720" rIns="91440" bIns="45720" anchor="ctr" anchorCtr="0">
              <a:normAutofit fontScale="92500" lnSpcReduction="20000"/>
            </a:bodyPr>
            <a:lstStyle/>
            <a:p>
              <a:pPr marL="457200" indent="-457200">
                <a:lnSpc>
                  <a:spcPct val="123000"/>
                </a:lnSpc>
                <a:spcBef>
                  <a:spcPts val="600"/>
                </a:spcBef>
                <a:buClr>
                  <a:srgbClr val="0000FF"/>
                </a:buClr>
                <a:buFont typeface="+mj-ea"/>
                <a:buAutoNum type="circleNumDbPlain" startAt="6"/>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骗取口令</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12.4.2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逻辑炸弹与陷阱门</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ïşľîďè"/>
          <p:cNvSpPr/>
          <p:nvPr/>
        </p:nvSpPr>
        <p:spPr>
          <a:xfrm>
            <a:off x="-1393831" y="1211395"/>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2618876" y="1211395"/>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2743164" y="1251398"/>
            <a:ext cx="8843529" cy="3397876"/>
            <a:chOff x="4136995" y="1170303"/>
            <a:chExt cx="8843529" cy="3397876"/>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3"/>
              <a:ext cx="8097806" cy="33978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23000"/>
                </a:lnSpc>
                <a:spcBef>
                  <a:spcPts val="600"/>
                </a:spcBef>
                <a:buClr>
                  <a:srgbClr val="FF0000"/>
                </a:buClr>
              </a:pPr>
              <a:r>
                <a:rPr lang="zh-CN" altLang="en-US" sz="2400" dirty="0">
                  <a:solidFill>
                    <a:srgbClr val="FF0000"/>
                  </a:solidFill>
                  <a:latin typeface="+mj-ea"/>
                  <a:ea typeface="+mj-ea"/>
                </a:rPr>
                <a:t>恶意软件：</a:t>
              </a:r>
              <a:r>
                <a:rPr lang="zh-CN" altLang="en-US" sz="2400" dirty="0">
                  <a:latin typeface="+mj-ea"/>
                  <a:ea typeface="+mj-ea"/>
                </a:rPr>
                <a:t>攻击者专门编制的一种程序，用来对系统进行破坏。</a:t>
              </a:r>
              <a:endParaRPr lang="zh-CN" altLang="en-US" sz="2400" dirty="0">
                <a:latin typeface="+mj-ea"/>
                <a:ea typeface="+mj-ea"/>
              </a:endParaRPr>
            </a:p>
            <a:p>
              <a:pPr marL="342900" indent="-342900" algn="just">
                <a:lnSpc>
                  <a:spcPct val="123000"/>
                </a:lnSpc>
                <a:spcBef>
                  <a:spcPts val="600"/>
                </a:spcBef>
                <a:buClr>
                  <a:srgbClr val="FF0000"/>
                </a:buClr>
                <a:buFont typeface="Wingdings" panose="05000000000000000000" pitchFamily="2" charset="2"/>
                <a:buChar char="n"/>
              </a:pPr>
              <a:r>
                <a:rPr lang="zh-CN" altLang="en-US" sz="2200" dirty="0">
                  <a:latin typeface="+mj-ea"/>
                  <a:ea typeface="+mj-ea"/>
                </a:rPr>
                <a:t>独立运行类</a:t>
              </a:r>
              <a:endParaRPr lang="zh-CN" altLang="en-US" sz="2200" dirty="0">
                <a:latin typeface="+mj-ea"/>
                <a:ea typeface="+mj-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j-ea"/>
                  <a:ea typeface="+mj-ea"/>
                </a:rPr>
                <a:t>这一类恶意软件（如蠕虫、僵尸等）可以通过</a:t>
              </a:r>
              <a:r>
                <a:rPr lang="en-US" altLang="zh-CN" sz="2200" dirty="0">
                  <a:latin typeface="+mj-ea"/>
                  <a:ea typeface="+mj-ea"/>
                </a:rPr>
                <a:t>OS</a:t>
              </a:r>
              <a:r>
                <a:rPr lang="zh-CN" altLang="en-US" sz="2200" dirty="0">
                  <a:latin typeface="+mj-ea"/>
                  <a:ea typeface="+mj-ea"/>
                </a:rPr>
                <a:t>调度执行</a:t>
              </a:r>
              <a:endParaRPr lang="zh-CN" altLang="en-US" sz="2200" dirty="0">
                <a:latin typeface="+mj-ea"/>
                <a:ea typeface="+mj-ea"/>
              </a:endParaRPr>
            </a:p>
            <a:p>
              <a:pPr marL="342900" indent="-342900" algn="just">
                <a:lnSpc>
                  <a:spcPct val="123000"/>
                </a:lnSpc>
                <a:spcBef>
                  <a:spcPts val="600"/>
                </a:spcBef>
                <a:buClr>
                  <a:srgbClr val="FF0000"/>
                </a:buClr>
                <a:buFont typeface="Wingdings" panose="05000000000000000000" pitchFamily="2" charset="2"/>
                <a:buChar char="n"/>
              </a:pPr>
              <a:r>
                <a:rPr lang="zh-CN" altLang="en-US" sz="2200" dirty="0">
                  <a:latin typeface="+mj-ea"/>
                  <a:ea typeface="+mj-ea"/>
                </a:rPr>
                <a:t>寄生类</a:t>
              </a:r>
              <a:endParaRPr lang="zh-CN" altLang="en-US" sz="2200" dirty="0">
                <a:latin typeface="+mj-ea"/>
                <a:ea typeface="+mj-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j-ea"/>
                  <a:ea typeface="+mj-ea"/>
                </a:rPr>
                <a:t>这一类恶意软件本身不能独立运行，经常需要寄生在某个应用程序中</a:t>
              </a:r>
              <a:endParaRPr lang="zh-CN" altLang="en-US" sz="2200" dirty="0">
                <a:latin typeface="+mj-ea"/>
                <a:ea typeface="+mj-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j-ea"/>
                  <a:ea typeface="+mj-ea"/>
                </a:rPr>
                <a:t>如逻辑炸弹、特洛伊木马、病毒等</a:t>
              </a:r>
              <a:endParaRPr lang="zh-CN" altLang="en-US" sz="2200" dirty="0">
                <a:latin typeface="+mj-ea"/>
                <a:ea typeface="+mj-ea"/>
              </a:endParaRPr>
            </a:p>
          </p:txBody>
        </p:sp>
      </p:grpSp>
      <p:grpSp>
        <p:nvGrpSpPr>
          <p:cNvPr id="12" name="ïSlíḍê"/>
          <p:cNvGrpSpPr/>
          <p:nvPr/>
        </p:nvGrpSpPr>
        <p:grpSpPr>
          <a:xfrm>
            <a:off x="2743164" y="4904128"/>
            <a:ext cx="8843529" cy="1311067"/>
            <a:chOff x="4136995" y="4714289"/>
            <a:chExt cx="8843529" cy="1311067"/>
          </a:xfrm>
        </p:grpSpPr>
        <p:sp>
          <p:nvSpPr>
            <p:cNvPr id="13"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4714289"/>
              <a:ext cx="8097807"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恶意软件</a:t>
              </a:r>
              <a:r>
                <a:rPr lang="zh-CN" altLang="en-US" sz="2400" dirty="0"/>
                <a:t>是一种极具破坏性的软件，但它不能进行自我复制，也不会感染其他程序。</a:t>
              </a:r>
              <a:endParaRPr lang="zh-CN" altLang="en-US" sz="240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逻辑炸弹</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矩形: 圆角 4"/>
          <p:cNvSpPr/>
          <p:nvPr/>
        </p:nvSpPr>
        <p:spPr>
          <a:xfrm>
            <a:off x="881726" y="1331757"/>
            <a:ext cx="2742976"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bg1"/>
                </a:solidFill>
              </a:rPr>
              <a:t>逻辑炸弹实例</a:t>
            </a:r>
            <a:endParaRPr lang="zh-CN" altLang="en-US" sz="2400" dirty="0">
              <a:solidFill>
                <a:schemeClr val="bg1"/>
              </a:solidFill>
            </a:endParaRPr>
          </a:p>
        </p:txBody>
      </p:sp>
      <p:sp>
        <p:nvSpPr>
          <p:cNvPr id="5" name="内容占位符 2"/>
          <p:cNvSpPr txBox="1"/>
          <p:nvPr/>
        </p:nvSpPr>
        <p:spPr>
          <a:xfrm>
            <a:off x="881725" y="2054341"/>
            <a:ext cx="4851999" cy="36573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9465" lvl="2" indent="-533400">
              <a:lnSpc>
                <a:spcPct val="132000"/>
              </a:lnSpc>
              <a:spcBef>
                <a:spcPts val="370"/>
              </a:spcBef>
              <a:buClr>
                <a:srgbClr val="E71101"/>
              </a:buClr>
              <a:buSzPct val="100000"/>
              <a:buFont typeface="Wingdings" panose="05000000000000000000" pitchFamily="2" charset="2"/>
              <a:buChar char="n"/>
              <a:defRPr/>
            </a:pPr>
            <a:r>
              <a:rPr lang="zh-CN" altLang="en-US" sz="2400" dirty="0"/>
              <a:t>程序员为了应对自己可能被突然解雇，</a:t>
            </a:r>
            <a:r>
              <a:rPr lang="en-US" altLang="zh-CN" sz="2400" dirty="0"/>
              <a:t>OS</a:t>
            </a:r>
            <a:r>
              <a:rPr lang="zh-CN" altLang="en-US" sz="2400" dirty="0"/>
              <a:t>中预先被放入破坏程序，只要程序员每天输入口令，该程序就不会发作。如果突然被解雇，在第二天（或第二周）由于</a:t>
            </a:r>
            <a:r>
              <a:rPr lang="en-US" altLang="zh-CN" sz="2400" dirty="0"/>
              <a:t>OS</a:t>
            </a:r>
            <a:r>
              <a:rPr lang="zh-CN" altLang="en-US" sz="2400" dirty="0"/>
              <a:t>得不到口令，逻辑炸弹就会被引爆</a:t>
            </a:r>
            <a:r>
              <a:rPr lang="en-US" altLang="zh-CN" sz="2400" dirty="0"/>
              <a:t>——</a:t>
            </a:r>
            <a:r>
              <a:rPr lang="zh-CN" altLang="en-US" sz="2400" dirty="0"/>
              <a:t>执行一段带有破坏性的程序</a:t>
            </a:r>
            <a:endParaRPr lang="zh-CN" altLang="en-US" sz="2400" dirty="0"/>
          </a:p>
        </p:txBody>
      </p:sp>
      <p:sp>
        <p:nvSpPr>
          <p:cNvPr id="6" name="矩形: 圆角 4"/>
          <p:cNvSpPr/>
          <p:nvPr/>
        </p:nvSpPr>
        <p:spPr>
          <a:xfrm>
            <a:off x="6723321" y="1331757"/>
            <a:ext cx="4244439"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bg1"/>
                </a:solidFill>
              </a:rPr>
              <a:t>逻辑炸弹“爆炸”的条件</a:t>
            </a:r>
            <a:endParaRPr lang="zh-CN" altLang="en-US" sz="2400" dirty="0">
              <a:solidFill>
                <a:schemeClr val="bg1"/>
              </a:solidFill>
            </a:endParaRPr>
          </a:p>
        </p:txBody>
      </p:sp>
      <p:sp>
        <p:nvSpPr>
          <p:cNvPr id="7" name="内容占位符 2"/>
          <p:cNvSpPr txBox="1"/>
          <p:nvPr/>
        </p:nvSpPr>
        <p:spPr>
          <a:xfrm>
            <a:off x="6723321" y="2054341"/>
            <a:ext cx="4978348" cy="298122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时间引发</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事件引发</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计数器引发</a:t>
            </a:r>
            <a:endParaRPr lang="zh-CN" altLang="en-US" sz="2400" dirty="0"/>
          </a:p>
        </p:txBody>
      </p:sp>
      <p:cxnSp>
        <p:nvCxnSpPr>
          <p:cNvPr id="8" name="直接连接符 7"/>
          <p:cNvCxnSpPr/>
          <p:nvPr/>
        </p:nvCxnSpPr>
        <p:spPr>
          <a:xfrm>
            <a:off x="6228522" y="1470991"/>
            <a:ext cx="0" cy="4558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42991" y="5512904"/>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042991" y="5711687"/>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042991" y="5165175"/>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42991" y="5363958"/>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042991" y="4740171"/>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042991" y="4938954"/>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042991" y="4392442"/>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042991" y="4591225"/>
            <a:ext cx="565867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陷阱门（</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trap door</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1378040" y="1158783"/>
            <a:ext cx="6065949" cy="4224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陷阱门</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概念</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spcAft>
                <a:spcPts val="600"/>
              </a:spcAft>
              <a:buClr>
                <a:srgbClr val="FF0000"/>
              </a:buClr>
              <a:buFont typeface="Wingdings" panose="05000000000000000000" pitchFamily="2" charset="2"/>
              <a:buChar char="Ø"/>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陷阱门是一段代码，同时也是进入一个程序的隐蔽入口点。有此陷阱门，程序员可以不经过安全检查，即可对程序进行访问</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spcAft>
                <a:spcPts val="600"/>
              </a:spcAft>
              <a:buClr>
                <a:srgbClr val="FF0000"/>
              </a:buClr>
              <a:buFont typeface="Wingdings" panose="05000000000000000000" pitchFamily="2" charset="2"/>
              <a:buChar char="Ø"/>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即</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程序员通过陷阱门可跳过正常的验证过程</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23000"/>
              </a:lnSpc>
              <a:spcBef>
                <a:spcPts val="600"/>
              </a:spcBef>
              <a:spcAft>
                <a:spcPts val="600"/>
              </a:spcAft>
              <a:buNone/>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陷阱门实例：</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spcAft>
                <a:spcPts val="600"/>
              </a:spcAft>
              <a:buClr>
                <a:srgbClr val="FF0000"/>
              </a:buClr>
              <a:buFont typeface="Wingdings" panose="05000000000000000000" pitchFamily="2" charset="2"/>
              <a:buChar char="Ø"/>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使用登录名为“</a:t>
            </a:r>
            <a:r>
              <a:rPr lang="en-US" altLang="zh-CN" sz="2400" dirty="0" err="1">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zzzzz</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时，无论用什么口令，都能成功登录</a:t>
            </a:r>
            <a:r>
              <a:rPr lang="zh-CN" altLang="en-US" sz="24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上机</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rotWithShape="1">
          <a:blip r:embed="rId1">
            <a:clrChange>
              <a:clrFrom>
                <a:srgbClr val="FFFFFF"/>
              </a:clrFrom>
              <a:clrTo>
                <a:srgbClr val="FFFFFF">
                  <a:alpha val="0"/>
                </a:srgbClr>
              </a:clrTo>
            </a:clrChange>
          </a:blip>
          <a:srcRect r="51826"/>
          <a:stretch>
            <a:fillRect/>
          </a:stretch>
        </p:blipFill>
        <p:spPr>
          <a:xfrm>
            <a:off x="7302322" y="1092799"/>
            <a:ext cx="3441657" cy="2551634"/>
          </a:xfrm>
          <a:prstGeom prst="rect">
            <a:avLst/>
          </a:prstGeom>
        </p:spPr>
      </p:pic>
      <p:pic>
        <p:nvPicPr>
          <p:cNvPr id="5" name="图片 4"/>
          <p:cNvPicPr>
            <a:picLocks noChangeAspect="1"/>
          </p:cNvPicPr>
          <p:nvPr/>
        </p:nvPicPr>
        <p:blipFill rotWithShape="1">
          <a:blip r:embed="rId1">
            <a:clrChange>
              <a:clrFrom>
                <a:srgbClr val="FFFFFF"/>
              </a:clrFrom>
              <a:clrTo>
                <a:srgbClr val="FFFFFF">
                  <a:alpha val="0"/>
                </a:srgbClr>
              </a:clrTo>
            </a:clrChange>
          </a:blip>
          <a:srcRect l="51688"/>
          <a:stretch>
            <a:fillRect/>
          </a:stretch>
        </p:blipFill>
        <p:spPr>
          <a:xfrm>
            <a:off x="8297934" y="3644433"/>
            <a:ext cx="3451539" cy="2551633"/>
          </a:xfrm>
          <a:prstGeom prst="rect">
            <a:avLst/>
          </a:prstGeom>
        </p:spPr>
      </p:pic>
      <p:grpSp>
        <p:nvGrpSpPr>
          <p:cNvPr id="6" name="组合 5"/>
          <p:cNvGrpSpPr/>
          <p:nvPr/>
        </p:nvGrpSpPr>
        <p:grpSpPr>
          <a:xfrm>
            <a:off x="601369" y="1223178"/>
            <a:ext cx="712277" cy="418475"/>
            <a:chOff x="673100" y="2982961"/>
            <a:chExt cx="1597850" cy="938764"/>
          </a:xfrm>
        </p:grpSpPr>
        <p:sp>
          <p:nvSpPr>
            <p:cNvPr id="7"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8"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9" name="组合 8"/>
          <p:cNvGrpSpPr/>
          <p:nvPr/>
        </p:nvGrpSpPr>
        <p:grpSpPr>
          <a:xfrm>
            <a:off x="665763" y="4844391"/>
            <a:ext cx="712277" cy="418475"/>
            <a:chOff x="673100" y="2982961"/>
            <a:chExt cx="1597850" cy="938764"/>
          </a:xfrm>
        </p:grpSpPr>
        <p:sp>
          <p:nvSpPr>
            <p:cNvPr id="10"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1"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12.4.3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特洛伊木马与登录欺骗</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内容占位符 2"/>
          <p:cNvSpPr txBox="1"/>
          <p:nvPr/>
        </p:nvSpPr>
        <p:spPr>
          <a:xfrm>
            <a:off x="1378040" y="1158783"/>
            <a:ext cx="10109915" cy="4224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特洛伊木马</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的基本概念</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buClr>
                <a:srgbClr val="FF0000"/>
              </a:buClr>
              <a:buFont typeface="Wingdings" panose="05000000000000000000" pitchFamily="2" charset="2"/>
              <a:buChar char="Ø"/>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特洛伊木马是一种恶意软件，它是一个嵌入到有用程序中的、隐蔽的、危害安全的程序。当该程序执行时会引发隐蔽代码执行，产生难以预期的后果</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23000"/>
              </a:lnSpc>
              <a:spcBef>
                <a:spcPts val="600"/>
              </a:spcBef>
              <a:buNone/>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特洛伊木马的实例</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buClr>
                <a:srgbClr val="FF0000"/>
              </a:buClr>
              <a:buFont typeface="Wingdings" panose="05000000000000000000" pitchFamily="2" charset="2"/>
              <a:buChar char="Ø"/>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编写特洛伊木马程序的人，将其隐藏在一个新游戏程序中，并将该游戏程序送给某计算机系统的系统操作员</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buClr>
                <a:srgbClr val="FF0000"/>
              </a:buClr>
              <a:buFont typeface="Wingdings" panose="05000000000000000000" pitchFamily="2" charset="2"/>
              <a:buChar char="Ø"/>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操作员在玩新游戏程序时，前台确实是在玩游戏，但隐藏在后台运行的特洛伊木马程序，却将系统中的口令文件复制到了该黑客的文件中</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457200" lvl="3" indent="-442595">
              <a:lnSpc>
                <a:spcPct val="123000"/>
              </a:lnSpc>
              <a:spcBef>
                <a:spcPts val="600"/>
              </a:spcBef>
              <a:buClr>
                <a:srgbClr val="FF0000"/>
              </a:buClr>
              <a:buFont typeface="Wingdings" panose="05000000000000000000" pitchFamily="2" charset="2"/>
              <a:buChar char="Ø"/>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由于操作员在打游戏时系统是在高特权模式下运行的，此时，隐藏在游戏程序中的特洛伊木马就继承了高特权，因此能够访问口令文件</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5" name="组合 4"/>
          <p:cNvGrpSpPr/>
          <p:nvPr/>
        </p:nvGrpSpPr>
        <p:grpSpPr>
          <a:xfrm>
            <a:off x="601369" y="1223178"/>
            <a:ext cx="712277" cy="418475"/>
            <a:chOff x="673100" y="2982961"/>
            <a:chExt cx="1597850" cy="938764"/>
          </a:xfrm>
        </p:grpSpPr>
        <p:sp>
          <p:nvSpPr>
            <p:cNvPr id="6"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7"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8" name="组合 7"/>
          <p:cNvGrpSpPr/>
          <p:nvPr/>
        </p:nvGrpSpPr>
        <p:grpSpPr>
          <a:xfrm>
            <a:off x="612096" y="3155164"/>
            <a:ext cx="712277" cy="418475"/>
            <a:chOff x="673100" y="2982961"/>
            <a:chExt cx="1597850" cy="938764"/>
          </a:xfrm>
        </p:grpSpPr>
        <p:sp>
          <p:nvSpPr>
            <p:cNvPr id="9"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0"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登录欺骗</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内容占位符 2"/>
          <p:cNvSpPr txBox="1"/>
          <p:nvPr/>
        </p:nvSpPr>
        <p:spPr>
          <a:xfrm>
            <a:off x="515379" y="1219142"/>
            <a:ext cx="4945487" cy="5927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以</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UNIX</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系统为例来说明</a:t>
            </a: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登录欺骗</a:t>
            </a:r>
            <a:endPar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5"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18632" y="1955249"/>
            <a:ext cx="11125200" cy="2821817"/>
            <a:chOff x="660400" y="1580301"/>
            <a:chExt cx="11125200" cy="2821817"/>
          </a:xfrm>
        </p:grpSpPr>
        <p:sp>
          <p:nvSpPr>
            <p:cNvPr id="6" name="íṥḻîḑe"/>
            <p:cNvSpPr/>
            <p:nvPr/>
          </p:nvSpPr>
          <p:spPr>
            <a:xfrm>
              <a:off x="682048" y="1580301"/>
              <a:ext cx="2180193" cy="1008354"/>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7" name="ïşḻiḍé"/>
            <p:cNvSpPr/>
            <p:nvPr/>
          </p:nvSpPr>
          <p:spPr>
            <a:xfrm>
              <a:off x="660400" y="2732018"/>
              <a:ext cx="2201841"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lnSpc>
                  <a:spcPct val="123000"/>
                </a:lnSpc>
              </a:pPr>
              <a:r>
                <a:rPr lang="zh-CN" altLang="en-US" sz="2000" dirty="0">
                  <a:solidFill>
                    <a:schemeClr val="tx1"/>
                  </a:solidFill>
                </a:rPr>
                <a:t>攻击者编写欺骗登录程序，该程序同样会在屏幕上显示“</a:t>
              </a:r>
              <a:r>
                <a:rPr lang="en-US" altLang="zh-CN" sz="2000" dirty="0">
                  <a:solidFill>
                    <a:schemeClr val="tx1"/>
                  </a:solidFill>
                </a:rPr>
                <a:t>Login:”</a:t>
              </a:r>
              <a:r>
                <a:rPr lang="zh-CN" altLang="en-US" sz="2000" dirty="0">
                  <a:solidFill>
                    <a:schemeClr val="tx1"/>
                  </a:solidFill>
                </a:rPr>
                <a:t>，用于欺骗其他用户进行登录。</a:t>
              </a:r>
              <a:endParaRPr lang="zh-CN" altLang="en-US" sz="2000" dirty="0">
                <a:solidFill>
                  <a:schemeClr val="tx1"/>
                </a:solidFill>
              </a:endParaRPr>
            </a:p>
          </p:txBody>
        </p:sp>
        <p:sp>
          <p:nvSpPr>
            <p:cNvPr id="8" name="îŝļiḋe"/>
            <p:cNvSpPr/>
            <p:nvPr/>
          </p:nvSpPr>
          <p:spPr>
            <a:xfrm>
              <a:off x="3081183" y="1580301"/>
              <a:ext cx="4747550" cy="1008354"/>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9" name="ïšlïḑè"/>
            <p:cNvSpPr/>
            <p:nvPr/>
          </p:nvSpPr>
          <p:spPr>
            <a:xfrm>
              <a:off x="3081183" y="2732018"/>
              <a:ext cx="4767089"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当有一用户输入登录名后，欺骗登录程序会接着要求它输入口令。当该用户将口令输入完毕后，欺骗登录程序就会把刚输入的登录名和口令写入一份事先准备好的文件中，并发出信号以请求结束</a:t>
              </a:r>
              <a:r>
                <a:rPr lang="en-US" altLang="zh-CN" sz="2000" dirty="0">
                  <a:solidFill>
                    <a:schemeClr val="tx1"/>
                  </a:solidFill>
                </a:rPr>
                <a:t>shell</a:t>
              </a:r>
              <a:r>
                <a:rPr lang="zh-CN" altLang="en-US" sz="2000" dirty="0">
                  <a:solidFill>
                    <a:schemeClr val="tx1"/>
                  </a:solidFill>
                </a:rPr>
                <a:t>程序，于是欺骗登录程序退出登录，同时也去触发真正的登录程序，并在屏幕上再次显示出“</a:t>
              </a:r>
              <a:r>
                <a:rPr lang="en-US" altLang="zh-CN" sz="2000" dirty="0">
                  <a:solidFill>
                    <a:schemeClr val="tx1"/>
                  </a:solidFill>
                </a:rPr>
                <a:t>Login:”</a:t>
              </a:r>
              <a:endParaRPr lang="en-US" altLang="zh-CN" sz="2000" dirty="0">
                <a:solidFill>
                  <a:schemeClr val="tx1"/>
                </a:solidFill>
              </a:endParaRPr>
            </a:p>
          </p:txBody>
        </p:sp>
        <p:sp>
          <p:nvSpPr>
            <p:cNvPr id="10" name="íŝḻiďé"/>
            <p:cNvSpPr/>
            <p:nvPr/>
          </p:nvSpPr>
          <p:spPr>
            <a:xfrm>
              <a:off x="8023305" y="1580301"/>
              <a:ext cx="3762295" cy="1008354"/>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í$ḷîḋe"/>
            <p:cNvSpPr/>
            <p:nvPr/>
          </p:nvSpPr>
          <p:spPr>
            <a:xfrm>
              <a:off x="8001657" y="2732018"/>
              <a:ext cx="37839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用户以为是自己输入发生了错误，系统要求重新输入</a:t>
              </a:r>
              <a:endParaRPr lang="zh-CN" altLang="en-US" sz="2000" dirty="0">
                <a:solidFill>
                  <a:schemeClr val="tx1"/>
                </a:solidFill>
              </a:endParaRPr>
            </a:p>
          </p:txBody>
        </p:sp>
      </p:grpSp>
      <p:cxnSp>
        <p:nvCxnSpPr>
          <p:cNvPr id="12" name="直接连接符 11"/>
          <p:cNvCxnSpPr/>
          <p:nvPr/>
        </p:nvCxnSpPr>
        <p:spPr>
          <a:xfrm>
            <a:off x="8126569" y="4121240"/>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139448" y="4353060"/>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126569" y="4610638"/>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8139448" y="4906852"/>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8126569" y="5177308"/>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126569" y="5460643"/>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126569" y="5718221"/>
            <a:ext cx="34515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126569" y="5975798"/>
            <a:ext cx="345153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12.4.4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缓冲区溢出</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1381316" y="1146800"/>
            <a:ext cx="10616485" cy="4572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spcAft>
                <a:spcPts val="600"/>
              </a:spcAft>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语言编译器</a:t>
            </a:r>
            <a:r>
              <a:rPr lang="zh-CN" altLang="en-US"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存在着某些漏洞</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，如它对数组不进行边界检查。</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23000"/>
              </a:lnSpc>
              <a:spcBef>
                <a:spcPts val="600"/>
              </a:spcBef>
              <a:spcAft>
                <a:spcPts val="600"/>
              </a:spcAft>
              <a:buNone/>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下面的代码是不合法的，数组范围是</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1024</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，其所包含的数字却有</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12000</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个，而且在编译时未对此事进行检查。</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50000"/>
              </a:lnSpc>
              <a:spcBef>
                <a:spcPts val="600"/>
              </a:spcBef>
              <a:spcAft>
                <a:spcPts val="600"/>
              </a:spcAft>
              <a:buNone/>
            </a:pPr>
            <a:r>
              <a:rPr lang="zh-CN" altLang="zh-CN"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攻击者可能会</a:t>
            </a:r>
            <a:r>
              <a:rPr lang="zh-CN" altLang="zh-CN" sz="2400" dirty="0" smtClean="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利用</a:t>
            </a:r>
            <a:br>
              <a:rPr lang="en-US" altLang="zh-CN" sz="2400" dirty="0" smtClean="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br>
            <a:r>
              <a:rPr lang="zh-CN" altLang="zh-CN" sz="2400" u="sng" dirty="0" smtClean="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此</a:t>
            </a:r>
            <a:r>
              <a:rPr lang="zh-CN" altLang="zh-CN" sz="2400" u="sng"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漏洞</a:t>
            </a:r>
            <a:r>
              <a:rPr lang="zh-CN" altLang="zh-CN"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进行攻击。</a:t>
            </a:r>
            <a:endParaRPr lang="en-US" altLang="zh-CN"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int </a:t>
            </a:r>
            <a:r>
              <a:rPr lang="en-US" altLang="zh-CN" sz="2400" dirty="0" err="1">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char C[1024];</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err="1">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=12000;</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19405" lvl="1" indent="0">
              <a:lnSpc>
                <a:spcPct val="100000"/>
              </a:lnSpc>
              <a:spcBef>
                <a:spcPts val="600"/>
              </a:spcBef>
              <a:spcAft>
                <a:spcPts val="600"/>
              </a:spcAft>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C[</a:t>
            </a:r>
            <a:r>
              <a:rPr lang="en-US" altLang="zh-CN" sz="2400" dirty="0" err="1">
                <a:latin typeface="Times New Roman" panose="02020603050405020304" pitchFamily="18" charset="0"/>
                <a:ea typeface="微软雅黑" panose="020B0503020204020204" pitchFamily="34" charset="-122"/>
                <a:cs typeface="+mn-ea"/>
                <a:sym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]=0;</a:t>
            </a:r>
            <a:endPar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a:lnSpc>
                <a:spcPct val="123000"/>
              </a:lnSpc>
              <a:spcBef>
                <a:spcPts val="600"/>
              </a:spcBef>
              <a:spcAft>
                <a:spcPts val="600"/>
              </a:spcAft>
            </a:pP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a:blip r:embed="rId1">
            <a:clrChange>
              <a:clrFrom>
                <a:srgbClr val="FFFFFF"/>
              </a:clrFrom>
              <a:clrTo>
                <a:srgbClr val="FFFFFF">
                  <a:alpha val="0"/>
                </a:srgbClr>
              </a:clrTo>
            </a:clrChange>
          </a:blip>
          <a:stretch>
            <a:fillRect/>
          </a:stretch>
        </p:blipFill>
        <p:spPr>
          <a:xfrm>
            <a:off x="4273214" y="2924813"/>
            <a:ext cx="7317772" cy="3303472"/>
          </a:xfrm>
          <a:prstGeom prst="rect">
            <a:avLst/>
          </a:prstGeom>
        </p:spPr>
      </p:pic>
      <p:sp>
        <p:nvSpPr>
          <p:cNvPr id="5" name="îSļiḓè"/>
          <p:cNvSpPr/>
          <p:nvPr/>
        </p:nvSpPr>
        <p:spPr>
          <a:xfrm>
            <a:off x="669925" y="122407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íṥḻîḓe"/>
          <p:cNvSpPr/>
          <p:nvPr/>
        </p:nvSpPr>
        <p:spPr>
          <a:xfrm>
            <a:off x="657909" y="292481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şļiḓè"/>
          <p:cNvSpPr/>
          <p:nvPr/>
        </p:nvSpPr>
        <p:spPr>
          <a:xfrm>
            <a:off x="669924" y="20480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îṡḷíďe"/>
          <p:cNvSpPr/>
          <p:nvPr/>
        </p:nvSpPr>
        <p:spPr>
          <a:xfrm>
            <a:off x="860180" y="142021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íSlíḋe"/>
          <p:cNvSpPr/>
          <p:nvPr/>
        </p:nvSpPr>
        <p:spPr>
          <a:xfrm>
            <a:off x="860178" y="227009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0" name="ïśḷïḓe"/>
          <p:cNvSpPr/>
          <p:nvPr/>
        </p:nvSpPr>
        <p:spPr>
          <a:xfrm>
            <a:off x="877102" y="311427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内容导航：</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12.2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数据加密技术</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12.3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矩形 24"/>
          <p:cNvSpPr/>
          <p:nvPr/>
        </p:nvSpPr>
        <p:spPr>
          <a:xfrm>
            <a:off x="1379227" y="3667722"/>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12.4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矩形 2"/>
          <p:cNvSpPr/>
          <p:nvPr/>
        </p:nvSpPr>
        <p:spPr>
          <a:xfrm>
            <a:off x="7632441" y="2349214"/>
            <a:ext cx="4058796" cy="646331"/>
          </a:xfrm>
          <a:prstGeom prst="rect">
            <a:avLst/>
          </a:prstGeom>
        </p:spPr>
        <p:txBody>
          <a:bodyPr wrap="square">
            <a:spAutoFit/>
          </a:bodyPr>
          <a:lstStyle/>
          <a:p>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36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cxnSp>
        <p:nvCxnSpPr>
          <p:cNvPr id="5" name="直接连接符 4"/>
          <p:cNvCxnSpPr/>
          <p:nvPr/>
        </p:nvCxnSpPr>
        <p:spPr>
          <a:xfrm>
            <a:off x="7567127" y="3190471"/>
            <a:ext cx="397999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81373"/>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99518"/>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641362"/>
            <a:ext cx="527050" cy="527050"/>
          </a:xfrm>
          <a:prstGeom prst="rect">
            <a:avLst/>
          </a:prstGeom>
          <a:ln>
            <a:noFill/>
          </a:ln>
          <a:effectLst>
            <a:softEdge rad="0"/>
          </a:effectLst>
        </p:spPr>
      </p:pic>
      <p:sp>
        <p:nvSpPr>
          <p:cNvPr id="18" name="矩形 17"/>
          <p:cNvSpPr/>
          <p:nvPr/>
        </p:nvSpPr>
        <p:spPr>
          <a:xfrm>
            <a:off x="1379227" y="4282526"/>
            <a:ext cx="5254838" cy="461665"/>
          </a:xfrm>
          <a:prstGeom prst="rect">
            <a:avLst/>
          </a:prstGeom>
        </p:spPr>
        <p:txBody>
          <a:bodyPr wrap="square">
            <a:spAutoFit/>
          </a:bodyPr>
          <a:lstStyle/>
          <a:p>
            <a:r>
              <a:rPr lang="en-US" altLang="zh-CN"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12.5  </a:t>
            </a:r>
            <a:r>
              <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来自系统外部的攻击</a:t>
            </a:r>
            <a:endPar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237504"/>
            <a:ext cx="527050" cy="527050"/>
          </a:xfrm>
          <a:prstGeom prst="rect">
            <a:avLst/>
          </a:prstGeom>
          <a:ln>
            <a:noFill/>
          </a:ln>
          <a:effectLst>
            <a:softEdge rad="0"/>
          </a:effectLst>
        </p:spPr>
      </p:pic>
      <p:sp>
        <p:nvSpPr>
          <p:cNvPr id="27" name="矩形 26"/>
          <p:cNvSpPr/>
          <p:nvPr/>
        </p:nvSpPr>
        <p:spPr>
          <a:xfrm>
            <a:off x="1379227" y="4868899"/>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12.6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可信系统</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23877"/>
            <a:ext cx="527050" cy="527050"/>
          </a:xfrm>
          <a:prstGeom prst="rect">
            <a:avLst/>
          </a:prstGeom>
          <a:ln>
            <a:noFill/>
          </a:ln>
          <a:effectLst>
            <a:softEdge rad="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12.5.1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病毒、蠕虫和移动代码</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íšḻîḋè"/>
          <p:cNvSpPr/>
          <p:nvPr/>
        </p:nvSpPr>
        <p:spPr>
          <a:xfrm>
            <a:off x="2151493" y="3092182"/>
            <a:ext cx="9182276" cy="3192708"/>
          </a:xfrm>
          <a:prstGeom prst="rect">
            <a:avLst/>
          </a:prstGeom>
          <a:noFill/>
          <a:ln>
            <a:noFill/>
          </a:ln>
        </p:spPr>
        <p:txBody>
          <a:bodyPr wrap="square" lIns="91440" tIns="45720" rIns="91440" bIns="45720" anchor="t" anchorCtr="0">
            <a:normAutofit lnSpcReduction="10000"/>
          </a:bodyPr>
          <a:lstStyle/>
          <a:p>
            <a:pPr marL="342900" indent="-342900">
              <a:lnSpc>
                <a:spcPct val="133000"/>
              </a:lnSpc>
              <a:buClr>
                <a:srgbClr val="FF0000"/>
              </a:buClr>
              <a:buFont typeface="Wingdings" panose="05000000000000000000" pitchFamily="2" charset="2"/>
              <a:buChar char="n"/>
            </a:pPr>
            <a:r>
              <a:rPr lang="zh-CN" altLang="en-US" sz="2400" dirty="0"/>
              <a:t>蠕虫与病毒相似，也能进行自我复制，并可传染给其他程序，给系统带来有害影响，它们都属于恶意软件</a:t>
            </a:r>
            <a:endParaRPr lang="zh-CN" altLang="en-US" sz="2400" dirty="0"/>
          </a:p>
          <a:p>
            <a:pPr marL="800100" lvl="1" indent="-342900">
              <a:lnSpc>
                <a:spcPct val="133000"/>
              </a:lnSpc>
              <a:buClr>
                <a:srgbClr val="FF0000"/>
              </a:buClr>
              <a:buFont typeface="Wingdings" panose="05000000000000000000" pitchFamily="2" charset="2"/>
              <a:buChar char="n"/>
            </a:pPr>
            <a:r>
              <a:rPr lang="zh-CN" altLang="en-US" sz="2400" dirty="0"/>
              <a:t>与病毒的</a:t>
            </a:r>
            <a:r>
              <a:rPr lang="zh-CN" altLang="en-US" sz="2400" dirty="0">
                <a:solidFill>
                  <a:srgbClr val="FF0000"/>
                </a:solidFill>
              </a:rPr>
              <a:t>区别</a:t>
            </a:r>
            <a:endParaRPr lang="zh-CN" altLang="en-US" sz="2400" dirty="0">
              <a:solidFill>
                <a:srgbClr val="FF0000"/>
              </a:solidFill>
            </a:endParaRPr>
          </a:p>
          <a:p>
            <a:pPr marL="1257300" lvl="2" indent="-342900">
              <a:lnSpc>
                <a:spcPct val="133000"/>
              </a:lnSpc>
              <a:buClr>
                <a:srgbClr val="FF0000"/>
              </a:buClr>
              <a:buFont typeface="Wingdings" panose="05000000000000000000" pitchFamily="2" charset="2"/>
              <a:buChar char="Ø"/>
            </a:pPr>
            <a:r>
              <a:rPr lang="zh-CN" altLang="en-US" sz="2200" dirty="0"/>
              <a:t>蠕虫本身是一个完整的程序，能作为一个独立的进程运行，因而它不需要寄生在其他程序上</a:t>
            </a:r>
            <a:endParaRPr lang="zh-CN" altLang="en-US" sz="2200" dirty="0"/>
          </a:p>
          <a:p>
            <a:pPr marL="1714500" lvl="3" indent="-342900">
              <a:lnSpc>
                <a:spcPct val="133000"/>
              </a:lnSpc>
              <a:buClr>
                <a:srgbClr val="FF0000"/>
              </a:buClr>
              <a:buFont typeface="Wingdings" panose="05000000000000000000" pitchFamily="2" charset="2"/>
              <a:buChar char="Ø"/>
            </a:pPr>
            <a:r>
              <a:rPr lang="zh-CN" altLang="en-US" sz="2200" dirty="0"/>
              <a:t>蠕虫的传播性没有病毒的强</a:t>
            </a:r>
            <a:endParaRPr lang="zh-CN" altLang="en-US" sz="2200" dirty="0"/>
          </a:p>
          <a:p>
            <a:pPr marL="2171700" lvl="4" indent="-342900">
              <a:lnSpc>
                <a:spcPct val="133000"/>
              </a:lnSpc>
              <a:buClr>
                <a:srgbClr val="FF0000"/>
              </a:buClr>
              <a:buFont typeface="Wingdings" panose="05000000000000000000" pitchFamily="2" charset="2"/>
              <a:buChar char="n"/>
            </a:pPr>
            <a:r>
              <a:rPr lang="zh-CN" altLang="en-US" sz="2400" dirty="0"/>
              <a:t>蠕虫由两部分组成，即引导程序和蠕虫本身</a:t>
            </a:r>
            <a:endParaRPr lang="zh-CN" altLang="en-US" sz="2400" dirty="0"/>
          </a:p>
        </p:txBody>
      </p:sp>
      <p:sp>
        <p:nvSpPr>
          <p:cNvPr id="5" name="i$lîďê"/>
          <p:cNvSpPr/>
          <p:nvPr/>
        </p:nvSpPr>
        <p:spPr>
          <a:xfrm>
            <a:off x="2151133" y="2651734"/>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蠕虫</a:t>
            </a:r>
            <a:endParaRPr lang="zh-CN" altLang="en-US" sz="2400" dirty="0">
              <a:solidFill>
                <a:srgbClr val="0000FF"/>
              </a:solidFill>
            </a:endParaRPr>
          </a:p>
        </p:txBody>
      </p:sp>
      <p:sp>
        <p:nvSpPr>
          <p:cNvPr id="6" name="îs1iďé"/>
          <p:cNvSpPr/>
          <p:nvPr/>
        </p:nvSpPr>
        <p:spPr>
          <a:xfrm>
            <a:off x="1211760" y="1523279"/>
            <a:ext cx="10122009" cy="1012545"/>
          </a:xfrm>
          <a:prstGeom prst="rect">
            <a:avLst/>
          </a:prstGeom>
          <a:noFill/>
          <a:ln>
            <a:noFill/>
          </a:ln>
        </p:spPr>
        <p:txBody>
          <a:bodyPr wrap="square" lIns="91440" tIns="45720" rIns="91440" bIns="45720" anchor="t" anchorCtr="0">
            <a:normAutofit fontScale="92500" lnSpcReduction="10000"/>
          </a:bodyPr>
          <a:lstStyle/>
          <a:p>
            <a:pPr marL="342900" indent="-342900">
              <a:lnSpc>
                <a:spcPct val="143000"/>
              </a:lnSpc>
              <a:buClr>
                <a:srgbClr val="FF0000"/>
              </a:buClr>
              <a:buFont typeface="Wingdings" panose="05000000000000000000" pitchFamily="2" charset="2"/>
              <a:buChar char="Ø"/>
            </a:pPr>
            <a:r>
              <a:rPr lang="zh-CN" altLang="en-US" sz="2400" dirty="0"/>
              <a:t>计算机中的病毒是一段程序，它能把自己附加在其他程序之中，并不断地自我复制，然后去感染其他程序，进而借助被感染的程序和系统传播出去。</a:t>
            </a:r>
            <a:endParaRPr lang="en-US" altLang="zh-CN" sz="2400" dirty="0"/>
          </a:p>
        </p:txBody>
      </p:sp>
      <p:sp>
        <p:nvSpPr>
          <p:cNvPr id="7" name="íšḻíḑê"/>
          <p:cNvSpPr/>
          <p:nvPr/>
        </p:nvSpPr>
        <p:spPr>
          <a:xfrm>
            <a:off x="1211761" y="1106732"/>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病毒</a:t>
            </a:r>
            <a:endParaRPr lang="zh-CN" altLang="en-US" sz="2400" dirty="0">
              <a:solidFill>
                <a:srgbClr val="0000FF"/>
              </a:solidFill>
            </a:endParaRPr>
          </a:p>
        </p:txBody>
      </p:sp>
      <p:sp>
        <p:nvSpPr>
          <p:cNvPr id="8" name="îSļiḓè"/>
          <p:cNvSpPr/>
          <p:nvPr/>
        </p:nvSpPr>
        <p:spPr>
          <a:xfrm>
            <a:off x="528258" y="109317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9" name="îşļiḓè"/>
          <p:cNvSpPr/>
          <p:nvPr/>
        </p:nvSpPr>
        <p:spPr>
          <a:xfrm>
            <a:off x="1467631" y="264136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0" name="îṡḷíďe"/>
          <p:cNvSpPr/>
          <p:nvPr/>
        </p:nvSpPr>
        <p:spPr>
          <a:xfrm>
            <a:off x="718513" y="1289308"/>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1" name="íSlíḋe"/>
          <p:cNvSpPr/>
          <p:nvPr/>
        </p:nvSpPr>
        <p:spPr>
          <a:xfrm>
            <a:off x="1657885" y="286337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移动代码（</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6"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7" name="í$1iďè"/>
          <p:cNvGrpSpPr/>
          <p:nvPr/>
        </p:nvGrpSpPr>
        <p:grpSpPr>
          <a:xfrm>
            <a:off x="4183062" y="1607317"/>
            <a:ext cx="7381905" cy="1702554"/>
            <a:chOff x="4136995" y="1337039"/>
            <a:chExt cx="7381905" cy="1702554"/>
          </a:xfrm>
        </p:grpSpPr>
        <p:sp>
          <p:nvSpPr>
            <p:cNvPr id="8"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9" name="ïSḻiḍé"/>
            <p:cNvSpPr txBox="1"/>
            <p:nvPr/>
          </p:nvSpPr>
          <p:spPr>
            <a:xfrm>
              <a:off x="4882719" y="1337039"/>
              <a:ext cx="6636181" cy="1702554"/>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b="1" dirty="0">
                  <a:latin typeface="+mj-ea"/>
                  <a:ea typeface="+mj-ea"/>
                </a:rPr>
                <a:t>什么是</a:t>
              </a:r>
              <a:r>
                <a:rPr lang="zh-CN" altLang="en-US" sz="2400" b="1" dirty="0">
                  <a:solidFill>
                    <a:srgbClr val="FF0000"/>
                  </a:solidFill>
                  <a:latin typeface="+mj-ea"/>
                  <a:ea typeface="+mj-ea"/>
                </a:rPr>
                <a:t>移动代码？</a:t>
              </a:r>
              <a:endParaRPr lang="zh-CN" altLang="en-US" sz="2400" b="1" dirty="0">
                <a:solidFill>
                  <a:srgbClr val="FF0000"/>
                </a:solidFill>
                <a:latin typeface="+mj-ea"/>
                <a:ea typeface="+mj-ea"/>
              </a:endParaRPr>
            </a:p>
            <a:p>
              <a:pPr marL="342900" indent="-342900" algn="just">
                <a:lnSpc>
                  <a:spcPct val="130000"/>
                </a:lnSpc>
                <a:buFont typeface="Wingdings" panose="05000000000000000000" pitchFamily="2" charset="2"/>
                <a:buChar char="Ø"/>
              </a:pPr>
              <a:r>
                <a:rPr lang="zh-CN" altLang="en-US" sz="2400" dirty="0">
                  <a:latin typeface="+mj-ea"/>
                  <a:ea typeface="+mj-ea"/>
                </a:rPr>
                <a:t>如果一个程序在运行时，能在不同机器之间来回迁移，那么该程序就被称为移动代码</a:t>
              </a:r>
              <a:endParaRPr lang="zh-CN" altLang="en-US" sz="2400" dirty="0">
                <a:latin typeface="+mj-ea"/>
                <a:ea typeface="+mj-ea"/>
              </a:endParaRPr>
            </a:p>
          </p:txBody>
        </p:sp>
      </p:grpSp>
      <p:grpSp>
        <p:nvGrpSpPr>
          <p:cNvPr id="10" name="išḷîḓé"/>
          <p:cNvGrpSpPr/>
          <p:nvPr/>
        </p:nvGrpSpPr>
        <p:grpSpPr>
          <a:xfrm>
            <a:off x="4183063" y="4016816"/>
            <a:ext cx="7453812" cy="1763616"/>
            <a:chOff x="4136995" y="3450237"/>
            <a:chExt cx="7703732" cy="1763616"/>
          </a:xfrm>
        </p:grpSpPr>
        <p:sp>
          <p:nvSpPr>
            <p:cNvPr id="11"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2" name="îŝľîḓè"/>
            <p:cNvSpPr txBox="1"/>
            <p:nvPr/>
          </p:nvSpPr>
          <p:spPr>
            <a:xfrm>
              <a:off x="4863591" y="3450237"/>
              <a:ext cx="6977136" cy="176361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t>移动代码能否安全运行？</a:t>
              </a:r>
              <a:endParaRPr lang="zh-CN" altLang="en-US" sz="2400" b="1" dirty="0"/>
            </a:p>
            <a:p>
              <a:pPr marL="342900" indent="-342900">
                <a:lnSpc>
                  <a:spcPct val="130000"/>
                </a:lnSpc>
                <a:buFont typeface="Wingdings" panose="05000000000000000000" pitchFamily="2" charset="2"/>
                <a:buChar char="Ø"/>
              </a:pPr>
              <a:r>
                <a:rPr lang="zh-CN" altLang="en-US" sz="2400" dirty="0"/>
                <a:t>移动代码将占用进程的内存空间，并作为合法用户的一部分运行，同时拥有用户的访问权限，因此不能保证系统安全，需要防范移动代码</a:t>
              </a:r>
              <a:endParaRPr lang="zh-CN" altLang="en-US" sz="2400" dirty="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移动代码（</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iṥlídè"/>
          <p:cNvSpPr/>
          <p:nvPr/>
        </p:nvSpPr>
        <p:spPr>
          <a:xfrm>
            <a:off x="9004274" y="1406369"/>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ṡļiḓe"/>
          <p:cNvGrpSpPr/>
          <p:nvPr/>
        </p:nvGrpSpPr>
        <p:grpSpPr>
          <a:xfrm>
            <a:off x="660400" y="1298467"/>
            <a:ext cx="7887251" cy="2333733"/>
            <a:chOff x="660400" y="1787149"/>
            <a:chExt cx="7887251" cy="2333733"/>
          </a:xfrm>
        </p:grpSpPr>
        <p:grpSp>
          <p:nvGrpSpPr>
            <p:cNvPr id="7" name="iSḻíḓè"/>
            <p:cNvGrpSpPr/>
            <p:nvPr/>
          </p:nvGrpSpPr>
          <p:grpSpPr>
            <a:xfrm>
              <a:off x="1296566" y="1835355"/>
              <a:ext cx="7251085" cy="2285527"/>
              <a:chOff x="1296566" y="1835355"/>
              <a:chExt cx="9145434" cy="2285527"/>
            </a:xfrm>
          </p:grpSpPr>
          <p:sp>
            <p:nvSpPr>
              <p:cNvPr id="11"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防范移动代码的方法</a:t>
                </a:r>
                <a:r>
                  <a:rPr lang="en-US" altLang="zh-CN" sz="2400" dirty="0">
                    <a:solidFill>
                      <a:srgbClr val="0000FF"/>
                    </a:solidFill>
                  </a:rPr>
                  <a:t>——</a:t>
                </a:r>
                <a:r>
                  <a:rPr lang="zh-CN" altLang="en-US" sz="2400" dirty="0">
                    <a:solidFill>
                      <a:srgbClr val="0000FF"/>
                    </a:solidFill>
                  </a:rPr>
                  <a:t>沙盒法</a:t>
                </a:r>
                <a:endParaRPr lang="zh-CN" altLang="en-US" sz="2400" dirty="0">
                  <a:solidFill>
                    <a:srgbClr val="0000FF"/>
                  </a:solidFill>
                </a:endParaRPr>
              </a:p>
            </p:txBody>
          </p:sp>
          <p:sp>
            <p:nvSpPr>
              <p:cNvPr id="12" name="íşļîḓé"/>
              <p:cNvSpPr/>
              <p:nvPr/>
            </p:nvSpPr>
            <p:spPr bwMode="auto">
              <a:xfrm>
                <a:off x="1296566" y="2279077"/>
                <a:ext cx="9145434" cy="18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基本思想是采用隔离方法，具体做法是把虚拟地址空间分为若干个大小相同的区域，每个区域称为一个沙盒</a:t>
                </a:r>
                <a:endParaRPr lang="zh-CN" altLang="en-US" sz="20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将不可信程序放入一个沙盒中运行，如果发现沙盒中的程序要访问沙盒外的数据，或者有跳转到沙盒外某个地址去运行的任何企图，则系统将停止该程序的运行</a:t>
                </a:r>
                <a:endParaRPr lang="zh-CN" altLang="en-US" sz="2000" dirty="0"/>
              </a:p>
            </p:txBody>
          </p:sp>
        </p:grpSp>
        <p:grpSp>
          <p:nvGrpSpPr>
            <p:cNvPr id="8" name="ïS1íḋé"/>
            <p:cNvGrpSpPr/>
            <p:nvPr/>
          </p:nvGrpSpPr>
          <p:grpSpPr>
            <a:xfrm>
              <a:off x="660400" y="1787149"/>
              <a:ext cx="497734" cy="497734"/>
              <a:chOff x="660400" y="1787149"/>
              <a:chExt cx="497734" cy="497734"/>
            </a:xfrm>
          </p:grpSpPr>
          <p:sp>
            <p:nvSpPr>
              <p:cNvPr id="9"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0"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3" name="iŝļïḓê"/>
          <p:cNvGrpSpPr/>
          <p:nvPr/>
        </p:nvGrpSpPr>
        <p:grpSpPr>
          <a:xfrm>
            <a:off x="660400" y="4100691"/>
            <a:ext cx="7887251" cy="1990235"/>
            <a:chOff x="660400" y="2092935"/>
            <a:chExt cx="7887251" cy="1990235"/>
          </a:xfrm>
        </p:grpSpPr>
        <p:grpSp>
          <p:nvGrpSpPr>
            <p:cNvPr id="14" name="ïṧļïḓe"/>
            <p:cNvGrpSpPr/>
            <p:nvPr/>
          </p:nvGrpSpPr>
          <p:grpSpPr>
            <a:xfrm>
              <a:off x="1296567" y="2092935"/>
              <a:ext cx="7251084" cy="1990235"/>
              <a:chOff x="1296567" y="2092935"/>
              <a:chExt cx="9145430" cy="1990235"/>
            </a:xfrm>
          </p:grpSpPr>
          <p:sp>
            <p:nvSpPr>
              <p:cNvPr id="18"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防范移动代码的方法</a:t>
                </a:r>
                <a:r>
                  <a:rPr lang="en-US" altLang="zh-CN" sz="2400" dirty="0">
                    <a:solidFill>
                      <a:srgbClr val="FF0000"/>
                    </a:solidFill>
                  </a:rPr>
                  <a:t>——</a:t>
                </a:r>
                <a:r>
                  <a:rPr lang="zh-CN" altLang="en-US" sz="2400" dirty="0">
                    <a:solidFill>
                      <a:srgbClr val="FF0000"/>
                    </a:solidFill>
                  </a:rPr>
                  <a:t>解释法</a:t>
                </a:r>
                <a:endParaRPr lang="zh-CN" altLang="en-US" sz="2400" dirty="0">
                  <a:solidFill>
                    <a:srgbClr val="FF0000"/>
                  </a:solidFill>
                </a:endParaRPr>
              </a:p>
            </p:txBody>
          </p:sp>
          <p:sp>
            <p:nvSpPr>
              <p:cNvPr id="19" name="íşľíḑè"/>
              <p:cNvSpPr/>
              <p:nvPr/>
            </p:nvSpPr>
            <p:spPr bwMode="auto">
              <a:xfrm>
                <a:off x="1296567" y="2593979"/>
                <a:ext cx="9145430" cy="148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Font typeface="Wingdings" panose="05000000000000000000" pitchFamily="2" charset="2"/>
                  <a:buChar char="Ø"/>
                </a:pPr>
                <a:r>
                  <a:rPr lang="zh-CN" altLang="en-US" sz="2000" dirty="0"/>
                  <a:t>解释法的基本思想是对移动代码的运行采取解释执行方式</a:t>
                </a:r>
                <a:endParaRPr lang="zh-CN" altLang="en-US" sz="2000" dirty="0"/>
              </a:p>
              <a:p>
                <a:pPr marL="342900" lvl="1" indent="-342900">
                  <a:lnSpc>
                    <a:spcPct val="132000"/>
                  </a:lnSpc>
                  <a:buFont typeface="Wingdings" panose="05000000000000000000" pitchFamily="2" charset="2"/>
                  <a:buChar char="Ø"/>
                </a:pPr>
                <a:r>
                  <a:rPr lang="zh-CN" altLang="en-US" sz="2000" dirty="0"/>
                  <a:t>若移动代码是可信的（来自本地硬盘），则按正常情况处理；否则（如来自互联网），将其放入沙盒中以限制其运行</a:t>
                </a:r>
                <a:endParaRPr lang="zh-CN" altLang="en-US" sz="2000" dirty="0"/>
              </a:p>
            </p:txBody>
          </p:sp>
        </p:grpSp>
        <p:grpSp>
          <p:nvGrpSpPr>
            <p:cNvPr id="15" name="ïŝľídè"/>
            <p:cNvGrpSpPr/>
            <p:nvPr/>
          </p:nvGrpSpPr>
          <p:grpSpPr>
            <a:xfrm>
              <a:off x="660400" y="2096245"/>
              <a:ext cx="497734" cy="497734"/>
              <a:chOff x="660400" y="2096245"/>
              <a:chExt cx="497734" cy="497734"/>
            </a:xfrm>
          </p:grpSpPr>
          <p:sp>
            <p:nvSpPr>
              <p:cNvPr id="16"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12.5.2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计算机病毒的特征与类型</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îṧľîdé"/>
          <p:cNvSpPr/>
          <p:nvPr/>
        </p:nvSpPr>
        <p:spPr>
          <a:xfrm>
            <a:off x="4021874" y="1444531"/>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 name="内容占位符 2"/>
          <p:cNvSpPr txBox="1"/>
          <p:nvPr/>
        </p:nvSpPr>
        <p:spPr>
          <a:xfrm>
            <a:off x="946219" y="1839430"/>
            <a:ext cx="4308362"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solidFill>
                  <a:srgbClr val="FF0000"/>
                </a:solidFill>
              </a:rPr>
              <a:t>计算机病毒的特征 </a:t>
            </a:r>
            <a:endParaRPr lang="en-US" altLang="zh-CN"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a:solidFill>
                  <a:schemeClr val="tx1">
                    <a:lumMod val="65000"/>
                    <a:lumOff val="35000"/>
                  </a:schemeClr>
                </a:solidFill>
              </a:rPr>
              <a:t>(1) </a:t>
            </a:r>
            <a:r>
              <a:rPr lang="zh-CN" altLang="en-US" sz="2200" dirty="0" smtClean="0">
                <a:solidFill>
                  <a:schemeClr val="tx1">
                    <a:lumMod val="65000"/>
                    <a:lumOff val="35000"/>
                  </a:schemeClr>
                </a:solidFill>
              </a:rPr>
              <a:t>寄生性</a:t>
            </a:r>
            <a:endParaRPr lang="en-US" altLang="zh-CN" sz="2200" dirty="0" smtClean="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smtClean="0">
                <a:solidFill>
                  <a:schemeClr val="tx1">
                    <a:lumMod val="65000"/>
                    <a:lumOff val="35000"/>
                  </a:schemeClr>
                </a:solidFill>
              </a:rPr>
              <a:t>(</a:t>
            </a:r>
            <a:r>
              <a:rPr lang="en-US" altLang="zh-CN" sz="2200" dirty="0">
                <a:solidFill>
                  <a:schemeClr val="tx1">
                    <a:lumMod val="65000"/>
                    <a:lumOff val="35000"/>
                  </a:schemeClr>
                </a:solidFill>
              </a:rPr>
              <a:t>2) </a:t>
            </a:r>
            <a:r>
              <a:rPr lang="zh-CN" altLang="en-US" sz="2200" dirty="0" smtClean="0">
                <a:solidFill>
                  <a:schemeClr val="tx1">
                    <a:lumMod val="65000"/>
                    <a:lumOff val="35000"/>
                  </a:schemeClr>
                </a:solidFill>
              </a:rPr>
              <a:t>传染性</a:t>
            </a:r>
            <a:endParaRPr lang="en-US" altLang="zh-CN" sz="2200" dirty="0" smtClean="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smtClean="0">
                <a:solidFill>
                  <a:schemeClr val="tx1">
                    <a:lumMod val="65000"/>
                    <a:lumOff val="35000"/>
                  </a:schemeClr>
                </a:solidFill>
              </a:rPr>
              <a:t>(</a:t>
            </a:r>
            <a:r>
              <a:rPr lang="en-US" altLang="zh-CN" sz="2200" dirty="0">
                <a:solidFill>
                  <a:schemeClr val="tx1">
                    <a:lumMod val="65000"/>
                    <a:lumOff val="35000"/>
                  </a:schemeClr>
                </a:solidFill>
              </a:rPr>
              <a:t>3) </a:t>
            </a:r>
            <a:r>
              <a:rPr lang="zh-CN" altLang="en-US" sz="2200" dirty="0">
                <a:solidFill>
                  <a:schemeClr val="tx1">
                    <a:lumMod val="65000"/>
                    <a:lumOff val="35000"/>
                  </a:schemeClr>
                </a:solidFill>
              </a:rPr>
              <a:t>隐蔽性 </a:t>
            </a:r>
            <a:endParaRPr lang="en-US" altLang="zh-CN" sz="2200" dirty="0" smtClean="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200" dirty="0" smtClean="0">
                <a:solidFill>
                  <a:schemeClr val="tx1">
                    <a:lumMod val="65000"/>
                    <a:lumOff val="35000"/>
                  </a:schemeClr>
                </a:solidFill>
              </a:rPr>
              <a:t>(</a:t>
            </a:r>
            <a:r>
              <a:rPr lang="en-US" altLang="zh-CN" sz="2200" dirty="0">
                <a:solidFill>
                  <a:schemeClr val="tx1">
                    <a:lumMod val="65000"/>
                    <a:lumOff val="35000"/>
                  </a:schemeClr>
                </a:solidFill>
              </a:rPr>
              <a:t>4) </a:t>
            </a:r>
            <a:r>
              <a:rPr lang="zh-CN" altLang="en-US" sz="2200" dirty="0">
                <a:solidFill>
                  <a:schemeClr val="tx1">
                    <a:lumMod val="65000"/>
                    <a:lumOff val="35000"/>
                  </a:schemeClr>
                </a:solidFill>
              </a:rPr>
              <a:t>破坏性</a:t>
            </a:r>
            <a:endParaRPr lang="zh-CN" altLang="en-US" sz="2200" dirty="0">
              <a:solidFill>
                <a:schemeClr val="tx1">
                  <a:lumMod val="65000"/>
                  <a:lumOff val="35000"/>
                </a:schemeClr>
              </a:solidFill>
            </a:endParaRPr>
          </a:p>
        </p:txBody>
      </p:sp>
      <p:sp>
        <p:nvSpPr>
          <p:cNvPr id="6" name="内容占位符 2"/>
          <p:cNvSpPr txBox="1"/>
          <p:nvPr/>
        </p:nvSpPr>
        <p:spPr>
          <a:xfrm>
            <a:off x="8181433" y="2673414"/>
            <a:ext cx="3551220" cy="30946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计算机病毒的类型</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文件性病毒</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内存驻留病毒</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引导扇区病毒</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宏病毒</a:t>
            </a:r>
            <a:endParaRPr lang="zh-CN" altLang="en-US" sz="22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电子邮件病毒</a:t>
            </a:r>
            <a:endParaRPr lang="zh-CN" altLang="en-US" sz="2200" dirty="0">
              <a:solidFill>
                <a:schemeClr val="tx1">
                  <a:lumMod val="65000"/>
                  <a:lumOff val="35000"/>
                </a:schemeClr>
              </a:solidFill>
            </a:endParaRPr>
          </a:p>
        </p:txBody>
      </p:sp>
      <p:sp>
        <p:nvSpPr>
          <p:cNvPr id="7" name="íSľïdé"/>
          <p:cNvSpPr/>
          <p:nvPr/>
        </p:nvSpPr>
        <p:spPr>
          <a:xfrm>
            <a:off x="4919214" y="1879387"/>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8" name="ïŝļíḓê"/>
          <p:cNvSpPr/>
          <p:nvPr/>
        </p:nvSpPr>
        <p:spPr bwMode="auto">
          <a:xfrm>
            <a:off x="6001738" y="282796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12.5.3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病毒的隐藏方式</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935865" y="1061434"/>
            <a:ext cx="5258873" cy="57965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lnSpc>
                <a:spcPct val="123000"/>
              </a:lnSpc>
              <a:buClr>
                <a:srgbClr val="0000FF"/>
              </a:buClr>
              <a:buFont typeface="Wingdings" panose="05000000000000000000" pitchFamily="2" charset="2"/>
              <a:buChar char="p"/>
            </a:pPr>
            <a:r>
              <a:rPr lang="zh-CN" altLang="en-US"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伪装</a:t>
            </a:r>
            <a:endParaRPr lang="en-US" altLang="zh-CN"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通过压缩法</a:t>
            </a:r>
            <a:r>
              <a:rPr lang="zh-CN" altLang="en-US" sz="22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伪装</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5660641" y="2498430"/>
            <a:ext cx="5974080" cy="3637280"/>
          </a:xfrm>
          <a:prstGeom prst="rect">
            <a:avLst/>
          </a:prstGeom>
          <a:ln>
            <a:solidFill>
              <a:schemeClr val="accent1"/>
            </a:solidFill>
          </a:ln>
        </p:spPr>
      </p:pic>
      <p:sp>
        <p:nvSpPr>
          <p:cNvPr id="5" name="内容占位符 2"/>
          <p:cNvSpPr txBox="1"/>
          <p:nvPr/>
        </p:nvSpPr>
        <p:spPr>
          <a:xfrm>
            <a:off x="935865" y="2150701"/>
            <a:ext cx="5258873" cy="39850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42595">
              <a:lnSpc>
                <a:spcPct val="123000"/>
              </a:lnSpc>
              <a:buClr>
                <a:srgbClr val="0000FF"/>
              </a:buClr>
              <a:buFont typeface="Wingdings" panose="05000000000000000000" pitchFamily="2" charset="2"/>
              <a:buChar char="p"/>
            </a:pPr>
            <a:r>
              <a:rPr lang="zh-CN" altLang="en-US" sz="2200" dirty="0" smtClean="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隐藏</a:t>
            </a:r>
            <a:endParaRPr lang="en-US" altLang="zh-CN"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隐藏于目录和注册表空间</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隐藏于程序的页内零头里</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更改用于磁盘分配的数据结构</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更改坏扇区列表</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indent="-442595">
              <a:lnSpc>
                <a:spcPct val="123000"/>
              </a:lnSpc>
              <a:buClr>
                <a:srgbClr val="0000FF"/>
              </a:buClr>
              <a:buFont typeface="Wingdings" panose="05000000000000000000" pitchFamily="2" charset="2"/>
              <a:buChar char="p"/>
            </a:pPr>
            <a:r>
              <a:rPr lang="zh-CN" altLang="en-US"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多形态</a:t>
            </a:r>
            <a:endParaRPr lang="en-US" altLang="zh-CN" sz="22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插入多余的指令</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23000"/>
              </a:lnSpc>
              <a:buFont typeface="+mj-ea"/>
              <a:buAutoNum type="circleNumDbPlain"/>
            </a:pPr>
            <a:r>
              <a:rPr lang="zh-CN"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对病毒程序进行加密</a:t>
            </a:r>
            <a:endPar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6" name="内容占位符 2"/>
          <p:cNvSpPr txBox="1"/>
          <p:nvPr/>
        </p:nvSpPr>
        <p:spPr>
          <a:xfrm>
            <a:off x="4026795" y="1520980"/>
            <a:ext cx="5258873" cy="5179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76605" lvl="1" indent="-457200">
              <a:lnSpc>
                <a:spcPct val="123000"/>
              </a:lnSpc>
              <a:buFont typeface="+mj-ea"/>
              <a:buAutoNum type="circleNumDbPlain" startAt="2"/>
            </a:pPr>
            <a:r>
              <a:rPr lang="zh-CN" altLang="en-US" sz="22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通过</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修改日期和时间</a:t>
            </a:r>
            <a:r>
              <a:rPr lang="zh-CN" altLang="en-US" sz="22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伪装</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12.5.4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病毒的预防与检测</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921716" y="1527313"/>
            <a:ext cx="9430624" cy="4870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latin typeface="+mn-ea"/>
                <a:cs typeface="+mn-ea"/>
                <a:sym typeface="Times New Roman" panose="02020603050405020304" pitchFamily="18" charset="0"/>
              </a:rPr>
              <a:t>病毒的</a:t>
            </a:r>
            <a:r>
              <a:rPr lang="zh-CN" altLang="en-US" sz="2600" dirty="0" smtClean="0">
                <a:solidFill>
                  <a:srgbClr val="0000FF"/>
                </a:solidFill>
                <a:latin typeface="+mn-ea"/>
                <a:cs typeface="+mn-ea"/>
                <a:sym typeface="Times New Roman" panose="02020603050405020304" pitchFamily="18" charset="0"/>
              </a:rPr>
              <a:t>预防</a:t>
            </a:r>
            <a:endParaRPr lang="en-US" altLang="zh-CN" sz="2600" dirty="0">
              <a:latin typeface="+mn-ea"/>
              <a:cs typeface="+mn-ea"/>
              <a:sym typeface="Times New Roman" panose="02020603050405020304" pitchFamily="18" charset="0"/>
            </a:endParaRPr>
          </a:p>
        </p:txBody>
      </p:sp>
      <p:sp>
        <p:nvSpPr>
          <p:cNvPr id="4" name="内容占位符 2"/>
          <p:cNvSpPr txBox="1"/>
          <p:nvPr/>
        </p:nvSpPr>
        <p:spPr>
          <a:xfrm>
            <a:off x="669925" y="2107095"/>
            <a:ext cx="9430624" cy="31926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76605" lvl="1" indent="-457200">
              <a:lnSpc>
                <a:spcPct val="132000"/>
              </a:lnSpc>
              <a:buFont typeface="+mj-ea"/>
              <a:buAutoNum type="circleNumDbPlain"/>
            </a:pPr>
            <a:r>
              <a:rPr lang="zh-CN" altLang="zh-CN" sz="24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对重</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要的软件和数据，应当定期将它们备份到外部存储介质上</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使用具有高安全性的</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OS</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使用正版软件</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购买性能优良的反病毒软件</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对于来历不明的电子邮件，不要将其轻易打开</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776605" lvl="1" indent="-457200">
              <a:lnSpc>
                <a:spcPct val="132000"/>
              </a:lnSpc>
              <a:buFont typeface="+mj-ea"/>
              <a:buAutoNum type="circleNumDbPlain"/>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要定期检查硬盘及</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U</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盘</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用反病毒软件来清除其中的病毒</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病毒的检测</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内容占位符 2"/>
          <p:cNvSpPr txBox="1"/>
          <p:nvPr/>
        </p:nvSpPr>
        <p:spPr>
          <a:xfrm>
            <a:off x="1555170" y="1182609"/>
            <a:ext cx="4468969" cy="11871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0000FF"/>
                </a:solidFill>
              </a:rPr>
              <a:t>基于病毒数据库</a:t>
            </a:r>
            <a:r>
              <a:rPr lang="zh-CN" altLang="en-US" sz="2400" dirty="0"/>
              <a:t>的检测方法：</a:t>
            </a:r>
            <a:endParaRPr lang="zh-CN" altLang="en-US"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建立病毒数据库</a:t>
            </a:r>
            <a:r>
              <a:rPr lang="zh-CN" altLang="en-US" sz="2200" dirty="0" smtClean="0">
                <a:solidFill>
                  <a:schemeClr val="tx1">
                    <a:lumMod val="65000"/>
                    <a:lumOff val="35000"/>
                  </a:schemeClr>
                </a:solidFill>
              </a:rPr>
              <a:t>；</a:t>
            </a:r>
            <a:endParaRPr lang="zh-CN" altLang="en-US" sz="2200" dirty="0">
              <a:solidFill>
                <a:schemeClr val="tx1">
                  <a:lumMod val="65000"/>
                  <a:lumOff val="35000"/>
                </a:schemeClr>
              </a:solidFill>
            </a:endParaRPr>
          </a:p>
        </p:txBody>
      </p:sp>
      <p:grpSp>
        <p:nvGrpSpPr>
          <p:cNvPr id="5" name="组合 4"/>
          <p:cNvGrpSpPr/>
          <p:nvPr/>
        </p:nvGrpSpPr>
        <p:grpSpPr>
          <a:xfrm>
            <a:off x="669926" y="1337157"/>
            <a:ext cx="712277" cy="418475"/>
            <a:chOff x="673100" y="2982961"/>
            <a:chExt cx="1597850" cy="938764"/>
          </a:xfrm>
        </p:grpSpPr>
        <p:sp>
          <p:nvSpPr>
            <p:cNvPr id="6"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7"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8" name="组合 7"/>
          <p:cNvGrpSpPr/>
          <p:nvPr/>
        </p:nvGrpSpPr>
        <p:grpSpPr>
          <a:xfrm>
            <a:off x="669925" y="2401823"/>
            <a:ext cx="712277" cy="418475"/>
            <a:chOff x="673100" y="2982961"/>
            <a:chExt cx="1597850" cy="938764"/>
          </a:xfrm>
        </p:grpSpPr>
        <p:sp>
          <p:nvSpPr>
            <p:cNvPr id="9"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0"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
        <p:nvSpPr>
          <p:cNvPr id="12" name="内容占位符 2"/>
          <p:cNvSpPr txBox="1"/>
          <p:nvPr/>
        </p:nvSpPr>
        <p:spPr>
          <a:xfrm>
            <a:off x="1622600" y="2350307"/>
            <a:ext cx="9893887" cy="163786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zh-CN" altLang="en-US" sz="2400" dirty="0">
                <a:solidFill>
                  <a:srgbClr val="0000FF"/>
                </a:solidFill>
              </a:rPr>
              <a:t>完整性</a:t>
            </a:r>
            <a:r>
              <a:rPr lang="zh-CN" altLang="en-US" sz="2400" dirty="0"/>
              <a:t>检测方法：</a:t>
            </a:r>
            <a:endParaRPr lang="zh-CN" altLang="en-US" sz="2400" dirty="0"/>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rgbClr val="FF0000"/>
                </a:solidFill>
              </a:rPr>
              <a:t>完整性检测程序在检测病毒之前，首先会扫描硬盘，检查其中是否有病毒，当确信硬盘“干净”时，才正式工作；</a:t>
            </a:r>
            <a:endParaRPr lang="zh-CN" altLang="en-US" sz="2200" dirty="0">
              <a:solidFill>
                <a:srgbClr val="FF0000"/>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首先计算每个文件的检查和，然后计算目录中所有相关文件的检查和，将所有检查和写入一个检查和文件中；</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a:solidFill>
                  <a:schemeClr val="tx1">
                    <a:lumMod val="65000"/>
                    <a:lumOff val="35000"/>
                  </a:schemeClr>
                </a:solidFill>
              </a:rPr>
              <a:t>在检测病毒时，完整性检测程序将重新计算所有文件的检查和，并将它们分别与原文件的检查和进行比较，若不匹配，则表明该文件已感染上病毒。</a:t>
            </a:r>
            <a:endParaRPr lang="zh-CN" altLang="en-US" sz="22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endParaRPr lang="zh-CN" altLang="en-US" sz="2200" dirty="0">
              <a:solidFill>
                <a:schemeClr val="tx1">
                  <a:lumMod val="65000"/>
                  <a:lumOff val="35000"/>
                </a:schemeClr>
              </a:solidFill>
            </a:endParaRPr>
          </a:p>
        </p:txBody>
      </p:sp>
      <p:sp>
        <p:nvSpPr>
          <p:cNvPr id="13" name="内容占位符 2"/>
          <p:cNvSpPr txBox="1"/>
          <p:nvPr/>
        </p:nvSpPr>
        <p:spPr>
          <a:xfrm>
            <a:off x="5461715" y="1665479"/>
            <a:ext cx="4468969" cy="69770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200" dirty="0" smtClean="0">
                <a:solidFill>
                  <a:schemeClr val="tx1">
                    <a:lumMod val="65000"/>
                    <a:lumOff val="35000"/>
                  </a:schemeClr>
                </a:solidFill>
              </a:rPr>
              <a:t>扫描</a:t>
            </a:r>
            <a:r>
              <a:rPr lang="zh-CN" altLang="en-US" sz="2200" dirty="0">
                <a:solidFill>
                  <a:schemeClr val="tx1">
                    <a:lumMod val="65000"/>
                    <a:lumOff val="35000"/>
                  </a:schemeClr>
                </a:solidFill>
              </a:rPr>
              <a:t>硬盘上的可执行文件。</a:t>
            </a:r>
            <a:endParaRPr lang="zh-CN" altLang="en-US" sz="2200" dirty="0">
              <a:solidFill>
                <a:schemeClr val="tx1">
                  <a:lumMod val="65000"/>
                  <a:lumOff val="35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内容导航：</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矩形 21"/>
          <p:cNvSpPr/>
          <p:nvPr/>
        </p:nvSpPr>
        <p:spPr>
          <a:xfrm>
            <a:off x="1379228" y="1767926"/>
            <a:ext cx="4500146"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12.1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安全环境</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矩形 22"/>
          <p:cNvSpPr/>
          <p:nvPr/>
        </p:nvSpPr>
        <p:spPr>
          <a:xfrm>
            <a:off x="1379228" y="2406101"/>
            <a:ext cx="3682150"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12.2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数据加密技术</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矩形 23"/>
          <p:cNvSpPr/>
          <p:nvPr/>
        </p:nvSpPr>
        <p:spPr>
          <a:xfrm>
            <a:off x="1379227" y="3025226"/>
            <a:ext cx="5320152"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12.3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用户验证</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矩形 24"/>
          <p:cNvSpPr/>
          <p:nvPr/>
        </p:nvSpPr>
        <p:spPr>
          <a:xfrm>
            <a:off x="1379227" y="3667722"/>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12.4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来自系统内部的攻击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矩形 2"/>
          <p:cNvSpPr/>
          <p:nvPr/>
        </p:nvSpPr>
        <p:spPr>
          <a:xfrm>
            <a:off x="7632441" y="2349214"/>
            <a:ext cx="4058796" cy="646331"/>
          </a:xfrm>
          <a:prstGeom prst="rect">
            <a:avLst/>
          </a:prstGeom>
        </p:spPr>
        <p:txBody>
          <a:bodyPr wrap="square">
            <a:spAutoFit/>
          </a:bodyPr>
          <a:lstStyle/>
          <a:p>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第</a:t>
            </a:r>
            <a:r>
              <a:rPr lang="en-US" altLang="zh-CN"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360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rPr>
              <a:t>章 保护和安全</a:t>
            </a:r>
            <a:endParaRPr lang="zh-CN" altLang="en-US" sz="36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cxnSp>
        <p:nvCxnSpPr>
          <p:cNvPr id="5" name="直接连接符 4"/>
          <p:cNvCxnSpPr/>
          <p:nvPr/>
        </p:nvCxnSpPr>
        <p:spPr>
          <a:xfrm>
            <a:off x="7567127" y="3190471"/>
            <a:ext cx="397999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1730916"/>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381373"/>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2999518"/>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3641362"/>
            <a:ext cx="527050" cy="527050"/>
          </a:xfrm>
          <a:prstGeom prst="rect">
            <a:avLst/>
          </a:prstGeom>
          <a:ln>
            <a:noFill/>
          </a:ln>
          <a:effectLst>
            <a:softEdge rad="0"/>
          </a:effectLst>
        </p:spPr>
      </p:pic>
      <p:sp>
        <p:nvSpPr>
          <p:cNvPr id="18" name="矩形 17"/>
          <p:cNvSpPr/>
          <p:nvPr/>
        </p:nvSpPr>
        <p:spPr>
          <a:xfrm>
            <a:off x="1379227" y="4282526"/>
            <a:ext cx="5254838" cy="461665"/>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12.5  </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来自系统外部的攻击</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237504"/>
            <a:ext cx="527050" cy="527050"/>
          </a:xfrm>
          <a:prstGeom prst="rect">
            <a:avLst/>
          </a:prstGeom>
          <a:ln>
            <a:noFill/>
          </a:ln>
          <a:effectLst>
            <a:softEdge rad="0"/>
          </a:effectLst>
        </p:spPr>
      </p:pic>
      <p:sp>
        <p:nvSpPr>
          <p:cNvPr id="27" name="矩形 26"/>
          <p:cNvSpPr/>
          <p:nvPr/>
        </p:nvSpPr>
        <p:spPr>
          <a:xfrm>
            <a:off x="1379227" y="4868899"/>
            <a:ext cx="5254838" cy="461665"/>
          </a:xfrm>
          <a:prstGeom prst="rect">
            <a:avLst/>
          </a:prstGeom>
        </p:spPr>
        <p:txBody>
          <a:bodyPr wrap="square">
            <a:spAutoFit/>
          </a:bodyPr>
          <a:lstStyle/>
          <a:p>
            <a:r>
              <a:rPr lang="en-US" altLang="zh-CN"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12.6  </a:t>
            </a:r>
            <a:r>
              <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可信系统</a:t>
            </a:r>
            <a:endParaRPr lang="zh-CN" altLang="en-US" sz="2400" b="1"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52177" y="4823877"/>
            <a:ext cx="527050" cy="527050"/>
          </a:xfrm>
          <a:prstGeom prst="rect">
            <a:avLst/>
          </a:prstGeom>
          <a:ln>
            <a:noFill/>
          </a:ln>
          <a:effectLst>
            <a:softEdge rad="0"/>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12.6.1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访问矩阵模型和信息流控制模型</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 name="内容占位符 2"/>
          <p:cNvSpPr txBox="1"/>
          <p:nvPr/>
        </p:nvSpPr>
        <p:spPr>
          <a:xfrm>
            <a:off x="203970" y="1127480"/>
            <a:ext cx="11637985" cy="41468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23000"/>
              </a:lnSpc>
              <a:buClr>
                <a:srgbClr val="FF0000"/>
              </a:buClr>
              <a:buFont typeface="Wingdings" panose="05000000000000000000" pitchFamily="2" charset="2"/>
              <a:buChar char="n"/>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要建立一个可信系统，应在OS核心中构建一个安全模型，模型要非常简单以确保自身的安全性</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安全策略：</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根据系统对安全的需求所定义的一组规则以及相应的描述</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安全模型：</a:t>
            </a: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用于精确描述系统的安全需求和策略</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安全模型首先应当是精确的、同时它也应当是简单和容易理解的，而且不涉及安全功能的具体实现细节</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比较实用的模型：访问矩阵模型、信息流控制模型</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en-US" sz="20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访问矩阵模型</a:t>
            </a: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，也称</a:t>
            </a:r>
            <a:r>
              <a:rPr lang="zh-CN" altLang="en-US" sz="20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保护</a:t>
            </a:r>
            <a:r>
              <a:rPr lang="zh-CN" altLang="en-US" sz="2000" dirty="0" smtClean="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矩阵</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内容占位符 2"/>
          <p:cNvSpPr txBox="1"/>
          <p:nvPr/>
        </p:nvSpPr>
        <p:spPr>
          <a:xfrm>
            <a:off x="203970" y="4639178"/>
            <a:ext cx="5502228" cy="15940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17245" lvl="3">
              <a:lnSpc>
                <a:spcPct val="123000"/>
              </a:lnSpc>
              <a:buClr>
                <a:srgbClr val="0000FF"/>
              </a:buClr>
              <a:buFont typeface="Wingdings" panose="05000000000000000000" pitchFamily="2" charset="2"/>
              <a:buChar char="Ø"/>
            </a:pPr>
            <a:r>
              <a:rPr lang="zh-CN" altLang="zh-CN" sz="20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系统</a:t>
            </a: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中的每个主体（用户）都拥有矩阵中的一行</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每个客体都拥有矩阵中的一列。客体可以是程序、文件或</a:t>
            </a:r>
            <a:r>
              <a:rPr lang="zh-CN" altLang="zh-CN" sz="20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设备</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 name="内容占位符 2"/>
          <p:cNvSpPr txBox="1"/>
          <p:nvPr/>
        </p:nvSpPr>
        <p:spPr>
          <a:xfrm>
            <a:off x="5535527" y="4625236"/>
            <a:ext cx="6249538" cy="23494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17245" lvl="3">
              <a:lnSpc>
                <a:spcPct val="123000"/>
              </a:lnSpc>
              <a:buClr>
                <a:srgbClr val="0000FF"/>
              </a:buClr>
              <a:buFont typeface="Wingdings" panose="05000000000000000000" pitchFamily="2" charset="2"/>
              <a:buChar char="Ø"/>
            </a:pPr>
            <a:r>
              <a:rPr lang="zh-CN" altLang="zh-CN" sz="20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矩阵</a:t>
            </a: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中的交叉项表示某主体对某客体的存取权限集</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访问矩阵模型决定在任何域中的进程可以执行的操作</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3">
              <a:lnSpc>
                <a:spcPct val="123000"/>
              </a:lnSpc>
              <a:buClr>
                <a:srgbClr val="0000FF"/>
              </a:buClr>
              <a:buFont typeface="Wingdings" panose="05000000000000000000" pitchFamily="2" charset="2"/>
              <a:buChar char="Ø"/>
            </a:pPr>
            <a:endPar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信息流控制模型</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 name="iṥlídè"/>
          <p:cNvSpPr/>
          <p:nvPr/>
        </p:nvSpPr>
        <p:spPr>
          <a:xfrm>
            <a:off x="9575122" y="1298467"/>
            <a:ext cx="5233755" cy="5008286"/>
          </a:xfrm>
          <a:prstGeom prst="rect">
            <a:avLst/>
          </a:prstGeom>
          <a:blipFill>
            <a:blip r:embed="rId1"/>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5" name="iṡļiḓe"/>
          <p:cNvGrpSpPr/>
          <p:nvPr/>
        </p:nvGrpSpPr>
        <p:grpSpPr>
          <a:xfrm>
            <a:off x="660400" y="1298467"/>
            <a:ext cx="8682381" cy="1232698"/>
            <a:chOff x="660400" y="1787149"/>
            <a:chExt cx="8682381" cy="1232698"/>
          </a:xfrm>
        </p:grpSpPr>
        <p:sp>
          <p:nvSpPr>
            <p:cNvPr id="10" name="îṧľîḋé"/>
            <p:cNvSpPr txBox="1"/>
            <p:nvPr/>
          </p:nvSpPr>
          <p:spPr>
            <a:xfrm>
              <a:off x="1296566" y="1835355"/>
              <a:ext cx="8046215" cy="118449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sz="2400" dirty="0">
                  <a:solidFill>
                    <a:srgbClr val="FF0000"/>
                  </a:solidFill>
                </a:rPr>
                <a:t>信息流控制模型</a:t>
              </a:r>
              <a:r>
                <a:rPr lang="zh-CN" altLang="en-US" sz="2400" dirty="0"/>
                <a:t>是对访问矩阵模型的补充，用于监管信息在系统中流通的有效路径，控制信息流从一个实体沿着安全路径流向另一实体。</a:t>
              </a:r>
              <a:endParaRPr lang="zh-CN" altLang="en-US" sz="2400" dirty="0"/>
            </a:p>
          </p:txBody>
        </p:sp>
        <p:grpSp>
          <p:nvGrpSpPr>
            <p:cNvPr id="7" name="ïS1íḋé"/>
            <p:cNvGrpSpPr/>
            <p:nvPr/>
          </p:nvGrpSpPr>
          <p:grpSpPr>
            <a:xfrm>
              <a:off x="660400" y="1787149"/>
              <a:ext cx="497734" cy="497734"/>
              <a:chOff x="660400" y="1787149"/>
              <a:chExt cx="497734" cy="497734"/>
            </a:xfrm>
          </p:grpSpPr>
          <p:sp>
            <p:nvSpPr>
              <p:cNvPr id="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2" name="iŝļïḓê"/>
          <p:cNvGrpSpPr/>
          <p:nvPr/>
        </p:nvGrpSpPr>
        <p:grpSpPr>
          <a:xfrm>
            <a:off x="669925" y="2915394"/>
            <a:ext cx="8672857" cy="3034833"/>
            <a:chOff x="660400" y="2092935"/>
            <a:chExt cx="8672857" cy="3034833"/>
          </a:xfrm>
        </p:grpSpPr>
        <p:grpSp>
          <p:nvGrpSpPr>
            <p:cNvPr id="13" name="ïṧļïḓe"/>
            <p:cNvGrpSpPr/>
            <p:nvPr/>
          </p:nvGrpSpPr>
          <p:grpSpPr>
            <a:xfrm>
              <a:off x="1296566" y="2092935"/>
              <a:ext cx="8036691" cy="3034833"/>
              <a:chOff x="1296566" y="2092935"/>
              <a:chExt cx="10136277" cy="3034833"/>
            </a:xfrm>
          </p:grpSpPr>
          <p:sp>
            <p:nvSpPr>
              <p:cNvPr id="17" name="ïšļíďè"/>
              <p:cNvSpPr txBox="1"/>
              <p:nvPr/>
            </p:nvSpPr>
            <p:spPr>
              <a:xfrm>
                <a:off x="1296567" y="2092935"/>
                <a:ext cx="901171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400" dirty="0"/>
                  <a:t>Bell-La </a:t>
                </a:r>
                <a:r>
                  <a:rPr lang="en-US" altLang="zh-CN" sz="2400" dirty="0" err="1"/>
                  <a:t>Padula</a:t>
                </a:r>
                <a:r>
                  <a:rPr lang="zh-CN" altLang="en-US" sz="2400" dirty="0"/>
                  <a:t>模型：最广泛使用的信息流控制模型</a:t>
                </a:r>
                <a:endParaRPr lang="zh-CN" altLang="en-US" sz="2400" dirty="0"/>
              </a:p>
            </p:txBody>
          </p:sp>
          <p:sp>
            <p:nvSpPr>
              <p:cNvPr id="18" name="íşľíḑè"/>
              <p:cNvSpPr/>
              <p:nvPr/>
            </p:nvSpPr>
            <p:spPr bwMode="auto">
              <a:xfrm>
                <a:off x="1296566" y="2487963"/>
                <a:ext cx="10136277" cy="2639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rgbClr val="FF0000"/>
                  </a:buClr>
                  <a:buFont typeface="Wingdings" panose="05000000000000000000" pitchFamily="2" charset="2"/>
                  <a:buChar char="n"/>
                </a:pPr>
                <a:r>
                  <a:rPr lang="zh-CN" altLang="en-US" sz="2400" dirty="0"/>
                  <a:t>信息分为</a:t>
                </a:r>
                <a:r>
                  <a:rPr lang="en-US" altLang="zh-CN" sz="2400" dirty="0"/>
                  <a:t>4</a:t>
                </a:r>
                <a:r>
                  <a:rPr lang="zh-CN" altLang="en-US" sz="2400" dirty="0"/>
                  <a:t>等：</a:t>
                </a:r>
                <a:r>
                  <a:rPr lang="zh-CN" altLang="en-US" sz="2400" dirty="0">
                    <a:solidFill>
                      <a:srgbClr val="0000FF"/>
                    </a:solidFill>
                  </a:rPr>
                  <a:t>无密级、秘密级、机密级和绝密级</a:t>
                </a:r>
                <a:endParaRPr lang="zh-CN" altLang="en-US" sz="2400" dirty="0">
                  <a:solidFill>
                    <a:srgbClr val="0000FF"/>
                  </a:solidFill>
                </a:endParaRPr>
              </a:p>
              <a:p>
                <a:pPr marL="342900" lvl="1" indent="-342900">
                  <a:lnSpc>
                    <a:spcPct val="132000"/>
                  </a:lnSpc>
                  <a:buClr>
                    <a:srgbClr val="FF0000"/>
                  </a:buClr>
                  <a:buFont typeface="Wingdings" panose="05000000000000000000" pitchFamily="2" charset="2"/>
                  <a:buChar char="n"/>
                </a:pPr>
                <a:r>
                  <a:rPr lang="zh-CN" altLang="en-US" sz="2400" dirty="0"/>
                  <a:t>只要系统严格执行两项规定，就能确保信息的安全流动</a:t>
                </a:r>
                <a:endParaRPr lang="zh-CN" altLang="en-US" sz="2400" dirty="0"/>
              </a:p>
              <a:p>
                <a:pPr marL="800100" lvl="2" indent="-342900">
                  <a:lnSpc>
                    <a:spcPct val="132000"/>
                  </a:lnSpc>
                  <a:buClr>
                    <a:srgbClr val="FF0000"/>
                  </a:buClr>
                  <a:buFont typeface="Wingdings" panose="05000000000000000000" pitchFamily="2" charset="2"/>
                  <a:buChar char="Ø"/>
                </a:pPr>
                <a:r>
                  <a:rPr lang="zh-CN" altLang="en-US" sz="2400" dirty="0"/>
                  <a:t>不能上读：在密级</a:t>
                </a:r>
                <a:r>
                  <a:rPr lang="en-US" altLang="zh-CN" sz="2400" dirty="0"/>
                  <a:t>k</a:t>
                </a:r>
                <a:r>
                  <a:rPr lang="zh-CN" altLang="en-US" sz="2400" dirty="0"/>
                  <a:t>层中运行的进程，只能读相同或更低密级层中的对象</a:t>
                </a:r>
                <a:endParaRPr lang="zh-CN" altLang="en-US" sz="2400" dirty="0"/>
              </a:p>
              <a:p>
                <a:pPr marL="800100" lvl="2" indent="-342900">
                  <a:lnSpc>
                    <a:spcPct val="132000"/>
                  </a:lnSpc>
                  <a:buClr>
                    <a:srgbClr val="FF0000"/>
                  </a:buClr>
                  <a:buFont typeface="Wingdings" panose="05000000000000000000" pitchFamily="2" charset="2"/>
                  <a:buChar char="Ø"/>
                </a:pPr>
                <a:r>
                  <a:rPr lang="zh-CN" altLang="en-US" sz="2400" dirty="0"/>
                  <a:t>不能下写：在密级</a:t>
                </a:r>
                <a:r>
                  <a:rPr lang="en-US" altLang="zh-CN" sz="2400" dirty="0"/>
                  <a:t>k</a:t>
                </a:r>
                <a:r>
                  <a:rPr lang="zh-CN" altLang="en-US" sz="2400" dirty="0"/>
                  <a:t>层中运行的进程，只能写相同或更高密级层中的对象</a:t>
                </a:r>
                <a:endParaRPr lang="zh-CN" altLang="en-US" sz="2400" dirty="0"/>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12.6.2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可信计算基</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5773503" y="2735842"/>
            <a:ext cx="5795645" cy="3324225"/>
          </a:xfrm>
          <a:prstGeom prst="rect">
            <a:avLst/>
          </a:prstGeom>
        </p:spPr>
      </p:pic>
      <p:sp>
        <p:nvSpPr>
          <p:cNvPr id="4" name="内容占位符 2"/>
          <p:cNvSpPr txBox="1"/>
          <p:nvPr/>
        </p:nvSpPr>
        <p:spPr>
          <a:xfrm>
            <a:off x="1682944" y="1195146"/>
            <a:ext cx="9886204" cy="1805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可信系统的核心是</a:t>
            </a:r>
            <a:r>
              <a:rPr lang="zh-CN" altLang="zh-CN"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可信计算基</a:t>
            </a:r>
            <a:r>
              <a:rPr lang="en-US" altLang="zh-CN" sz="2400"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rPr>
              <a:t>TCB</a:t>
            </a:r>
            <a:r>
              <a:rPr lang="zh-CN"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，它包含了用于检查所有与安全问题有关的访问监视器和存放着许多与安全有关的信息的安全核心数据库等。</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0">
              <a:lnSpc>
                <a:spcPct val="132000"/>
              </a:lnSpc>
              <a:buNone/>
            </a:pP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TCB</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的</a:t>
            </a: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功能</a:t>
            </a:r>
            <a:r>
              <a:rPr lang="zh-CN" altLang="en-US" sz="2400" dirty="0" smtClean="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 name="内容占位符 2"/>
          <p:cNvSpPr txBox="1"/>
          <p:nvPr/>
        </p:nvSpPr>
        <p:spPr>
          <a:xfrm>
            <a:off x="566892" y="3000777"/>
            <a:ext cx="5048298" cy="32068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42595">
              <a:lnSpc>
                <a:spcPct val="123000"/>
              </a:lnSpc>
              <a:buClr>
                <a:srgbClr val="FF0000"/>
              </a:buClr>
              <a:buFont typeface="Wingdings" panose="05000000000000000000" pitchFamily="2" charset="2"/>
              <a:buChar char="n"/>
            </a:pPr>
            <a:r>
              <a:rPr lang="zh-CN" altLang="zh-CN" sz="20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典型</a:t>
            </a: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的TCB在硬件方面与一般计算机系统相似，只是少了一些不影响安全性的I/O设备；</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TCB中应配置OS最核心的功能，如进程创建、进程切换、内存映射、部分文件管理以及设备管理等功能；</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lvl="1" indent="-442595">
              <a:lnSpc>
                <a:spcPct val="123000"/>
              </a:lnSpc>
              <a:buClr>
                <a:srgbClr val="FF0000"/>
              </a:buClr>
              <a:buFont typeface="Wingdings" panose="05000000000000000000" pitchFamily="2" charset="2"/>
              <a:buChar char="n"/>
            </a:pPr>
            <a:r>
              <a:rPr lang="zh-CN" altLang="zh-CN" sz="20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访问</a:t>
            </a:r>
            <a:r>
              <a:rPr lang="zh-CN" altLang="zh-CN" sz="2000" dirty="0" smtClean="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监视器</a:t>
            </a:r>
            <a:r>
              <a:rPr lang="zh-CN" altLang="en-US" sz="2000" dirty="0" smtClean="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zh-CN" sz="2000" dirty="0" smtClean="0">
                <a:latin typeface="Times New Roman" panose="02020603050405020304" pitchFamily="18" charset="0"/>
                <a:ea typeface="微软雅黑" panose="020B0503020204020204" pitchFamily="34" charset="-122"/>
                <a:cs typeface="+mn-ea"/>
                <a:sym typeface="Times New Roman" panose="02020603050405020304" pitchFamily="18" charset="0"/>
              </a:rPr>
              <a:t>它</a:t>
            </a:r>
            <a:r>
              <a:rPr lang="zh-CN"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rPr>
              <a:t>要求所有与安全有关的问题都必须集中在一处进行检查。</a:t>
            </a:r>
            <a:endPar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 name="组合 5"/>
          <p:cNvGrpSpPr/>
          <p:nvPr/>
        </p:nvGrpSpPr>
        <p:grpSpPr>
          <a:xfrm>
            <a:off x="730268" y="1350036"/>
            <a:ext cx="712277" cy="418475"/>
            <a:chOff x="673100" y="2982961"/>
            <a:chExt cx="1597850" cy="938764"/>
          </a:xfrm>
        </p:grpSpPr>
        <p:sp>
          <p:nvSpPr>
            <p:cNvPr id="7"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8"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grpSp>
        <p:nvGrpSpPr>
          <p:cNvPr id="9" name="组合 8"/>
          <p:cNvGrpSpPr/>
          <p:nvPr/>
        </p:nvGrpSpPr>
        <p:grpSpPr>
          <a:xfrm>
            <a:off x="730268" y="2407520"/>
            <a:ext cx="712277" cy="418475"/>
            <a:chOff x="673100" y="2982961"/>
            <a:chExt cx="1597850" cy="938764"/>
          </a:xfrm>
        </p:grpSpPr>
        <p:sp>
          <p:nvSpPr>
            <p:cNvPr id="10" name="ïsḷîde"/>
            <p:cNvSpPr/>
            <p:nvPr/>
          </p:nvSpPr>
          <p:spPr bwMode="auto">
            <a:xfrm>
              <a:off x="673100" y="2982961"/>
              <a:ext cx="1597850" cy="938764"/>
            </a:xfrm>
            <a:prstGeom prst="hexagon">
              <a:avLst/>
            </a:prstGeom>
            <a:solidFill>
              <a:schemeClr val="accent1"/>
            </a:solidFill>
            <a:ln w="19050">
              <a:noFill/>
              <a:round/>
            </a:ln>
          </p:spPr>
          <p:txBody>
            <a:bodyPr wrap="square" lIns="91440" tIns="45720" rIns="91440" bIns="45720" anchor="ctr">
              <a:normAutofit fontScale="47500" lnSpcReduction="20000"/>
            </a:bodyPr>
            <a:lstStyle/>
            <a:p>
              <a:pPr algn="ctr"/>
              <a:endParaRPr lang="en-US" altLang="zh-CN" sz="3200" dirty="0">
                <a:solidFill>
                  <a:schemeClr val="bg1">
                    <a:lumMod val="100000"/>
                  </a:schemeClr>
                </a:solidFill>
                <a:latin typeface="Impact" panose="020B0806030902050204" pitchFamily="34" charset="0"/>
              </a:endParaRPr>
            </a:p>
          </p:txBody>
        </p:sp>
        <p:sp>
          <p:nvSpPr>
            <p:cNvPr id="11" name="iṥḻíḓê"/>
            <p:cNvSpPr/>
            <p:nvPr/>
          </p:nvSpPr>
          <p:spPr bwMode="auto">
            <a:xfrm>
              <a:off x="1212384" y="3153135"/>
              <a:ext cx="567411" cy="56635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fontScale="70000" lnSpcReduction="20000"/>
            </a:bodyPr>
            <a:lstStyle/>
            <a:p>
              <a:endParaRPr lang="zh-CN" altLang="en-US"/>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安全核心数据库</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2" name="íSľïdé"/>
          <p:cNvSpPr/>
          <p:nvPr/>
        </p:nvSpPr>
        <p:spPr>
          <a:xfrm>
            <a:off x="1864506" y="1512705"/>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3" name="ïŝļíḓê"/>
          <p:cNvSpPr/>
          <p:nvPr/>
        </p:nvSpPr>
        <p:spPr bwMode="auto">
          <a:xfrm>
            <a:off x="8368484" y="174783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4" name="îṧľîdé"/>
          <p:cNvSpPr/>
          <p:nvPr/>
        </p:nvSpPr>
        <p:spPr>
          <a:xfrm>
            <a:off x="3700753" y="1327668"/>
            <a:ext cx="4034934" cy="110644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5" name="内容占位符 2"/>
          <p:cNvSpPr txBox="1"/>
          <p:nvPr/>
        </p:nvSpPr>
        <p:spPr>
          <a:xfrm>
            <a:off x="556068" y="2144553"/>
            <a:ext cx="5162152"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smtClean="0"/>
              <a:t>在</a:t>
            </a:r>
            <a:r>
              <a:rPr lang="en-US" altLang="zh-CN" sz="2400" dirty="0" smtClean="0"/>
              <a:t>TCB</a:t>
            </a:r>
            <a:r>
              <a:rPr lang="zh-CN" altLang="en-US" sz="2400" dirty="0" smtClean="0"/>
              <a:t>中配置安全核心数据库，在数据库内存放了许多与安全有关的信息</a:t>
            </a:r>
            <a:endParaRPr lang="zh-CN" altLang="en-US" sz="2400" dirty="0" smtClean="0"/>
          </a:p>
          <a:p>
            <a:pPr marL="457200" lvl="1" indent="-457200">
              <a:lnSpc>
                <a:spcPct val="132000"/>
              </a:lnSpc>
              <a:spcBef>
                <a:spcPts val="370"/>
              </a:spcBef>
              <a:buClr>
                <a:srgbClr val="E71101"/>
              </a:buClr>
              <a:buSzPct val="100000"/>
              <a:buFont typeface="+mj-ea"/>
              <a:buAutoNum type="circleNumDbPlain"/>
              <a:defRPr/>
            </a:pPr>
            <a:r>
              <a:rPr lang="zh-CN" altLang="en-US" sz="2400" dirty="0">
                <a:solidFill>
                  <a:schemeClr val="tx1">
                    <a:lumMod val="65000"/>
                    <a:lumOff val="35000"/>
                  </a:schemeClr>
                </a:solidFill>
              </a:rPr>
              <a:t>访问控制模型，用于实现对用户访问文件的控制，其中列出了每个主体的访问权限和每个对象的保护属性；</a:t>
            </a:r>
            <a:endParaRPr lang="zh-CN" altLang="en-US" sz="2400" dirty="0">
              <a:solidFill>
                <a:schemeClr val="tx1">
                  <a:lumMod val="65000"/>
                  <a:lumOff val="35000"/>
                </a:schemeClr>
              </a:solidFill>
            </a:endParaRPr>
          </a:p>
          <a:p>
            <a:pPr marL="457200" lvl="1" indent="-457200">
              <a:lnSpc>
                <a:spcPct val="132000"/>
              </a:lnSpc>
              <a:spcBef>
                <a:spcPts val="370"/>
              </a:spcBef>
              <a:buClr>
                <a:srgbClr val="E71101"/>
              </a:buClr>
              <a:buSzPct val="100000"/>
              <a:buFont typeface="+mj-ea"/>
              <a:buAutoNum type="circleNumDbPlain"/>
              <a:defRPr/>
            </a:pPr>
            <a:r>
              <a:rPr lang="zh-CN" altLang="en-US" sz="2400" dirty="0">
                <a:solidFill>
                  <a:schemeClr val="tx1">
                    <a:lumMod val="65000"/>
                    <a:lumOff val="35000"/>
                  </a:schemeClr>
                </a:solidFill>
              </a:rPr>
              <a:t>信息流控制模型，用于控制信息流从一个实体沿着安全路经流向另一个实体</a:t>
            </a:r>
            <a:endParaRPr lang="zh-CN" altLang="en-US" sz="2400" dirty="0">
              <a:solidFill>
                <a:schemeClr val="tx1">
                  <a:lumMod val="65000"/>
                  <a:lumOff val="35000"/>
                </a:schemeClr>
              </a:solidFill>
            </a:endParaRPr>
          </a:p>
        </p:txBody>
      </p:sp>
      <p:sp>
        <p:nvSpPr>
          <p:cNvPr id="16" name="内容占位符 2"/>
          <p:cNvSpPr txBox="1"/>
          <p:nvPr/>
        </p:nvSpPr>
        <p:spPr>
          <a:xfrm>
            <a:off x="7735687" y="2434108"/>
            <a:ext cx="4062082" cy="42371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访问监视器</a:t>
            </a:r>
            <a:endParaRPr lang="zh-CN" altLang="en-US" sz="2400" dirty="0"/>
          </a:p>
          <a:p>
            <a:pPr marL="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它基于主体和被访问对象的安全参数来控制主体对该对象的访问，进而实现有效的安全</a:t>
            </a:r>
            <a:r>
              <a:rPr lang="zh-CN" altLang="en-US" sz="2400" dirty="0" smtClean="0">
                <a:solidFill>
                  <a:schemeClr val="tx1">
                    <a:lumMod val="65000"/>
                    <a:lumOff val="35000"/>
                  </a:schemeClr>
                </a:solidFill>
              </a:rPr>
              <a:t>接入控制</a:t>
            </a:r>
            <a:endParaRPr lang="en-US" altLang="zh-CN" sz="2400" dirty="0" smtClean="0">
              <a:solidFill>
                <a:schemeClr val="tx1">
                  <a:lumMod val="65000"/>
                  <a:lumOff val="35000"/>
                </a:schemeClr>
              </a:solidFill>
            </a:endParaRPr>
          </a:p>
          <a:p>
            <a:pPr marL="114300" lvl="1" indent="-457200">
              <a:lnSpc>
                <a:spcPct val="132000"/>
              </a:lnSpc>
              <a:spcBef>
                <a:spcPts val="370"/>
              </a:spcBef>
              <a:buClr>
                <a:srgbClr val="E71101"/>
              </a:buClr>
              <a:buSzPct val="100000"/>
              <a:buFont typeface="+mj-ea"/>
              <a:buAutoNum type="circleNumDbPlain"/>
              <a:defRPr/>
            </a:pPr>
            <a:r>
              <a:rPr lang="zh-CN" altLang="en-US" sz="2400" dirty="0">
                <a:solidFill>
                  <a:schemeClr val="tx1">
                    <a:lumMod val="65000"/>
                    <a:lumOff val="35000"/>
                  </a:schemeClr>
                </a:solidFill>
              </a:rPr>
              <a:t>完全仲裁</a:t>
            </a:r>
            <a:endParaRPr lang="zh-CN" altLang="en-US" sz="2400" dirty="0">
              <a:solidFill>
                <a:schemeClr val="tx1">
                  <a:lumMod val="65000"/>
                  <a:lumOff val="35000"/>
                </a:schemeClr>
              </a:solidFill>
            </a:endParaRPr>
          </a:p>
          <a:p>
            <a:pPr marL="114300" lvl="1" indent="-457200">
              <a:lnSpc>
                <a:spcPct val="132000"/>
              </a:lnSpc>
              <a:spcBef>
                <a:spcPts val="370"/>
              </a:spcBef>
              <a:buClr>
                <a:srgbClr val="E71101"/>
              </a:buClr>
              <a:buSzPct val="100000"/>
              <a:buFont typeface="+mj-ea"/>
              <a:buAutoNum type="circleNumDbPlain"/>
              <a:defRPr/>
            </a:pPr>
            <a:r>
              <a:rPr lang="zh-CN" altLang="en-US" sz="2400" dirty="0" smtClean="0">
                <a:solidFill>
                  <a:schemeClr val="tx1">
                    <a:lumMod val="65000"/>
                    <a:lumOff val="35000"/>
                  </a:schemeClr>
                </a:solidFill>
              </a:rPr>
              <a:t>隔离</a:t>
            </a:r>
            <a:endParaRPr lang="zh-CN" altLang="en-US" sz="2400" dirty="0" smtClean="0">
              <a:solidFill>
                <a:schemeClr val="tx1">
                  <a:lumMod val="65000"/>
                  <a:lumOff val="35000"/>
                </a:schemeClr>
              </a:solidFill>
            </a:endParaRPr>
          </a:p>
        </p:txBody>
      </p:sp>
      <p:sp>
        <p:nvSpPr>
          <p:cNvPr id="17" name="内容占位符 2"/>
          <p:cNvSpPr txBox="1"/>
          <p:nvPr/>
        </p:nvSpPr>
        <p:spPr>
          <a:xfrm>
            <a:off x="9364841" y="5473522"/>
            <a:ext cx="2187509" cy="55379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lvl="1" indent="-457200">
              <a:lnSpc>
                <a:spcPct val="132000"/>
              </a:lnSpc>
              <a:spcBef>
                <a:spcPts val="370"/>
              </a:spcBef>
              <a:buClr>
                <a:srgbClr val="E71101"/>
              </a:buClr>
              <a:buSzPct val="100000"/>
              <a:buFont typeface="+mj-ea"/>
              <a:buAutoNum type="circleNumDbPlain" startAt="3"/>
              <a:defRPr/>
            </a:pPr>
            <a:r>
              <a:rPr lang="zh-CN" altLang="en-US" sz="2400" dirty="0" smtClean="0">
                <a:solidFill>
                  <a:schemeClr val="tx1">
                    <a:lumMod val="65000"/>
                    <a:lumOff val="35000"/>
                  </a:schemeClr>
                </a:solidFill>
              </a:rPr>
              <a:t>可证实性</a:t>
            </a:r>
            <a:endParaRPr lang="zh-CN" altLang="en-US" sz="2400" dirty="0" smtClean="0">
              <a:solidFill>
                <a:schemeClr val="tx1">
                  <a:lumMod val="65000"/>
                  <a:lumOff val="35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12.6.3 </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设计安全操作系统的原则</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4" name="22440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32660" y="1763071"/>
            <a:ext cx="10986239" cy="3733544"/>
            <a:chOff x="527899" y="1557009"/>
            <a:chExt cx="10986239" cy="3733544"/>
          </a:xfrm>
        </p:grpSpPr>
        <p:sp>
          <p:nvSpPr>
            <p:cNvPr id="5" name="íśḷíḋé"/>
            <p:cNvSpPr/>
            <p:nvPr/>
          </p:nvSpPr>
          <p:spPr bwMode="auto">
            <a:xfrm>
              <a:off x="4801181" y="2133141"/>
              <a:ext cx="2589100" cy="2588226"/>
            </a:xfrm>
            <a:prstGeom prst="ellipse">
              <a:avLst/>
            </a:prstGeom>
            <a:blipFill>
              <a:blip r:embed="rId2"/>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
          <p:nvSpPr>
            <p:cNvPr id="6" name="ïSlïďè"/>
            <p:cNvSpPr/>
            <p:nvPr/>
          </p:nvSpPr>
          <p:spPr bwMode="auto">
            <a:xfrm>
              <a:off x="4955845"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1"/>
            </a:solidFill>
            <a:ln>
              <a:noFill/>
            </a:ln>
          </p:spPr>
          <p:txBody>
            <a:bodyPr vert="horz" wrap="square" lIns="91440" tIns="45720" rIns="91440" bIns="45720" numCol="1" anchor="t" anchorCtr="0" compatLnSpc="1">
              <a:normAutofit lnSpcReduction="10000"/>
            </a:bodyPr>
            <a:lstStyle/>
            <a:p>
              <a:endParaRPr lang="en-US"/>
            </a:p>
          </p:txBody>
        </p:sp>
        <p:sp>
          <p:nvSpPr>
            <p:cNvPr id="7" name="îśľïḓê"/>
            <p:cNvSpPr/>
            <p:nvPr/>
          </p:nvSpPr>
          <p:spPr bwMode="auto">
            <a:xfrm>
              <a:off x="4523309"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6"/>
            </a:solidFill>
            <a:ln>
              <a:noFill/>
            </a:ln>
          </p:spPr>
          <p:txBody>
            <a:bodyPr vert="horz" wrap="square" lIns="91440" tIns="45720" rIns="91440" bIns="45720" numCol="1" anchor="t" anchorCtr="0" compatLnSpc="1">
              <a:normAutofit fontScale="32500" lnSpcReduction="20000"/>
            </a:bodyPr>
            <a:lstStyle/>
            <a:p>
              <a:endParaRPr lang="en-US"/>
            </a:p>
          </p:txBody>
        </p:sp>
        <p:sp>
          <p:nvSpPr>
            <p:cNvPr id="8" name="ïSlíďé"/>
            <p:cNvSpPr/>
            <p:nvPr/>
          </p:nvSpPr>
          <p:spPr bwMode="auto">
            <a:xfrm>
              <a:off x="4225048" y="1557009"/>
              <a:ext cx="846430" cy="846430"/>
            </a:xfrm>
            <a:prstGeom prst="ellipse">
              <a:avLst/>
            </a:prstGeom>
            <a:solidFill>
              <a:schemeClr val="accent1"/>
            </a:solidFill>
            <a:ln>
              <a:noFill/>
            </a:ln>
          </p:spPr>
          <p:txBody>
            <a:bodyPr vert="horz" wrap="square" lIns="91440" tIns="45720" rIns="91440" bIns="45720" numCol="1" anchor="t" anchorCtr="0" compatLnSpc="1">
              <a:normAutofit/>
            </a:bodyPr>
            <a:lstStyle/>
            <a:p>
              <a:endParaRPr lang="en-US"/>
            </a:p>
          </p:txBody>
        </p:sp>
        <p:sp>
          <p:nvSpPr>
            <p:cNvPr id="9" name="îSḷîḑê"/>
            <p:cNvSpPr/>
            <p:nvPr/>
          </p:nvSpPr>
          <p:spPr bwMode="auto">
            <a:xfrm>
              <a:off x="3622073" y="2998796"/>
              <a:ext cx="847397" cy="846430"/>
            </a:xfrm>
            <a:prstGeom prst="ellipse">
              <a:avLst/>
            </a:prstGeom>
            <a:solidFill>
              <a:schemeClr val="accent6"/>
            </a:solidFill>
            <a:ln>
              <a:noFill/>
            </a:ln>
          </p:spPr>
          <p:txBody>
            <a:bodyPr vert="horz" wrap="square" lIns="91440" tIns="45720" rIns="91440" bIns="45720" numCol="1" anchor="t" anchorCtr="0" compatLnSpc="1">
              <a:normAutofit/>
            </a:bodyPr>
            <a:lstStyle/>
            <a:p>
              <a:endParaRPr lang="en-US"/>
            </a:p>
          </p:txBody>
        </p:sp>
        <p:sp>
          <p:nvSpPr>
            <p:cNvPr id="10" name="îṣlîḑê"/>
            <p:cNvSpPr/>
            <p:nvPr/>
          </p:nvSpPr>
          <p:spPr bwMode="auto">
            <a:xfrm>
              <a:off x="4945359"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5"/>
            </a:solidFill>
            <a:ln>
              <a:noFill/>
            </a:ln>
          </p:spPr>
          <p:txBody>
            <a:bodyPr vert="horz" wrap="square" lIns="91440" tIns="45720" rIns="91440" bIns="45720" numCol="1" anchor="t" anchorCtr="0" compatLnSpc="1">
              <a:normAutofit lnSpcReduction="10000"/>
            </a:bodyPr>
            <a:lstStyle/>
            <a:p>
              <a:endParaRPr lang="en-US"/>
            </a:p>
          </p:txBody>
        </p:sp>
        <p:sp>
          <p:nvSpPr>
            <p:cNvPr id="11" name="ï$ľîḓé"/>
            <p:cNvSpPr/>
            <p:nvPr/>
          </p:nvSpPr>
          <p:spPr bwMode="auto">
            <a:xfrm flipH="1">
              <a:off x="6892749" y="2290426"/>
              <a:ext cx="343408" cy="342533"/>
            </a:xfrm>
            <a:custGeom>
              <a:avLst/>
              <a:gdLst>
                <a:gd name="T0" fmla="*/ 777 w 863"/>
                <a:gd name="T1" fmla="*/ 460 h 861"/>
                <a:gd name="T2" fmla="*/ 505 w 863"/>
                <a:gd name="T3" fmla="*/ 427 h 861"/>
                <a:gd name="T4" fmla="*/ 75 w 863"/>
                <a:gd name="T5" fmla="*/ 0 h 861"/>
                <a:gd name="T6" fmla="*/ 0 w 863"/>
                <a:gd name="T7" fmla="*/ 75 h 861"/>
                <a:gd name="T8" fmla="*/ 430 w 863"/>
                <a:gd name="T9" fmla="*/ 503 h 861"/>
                <a:gd name="T10" fmla="*/ 463 w 863"/>
                <a:gd name="T11" fmla="*/ 774 h 861"/>
                <a:gd name="T12" fmla="*/ 777 w 863"/>
                <a:gd name="T13" fmla="*/ 774 h 861"/>
                <a:gd name="T14" fmla="*/ 777 w 863"/>
                <a:gd name="T15" fmla="*/ 460 h 8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3" h="861">
                  <a:moveTo>
                    <a:pt x="777" y="460"/>
                  </a:moveTo>
                  <a:cubicBezTo>
                    <a:pt x="703" y="386"/>
                    <a:pt x="590" y="376"/>
                    <a:pt x="505" y="427"/>
                  </a:cubicBezTo>
                  <a:cubicBezTo>
                    <a:pt x="75" y="0"/>
                    <a:pt x="75" y="0"/>
                    <a:pt x="75" y="0"/>
                  </a:cubicBezTo>
                  <a:cubicBezTo>
                    <a:pt x="0" y="75"/>
                    <a:pt x="0" y="75"/>
                    <a:pt x="0" y="75"/>
                  </a:cubicBezTo>
                  <a:cubicBezTo>
                    <a:pt x="430" y="503"/>
                    <a:pt x="430" y="503"/>
                    <a:pt x="430" y="503"/>
                  </a:cubicBezTo>
                  <a:cubicBezTo>
                    <a:pt x="378" y="588"/>
                    <a:pt x="389" y="700"/>
                    <a:pt x="463" y="774"/>
                  </a:cubicBezTo>
                  <a:cubicBezTo>
                    <a:pt x="549" y="861"/>
                    <a:pt x="690" y="861"/>
                    <a:pt x="777" y="774"/>
                  </a:cubicBezTo>
                  <a:cubicBezTo>
                    <a:pt x="863" y="687"/>
                    <a:pt x="863" y="547"/>
                    <a:pt x="777" y="460"/>
                  </a:cubicBezTo>
                  <a:close/>
                </a:path>
              </a:pathLst>
            </a:custGeom>
            <a:solidFill>
              <a:schemeClr val="accent2"/>
            </a:solidFill>
            <a:ln>
              <a:noFill/>
            </a:ln>
          </p:spPr>
          <p:txBody>
            <a:bodyPr vert="horz" wrap="square" lIns="91440" tIns="45720" rIns="91440" bIns="45720" numCol="1" anchor="t" anchorCtr="0" compatLnSpc="1">
              <a:normAutofit lnSpcReduction="10000"/>
            </a:bodyPr>
            <a:lstStyle/>
            <a:p>
              <a:endParaRPr lang="en-US"/>
            </a:p>
          </p:txBody>
        </p:sp>
        <p:sp>
          <p:nvSpPr>
            <p:cNvPr id="12" name="isḷiḋé"/>
            <p:cNvSpPr/>
            <p:nvPr/>
          </p:nvSpPr>
          <p:spPr bwMode="auto">
            <a:xfrm flipH="1">
              <a:off x="7274604" y="3361717"/>
              <a:ext cx="394089" cy="176509"/>
            </a:xfrm>
            <a:custGeom>
              <a:avLst/>
              <a:gdLst>
                <a:gd name="T0" fmla="*/ 770 w 992"/>
                <a:gd name="T1" fmla="*/ 0 h 444"/>
                <a:gd name="T2" fmla="*/ 555 w 992"/>
                <a:gd name="T3" fmla="*/ 169 h 444"/>
                <a:gd name="T4" fmla="*/ 0 w 992"/>
                <a:gd name="T5" fmla="*/ 169 h 444"/>
                <a:gd name="T6" fmla="*/ 0 w 992"/>
                <a:gd name="T7" fmla="*/ 275 h 444"/>
                <a:gd name="T8" fmla="*/ 555 w 992"/>
                <a:gd name="T9" fmla="*/ 275 h 444"/>
                <a:gd name="T10" fmla="*/ 770 w 992"/>
                <a:gd name="T11" fmla="*/ 444 h 444"/>
                <a:gd name="T12" fmla="*/ 992 w 992"/>
                <a:gd name="T13" fmla="*/ 222 h 444"/>
                <a:gd name="T14" fmla="*/ 770 w 992"/>
                <a:gd name="T15" fmla="*/ 0 h 4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44">
                  <a:moveTo>
                    <a:pt x="770" y="0"/>
                  </a:moveTo>
                  <a:cubicBezTo>
                    <a:pt x="666" y="0"/>
                    <a:pt x="578" y="72"/>
                    <a:pt x="555" y="169"/>
                  </a:cubicBezTo>
                  <a:cubicBezTo>
                    <a:pt x="0" y="169"/>
                    <a:pt x="0" y="169"/>
                    <a:pt x="0" y="169"/>
                  </a:cubicBezTo>
                  <a:cubicBezTo>
                    <a:pt x="0" y="275"/>
                    <a:pt x="0" y="275"/>
                    <a:pt x="0" y="275"/>
                  </a:cubicBezTo>
                  <a:cubicBezTo>
                    <a:pt x="555" y="275"/>
                    <a:pt x="555" y="275"/>
                    <a:pt x="555" y="275"/>
                  </a:cubicBezTo>
                  <a:cubicBezTo>
                    <a:pt x="578" y="372"/>
                    <a:pt x="666" y="444"/>
                    <a:pt x="770" y="444"/>
                  </a:cubicBezTo>
                  <a:cubicBezTo>
                    <a:pt x="892" y="444"/>
                    <a:pt x="992" y="344"/>
                    <a:pt x="992" y="222"/>
                  </a:cubicBezTo>
                  <a:cubicBezTo>
                    <a:pt x="992" y="99"/>
                    <a:pt x="892" y="0"/>
                    <a:pt x="770" y="0"/>
                  </a:cubicBezTo>
                  <a:close/>
                </a:path>
              </a:pathLst>
            </a:custGeom>
            <a:solidFill>
              <a:schemeClr val="accent3"/>
            </a:solidFill>
            <a:ln>
              <a:noFill/>
            </a:ln>
          </p:spPr>
          <p:txBody>
            <a:bodyPr vert="horz" wrap="square" lIns="91440" tIns="45720" rIns="91440" bIns="45720" numCol="1" anchor="t" anchorCtr="0" compatLnSpc="1">
              <a:normAutofit fontScale="32500" lnSpcReduction="20000"/>
            </a:bodyPr>
            <a:lstStyle/>
            <a:p>
              <a:endParaRPr lang="en-US"/>
            </a:p>
          </p:txBody>
        </p:sp>
        <p:sp>
          <p:nvSpPr>
            <p:cNvPr id="13" name="îśḻiďé"/>
            <p:cNvSpPr/>
            <p:nvPr/>
          </p:nvSpPr>
          <p:spPr bwMode="auto">
            <a:xfrm>
              <a:off x="7109163" y="1557009"/>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4" name="išľiďe"/>
            <p:cNvSpPr/>
            <p:nvPr/>
          </p:nvSpPr>
          <p:spPr bwMode="auto">
            <a:xfrm>
              <a:off x="7712046" y="2998796"/>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5" name="ïṡľíḍè"/>
            <p:cNvSpPr/>
            <p:nvPr/>
          </p:nvSpPr>
          <p:spPr bwMode="auto">
            <a:xfrm flipH="1">
              <a:off x="6894497" y="4227664"/>
              <a:ext cx="352146" cy="352146"/>
            </a:xfrm>
            <a:custGeom>
              <a:avLst/>
              <a:gdLst>
                <a:gd name="T0" fmla="*/ 797 w 884"/>
                <a:gd name="T1" fmla="*/ 87 h 886"/>
                <a:gd name="T2" fmla="*/ 483 w 884"/>
                <a:gd name="T3" fmla="*/ 87 h 886"/>
                <a:gd name="T4" fmla="*/ 450 w 884"/>
                <a:gd name="T5" fmla="*/ 358 h 886"/>
                <a:gd name="T6" fmla="*/ 0 w 884"/>
                <a:gd name="T7" fmla="*/ 811 h 886"/>
                <a:gd name="T8" fmla="*/ 75 w 884"/>
                <a:gd name="T9" fmla="*/ 886 h 886"/>
                <a:gd name="T10" fmla="*/ 525 w 884"/>
                <a:gd name="T11" fmla="*/ 434 h 886"/>
                <a:gd name="T12" fmla="*/ 797 w 884"/>
                <a:gd name="T13" fmla="*/ 401 h 886"/>
                <a:gd name="T14" fmla="*/ 797 w 884"/>
                <a:gd name="T15" fmla="*/ 87 h 8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4" h="886">
                  <a:moveTo>
                    <a:pt x="797" y="87"/>
                  </a:moveTo>
                  <a:cubicBezTo>
                    <a:pt x="710" y="0"/>
                    <a:pt x="570" y="0"/>
                    <a:pt x="483" y="87"/>
                  </a:cubicBezTo>
                  <a:cubicBezTo>
                    <a:pt x="409" y="161"/>
                    <a:pt x="399" y="273"/>
                    <a:pt x="450" y="358"/>
                  </a:cubicBezTo>
                  <a:cubicBezTo>
                    <a:pt x="0" y="811"/>
                    <a:pt x="0" y="811"/>
                    <a:pt x="0" y="811"/>
                  </a:cubicBezTo>
                  <a:cubicBezTo>
                    <a:pt x="75" y="886"/>
                    <a:pt x="75" y="886"/>
                    <a:pt x="75" y="886"/>
                  </a:cubicBezTo>
                  <a:cubicBezTo>
                    <a:pt x="525" y="434"/>
                    <a:pt x="525" y="434"/>
                    <a:pt x="525" y="434"/>
                  </a:cubicBezTo>
                  <a:cubicBezTo>
                    <a:pt x="611" y="485"/>
                    <a:pt x="723" y="475"/>
                    <a:pt x="797" y="401"/>
                  </a:cubicBezTo>
                  <a:cubicBezTo>
                    <a:pt x="884" y="314"/>
                    <a:pt x="884" y="174"/>
                    <a:pt x="797" y="87"/>
                  </a:cubicBezTo>
                  <a:close/>
                </a:path>
              </a:pathLst>
            </a:custGeom>
            <a:solidFill>
              <a:schemeClr val="accent4"/>
            </a:solidFill>
            <a:ln>
              <a:noFill/>
            </a:ln>
          </p:spPr>
          <p:txBody>
            <a:bodyPr vert="horz" wrap="square" lIns="91440" tIns="45720" rIns="91440" bIns="45720" numCol="1" anchor="t" anchorCtr="0" compatLnSpc="1">
              <a:normAutofit lnSpcReduction="10000"/>
            </a:bodyPr>
            <a:lstStyle/>
            <a:p>
              <a:endParaRPr lang="en-US"/>
            </a:p>
          </p:txBody>
        </p:sp>
        <p:sp>
          <p:nvSpPr>
            <p:cNvPr id="16" name="isḷídé"/>
            <p:cNvSpPr/>
            <p:nvPr/>
          </p:nvSpPr>
          <p:spPr bwMode="auto">
            <a:xfrm>
              <a:off x="4220680" y="4443157"/>
              <a:ext cx="846430" cy="847396"/>
            </a:xfrm>
            <a:prstGeom prst="ellipse">
              <a:avLst/>
            </a:prstGeom>
            <a:solidFill>
              <a:schemeClr val="accent5"/>
            </a:solidFill>
            <a:ln>
              <a:noFill/>
            </a:ln>
          </p:spPr>
          <p:txBody>
            <a:bodyPr vert="horz" wrap="square" lIns="91440" tIns="45720" rIns="91440" bIns="45720" numCol="1" anchor="t" anchorCtr="0" compatLnSpc="1">
              <a:normAutofit/>
            </a:bodyPr>
            <a:lstStyle/>
            <a:p>
              <a:endParaRPr lang="en-US"/>
            </a:p>
          </p:txBody>
        </p:sp>
        <p:sp>
          <p:nvSpPr>
            <p:cNvPr id="17" name="íśľîḋé"/>
            <p:cNvSpPr/>
            <p:nvPr/>
          </p:nvSpPr>
          <p:spPr bwMode="auto">
            <a:xfrm>
              <a:off x="7115280" y="4443157"/>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18" name="ïṡḷidè"/>
            <p:cNvSpPr/>
            <p:nvPr/>
          </p:nvSpPr>
          <p:spPr bwMode="auto">
            <a:xfrm>
              <a:off x="7963389" y="3249916"/>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9" name="iṡļîḍé"/>
            <p:cNvSpPr/>
            <p:nvPr/>
          </p:nvSpPr>
          <p:spPr bwMode="auto">
            <a:xfrm>
              <a:off x="7366140" y="4694761"/>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1" name="îṣľiḓè"/>
            <p:cNvSpPr/>
            <p:nvPr/>
          </p:nvSpPr>
          <p:spPr bwMode="auto">
            <a:xfrm>
              <a:off x="4471521" y="1860106"/>
              <a:ext cx="353485" cy="240234"/>
            </a:xfrm>
            <a:custGeom>
              <a:avLst/>
              <a:gdLst>
                <a:gd name="connsiteX0" fmla="*/ 437011 w 604816"/>
                <a:gd name="connsiteY0" fmla="*/ 83550 h 411044"/>
                <a:gd name="connsiteX1" fmla="*/ 604816 w 604816"/>
                <a:gd name="connsiteY1" fmla="*/ 214450 h 411044"/>
                <a:gd name="connsiteX2" fmla="*/ 539177 w 604816"/>
                <a:gd name="connsiteY2" fmla="*/ 317799 h 411044"/>
                <a:gd name="connsiteX3" fmla="*/ 523523 w 604816"/>
                <a:gd name="connsiteY3" fmla="*/ 340690 h 411044"/>
                <a:gd name="connsiteX4" fmla="*/ 528878 w 604816"/>
                <a:gd name="connsiteY4" fmla="*/ 400177 h 411044"/>
                <a:gd name="connsiteX5" fmla="*/ 462004 w 604816"/>
                <a:gd name="connsiteY5" fmla="*/ 353300 h 411044"/>
                <a:gd name="connsiteX6" fmla="*/ 440033 w 604816"/>
                <a:gd name="connsiteY6" fmla="*/ 345213 h 411044"/>
                <a:gd name="connsiteX7" fmla="*/ 437011 w 604816"/>
                <a:gd name="connsiteY7" fmla="*/ 345350 h 411044"/>
                <a:gd name="connsiteX8" fmla="*/ 338279 w 604816"/>
                <a:gd name="connsiteY8" fmla="*/ 319992 h 411044"/>
                <a:gd name="connsiteX9" fmla="*/ 269207 w 604816"/>
                <a:gd name="connsiteY9" fmla="*/ 214450 h 411044"/>
                <a:gd name="connsiteX10" fmla="*/ 272091 w 604816"/>
                <a:gd name="connsiteY10" fmla="*/ 190189 h 411044"/>
                <a:gd name="connsiteX11" fmla="*/ 280467 w 604816"/>
                <a:gd name="connsiteY11" fmla="*/ 167299 h 411044"/>
                <a:gd name="connsiteX12" fmla="*/ 342948 w 604816"/>
                <a:gd name="connsiteY12" fmla="*/ 106166 h 411044"/>
                <a:gd name="connsiteX13" fmla="*/ 355581 w 604816"/>
                <a:gd name="connsiteY13" fmla="*/ 100135 h 411044"/>
                <a:gd name="connsiteX14" fmla="*/ 358602 w 604816"/>
                <a:gd name="connsiteY14" fmla="*/ 98765 h 411044"/>
                <a:gd name="connsiteX15" fmla="*/ 417375 w 604816"/>
                <a:gd name="connsiteY15" fmla="*/ 84509 h 411044"/>
                <a:gd name="connsiteX16" fmla="*/ 437011 w 604816"/>
                <a:gd name="connsiteY16" fmla="*/ 83550 h 411044"/>
                <a:gd name="connsiteX17" fmla="*/ 213353 w 604816"/>
                <a:gd name="connsiteY17" fmla="*/ 0 h 411044"/>
                <a:gd name="connsiteX18" fmla="*/ 340760 w 604816"/>
                <a:gd name="connsiteY18" fmla="*/ 33580 h 411044"/>
                <a:gd name="connsiteX19" fmla="*/ 331973 w 604816"/>
                <a:gd name="connsiteY19" fmla="*/ 37143 h 411044"/>
                <a:gd name="connsiteX20" fmla="*/ 327031 w 604816"/>
                <a:gd name="connsiteY20" fmla="*/ 39336 h 411044"/>
                <a:gd name="connsiteX21" fmla="*/ 310418 w 604816"/>
                <a:gd name="connsiteY21" fmla="*/ 47423 h 411044"/>
                <a:gd name="connsiteX22" fmla="*/ 306849 w 604816"/>
                <a:gd name="connsiteY22" fmla="*/ 49479 h 411044"/>
                <a:gd name="connsiteX23" fmla="*/ 294630 w 604816"/>
                <a:gd name="connsiteY23" fmla="*/ 56743 h 411044"/>
                <a:gd name="connsiteX24" fmla="*/ 289413 w 604816"/>
                <a:gd name="connsiteY24" fmla="*/ 60307 h 411044"/>
                <a:gd name="connsiteX25" fmla="*/ 279528 w 604816"/>
                <a:gd name="connsiteY25" fmla="*/ 67297 h 411044"/>
                <a:gd name="connsiteX26" fmla="*/ 274585 w 604816"/>
                <a:gd name="connsiteY26" fmla="*/ 71134 h 411044"/>
                <a:gd name="connsiteX27" fmla="*/ 264425 w 604816"/>
                <a:gd name="connsiteY27" fmla="*/ 79906 h 411044"/>
                <a:gd name="connsiteX28" fmla="*/ 261130 w 604816"/>
                <a:gd name="connsiteY28" fmla="*/ 82784 h 411044"/>
                <a:gd name="connsiteX29" fmla="*/ 249186 w 604816"/>
                <a:gd name="connsiteY29" fmla="*/ 95120 h 411044"/>
                <a:gd name="connsiteX30" fmla="*/ 246165 w 604816"/>
                <a:gd name="connsiteY30" fmla="*/ 98683 h 411044"/>
                <a:gd name="connsiteX31" fmla="*/ 238203 w 604816"/>
                <a:gd name="connsiteY31" fmla="*/ 108552 h 411044"/>
                <a:gd name="connsiteX32" fmla="*/ 234770 w 604816"/>
                <a:gd name="connsiteY32" fmla="*/ 113349 h 411044"/>
                <a:gd name="connsiteX33" fmla="*/ 228317 w 604816"/>
                <a:gd name="connsiteY33" fmla="*/ 123080 h 411044"/>
                <a:gd name="connsiteX34" fmla="*/ 225434 w 604816"/>
                <a:gd name="connsiteY34" fmla="*/ 127877 h 411044"/>
                <a:gd name="connsiteX35" fmla="*/ 218844 w 604816"/>
                <a:gd name="connsiteY35" fmla="*/ 140487 h 411044"/>
                <a:gd name="connsiteX36" fmla="*/ 217609 w 604816"/>
                <a:gd name="connsiteY36" fmla="*/ 142954 h 411044"/>
                <a:gd name="connsiteX37" fmla="*/ 211430 w 604816"/>
                <a:gd name="connsiteY37" fmla="*/ 158442 h 411044"/>
                <a:gd name="connsiteX38" fmla="*/ 209920 w 604816"/>
                <a:gd name="connsiteY38" fmla="*/ 163102 h 411044"/>
                <a:gd name="connsiteX39" fmla="*/ 206763 w 604816"/>
                <a:gd name="connsiteY39" fmla="*/ 174752 h 411044"/>
                <a:gd name="connsiteX40" fmla="*/ 205527 w 604816"/>
                <a:gd name="connsiteY40" fmla="*/ 180371 h 411044"/>
                <a:gd name="connsiteX41" fmla="*/ 203467 w 604816"/>
                <a:gd name="connsiteY41" fmla="*/ 192159 h 411044"/>
                <a:gd name="connsiteX42" fmla="*/ 202781 w 604816"/>
                <a:gd name="connsiteY42" fmla="*/ 197367 h 411044"/>
                <a:gd name="connsiteX43" fmla="*/ 201820 w 604816"/>
                <a:gd name="connsiteY43" fmla="*/ 214499 h 411044"/>
                <a:gd name="connsiteX44" fmla="*/ 203467 w 604816"/>
                <a:gd name="connsiteY44" fmla="*/ 236155 h 411044"/>
                <a:gd name="connsiteX45" fmla="*/ 204154 w 604816"/>
                <a:gd name="connsiteY45" fmla="*/ 241637 h 411044"/>
                <a:gd name="connsiteX46" fmla="*/ 208822 w 604816"/>
                <a:gd name="connsiteY46" fmla="*/ 262608 h 411044"/>
                <a:gd name="connsiteX47" fmla="*/ 208959 w 604816"/>
                <a:gd name="connsiteY47" fmla="*/ 263019 h 411044"/>
                <a:gd name="connsiteX48" fmla="*/ 216373 w 604816"/>
                <a:gd name="connsiteY48" fmla="*/ 282893 h 411044"/>
                <a:gd name="connsiteX49" fmla="*/ 218707 w 604816"/>
                <a:gd name="connsiteY49" fmla="*/ 287827 h 411044"/>
                <a:gd name="connsiteX50" fmla="*/ 229004 w 604816"/>
                <a:gd name="connsiteY50" fmla="*/ 307152 h 411044"/>
                <a:gd name="connsiteX51" fmla="*/ 229416 w 604816"/>
                <a:gd name="connsiteY51" fmla="*/ 307700 h 411044"/>
                <a:gd name="connsiteX52" fmla="*/ 242321 w 604816"/>
                <a:gd name="connsiteY52" fmla="*/ 325381 h 411044"/>
                <a:gd name="connsiteX53" fmla="*/ 245616 w 604816"/>
                <a:gd name="connsiteY53" fmla="*/ 329630 h 411044"/>
                <a:gd name="connsiteX54" fmla="*/ 249186 w 604816"/>
                <a:gd name="connsiteY54" fmla="*/ 333742 h 411044"/>
                <a:gd name="connsiteX55" fmla="*/ 213490 w 604816"/>
                <a:gd name="connsiteY55" fmla="*/ 336209 h 411044"/>
                <a:gd name="connsiteX56" fmla="*/ 213353 w 604816"/>
                <a:gd name="connsiteY56" fmla="*/ 336209 h 411044"/>
                <a:gd name="connsiteX57" fmla="*/ 187679 w 604816"/>
                <a:gd name="connsiteY57" fmla="*/ 344159 h 411044"/>
                <a:gd name="connsiteX58" fmla="*/ 87318 w 604816"/>
                <a:gd name="connsiteY58" fmla="*/ 411044 h 411044"/>
                <a:gd name="connsiteX59" fmla="*/ 99674 w 604816"/>
                <a:gd name="connsiteY59" fmla="*/ 324148 h 411044"/>
                <a:gd name="connsiteX60" fmla="*/ 84023 w 604816"/>
                <a:gd name="connsiteY60" fmla="*/ 301259 h 411044"/>
                <a:gd name="connsiteX61" fmla="*/ 0 w 604816"/>
                <a:gd name="connsiteY61" fmla="*/ 168036 h 411044"/>
                <a:gd name="connsiteX62" fmla="*/ 213353 w 604816"/>
                <a:gd name="connsiteY62" fmla="*/ 0 h 411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4816" h="411044">
                  <a:moveTo>
                    <a:pt x="437011" y="83550"/>
                  </a:moveTo>
                  <a:cubicBezTo>
                    <a:pt x="529565" y="83550"/>
                    <a:pt x="604816" y="142215"/>
                    <a:pt x="604816" y="214450"/>
                  </a:cubicBezTo>
                  <a:cubicBezTo>
                    <a:pt x="604816" y="254885"/>
                    <a:pt x="580922" y="292579"/>
                    <a:pt x="539177" y="317799"/>
                  </a:cubicBezTo>
                  <a:cubicBezTo>
                    <a:pt x="530938" y="322871"/>
                    <a:pt x="525308" y="331095"/>
                    <a:pt x="523523" y="340690"/>
                  </a:cubicBezTo>
                  <a:cubicBezTo>
                    <a:pt x="519953" y="360564"/>
                    <a:pt x="522974" y="381125"/>
                    <a:pt x="528878" y="400177"/>
                  </a:cubicBezTo>
                  <a:cubicBezTo>
                    <a:pt x="505122" y="387156"/>
                    <a:pt x="481366" y="370022"/>
                    <a:pt x="462004" y="353300"/>
                  </a:cubicBezTo>
                  <a:cubicBezTo>
                    <a:pt x="455824" y="348091"/>
                    <a:pt x="448134" y="345213"/>
                    <a:pt x="440033" y="345213"/>
                  </a:cubicBezTo>
                  <a:cubicBezTo>
                    <a:pt x="438934" y="345213"/>
                    <a:pt x="437835" y="345350"/>
                    <a:pt x="437011" y="345350"/>
                  </a:cubicBezTo>
                  <a:cubicBezTo>
                    <a:pt x="401308" y="345350"/>
                    <a:pt x="367253" y="336577"/>
                    <a:pt x="338279" y="319992"/>
                  </a:cubicBezTo>
                  <a:cubicBezTo>
                    <a:pt x="295023" y="295183"/>
                    <a:pt x="269207" y="255844"/>
                    <a:pt x="269207" y="214450"/>
                  </a:cubicBezTo>
                  <a:cubicBezTo>
                    <a:pt x="269207" y="206089"/>
                    <a:pt x="270168" y="198002"/>
                    <a:pt x="272091" y="190189"/>
                  </a:cubicBezTo>
                  <a:cubicBezTo>
                    <a:pt x="274013" y="182239"/>
                    <a:pt x="276760" y="174563"/>
                    <a:pt x="280467" y="167299"/>
                  </a:cubicBezTo>
                  <a:cubicBezTo>
                    <a:pt x="292826" y="142352"/>
                    <a:pt x="314797" y="121107"/>
                    <a:pt x="342948" y="106166"/>
                  </a:cubicBezTo>
                  <a:cubicBezTo>
                    <a:pt x="347067" y="103973"/>
                    <a:pt x="351187" y="102054"/>
                    <a:pt x="355581" y="100135"/>
                  </a:cubicBezTo>
                  <a:cubicBezTo>
                    <a:pt x="356542" y="99724"/>
                    <a:pt x="357503" y="99176"/>
                    <a:pt x="358602" y="98765"/>
                  </a:cubicBezTo>
                  <a:cubicBezTo>
                    <a:pt x="376454" y="91363"/>
                    <a:pt x="396228" y="86428"/>
                    <a:pt x="417375" y="84509"/>
                  </a:cubicBezTo>
                  <a:cubicBezTo>
                    <a:pt x="423829" y="83824"/>
                    <a:pt x="430283" y="83550"/>
                    <a:pt x="437011" y="83550"/>
                  </a:cubicBezTo>
                  <a:close/>
                  <a:moveTo>
                    <a:pt x="213353" y="0"/>
                  </a:moveTo>
                  <a:cubicBezTo>
                    <a:pt x="259757" y="0"/>
                    <a:pt x="304377" y="12061"/>
                    <a:pt x="340760" y="33580"/>
                  </a:cubicBezTo>
                  <a:cubicBezTo>
                    <a:pt x="337740" y="34676"/>
                    <a:pt x="334856" y="36047"/>
                    <a:pt x="331973" y="37143"/>
                  </a:cubicBezTo>
                  <a:cubicBezTo>
                    <a:pt x="330326" y="37966"/>
                    <a:pt x="328678" y="38514"/>
                    <a:pt x="327031" y="39336"/>
                  </a:cubicBezTo>
                  <a:cubicBezTo>
                    <a:pt x="321264" y="41803"/>
                    <a:pt x="315773" y="44545"/>
                    <a:pt x="310418" y="47423"/>
                  </a:cubicBezTo>
                  <a:cubicBezTo>
                    <a:pt x="309183" y="48108"/>
                    <a:pt x="308084" y="48793"/>
                    <a:pt x="306849" y="49479"/>
                  </a:cubicBezTo>
                  <a:cubicBezTo>
                    <a:pt x="302730" y="51809"/>
                    <a:pt x="298611" y="54139"/>
                    <a:pt x="294630" y="56743"/>
                  </a:cubicBezTo>
                  <a:cubicBezTo>
                    <a:pt x="292845" y="57839"/>
                    <a:pt x="291060" y="59073"/>
                    <a:pt x="289413" y="60307"/>
                  </a:cubicBezTo>
                  <a:cubicBezTo>
                    <a:pt x="285980" y="62500"/>
                    <a:pt x="282685" y="64830"/>
                    <a:pt x="279528" y="67297"/>
                  </a:cubicBezTo>
                  <a:cubicBezTo>
                    <a:pt x="277880" y="68530"/>
                    <a:pt x="276233" y="69901"/>
                    <a:pt x="274585" y="71134"/>
                  </a:cubicBezTo>
                  <a:cubicBezTo>
                    <a:pt x="271015" y="74013"/>
                    <a:pt x="267720" y="76891"/>
                    <a:pt x="264425" y="79906"/>
                  </a:cubicBezTo>
                  <a:cubicBezTo>
                    <a:pt x="263327" y="80866"/>
                    <a:pt x="262229" y="81825"/>
                    <a:pt x="261130" y="82784"/>
                  </a:cubicBezTo>
                  <a:cubicBezTo>
                    <a:pt x="257012" y="86759"/>
                    <a:pt x="253030" y="90871"/>
                    <a:pt x="249186" y="95120"/>
                  </a:cubicBezTo>
                  <a:cubicBezTo>
                    <a:pt x="248088" y="96216"/>
                    <a:pt x="247264" y="97450"/>
                    <a:pt x="246165" y="98683"/>
                  </a:cubicBezTo>
                  <a:cubicBezTo>
                    <a:pt x="243420" y="101836"/>
                    <a:pt x="240811" y="105125"/>
                    <a:pt x="238203" y="108552"/>
                  </a:cubicBezTo>
                  <a:cubicBezTo>
                    <a:pt x="237104" y="110197"/>
                    <a:pt x="235869" y="111704"/>
                    <a:pt x="234770" y="113349"/>
                  </a:cubicBezTo>
                  <a:cubicBezTo>
                    <a:pt x="232573" y="116501"/>
                    <a:pt x="230377" y="119791"/>
                    <a:pt x="228317" y="123080"/>
                  </a:cubicBezTo>
                  <a:cubicBezTo>
                    <a:pt x="227356" y="124725"/>
                    <a:pt x="226395" y="126233"/>
                    <a:pt x="225434" y="127877"/>
                  </a:cubicBezTo>
                  <a:cubicBezTo>
                    <a:pt x="223100" y="132126"/>
                    <a:pt x="220904" y="136238"/>
                    <a:pt x="218844" y="140487"/>
                  </a:cubicBezTo>
                  <a:cubicBezTo>
                    <a:pt x="218432" y="141309"/>
                    <a:pt x="218021" y="142132"/>
                    <a:pt x="217609" y="142954"/>
                  </a:cubicBezTo>
                  <a:cubicBezTo>
                    <a:pt x="215275" y="148025"/>
                    <a:pt x="213215" y="153233"/>
                    <a:pt x="211430" y="158442"/>
                  </a:cubicBezTo>
                  <a:cubicBezTo>
                    <a:pt x="210881" y="159949"/>
                    <a:pt x="210469" y="161457"/>
                    <a:pt x="209920" y="163102"/>
                  </a:cubicBezTo>
                  <a:cubicBezTo>
                    <a:pt x="208685" y="166940"/>
                    <a:pt x="207724" y="170777"/>
                    <a:pt x="206763" y="174752"/>
                  </a:cubicBezTo>
                  <a:cubicBezTo>
                    <a:pt x="206213" y="176671"/>
                    <a:pt x="205801" y="178453"/>
                    <a:pt x="205527" y="180371"/>
                  </a:cubicBezTo>
                  <a:cubicBezTo>
                    <a:pt x="204703" y="184209"/>
                    <a:pt x="204017" y="188184"/>
                    <a:pt x="203467" y="192159"/>
                  </a:cubicBezTo>
                  <a:cubicBezTo>
                    <a:pt x="203193" y="193940"/>
                    <a:pt x="202918" y="195585"/>
                    <a:pt x="202781" y="197367"/>
                  </a:cubicBezTo>
                  <a:cubicBezTo>
                    <a:pt x="202232" y="203123"/>
                    <a:pt x="201820" y="208743"/>
                    <a:pt x="201820" y="214499"/>
                  </a:cubicBezTo>
                  <a:cubicBezTo>
                    <a:pt x="201820" y="221901"/>
                    <a:pt x="202506" y="229028"/>
                    <a:pt x="203467" y="236155"/>
                  </a:cubicBezTo>
                  <a:cubicBezTo>
                    <a:pt x="203605" y="238074"/>
                    <a:pt x="203879" y="239719"/>
                    <a:pt x="204154" y="241637"/>
                  </a:cubicBezTo>
                  <a:cubicBezTo>
                    <a:pt x="205390" y="248627"/>
                    <a:pt x="206763" y="255755"/>
                    <a:pt x="208822" y="262608"/>
                  </a:cubicBezTo>
                  <a:cubicBezTo>
                    <a:pt x="208822" y="262745"/>
                    <a:pt x="208959" y="262882"/>
                    <a:pt x="208959" y="263019"/>
                  </a:cubicBezTo>
                  <a:cubicBezTo>
                    <a:pt x="211019" y="269735"/>
                    <a:pt x="213627" y="276451"/>
                    <a:pt x="216373" y="282893"/>
                  </a:cubicBezTo>
                  <a:cubicBezTo>
                    <a:pt x="217197" y="284537"/>
                    <a:pt x="217883" y="286182"/>
                    <a:pt x="218707" y="287827"/>
                  </a:cubicBezTo>
                  <a:cubicBezTo>
                    <a:pt x="221727" y="294406"/>
                    <a:pt x="225160" y="300847"/>
                    <a:pt x="229004" y="307152"/>
                  </a:cubicBezTo>
                  <a:cubicBezTo>
                    <a:pt x="229141" y="307289"/>
                    <a:pt x="229278" y="307563"/>
                    <a:pt x="229416" y="307700"/>
                  </a:cubicBezTo>
                  <a:cubicBezTo>
                    <a:pt x="233260" y="313731"/>
                    <a:pt x="237653" y="319625"/>
                    <a:pt x="242321" y="325381"/>
                  </a:cubicBezTo>
                  <a:cubicBezTo>
                    <a:pt x="243420" y="326752"/>
                    <a:pt x="244518" y="328122"/>
                    <a:pt x="245616" y="329630"/>
                  </a:cubicBezTo>
                  <a:cubicBezTo>
                    <a:pt x="246852" y="331001"/>
                    <a:pt x="247950" y="332371"/>
                    <a:pt x="249186" y="333742"/>
                  </a:cubicBezTo>
                  <a:cubicBezTo>
                    <a:pt x="237379" y="335387"/>
                    <a:pt x="225572" y="336209"/>
                    <a:pt x="213490" y="336209"/>
                  </a:cubicBezTo>
                  <a:lnTo>
                    <a:pt x="213353" y="336209"/>
                  </a:lnTo>
                  <a:cubicBezTo>
                    <a:pt x="204154" y="335661"/>
                    <a:pt x="194681" y="337991"/>
                    <a:pt x="187679" y="344159"/>
                  </a:cubicBezTo>
                  <a:cubicBezTo>
                    <a:pt x="158847" y="368692"/>
                    <a:pt x="122602" y="394323"/>
                    <a:pt x="87318" y="411044"/>
                  </a:cubicBezTo>
                  <a:cubicBezTo>
                    <a:pt x="97890" y="384317"/>
                    <a:pt x="105029" y="353479"/>
                    <a:pt x="99674" y="324148"/>
                  </a:cubicBezTo>
                  <a:cubicBezTo>
                    <a:pt x="98027" y="314691"/>
                    <a:pt x="92261" y="306330"/>
                    <a:pt x="84023" y="301259"/>
                  </a:cubicBezTo>
                  <a:cubicBezTo>
                    <a:pt x="30616" y="268912"/>
                    <a:pt x="0" y="220393"/>
                    <a:pt x="0" y="168036"/>
                  </a:cubicBezTo>
                  <a:cubicBezTo>
                    <a:pt x="0" y="75383"/>
                    <a:pt x="95693" y="0"/>
                    <a:pt x="213353" y="0"/>
                  </a:cubicBezTo>
                  <a:close/>
                </a:path>
              </a:pathLst>
            </a:custGeom>
            <a:solidFill>
              <a:schemeClr val="bg1"/>
            </a:solidFill>
            <a:ln>
              <a:noFill/>
            </a:ln>
          </p:spPr>
          <p:txBody>
            <a:bodyPr vert="horz" wrap="square" lIns="91440" tIns="45720" rIns="91440" bIns="45720" numCol="1" anchor="t" anchorCtr="0" compatLnSpc="1">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2" name="iṧḷíde"/>
            <p:cNvSpPr/>
            <p:nvPr/>
          </p:nvSpPr>
          <p:spPr bwMode="auto">
            <a:xfrm>
              <a:off x="3875298" y="3251795"/>
              <a:ext cx="340948" cy="340433"/>
            </a:xfrm>
            <a:custGeom>
              <a:avLst/>
              <a:gdLst>
                <a:gd name="T0" fmla="*/ 3413 w 6827"/>
                <a:gd name="T1" fmla="*/ 0 h 6827"/>
                <a:gd name="T2" fmla="*/ 0 w 6827"/>
                <a:gd name="T3" fmla="*/ 3413 h 6827"/>
                <a:gd name="T4" fmla="*/ 3413 w 6827"/>
                <a:gd name="T5" fmla="*/ 6827 h 6827"/>
                <a:gd name="T6" fmla="*/ 6827 w 6827"/>
                <a:gd name="T7" fmla="*/ 3413 h 6827"/>
                <a:gd name="T8" fmla="*/ 3413 w 6827"/>
                <a:gd name="T9" fmla="*/ 0 h 6827"/>
                <a:gd name="T10" fmla="*/ 5017 w 6827"/>
                <a:gd name="T11" fmla="*/ 3033 h 6827"/>
                <a:gd name="T12" fmla="*/ 3431 w 6827"/>
                <a:gd name="T13" fmla="*/ 4619 h 6827"/>
                <a:gd name="T14" fmla="*/ 2802 w 6827"/>
                <a:gd name="T15" fmla="*/ 4619 h 6827"/>
                <a:gd name="T16" fmla="*/ 1884 w 6827"/>
                <a:gd name="T17" fmla="*/ 3701 h 6827"/>
                <a:gd name="T18" fmla="*/ 1884 w 6827"/>
                <a:gd name="T19" fmla="*/ 3072 h 6827"/>
                <a:gd name="T20" fmla="*/ 2514 w 6827"/>
                <a:gd name="T21" fmla="*/ 3072 h 6827"/>
                <a:gd name="T22" fmla="*/ 3117 w 6827"/>
                <a:gd name="T23" fmla="*/ 3674 h 6827"/>
                <a:gd name="T24" fmla="*/ 4387 w 6827"/>
                <a:gd name="T25" fmla="*/ 2404 h 6827"/>
                <a:gd name="T26" fmla="*/ 5017 w 6827"/>
                <a:gd name="T27" fmla="*/ 2404 h 6827"/>
                <a:gd name="T28" fmla="*/ 5017 w 6827"/>
                <a:gd name="T29" fmla="*/ 30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27" h="6827">
                  <a:moveTo>
                    <a:pt x="3413" y="0"/>
                  </a:moveTo>
                  <a:cubicBezTo>
                    <a:pt x="1531" y="0"/>
                    <a:pt x="0" y="1531"/>
                    <a:pt x="0" y="3413"/>
                  </a:cubicBezTo>
                  <a:cubicBezTo>
                    <a:pt x="0" y="5295"/>
                    <a:pt x="1531" y="6827"/>
                    <a:pt x="3413" y="6827"/>
                  </a:cubicBezTo>
                  <a:cubicBezTo>
                    <a:pt x="5296" y="6827"/>
                    <a:pt x="6827" y="5295"/>
                    <a:pt x="6827" y="3413"/>
                  </a:cubicBezTo>
                  <a:cubicBezTo>
                    <a:pt x="6827" y="1531"/>
                    <a:pt x="5296" y="0"/>
                    <a:pt x="3413" y="0"/>
                  </a:cubicBezTo>
                  <a:close/>
                  <a:moveTo>
                    <a:pt x="5017" y="3033"/>
                  </a:moveTo>
                  <a:lnTo>
                    <a:pt x="3431" y="4619"/>
                  </a:lnTo>
                  <a:cubicBezTo>
                    <a:pt x="3257" y="4792"/>
                    <a:pt x="2976" y="4792"/>
                    <a:pt x="2802" y="4619"/>
                  </a:cubicBezTo>
                  <a:lnTo>
                    <a:pt x="1884" y="3701"/>
                  </a:lnTo>
                  <a:cubicBezTo>
                    <a:pt x="1710" y="3527"/>
                    <a:pt x="1710" y="3245"/>
                    <a:pt x="1884" y="3072"/>
                  </a:cubicBezTo>
                  <a:cubicBezTo>
                    <a:pt x="2058" y="2898"/>
                    <a:pt x="2340" y="2898"/>
                    <a:pt x="2514" y="3072"/>
                  </a:cubicBezTo>
                  <a:lnTo>
                    <a:pt x="3117" y="3674"/>
                  </a:lnTo>
                  <a:lnTo>
                    <a:pt x="4387" y="2404"/>
                  </a:lnTo>
                  <a:cubicBezTo>
                    <a:pt x="4561" y="2230"/>
                    <a:pt x="4843" y="2230"/>
                    <a:pt x="5017" y="2404"/>
                  </a:cubicBezTo>
                  <a:cubicBezTo>
                    <a:pt x="5190" y="2578"/>
                    <a:pt x="5190" y="2859"/>
                    <a:pt x="5017" y="3033"/>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3" name="ïslíḓé"/>
            <p:cNvSpPr/>
            <p:nvPr/>
          </p:nvSpPr>
          <p:spPr bwMode="auto">
            <a:xfrm>
              <a:off x="7360651" y="1810393"/>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4" name="iṩļîḋè"/>
            <p:cNvSpPr/>
            <p:nvPr/>
          </p:nvSpPr>
          <p:spPr bwMode="auto">
            <a:xfrm>
              <a:off x="4472794" y="4737435"/>
              <a:ext cx="342202" cy="258842"/>
            </a:xfrm>
            <a:custGeom>
              <a:avLst/>
              <a:gdLst>
                <a:gd name="connsiteX0" fmla="*/ 303150 w 606298"/>
                <a:gd name="connsiteY0" fmla="*/ 172180 h 458605"/>
                <a:gd name="connsiteX1" fmla="*/ 409775 w 606298"/>
                <a:gd name="connsiteY1" fmla="*/ 278664 h 458605"/>
                <a:gd name="connsiteX2" fmla="*/ 303150 w 606298"/>
                <a:gd name="connsiteY2" fmla="*/ 385148 h 458605"/>
                <a:gd name="connsiteX3" fmla="*/ 196525 w 606298"/>
                <a:gd name="connsiteY3" fmla="*/ 278664 h 458605"/>
                <a:gd name="connsiteX4" fmla="*/ 303150 w 606298"/>
                <a:gd name="connsiteY4" fmla="*/ 172180 h 458605"/>
                <a:gd name="connsiteX5" fmla="*/ 303149 w 606298"/>
                <a:gd name="connsiteY5" fmla="*/ 131787 h 458605"/>
                <a:gd name="connsiteX6" fmla="*/ 156060 w 606298"/>
                <a:gd name="connsiteY6" fmla="*/ 278654 h 458605"/>
                <a:gd name="connsiteX7" fmla="*/ 303149 w 606298"/>
                <a:gd name="connsiteY7" fmla="*/ 425430 h 458605"/>
                <a:gd name="connsiteX8" fmla="*/ 450147 w 606298"/>
                <a:gd name="connsiteY8" fmla="*/ 278654 h 458605"/>
                <a:gd name="connsiteX9" fmla="*/ 303149 w 606298"/>
                <a:gd name="connsiteY9" fmla="*/ 131787 h 458605"/>
                <a:gd name="connsiteX10" fmla="*/ 72767 w 606298"/>
                <a:gd name="connsiteY10" fmla="*/ 60502 h 458605"/>
                <a:gd name="connsiteX11" fmla="*/ 60593 w 606298"/>
                <a:gd name="connsiteY11" fmla="*/ 72657 h 458605"/>
                <a:gd name="connsiteX12" fmla="*/ 60593 w 606298"/>
                <a:gd name="connsiteY12" fmla="*/ 98155 h 458605"/>
                <a:gd name="connsiteX13" fmla="*/ 165762 w 606298"/>
                <a:gd name="connsiteY13" fmla="*/ 98155 h 458605"/>
                <a:gd name="connsiteX14" fmla="*/ 165762 w 606298"/>
                <a:gd name="connsiteY14" fmla="*/ 72657 h 458605"/>
                <a:gd name="connsiteX15" fmla="*/ 153588 w 606298"/>
                <a:gd name="connsiteY15" fmla="*/ 60502 h 458605"/>
                <a:gd name="connsiteX16" fmla="*/ 72767 w 606298"/>
                <a:gd name="connsiteY16" fmla="*/ 0 h 458605"/>
                <a:gd name="connsiteX17" fmla="*/ 153588 w 606298"/>
                <a:gd name="connsiteY17" fmla="*/ 0 h 458605"/>
                <a:gd name="connsiteX18" fmla="*/ 226355 w 606298"/>
                <a:gd name="connsiteY18" fmla="*/ 72657 h 458605"/>
                <a:gd name="connsiteX19" fmla="*/ 226355 w 606298"/>
                <a:gd name="connsiteY19" fmla="*/ 98612 h 458605"/>
                <a:gd name="connsiteX20" fmla="*/ 417654 w 606298"/>
                <a:gd name="connsiteY20" fmla="*/ 98612 h 458605"/>
                <a:gd name="connsiteX21" fmla="*/ 417654 w 606298"/>
                <a:gd name="connsiteY21" fmla="*/ 74119 h 458605"/>
                <a:gd name="connsiteX22" fmla="*/ 449781 w 606298"/>
                <a:gd name="connsiteY22" fmla="*/ 42041 h 458605"/>
                <a:gd name="connsiteX23" fmla="*/ 506713 w 606298"/>
                <a:gd name="connsiteY23" fmla="*/ 42041 h 458605"/>
                <a:gd name="connsiteX24" fmla="*/ 538932 w 606298"/>
                <a:gd name="connsiteY24" fmla="*/ 74119 h 458605"/>
                <a:gd name="connsiteX25" fmla="*/ 538932 w 606298"/>
                <a:gd name="connsiteY25" fmla="*/ 98612 h 458605"/>
                <a:gd name="connsiteX26" fmla="*/ 546712 w 606298"/>
                <a:gd name="connsiteY26" fmla="*/ 98612 h 458605"/>
                <a:gd name="connsiteX27" fmla="*/ 606298 w 606298"/>
                <a:gd name="connsiteY27" fmla="*/ 158108 h 458605"/>
                <a:gd name="connsiteX28" fmla="*/ 606298 w 606298"/>
                <a:gd name="connsiteY28" fmla="*/ 399109 h 458605"/>
                <a:gd name="connsiteX29" fmla="*/ 546712 w 606298"/>
                <a:gd name="connsiteY29" fmla="*/ 458605 h 458605"/>
                <a:gd name="connsiteX30" fmla="*/ 59495 w 606298"/>
                <a:gd name="connsiteY30" fmla="*/ 458605 h 458605"/>
                <a:gd name="connsiteX31" fmla="*/ 0 w 606298"/>
                <a:gd name="connsiteY31" fmla="*/ 399109 h 458605"/>
                <a:gd name="connsiteX32" fmla="*/ 0 w 606298"/>
                <a:gd name="connsiteY32" fmla="*/ 72657 h 458605"/>
                <a:gd name="connsiteX33" fmla="*/ 72767 w 606298"/>
                <a:gd name="connsiteY33" fmla="*/ 0 h 4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6298" h="458605">
                  <a:moveTo>
                    <a:pt x="303150" y="172180"/>
                  </a:moveTo>
                  <a:cubicBezTo>
                    <a:pt x="362037" y="172180"/>
                    <a:pt x="409775" y="219855"/>
                    <a:pt x="409775" y="278664"/>
                  </a:cubicBezTo>
                  <a:cubicBezTo>
                    <a:pt x="409775" y="337473"/>
                    <a:pt x="362037" y="385148"/>
                    <a:pt x="303150" y="385148"/>
                  </a:cubicBezTo>
                  <a:cubicBezTo>
                    <a:pt x="244263" y="385148"/>
                    <a:pt x="196525" y="337473"/>
                    <a:pt x="196525" y="278664"/>
                  </a:cubicBezTo>
                  <a:cubicBezTo>
                    <a:pt x="196525" y="219855"/>
                    <a:pt x="244263" y="172180"/>
                    <a:pt x="303150" y="172180"/>
                  </a:cubicBezTo>
                  <a:close/>
                  <a:moveTo>
                    <a:pt x="303149" y="131787"/>
                  </a:moveTo>
                  <a:cubicBezTo>
                    <a:pt x="222053" y="131787"/>
                    <a:pt x="156060" y="197681"/>
                    <a:pt x="156060" y="278654"/>
                  </a:cubicBezTo>
                  <a:cubicBezTo>
                    <a:pt x="156060" y="359536"/>
                    <a:pt x="222053" y="425430"/>
                    <a:pt x="303149" y="425430"/>
                  </a:cubicBezTo>
                  <a:cubicBezTo>
                    <a:pt x="384245" y="425430"/>
                    <a:pt x="450147" y="359536"/>
                    <a:pt x="450147" y="278654"/>
                  </a:cubicBezTo>
                  <a:cubicBezTo>
                    <a:pt x="450147" y="197681"/>
                    <a:pt x="384245" y="131787"/>
                    <a:pt x="303149" y="131787"/>
                  </a:cubicBezTo>
                  <a:close/>
                  <a:moveTo>
                    <a:pt x="72767" y="60502"/>
                  </a:moveTo>
                  <a:cubicBezTo>
                    <a:pt x="66085" y="60502"/>
                    <a:pt x="60593" y="65985"/>
                    <a:pt x="60593" y="72657"/>
                  </a:cubicBezTo>
                  <a:lnTo>
                    <a:pt x="60593" y="98155"/>
                  </a:lnTo>
                  <a:lnTo>
                    <a:pt x="165762" y="98155"/>
                  </a:lnTo>
                  <a:lnTo>
                    <a:pt x="165762" y="72657"/>
                  </a:lnTo>
                  <a:cubicBezTo>
                    <a:pt x="165762" y="65985"/>
                    <a:pt x="160270" y="60502"/>
                    <a:pt x="153588" y="60502"/>
                  </a:cubicBezTo>
                  <a:close/>
                  <a:moveTo>
                    <a:pt x="72767" y="0"/>
                  </a:moveTo>
                  <a:lnTo>
                    <a:pt x="153588" y="0"/>
                  </a:lnTo>
                  <a:cubicBezTo>
                    <a:pt x="193770" y="0"/>
                    <a:pt x="226355" y="32536"/>
                    <a:pt x="226355" y="72657"/>
                  </a:cubicBezTo>
                  <a:lnTo>
                    <a:pt x="226355" y="98612"/>
                  </a:lnTo>
                  <a:lnTo>
                    <a:pt x="417654" y="98612"/>
                  </a:lnTo>
                  <a:lnTo>
                    <a:pt x="417654" y="74119"/>
                  </a:lnTo>
                  <a:cubicBezTo>
                    <a:pt x="417654" y="56389"/>
                    <a:pt x="432024" y="42041"/>
                    <a:pt x="449781" y="42041"/>
                  </a:cubicBezTo>
                  <a:lnTo>
                    <a:pt x="506713" y="42041"/>
                  </a:lnTo>
                  <a:cubicBezTo>
                    <a:pt x="524561" y="42041"/>
                    <a:pt x="538932" y="56389"/>
                    <a:pt x="538932" y="74119"/>
                  </a:cubicBezTo>
                  <a:lnTo>
                    <a:pt x="538932" y="98612"/>
                  </a:lnTo>
                  <a:lnTo>
                    <a:pt x="546712" y="98612"/>
                  </a:lnTo>
                  <a:cubicBezTo>
                    <a:pt x="579571" y="98612"/>
                    <a:pt x="606298" y="125299"/>
                    <a:pt x="606298" y="158108"/>
                  </a:cubicBezTo>
                  <a:lnTo>
                    <a:pt x="606298" y="399109"/>
                  </a:lnTo>
                  <a:cubicBezTo>
                    <a:pt x="606298" y="431919"/>
                    <a:pt x="579571" y="458605"/>
                    <a:pt x="546712" y="458605"/>
                  </a:cubicBezTo>
                  <a:lnTo>
                    <a:pt x="59495" y="458605"/>
                  </a:lnTo>
                  <a:cubicBezTo>
                    <a:pt x="26635" y="458605"/>
                    <a:pt x="0" y="431919"/>
                    <a:pt x="0" y="399109"/>
                  </a:cubicBezTo>
                  <a:lnTo>
                    <a:pt x="0" y="72657"/>
                  </a:lnTo>
                  <a:cubicBezTo>
                    <a:pt x="0" y="32536"/>
                    <a:pt x="32585" y="0"/>
                    <a:pt x="72767" y="0"/>
                  </a:cubicBezTo>
                  <a:close/>
                </a:path>
              </a:pathLst>
            </a:custGeom>
            <a:solidFill>
              <a:schemeClr val="bg1"/>
            </a:solidFill>
            <a:ln>
              <a:noFill/>
            </a:ln>
          </p:spPr>
          <p:txBody>
            <a:bodyPr vert="horz" wrap="square" lIns="91440" tIns="45720" rIns="91440" bIns="45720" numCol="1" anchor="t" anchorCtr="0" compatLnSpc="1">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5" name="îṩļiḓè"/>
            <p:cNvSpPr/>
            <p:nvPr/>
          </p:nvSpPr>
          <p:spPr>
            <a:xfrm>
              <a:off x="527899" y="1667557"/>
              <a:ext cx="3623447" cy="467559"/>
            </a:xfrm>
            <a:prstGeom prst="rect">
              <a:avLst/>
            </a:prstGeom>
          </p:spPr>
          <p:txBody>
            <a:bodyPr wrap="square" lIns="91440" tIns="45720" rIns="91440" bIns="45720" anchor="ctr" anchorCtr="0">
              <a:no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微内核（安全内核）</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ïṣľîḋê"/>
            <p:cNvSpPr/>
            <p:nvPr/>
          </p:nvSpPr>
          <p:spPr>
            <a:xfrm>
              <a:off x="8029002" y="1667557"/>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隔离</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 name="išľïḓe"/>
            <p:cNvSpPr/>
            <p:nvPr/>
          </p:nvSpPr>
          <p:spPr>
            <a:xfrm>
              <a:off x="527899" y="3161434"/>
              <a:ext cx="3019285" cy="467559"/>
            </a:xfrm>
            <a:prstGeom prst="rect">
              <a:avLst/>
            </a:prstGeom>
          </p:spPr>
          <p:txBody>
            <a:bodyPr wrap="square" lIns="91440" tIns="45720" rIns="91440" bIns="45720" anchor="ctr" anchorCtr="0">
              <a:no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策略与机制分离</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 name="îṧľïdè"/>
            <p:cNvSpPr/>
            <p:nvPr/>
          </p:nvSpPr>
          <p:spPr>
            <a:xfrm>
              <a:off x="8632118" y="3161434"/>
              <a:ext cx="2882020" cy="467559"/>
            </a:xfrm>
            <a:prstGeom prst="rect">
              <a:avLst/>
            </a:prstGeom>
          </p:spPr>
          <p:txBody>
            <a:bodyPr wrap="square" lIns="91440" tIns="45720" rIns="91440" bIns="45720" anchor="ctr" anchorCtr="0">
              <a:norm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部分硬件实现</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işľîḓé"/>
            <p:cNvSpPr/>
            <p:nvPr/>
          </p:nvSpPr>
          <p:spPr>
            <a:xfrm>
              <a:off x="665163" y="4708346"/>
              <a:ext cx="3486183" cy="467559"/>
            </a:xfrm>
            <a:prstGeom prst="rect">
              <a:avLst/>
            </a:prstGeom>
          </p:spPr>
          <p:txBody>
            <a:bodyPr wrap="square" lIns="91440" tIns="45720" rIns="91440" bIns="45720" anchor="ctr" anchorCtr="0">
              <a:normAutofit/>
            </a:bodyPr>
            <a:lstStyle/>
            <a:p>
              <a:pPr algn="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安全入口</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0" name="ïśļíde"/>
            <p:cNvSpPr/>
            <p:nvPr/>
          </p:nvSpPr>
          <p:spPr>
            <a:xfrm>
              <a:off x="8029002" y="4708346"/>
              <a:ext cx="3485135" cy="467559"/>
            </a:xfrm>
            <a:prstGeom prst="rect">
              <a:avLst/>
            </a:prstGeom>
          </p:spPr>
          <p:txBody>
            <a:bodyPr wrap="square" lIns="91440" tIns="45720" rIns="91440" bIns="45720" anchor="ctr" anchorCtr="0">
              <a:normAutofit/>
            </a:bodyPr>
            <a:lstStyle/>
            <a:p>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分层设计</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原则</a:t>
              </a:r>
              <a:endPar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12章 知识导图"/>
          <p:cNvPicPr>
            <a:picLocks noChangeAspect="1"/>
          </p:cNvPicPr>
          <p:nvPr/>
        </p:nvPicPr>
        <p:blipFill>
          <a:blip r:embed="rId1"/>
          <a:stretch>
            <a:fillRect/>
          </a:stretch>
        </p:blipFill>
        <p:spPr>
          <a:xfrm>
            <a:off x="4259580" y="788670"/>
            <a:ext cx="7661275" cy="59099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0" name="矩形 19"/>
          <p:cNvSpPr/>
          <p:nvPr/>
        </p:nvSpPr>
        <p:spPr>
          <a:xfrm>
            <a:off x="771525" y="257830"/>
            <a:ext cx="4535216" cy="523220"/>
          </a:xfrm>
          <a:prstGeom prst="rect">
            <a:avLst/>
          </a:prstGeom>
        </p:spPr>
        <p:txBody>
          <a:bodyPr wrap="non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学而时习之（第</a:t>
            </a:r>
            <a:r>
              <a:rPr lang="en-US" altLang="zh-CN"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章总结）</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3"/>
            </p:custDataLst>
          </p:nvPr>
        </p:nvGraphicFramePr>
        <p:xfrm>
          <a:off x="462431" y="1634204"/>
          <a:ext cx="3689691" cy="4789452"/>
        </p:xfrm>
        <a:graphic>
          <a:graphicData uri="http://schemas.openxmlformats.org/drawingml/2006/table">
            <a:tbl>
              <a:tblPr firstRow="1" bandRow="1">
                <a:tableStyleId>{72833802-FEF1-4C79-8D5D-14CF1EAF98D9}</a:tableStyleId>
              </a:tblPr>
              <a:tblGrid>
                <a:gridCol w="1079371"/>
                <a:gridCol w="2610320"/>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第1章</a:t>
                      </a:r>
                      <a:endParaRPr lang="en-US" altLang="en-US" sz="2000" b="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操作系统引论</a:t>
                      </a:r>
                      <a:endParaRPr lang="en-US" altLang="en-US" sz="2000" b="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第2章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进程的描述与控制</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第3章</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处理机调度与死锁</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第4章</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进程同步</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第5章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存储器管理</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第6章</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虚拟存储器</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第7章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输入</a:t>
                      </a:r>
                      <a:r>
                        <a:rPr 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输出系统</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第8章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文件管理</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Times New Roman" panose="02020603050405020304" pitchFamily="18" charset="0"/>
                          <a:ea typeface="微软雅黑" panose="020B0503020204020204" pitchFamily="34" charset="-122"/>
                          <a:cs typeface="+mn-ea"/>
                          <a:sym typeface="Times New Roman" panose="02020603050405020304" pitchFamily="18" charset="0"/>
                        </a:rPr>
                        <a:t>第9章</a:t>
                      </a:r>
                      <a:endParaRPr lang="en-US" altLang="en-US" sz="2000" b="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Times New Roman" panose="02020603050405020304" pitchFamily="18" charset="0"/>
                          <a:ea typeface="微软雅黑" panose="020B0503020204020204" pitchFamily="34" charset="-122"/>
                          <a:cs typeface="+mn-ea"/>
                          <a:sym typeface="Times New Roman" panose="02020603050405020304" pitchFamily="18" charset="0"/>
                        </a:rPr>
                        <a:t>磁盘存储器管理</a:t>
                      </a:r>
                      <a:endParaRPr lang="en-US" altLang="en-US" sz="2000" b="0" dirty="0">
                        <a:solidFill>
                          <a:srgbClr val="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tc>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第10章</a:t>
                      </a:r>
                      <a:endParaRPr lang="en-US" altLang="en-US" sz="200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c>
                  <a:txBody>
                    <a:bodyPr/>
                    <a:lstStyle/>
                    <a:p>
                      <a:pPr marL="71755" indent="0" algn="l" defTabSz="914400" rtl="0" eaLnBrk="1" latinLnBrk="0" hangingPunct="1">
                        <a:lnSpc>
                          <a:spcPct val="100000"/>
                        </a:lnSpc>
                        <a:spcBef>
                          <a:spcPts val="300"/>
                        </a:spcBef>
                        <a:spcAft>
                          <a:spcPts val="300"/>
                        </a:spcAft>
                        <a:buNone/>
                      </a:pPr>
                      <a:r>
                        <a:rPr lang="en-US" sz="2000" kern="1200" dirty="0" err="1">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多处理机操作系统</a:t>
                      </a:r>
                      <a:endParaRPr lang="en-US" altLang="en-US" sz="200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r>
              <a:tr h="399121">
                <a:tc>
                  <a:txBody>
                    <a:bodyPr/>
                    <a:lstStyle/>
                    <a:p>
                      <a:pPr marL="71755" indent="0" algn="l" defTabSz="914400" rtl="0" eaLnBrk="1" latinLnBrk="0" hangingPunct="1">
                        <a:lnSpc>
                          <a:spcPct val="100000"/>
                        </a:lnSpc>
                        <a:spcBef>
                          <a:spcPts val="300"/>
                        </a:spcBef>
                        <a:spcAft>
                          <a:spcPts val="300"/>
                        </a:spcAft>
                        <a:buNone/>
                      </a:pPr>
                      <a:r>
                        <a:rPr lang="en-US" sz="2000" b="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第11章</a:t>
                      </a:r>
                      <a:endParaRPr lang="en-US" altLang="en-US" sz="2000" b="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c>
                  <a:txBody>
                    <a:bodyPr/>
                    <a:lstStyle/>
                    <a:p>
                      <a:pPr marL="71755" indent="0" algn="l" defTabSz="914400" rtl="0" eaLnBrk="1" latinLnBrk="0" hangingPunct="1">
                        <a:lnSpc>
                          <a:spcPct val="100000"/>
                        </a:lnSpc>
                        <a:spcBef>
                          <a:spcPts val="300"/>
                        </a:spcBef>
                        <a:spcAft>
                          <a:spcPts val="300"/>
                        </a:spcAft>
                        <a:buNone/>
                      </a:pPr>
                      <a:r>
                        <a:rPr lang="en-US" sz="2000" b="0" kern="1200" dirty="0" err="1">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虚拟化和云计算</a:t>
                      </a:r>
                      <a:endParaRPr lang="en-US" altLang="en-US" sz="2000" b="0" kern="12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noFill/>
                  </a:tcPr>
                </a:tc>
              </a:tr>
              <a:tr h="399121">
                <a:tc>
                  <a:txBody>
                    <a:bodyPr/>
                    <a:lstStyle/>
                    <a:p>
                      <a:pPr marL="0" indent="0" algn="ctr">
                        <a:lnSpc>
                          <a:spcPct val="100000"/>
                        </a:lnSpc>
                        <a:spcBef>
                          <a:spcPts val="300"/>
                        </a:spcBef>
                        <a:spcAft>
                          <a:spcPts val="300"/>
                        </a:spcAft>
                        <a:buNone/>
                      </a:pPr>
                      <a:r>
                        <a:rPr lang="en-US" sz="2000" b="1" kern="120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第12章</a:t>
                      </a:r>
                      <a:endParaRPr lang="en-US" altLang="en-US" sz="2000" b="1" kern="120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kern="1200" dirty="0" err="1">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保护和安全</a:t>
                      </a:r>
                      <a:endParaRPr lang="en-US" altLang="en-US" sz="2000" b="1" kern="120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txBody>
                  <a:tcPr marL="98738" marR="98738" marT="0" marB="0" anchor="ctr">
                    <a:solidFill>
                      <a:schemeClr val="accent2"/>
                    </a:solidFill>
                  </a:tcPr>
                </a:tc>
              </a:tr>
            </a:tbl>
          </a:graphicData>
        </a:graphic>
      </p:graphicFrame>
      <p:sp>
        <p:nvSpPr>
          <p:cNvPr id="3" name="前凸带形 3"/>
          <p:cNvSpPr/>
          <p:nvPr/>
        </p:nvSpPr>
        <p:spPr>
          <a:xfrm>
            <a:off x="4844369" y="6173653"/>
            <a:ext cx="2503290" cy="557296"/>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b="1" dirty="0">
                <a:solidFill>
                  <a:schemeClr val="bg1"/>
                </a:solidFill>
                <a:latin typeface="+mn-ea"/>
              </a:rPr>
              <a:t>本章学习结束</a:t>
            </a:r>
            <a:endParaRPr lang="zh-CN" altLang="en-US" sz="1600" b="1" dirty="0">
              <a:solidFill>
                <a:schemeClr val="bg1"/>
              </a:solidFill>
              <a:latin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第一次作业</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7" name="流程图: 预定义过程 6"/>
          <p:cNvSpPr/>
          <p:nvPr/>
        </p:nvSpPr>
        <p:spPr>
          <a:xfrm>
            <a:off x="1883410" y="2214006"/>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矩形 9"/>
          <p:cNvSpPr/>
          <p:nvPr/>
        </p:nvSpPr>
        <p:spPr>
          <a:xfrm>
            <a:off x="1451610" y="1970801"/>
            <a:ext cx="9288780" cy="3412962"/>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1" name="文本框 10"/>
          <p:cNvSpPr txBox="1"/>
          <p:nvPr/>
        </p:nvSpPr>
        <p:spPr>
          <a:xfrm>
            <a:off x="669925" y="3169450"/>
            <a:ext cx="553998" cy="1015663"/>
          </a:xfrm>
          <a:prstGeom prst="rect">
            <a:avLst/>
          </a:prstGeom>
          <a:noFill/>
        </p:spPr>
        <p:txBody>
          <a:bodyPr vert="eaVert" wrap="none" rtlCol="0">
            <a:spAutoFit/>
          </a:bodyPr>
          <a:lstStyle/>
          <a:p>
            <a:r>
              <a:rPr lang="zh-CN" altLang="en-US" sz="24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简答题</a:t>
            </a:r>
            <a:endParaRPr lang="zh-CN" altLang="en-US" sz="24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9" name="流程图: 预定义过程 18"/>
          <p:cNvSpPr/>
          <p:nvPr/>
        </p:nvSpPr>
        <p:spPr>
          <a:xfrm>
            <a:off x="2985135" y="2214006"/>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1" name="流程图: 预定义过程 20"/>
          <p:cNvSpPr/>
          <p:nvPr/>
        </p:nvSpPr>
        <p:spPr>
          <a:xfrm>
            <a:off x="4086860"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流程图: 预定义过程 21"/>
          <p:cNvSpPr/>
          <p:nvPr/>
        </p:nvSpPr>
        <p:spPr>
          <a:xfrm>
            <a:off x="5188585"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流程图: 预定义过程 22"/>
          <p:cNvSpPr/>
          <p:nvPr/>
        </p:nvSpPr>
        <p:spPr>
          <a:xfrm>
            <a:off x="6290310"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流程图: 预定义过程 23"/>
          <p:cNvSpPr/>
          <p:nvPr/>
        </p:nvSpPr>
        <p:spPr>
          <a:xfrm>
            <a:off x="7392035"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6</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流程图: 预定义过程 24"/>
          <p:cNvSpPr/>
          <p:nvPr/>
        </p:nvSpPr>
        <p:spPr>
          <a:xfrm>
            <a:off x="8493760"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7</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流程图: 预定义过程 25"/>
          <p:cNvSpPr/>
          <p:nvPr/>
        </p:nvSpPr>
        <p:spPr>
          <a:xfrm>
            <a:off x="9595485"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8</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 name="流程图: 预定义过程 26"/>
          <p:cNvSpPr/>
          <p:nvPr/>
        </p:nvSpPr>
        <p:spPr>
          <a:xfrm>
            <a:off x="188341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9</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 name="流程图: 预定义过程 27"/>
          <p:cNvSpPr/>
          <p:nvPr/>
        </p:nvSpPr>
        <p:spPr>
          <a:xfrm>
            <a:off x="298513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10</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流程图: 预定义过程 28"/>
          <p:cNvSpPr/>
          <p:nvPr/>
        </p:nvSpPr>
        <p:spPr>
          <a:xfrm>
            <a:off x="408686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11</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0" name="流程图: 预定义过程 29"/>
          <p:cNvSpPr/>
          <p:nvPr/>
        </p:nvSpPr>
        <p:spPr>
          <a:xfrm>
            <a:off x="518858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1" name="流程图: 预定义过程 30"/>
          <p:cNvSpPr/>
          <p:nvPr/>
        </p:nvSpPr>
        <p:spPr>
          <a:xfrm>
            <a:off x="629031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13</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2" name="流程图: 预定义过程 31"/>
          <p:cNvSpPr/>
          <p:nvPr/>
        </p:nvSpPr>
        <p:spPr>
          <a:xfrm>
            <a:off x="739203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14</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3" name="流程图: 预定义过程 32"/>
          <p:cNvSpPr/>
          <p:nvPr/>
        </p:nvSpPr>
        <p:spPr>
          <a:xfrm>
            <a:off x="849376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15</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4" name="流程图: 预定义过程 33"/>
          <p:cNvSpPr/>
          <p:nvPr/>
        </p:nvSpPr>
        <p:spPr>
          <a:xfrm>
            <a:off x="959548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16</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5" name="流程图: 预定义过程 34"/>
          <p:cNvSpPr/>
          <p:nvPr/>
        </p:nvSpPr>
        <p:spPr>
          <a:xfrm>
            <a:off x="1883410"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17</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6" name="流程图: 预定义过程 35"/>
          <p:cNvSpPr/>
          <p:nvPr/>
        </p:nvSpPr>
        <p:spPr>
          <a:xfrm>
            <a:off x="2985135"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18</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7" name="流程图: 预定义过程 36"/>
          <p:cNvSpPr/>
          <p:nvPr/>
        </p:nvSpPr>
        <p:spPr>
          <a:xfrm>
            <a:off x="4086860"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19</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8" name="流程图: 预定义过程 37"/>
          <p:cNvSpPr/>
          <p:nvPr/>
        </p:nvSpPr>
        <p:spPr>
          <a:xfrm>
            <a:off x="5188585"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20</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9" name="流程图: 预定义过程 38"/>
          <p:cNvSpPr/>
          <p:nvPr/>
        </p:nvSpPr>
        <p:spPr>
          <a:xfrm>
            <a:off x="6290310"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21</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0" name="流程图: 预定义过程 39"/>
          <p:cNvSpPr/>
          <p:nvPr/>
        </p:nvSpPr>
        <p:spPr>
          <a:xfrm>
            <a:off x="7392035"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22</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latin typeface="Times New Roman" panose="02020603050405020304" pitchFamily="18" charset="0"/>
                <a:ea typeface="微软雅黑" panose="020B0503020204020204" pitchFamily="34" charset="-122"/>
                <a:cs typeface="+mn-ea"/>
                <a:sym typeface="Times New Roman" panose="02020603050405020304" pitchFamily="18" charset="0"/>
              </a:rPr>
              <a:t>标黄色为本次作业</a:t>
            </a:r>
            <a:endParaRPr lang="zh-CN" altLang="en-US" sz="2400" b="1"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1" name="流程图: 预定义过程 40"/>
          <p:cNvSpPr/>
          <p:nvPr/>
        </p:nvSpPr>
        <p:spPr>
          <a:xfrm>
            <a:off x="1883410" y="45021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25</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2" name="流程图: 预定义过程 41"/>
          <p:cNvSpPr/>
          <p:nvPr/>
        </p:nvSpPr>
        <p:spPr>
          <a:xfrm>
            <a:off x="2985135" y="45021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26</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4" name="流程图: 预定义过程 43"/>
          <p:cNvSpPr/>
          <p:nvPr/>
        </p:nvSpPr>
        <p:spPr>
          <a:xfrm>
            <a:off x="4086860" y="45021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27</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6" name="流程图: 预定义过程 45"/>
          <p:cNvSpPr/>
          <p:nvPr/>
        </p:nvSpPr>
        <p:spPr>
          <a:xfrm>
            <a:off x="8493760" y="371864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23</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7" name="流程图: 预定义过程 46"/>
          <p:cNvSpPr/>
          <p:nvPr/>
        </p:nvSpPr>
        <p:spPr>
          <a:xfrm>
            <a:off x="9595485" y="371864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24</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第一次作业</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7" name="流程图: 预定义过程 6"/>
          <p:cNvSpPr/>
          <p:nvPr/>
        </p:nvSpPr>
        <p:spPr>
          <a:xfrm>
            <a:off x="1883410" y="2214006"/>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矩形 9"/>
          <p:cNvSpPr/>
          <p:nvPr/>
        </p:nvSpPr>
        <p:spPr>
          <a:xfrm>
            <a:off x="1451610" y="1970801"/>
            <a:ext cx="9288780" cy="3412962"/>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1" name="文本框 10"/>
          <p:cNvSpPr txBox="1"/>
          <p:nvPr/>
        </p:nvSpPr>
        <p:spPr>
          <a:xfrm>
            <a:off x="669925" y="3169450"/>
            <a:ext cx="553998" cy="1015663"/>
          </a:xfrm>
          <a:prstGeom prst="rect">
            <a:avLst/>
          </a:prstGeom>
          <a:noFill/>
        </p:spPr>
        <p:txBody>
          <a:bodyPr vert="eaVert" wrap="none" rtlCol="0">
            <a:spAutoFit/>
          </a:bodyPr>
          <a:lstStyle/>
          <a:p>
            <a:r>
              <a:rPr lang="zh-CN" altLang="en-US" sz="24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简答题</a:t>
            </a:r>
            <a:endParaRPr lang="zh-CN" altLang="en-US" sz="24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9" name="流程图: 预定义过程 18"/>
          <p:cNvSpPr/>
          <p:nvPr/>
        </p:nvSpPr>
        <p:spPr>
          <a:xfrm>
            <a:off x="2985135" y="2214006"/>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1" name="流程图: 预定义过程 20"/>
          <p:cNvSpPr/>
          <p:nvPr/>
        </p:nvSpPr>
        <p:spPr>
          <a:xfrm>
            <a:off x="4086860" y="2214006"/>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3</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流程图: 预定义过程 21"/>
          <p:cNvSpPr/>
          <p:nvPr/>
        </p:nvSpPr>
        <p:spPr>
          <a:xfrm>
            <a:off x="5188585" y="2214006"/>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4</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3" name="流程图: 预定义过程 22"/>
          <p:cNvSpPr/>
          <p:nvPr/>
        </p:nvSpPr>
        <p:spPr>
          <a:xfrm>
            <a:off x="6290310" y="2214006"/>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流程图: 预定义过程 23"/>
          <p:cNvSpPr/>
          <p:nvPr/>
        </p:nvSpPr>
        <p:spPr>
          <a:xfrm>
            <a:off x="7392035" y="2214006"/>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6</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5" name="流程图: 预定义过程 24"/>
          <p:cNvSpPr/>
          <p:nvPr/>
        </p:nvSpPr>
        <p:spPr>
          <a:xfrm>
            <a:off x="8493760"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7</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6" name="流程图: 预定义过程 25"/>
          <p:cNvSpPr/>
          <p:nvPr/>
        </p:nvSpPr>
        <p:spPr>
          <a:xfrm>
            <a:off x="9595485" y="221400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8</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 name="流程图: 预定义过程 26"/>
          <p:cNvSpPr/>
          <p:nvPr/>
        </p:nvSpPr>
        <p:spPr>
          <a:xfrm>
            <a:off x="188341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9</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 name="流程图: 预定义过程 27"/>
          <p:cNvSpPr/>
          <p:nvPr/>
        </p:nvSpPr>
        <p:spPr>
          <a:xfrm>
            <a:off x="298513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10</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流程图: 预定义过程 28"/>
          <p:cNvSpPr/>
          <p:nvPr/>
        </p:nvSpPr>
        <p:spPr>
          <a:xfrm>
            <a:off x="408686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11</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0" name="流程图: 预定义过程 29"/>
          <p:cNvSpPr/>
          <p:nvPr/>
        </p:nvSpPr>
        <p:spPr>
          <a:xfrm>
            <a:off x="518858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12</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1" name="流程图: 预定义过程 30"/>
          <p:cNvSpPr/>
          <p:nvPr/>
        </p:nvSpPr>
        <p:spPr>
          <a:xfrm>
            <a:off x="629031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13</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2" name="流程图: 预定义过程 31"/>
          <p:cNvSpPr/>
          <p:nvPr/>
        </p:nvSpPr>
        <p:spPr>
          <a:xfrm>
            <a:off x="739203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14</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3" name="流程图: 预定义过程 32"/>
          <p:cNvSpPr/>
          <p:nvPr/>
        </p:nvSpPr>
        <p:spPr>
          <a:xfrm>
            <a:off x="8493760"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15</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4" name="流程图: 预定义过程 33"/>
          <p:cNvSpPr/>
          <p:nvPr/>
        </p:nvSpPr>
        <p:spPr>
          <a:xfrm>
            <a:off x="9595485" y="297537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16</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5" name="流程图: 预定义过程 34"/>
          <p:cNvSpPr/>
          <p:nvPr/>
        </p:nvSpPr>
        <p:spPr>
          <a:xfrm>
            <a:off x="1883410"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17</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6" name="流程图: 预定义过程 35"/>
          <p:cNvSpPr/>
          <p:nvPr/>
        </p:nvSpPr>
        <p:spPr>
          <a:xfrm>
            <a:off x="2985135"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18</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7" name="流程图: 预定义过程 36"/>
          <p:cNvSpPr/>
          <p:nvPr/>
        </p:nvSpPr>
        <p:spPr>
          <a:xfrm>
            <a:off x="4086860"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19</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8" name="流程图: 预定义过程 37"/>
          <p:cNvSpPr/>
          <p:nvPr/>
        </p:nvSpPr>
        <p:spPr>
          <a:xfrm>
            <a:off x="5188585"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20</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9" name="流程图: 预定义过程 38"/>
          <p:cNvSpPr/>
          <p:nvPr/>
        </p:nvSpPr>
        <p:spPr>
          <a:xfrm>
            <a:off x="6290310"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21</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0" name="流程图: 预定义过程 39"/>
          <p:cNvSpPr/>
          <p:nvPr/>
        </p:nvSpPr>
        <p:spPr>
          <a:xfrm>
            <a:off x="7392035" y="3730386"/>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22</a:t>
            </a:r>
            <a:endParaRPr lang="en-US" altLang="zh-CN" sz="280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latin typeface="Times New Roman" panose="02020603050405020304" pitchFamily="18" charset="0"/>
                <a:ea typeface="微软雅黑" panose="020B0503020204020204" pitchFamily="34" charset="-122"/>
                <a:cs typeface="+mn-ea"/>
                <a:sym typeface="Times New Roman" panose="02020603050405020304" pitchFamily="18" charset="0"/>
              </a:rPr>
              <a:t>标黄色为本次作业</a:t>
            </a:r>
            <a:endParaRPr lang="zh-CN" altLang="en-US" sz="2400" b="1"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1" name="流程图: 预定义过程 40"/>
          <p:cNvSpPr/>
          <p:nvPr/>
        </p:nvSpPr>
        <p:spPr>
          <a:xfrm>
            <a:off x="1883410" y="45021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25</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2" name="流程图: 预定义过程 41"/>
          <p:cNvSpPr/>
          <p:nvPr/>
        </p:nvSpPr>
        <p:spPr>
          <a:xfrm>
            <a:off x="2985135" y="45021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26</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4" name="流程图: 预定义过程 43"/>
          <p:cNvSpPr/>
          <p:nvPr/>
        </p:nvSpPr>
        <p:spPr>
          <a:xfrm>
            <a:off x="4086860" y="4502151"/>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27</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6" name="流程图: 预定义过程 45"/>
          <p:cNvSpPr/>
          <p:nvPr/>
        </p:nvSpPr>
        <p:spPr>
          <a:xfrm>
            <a:off x="8493760" y="371864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23</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7" name="流程图: 预定义过程 46"/>
          <p:cNvSpPr/>
          <p:nvPr/>
        </p:nvSpPr>
        <p:spPr>
          <a:xfrm>
            <a:off x="9595485" y="371864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rPr>
              <a:t>24</a:t>
            </a:r>
            <a:endParaRPr lang="en-US" altLang="zh-CN" sz="2800" dirty="0">
              <a:solidFill>
                <a:schemeClr val="tx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课程思政小讲堂</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2" name="内容占位符 3"/>
          <p:cNvSpPr txBox="1"/>
          <p:nvPr/>
        </p:nvSpPr>
        <p:spPr>
          <a:xfrm>
            <a:off x="962317" y="114495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互联网行业的“苦行僧”，由始至今从未言弃</a:t>
            </a:r>
            <a:endPar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 早在</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世纪</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70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年代，国内许多科研院所就已参与到了</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UNIX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自主操作系统的研发中。伴随着</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Linux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系统的诞生，其凭借开源特征得以迅速取代</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UNIX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成为国产操作系统开发的主流。</a:t>
            </a:r>
            <a:endPar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世纪</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90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年代，曾是中国</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Linux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公社（</a:t>
            </a:r>
            <a:r>
              <a:rPr lang="en-US" altLang="zh-CN" sz="2300" dirty="0" err="1">
                <a:latin typeface="Times New Roman" panose="02020603050405020304" pitchFamily="18" charset="0"/>
                <a:ea typeface="微软雅黑" panose="020B0503020204020204" pitchFamily="34" charset="-122"/>
                <a:cs typeface="+mn-ea"/>
                <a:sym typeface="Times New Roman" panose="02020603050405020304" pitchFamily="18" charset="0"/>
              </a:rPr>
              <a:t>Linuxfans</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）的发起人和重要参与者之一的黄建忠，做了一个彻底改变他人生轨迹的选择</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投身北京中科红旗软件技术有限公司（简称中科红旗）。他带领团队以</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Linux</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系统为基础二次开发操作系统，经过多年的努力，国产操作系统无论是布局还是操作方式，都同</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Windows XP</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相差无几，并在易用性等方面基本具备了</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Windows XP</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替代能力。然而，当黄建忠真正走进市场才发现，原本以为是“蓝海”的操作系统领域，其实是“死海”！</a:t>
            </a:r>
            <a:endPar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课程思政小讲堂</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2" name="内容占位符 3"/>
          <p:cNvSpPr txBox="1"/>
          <p:nvPr/>
        </p:nvSpPr>
        <p:spPr>
          <a:xfrm>
            <a:off x="962317" y="114495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互联网行业的“苦行僧”，由始至今从未言弃</a:t>
            </a:r>
            <a:endPar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2009</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年，中国电子信息产业的国家队</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中国电子科技集团，整合集团优势资源，投资设立普华公司，黄建忠又一次义无反顾地投身其中，成为普华技术部研发总监，中科红旗的创业团队也先后投奔过来。普华肩负提升国家基础软件产业核心竞争力的重要使命，</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2014</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年初正式进军国产操作系统领域。</a:t>
            </a:r>
            <a:endPar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 雄厚的资金支持加上富有经验的团队，使得当年</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9</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月普华操作系统</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3.0</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版本便正式发布。但是走进市场才发现，绝大多数人依旧只认</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Windows</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直到“棱镜门”事件爆发与</a:t>
            </a:r>
            <a:r>
              <a:rPr lang="en-US" altLang="zh-CN" sz="2300" dirty="0">
                <a:latin typeface="Times New Roman" panose="02020603050405020304" pitchFamily="18" charset="0"/>
                <a:ea typeface="微软雅黑" panose="020B0503020204020204" pitchFamily="34" charset="-122"/>
                <a:cs typeface="+mn-ea"/>
                <a:sym typeface="Times New Roman" panose="02020603050405020304" pitchFamily="18" charset="0"/>
              </a:rPr>
              <a:t>WannaCry</a:t>
            </a: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音译“想哭”）病毒肆虐全球，网络安全才逐步上升到国家战略层面，具备网络安全优势的国产操作系统逐渐深入人心，得到了业内外的普遍认同，并逐步进入国家政府部门以及金融、能源等经济社会运行的神经中枢。</a:t>
            </a:r>
            <a:endPar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rPr>
              <a:t>课程思政小讲堂</a:t>
            </a:r>
            <a:endParaRPr lang="zh-CN" altLang="en-US" sz="2800" b="1"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52" name="内容占位符 3"/>
          <p:cNvSpPr txBox="1"/>
          <p:nvPr/>
        </p:nvSpPr>
        <p:spPr>
          <a:xfrm>
            <a:off x="962317" y="114495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rPr>
              <a:t>互联网行业的“苦行僧”，由始至今从未言弃</a:t>
            </a:r>
            <a:endParaRPr lang="zh-CN" altLang="en-US" sz="2400" dirty="0">
              <a:solidFill>
                <a:srgbClr val="0000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诚然，操作系统的自主可控是网络强国的关键基石。</a:t>
            </a:r>
            <a:endPar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0" indent="457200" algn="just">
              <a:lnSpc>
                <a:spcPct val="125000"/>
              </a:lnSpc>
              <a:spcBef>
                <a:spcPts val="300"/>
              </a:spcBef>
              <a:spcAft>
                <a:spcPts val="300"/>
              </a:spcAft>
              <a:buFont typeface="Arial" panose="020B0604020202020204" pitchFamily="34" charset="0"/>
              <a:buNone/>
            </a:pPr>
            <a:r>
              <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rPr>
              <a:t>最后，特向所有为国产操作系统研发工作做出贡献、付出心血的各方人士，致敬！</a:t>
            </a:r>
            <a:endParaRPr lang="zh-CN" altLang="en-US" sz="23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A6S0wzOvQ8a50SA42PUNRg"/>
</p:tagLst>
</file>

<file path=ppt/tags/tag8.xml><?xml version="1.0" encoding="utf-8"?>
<p:tagLst xmlns:p="http://schemas.openxmlformats.org/presentationml/2006/main">
  <p:tag name="KSO_WM_UNIT_TABLE_BEAUTIFY" val="smartTable{58a06314-7e72-4d48-85a8-7253ed818c17}"/>
</p:tagLst>
</file>

<file path=ppt/tags/tag9.xml><?xml version="1.0" encoding="utf-8"?>
<p:tagLst xmlns:p="http://schemas.openxmlformats.org/presentationml/2006/main">
  <p:tag name="ISLIDE.DIAGRAM" val="217641"/>
</p:tagLst>
</file>

<file path=ppt/tags/tag10.xml><?xml version="1.0" encoding="utf-8"?>
<p:tagLst xmlns:p="http://schemas.openxmlformats.org/presentationml/2006/main">
  <p:tag name="ISLIDE.DIAGRAM" val="185926"/>
</p:tagLst>
</file>

<file path=ppt/tags/tag11.xml><?xml version="1.0" encoding="utf-8"?>
<p:tagLst xmlns:p="http://schemas.openxmlformats.org/presentationml/2006/main">
  <p:tag name="ISLIDE.DIAGRAM" val="224405"/>
</p:tagLst>
</file>

<file path=ppt/tags/tag12.xml><?xml version="1.0" encoding="utf-8"?>
<p:tagLst xmlns:p="http://schemas.openxmlformats.org/presentationml/2006/main">
  <p:tag name="ISLIDE.DIAGRAM" val="185926"/>
</p:tagLst>
</file>

<file path=ppt/tags/tag13.xml><?xml version="1.0" encoding="utf-8"?>
<p:tagLst xmlns:p="http://schemas.openxmlformats.org/presentationml/2006/main">
  <p:tag name="ISLIDE.DIAGRAM" val="224405"/>
</p:tagLst>
</file>

<file path=ppt/tags/tag14.xml><?xml version="1.0" encoding="utf-8"?>
<p:tagLst xmlns:p="http://schemas.openxmlformats.org/presentationml/2006/main">
  <p:tag name="KSO_WM_UNIT_TABLE_BEAUTIFY" val="smartTable{58a06314-7e72-4d48-85a8-7253ed818c17}"/>
</p:tagLst>
</file>

<file path=ppt/tags/tag15.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lyz4zaq">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8398</Words>
  <Application>WPS 演示</Application>
  <PresentationFormat>宽屏</PresentationFormat>
  <Paragraphs>825</Paragraphs>
  <Slides>54</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4" baseType="lpstr">
      <vt:lpstr>Arial</vt:lpstr>
      <vt:lpstr>宋体</vt:lpstr>
      <vt:lpstr>Wingdings</vt:lpstr>
      <vt:lpstr>Times New Roman</vt:lpstr>
      <vt:lpstr>微软雅黑</vt:lpstr>
      <vt:lpstr>Arial Unicode MS</vt:lpstr>
      <vt:lpstr>Calibri</vt:lpstr>
      <vt:lpstr>Impact</vt:lpstr>
      <vt:lpstr>主题5</vt:lpstr>
      <vt:lpstr>TCLayout.ActiveDocument.1</vt:lpstr>
      <vt:lpstr>第12章 保护和安全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wp</cp:lastModifiedBy>
  <cp:revision>153</cp:revision>
  <cp:lastPrinted>2019-04-18T16:00:00Z</cp:lastPrinted>
  <dcterms:created xsi:type="dcterms:W3CDTF">2019-04-18T16:00:00Z</dcterms:created>
  <dcterms:modified xsi:type="dcterms:W3CDTF">2024-03-05T16:03:12Z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8746C9A8821C40BEB8C574B1DABDD6E7</vt:lpwstr>
  </property>
  <property fmtid="{D5CDD505-2E9C-101B-9397-08002B2CF9AE}" pid="4" name="KSOProductBuildVer">
    <vt:lpwstr>2052-12.1.0.16250</vt:lpwstr>
  </property>
</Properties>
</file>