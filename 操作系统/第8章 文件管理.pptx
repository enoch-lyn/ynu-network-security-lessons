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6"/>
  </p:notesMasterIdLst>
  <p:sldIdLst>
    <p:sldId id="426" r:id="rId3"/>
    <p:sldId id="312" r:id="rId4"/>
    <p:sldId id="315" r:id="rId5"/>
    <p:sldId id="296" r:id="rId6"/>
    <p:sldId id="300" r:id="rId7"/>
    <p:sldId id="364" r:id="rId8"/>
    <p:sldId id="365" r:id="rId9"/>
    <p:sldId id="301" r:id="rId10"/>
    <p:sldId id="366" r:id="rId11"/>
    <p:sldId id="305" r:id="rId12"/>
    <p:sldId id="320" r:id="rId13"/>
    <p:sldId id="321" r:id="rId14"/>
    <p:sldId id="375" r:id="rId15"/>
    <p:sldId id="297" r:id="rId16"/>
    <p:sldId id="369" r:id="rId17"/>
    <p:sldId id="368" r:id="rId18"/>
    <p:sldId id="302" r:id="rId19"/>
    <p:sldId id="370" r:id="rId20"/>
    <p:sldId id="298" r:id="rId21"/>
    <p:sldId id="306" r:id="rId22"/>
    <p:sldId id="371" r:id="rId23"/>
    <p:sldId id="427" r:id="rId24"/>
    <p:sldId id="326" r:id="rId25"/>
    <p:sldId id="304" r:id="rId26"/>
    <p:sldId id="372" r:id="rId27"/>
    <p:sldId id="373" r:id="rId28"/>
    <p:sldId id="376" r:id="rId29"/>
    <p:sldId id="374" r:id="rId30"/>
    <p:sldId id="319" r:id="rId31"/>
    <p:sldId id="379" r:id="rId32"/>
    <p:sldId id="377" r:id="rId33"/>
    <p:sldId id="323" r:id="rId34"/>
    <p:sldId id="378" r:id="rId35"/>
    <p:sldId id="380" r:id="rId36"/>
    <p:sldId id="381" r:id="rId37"/>
    <p:sldId id="299" r:id="rId38"/>
    <p:sldId id="382" r:id="rId39"/>
    <p:sldId id="383" r:id="rId40"/>
    <p:sldId id="348" r:id="rId41"/>
    <p:sldId id="384" r:id="rId42"/>
    <p:sldId id="317" r:id="rId43"/>
    <p:sldId id="385" r:id="rId44"/>
    <p:sldId id="387" r:id="rId45"/>
    <p:sldId id="386" r:id="rId46"/>
    <p:sldId id="388" r:id="rId47"/>
    <p:sldId id="389" r:id="rId48"/>
    <p:sldId id="390" r:id="rId49"/>
    <p:sldId id="391" r:id="rId50"/>
    <p:sldId id="392" r:id="rId51"/>
    <p:sldId id="393" r:id="rId52"/>
    <p:sldId id="303" r:id="rId53"/>
    <p:sldId id="307" r:id="rId54"/>
    <p:sldId id="324" r:id="rId55"/>
    <p:sldId id="394" r:id="rId56"/>
    <p:sldId id="327" r:id="rId57"/>
    <p:sldId id="395" r:id="rId58"/>
    <p:sldId id="396" r:id="rId59"/>
    <p:sldId id="397" r:id="rId60"/>
    <p:sldId id="351" r:id="rId61"/>
    <p:sldId id="309" r:id="rId62"/>
    <p:sldId id="362" r:id="rId63"/>
    <p:sldId id="353" r:id="rId64"/>
    <p:sldId id="363" r:id="rId65"/>
  </p:sldIdLst>
  <p:sldSz cx="12192000" cy="6858000"/>
  <p:notesSz cx="6858000" cy="9144000"/>
  <p:custDataLst>
    <p:tags r:id="rId7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5C"/>
    <a:srgbClr val="FFFF00"/>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0" Type="http://schemas.openxmlformats.org/officeDocument/2006/relationships/tags" Target="tags/tag16.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notesMaster" Target="notesMasters/notesMaster1.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079990"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3.png"/><Relationship Id="rId2" Type="http://schemas.openxmlformats.org/officeDocument/2006/relationships/tags" Target="../tags/tag8.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jpeg"/><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jpe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3.xml"/><Relationship Id="rId4" Type="http://schemas.openxmlformats.org/officeDocument/2006/relationships/image" Target="../media/image13.wmf"/><Relationship Id="rId3" Type="http://schemas.openxmlformats.org/officeDocument/2006/relationships/oleObject" Target="../embeddings/oleObject3.bin"/><Relationship Id="rId2" Type="http://schemas.openxmlformats.org/officeDocument/2006/relationships/image" Target="../media/image12.w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jpe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14.jpeg"/><Relationship Id="rId1" Type="http://schemas.openxmlformats.org/officeDocument/2006/relationships/tags" Target="../tags/tag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jpeg"/><Relationship Id="rId1" Type="http://schemas.openxmlformats.org/officeDocument/2006/relationships/tags" Target="../tags/tag1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5.xml"/><Relationship Id="rId2" Type="http://schemas.openxmlformats.org/officeDocument/2006/relationships/image" Target="../media/image3.png"/><Relationship Id="rId1"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22" name="think-cell Slide" r:id="rId2" imgW="9525" imgH="9525" progId="TCLayout.ActiveDocument.1">
                  <p:embed/>
                </p:oleObj>
              </mc:Choice>
              <mc:Fallback>
                <p:oleObj name="think-cell Slide" r:id="rId2" imgW="9525" imgH="9525" progId="TCLayout.ActiveDocument.1">
                  <p:embed/>
                  <p:pic>
                    <p:nvPicPr>
                      <p:cNvPr id="0" name="图片 2118"/>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8</a:t>
            </a:r>
            <a:r>
              <a:rPr lang="zh-CN" altLang="en-US" sz="4800" dirty="0"/>
              <a:t>章 文件管理</a:t>
            </a:r>
            <a:endParaRPr lang="zh-CN" altLang="en-US" sz="2000" b="0" dirty="0"/>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主讲教师：韦平</a:t>
            </a:r>
            <a:endParaRPr lang="en-US" altLang="zh-CN" b="1" dirty="0">
              <a:solidFill>
                <a:schemeClr val="tx1"/>
              </a:solidFill>
            </a:endParaRPr>
          </a:p>
        </p:txBody>
      </p:sp>
      <p:sp>
        <p:nvSpPr>
          <p:cNvPr id="6" name="矩形 5"/>
          <p:cNvSpPr/>
          <p:nvPr/>
        </p:nvSpPr>
        <p:spPr>
          <a:xfrm>
            <a:off x="933450" y="5034280"/>
            <a:ext cx="6122035" cy="1918335"/>
          </a:xfrm>
          <a:prstGeom prst="rect">
            <a:avLst/>
          </a:prstGeom>
        </p:spPr>
        <p:txBody>
          <a:bodyPr wrap="square">
            <a:spAutoFit/>
          </a:bodyPr>
          <a:lstStyle/>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学院：软件学院</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邮箱：</a:t>
            </a:r>
            <a:r>
              <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weip@ynu.edu.cn</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办公地点：软件学院</a:t>
            </a:r>
            <a:r>
              <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1323</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办公电话：</a:t>
            </a:r>
            <a:r>
              <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15121079110</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8章 知识导图"/>
          <p:cNvPicPr>
            <a:picLocks noChangeAspect="1"/>
          </p:cNvPicPr>
          <p:nvPr/>
        </p:nvPicPr>
        <p:blipFill>
          <a:blip r:embed="rId1"/>
          <a:stretch>
            <a:fillRect/>
          </a:stretch>
        </p:blipFill>
        <p:spPr>
          <a:xfrm>
            <a:off x="4961255" y="788670"/>
            <a:ext cx="6248400" cy="600011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endParaRPr lang="zh-CN" altLang="en-US" sz="2800" b="1" dirty="0">
              <a:solidFill>
                <a:schemeClr val="bg1"/>
              </a:solidFill>
            </a:endParaRPr>
          </a:p>
        </p:txBody>
      </p:sp>
      <p:graphicFrame>
        <p:nvGraphicFramePr>
          <p:cNvPr id="30" name="表格 29"/>
          <p:cNvGraphicFramePr/>
          <p:nvPr>
            <p:custDataLst>
              <p:tags r:id="rId2"/>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第8章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文件管理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b="1" dirty="0">
                <a:solidFill>
                  <a:srgbClr val="0000FF"/>
                </a:solidFill>
                <a:latin typeface="+mj-ea"/>
                <a:ea typeface="+mj-ea"/>
              </a:rPr>
              <a:t>8.1 </a:t>
            </a:r>
            <a:r>
              <a:rPr lang="zh-CN" altLang="en-US" sz="2400" b="1" dirty="0">
                <a:solidFill>
                  <a:srgbClr val="0000FF"/>
                </a:solidFill>
                <a:latin typeface="+mj-ea"/>
                <a:ea typeface="+mj-ea"/>
              </a:rPr>
              <a:t>文件和文件系统</a:t>
            </a:r>
            <a:endParaRPr lang="zh-CN" altLang="en-US" sz="2400" b="1" dirty="0">
              <a:solidFill>
                <a:srgbClr val="0000FF"/>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 </a:t>
            </a:r>
            <a:r>
              <a:rPr lang="zh-CN" altLang="en-US" sz="2800" b="1" dirty="0">
                <a:solidFill>
                  <a:schemeClr val="bg1"/>
                </a:solidFill>
              </a:rPr>
              <a:t>文件和文件系统</a:t>
            </a:r>
            <a:endParaRPr lang="zh-CN" altLang="en-US" sz="2800" b="1" dirty="0">
              <a:solidFill>
                <a:schemeClr val="bg1"/>
              </a:solidFill>
            </a:endParaRPr>
          </a:p>
        </p:txBody>
      </p:sp>
      <p:sp>
        <p:nvSpPr>
          <p:cNvPr id="10" name="矩形 9"/>
          <p:cNvSpPr/>
          <p:nvPr/>
        </p:nvSpPr>
        <p:spPr>
          <a:xfrm>
            <a:off x="1856268" y="1622085"/>
            <a:ext cx="4500146" cy="2538095"/>
          </a:xfrm>
          <a:prstGeom prst="rect">
            <a:avLst/>
          </a:prstGeom>
        </p:spPr>
        <p:txBody>
          <a:bodyPr wrap="square">
            <a:spAutoFit/>
          </a:bodyPr>
          <a:lstStyle/>
          <a:p>
            <a:pPr>
              <a:lnSpc>
                <a:spcPct val="150000"/>
              </a:lnSpc>
              <a:spcBef>
                <a:spcPts val="600"/>
              </a:spcBef>
            </a:pPr>
            <a:r>
              <a:rPr lang="zh-CN" altLang="en-US" sz="2400" dirty="0">
                <a:latin typeface="+mj-ea"/>
                <a:ea typeface="+mj-ea"/>
              </a:rPr>
              <a:t>8.1.1 数据项、记录和文件</a:t>
            </a:r>
            <a:endParaRPr lang="zh-CN" altLang="en-US" sz="2400" dirty="0">
              <a:latin typeface="+mj-ea"/>
              <a:ea typeface="+mj-ea"/>
            </a:endParaRPr>
          </a:p>
          <a:p>
            <a:pPr>
              <a:lnSpc>
                <a:spcPct val="150000"/>
              </a:lnSpc>
              <a:spcBef>
                <a:spcPts val="600"/>
              </a:spcBef>
            </a:pPr>
            <a:r>
              <a:rPr lang="en-US" altLang="zh-CN" sz="2400" dirty="0">
                <a:latin typeface="+mj-ea"/>
                <a:ea typeface="+mj-ea"/>
              </a:rPr>
              <a:t>8.1.2 </a:t>
            </a:r>
            <a:r>
              <a:rPr lang="zh-CN" altLang="en-US" sz="2400" dirty="0">
                <a:latin typeface="+mj-ea"/>
                <a:ea typeface="+mj-ea"/>
              </a:rPr>
              <a:t>文件名和文件类型</a:t>
            </a:r>
            <a:endParaRPr lang="zh-CN" altLang="en-US" sz="2400" dirty="0">
              <a:latin typeface="+mj-ea"/>
              <a:ea typeface="+mj-ea"/>
            </a:endParaRPr>
          </a:p>
          <a:p>
            <a:pPr>
              <a:lnSpc>
                <a:spcPct val="150000"/>
              </a:lnSpc>
              <a:spcBef>
                <a:spcPts val="600"/>
              </a:spcBef>
            </a:pPr>
            <a:r>
              <a:rPr lang="en-US" altLang="zh-CN" sz="2400" dirty="0">
                <a:latin typeface="+mj-ea"/>
                <a:ea typeface="+mj-ea"/>
              </a:rPr>
              <a:t>8.1.3 </a:t>
            </a:r>
            <a:r>
              <a:rPr lang="zh-CN" altLang="en-US" sz="2400" dirty="0">
                <a:latin typeface="+mj-ea"/>
                <a:ea typeface="+mj-ea"/>
              </a:rPr>
              <a:t>文件系统的层次结构</a:t>
            </a:r>
            <a:endParaRPr lang="zh-CN" altLang="en-US" sz="2400" dirty="0">
              <a:latin typeface="+mj-ea"/>
              <a:ea typeface="+mj-ea"/>
            </a:endParaRPr>
          </a:p>
          <a:p>
            <a:pPr>
              <a:lnSpc>
                <a:spcPct val="150000"/>
              </a:lnSpc>
              <a:spcBef>
                <a:spcPts val="600"/>
              </a:spcBef>
            </a:pPr>
            <a:r>
              <a:rPr lang="en-US" altLang="zh-CN" sz="2400" dirty="0">
                <a:latin typeface="+mj-ea"/>
                <a:ea typeface="+mj-ea"/>
              </a:rPr>
              <a:t>8.1.4 </a:t>
            </a:r>
            <a:r>
              <a:rPr lang="zh-CN" altLang="en-US" sz="2400" dirty="0">
                <a:latin typeface="+mj-ea"/>
                <a:ea typeface="+mj-ea"/>
              </a:rPr>
              <a:t>文件操作</a:t>
            </a:r>
            <a:endParaRPr lang="zh-CN" altLang="en-US" sz="2400" dirty="0">
              <a:latin typeface="+mj-ea"/>
              <a:ea typeface="+mj-ea"/>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22" name="图片 2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8.1.1 </a:t>
            </a:r>
            <a:r>
              <a:rPr lang="zh-CN" altLang="en-US" sz="2800" b="1" dirty="0">
                <a:solidFill>
                  <a:schemeClr val="bg1"/>
                </a:solidFill>
              </a:rPr>
              <a:t>数据项、记录和文件</a:t>
            </a:r>
            <a:r>
              <a:rPr lang="en-US" altLang="zh-CN" sz="2800" b="1" dirty="0">
                <a:solidFill>
                  <a:schemeClr val="bg1"/>
                </a:solidFill>
              </a:rPr>
              <a:t>1</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81324"/>
            <a:ext cx="12064260" cy="5008286"/>
            <a:chOff x="660400" y="1181324"/>
            <a:chExt cx="12064260" cy="5008286"/>
          </a:xfrm>
        </p:grpSpPr>
        <p:sp>
          <p:nvSpPr>
            <p:cNvPr id="7" name="iṥlídè"/>
            <p:cNvSpPr/>
            <p:nvPr/>
          </p:nvSpPr>
          <p:spPr>
            <a:xfrm>
              <a:off x="7490905" y="1181324"/>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319182"/>
              <a:ext cx="6593297" cy="1903921"/>
              <a:chOff x="660400" y="1319182"/>
              <a:chExt cx="6593297" cy="1903921"/>
            </a:xfrm>
          </p:grpSpPr>
          <p:grpSp>
            <p:nvGrpSpPr>
              <p:cNvPr id="21" name="iSḻíḓè"/>
              <p:cNvGrpSpPr/>
              <p:nvPr/>
            </p:nvGrpSpPr>
            <p:grpSpPr>
              <a:xfrm>
                <a:off x="1530996" y="1319182"/>
                <a:ext cx="5722701" cy="1903921"/>
                <a:chOff x="1592241" y="1319182"/>
                <a:chExt cx="7217759" cy="1903921"/>
              </a:xfrm>
            </p:grpSpPr>
            <p:sp>
              <p:nvSpPr>
                <p:cNvPr id="25" name="îṧľîḋé"/>
                <p:cNvSpPr txBox="1"/>
                <p:nvPr/>
              </p:nvSpPr>
              <p:spPr>
                <a:xfrm>
                  <a:off x="1592242" y="131918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latin typeface="+mn-ea"/>
                      <a:sym typeface="Wingdings" panose="05000000000000000000" pitchFamily="2" charset="2"/>
                    </a:rPr>
                    <a:t>数据项</a:t>
                  </a:r>
                  <a:endParaRPr lang="zh-CN" altLang="en-US" sz="2400" dirty="0">
                    <a:solidFill>
                      <a:srgbClr val="0000FF"/>
                    </a:solidFill>
                    <a:latin typeface="+mn-ea"/>
                    <a:sym typeface="Wingdings" panose="05000000000000000000" pitchFamily="2" charset="2"/>
                  </a:endParaRPr>
                </a:p>
              </p:txBody>
            </p:sp>
            <p:sp>
              <p:nvSpPr>
                <p:cNvPr id="26" name="íşļîḓé"/>
                <p:cNvSpPr/>
                <p:nvPr/>
              </p:nvSpPr>
              <p:spPr bwMode="auto">
                <a:xfrm>
                  <a:off x="1592241" y="1762904"/>
                  <a:ext cx="7217759" cy="146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10000"/>
                    </a:lnSpc>
                    <a:spcBef>
                      <a:spcPts val="600"/>
                    </a:spcBef>
                    <a:buClr>
                      <a:schemeClr val="accent4">
                        <a:lumMod val="40000"/>
                        <a:lumOff val="60000"/>
                      </a:schemeClr>
                    </a:buClr>
                    <a:buFont typeface="Wingdings" panose="05000000000000000000" pitchFamily="2" charset="2"/>
                    <a:buChar char="Ø"/>
                  </a:pPr>
                  <a:r>
                    <a:rPr lang="zh-CN" altLang="en-US" sz="2400" dirty="0"/>
                    <a:t>基本数据项：描述一个对象的某种属性，又称字段</a:t>
                  </a:r>
                  <a:endParaRPr lang="zh-CN" altLang="en-US" sz="2400" dirty="0"/>
                </a:p>
                <a:p>
                  <a:pPr marL="342900" lvl="1" indent="-342900">
                    <a:lnSpc>
                      <a:spcPct val="110000"/>
                    </a:lnSpc>
                    <a:spcBef>
                      <a:spcPts val="600"/>
                    </a:spcBef>
                    <a:buClr>
                      <a:schemeClr val="accent4">
                        <a:lumMod val="40000"/>
                        <a:lumOff val="60000"/>
                      </a:schemeClr>
                    </a:buClr>
                    <a:buFont typeface="Wingdings" panose="05000000000000000000" pitchFamily="2" charset="2"/>
                    <a:buChar char="Ø"/>
                  </a:pPr>
                  <a:r>
                    <a:rPr lang="zh-CN" altLang="en-US" sz="2400" dirty="0"/>
                    <a:t>组合数据项：由若干个基本数据项组成</a:t>
                  </a:r>
                  <a:endParaRPr lang="zh-CN" altLang="en-US" sz="2400" dirty="0"/>
                </a:p>
              </p:txBody>
            </p:sp>
          </p:grpSp>
          <p:grpSp>
            <p:nvGrpSpPr>
              <p:cNvPr id="22" name="ïS1íḋé"/>
              <p:cNvGrpSpPr/>
              <p:nvPr/>
            </p:nvGrpSpPr>
            <p:grpSpPr>
              <a:xfrm>
                <a:off x="660400" y="1345680"/>
                <a:ext cx="733394" cy="733394"/>
                <a:chOff x="660400" y="1345680"/>
                <a:chExt cx="733394" cy="733394"/>
              </a:xfrm>
            </p:grpSpPr>
            <p:sp>
              <p:nvSpPr>
                <p:cNvPr id="23" name="islîḋe"/>
                <p:cNvSpPr/>
                <p:nvPr/>
              </p:nvSpPr>
              <p:spPr>
                <a:xfrm>
                  <a:off x="660400" y="134568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153055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9925" y="3879073"/>
              <a:ext cx="6615055" cy="2042339"/>
              <a:chOff x="669925" y="1487729"/>
              <a:chExt cx="6615055" cy="2042339"/>
            </a:xfrm>
          </p:grpSpPr>
          <p:grpSp>
            <p:nvGrpSpPr>
              <p:cNvPr id="13" name="ïṧļïḓe"/>
              <p:cNvGrpSpPr/>
              <p:nvPr/>
            </p:nvGrpSpPr>
            <p:grpSpPr>
              <a:xfrm>
                <a:off x="1549400" y="1516799"/>
                <a:ext cx="5735580" cy="2013269"/>
                <a:chOff x="1615452" y="1516799"/>
                <a:chExt cx="7234005" cy="2013269"/>
              </a:xfrm>
            </p:grpSpPr>
            <p:sp>
              <p:nvSpPr>
                <p:cNvPr id="18" name="ïšļíďè"/>
                <p:cNvSpPr txBox="1"/>
                <p:nvPr/>
              </p:nvSpPr>
              <p:spPr>
                <a:xfrm>
                  <a:off x="1615452" y="1516799"/>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zh-CN" altLang="en-US" sz="2400" dirty="0">
                      <a:solidFill>
                        <a:srgbClr val="0000FF"/>
                      </a:solidFill>
                      <a:latin typeface="+mn-ea"/>
                      <a:sym typeface="Wingdings" panose="05000000000000000000" pitchFamily="2" charset="2"/>
                    </a:rPr>
                    <a:t>记录</a:t>
                  </a:r>
                  <a:endParaRPr lang="zh-CN" altLang="en-US" sz="2400" dirty="0">
                    <a:solidFill>
                      <a:srgbClr val="0000FF"/>
                    </a:solidFill>
                    <a:latin typeface="+mn-ea"/>
                    <a:sym typeface="Wingdings" panose="05000000000000000000" pitchFamily="2" charset="2"/>
                  </a:endParaRPr>
                </a:p>
              </p:txBody>
            </p:sp>
            <p:sp>
              <p:nvSpPr>
                <p:cNvPr id="19" name="íşľíḑè"/>
                <p:cNvSpPr/>
                <p:nvPr/>
              </p:nvSpPr>
              <p:spPr bwMode="auto">
                <a:xfrm>
                  <a:off x="1631696" y="2012038"/>
                  <a:ext cx="7217761" cy="151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10000"/>
                    </a:lnSpc>
                    <a:spcBef>
                      <a:spcPts val="600"/>
                    </a:spcBef>
                    <a:buFont typeface="Wingdings" panose="05000000000000000000" pitchFamily="2" charset="2"/>
                    <a:buChar char="Ø"/>
                  </a:pPr>
                  <a:r>
                    <a:rPr lang="zh-CN" altLang="en-US" sz="2400" dirty="0">
                      <a:solidFill>
                        <a:srgbClr val="FF0000"/>
                      </a:solidFill>
                    </a:rPr>
                    <a:t>记录是一组相关数据项的集合</a:t>
                  </a:r>
                  <a:r>
                    <a:rPr lang="zh-CN" altLang="en-US" sz="2400" dirty="0"/>
                    <a:t>，用于描述一个对象在某方面的属性。</a:t>
                  </a:r>
                  <a:endParaRPr lang="zh-CN" altLang="en-US" sz="2400" dirty="0"/>
                </a:p>
                <a:p>
                  <a:pPr marL="342900" lvl="1" indent="-342900">
                    <a:lnSpc>
                      <a:spcPct val="110000"/>
                    </a:lnSpc>
                    <a:spcBef>
                      <a:spcPts val="600"/>
                    </a:spcBef>
                    <a:buFont typeface="Wingdings" panose="05000000000000000000" pitchFamily="2" charset="2"/>
                    <a:buChar char="Ø"/>
                  </a:pPr>
                  <a:r>
                    <a:rPr lang="zh-CN" altLang="en-US" sz="2400" dirty="0"/>
                    <a:t>关键字：唯一能标识一个记录的数据项</a:t>
                  </a:r>
                  <a:endParaRPr lang="zh-CN" altLang="en-US" sz="2400" dirty="0"/>
                </a:p>
                <a:p>
                  <a:pPr marL="342900" lvl="1" indent="-342900">
                    <a:lnSpc>
                      <a:spcPct val="110000"/>
                    </a:lnSpc>
                    <a:spcBef>
                      <a:spcPts val="600"/>
                    </a:spcBef>
                    <a:buFont typeface="Wingdings" panose="05000000000000000000" pitchFamily="2" charset="2"/>
                    <a:buChar char="Ø"/>
                  </a:pPr>
                  <a:r>
                    <a:rPr lang="zh-CN" altLang="en-US" sz="2400" dirty="0"/>
                    <a:t>如：学号、学号</a:t>
                  </a:r>
                  <a:r>
                    <a:rPr lang="en-US" altLang="zh-CN" sz="2400" dirty="0"/>
                    <a:t>+</a:t>
                  </a:r>
                  <a:r>
                    <a:rPr lang="zh-CN" altLang="en-US" sz="2400" dirty="0"/>
                    <a:t>课程号</a:t>
                  </a:r>
                  <a:endParaRPr lang="zh-CN" altLang="en-US" sz="2400" dirty="0"/>
                </a:p>
              </p:txBody>
            </p:sp>
          </p:grpSp>
          <p:grpSp>
            <p:nvGrpSpPr>
              <p:cNvPr id="15" name="ïŝľídè"/>
              <p:cNvGrpSpPr/>
              <p:nvPr/>
            </p:nvGrpSpPr>
            <p:grpSpPr>
              <a:xfrm>
                <a:off x="669925" y="1487729"/>
                <a:ext cx="733394" cy="733394"/>
                <a:chOff x="669925" y="1487729"/>
                <a:chExt cx="733394" cy="733394"/>
              </a:xfrm>
            </p:grpSpPr>
            <p:sp>
              <p:nvSpPr>
                <p:cNvPr id="16" name="ïṡľïde"/>
                <p:cNvSpPr/>
                <p:nvPr/>
              </p:nvSpPr>
              <p:spPr>
                <a:xfrm>
                  <a:off x="669925" y="1487729"/>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16006" y="1699234"/>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816006" y="3566595"/>
              <a:ext cx="635289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文件、记录和数据项</a:t>
            </a:r>
            <a:r>
              <a:rPr lang="en-US" altLang="zh-CN" sz="2800" b="1" dirty="0">
                <a:solidFill>
                  <a:schemeClr val="bg1"/>
                </a:solidFill>
              </a:rPr>
              <a:t>2</a:t>
            </a:r>
            <a:endParaRPr lang="zh-CN" altLang="en-US" sz="2800" b="1" dirty="0">
              <a:solidFill>
                <a:schemeClr val="bg1"/>
              </a:solidFill>
            </a:endParaRPr>
          </a:p>
        </p:txBody>
      </p:sp>
      <p:sp>
        <p:nvSpPr>
          <p:cNvPr id="4" name="文本框 3"/>
          <p:cNvSpPr txBox="1"/>
          <p:nvPr/>
        </p:nvSpPr>
        <p:spPr>
          <a:xfrm>
            <a:off x="1613551" y="1913200"/>
            <a:ext cx="9588005" cy="4366708"/>
          </a:xfrm>
          <a:prstGeom prst="rect">
            <a:avLst/>
          </a:prstGeom>
          <a:noFill/>
        </p:spPr>
        <p:txBody>
          <a:bodyPr wrap="square" rtlCol="0">
            <a:spAutoFit/>
          </a:bodyPr>
          <a:lstStyle/>
          <a:p>
            <a:pPr algn="just">
              <a:lnSpc>
                <a:spcPct val="150000"/>
              </a:lnSpc>
              <a:spcAft>
                <a:spcPts val="600"/>
              </a:spcAft>
            </a:pPr>
            <a:r>
              <a:rPr lang="zh-CN" altLang="en-US" sz="2400" dirty="0">
                <a:latin typeface="+mn-ea"/>
              </a:rPr>
              <a:t>有结构文件（记录）、无结构文件（字符流）</a:t>
            </a:r>
            <a:endParaRPr lang="en-US" altLang="zh-CN" sz="2400" dirty="0">
              <a:latin typeface="+mn-ea"/>
            </a:endParaRPr>
          </a:p>
          <a:p>
            <a:pPr algn="just">
              <a:lnSpc>
                <a:spcPct val="150000"/>
              </a:lnSpc>
              <a:spcAft>
                <a:spcPts val="600"/>
              </a:spcAft>
            </a:pPr>
            <a:r>
              <a:rPr lang="zh-CN" altLang="en-US" sz="2400" dirty="0">
                <a:latin typeface="+mn-ea"/>
              </a:rPr>
              <a:t>在文件系统中文件是最大的数据单位，描述了一个对象集</a:t>
            </a:r>
            <a:endParaRPr lang="zh-CN" altLang="en-US" sz="2400" dirty="0">
              <a:latin typeface="+mn-ea"/>
            </a:endParaRPr>
          </a:p>
          <a:p>
            <a:pPr algn="just">
              <a:lnSpc>
                <a:spcPct val="150000"/>
              </a:lnSpc>
              <a:spcAft>
                <a:spcPts val="600"/>
              </a:spcAft>
            </a:pPr>
            <a:r>
              <a:rPr lang="zh-CN" altLang="en-US" sz="2400" dirty="0">
                <a:latin typeface="+mn-ea"/>
              </a:rPr>
              <a:t>文件的主要属性</a:t>
            </a:r>
            <a:endParaRPr lang="en-US" altLang="zh-CN"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文件类型</a:t>
            </a:r>
            <a:endParaRPr lang="zh-CN" altLang="en-US"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文件长度</a:t>
            </a:r>
            <a:endParaRPr lang="zh-CN" altLang="en-US"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文件的物理位置</a:t>
            </a:r>
            <a:endParaRPr lang="zh-CN" altLang="en-US"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文件的建立时间</a:t>
            </a:r>
            <a:endParaRPr lang="zh-CN" altLang="en-US" sz="2400" dirty="0">
              <a:latin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90443" y="2010067"/>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90443" y="2599081"/>
            <a:ext cx="527050" cy="527050"/>
          </a:xfrm>
          <a:prstGeom prst="rect">
            <a:avLst/>
          </a:prstGeom>
          <a:ln>
            <a:noFill/>
          </a:ln>
          <a:effectLst>
            <a:softEdge rad="0"/>
          </a:effectLst>
        </p:spPr>
      </p:pic>
      <p:sp>
        <p:nvSpPr>
          <p:cNvPr id="10" name="文本框 9"/>
          <p:cNvSpPr txBox="1"/>
          <p:nvPr/>
        </p:nvSpPr>
        <p:spPr>
          <a:xfrm>
            <a:off x="868363" y="1195771"/>
            <a:ext cx="6338680" cy="581057"/>
          </a:xfrm>
          <a:prstGeom prst="rect">
            <a:avLst/>
          </a:prstGeom>
          <a:noFill/>
        </p:spPr>
        <p:txBody>
          <a:bodyPr wrap="square" rtlCol="0">
            <a:spAutoFit/>
          </a:bodyPr>
          <a:lstStyle/>
          <a:p>
            <a:pPr algn="just">
              <a:lnSpc>
                <a:spcPct val="150000"/>
              </a:lnSpc>
              <a:spcAft>
                <a:spcPts val="600"/>
              </a:spcAft>
            </a:pPr>
            <a:r>
              <a:rPr lang="zh-CN" altLang="en-US" sz="2400" dirty="0">
                <a:latin typeface="+mn-ea"/>
              </a:rPr>
              <a:t>文件：具有文件名的一组相关元素的集合</a:t>
            </a:r>
            <a:endParaRPr lang="zh-CN" altLang="en-US" sz="2200" dirty="0">
              <a:latin typeface="+mn-ea"/>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90443" y="3229090"/>
            <a:ext cx="527050" cy="527050"/>
          </a:xfrm>
          <a:prstGeom prst="rect">
            <a:avLst/>
          </a:prstGeom>
          <a:ln>
            <a:noFill/>
          </a:ln>
          <a:effectLst>
            <a:softEdge rad="0"/>
          </a:effectLst>
        </p:spPr>
      </p:pic>
      <p:grpSp>
        <p:nvGrpSpPr>
          <p:cNvPr id="14" name="Group 1050"/>
          <p:cNvGrpSpPr/>
          <p:nvPr/>
        </p:nvGrpSpPr>
        <p:grpSpPr bwMode="auto">
          <a:xfrm>
            <a:off x="4929162" y="3305498"/>
            <a:ext cx="5534076" cy="2792193"/>
            <a:chOff x="2832" y="1800"/>
            <a:chExt cx="2640" cy="1776"/>
          </a:xfrm>
          <a:solidFill>
            <a:schemeClr val="accent1">
              <a:lumMod val="40000"/>
              <a:lumOff val="60000"/>
            </a:schemeClr>
          </a:solidFill>
        </p:grpSpPr>
        <p:grpSp>
          <p:nvGrpSpPr>
            <p:cNvPr id="17" name="Group 1049"/>
            <p:cNvGrpSpPr/>
            <p:nvPr/>
          </p:nvGrpSpPr>
          <p:grpSpPr bwMode="auto">
            <a:xfrm>
              <a:off x="2832" y="1800"/>
              <a:ext cx="2640" cy="1776"/>
              <a:chOff x="2832" y="1728"/>
              <a:chExt cx="2640" cy="1776"/>
            </a:xfrm>
            <a:grpFill/>
          </p:grpSpPr>
          <p:sp>
            <p:nvSpPr>
              <p:cNvPr id="19" name="Rectangle 1029"/>
              <p:cNvSpPr>
                <a:spLocks noChangeArrowheads="1"/>
              </p:cNvSpPr>
              <p:nvPr/>
            </p:nvSpPr>
            <p:spPr bwMode="auto">
              <a:xfrm>
                <a:off x="3840" y="1728"/>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dirty="0">
                    <a:solidFill>
                      <a:schemeClr val="bg1"/>
                    </a:solidFill>
                    <a:latin typeface="Arial" panose="020B0604020202020204" pitchFamily="34" charset="0"/>
                  </a:rPr>
                  <a:t>文件</a:t>
                </a:r>
                <a:endParaRPr lang="zh-CN" altLang="en-US" sz="2000" b="0" dirty="0">
                  <a:solidFill>
                    <a:schemeClr val="bg1"/>
                  </a:solidFill>
                  <a:latin typeface="Arial" panose="020B0604020202020204" pitchFamily="34" charset="0"/>
                </a:endParaRPr>
              </a:p>
            </p:txBody>
          </p:sp>
          <p:sp>
            <p:nvSpPr>
              <p:cNvPr id="21" name="Rectangle 1032"/>
              <p:cNvSpPr>
                <a:spLocks noChangeArrowheads="1"/>
              </p:cNvSpPr>
              <p:nvPr/>
            </p:nvSpPr>
            <p:spPr bwMode="auto">
              <a:xfrm>
                <a:off x="2880"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1</a:t>
                </a:r>
                <a:endParaRPr lang="en-US" altLang="zh-CN" sz="2000" b="0">
                  <a:solidFill>
                    <a:schemeClr val="bg1"/>
                  </a:solidFill>
                  <a:latin typeface="Arial" panose="020B0604020202020204" pitchFamily="34" charset="0"/>
                </a:endParaRPr>
              </a:p>
            </p:txBody>
          </p:sp>
          <p:sp>
            <p:nvSpPr>
              <p:cNvPr id="22" name="Rectangle 1035"/>
              <p:cNvSpPr>
                <a:spLocks noChangeArrowheads="1"/>
              </p:cNvSpPr>
              <p:nvPr/>
            </p:nvSpPr>
            <p:spPr bwMode="auto">
              <a:xfrm>
                <a:off x="2832"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数据项</a:t>
                </a:r>
                <a:r>
                  <a:rPr lang="en-US" altLang="zh-CN" sz="2000" b="0">
                    <a:solidFill>
                      <a:schemeClr val="bg1"/>
                    </a:solidFill>
                    <a:latin typeface="Arial" panose="020B0604020202020204" pitchFamily="34" charset="0"/>
                  </a:rPr>
                  <a:t>1</a:t>
                </a:r>
                <a:endParaRPr lang="en-US" altLang="zh-CN" sz="2000" b="0">
                  <a:solidFill>
                    <a:schemeClr val="bg1"/>
                  </a:solidFill>
                  <a:latin typeface="Arial" panose="020B0604020202020204" pitchFamily="34" charset="0"/>
                </a:endParaRPr>
              </a:p>
            </p:txBody>
          </p:sp>
          <p:sp>
            <p:nvSpPr>
              <p:cNvPr id="23" name="Rectangle 1036"/>
              <p:cNvSpPr>
                <a:spLocks noChangeArrowheads="1"/>
              </p:cNvSpPr>
              <p:nvPr/>
            </p:nvSpPr>
            <p:spPr bwMode="auto">
              <a:xfrm>
                <a:off x="3696"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数据项</a:t>
                </a:r>
                <a:r>
                  <a:rPr lang="en-US" altLang="zh-CN" sz="2000" b="0">
                    <a:solidFill>
                      <a:schemeClr val="bg1"/>
                    </a:solidFill>
                    <a:latin typeface="Arial" panose="020B0604020202020204" pitchFamily="34" charset="0"/>
                  </a:rPr>
                  <a:t>2</a:t>
                </a:r>
                <a:endParaRPr lang="en-US" altLang="zh-CN" sz="2000" b="0">
                  <a:solidFill>
                    <a:schemeClr val="bg1"/>
                  </a:solidFill>
                  <a:latin typeface="Arial" panose="020B0604020202020204" pitchFamily="34" charset="0"/>
                </a:endParaRPr>
              </a:p>
            </p:txBody>
          </p:sp>
          <p:sp>
            <p:nvSpPr>
              <p:cNvPr id="24" name="Rectangle 1037"/>
              <p:cNvSpPr>
                <a:spLocks noChangeArrowheads="1"/>
              </p:cNvSpPr>
              <p:nvPr/>
            </p:nvSpPr>
            <p:spPr bwMode="auto">
              <a:xfrm>
                <a:off x="4800"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dirty="0">
                    <a:solidFill>
                      <a:schemeClr val="bg1"/>
                    </a:solidFill>
                    <a:latin typeface="Arial" panose="020B0604020202020204" pitchFamily="34" charset="0"/>
                  </a:rPr>
                  <a:t>数据项</a:t>
                </a:r>
                <a:r>
                  <a:rPr lang="en-US" altLang="zh-CN" sz="2000" b="0" dirty="0">
                    <a:solidFill>
                      <a:schemeClr val="bg1"/>
                    </a:solidFill>
                    <a:latin typeface="Arial" panose="020B0604020202020204" pitchFamily="34" charset="0"/>
                  </a:rPr>
                  <a:t>n</a:t>
                </a:r>
                <a:endParaRPr lang="en-US" altLang="zh-CN" sz="2000" b="0" dirty="0">
                  <a:solidFill>
                    <a:schemeClr val="bg1"/>
                  </a:solidFill>
                  <a:latin typeface="Arial" panose="020B0604020202020204" pitchFamily="34" charset="0"/>
                </a:endParaRPr>
              </a:p>
            </p:txBody>
          </p:sp>
          <p:sp>
            <p:nvSpPr>
              <p:cNvPr id="25" name="Rectangle 1038"/>
              <p:cNvSpPr>
                <a:spLocks noChangeArrowheads="1"/>
              </p:cNvSpPr>
              <p:nvPr/>
            </p:nvSpPr>
            <p:spPr bwMode="auto">
              <a:xfrm>
                <a:off x="3648"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2</a:t>
                </a:r>
                <a:endParaRPr lang="en-US" altLang="zh-CN" sz="2000" b="0">
                  <a:solidFill>
                    <a:schemeClr val="bg1"/>
                  </a:solidFill>
                  <a:latin typeface="Arial" panose="020B0604020202020204" pitchFamily="34" charset="0"/>
                </a:endParaRPr>
              </a:p>
            </p:txBody>
          </p:sp>
          <p:sp>
            <p:nvSpPr>
              <p:cNvPr id="26" name="Rectangle 1039"/>
              <p:cNvSpPr>
                <a:spLocks noChangeArrowheads="1"/>
              </p:cNvSpPr>
              <p:nvPr/>
            </p:nvSpPr>
            <p:spPr bwMode="auto">
              <a:xfrm>
                <a:off x="4656"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n</a:t>
                </a:r>
                <a:endParaRPr lang="en-US" altLang="zh-CN" sz="2000" b="0">
                  <a:solidFill>
                    <a:schemeClr val="bg1"/>
                  </a:solidFill>
                  <a:latin typeface="Arial" panose="020B0604020202020204" pitchFamily="34" charset="0"/>
                </a:endParaRPr>
              </a:p>
            </p:txBody>
          </p:sp>
          <p:cxnSp>
            <p:nvCxnSpPr>
              <p:cNvPr id="27" name="AutoShape 1040"/>
              <p:cNvCxnSpPr>
                <a:cxnSpLocks noChangeShapeType="1"/>
                <a:stCxn id="19" idx="2"/>
                <a:endCxn id="21" idx="0"/>
              </p:cNvCxnSpPr>
              <p:nvPr/>
            </p:nvCxnSpPr>
            <p:spPr bwMode="auto">
              <a:xfrm rot="5400000">
                <a:off x="3408" y="1776"/>
                <a:ext cx="480" cy="960"/>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1041"/>
              <p:cNvCxnSpPr>
                <a:cxnSpLocks noChangeShapeType="1"/>
                <a:stCxn id="19" idx="2"/>
                <a:endCxn id="26" idx="0"/>
              </p:cNvCxnSpPr>
              <p:nvPr/>
            </p:nvCxnSpPr>
            <p:spPr bwMode="auto">
              <a:xfrm rot="16200000" flipH="1">
                <a:off x="4296" y="1848"/>
                <a:ext cx="480" cy="816"/>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1042"/>
              <p:cNvCxnSpPr>
                <a:cxnSpLocks noChangeShapeType="1"/>
                <a:stCxn id="19" idx="2"/>
                <a:endCxn id="25" idx="0"/>
              </p:cNvCxnSpPr>
              <p:nvPr/>
            </p:nvCxnSpPr>
            <p:spPr bwMode="auto">
              <a:xfrm rot="5400000">
                <a:off x="3792" y="2160"/>
                <a:ext cx="480" cy="192"/>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1044"/>
              <p:cNvCxnSpPr>
                <a:cxnSpLocks noChangeShapeType="1"/>
                <a:stCxn id="25" idx="2"/>
                <a:endCxn id="23" idx="0"/>
              </p:cNvCxnSpPr>
              <p:nvPr/>
            </p:nvCxnSpPr>
            <p:spPr bwMode="auto">
              <a:xfrm rot="16200000" flipH="1">
                <a:off x="3768" y="2952"/>
                <a:ext cx="432" cy="96"/>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1045"/>
              <p:cNvCxnSpPr>
                <a:cxnSpLocks noChangeShapeType="1"/>
                <a:stCxn id="25" idx="2"/>
                <a:endCxn id="22" idx="0"/>
              </p:cNvCxnSpPr>
              <p:nvPr/>
            </p:nvCxnSpPr>
            <p:spPr bwMode="auto">
              <a:xfrm rot="5400000">
                <a:off x="3336" y="2616"/>
                <a:ext cx="432" cy="768"/>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1046"/>
              <p:cNvCxnSpPr>
                <a:cxnSpLocks noChangeShapeType="1"/>
                <a:stCxn id="25" idx="2"/>
                <a:endCxn id="24" idx="0"/>
              </p:cNvCxnSpPr>
              <p:nvPr/>
            </p:nvCxnSpPr>
            <p:spPr bwMode="auto">
              <a:xfrm rot="16200000" flipH="1">
                <a:off x="4320" y="2400"/>
                <a:ext cx="432" cy="1200"/>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1047"/>
              <p:cNvSpPr txBox="1">
                <a:spLocks noChangeArrowheads="1"/>
              </p:cNvSpPr>
              <p:nvPr/>
            </p:nvSpPr>
            <p:spPr bwMode="auto">
              <a:xfrm>
                <a:off x="4316" y="2495"/>
                <a:ext cx="288" cy="275"/>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Monotype Sorts" pitchFamily="2" charset="2"/>
                  <a:buNone/>
                  <a:defRPr/>
                </a:pPr>
                <a:r>
                  <a:rPr lang="en-US" altLang="zh-CN" b="0" dirty="0">
                    <a:solidFill>
                      <a:schemeClr val="bg1"/>
                    </a:solidFill>
                    <a:latin typeface="Arial" panose="020B0604020202020204" pitchFamily="34" charset="0"/>
                  </a:rPr>
                  <a:t>…</a:t>
                </a:r>
                <a:endParaRPr lang="en-US" altLang="zh-CN" b="0" dirty="0">
                  <a:solidFill>
                    <a:schemeClr val="bg1"/>
                  </a:solidFill>
                  <a:latin typeface="Arial" panose="020B0604020202020204" pitchFamily="34" charset="0"/>
                </a:endParaRPr>
              </a:p>
            </p:txBody>
          </p:sp>
        </p:grpSp>
        <p:sp>
          <p:nvSpPr>
            <p:cNvPr id="18" name="Text Box 1048"/>
            <p:cNvSpPr txBox="1">
              <a:spLocks noChangeArrowheads="1"/>
            </p:cNvSpPr>
            <p:nvPr/>
          </p:nvSpPr>
          <p:spPr bwMode="auto">
            <a:xfrm>
              <a:off x="4416" y="3288"/>
              <a:ext cx="336" cy="275"/>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Monotype Sorts" pitchFamily="2" charset="2"/>
                <a:buNone/>
                <a:defRPr/>
              </a:pPr>
              <a:r>
                <a:rPr lang="en-US" altLang="zh-CN" b="0" dirty="0">
                  <a:solidFill>
                    <a:schemeClr val="bg1"/>
                  </a:solidFill>
                  <a:latin typeface="Arial" panose="020B0604020202020204" pitchFamily="34" charset="0"/>
                </a:rPr>
                <a:t>…</a:t>
              </a:r>
              <a:endParaRPr lang="en-US" altLang="zh-CN" b="0" dirty="0">
                <a:solidFill>
                  <a:schemeClr val="bg1"/>
                </a:solidFill>
                <a:latin typeface="Arial" panose="020B0604020202020204" pitchFamily="34" charset="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文件、记录和数据项</a:t>
            </a:r>
            <a:r>
              <a:rPr lang="en-US" altLang="zh-CN" sz="2800" b="1" dirty="0">
                <a:solidFill>
                  <a:schemeClr val="bg1"/>
                </a:solidFill>
              </a:rPr>
              <a:t>2</a:t>
            </a:r>
            <a:endParaRPr lang="zh-CN" altLang="en-US" sz="2800" b="1" dirty="0">
              <a:solidFill>
                <a:schemeClr val="bg1"/>
              </a:solidFill>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72155" y="1525435"/>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72155" y="2233321"/>
            <a:ext cx="527050" cy="527050"/>
          </a:xfrm>
          <a:prstGeom prst="rect">
            <a:avLst/>
          </a:prstGeom>
          <a:ln>
            <a:noFill/>
          </a:ln>
          <a:effectLst>
            <a:softEdge rad="0"/>
          </a:effectLst>
        </p:spPr>
      </p:pic>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72155" y="2945626"/>
            <a:ext cx="527050" cy="527050"/>
          </a:xfrm>
          <a:prstGeom prst="rect">
            <a:avLst/>
          </a:prstGeom>
          <a:ln>
            <a:noFill/>
          </a:ln>
          <a:effectLst>
            <a:softEdge rad="0"/>
          </a:effectLst>
        </p:spPr>
      </p:pic>
      <p:sp>
        <p:nvSpPr>
          <p:cNvPr id="35" name="Rectangle 3"/>
          <p:cNvSpPr txBox="1">
            <a:spLocks noChangeArrowheads="1"/>
          </p:cNvSpPr>
          <p:nvPr/>
        </p:nvSpPr>
        <p:spPr bwMode="auto">
          <a:xfrm>
            <a:off x="1776984" y="1461427"/>
            <a:ext cx="7924800" cy="3546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文件名</a:t>
            </a:r>
            <a:endParaRPr kumimoji="0" lang="en-US" altLang="zh-CN"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L="0" marR="0" lvl="0" indent="0" algn="l" defTabSz="914400" rtl="0" eaLnBrk="1" fontAlgn="base" latinLnBrk="0" hangingPunct="1">
              <a:lnSpc>
                <a:spcPct val="15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sym typeface="Wingdings" panose="05000000000000000000" pitchFamily="2" charset="2"/>
              </a:rPr>
              <a:t>扩展名：文件名后面的若干个附加字符</a:t>
            </a:r>
            <a:endParaRPr kumimoji="0" lang="zh-CN" altLang="en-US" b="0" i="0" u="none" strike="noStrike" kern="1200" cap="none" spc="0" normalizeH="0" baseline="0" noProof="0" dirty="0">
              <a:ln>
                <a:noFill/>
              </a:ln>
              <a:solidFill>
                <a:srgbClr val="FF0000"/>
              </a:solidFill>
              <a:effectLst/>
              <a:uLnTx/>
              <a:uFillTx/>
              <a:latin typeface="+mn-ea"/>
              <a:cs typeface="+mn-cs"/>
              <a:sym typeface="Wingdings" panose="05000000000000000000" pitchFamily="2" charset="2"/>
            </a:endParaRPr>
          </a:p>
          <a:p>
            <a:pPr marL="0" marR="0" lvl="0" indent="0" algn="l" defTabSz="914400" rtl="0" eaLnBrk="1" fontAlgn="base" latinLnBrk="0" hangingPunct="1">
              <a:lnSpc>
                <a:spcPct val="15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文件类型</a:t>
            </a:r>
            <a:endParaRPr kumimoji="0" lang="en-US" altLang="zh-CN"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按用途分类</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按文件中数据的形式分类</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按存取控制属性分类</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indent="-360045" algn="l" defTabSz="914400" rtl="0" eaLnBrk="1" fontAlgn="base" latinLnBrk="0" hangingPunct="1">
              <a:spcBef>
                <a:spcPts val="600"/>
              </a:spcBef>
              <a:spcAft>
                <a:spcPts val="600"/>
              </a:spcAft>
              <a:buClr>
                <a:srgbClr val="9B2D1F"/>
              </a:buClr>
              <a:buSzPct val="85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按组织形式和处理方式分类</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p:txBody>
      </p:sp>
      <p:sp>
        <p:nvSpPr>
          <p:cNvPr id="36" name="íśḷíḋé"/>
          <p:cNvSpPr/>
          <p:nvPr/>
        </p:nvSpPr>
        <p:spPr bwMode="auto">
          <a:xfrm>
            <a:off x="8214967" y="320915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文件类型</a:t>
            </a:r>
            <a:r>
              <a:rPr lang="en-US" altLang="zh-CN" sz="2800" b="1" dirty="0">
                <a:solidFill>
                  <a:schemeClr val="bg1"/>
                </a:solidFill>
              </a:rPr>
              <a:t>(1)</a:t>
            </a:r>
            <a:endParaRPr lang="zh-CN" altLang="en-US" sz="2800" b="1" dirty="0">
              <a:solidFill>
                <a:schemeClr val="bg1"/>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286615" y="1676773"/>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按用途分类</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系统文件</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用户文件</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库文件</a:t>
            </a:r>
            <a:endParaRPr lang="zh-CN" altLang="en-US" sz="2400" dirty="0">
              <a:solidFill>
                <a:schemeClr val="tx1">
                  <a:lumMod val="65000"/>
                  <a:lumOff val="35000"/>
                </a:schemeClr>
              </a:solidFill>
            </a:endParaRPr>
          </a:p>
        </p:txBody>
      </p:sp>
      <p:sp>
        <p:nvSpPr>
          <p:cNvPr id="33" name="内容占位符 2"/>
          <p:cNvSpPr txBox="1"/>
          <p:nvPr/>
        </p:nvSpPr>
        <p:spPr>
          <a:xfrm>
            <a:off x="7696200" y="3235045"/>
            <a:ext cx="4062082" cy="23134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按文件中数据的形式分类</a:t>
            </a:r>
            <a:endParaRPr lang="en-US" altLang="zh-CN" sz="2400" dirty="0"/>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源文件</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目标文件</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可执行文件</a:t>
            </a:r>
            <a:endParaRPr lang="zh-CN" altLang="en-US" sz="2400" dirty="0">
              <a:solidFill>
                <a:schemeClr val="tx1">
                  <a:lumMod val="65000"/>
                  <a:lumOff val="3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文件类型</a:t>
            </a:r>
            <a:r>
              <a:rPr lang="en-US" altLang="zh-CN" sz="2800" b="1" dirty="0">
                <a:solidFill>
                  <a:schemeClr val="bg1"/>
                </a:solidFill>
              </a:rPr>
              <a:t>(2)</a:t>
            </a:r>
            <a:endParaRPr lang="zh-CN" altLang="en-US" sz="2800" b="1" dirty="0">
              <a:solidFill>
                <a:schemeClr val="bg1"/>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748254" y="1605752"/>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按存取控制属性分类</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rgbClr val="FF0000"/>
                </a:solidFill>
              </a:rPr>
              <a:t>只执行文件</a:t>
            </a:r>
            <a:endParaRPr lang="zh-CN" altLang="en-US" sz="2400" dirty="0">
              <a:solidFill>
                <a:srgbClr val="FF0000"/>
              </a:solidFill>
            </a:endParaRPr>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rgbClr val="FF0000"/>
                </a:solidFill>
              </a:rPr>
              <a:t>只读文件</a:t>
            </a:r>
            <a:endParaRPr lang="zh-CN" altLang="en-US" sz="2400" dirty="0">
              <a:solidFill>
                <a:srgbClr val="FF0000"/>
              </a:solidFill>
            </a:endParaRPr>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rgbClr val="FF0000"/>
                </a:solidFill>
              </a:rPr>
              <a:t>读写文件</a:t>
            </a:r>
            <a:endParaRPr lang="zh-CN" altLang="en-US" sz="2400" dirty="0">
              <a:solidFill>
                <a:srgbClr val="FF0000"/>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endParaRPr lang="zh-CN" altLang="en-US" sz="2400" dirty="0">
              <a:solidFill>
                <a:schemeClr val="tx1">
                  <a:lumMod val="65000"/>
                  <a:lumOff val="35000"/>
                </a:schemeClr>
              </a:solidFill>
            </a:endParaRPr>
          </a:p>
        </p:txBody>
      </p:sp>
      <p:sp>
        <p:nvSpPr>
          <p:cNvPr id="33" name="内容占位符 2"/>
          <p:cNvSpPr txBox="1"/>
          <p:nvPr/>
        </p:nvSpPr>
        <p:spPr>
          <a:xfrm>
            <a:off x="7696200" y="3235045"/>
            <a:ext cx="4062082" cy="23134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按组织形式和处理方式分类</a:t>
            </a:r>
            <a:endParaRPr lang="zh-CN" altLang="en-US" sz="2400" dirty="0"/>
          </a:p>
          <a:p>
            <a:pPr marL="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lumMod val="65000"/>
                    <a:lumOff val="35000"/>
                  </a:schemeClr>
                </a:solidFill>
              </a:rPr>
              <a:t>普通文件</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lumMod val="65000"/>
                    <a:lumOff val="35000"/>
                  </a:schemeClr>
                </a:solidFill>
              </a:rPr>
              <a:t>目录文件</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lumMod val="65000"/>
                    <a:lumOff val="35000"/>
                  </a:schemeClr>
                </a:solidFill>
              </a:rPr>
              <a:t>特殊文件</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endParaRPr lang="zh-CN" altLang="en-US" sz="2400" dirty="0">
              <a:solidFill>
                <a:schemeClr val="tx1">
                  <a:lumMod val="65000"/>
                  <a:lumOff val="3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8.1.3 </a:t>
            </a:r>
            <a:r>
              <a:rPr lang="zh-CN" altLang="en-US" sz="2800" b="1" dirty="0">
                <a:solidFill>
                  <a:schemeClr val="bg1"/>
                </a:solidFill>
              </a:rPr>
              <a:t>文件系统的层次结构</a:t>
            </a:r>
            <a:endParaRPr lang="zh-CN" altLang="en-US" sz="2800" b="1" dirty="0">
              <a:solidFill>
                <a:schemeClr val="bg1"/>
              </a:solidFill>
            </a:endParaRPr>
          </a:p>
        </p:txBody>
      </p:sp>
      <p:sp>
        <p:nvSpPr>
          <p:cNvPr id="220" name="íšḻîḋè"/>
          <p:cNvSpPr/>
          <p:nvPr/>
        </p:nvSpPr>
        <p:spPr>
          <a:xfrm>
            <a:off x="1858926" y="3483212"/>
            <a:ext cx="4012471" cy="523971"/>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400" dirty="0"/>
              <a:t>文件管理系统的核心部分</a:t>
            </a:r>
            <a:endParaRPr lang="zh-CN" altLang="en-US" sz="2400" dirty="0"/>
          </a:p>
        </p:txBody>
      </p:sp>
      <p:sp>
        <p:nvSpPr>
          <p:cNvPr id="221" name="i$lîďê"/>
          <p:cNvSpPr/>
          <p:nvPr/>
        </p:nvSpPr>
        <p:spPr>
          <a:xfrm>
            <a:off x="1858927" y="3042764"/>
            <a:ext cx="4980137" cy="392877"/>
          </a:xfrm>
          <a:prstGeom prst="rect">
            <a:avLst/>
          </a:prstGeom>
          <a:noFill/>
          <a:ln>
            <a:noFill/>
          </a:ln>
        </p:spPr>
        <p:txBody>
          <a:bodyPr wrap="square" lIns="91440" tIns="45720" rIns="91440" bIns="45720" anchor="ctr" anchorCtr="0">
            <a:noAutofit/>
          </a:bodyPr>
          <a:lstStyle/>
          <a:p>
            <a:r>
              <a:rPr lang="zh-CN" altLang="en-US" sz="2400" dirty="0"/>
              <a:t>对对象操纵和管理的软件集合</a:t>
            </a:r>
            <a:endParaRPr lang="zh-CN" altLang="en-US" sz="2400" dirty="0"/>
          </a:p>
        </p:txBody>
      </p:sp>
      <p:sp>
        <p:nvSpPr>
          <p:cNvPr id="222" name="î$ļíḋè"/>
          <p:cNvSpPr/>
          <p:nvPr/>
        </p:nvSpPr>
        <p:spPr>
          <a:xfrm>
            <a:off x="1925810" y="4765340"/>
            <a:ext cx="2257252" cy="92561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命令接口</a:t>
            </a:r>
            <a:endParaRPr lang="zh-CN" altLang="en-US" sz="2400" dirty="0">
              <a:solidFill>
                <a:srgbClr val="FF0000"/>
              </a:solidFill>
            </a:endParaRPr>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程序接口</a:t>
            </a:r>
            <a:endParaRPr lang="zh-CN" altLang="en-US" sz="2400" dirty="0">
              <a:solidFill>
                <a:srgbClr val="FF0000"/>
              </a:solidFill>
            </a:endParaRPr>
          </a:p>
        </p:txBody>
      </p:sp>
      <p:sp>
        <p:nvSpPr>
          <p:cNvPr id="223" name="ïṧḷïḋè"/>
          <p:cNvSpPr/>
          <p:nvPr/>
        </p:nvSpPr>
        <p:spPr>
          <a:xfrm>
            <a:off x="1858925" y="4284840"/>
            <a:ext cx="3696051" cy="415102"/>
          </a:xfrm>
          <a:prstGeom prst="rect">
            <a:avLst/>
          </a:prstGeom>
          <a:noFill/>
          <a:ln>
            <a:noFill/>
          </a:ln>
        </p:spPr>
        <p:txBody>
          <a:bodyPr wrap="square" lIns="91440" tIns="45720" rIns="91440" bIns="45720" anchor="ctr" anchorCtr="0">
            <a:noAutofit/>
          </a:bodyPr>
          <a:lstStyle/>
          <a:p>
            <a:r>
              <a:rPr lang="zh-CN" altLang="en-US" sz="2400" dirty="0"/>
              <a:t>文件系统的接口</a:t>
            </a:r>
            <a:endParaRPr lang="zh-CN" altLang="en-US" sz="2400" dirty="0"/>
          </a:p>
        </p:txBody>
      </p:sp>
      <p:sp>
        <p:nvSpPr>
          <p:cNvPr id="224" name="îs1iďé"/>
          <p:cNvSpPr/>
          <p:nvPr/>
        </p:nvSpPr>
        <p:spPr>
          <a:xfrm>
            <a:off x="1858926" y="2127227"/>
            <a:ext cx="6489263" cy="523971"/>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对象</a:t>
            </a:r>
            <a:r>
              <a:rPr lang="zh-CN" altLang="en-US" sz="2400" dirty="0"/>
              <a:t>：文件、目录、磁盘存储空间</a:t>
            </a:r>
            <a:endParaRPr lang="zh-CN" altLang="en-US" sz="2400" dirty="0"/>
          </a:p>
        </p:txBody>
      </p:sp>
      <p:sp>
        <p:nvSpPr>
          <p:cNvPr id="225" name="íšḻíḑê"/>
          <p:cNvSpPr/>
          <p:nvPr/>
        </p:nvSpPr>
        <p:spPr>
          <a:xfrm>
            <a:off x="1858926" y="1721480"/>
            <a:ext cx="3696051" cy="405747"/>
          </a:xfrm>
          <a:prstGeom prst="rect">
            <a:avLst/>
          </a:prstGeom>
          <a:noFill/>
          <a:ln>
            <a:noFill/>
          </a:ln>
        </p:spPr>
        <p:txBody>
          <a:bodyPr wrap="square" lIns="91440" tIns="45720" rIns="91440" bIns="45720" anchor="ctr" anchorCtr="0">
            <a:noAutofit/>
          </a:bodyPr>
          <a:lstStyle/>
          <a:p>
            <a:r>
              <a:rPr lang="zh-CN" altLang="en-US" sz="2400" dirty="0"/>
              <a:t>对象及其属性</a:t>
            </a:r>
            <a:endParaRPr lang="zh-CN" altLang="en-US" sz="2400" dirty="0"/>
          </a:p>
        </p:txBody>
      </p:sp>
      <p:sp>
        <p:nvSpPr>
          <p:cNvPr id="226" name="îSļiḓè"/>
          <p:cNvSpPr/>
          <p:nvPr/>
        </p:nvSpPr>
        <p:spPr>
          <a:xfrm>
            <a:off x="1118978" y="16856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30223" y="430293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8" y="294372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3" y="188177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2" y="316573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49416" y="449239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graphicFrame>
        <p:nvGraphicFramePr>
          <p:cNvPr id="18" name="Group 19"/>
          <p:cNvGraphicFramePr>
            <a:graphicFrameLocks noGrp="1"/>
          </p:cNvGraphicFramePr>
          <p:nvPr/>
        </p:nvGraphicFramePr>
        <p:xfrm>
          <a:off x="6637026" y="3740542"/>
          <a:ext cx="4276526" cy="1487605"/>
        </p:xfrm>
        <a:graphic>
          <a:graphicData uri="http://schemas.openxmlformats.org/drawingml/2006/table">
            <a:tbl>
              <a:tblPr/>
              <a:tblGrid>
                <a:gridCol w="4276526"/>
              </a:tblGrid>
              <a:tr h="34350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文件系统接口</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41" marB="3454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61792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对对象操纵和管理的软件集合</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41" marB="3454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50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对象及其属性</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41" marB="3454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bl>
          </a:graphicData>
        </a:graphic>
      </p:graphicFrame>
      <p:sp>
        <p:nvSpPr>
          <p:cNvPr id="19" name="Line 20"/>
          <p:cNvSpPr>
            <a:spLocks noChangeShapeType="1"/>
          </p:cNvSpPr>
          <p:nvPr/>
        </p:nvSpPr>
        <p:spPr bwMode="auto">
          <a:xfrm flipH="1">
            <a:off x="77516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1" name="Line 21"/>
          <p:cNvSpPr>
            <a:spLocks noChangeShapeType="1"/>
          </p:cNvSpPr>
          <p:nvPr/>
        </p:nvSpPr>
        <p:spPr bwMode="auto">
          <a:xfrm flipH="1">
            <a:off x="83612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2" name="Line 22"/>
          <p:cNvSpPr>
            <a:spLocks noChangeShapeType="1"/>
          </p:cNvSpPr>
          <p:nvPr/>
        </p:nvSpPr>
        <p:spPr bwMode="auto">
          <a:xfrm flipH="1">
            <a:off x="89962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3" name="Line 23"/>
          <p:cNvSpPr>
            <a:spLocks noChangeShapeType="1"/>
          </p:cNvSpPr>
          <p:nvPr/>
        </p:nvSpPr>
        <p:spPr bwMode="auto">
          <a:xfrm flipH="1">
            <a:off x="96566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4" name="Text Box 24"/>
          <p:cNvSpPr txBox="1">
            <a:spLocks noChangeArrowheads="1"/>
          </p:cNvSpPr>
          <p:nvPr/>
        </p:nvSpPr>
        <p:spPr bwMode="auto">
          <a:xfrm>
            <a:off x="7733889" y="2750855"/>
            <a:ext cx="20574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latin typeface="+mn-ea"/>
                <a:ea typeface="+mn-ea"/>
              </a:rPr>
              <a:t>用户（程序）</a:t>
            </a:r>
            <a:endParaRPr lang="zh-CN" altLang="en-US" sz="2400" b="0" dirty="0">
              <a:latin typeface="+mn-ea"/>
              <a:ea typeface="+mn-ea"/>
            </a:endParaRPr>
          </a:p>
        </p:txBody>
      </p:sp>
      <p:sp>
        <p:nvSpPr>
          <p:cNvPr id="25" name="TextBox 1"/>
          <p:cNvSpPr txBox="1"/>
          <p:nvPr/>
        </p:nvSpPr>
        <p:spPr>
          <a:xfrm>
            <a:off x="7256780" y="5814695"/>
            <a:ext cx="3275330" cy="460375"/>
          </a:xfrm>
          <a:prstGeom prst="rect">
            <a:avLst/>
          </a:prstGeom>
          <a:noFill/>
        </p:spPr>
        <p:txBody>
          <a:bodyPr wrap="square" rtlCol="0">
            <a:spAutoFit/>
          </a:bodyPr>
          <a:lstStyle/>
          <a:p>
            <a:r>
              <a:rPr lang="zh-CN" altLang="en-US" sz="2400" dirty="0">
                <a:latin typeface="+mn-ea"/>
              </a:rPr>
              <a:t>文件系统模型示意图</a:t>
            </a:r>
            <a:endParaRPr lang="zh-CN" altLang="en-US" sz="2400" dirty="0">
              <a:latin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对对象操纵和管理的软件集合</a:t>
            </a:r>
            <a:endParaRPr lang="zh-CN" altLang="en-US" sz="2800" b="1" dirty="0">
              <a:solidFill>
                <a:schemeClr val="bg1"/>
              </a:solidFill>
            </a:endParaRPr>
          </a:p>
        </p:txBody>
      </p:sp>
      <p:sp>
        <p:nvSpPr>
          <p:cNvPr id="222" name="î$ļíḋè"/>
          <p:cNvSpPr/>
          <p:nvPr/>
        </p:nvSpPr>
        <p:spPr>
          <a:xfrm>
            <a:off x="1447374" y="4668154"/>
            <a:ext cx="7847546" cy="180933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solidFill>
                  <a:srgbClr val="0000FF"/>
                </a:solidFill>
              </a:rPr>
              <a:t>I/O</a:t>
            </a:r>
            <a:r>
              <a:rPr lang="zh-CN" altLang="en-US" sz="2200" dirty="0">
                <a:solidFill>
                  <a:srgbClr val="0000FF"/>
                </a:solidFill>
              </a:rPr>
              <a:t>控制层</a:t>
            </a:r>
            <a:r>
              <a:rPr lang="zh-CN" altLang="en-US" sz="2200" dirty="0"/>
              <a:t>：文件系统最底层，设备驱动程序层</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solidFill>
                  <a:srgbClr val="0000FF"/>
                </a:solidFill>
              </a:rPr>
              <a:t>基本文件系统层</a:t>
            </a:r>
            <a:r>
              <a:rPr lang="zh-CN" altLang="en-US" sz="2200" dirty="0"/>
              <a:t>：处理内存和磁盘之间数据块的交换</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solidFill>
                  <a:srgbClr val="0000FF"/>
                </a:solidFill>
              </a:rPr>
              <a:t>基本</a:t>
            </a:r>
            <a:r>
              <a:rPr lang="en-US" altLang="zh-CN" sz="2200" dirty="0">
                <a:solidFill>
                  <a:srgbClr val="0000FF"/>
                </a:solidFill>
              </a:rPr>
              <a:t>I/O</a:t>
            </a:r>
            <a:r>
              <a:rPr lang="zh-CN" altLang="en-US" sz="2200" dirty="0">
                <a:solidFill>
                  <a:srgbClr val="0000FF"/>
                </a:solidFill>
              </a:rPr>
              <a:t>管理程序</a:t>
            </a:r>
            <a:r>
              <a:rPr lang="zh-CN" altLang="en-US" sz="2200" dirty="0"/>
              <a:t>：完成与磁盘</a:t>
            </a:r>
            <a:r>
              <a:rPr lang="en-US" altLang="zh-CN" sz="2200" dirty="0"/>
              <a:t>I/O</a:t>
            </a:r>
            <a:r>
              <a:rPr lang="zh-CN" altLang="en-US" sz="2200" dirty="0"/>
              <a:t>有关的事务</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solidFill>
                  <a:srgbClr val="0000FF"/>
                </a:solidFill>
              </a:rPr>
              <a:t>逻辑文件系统</a:t>
            </a:r>
            <a:r>
              <a:rPr lang="zh-CN" altLang="en-US" sz="2200" dirty="0"/>
              <a:t>：处理与记录和文件相关的操作</a:t>
            </a:r>
            <a:endParaRPr lang="zh-CN" altLang="en-US" sz="2200" dirty="0"/>
          </a:p>
        </p:txBody>
      </p:sp>
      <p:sp>
        <p:nvSpPr>
          <p:cNvPr id="223" name="ïṧḷïḋè"/>
          <p:cNvSpPr/>
          <p:nvPr/>
        </p:nvSpPr>
        <p:spPr>
          <a:xfrm>
            <a:off x="1447374" y="4217525"/>
            <a:ext cx="3696051" cy="415102"/>
          </a:xfrm>
          <a:prstGeom prst="rect">
            <a:avLst/>
          </a:prstGeom>
          <a:noFill/>
          <a:ln>
            <a:noFill/>
          </a:ln>
        </p:spPr>
        <p:txBody>
          <a:bodyPr wrap="square" lIns="91440" tIns="45720" rIns="91440" bIns="45720" anchor="ctr" anchorCtr="0">
            <a:noAutofit/>
          </a:bodyPr>
          <a:lstStyle/>
          <a:p>
            <a:r>
              <a:rPr lang="zh-CN" altLang="en-US" sz="2400" dirty="0"/>
              <a:t>与文件系统有关的软件</a:t>
            </a:r>
            <a:endParaRPr lang="zh-CN" altLang="en-US" sz="2400" dirty="0"/>
          </a:p>
        </p:txBody>
      </p:sp>
      <p:sp>
        <p:nvSpPr>
          <p:cNvPr id="224" name="îs1iďé"/>
          <p:cNvSpPr/>
          <p:nvPr/>
        </p:nvSpPr>
        <p:spPr>
          <a:xfrm>
            <a:off x="1466430" y="1572662"/>
            <a:ext cx="9711234" cy="2528822"/>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对文件存储空间的管理</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对文件目录的管理</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用于将文件的逻辑地址转换为物理地址的机制</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对文件读和写的管理</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对文件的共享和保护</a:t>
            </a:r>
            <a:endParaRPr lang="zh-CN" altLang="en-US" sz="2200" dirty="0"/>
          </a:p>
        </p:txBody>
      </p:sp>
      <p:sp>
        <p:nvSpPr>
          <p:cNvPr id="225" name="íšḻíḑê"/>
          <p:cNvSpPr/>
          <p:nvPr/>
        </p:nvSpPr>
        <p:spPr>
          <a:xfrm>
            <a:off x="1447373" y="1130734"/>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文件系统的功能</a:t>
            </a:r>
            <a:endParaRPr lang="zh-CN" altLang="en-US" sz="2400" dirty="0">
              <a:solidFill>
                <a:srgbClr val="FF0000"/>
              </a:solidFill>
            </a:endParaRPr>
          </a:p>
        </p:txBody>
      </p:sp>
      <p:sp>
        <p:nvSpPr>
          <p:cNvPr id="226" name="îSļiḓè"/>
          <p:cNvSpPr/>
          <p:nvPr/>
        </p:nvSpPr>
        <p:spPr>
          <a:xfrm>
            <a:off x="763870" y="111717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763870" y="413492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954125" y="131331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983063" y="432438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pic>
        <p:nvPicPr>
          <p:cNvPr id="23" name="图片 22"/>
          <p:cNvPicPr>
            <a:picLocks noChangeAspect="1"/>
          </p:cNvPicPr>
          <p:nvPr/>
        </p:nvPicPr>
        <p:blipFill>
          <a:blip r:embed="rId1"/>
          <a:stretch>
            <a:fillRect/>
          </a:stretch>
        </p:blipFill>
        <p:spPr>
          <a:xfrm>
            <a:off x="7929970" y="1037273"/>
            <a:ext cx="3498160" cy="40347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8.1.4 </a:t>
            </a:r>
            <a:r>
              <a:rPr lang="zh-CN" altLang="en-US" sz="2800" b="1" dirty="0">
                <a:solidFill>
                  <a:schemeClr val="bg1"/>
                </a:solidFill>
              </a:rPr>
              <a:t>文件操作</a:t>
            </a:r>
            <a:endParaRPr lang="zh-CN" altLang="en-US" sz="2800" b="1" dirty="0">
              <a:solidFill>
                <a:schemeClr val="bg1"/>
              </a:solidFill>
            </a:endParaRPr>
          </a:p>
        </p:txBody>
      </p:sp>
      <p:sp>
        <p:nvSpPr>
          <p:cNvPr id="220" name="íšḻîḋè"/>
          <p:cNvSpPr/>
          <p:nvPr/>
        </p:nvSpPr>
        <p:spPr>
          <a:xfrm>
            <a:off x="1746844" y="3417718"/>
            <a:ext cx="9554430"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0000FF"/>
                </a:solidFill>
              </a:rPr>
              <a:t>打开</a:t>
            </a:r>
            <a:r>
              <a:rPr lang="en-US" altLang="zh-CN" sz="2400" dirty="0">
                <a:solidFill>
                  <a:srgbClr val="0000FF"/>
                </a:solidFill>
              </a:rPr>
              <a:t>open</a:t>
            </a:r>
            <a:r>
              <a:rPr lang="zh-CN" altLang="en-US" sz="2400" dirty="0"/>
              <a:t>：系统将文件从外存拷贝到内存打开文件表的一个表目中。</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关闭</a:t>
            </a:r>
            <a:r>
              <a:rPr lang="en-US" altLang="zh-CN" sz="2400" dirty="0">
                <a:solidFill>
                  <a:srgbClr val="FF0000"/>
                </a:solidFill>
              </a:rPr>
              <a:t>close</a:t>
            </a:r>
            <a:r>
              <a:rPr lang="zh-CN" altLang="en-US" sz="2400" dirty="0"/>
              <a:t>：把文件从打开文件表的表目中删除。</a:t>
            </a:r>
            <a:endParaRPr lang="zh-CN" altLang="en-US" sz="2400" dirty="0"/>
          </a:p>
        </p:txBody>
      </p:sp>
      <p:sp>
        <p:nvSpPr>
          <p:cNvPr id="221" name="i$lîďê"/>
          <p:cNvSpPr/>
          <p:nvPr/>
        </p:nvSpPr>
        <p:spPr>
          <a:xfrm>
            <a:off x="1802479" y="2966592"/>
            <a:ext cx="4802507" cy="392877"/>
          </a:xfrm>
          <a:prstGeom prst="rect">
            <a:avLst/>
          </a:prstGeom>
          <a:noFill/>
          <a:ln>
            <a:noFill/>
          </a:ln>
        </p:spPr>
        <p:txBody>
          <a:bodyPr wrap="square" lIns="91440" tIns="45720" rIns="91440" bIns="45720" anchor="ctr" anchorCtr="0">
            <a:noAutofit/>
          </a:bodyPr>
          <a:lstStyle/>
          <a:p>
            <a:r>
              <a:rPr lang="zh-CN" altLang="en-US" sz="2400" dirty="0"/>
              <a:t>文件的“</a:t>
            </a:r>
            <a:r>
              <a:rPr lang="zh-CN" altLang="en-US" sz="2400" dirty="0">
                <a:solidFill>
                  <a:srgbClr val="0000FF"/>
                </a:solidFill>
              </a:rPr>
              <a:t>打开</a:t>
            </a:r>
            <a:r>
              <a:rPr lang="zh-CN" altLang="en-US" sz="2400" dirty="0"/>
              <a:t>”和“</a:t>
            </a:r>
            <a:r>
              <a:rPr lang="zh-CN" altLang="en-US" sz="2400" dirty="0">
                <a:solidFill>
                  <a:srgbClr val="FF0000"/>
                </a:solidFill>
              </a:rPr>
              <a:t>关闭</a:t>
            </a:r>
            <a:r>
              <a:rPr lang="zh-CN" altLang="en-US" sz="2400" dirty="0"/>
              <a:t>”操作：</a:t>
            </a:r>
            <a:endParaRPr lang="zh-CN" altLang="en-US" sz="2400" dirty="0"/>
          </a:p>
        </p:txBody>
      </p:sp>
      <p:sp>
        <p:nvSpPr>
          <p:cNvPr id="222" name="î$ļíḋè"/>
          <p:cNvSpPr/>
          <p:nvPr/>
        </p:nvSpPr>
        <p:spPr>
          <a:xfrm>
            <a:off x="1802479" y="5171804"/>
            <a:ext cx="9730290" cy="103176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重命名、改文件拥有者、查询文件状态等。</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创建</a:t>
            </a:r>
            <a:r>
              <a:rPr lang="en-US" altLang="zh-CN" sz="2400" dirty="0"/>
              <a:t>/</a:t>
            </a:r>
            <a:r>
              <a:rPr lang="zh-CN" altLang="en-US" sz="2400" dirty="0"/>
              <a:t>删除目录。</a:t>
            </a:r>
            <a:endParaRPr lang="zh-CN" altLang="en-US" sz="2400" dirty="0"/>
          </a:p>
        </p:txBody>
      </p:sp>
      <p:sp>
        <p:nvSpPr>
          <p:cNvPr id="223" name="ïṧḷïḋè"/>
          <p:cNvSpPr/>
          <p:nvPr/>
        </p:nvSpPr>
        <p:spPr>
          <a:xfrm>
            <a:off x="1802481" y="4738946"/>
            <a:ext cx="3696051" cy="415102"/>
          </a:xfrm>
          <a:prstGeom prst="rect">
            <a:avLst/>
          </a:prstGeom>
          <a:noFill/>
          <a:ln>
            <a:noFill/>
          </a:ln>
        </p:spPr>
        <p:txBody>
          <a:bodyPr wrap="square" lIns="91440" tIns="45720" rIns="91440" bIns="45720" anchor="ctr" anchorCtr="0">
            <a:noAutofit/>
          </a:bodyPr>
          <a:lstStyle/>
          <a:p>
            <a:r>
              <a:rPr lang="zh-CN" altLang="en-US" sz="2400" dirty="0"/>
              <a:t>其他文件操作：</a:t>
            </a:r>
            <a:endParaRPr lang="zh-CN" altLang="en-US" sz="2400" dirty="0"/>
          </a:p>
        </p:txBody>
      </p:sp>
      <p:sp>
        <p:nvSpPr>
          <p:cNvPr id="224" name="îs1iďé"/>
          <p:cNvSpPr/>
          <p:nvPr/>
        </p:nvSpPr>
        <p:spPr>
          <a:xfrm>
            <a:off x="1821535" y="1637377"/>
            <a:ext cx="9711234" cy="987663"/>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创建文件、删除文件、读文件、写文件。</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设置文件的读</a:t>
            </a:r>
            <a:r>
              <a:rPr lang="en-US" altLang="zh-CN" sz="2400" dirty="0"/>
              <a:t>/</a:t>
            </a:r>
            <a:r>
              <a:rPr lang="zh-CN" altLang="en-US" sz="2400" dirty="0"/>
              <a:t>写位置。</a:t>
            </a:r>
            <a:endParaRPr lang="zh-CN" altLang="en-US" sz="2400" dirty="0"/>
          </a:p>
        </p:txBody>
      </p:sp>
      <p:sp>
        <p:nvSpPr>
          <p:cNvPr id="225"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t>最基本的文件操作：</a:t>
            </a:r>
            <a:endParaRPr lang="zh-CN" altLang="en-US" sz="2400" dirty="0"/>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469498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29175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13959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488444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b="1" dirty="0">
                <a:solidFill>
                  <a:srgbClr val="0000FF"/>
                </a:solidFill>
                <a:latin typeface="+mj-ea"/>
              </a:rPr>
              <a:t>8.2 </a:t>
            </a:r>
            <a:r>
              <a:rPr lang="zh-CN" altLang="en-US" sz="2400" b="1" dirty="0">
                <a:solidFill>
                  <a:srgbClr val="0000FF"/>
                </a:solidFill>
                <a:latin typeface="+mj-ea"/>
              </a:rPr>
              <a:t>文件的逻辑结构</a:t>
            </a:r>
            <a:endParaRPr lang="en-US" altLang="zh-CN" sz="2400" b="1" dirty="0">
              <a:solidFill>
                <a:srgbClr val="0000FF"/>
              </a:solidFill>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8.1.2 </a:t>
            </a:r>
            <a:r>
              <a:rPr lang="zh-CN" altLang="en-US" sz="2800" b="1" dirty="0">
                <a:solidFill>
                  <a:schemeClr val="bg1"/>
                </a:solidFill>
              </a:rPr>
              <a:t>文件名和文件类型</a:t>
            </a:r>
            <a:endParaRPr lang="zh-CN" altLang="en-US" sz="2800" b="1" dirty="0">
              <a:solidFill>
                <a:schemeClr val="bg1"/>
              </a:solidFill>
            </a:endParaRPr>
          </a:p>
        </p:txBody>
      </p:sp>
      <p:sp>
        <p:nvSpPr>
          <p:cNvPr id="40"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174124"/>
            <a:ext cx="8476585" cy="3326855"/>
            <a:chOff x="4136995" y="1170302"/>
            <a:chExt cx="8476585" cy="332685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170302"/>
              <a:ext cx="7730862" cy="332685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solidFill>
                    <a:srgbClr val="0000FF"/>
                  </a:solidFill>
                  <a:latin typeface="+mj-ea"/>
                  <a:ea typeface="+mj-ea"/>
                </a:rPr>
                <a:t>文件结构</a:t>
              </a:r>
              <a:endParaRPr lang="zh-CN" altLang="en-US" sz="2400" dirty="0">
                <a:solidFill>
                  <a:srgbClr val="0000FF"/>
                </a:solidFill>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solidFill>
                    <a:srgbClr val="FF0000"/>
                  </a:solidFill>
                  <a:latin typeface="+mj-ea"/>
                  <a:ea typeface="+mj-ea"/>
                </a:rPr>
                <a:t>文件的逻辑结构：</a:t>
              </a:r>
              <a:r>
                <a:rPr lang="zh-CN" altLang="en-US" sz="2400" dirty="0">
                  <a:latin typeface="+mj-ea"/>
                  <a:ea typeface="+mj-ea"/>
                </a:rPr>
                <a:t>从用户观点所观察的文件组织形式</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u="sng" dirty="0">
                  <a:solidFill>
                    <a:srgbClr val="0000FF"/>
                  </a:solidFill>
                  <a:latin typeface="+mj-ea"/>
                  <a:ea typeface="+mj-ea"/>
                </a:rPr>
                <a:t>文件的物理结构：</a:t>
              </a:r>
              <a:r>
                <a:rPr lang="zh-CN" altLang="en-US" sz="2400" dirty="0">
                  <a:latin typeface="+mj-ea"/>
                  <a:ea typeface="+mj-ea"/>
                </a:rPr>
                <a:t>文件的存储结构，指系统将文件存储在外存上所形成的一种存储组织形式</a:t>
              </a:r>
              <a:endParaRPr lang="zh-CN" altLang="en-US" sz="2400" dirty="0">
                <a:latin typeface="+mj-ea"/>
                <a:ea typeface="+mj-ea"/>
              </a:endParaRPr>
            </a:p>
            <a:p>
              <a:pPr marL="800100" lvl="1" indent="-342900" algn="just">
                <a:lnSpc>
                  <a:spcPct val="130000"/>
                </a:lnSpc>
                <a:buClr>
                  <a:srgbClr val="FF0000"/>
                </a:buClr>
                <a:buFont typeface="Wingdings" panose="05000000000000000000" pitchFamily="2" charset="2"/>
                <a:buChar char="p"/>
              </a:pPr>
              <a:r>
                <a:rPr lang="zh-CN" altLang="en-US" sz="2400" dirty="0">
                  <a:latin typeface="+mj-ea"/>
                  <a:ea typeface="+mj-ea"/>
                </a:rPr>
                <a:t>不仅与存储介质的存储性能有关</a:t>
              </a:r>
              <a:endParaRPr lang="zh-CN" altLang="en-US" sz="2400" dirty="0">
                <a:latin typeface="+mj-ea"/>
                <a:ea typeface="+mj-ea"/>
              </a:endParaRPr>
            </a:p>
            <a:p>
              <a:pPr marL="800100" lvl="1" indent="-342900" algn="just">
                <a:lnSpc>
                  <a:spcPct val="130000"/>
                </a:lnSpc>
                <a:buClr>
                  <a:srgbClr val="FF0000"/>
                </a:buClr>
                <a:buFont typeface="Wingdings" panose="05000000000000000000" pitchFamily="2" charset="2"/>
                <a:buChar char="p"/>
              </a:pPr>
              <a:r>
                <a:rPr lang="zh-CN" altLang="en-US" sz="2400" dirty="0">
                  <a:latin typeface="+mj-ea"/>
                  <a:ea typeface="+mj-ea"/>
                </a:rPr>
                <a:t>也与所采用的外存分配方式有关</a:t>
              </a:r>
              <a:endParaRPr lang="zh-CN" altLang="en-US" sz="2400" dirty="0">
                <a:latin typeface="+mj-ea"/>
                <a:ea typeface="+mj-ea"/>
              </a:endParaRPr>
            </a:p>
          </p:txBody>
        </p:sp>
      </p:grpSp>
      <p:grpSp>
        <p:nvGrpSpPr>
          <p:cNvPr id="48" name="ïSlíḍê"/>
          <p:cNvGrpSpPr/>
          <p:nvPr/>
        </p:nvGrpSpPr>
        <p:grpSpPr>
          <a:xfrm>
            <a:off x="3348471" y="4709230"/>
            <a:ext cx="8378931" cy="609616"/>
            <a:chOff x="4136995" y="5051755"/>
            <a:chExt cx="8378931" cy="609616"/>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5051755"/>
              <a:ext cx="7633209" cy="609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文件的逻辑结构和物理结构，都影响文件的检索速度</a:t>
              </a:r>
              <a:endParaRPr lang="zh-CN" altLang="en-US" sz="24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8.1.2 </a:t>
            </a:r>
            <a:r>
              <a:rPr lang="zh-CN" altLang="en-US" sz="2800" b="1" dirty="0">
                <a:solidFill>
                  <a:schemeClr val="bg1"/>
                </a:solidFill>
              </a:rPr>
              <a:t>文件名和文件类型</a:t>
            </a:r>
            <a:endParaRPr lang="zh-CN" altLang="en-US" sz="2800" b="1" dirty="0">
              <a:solidFill>
                <a:schemeClr val="bg1"/>
              </a:solidFill>
            </a:endParaRPr>
          </a:p>
        </p:txBody>
      </p:sp>
      <p:sp>
        <p:nvSpPr>
          <p:cNvPr id="11"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3"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4" name="内容占位符 2"/>
          <p:cNvSpPr txBox="1"/>
          <p:nvPr/>
        </p:nvSpPr>
        <p:spPr>
          <a:xfrm>
            <a:off x="894703" y="2556676"/>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按文件是否有结构分类</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有结构文件（记录式文件）</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lumMod val="65000"/>
                    <a:lumOff val="35000"/>
                  </a:schemeClr>
                </a:solidFill>
              </a:rPr>
              <a:t>定长记录</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lumMod val="65000"/>
                    <a:lumOff val="35000"/>
                  </a:schemeClr>
                </a:solidFill>
              </a:rPr>
              <a:t>变长记录</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无结构文件（流式文件）</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lumMod val="65000"/>
                    <a:lumOff val="35000"/>
                  </a:schemeClr>
                </a:solidFill>
              </a:rPr>
              <a:t>源程序、可执行文件、库函数</a:t>
            </a:r>
            <a:endParaRPr lang="zh-CN" altLang="en-US" sz="2200" dirty="0">
              <a:solidFill>
                <a:schemeClr val="tx1">
                  <a:lumMod val="65000"/>
                  <a:lumOff val="35000"/>
                </a:schemeClr>
              </a:solidFill>
            </a:endParaRPr>
          </a:p>
        </p:txBody>
      </p:sp>
      <p:sp>
        <p:nvSpPr>
          <p:cNvPr id="15"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有结构文件按文件的记录方式分类</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顺序文件</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索引文件</a:t>
            </a:r>
            <a:endParaRPr lang="zh-CN" altLang="en-US" sz="22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索引顺序文件</a:t>
            </a:r>
            <a:endParaRPr lang="zh-CN" altLang="en-US" sz="2200" dirty="0">
              <a:solidFill>
                <a:srgbClr val="0000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8.2.2 </a:t>
            </a:r>
            <a:r>
              <a:rPr lang="zh-CN" altLang="en-US" sz="2800" b="1" dirty="0">
                <a:solidFill>
                  <a:schemeClr val="bg1"/>
                </a:solidFill>
              </a:rPr>
              <a:t>顺序文件</a:t>
            </a:r>
            <a:r>
              <a:rPr lang="en-US" altLang="zh-CN" sz="2800" b="1" dirty="0">
                <a:solidFill>
                  <a:schemeClr val="bg1"/>
                </a:solidFill>
              </a:rPr>
              <a:t>1</a:t>
            </a:r>
            <a:endParaRPr lang="zh-CN" altLang="en-US" sz="2800" b="1" dirty="0">
              <a:solidFill>
                <a:schemeClr val="bg1"/>
              </a:solidFill>
            </a:endParaRPr>
          </a:p>
        </p:txBody>
      </p:sp>
      <p:sp>
        <p:nvSpPr>
          <p:cNvPr id="11"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3"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4" name="内容占位符 2"/>
          <p:cNvSpPr txBox="1"/>
          <p:nvPr/>
        </p:nvSpPr>
        <p:spPr>
          <a:xfrm>
            <a:off x="894703" y="2556677"/>
            <a:ext cx="3499744" cy="22727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580"/>
              </a:spcBef>
              <a:buNone/>
              <a:defRPr/>
            </a:pPr>
            <a:r>
              <a:rPr lang="zh-CN" altLang="en-US" sz="2400" dirty="0">
                <a:solidFill>
                  <a:srgbClr val="FF0000"/>
                </a:solidFill>
              </a:rPr>
              <a:t>串结构</a:t>
            </a:r>
            <a:r>
              <a:rPr lang="zh-CN" altLang="en-US" sz="2400" dirty="0"/>
              <a:t>：按存入时间的先后排序，记录间的顺序与关键字无关</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检索比较费时</a:t>
            </a:r>
            <a:endParaRPr lang="zh-CN" altLang="en-US" sz="2400" dirty="0">
              <a:solidFill>
                <a:schemeClr val="tx1">
                  <a:lumMod val="65000"/>
                  <a:lumOff val="35000"/>
                </a:schemeClr>
              </a:solidFill>
            </a:endParaRPr>
          </a:p>
        </p:txBody>
      </p:sp>
      <p:sp>
        <p:nvSpPr>
          <p:cNvPr id="15" name="内容占位符 2"/>
          <p:cNvSpPr txBox="1"/>
          <p:nvPr/>
        </p:nvSpPr>
        <p:spPr>
          <a:xfrm>
            <a:off x="7696200" y="3235045"/>
            <a:ext cx="4062082" cy="29083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顺序结构：</a:t>
            </a:r>
            <a:r>
              <a:rPr lang="zh-CN" altLang="en-US" sz="2400" dirty="0"/>
              <a:t>指定一个字段为关键字，所有记录按关键字排序</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检索时可利用有效的查找算法，折半查找法、插值查找法、跳步查找法等</a:t>
            </a:r>
            <a:endParaRPr lang="zh-CN" altLang="en-US" sz="2200" dirty="0"/>
          </a:p>
        </p:txBody>
      </p:sp>
      <p:sp>
        <p:nvSpPr>
          <p:cNvPr id="16" name="内容占位符 2"/>
          <p:cNvSpPr txBox="1"/>
          <p:nvPr/>
        </p:nvSpPr>
        <p:spPr>
          <a:xfrm>
            <a:off x="962888" y="1276683"/>
            <a:ext cx="4308362" cy="4023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顺序文件的排列方式</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顺序文件的优缺点</a:t>
            </a:r>
            <a:endParaRPr lang="zh-CN" altLang="en-US" sz="2800" b="1" dirty="0">
              <a:solidFill>
                <a:schemeClr val="bg1"/>
              </a:solidFill>
            </a:endParaRPr>
          </a:p>
        </p:txBody>
      </p:sp>
      <p:sp>
        <p:nvSpPr>
          <p:cNvPr id="5" name="矩形: 圆角 4"/>
          <p:cNvSpPr/>
          <p:nvPr/>
        </p:nvSpPr>
        <p:spPr>
          <a:xfrm>
            <a:off x="1399083" y="1388815"/>
            <a:ext cx="133899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优点：</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1400389" y="2107607"/>
            <a:ext cx="5412543"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有利于大批记录读写</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存取效率最高</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可存储在顺序存储设备（磁带）上</a:t>
            </a:r>
            <a:endParaRPr lang="zh-CN" altLang="en-US" sz="2400" dirty="0"/>
          </a:p>
        </p:txBody>
      </p:sp>
      <p:sp>
        <p:nvSpPr>
          <p:cNvPr id="7" name="矩形: 圆角 4"/>
          <p:cNvSpPr/>
          <p:nvPr/>
        </p:nvSpPr>
        <p:spPr>
          <a:xfrm>
            <a:off x="1399084" y="3985771"/>
            <a:ext cx="1338998"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缺点</a:t>
            </a:r>
            <a:endParaRPr lang="zh-CN" altLang="en-US" sz="2800" dirty="0">
              <a:solidFill>
                <a:schemeClr val="bg1"/>
              </a:solidFill>
              <a:sym typeface="Wingdings" panose="05000000000000000000" pitchFamily="2" charset="2"/>
            </a:endParaRPr>
          </a:p>
        </p:txBody>
      </p:sp>
      <p:sp>
        <p:nvSpPr>
          <p:cNvPr id="8" name="内容占位符 2"/>
          <p:cNvSpPr txBox="1"/>
          <p:nvPr/>
        </p:nvSpPr>
        <p:spPr>
          <a:xfrm>
            <a:off x="1399083" y="4708355"/>
            <a:ext cx="4978348"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查找或修改单个记录：差</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增加或删除一个记录：难</a:t>
            </a:r>
            <a:endParaRPr lang="zh-CN" altLang="en-US" sz="2400" dirty="0"/>
          </a:p>
        </p:txBody>
      </p:sp>
      <p:sp>
        <p:nvSpPr>
          <p:cNvPr id="11" name="íśḷíḋé"/>
          <p:cNvSpPr/>
          <p:nvPr/>
        </p:nvSpPr>
        <p:spPr bwMode="auto">
          <a:xfrm>
            <a:off x="8303744" y="3196490"/>
            <a:ext cx="2589100" cy="2588226"/>
          </a:xfrm>
          <a:prstGeom prst="ellipse">
            <a:avLst/>
          </a:prstGeom>
          <a:blipFill>
            <a:blip r:embed="rId1"/>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8.2.3 </a:t>
            </a:r>
            <a:r>
              <a:rPr lang="zh-CN" altLang="en-US" sz="2800" b="1" dirty="0">
                <a:solidFill>
                  <a:schemeClr val="bg1"/>
                </a:solidFill>
              </a:rPr>
              <a:t>顺序文件记录寻址</a:t>
            </a:r>
            <a:endParaRPr lang="zh-CN" altLang="en-US" sz="2800" b="1" dirty="0">
              <a:solidFill>
                <a:schemeClr val="bg1"/>
              </a:solidFill>
            </a:endParaRPr>
          </a:p>
        </p:txBody>
      </p:sp>
      <p:sp>
        <p:nvSpPr>
          <p:cNvPr id="5" name="矩形: 圆角 4"/>
          <p:cNvSpPr/>
          <p:nvPr/>
        </p:nvSpPr>
        <p:spPr>
          <a:xfrm>
            <a:off x="1399083" y="1388815"/>
            <a:ext cx="4398035"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隐式寻址方式（顺序访问）</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1400389" y="2107607"/>
            <a:ext cx="5412543" cy="11229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定长记录：</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变长记录：</a:t>
            </a:r>
            <a:endParaRPr lang="zh-CN" altLang="en-US" sz="2400" dirty="0"/>
          </a:p>
        </p:txBody>
      </p:sp>
      <p:sp>
        <p:nvSpPr>
          <p:cNvPr id="7" name="矩形: 圆角 4"/>
          <p:cNvSpPr/>
          <p:nvPr/>
        </p:nvSpPr>
        <p:spPr>
          <a:xfrm>
            <a:off x="1399083" y="3453110"/>
            <a:ext cx="5072737"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显式寻址方式（直接</a:t>
            </a:r>
            <a:r>
              <a:rPr lang="en-US" altLang="zh-CN" sz="2800" dirty="0">
                <a:solidFill>
                  <a:schemeClr val="bg1"/>
                </a:solidFill>
                <a:sym typeface="Wingdings" panose="05000000000000000000" pitchFamily="2" charset="2"/>
              </a:rPr>
              <a:t>/</a:t>
            </a:r>
            <a:r>
              <a:rPr lang="zh-CN" altLang="en-US" sz="2800" dirty="0">
                <a:solidFill>
                  <a:schemeClr val="bg1"/>
                </a:solidFill>
                <a:sym typeface="Wingdings" panose="05000000000000000000" pitchFamily="2" charset="2"/>
              </a:rPr>
              <a:t>随机访问）</a:t>
            </a:r>
            <a:endParaRPr lang="zh-CN" altLang="en-US" sz="2800" dirty="0">
              <a:solidFill>
                <a:schemeClr val="bg1"/>
              </a:solidFill>
              <a:sym typeface="Wingdings" panose="05000000000000000000" pitchFamily="2" charset="2"/>
            </a:endParaRPr>
          </a:p>
        </p:txBody>
      </p:sp>
      <p:sp>
        <p:nvSpPr>
          <p:cNvPr id="8" name="内容占位符 2"/>
          <p:cNvSpPr txBox="1"/>
          <p:nvPr/>
        </p:nvSpPr>
        <p:spPr>
          <a:xfrm>
            <a:off x="1399082" y="4175694"/>
            <a:ext cx="5596521"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通过文件中记录的位置</a:t>
            </a:r>
            <a:endParaRPr lang="zh-CN" altLang="en-US" sz="2400" dirty="0"/>
          </a:p>
          <a:p>
            <a:pPr marL="800100" lvl="2" indent="-342900">
              <a:lnSpc>
                <a:spcPct val="132000"/>
              </a:lnSpc>
              <a:spcBef>
                <a:spcPts val="370"/>
              </a:spcBef>
              <a:buClr>
                <a:srgbClr val="E71101"/>
              </a:buClr>
              <a:buSzPct val="100000"/>
              <a:buFont typeface="Wingdings" panose="05000000000000000000" pitchFamily="2" charset="2"/>
              <a:buChar char="Ø"/>
              <a:defRPr/>
            </a:pPr>
            <a:r>
              <a:rPr lang="zh-CN" altLang="en-US" sz="2200" dirty="0"/>
              <a:t>定长记录：</a:t>
            </a:r>
            <a:endParaRPr lang="zh-CN" altLang="en-US" sz="2200" dirty="0"/>
          </a:p>
          <a:p>
            <a:pPr marL="800100" lvl="2" indent="-342900">
              <a:lnSpc>
                <a:spcPct val="132000"/>
              </a:lnSpc>
              <a:spcBef>
                <a:spcPts val="370"/>
              </a:spcBef>
              <a:buClr>
                <a:srgbClr val="E71101"/>
              </a:buClr>
              <a:buSzPct val="100000"/>
              <a:buFont typeface="Wingdings" panose="05000000000000000000" pitchFamily="2" charset="2"/>
              <a:buChar char="Ø"/>
              <a:defRPr/>
            </a:pPr>
            <a:r>
              <a:rPr lang="zh-CN" altLang="en-US" sz="2200" dirty="0"/>
              <a:t>变长记录：</a:t>
            </a:r>
            <a:endParaRPr lang="zh-CN" altLang="en-US" sz="22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利用关键字</a:t>
            </a:r>
            <a:endParaRPr lang="zh-CN" altLang="en-US" sz="2400" dirty="0"/>
          </a:p>
        </p:txBody>
      </p:sp>
      <p:sp>
        <p:nvSpPr>
          <p:cNvPr id="11" name="íśḷíḋé"/>
          <p:cNvSpPr/>
          <p:nvPr/>
        </p:nvSpPr>
        <p:spPr bwMode="auto">
          <a:xfrm>
            <a:off x="8703239" y="3549151"/>
            <a:ext cx="2589100" cy="2588226"/>
          </a:xfrm>
          <a:prstGeom prst="ellipse">
            <a:avLst/>
          </a:prstGeom>
          <a:blipFill>
            <a:blip r:embed="rId1"/>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pic>
        <p:nvPicPr>
          <p:cNvPr id="9" name="图片 8"/>
          <p:cNvPicPr>
            <a:picLocks noChangeAspect="1"/>
          </p:cNvPicPr>
          <p:nvPr/>
        </p:nvPicPr>
        <p:blipFill>
          <a:blip r:embed="rId2"/>
          <a:stretch>
            <a:fillRect/>
          </a:stretch>
        </p:blipFill>
        <p:spPr>
          <a:xfrm>
            <a:off x="3605375" y="2198106"/>
            <a:ext cx="5500697" cy="1015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定长和变长记录文件</a:t>
            </a:r>
            <a:endParaRPr lang="zh-CN" altLang="en-US" sz="2800" b="1" dirty="0">
              <a:solidFill>
                <a:schemeClr val="bg1"/>
              </a:solidFill>
            </a:endParaRPr>
          </a:p>
        </p:txBody>
      </p:sp>
      <p:graphicFrame>
        <p:nvGraphicFramePr>
          <p:cNvPr id="2" name="表格 2"/>
          <p:cNvGraphicFramePr>
            <a:graphicFrameLocks noGrp="1"/>
          </p:cNvGraphicFramePr>
          <p:nvPr/>
        </p:nvGraphicFramePr>
        <p:xfrm>
          <a:off x="1649150" y="1775544"/>
          <a:ext cx="1429305" cy="3897285"/>
        </p:xfrm>
        <a:graphic>
          <a:graphicData uri="http://schemas.openxmlformats.org/drawingml/2006/table">
            <a:tbl>
              <a:tblPr firstRow="1" bandRow="1">
                <a:tableStyleId>{5DA37D80-6434-44D0-A028-1B22A696006F}</a:tableStyleId>
              </a:tblPr>
              <a:tblGrid>
                <a:gridCol w="1429305"/>
              </a:tblGrid>
              <a:tr h="5567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a:t>
                      </a:r>
                      <a:r>
                        <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endPar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anchor="ct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1</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2</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3</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endPar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err="1">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err="1">
                          <a:ln>
                            <a:noFill/>
                          </a:ln>
                          <a:solidFill>
                            <a:schemeClr val="tx1"/>
                          </a:solidFill>
                          <a:effectLst/>
                          <a:latin typeface="Times New Roman" panose="02020603050405020304" pitchFamily="18" charset="0"/>
                          <a:ea typeface="宋体" panose="02010600030101010101" pitchFamily="2" charset="-122"/>
                          <a:cs typeface="+mn-cs"/>
                        </a:rPr>
                        <a:t>i</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endPar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tr>
            </a:tbl>
          </a:graphicData>
        </a:graphic>
      </p:graphicFrame>
      <p:sp>
        <p:nvSpPr>
          <p:cNvPr id="83" name="Line 37"/>
          <p:cNvSpPr>
            <a:spLocks noChangeShapeType="1"/>
          </p:cNvSpPr>
          <p:nvPr/>
        </p:nvSpPr>
        <p:spPr bwMode="auto">
          <a:xfrm>
            <a:off x="658550" y="4584298"/>
            <a:ext cx="7620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4" name="Text Box 50"/>
          <p:cNvSpPr txBox="1">
            <a:spLocks noChangeArrowheads="1"/>
          </p:cNvSpPr>
          <p:nvPr/>
        </p:nvSpPr>
        <p:spPr bwMode="auto">
          <a:xfrm>
            <a:off x="544250" y="4586680"/>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err="1">
                <a:ea typeface="华文新魏" panose="02010800040101010101" pitchFamily="2" charset="-122"/>
              </a:rPr>
              <a:t>Rptr</a:t>
            </a:r>
            <a:endParaRPr lang="en-US" altLang="zh-CN" sz="2800" dirty="0">
              <a:ea typeface="华文新魏" panose="02010800040101010101" pitchFamily="2" charset="-122"/>
            </a:endParaRPr>
          </a:p>
        </p:txBody>
      </p:sp>
      <p:sp>
        <p:nvSpPr>
          <p:cNvPr id="85" name="Line 43"/>
          <p:cNvSpPr>
            <a:spLocks noChangeShapeType="1"/>
          </p:cNvSpPr>
          <p:nvPr/>
        </p:nvSpPr>
        <p:spPr bwMode="auto">
          <a:xfrm>
            <a:off x="3092739" y="1785433"/>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6" name="Line 44"/>
          <p:cNvSpPr>
            <a:spLocks noChangeShapeType="1"/>
          </p:cNvSpPr>
          <p:nvPr/>
        </p:nvSpPr>
        <p:spPr bwMode="auto">
          <a:xfrm>
            <a:off x="3080039" y="2329931"/>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7" name="Line 45"/>
          <p:cNvSpPr>
            <a:spLocks noChangeShapeType="1"/>
          </p:cNvSpPr>
          <p:nvPr/>
        </p:nvSpPr>
        <p:spPr bwMode="auto">
          <a:xfrm>
            <a:off x="3097795" y="2891536"/>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8" name="Line 46"/>
          <p:cNvSpPr>
            <a:spLocks noChangeShapeType="1"/>
          </p:cNvSpPr>
          <p:nvPr/>
        </p:nvSpPr>
        <p:spPr bwMode="auto">
          <a:xfrm>
            <a:off x="3078455" y="3435008"/>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9" name="Line 47"/>
          <p:cNvSpPr>
            <a:spLocks noChangeShapeType="1"/>
          </p:cNvSpPr>
          <p:nvPr/>
        </p:nvSpPr>
        <p:spPr bwMode="auto">
          <a:xfrm>
            <a:off x="3091155" y="4005492"/>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90" name="Line 48"/>
          <p:cNvSpPr>
            <a:spLocks noChangeShapeType="1"/>
          </p:cNvSpPr>
          <p:nvPr/>
        </p:nvSpPr>
        <p:spPr bwMode="auto">
          <a:xfrm>
            <a:off x="3091155" y="4564232"/>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91" name="Line 49"/>
          <p:cNvSpPr>
            <a:spLocks noChangeShapeType="1"/>
          </p:cNvSpPr>
          <p:nvPr/>
        </p:nvSpPr>
        <p:spPr bwMode="auto">
          <a:xfrm>
            <a:off x="3078455" y="5108084"/>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92" name="AutoShape 38"/>
          <p:cNvSpPr/>
          <p:nvPr/>
        </p:nvSpPr>
        <p:spPr bwMode="auto">
          <a:xfrm>
            <a:off x="3141955" y="1837351"/>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99" name="AutoShape 38"/>
          <p:cNvSpPr/>
          <p:nvPr/>
        </p:nvSpPr>
        <p:spPr bwMode="auto">
          <a:xfrm>
            <a:off x="3162916" y="2369124"/>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0" name="AutoShape 38"/>
          <p:cNvSpPr/>
          <p:nvPr/>
        </p:nvSpPr>
        <p:spPr bwMode="auto">
          <a:xfrm>
            <a:off x="3154655" y="2928799"/>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1" name="AutoShape 38"/>
          <p:cNvSpPr/>
          <p:nvPr/>
        </p:nvSpPr>
        <p:spPr bwMode="auto">
          <a:xfrm>
            <a:off x="3145160" y="3504578"/>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2" name="AutoShape 38"/>
          <p:cNvSpPr/>
          <p:nvPr/>
        </p:nvSpPr>
        <p:spPr bwMode="auto">
          <a:xfrm>
            <a:off x="3154038" y="4618835"/>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3" name="Text Box 50"/>
          <p:cNvSpPr txBox="1">
            <a:spLocks noChangeArrowheads="1"/>
          </p:cNvSpPr>
          <p:nvPr/>
        </p:nvSpPr>
        <p:spPr bwMode="auto">
          <a:xfrm>
            <a:off x="3256255" y="1815493"/>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04" name="Text Box 50"/>
          <p:cNvSpPr txBox="1">
            <a:spLocks noChangeArrowheads="1"/>
          </p:cNvSpPr>
          <p:nvPr/>
        </p:nvSpPr>
        <p:spPr bwMode="auto">
          <a:xfrm>
            <a:off x="3256255" y="2364809"/>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05" name="Text Box 50"/>
          <p:cNvSpPr txBox="1">
            <a:spLocks noChangeArrowheads="1"/>
          </p:cNvSpPr>
          <p:nvPr/>
        </p:nvSpPr>
        <p:spPr bwMode="auto">
          <a:xfrm>
            <a:off x="3256255" y="2898094"/>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06" name="Text Box 50"/>
          <p:cNvSpPr txBox="1">
            <a:spLocks noChangeArrowheads="1"/>
          </p:cNvSpPr>
          <p:nvPr/>
        </p:nvSpPr>
        <p:spPr bwMode="auto">
          <a:xfrm>
            <a:off x="3256255" y="3465534"/>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07" name="Text Box 50"/>
          <p:cNvSpPr txBox="1">
            <a:spLocks noChangeArrowheads="1"/>
          </p:cNvSpPr>
          <p:nvPr/>
        </p:nvSpPr>
        <p:spPr bwMode="auto">
          <a:xfrm>
            <a:off x="3256255" y="4574227"/>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08" name="Text Box 50"/>
          <p:cNvSpPr txBox="1">
            <a:spLocks noChangeArrowheads="1"/>
          </p:cNvSpPr>
          <p:nvPr/>
        </p:nvSpPr>
        <p:spPr bwMode="auto">
          <a:xfrm>
            <a:off x="4599809" y="1523502"/>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0</a:t>
            </a:r>
            <a:endParaRPr lang="en-US" altLang="zh-CN" sz="2800" dirty="0">
              <a:ea typeface="华文新魏" panose="02010800040101010101" pitchFamily="2" charset="-122"/>
            </a:endParaRPr>
          </a:p>
        </p:txBody>
      </p:sp>
      <p:sp>
        <p:nvSpPr>
          <p:cNvPr id="109" name="Text Box 50"/>
          <p:cNvSpPr txBox="1">
            <a:spLocks noChangeArrowheads="1"/>
          </p:cNvSpPr>
          <p:nvPr/>
        </p:nvSpPr>
        <p:spPr bwMode="auto">
          <a:xfrm>
            <a:off x="4599809" y="2072818"/>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10" name="Text Box 50"/>
          <p:cNvSpPr txBox="1">
            <a:spLocks noChangeArrowheads="1"/>
          </p:cNvSpPr>
          <p:nvPr/>
        </p:nvSpPr>
        <p:spPr bwMode="auto">
          <a:xfrm>
            <a:off x="4599809" y="2606103"/>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2L</a:t>
            </a:r>
            <a:endParaRPr lang="en-US" altLang="zh-CN" sz="2800" dirty="0">
              <a:ea typeface="华文新魏" panose="02010800040101010101" pitchFamily="2" charset="-122"/>
            </a:endParaRPr>
          </a:p>
        </p:txBody>
      </p:sp>
      <p:sp>
        <p:nvSpPr>
          <p:cNvPr id="111" name="Text Box 50"/>
          <p:cNvSpPr txBox="1">
            <a:spLocks noChangeArrowheads="1"/>
          </p:cNvSpPr>
          <p:nvPr/>
        </p:nvSpPr>
        <p:spPr bwMode="auto">
          <a:xfrm>
            <a:off x="4599809" y="3173543"/>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3L</a:t>
            </a:r>
            <a:endParaRPr lang="en-US" altLang="zh-CN" sz="2800" dirty="0">
              <a:ea typeface="华文新魏" panose="02010800040101010101" pitchFamily="2" charset="-122"/>
            </a:endParaRPr>
          </a:p>
        </p:txBody>
      </p:sp>
      <p:sp>
        <p:nvSpPr>
          <p:cNvPr id="112" name="Text Box 50"/>
          <p:cNvSpPr txBox="1">
            <a:spLocks noChangeArrowheads="1"/>
          </p:cNvSpPr>
          <p:nvPr/>
        </p:nvSpPr>
        <p:spPr bwMode="auto">
          <a:xfrm>
            <a:off x="4599809" y="4282236"/>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L</a:t>
            </a:r>
            <a:endParaRPr lang="en-US" altLang="zh-CN" sz="2800" dirty="0">
              <a:ea typeface="华文新魏" panose="02010800040101010101" pitchFamily="2" charset="-122"/>
            </a:endParaRPr>
          </a:p>
        </p:txBody>
      </p:sp>
      <p:sp>
        <p:nvSpPr>
          <p:cNvPr id="113" name="Text Box 50"/>
          <p:cNvSpPr txBox="1">
            <a:spLocks noChangeArrowheads="1"/>
          </p:cNvSpPr>
          <p:nvPr/>
        </p:nvSpPr>
        <p:spPr bwMode="auto">
          <a:xfrm>
            <a:off x="4599809" y="3724186"/>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4L</a:t>
            </a:r>
            <a:endParaRPr lang="en-US" altLang="zh-CN" sz="2800" dirty="0">
              <a:ea typeface="华文新魏" panose="02010800040101010101" pitchFamily="2" charset="-122"/>
            </a:endParaRPr>
          </a:p>
        </p:txBody>
      </p:sp>
      <p:sp>
        <p:nvSpPr>
          <p:cNvPr id="114" name="Text Box 50"/>
          <p:cNvSpPr txBox="1">
            <a:spLocks noChangeArrowheads="1"/>
          </p:cNvSpPr>
          <p:nvPr/>
        </p:nvSpPr>
        <p:spPr bwMode="auto">
          <a:xfrm>
            <a:off x="4599809" y="4806098"/>
            <a:ext cx="128608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(i+1)L</a:t>
            </a:r>
            <a:endParaRPr lang="en-US" altLang="zh-CN" sz="2800" dirty="0">
              <a:ea typeface="华文新魏" panose="02010800040101010101" pitchFamily="2" charset="-122"/>
            </a:endParaRPr>
          </a:p>
        </p:txBody>
      </p:sp>
      <p:graphicFrame>
        <p:nvGraphicFramePr>
          <p:cNvPr id="115" name="表格 2"/>
          <p:cNvGraphicFramePr>
            <a:graphicFrameLocks noGrp="1"/>
          </p:cNvGraphicFramePr>
          <p:nvPr/>
        </p:nvGraphicFramePr>
        <p:xfrm>
          <a:off x="6463712" y="1218789"/>
          <a:ext cx="1429305" cy="4454040"/>
        </p:xfrm>
        <a:graphic>
          <a:graphicData uri="http://schemas.openxmlformats.org/drawingml/2006/table">
            <a:tbl>
              <a:tblPr firstRow="1" bandRow="1">
                <a:tableStyleId>{5DA37D80-6434-44D0-A028-1B22A696006F}</a:tableStyleId>
              </a:tblPr>
              <a:tblGrid>
                <a:gridCol w="1429305"/>
              </a:tblGrid>
              <a:tr h="5567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a:t>
                      </a:r>
                      <a:r>
                        <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endPar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anchor="ctr">
                    <a:solidFill>
                      <a:schemeClr val="accent2">
                        <a:lumMod val="20000"/>
                        <a:lumOff val="80000"/>
                      </a:schemeClr>
                    </a:solidFill>
                  </a:tcP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0</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noFill/>
                  </a:tcP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L</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1</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solidFill>
                      <a:schemeClr val="accent2">
                        <a:lumMod val="20000"/>
                        <a:lumOff val="80000"/>
                      </a:schemeClr>
                    </a:solidFill>
                  </a:tcP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1</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noFill/>
                  </a:tcP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endPar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noFill/>
                  </a:tcP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L</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i</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solidFill>
                      <a:schemeClr val="accent2">
                        <a:lumMod val="20000"/>
                        <a:lumOff val="80000"/>
                      </a:schemeClr>
                    </a:solidFill>
                  </a:tcPr>
                </a:tc>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i</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noFill/>
                  </a:tcPr>
                </a:tc>
              </a:tr>
              <a:tr h="5567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endPar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noFill/>
                  </a:tcPr>
                </a:tc>
              </a:tr>
            </a:tbl>
          </a:graphicData>
        </a:graphic>
      </p:graphicFrame>
      <p:sp>
        <p:nvSpPr>
          <p:cNvPr id="116" name="Line 43"/>
          <p:cNvSpPr>
            <a:spLocks noChangeShapeType="1"/>
          </p:cNvSpPr>
          <p:nvPr/>
        </p:nvSpPr>
        <p:spPr bwMode="auto">
          <a:xfrm>
            <a:off x="7893017" y="1218789"/>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17" name="Line 43"/>
          <p:cNvSpPr>
            <a:spLocks noChangeShapeType="1"/>
          </p:cNvSpPr>
          <p:nvPr/>
        </p:nvSpPr>
        <p:spPr bwMode="auto">
          <a:xfrm>
            <a:off x="7893017" y="2339355"/>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18" name="Line 43"/>
          <p:cNvSpPr>
            <a:spLocks noChangeShapeType="1"/>
          </p:cNvSpPr>
          <p:nvPr/>
        </p:nvSpPr>
        <p:spPr bwMode="auto">
          <a:xfrm>
            <a:off x="7893017" y="3217050"/>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19" name="Line 43"/>
          <p:cNvSpPr>
            <a:spLocks noChangeShapeType="1"/>
          </p:cNvSpPr>
          <p:nvPr/>
        </p:nvSpPr>
        <p:spPr bwMode="auto">
          <a:xfrm>
            <a:off x="7893017" y="3734353"/>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22" name="Line 43"/>
          <p:cNvSpPr>
            <a:spLocks noChangeShapeType="1"/>
          </p:cNvSpPr>
          <p:nvPr/>
        </p:nvSpPr>
        <p:spPr bwMode="auto">
          <a:xfrm>
            <a:off x="7893017" y="4802954"/>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24" name="AutoShape 38"/>
          <p:cNvSpPr/>
          <p:nvPr/>
        </p:nvSpPr>
        <p:spPr bwMode="auto">
          <a:xfrm>
            <a:off x="8001246" y="4248048"/>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25" name="AutoShape 38"/>
          <p:cNvSpPr/>
          <p:nvPr/>
        </p:nvSpPr>
        <p:spPr bwMode="auto">
          <a:xfrm>
            <a:off x="8026646" y="2620311"/>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26" name="AutoShape 38"/>
          <p:cNvSpPr/>
          <p:nvPr/>
        </p:nvSpPr>
        <p:spPr bwMode="auto">
          <a:xfrm>
            <a:off x="8052046" y="1598849"/>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27" name="Text Box 50"/>
          <p:cNvSpPr txBox="1">
            <a:spLocks noChangeArrowheads="1"/>
          </p:cNvSpPr>
          <p:nvPr/>
        </p:nvSpPr>
        <p:spPr bwMode="auto">
          <a:xfrm>
            <a:off x="9394112" y="956858"/>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0</a:t>
            </a:r>
            <a:endParaRPr lang="en-US" altLang="zh-CN" sz="2800" dirty="0">
              <a:ea typeface="华文新魏" panose="02010800040101010101" pitchFamily="2" charset="-122"/>
            </a:endParaRPr>
          </a:p>
        </p:txBody>
      </p:sp>
      <p:sp>
        <p:nvSpPr>
          <p:cNvPr id="128" name="Text Box 50"/>
          <p:cNvSpPr txBox="1">
            <a:spLocks noChangeArrowheads="1"/>
          </p:cNvSpPr>
          <p:nvPr/>
        </p:nvSpPr>
        <p:spPr bwMode="auto">
          <a:xfrm>
            <a:off x="8171117" y="1675016"/>
            <a:ext cx="60979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0</a:t>
            </a:r>
            <a:endParaRPr lang="en-US" altLang="zh-CN" sz="2800" baseline="-25000" dirty="0">
              <a:ea typeface="华文新魏" panose="02010800040101010101" pitchFamily="2" charset="-122"/>
            </a:endParaRPr>
          </a:p>
        </p:txBody>
      </p:sp>
      <p:sp>
        <p:nvSpPr>
          <p:cNvPr id="129" name="Text Box 50"/>
          <p:cNvSpPr txBox="1">
            <a:spLocks noChangeArrowheads="1"/>
          </p:cNvSpPr>
          <p:nvPr/>
        </p:nvSpPr>
        <p:spPr bwMode="auto">
          <a:xfrm>
            <a:off x="9451674" y="2065613"/>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0</a:t>
            </a:r>
            <a:r>
              <a:rPr lang="en-US" altLang="zh-CN" sz="2800" dirty="0">
                <a:ea typeface="华文新魏" panose="02010800040101010101" pitchFamily="2" charset="-122"/>
              </a:rPr>
              <a:t>+1</a:t>
            </a:r>
            <a:endParaRPr lang="en-US" altLang="zh-CN" sz="2800" dirty="0">
              <a:ea typeface="华文新魏" panose="02010800040101010101" pitchFamily="2" charset="-122"/>
            </a:endParaRPr>
          </a:p>
        </p:txBody>
      </p:sp>
      <p:sp>
        <p:nvSpPr>
          <p:cNvPr id="130" name="Text Box 50"/>
          <p:cNvSpPr txBox="1">
            <a:spLocks noChangeArrowheads="1"/>
          </p:cNvSpPr>
          <p:nvPr/>
        </p:nvSpPr>
        <p:spPr bwMode="auto">
          <a:xfrm>
            <a:off x="8211075" y="2566744"/>
            <a:ext cx="56252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1</a:t>
            </a:r>
            <a:endParaRPr lang="en-US" altLang="zh-CN" sz="2800" baseline="-25000" dirty="0">
              <a:ea typeface="华文新魏" panose="02010800040101010101" pitchFamily="2" charset="-122"/>
            </a:endParaRPr>
          </a:p>
        </p:txBody>
      </p:sp>
      <p:sp>
        <p:nvSpPr>
          <p:cNvPr id="131" name="Text Box 50"/>
          <p:cNvSpPr txBox="1">
            <a:spLocks noChangeArrowheads="1"/>
          </p:cNvSpPr>
          <p:nvPr/>
        </p:nvSpPr>
        <p:spPr bwMode="auto">
          <a:xfrm>
            <a:off x="9451871" y="2911612"/>
            <a:ext cx="1547561"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0</a:t>
            </a:r>
            <a:r>
              <a:rPr lang="en-US" altLang="zh-CN" sz="2800" dirty="0">
                <a:ea typeface="华文新魏" panose="02010800040101010101" pitchFamily="2" charset="-122"/>
              </a:rPr>
              <a:t>+L</a:t>
            </a:r>
            <a:r>
              <a:rPr lang="en-US" altLang="zh-CN" sz="2800" baseline="-25000" dirty="0">
                <a:ea typeface="华文新魏" panose="02010800040101010101" pitchFamily="2" charset="-122"/>
              </a:rPr>
              <a:t>1</a:t>
            </a:r>
            <a:r>
              <a:rPr lang="en-US" altLang="zh-CN" sz="2800" dirty="0">
                <a:ea typeface="华文新魏" panose="02010800040101010101" pitchFamily="2" charset="-122"/>
              </a:rPr>
              <a:t>+2</a:t>
            </a:r>
            <a:endParaRPr lang="en-US" altLang="zh-CN" sz="2800" dirty="0">
              <a:ea typeface="华文新魏" panose="02010800040101010101" pitchFamily="2" charset="-122"/>
            </a:endParaRPr>
          </a:p>
        </p:txBody>
      </p:sp>
      <p:sp>
        <p:nvSpPr>
          <p:cNvPr id="132" name="Text Box 50"/>
          <p:cNvSpPr txBox="1">
            <a:spLocks noChangeArrowheads="1"/>
          </p:cNvSpPr>
          <p:nvPr/>
        </p:nvSpPr>
        <p:spPr bwMode="auto">
          <a:xfrm>
            <a:off x="8211075" y="4183737"/>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i</a:t>
            </a:r>
            <a:endParaRPr lang="en-US" altLang="zh-CN" sz="2800" baseline="-25000" dirty="0">
              <a:ea typeface="华文新魏" panose="02010800040101010101" pitchFamily="2" charset="-122"/>
            </a:endParaRPr>
          </a:p>
        </p:txBody>
      </p:sp>
      <p:graphicFrame>
        <p:nvGraphicFramePr>
          <p:cNvPr id="133" name="Object 115"/>
          <p:cNvGraphicFramePr>
            <a:graphicFrameLocks noChangeAspect="1"/>
          </p:cNvGraphicFramePr>
          <p:nvPr/>
        </p:nvGraphicFramePr>
        <p:xfrm>
          <a:off x="9449046" y="3451235"/>
          <a:ext cx="2018476" cy="612752"/>
        </p:xfrm>
        <a:graphic>
          <a:graphicData uri="http://schemas.openxmlformats.org/presentationml/2006/ole">
            <mc:AlternateContent xmlns:mc="http://schemas.openxmlformats.org/markup-compatibility/2006">
              <mc:Choice xmlns:v="urn:schemas-microsoft-com:vml" Requires="v">
                <p:oleObj spid="_x0000_s3075" name="Equation" r:id="rId1" imgW="673100" imgH="431800" progId="Equation.3">
                  <p:embed/>
                </p:oleObj>
              </mc:Choice>
              <mc:Fallback>
                <p:oleObj name="Equation" r:id="rId1" imgW="673100" imgH="431800" progId="Equation.3">
                  <p:embed/>
                  <p:pic>
                    <p:nvPicPr>
                      <p:cNvPr id="0" name="Object 1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9046" y="3451235"/>
                        <a:ext cx="2018476" cy="612752"/>
                      </a:xfrm>
                      <a:prstGeom prst="rect">
                        <a:avLst/>
                      </a:prstGeom>
                      <a:solidFill>
                        <a:schemeClr val="tx2">
                          <a:lumMod val="20000"/>
                          <a:lumOff val="80000"/>
                        </a:schemeClr>
                      </a:solidFill>
                      <a:ln>
                        <a:noFill/>
                      </a:ln>
                    </p:spPr>
                  </p:pic>
                </p:oleObj>
              </mc:Fallback>
            </mc:AlternateContent>
          </a:graphicData>
        </a:graphic>
      </p:graphicFrame>
      <p:graphicFrame>
        <p:nvGraphicFramePr>
          <p:cNvPr id="134" name="Object 116"/>
          <p:cNvGraphicFramePr>
            <a:graphicFrameLocks noChangeAspect="1"/>
          </p:cNvGraphicFramePr>
          <p:nvPr/>
        </p:nvGraphicFramePr>
        <p:xfrm>
          <a:off x="9427306" y="4521259"/>
          <a:ext cx="2018476" cy="612752"/>
        </p:xfrm>
        <a:graphic>
          <a:graphicData uri="http://schemas.openxmlformats.org/presentationml/2006/ole">
            <mc:AlternateContent xmlns:mc="http://schemas.openxmlformats.org/markup-compatibility/2006">
              <mc:Choice xmlns:v="urn:schemas-microsoft-com:vml" Requires="v">
                <p:oleObj spid="_x0000_s3076" name="Equation" r:id="rId3" imgW="673100" imgH="431800" progId="Equation.3">
                  <p:embed/>
                </p:oleObj>
              </mc:Choice>
              <mc:Fallback>
                <p:oleObj name="Equation" r:id="rId3" imgW="673100" imgH="431800" progId="Equation.3">
                  <p:embed/>
                  <p:pic>
                    <p:nvPicPr>
                      <p:cNvPr id="0" name="Object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7306" y="4521259"/>
                        <a:ext cx="2018476" cy="612752"/>
                      </a:xfrm>
                      <a:prstGeom prst="rect">
                        <a:avLst/>
                      </a:prstGeom>
                      <a:solidFill>
                        <a:schemeClr val="tx2">
                          <a:lumMod val="20000"/>
                          <a:lumOff val="80000"/>
                        </a:schemeClr>
                      </a:solidFill>
                      <a:ln w="9525">
                        <a:solidFill>
                          <a:srgbClr val="72BFC5"/>
                        </a:solidFill>
                        <a:miter lim="800000"/>
                        <a:headEnd/>
                        <a:tailEnd/>
                      </a:ln>
                    </p:spPr>
                  </p:pic>
                </p:oleObj>
              </mc:Fallback>
            </mc:AlternateContent>
          </a:graphicData>
        </a:graphic>
      </p:graphicFrame>
      <p:sp>
        <p:nvSpPr>
          <p:cNvPr id="135" name="Line 37"/>
          <p:cNvSpPr>
            <a:spLocks noChangeShapeType="1"/>
          </p:cNvSpPr>
          <p:nvPr/>
        </p:nvSpPr>
        <p:spPr bwMode="auto">
          <a:xfrm>
            <a:off x="5594069" y="4021643"/>
            <a:ext cx="7620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36" name="Text Box 50"/>
          <p:cNvSpPr txBox="1">
            <a:spLocks noChangeArrowheads="1"/>
          </p:cNvSpPr>
          <p:nvPr/>
        </p:nvSpPr>
        <p:spPr bwMode="auto">
          <a:xfrm>
            <a:off x="5524512" y="3440267"/>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err="1">
                <a:ea typeface="华文新魏" panose="02010800040101010101" pitchFamily="2" charset="-122"/>
              </a:rPr>
              <a:t>Wptr</a:t>
            </a:r>
            <a:endParaRPr lang="en-US" altLang="zh-CN" sz="2800" dirty="0">
              <a:ea typeface="华文新魏" panose="02010800040101010101" pitchFamily="2" charset="-122"/>
            </a:endParaRPr>
          </a:p>
        </p:txBody>
      </p:sp>
      <p:sp>
        <p:nvSpPr>
          <p:cNvPr id="137" name="Text Box 63"/>
          <p:cNvSpPr txBox="1">
            <a:spLocks noChangeArrowheads="1"/>
          </p:cNvSpPr>
          <p:nvPr/>
        </p:nvSpPr>
        <p:spPr bwMode="auto">
          <a:xfrm>
            <a:off x="1236955" y="5776719"/>
            <a:ext cx="2514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400" b="0" dirty="0">
                <a:latin typeface="+mn-ea"/>
                <a:ea typeface="+mn-ea"/>
              </a:rPr>
              <a:t>(a)</a:t>
            </a:r>
            <a:r>
              <a:rPr lang="zh-CN" altLang="en-US" sz="2400" b="0" dirty="0">
                <a:solidFill>
                  <a:srgbClr val="0000FF"/>
                </a:solidFill>
                <a:latin typeface="+mn-ea"/>
                <a:ea typeface="+mn-ea"/>
              </a:rPr>
              <a:t>定长</a:t>
            </a:r>
            <a:r>
              <a:rPr lang="zh-CN" altLang="en-US" sz="2400" b="0" dirty="0">
                <a:latin typeface="+mn-ea"/>
                <a:ea typeface="+mn-ea"/>
              </a:rPr>
              <a:t>记录文件</a:t>
            </a:r>
            <a:endParaRPr lang="zh-CN" altLang="en-US" sz="2400" b="0" dirty="0">
              <a:latin typeface="+mn-ea"/>
              <a:ea typeface="+mn-ea"/>
            </a:endParaRPr>
          </a:p>
        </p:txBody>
      </p:sp>
      <p:sp>
        <p:nvSpPr>
          <p:cNvPr id="138" name="Text Box 108"/>
          <p:cNvSpPr txBox="1">
            <a:spLocks noChangeArrowheads="1"/>
          </p:cNvSpPr>
          <p:nvPr/>
        </p:nvSpPr>
        <p:spPr bwMode="auto">
          <a:xfrm>
            <a:off x="7921944" y="5759766"/>
            <a:ext cx="2514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400" dirty="0">
                <a:latin typeface="+mn-ea"/>
                <a:ea typeface="+mn-ea"/>
              </a:rPr>
              <a:t>(b)</a:t>
            </a:r>
            <a:r>
              <a:rPr lang="zh-CN" altLang="en-US" sz="2400" dirty="0">
                <a:solidFill>
                  <a:srgbClr val="FF0000"/>
                </a:solidFill>
                <a:latin typeface="+mn-ea"/>
                <a:ea typeface="+mn-ea"/>
              </a:rPr>
              <a:t>变长</a:t>
            </a:r>
            <a:r>
              <a:rPr lang="zh-CN" altLang="en-US" sz="2400" dirty="0">
                <a:latin typeface="+mn-ea"/>
                <a:ea typeface="+mn-ea"/>
              </a:rPr>
              <a:t>记录文件</a:t>
            </a:r>
            <a:endParaRPr lang="zh-CN" altLang="en-US" sz="2400" dirty="0">
              <a:latin typeface="+mn-ea"/>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8.2.4 </a:t>
            </a:r>
            <a:r>
              <a:rPr lang="zh-CN" altLang="en-US" sz="2800" b="1" dirty="0">
                <a:solidFill>
                  <a:schemeClr val="bg1"/>
                </a:solidFill>
              </a:rPr>
              <a:t>索引文件</a:t>
            </a:r>
            <a:endParaRPr lang="zh-CN" altLang="en-US" sz="2800" b="1" dirty="0">
              <a:solidFill>
                <a:schemeClr val="bg1"/>
              </a:solidFill>
            </a:endParaRPr>
          </a:p>
        </p:txBody>
      </p:sp>
      <p:sp>
        <p:nvSpPr>
          <p:cNvPr id="570"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571" name="iṡļiḓe"/>
          <p:cNvGrpSpPr/>
          <p:nvPr/>
        </p:nvGrpSpPr>
        <p:grpSpPr>
          <a:xfrm>
            <a:off x="660400" y="1298467"/>
            <a:ext cx="5753279" cy="2333733"/>
            <a:chOff x="660400" y="1787149"/>
            <a:chExt cx="5753279" cy="2333733"/>
          </a:xfrm>
        </p:grpSpPr>
        <p:grpSp>
          <p:nvGrpSpPr>
            <p:cNvPr id="1144" name="iSḻíḓè"/>
            <p:cNvGrpSpPr/>
            <p:nvPr/>
          </p:nvGrpSpPr>
          <p:grpSpPr>
            <a:xfrm>
              <a:off x="1296567" y="1835355"/>
              <a:ext cx="5117112" cy="2285527"/>
              <a:chOff x="1296567" y="1835355"/>
              <a:chExt cx="6453960" cy="2285527"/>
            </a:xfrm>
          </p:grpSpPr>
          <p:sp>
            <p:nvSpPr>
              <p:cNvPr id="1148"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600" dirty="0">
                    <a:sym typeface="Wingdings" panose="05000000000000000000" pitchFamily="2" charset="2"/>
                  </a:rPr>
                  <a:t>按</a:t>
                </a:r>
                <a:r>
                  <a:rPr lang="zh-CN" altLang="en-US" sz="2600" dirty="0">
                    <a:solidFill>
                      <a:srgbClr val="FF0000"/>
                    </a:solidFill>
                    <a:sym typeface="Wingdings" panose="05000000000000000000" pitchFamily="2" charset="2"/>
                  </a:rPr>
                  <a:t>关键字</a:t>
                </a:r>
                <a:r>
                  <a:rPr lang="zh-CN" altLang="en-US" sz="2600" dirty="0">
                    <a:sym typeface="Wingdings" panose="05000000000000000000" pitchFamily="2" charset="2"/>
                  </a:rPr>
                  <a:t>建立索引</a:t>
                </a:r>
                <a:endParaRPr lang="en-US" altLang="zh-CN" sz="2600" dirty="0">
                  <a:sym typeface="Wingdings" panose="05000000000000000000" pitchFamily="2" charset="2"/>
                </a:endParaRPr>
              </a:p>
            </p:txBody>
          </p:sp>
          <p:sp>
            <p:nvSpPr>
              <p:cNvPr id="1149" name="íşļîḓé"/>
              <p:cNvSpPr/>
              <p:nvPr/>
            </p:nvSpPr>
            <p:spPr bwMode="auto">
              <a:xfrm>
                <a:off x="1296567" y="2279077"/>
                <a:ext cx="6453960"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为变长记录文件建立一张索引表</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索引表按关键字排序</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实现直接存取</a:t>
                </a:r>
                <a:endParaRPr lang="zh-CN" altLang="en-US" sz="2400" dirty="0"/>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72" name="iŝļïḓê"/>
          <p:cNvGrpSpPr/>
          <p:nvPr/>
        </p:nvGrpSpPr>
        <p:grpSpPr>
          <a:xfrm>
            <a:off x="660400" y="3994675"/>
            <a:ext cx="6297847" cy="2019941"/>
            <a:chOff x="660400" y="2092935"/>
            <a:chExt cx="6297847" cy="2019941"/>
          </a:xfrm>
        </p:grpSpPr>
        <p:grpSp>
          <p:nvGrpSpPr>
            <p:cNvPr id="574" name="ïṧļïḓe"/>
            <p:cNvGrpSpPr/>
            <p:nvPr/>
          </p:nvGrpSpPr>
          <p:grpSpPr>
            <a:xfrm>
              <a:off x="1296567" y="2092935"/>
              <a:ext cx="5661680" cy="2019941"/>
              <a:chOff x="1296567" y="2092935"/>
              <a:chExt cx="7140794" cy="2019941"/>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600" dirty="0">
                    <a:sym typeface="Wingdings" panose="05000000000000000000" pitchFamily="2" charset="2"/>
                  </a:rPr>
                  <a:t>具有</a:t>
                </a:r>
                <a:r>
                  <a:rPr lang="zh-CN" altLang="en-US" sz="2600" dirty="0">
                    <a:solidFill>
                      <a:srgbClr val="FF0000"/>
                    </a:solidFill>
                    <a:sym typeface="Wingdings" panose="05000000000000000000" pitchFamily="2" charset="2"/>
                  </a:rPr>
                  <a:t>多个索引表</a:t>
                </a:r>
                <a:r>
                  <a:rPr lang="zh-CN" altLang="en-US" sz="2600" dirty="0">
                    <a:sym typeface="Wingdings" panose="05000000000000000000" pitchFamily="2" charset="2"/>
                  </a:rPr>
                  <a:t>的索引文件</a:t>
                </a:r>
                <a:endParaRPr lang="en-US" altLang="zh-CN" sz="2600" dirty="0">
                  <a:sym typeface="Wingdings" panose="05000000000000000000" pitchFamily="2" charset="2"/>
                </a:endParaRPr>
              </a:p>
            </p:txBody>
          </p:sp>
          <p:sp>
            <p:nvSpPr>
              <p:cNvPr id="1143" name="íşľíḑè"/>
              <p:cNvSpPr/>
              <p:nvPr/>
            </p:nvSpPr>
            <p:spPr bwMode="auto">
              <a:xfrm>
                <a:off x="1312811" y="2623685"/>
                <a:ext cx="6632638" cy="148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spcBef>
                    <a:spcPts val="600"/>
                  </a:spcBef>
                  <a:spcAft>
                    <a:spcPts val="600"/>
                  </a:spcAft>
                  <a:buFont typeface="Wingdings" panose="05000000000000000000" pitchFamily="2" charset="2"/>
                  <a:buChar char="Ø"/>
                </a:pPr>
                <a:r>
                  <a:rPr lang="zh-CN" altLang="en-US" sz="2400" dirty="0"/>
                  <a:t>为顺序文件建立多个索引表</a:t>
                </a:r>
                <a:endParaRPr lang="zh-CN" altLang="en-US" sz="2400" dirty="0"/>
              </a:p>
              <a:p>
                <a:pPr marL="342900" lvl="1" indent="-342900">
                  <a:spcBef>
                    <a:spcPts val="600"/>
                  </a:spcBef>
                  <a:spcAft>
                    <a:spcPts val="600"/>
                  </a:spcAft>
                  <a:buFont typeface="Wingdings" panose="05000000000000000000" pitchFamily="2" charset="2"/>
                  <a:buChar char="Ø"/>
                </a:pPr>
                <a:r>
                  <a:rPr lang="zh-CN" altLang="en-US" sz="2400" dirty="0"/>
                  <a:t>为每一个可能成为检索条件的域配置一张索引表</a:t>
                </a:r>
                <a:endParaRPr lang="zh-CN" altLang="en-US" sz="2400" dirty="0"/>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索引文件的组织</a:t>
            </a:r>
            <a:endParaRPr lang="zh-CN" altLang="en-US" sz="2800" b="1" dirty="0">
              <a:solidFill>
                <a:schemeClr val="bg1"/>
              </a:solidFill>
            </a:endParaRPr>
          </a:p>
        </p:txBody>
      </p:sp>
      <p:graphicFrame>
        <p:nvGraphicFramePr>
          <p:cNvPr id="18" name="Group 87"/>
          <p:cNvGraphicFramePr>
            <a:graphicFrameLocks noGrp="1"/>
          </p:cNvGraphicFramePr>
          <p:nvPr>
            <p:custDataLst>
              <p:tags r:id="rId1"/>
            </p:custDataLst>
          </p:nvPr>
        </p:nvGraphicFramePr>
        <p:xfrm>
          <a:off x="2684913" y="1733849"/>
          <a:ext cx="4076619" cy="3200407"/>
        </p:xfrm>
        <a:graphic>
          <a:graphicData uri="http://schemas.openxmlformats.org/drawingml/2006/table">
            <a:tbl>
              <a:tblPr>
                <a:tableStyleId>{5DA37D80-6434-44D0-A028-1B22A696006F}</a:tableStyleId>
              </a:tblPr>
              <a:tblGrid>
                <a:gridCol w="1358873"/>
                <a:gridCol w="1358873"/>
                <a:gridCol w="1358873"/>
              </a:tblGrid>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索引号</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algn="ctr" defTabSz="914400" rtl="0" eaLnBrk="0" fontAlgn="base" latinLnBrk="0" hangingPunct="0">
                        <a:lnSpc>
                          <a:spcPct val="100000"/>
                        </a:lnSpc>
                        <a:spcBef>
                          <a:spcPct val="20000"/>
                        </a:spcBef>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长度m</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指针</a:t>
                      </a:r>
                      <a:r>
                        <a:rPr kumimoji="1" lang="en-US" altLang="zh-CN" sz="2400" b="0" u="none" strike="noStrike" cap="none" normalizeH="0" baseline="0" dirty="0" err="1">
                          <a:ln>
                            <a:noFill/>
                          </a:ln>
                          <a:solidFill>
                            <a:schemeClr val="tx1"/>
                          </a:solidFill>
                          <a:effectLst/>
                          <a:latin typeface="+mn-ea"/>
                          <a:ea typeface="+mn-ea"/>
                        </a:rPr>
                        <a:t>ptr</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i</a:t>
                      </a:r>
                      <a:endParaRPr kumimoji="1" lang="en-US" altLang="zh-CN" sz="2400" b="0" i="0" u="none" strike="noStrike" cap="none" normalizeH="0" baseline="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i</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a:t>
                      </a:r>
                      <a:endParaRPr kumimoji="1" lang="en-US" altLang="zh-CN" sz="2400" b="0" i="0" u="none" strike="noStrike" cap="none" normalizeH="0" baseline="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r>
            </a:tbl>
          </a:graphicData>
        </a:graphic>
      </p:graphicFrame>
      <p:graphicFrame>
        <p:nvGraphicFramePr>
          <p:cNvPr id="19" name="Group 73"/>
          <p:cNvGraphicFramePr>
            <a:graphicFrameLocks noGrp="1"/>
          </p:cNvGraphicFramePr>
          <p:nvPr/>
        </p:nvGraphicFramePr>
        <p:xfrm>
          <a:off x="7561632" y="1768320"/>
          <a:ext cx="1066724" cy="3200406"/>
        </p:xfrm>
        <a:graphic>
          <a:graphicData uri="http://schemas.openxmlformats.org/drawingml/2006/table">
            <a:tbl>
              <a:tblPr>
                <a:tableStyleId>{5DA37D80-6434-44D0-A028-1B22A696006F}</a:tableStyleId>
              </a:tblPr>
              <a:tblGrid>
                <a:gridCol w="1066724"/>
              </a:tblGrid>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523874">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err="1">
                          <a:ln>
                            <a:noFill/>
                          </a:ln>
                          <a:solidFill>
                            <a:schemeClr val="tx1"/>
                          </a:solidFill>
                          <a:effectLst/>
                          <a:latin typeface="+mn-ea"/>
                          <a:ea typeface="+mn-ea"/>
                        </a:rPr>
                        <a:t>R</a:t>
                      </a:r>
                      <a:r>
                        <a:rPr kumimoji="1" lang="en-US" altLang="zh-CN" sz="2400" b="0" u="none" strike="noStrike" cap="none" normalizeH="0" baseline="-25000" dirty="0" err="1">
                          <a:ln>
                            <a:noFill/>
                          </a:ln>
                          <a:solidFill>
                            <a:schemeClr val="tx1"/>
                          </a:solidFill>
                          <a:effectLst/>
                          <a:latin typeface="+mn-ea"/>
                          <a:ea typeface="+mn-ea"/>
                        </a:rPr>
                        <a:t>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r h="50244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tr>
            </a:tbl>
          </a:graphicData>
        </a:graphic>
      </p:graphicFrame>
      <p:sp>
        <p:nvSpPr>
          <p:cNvPr id="21" name="Text Box 74"/>
          <p:cNvSpPr txBox="1">
            <a:spLocks noChangeArrowheads="1"/>
          </p:cNvSpPr>
          <p:nvPr/>
        </p:nvSpPr>
        <p:spPr bwMode="auto">
          <a:xfrm>
            <a:off x="7307482" y="5083722"/>
            <a:ext cx="1574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latin typeface="+mn-ea"/>
                <a:ea typeface="+mn-ea"/>
              </a:rPr>
              <a:t>逻辑文件</a:t>
            </a:r>
            <a:endParaRPr lang="zh-CN" altLang="en-US" sz="2400" b="0" dirty="0">
              <a:latin typeface="+mn-ea"/>
              <a:ea typeface="+mn-ea"/>
            </a:endParaRPr>
          </a:p>
        </p:txBody>
      </p:sp>
      <p:sp>
        <p:nvSpPr>
          <p:cNvPr id="22" name="Text Box 75"/>
          <p:cNvSpPr txBox="1">
            <a:spLocks noChangeArrowheads="1"/>
          </p:cNvSpPr>
          <p:nvPr/>
        </p:nvSpPr>
        <p:spPr bwMode="auto">
          <a:xfrm>
            <a:off x="3821174" y="5083722"/>
            <a:ext cx="1574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solidFill>
                  <a:srgbClr val="FF0000"/>
                </a:solidFill>
                <a:latin typeface="+mn-ea"/>
                <a:ea typeface="+mn-ea"/>
              </a:rPr>
              <a:t>索引表</a:t>
            </a:r>
            <a:endParaRPr lang="zh-CN" altLang="en-US" sz="2400" b="0" dirty="0">
              <a:solidFill>
                <a:srgbClr val="FF0000"/>
              </a:solidFill>
              <a:latin typeface="+mn-ea"/>
              <a:ea typeface="+mn-ea"/>
            </a:endParaRPr>
          </a:p>
        </p:txBody>
      </p:sp>
      <p:sp>
        <p:nvSpPr>
          <p:cNvPr id="23" name="Line 88"/>
          <p:cNvSpPr>
            <a:spLocks noChangeShapeType="1"/>
          </p:cNvSpPr>
          <p:nvPr/>
        </p:nvSpPr>
        <p:spPr bwMode="auto">
          <a:xfrm flipV="1">
            <a:off x="6266232" y="1768320"/>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4" name="Line 89"/>
          <p:cNvSpPr>
            <a:spLocks noChangeShapeType="1"/>
          </p:cNvSpPr>
          <p:nvPr/>
        </p:nvSpPr>
        <p:spPr bwMode="auto">
          <a:xfrm flipV="1">
            <a:off x="6266232" y="2054070"/>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5" name="Line 90"/>
          <p:cNvSpPr>
            <a:spLocks noChangeShapeType="1"/>
          </p:cNvSpPr>
          <p:nvPr/>
        </p:nvSpPr>
        <p:spPr bwMode="auto">
          <a:xfrm flipV="1">
            <a:off x="6266232" y="2396970"/>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6" name="Line 91"/>
          <p:cNvSpPr>
            <a:spLocks noChangeShapeType="1"/>
          </p:cNvSpPr>
          <p:nvPr/>
        </p:nvSpPr>
        <p:spPr bwMode="auto">
          <a:xfrm flipV="1">
            <a:off x="6266232" y="3482820"/>
            <a:ext cx="1295400" cy="4000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索引文件的优缺点</a:t>
            </a:r>
            <a:endParaRPr lang="zh-CN" altLang="en-US" sz="2800" b="1" dirty="0">
              <a:solidFill>
                <a:schemeClr val="bg1"/>
              </a:solidFill>
            </a:endParaRPr>
          </a:p>
        </p:txBody>
      </p:sp>
      <p:sp>
        <p:nvSpPr>
          <p:cNvPr id="5" name="矩形: 圆角 4"/>
          <p:cNvSpPr/>
          <p:nvPr/>
        </p:nvSpPr>
        <p:spPr>
          <a:xfrm>
            <a:off x="1399083" y="1388815"/>
            <a:ext cx="133899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优点：</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1400389" y="2107607"/>
            <a:ext cx="5412543"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实现不定长文件的随机检索</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加快了检索的速度</a:t>
            </a:r>
            <a:endParaRPr lang="zh-CN" altLang="en-US" sz="2400" dirty="0"/>
          </a:p>
        </p:txBody>
      </p:sp>
      <p:sp>
        <p:nvSpPr>
          <p:cNvPr id="7" name="矩形: 圆角 4"/>
          <p:cNvSpPr/>
          <p:nvPr/>
        </p:nvSpPr>
        <p:spPr>
          <a:xfrm>
            <a:off x="1399084" y="3985771"/>
            <a:ext cx="1338998"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缺点</a:t>
            </a:r>
            <a:endParaRPr lang="zh-CN" altLang="en-US" sz="2800" dirty="0">
              <a:solidFill>
                <a:schemeClr val="bg1"/>
              </a:solidFill>
              <a:sym typeface="Wingdings" panose="05000000000000000000" pitchFamily="2" charset="2"/>
            </a:endParaRPr>
          </a:p>
        </p:txBody>
      </p:sp>
      <p:sp>
        <p:nvSpPr>
          <p:cNvPr id="8" name="内容占位符 2"/>
          <p:cNvSpPr txBox="1"/>
          <p:nvPr/>
        </p:nvSpPr>
        <p:spPr>
          <a:xfrm>
            <a:off x="1399083" y="4708355"/>
            <a:ext cx="4978348"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索引表占用额外存储空间</a:t>
            </a:r>
            <a:endParaRPr lang="zh-CN" altLang="en-US" sz="2400" dirty="0"/>
          </a:p>
        </p:txBody>
      </p:sp>
      <p:sp>
        <p:nvSpPr>
          <p:cNvPr id="11" name="íśḷíḋé"/>
          <p:cNvSpPr/>
          <p:nvPr/>
        </p:nvSpPr>
        <p:spPr bwMode="auto">
          <a:xfrm>
            <a:off x="8303744" y="3196490"/>
            <a:ext cx="2589100" cy="2588226"/>
          </a:xfrm>
          <a:prstGeom prst="ellipse">
            <a:avLst/>
          </a:prstGeom>
          <a:blipFill>
            <a:blip r:embed="rId1"/>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8.2.5 </a:t>
            </a:r>
            <a:r>
              <a:rPr lang="zh-CN" altLang="en-US" sz="2800" b="1" dirty="0">
                <a:solidFill>
                  <a:schemeClr val="bg1"/>
                </a:solidFill>
              </a:rPr>
              <a:t>索引顺序文件</a:t>
            </a:r>
            <a:endParaRPr lang="zh-CN" altLang="en-US" sz="2800" b="1" dirty="0">
              <a:solidFill>
                <a:schemeClr val="bg1"/>
              </a:solidFill>
            </a:endParaRPr>
          </a:p>
        </p:txBody>
      </p:sp>
      <p:sp>
        <p:nvSpPr>
          <p:cNvPr id="22" name="i$lîďê"/>
          <p:cNvSpPr/>
          <p:nvPr/>
        </p:nvSpPr>
        <p:spPr>
          <a:xfrm>
            <a:off x="2201724" y="2806941"/>
            <a:ext cx="8771076" cy="392877"/>
          </a:xfrm>
          <a:prstGeom prst="rect">
            <a:avLst/>
          </a:prstGeom>
          <a:noFill/>
          <a:ln>
            <a:noFill/>
          </a:ln>
        </p:spPr>
        <p:txBody>
          <a:bodyPr wrap="square" lIns="91440" tIns="45720" rIns="91440" bIns="45720" anchor="ctr" anchorCtr="0">
            <a:noAutofit/>
          </a:bodyPr>
          <a:lstStyle/>
          <a:p>
            <a:r>
              <a:rPr lang="zh-CN" altLang="en-US" sz="2600" dirty="0"/>
              <a:t>保留了顺序文件的关键特征：记录按关键字的顺序组织。</a:t>
            </a:r>
            <a:endParaRPr lang="zh-CN" altLang="en-US" sz="2600" dirty="0"/>
          </a:p>
        </p:txBody>
      </p:sp>
      <p:sp>
        <p:nvSpPr>
          <p:cNvPr id="23" name="î$ļíḋè"/>
          <p:cNvSpPr/>
          <p:nvPr/>
        </p:nvSpPr>
        <p:spPr>
          <a:xfrm>
            <a:off x="2201723" y="4140909"/>
            <a:ext cx="8380459" cy="6418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引入文件索引表：实现随机访问。</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增加溢出文件：记录新增、删除和修改的记录。</a:t>
            </a:r>
            <a:endParaRPr lang="zh-CN" altLang="en-US" sz="2400" dirty="0"/>
          </a:p>
        </p:txBody>
      </p:sp>
      <p:sp>
        <p:nvSpPr>
          <p:cNvPr id="24" name="ïṧḷïḋè"/>
          <p:cNvSpPr/>
          <p:nvPr/>
        </p:nvSpPr>
        <p:spPr>
          <a:xfrm>
            <a:off x="2201545" y="3687445"/>
            <a:ext cx="4910455" cy="415290"/>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对比顺序文件，新增</a:t>
            </a:r>
            <a:r>
              <a:rPr lang="en-US" altLang="zh-CN" sz="2600" dirty="0">
                <a:solidFill>
                  <a:srgbClr val="FF0000"/>
                </a:solidFill>
              </a:rPr>
              <a:t>2</a:t>
            </a:r>
            <a:r>
              <a:rPr lang="zh-CN" altLang="en-US" sz="2600" dirty="0">
                <a:solidFill>
                  <a:srgbClr val="FF0000"/>
                </a:solidFill>
              </a:rPr>
              <a:t>个新特征：</a:t>
            </a:r>
            <a:endParaRPr lang="zh-CN" altLang="en-US" sz="2600" dirty="0">
              <a:solidFill>
                <a:srgbClr val="FF0000"/>
              </a:solidFill>
            </a:endParaRPr>
          </a:p>
        </p:txBody>
      </p:sp>
      <p:sp>
        <p:nvSpPr>
          <p:cNvPr id="26" name="íšḻíḑê"/>
          <p:cNvSpPr/>
          <p:nvPr/>
        </p:nvSpPr>
        <p:spPr>
          <a:xfrm>
            <a:off x="2201723" y="1806156"/>
            <a:ext cx="9285981" cy="405747"/>
          </a:xfrm>
          <a:prstGeom prst="rect">
            <a:avLst/>
          </a:prstGeom>
          <a:noFill/>
          <a:ln>
            <a:noFill/>
          </a:ln>
        </p:spPr>
        <p:txBody>
          <a:bodyPr wrap="square" lIns="91440" tIns="45720" rIns="91440" bIns="45720" anchor="ctr" anchorCtr="0">
            <a:noAutofit/>
          </a:bodyPr>
          <a:lstStyle/>
          <a:p>
            <a:r>
              <a:rPr lang="zh-CN" altLang="en-US" sz="2600" dirty="0">
                <a:sym typeface="Wingdings" panose="05000000000000000000" pitchFamily="2" charset="2"/>
              </a:rPr>
              <a:t>有效克服了变长记录文件不便于直接存取的缺点。</a:t>
            </a:r>
            <a:endParaRPr lang="zh-CN" altLang="en-US" sz="2600" dirty="0"/>
          </a:p>
        </p:txBody>
      </p:sp>
      <p:sp>
        <p:nvSpPr>
          <p:cNvPr id="27" name="îSļiḓè"/>
          <p:cNvSpPr/>
          <p:nvPr/>
        </p:nvSpPr>
        <p:spPr>
          <a:xfrm>
            <a:off x="1518222" y="169509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8" name="íṥḻîḓe"/>
          <p:cNvSpPr/>
          <p:nvPr/>
        </p:nvSpPr>
        <p:spPr>
          <a:xfrm>
            <a:off x="1518222" y="36432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9" name="îşļiḓè"/>
          <p:cNvSpPr/>
          <p:nvPr/>
        </p:nvSpPr>
        <p:spPr>
          <a:xfrm>
            <a:off x="1518222" y="266915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0" name="îṡḷíďe"/>
          <p:cNvSpPr/>
          <p:nvPr/>
        </p:nvSpPr>
        <p:spPr>
          <a:xfrm>
            <a:off x="1708477" y="189123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1" name="íSlíḋe"/>
          <p:cNvSpPr/>
          <p:nvPr/>
        </p:nvSpPr>
        <p:spPr>
          <a:xfrm>
            <a:off x="1708476" y="289116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2" name="ïśḷïḓe"/>
          <p:cNvSpPr/>
          <p:nvPr/>
        </p:nvSpPr>
        <p:spPr>
          <a:xfrm>
            <a:off x="1737415" y="383266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索引顺序文件组织方式</a:t>
            </a:r>
            <a:endParaRPr lang="zh-CN" altLang="en-US" sz="2800" b="1" dirty="0">
              <a:solidFill>
                <a:schemeClr val="bg1"/>
              </a:solidFill>
            </a:endParaRPr>
          </a:p>
        </p:txBody>
      </p:sp>
      <p:sp>
        <p:nvSpPr>
          <p:cNvPr id="6" name="íSľïdé"/>
          <p:cNvSpPr/>
          <p:nvPr/>
        </p:nvSpPr>
        <p:spPr>
          <a:xfrm>
            <a:off x="1906927" y="157860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8689292" y="2210448"/>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8" name="îṧľîdé"/>
          <p:cNvSpPr/>
          <p:nvPr/>
        </p:nvSpPr>
        <p:spPr>
          <a:xfrm>
            <a:off x="3945450" y="1162697"/>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9" name="内容占位符 2"/>
          <p:cNvSpPr txBox="1"/>
          <p:nvPr/>
        </p:nvSpPr>
        <p:spPr>
          <a:xfrm>
            <a:off x="894702" y="2210447"/>
            <a:ext cx="4440777"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solidFill>
                  <a:srgbClr val="FF0000"/>
                </a:solidFill>
              </a:rPr>
              <a:t>一级</a:t>
            </a:r>
            <a:r>
              <a:rPr lang="zh-CN" altLang="en-US" sz="2600" dirty="0"/>
              <a:t>索引文件</a:t>
            </a:r>
            <a:endParaRPr lang="en-US" altLang="zh-CN" sz="26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如果在一个顺序文件中所含有的记录数为</a:t>
            </a:r>
            <a:r>
              <a:rPr lang="en-US" altLang="zh-CN" sz="2200" dirty="0">
                <a:solidFill>
                  <a:schemeClr val="tx1">
                    <a:lumMod val="65000"/>
                    <a:lumOff val="35000"/>
                  </a:schemeClr>
                </a:solidFill>
              </a:rPr>
              <a:t>N</a:t>
            </a:r>
            <a:r>
              <a:rPr lang="zh-CN" altLang="en-US" sz="2200" dirty="0">
                <a:solidFill>
                  <a:schemeClr val="tx1">
                    <a:lumMod val="65000"/>
                    <a:lumOff val="35000"/>
                  </a:schemeClr>
                </a:solidFill>
              </a:rPr>
              <a:t>，则为检索到具有指定关键字的记录，平均须查找</a:t>
            </a:r>
            <a:r>
              <a:rPr lang="en-US" altLang="zh-CN" sz="2200" dirty="0">
                <a:solidFill>
                  <a:schemeClr val="tx1">
                    <a:lumMod val="65000"/>
                    <a:lumOff val="35000"/>
                  </a:schemeClr>
                </a:solidFill>
              </a:rPr>
              <a:t>N/2</a:t>
            </a:r>
            <a:r>
              <a:rPr lang="zh-CN" altLang="en-US" sz="2200" dirty="0">
                <a:solidFill>
                  <a:schemeClr val="tx1">
                    <a:lumMod val="65000"/>
                    <a:lumOff val="35000"/>
                  </a:schemeClr>
                </a:solidFill>
              </a:rPr>
              <a:t>个记录；</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对于索引顺序文件，则为能检索到具有指定关键字的记录，平均只要查找</a:t>
            </a:r>
            <a:r>
              <a:rPr lang="en-US" altLang="zh-CN" sz="2200" dirty="0">
                <a:solidFill>
                  <a:schemeClr val="tx1">
                    <a:lumMod val="65000"/>
                    <a:lumOff val="35000"/>
                  </a:schemeClr>
                </a:solidFill>
              </a:rPr>
              <a:t>sqrt(N) </a:t>
            </a:r>
            <a:r>
              <a:rPr lang="zh-CN" altLang="en-US" sz="2200" dirty="0">
                <a:solidFill>
                  <a:schemeClr val="tx1">
                    <a:lumMod val="65000"/>
                    <a:lumOff val="35000"/>
                  </a:schemeClr>
                </a:solidFill>
              </a:rPr>
              <a:t>个记录数，因而其检索效率比顺序文件约提高</a:t>
            </a:r>
            <a:r>
              <a:rPr lang="en-US" altLang="zh-CN" sz="2200" dirty="0">
                <a:solidFill>
                  <a:schemeClr val="tx1">
                    <a:lumMod val="65000"/>
                    <a:lumOff val="35000"/>
                  </a:schemeClr>
                </a:solidFill>
              </a:rPr>
              <a:t>sqrt(N)/2</a:t>
            </a:r>
            <a:r>
              <a:rPr lang="zh-CN" altLang="en-US" sz="2200" dirty="0">
                <a:solidFill>
                  <a:schemeClr val="tx1">
                    <a:lumMod val="65000"/>
                    <a:lumOff val="35000"/>
                  </a:schemeClr>
                </a:solidFill>
              </a:rPr>
              <a:t>倍</a:t>
            </a:r>
            <a:endParaRPr lang="zh-CN" altLang="en-US" sz="2200" dirty="0">
              <a:solidFill>
                <a:schemeClr val="tx1">
                  <a:lumMod val="65000"/>
                  <a:lumOff val="35000"/>
                </a:schemeClr>
              </a:solidFill>
            </a:endParaRPr>
          </a:p>
        </p:txBody>
      </p:sp>
      <p:sp>
        <p:nvSpPr>
          <p:cNvPr id="10" name="内容占位符 2"/>
          <p:cNvSpPr txBox="1"/>
          <p:nvPr/>
        </p:nvSpPr>
        <p:spPr>
          <a:xfrm>
            <a:off x="7696200" y="2888816"/>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solidFill>
                  <a:srgbClr val="FF0000"/>
                </a:solidFill>
              </a:rPr>
              <a:t>两级</a:t>
            </a:r>
            <a:r>
              <a:rPr lang="zh-CN" altLang="en-US" sz="2600" dirty="0"/>
              <a:t>索引文件</a:t>
            </a:r>
            <a:endParaRPr lang="en-US" altLang="zh-CN" sz="26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为了进一步提高检索效率，可以为顺序文件建立多级索引，即为索引文件再建立一张索引表，从而形成两级索引表</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两级索引表 </a:t>
            </a:r>
            <a:r>
              <a:rPr lang="en-US" altLang="zh-CN" sz="2200" dirty="0">
                <a:solidFill>
                  <a:schemeClr val="tx1">
                    <a:lumMod val="65000"/>
                    <a:lumOff val="35000"/>
                  </a:schemeClr>
                </a:solidFill>
              </a:rPr>
              <a:t>(3/2)(N)^(1/3)</a:t>
            </a:r>
            <a:endParaRPr lang="en-US" altLang="zh-CN" sz="2200" dirty="0">
              <a:solidFill>
                <a:schemeClr val="tx1">
                  <a:lumMod val="65000"/>
                  <a:lumOff val="3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索引顺序文件</a:t>
            </a:r>
            <a:endParaRPr lang="zh-CN" altLang="en-US" sz="2800" b="1" dirty="0">
              <a:solidFill>
                <a:schemeClr val="bg1"/>
              </a:solidFill>
            </a:endParaRPr>
          </a:p>
        </p:txBody>
      </p:sp>
      <p:graphicFrame>
        <p:nvGraphicFramePr>
          <p:cNvPr id="11" name="Group 34"/>
          <p:cNvGraphicFramePr>
            <a:graphicFrameLocks noGrp="1"/>
          </p:cNvGraphicFramePr>
          <p:nvPr/>
        </p:nvGraphicFramePr>
        <p:xfrm>
          <a:off x="2086253" y="1669557"/>
          <a:ext cx="3195960" cy="2539602"/>
        </p:xfrm>
        <a:graphic>
          <a:graphicData uri="http://schemas.openxmlformats.org/drawingml/2006/table">
            <a:tbl>
              <a:tblPr>
                <a:tableStyleId>{5DA37D80-6434-44D0-A028-1B22A696006F}</a:tableStyleId>
              </a:tblPr>
              <a:tblGrid>
                <a:gridCol w="1597980"/>
                <a:gridCol w="1597980"/>
              </a:tblGrid>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键</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逻辑地址</a:t>
                      </a:r>
                      <a:endParaRPr kumimoji="1" lang="zh-CN" altLang="en-US" sz="2400" b="0" i="0" u="none" strike="noStrike" cap="none" normalizeH="0" baseline="0">
                        <a:ln>
                          <a:noFill/>
                        </a:ln>
                        <a:solidFill>
                          <a:schemeClr val="tx1"/>
                        </a:solidFill>
                        <a:effectLst/>
                        <a:latin typeface="+mn-ea"/>
                        <a:ea typeface="+mn-ea"/>
                      </a:endParaRPr>
                    </a:p>
                  </a:txBody>
                  <a:tcPr marL="92075" marR="92075" marT="34536" marB="34536" anchor="ctr" horzOverflow="overflow"/>
                </a:tc>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Qi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Bao Rong</a:t>
                      </a:r>
                      <a:endParaRPr kumimoji="1" lang="en-US" altLang="zh-CN" sz="2400" b="0" i="0" u="none" strike="noStrike" cap="none" normalizeH="0" baseline="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Chen Lin</a:t>
                      </a:r>
                      <a:endParaRPr kumimoji="1" lang="en-US" altLang="zh-CN" sz="2400" b="0" i="0" u="none" strike="noStrike" cap="none" normalizeH="0" baseline="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r h="800274">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r>
            </a:tbl>
          </a:graphicData>
        </a:graphic>
      </p:graphicFrame>
      <p:graphicFrame>
        <p:nvGraphicFramePr>
          <p:cNvPr id="12" name="Group 73"/>
          <p:cNvGraphicFramePr>
            <a:graphicFrameLocks noGrp="1"/>
          </p:cNvGraphicFramePr>
          <p:nvPr/>
        </p:nvGraphicFramePr>
        <p:xfrm>
          <a:off x="7034813" y="1518348"/>
          <a:ext cx="3121242" cy="4644289"/>
        </p:xfrm>
        <a:graphic>
          <a:graphicData uri="http://schemas.openxmlformats.org/drawingml/2006/table">
            <a:tbl>
              <a:tblPr>
                <a:tableStyleId>{5DA37D80-6434-44D0-A028-1B22A696006F}</a:tableStyleId>
              </a:tblPr>
              <a:tblGrid>
                <a:gridCol w="1560621"/>
                <a:gridCol w="1560621"/>
              </a:tblGrid>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姓名</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其他属性</a:t>
                      </a:r>
                      <a:endParaRPr kumimoji="1" lang="zh-CN" altLang="en-US" sz="2400" b="0" i="0" u="none" strike="noStrike" cap="none" normalizeH="0" baseline="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Qi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Kang</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Bao Rong</a:t>
                      </a:r>
                      <a:endParaRPr kumimoji="1" lang="en-US"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r h="800033">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r>
            </a:tbl>
          </a:graphicData>
        </a:graphic>
      </p:graphicFrame>
      <p:sp>
        <p:nvSpPr>
          <p:cNvPr id="13" name="Line 74"/>
          <p:cNvSpPr>
            <a:spLocks noChangeShapeType="1"/>
          </p:cNvSpPr>
          <p:nvPr/>
        </p:nvSpPr>
        <p:spPr bwMode="auto">
          <a:xfrm flipV="1">
            <a:off x="4977413" y="2069607"/>
            <a:ext cx="2057400" cy="17145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4" name="Line 75"/>
          <p:cNvSpPr>
            <a:spLocks noChangeShapeType="1"/>
          </p:cNvSpPr>
          <p:nvPr/>
        </p:nvSpPr>
        <p:spPr bwMode="auto">
          <a:xfrm>
            <a:off x="4977413" y="2641107"/>
            <a:ext cx="2057400" cy="102870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8.2.6 </a:t>
            </a:r>
            <a:r>
              <a:rPr lang="zh-CN" altLang="en-US" sz="2800" b="1" dirty="0">
                <a:solidFill>
                  <a:schemeClr val="bg1"/>
                </a:solidFill>
              </a:rPr>
              <a:t>直接文件和哈希文件</a:t>
            </a:r>
            <a:endParaRPr lang="zh-CN" altLang="en-US" sz="2800" b="1" dirty="0">
              <a:solidFill>
                <a:schemeClr val="bg1"/>
              </a:solidFill>
            </a:endParaRPr>
          </a:p>
        </p:txBody>
      </p:sp>
      <p:sp>
        <p:nvSpPr>
          <p:cNvPr id="9" name="Rectangle 3"/>
          <p:cNvSpPr txBox="1">
            <a:spLocks noChangeArrowheads="1"/>
          </p:cNvSpPr>
          <p:nvPr/>
        </p:nvSpPr>
        <p:spPr bwMode="auto">
          <a:xfrm>
            <a:off x="1669752" y="1700488"/>
            <a:ext cx="8024664" cy="266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575"/>
              </a:spcBef>
              <a:spcAft>
                <a:spcPct val="0"/>
              </a:spcAft>
              <a:buClr>
                <a:srgbClr val="D34817"/>
              </a:buClr>
              <a:buSzPct val="85000"/>
              <a:buNone/>
              <a:defRPr/>
            </a:pPr>
            <a:r>
              <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直接文件：</a:t>
            </a:r>
            <a:endPar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endParaRPr>
          </a:p>
          <a:p>
            <a:pPr marR="0" lvl="1" algn="l" defTabSz="914400" rtl="0" eaLnBrk="1" fontAlgn="base" latinLnBrk="0" hangingPunct="1">
              <a:lnSpc>
                <a:spcPct val="10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关键字本身决定了记录的物理地址。</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R="0" lvl="1" algn="l" defTabSz="914400" rtl="0" eaLnBrk="1" fontAlgn="base" latinLnBrk="0" hangingPunct="1">
              <a:lnSpc>
                <a:spcPct val="10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键值转换：关键字到记录物理地址的转换。</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L="319405" marR="0" lvl="1" indent="0" algn="l" defTabSz="914400" rtl="0" eaLnBrk="1" fontAlgn="base" latinLnBrk="0" hangingPunct="1">
              <a:lnSpc>
                <a:spcPct val="100000"/>
              </a:lnSpc>
              <a:spcBef>
                <a:spcPts val="375"/>
              </a:spcBef>
              <a:spcAft>
                <a:spcPct val="0"/>
              </a:spcAft>
              <a:buClr>
                <a:srgbClr val="9B2D1F"/>
              </a:buClr>
              <a:buSzPct val="85000"/>
              <a:buNone/>
              <a:defRPr/>
            </a:pP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a:p>
            <a:pPr marL="0" marR="0" lvl="0" indent="0" algn="l" defTabSz="914400" rtl="0" eaLnBrk="1" fontAlgn="base" latinLnBrk="0" hangingPunct="1">
              <a:lnSpc>
                <a:spcPct val="100000"/>
              </a:lnSpc>
              <a:spcBef>
                <a:spcPts val="575"/>
              </a:spcBef>
              <a:spcAft>
                <a:spcPct val="0"/>
              </a:spcAft>
              <a:buClr>
                <a:srgbClr val="D34817"/>
              </a:buClr>
              <a:buSzPct val="85000"/>
              <a:buNone/>
              <a:defRPr/>
            </a:pPr>
            <a:r>
              <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哈希文件：</a:t>
            </a:r>
            <a:endParaRPr kumimoji="0" lang="zh-CN" altLang="en-US"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endParaRPr>
          </a:p>
          <a:p>
            <a:pPr marR="0" lvl="1" algn="l" defTabSz="914400" rtl="0" eaLnBrk="1" fontAlgn="base" latinLnBrk="0" hangingPunct="1">
              <a:lnSpc>
                <a:spcPct val="100000"/>
              </a:lnSpc>
              <a:spcBef>
                <a:spcPts val="375"/>
              </a:spcBef>
              <a:spcAft>
                <a:spcPct val="0"/>
              </a:spcAft>
              <a:buClr>
                <a:srgbClr val="9B2D1F"/>
              </a:buClr>
              <a:buSzPct val="85000"/>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利用</a:t>
            </a:r>
            <a:r>
              <a:rPr kumimoji="0" lang="en-US" altLang="zh-CN" sz="2400" b="0" i="0" u="none" strike="noStrike" kern="1200" cap="none" spc="0" normalizeH="0" baseline="0" noProof="0" dirty="0">
                <a:ln>
                  <a:noFill/>
                </a:ln>
                <a:solidFill>
                  <a:srgbClr val="FF0000"/>
                </a:solidFill>
                <a:effectLst/>
                <a:uLnTx/>
                <a:uFillTx/>
                <a:latin typeface="+mn-ea"/>
                <a:cs typeface="+mn-cs"/>
                <a:sym typeface="Wingdings" panose="05000000000000000000" pitchFamily="2" charset="2"/>
              </a:rPr>
              <a:t>Hash</a:t>
            </a:r>
            <a:r>
              <a:rPr kumimoji="0" lang="zh-CN" altLang="en-US" sz="2400" b="0" i="0" u="none" strike="noStrike" kern="1200" cap="none" spc="0" normalizeH="0" baseline="0" noProof="0" dirty="0">
                <a:ln>
                  <a:noFill/>
                </a:ln>
                <a:solidFill>
                  <a:srgbClr val="FF0000"/>
                </a:solidFill>
                <a:effectLst/>
                <a:uLnTx/>
                <a:uFillTx/>
                <a:latin typeface="+mn-ea"/>
                <a:cs typeface="+mn-cs"/>
                <a:sym typeface="Wingdings" panose="05000000000000000000" pitchFamily="2" charset="2"/>
              </a:rPr>
              <a:t>函数</a:t>
            </a:r>
            <a:r>
              <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rPr>
              <a:t>将记录键值转换为记录的地址。</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sym typeface="Wingdings" panose="05000000000000000000" pitchFamily="2" charset="2"/>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09620" y="1700488"/>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09620" y="3350949"/>
            <a:ext cx="527050" cy="527050"/>
          </a:xfrm>
          <a:prstGeom prst="rect">
            <a:avLst/>
          </a:prstGeom>
          <a:ln>
            <a:noFill/>
          </a:ln>
          <a:effectLst>
            <a:softEdge rad="0"/>
          </a:effectLst>
        </p:spPr>
      </p:pic>
      <p:sp>
        <p:nvSpPr>
          <p:cNvPr id="16" name="íśḷíḋé"/>
          <p:cNvSpPr/>
          <p:nvPr/>
        </p:nvSpPr>
        <p:spPr bwMode="auto">
          <a:xfrm>
            <a:off x="8747628" y="1779039"/>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latin typeface="+mj-ea"/>
              </a:rPr>
              <a:t>8.3 </a:t>
            </a:r>
            <a:r>
              <a:rPr lang="zh-CN" altLang="en-US" sz="2400" b="1" dirty="0">
                <a:solidFill>
                  <a:srgbClr val="0000FF"/>
                </a:solidFill>
                <a:latin typeface="+mj-ea"/>
              </a:rPr>
              <a:t>文件目录</a:t>
            </a:r>
            <a:endParaRPr lang="en-US" altLang="zh-CN" sz="2400" b="1" dirty="0">
              <a:solidFill>
                <a:srgbClr val="0000FF"/>
              </a:solidFill>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 </a:t>
            </a:r>
            <a:r>
              <a:rPr lang="zh-CN" altLang="en-US" sz="2800" b="1" dirty="0">
                <a:solidFill>
                  <a:schemeClr val="bg1"/>
                </a:solidFill>
              </a:rPr>
              <a:t>文件目录</a:t>
            </a:r>
            <a:endParaRPr lang="zh-CN" altLang="en-US" sz="2800" b="1" dirty="0">
              <a:solidFill>
                <a:schemeClr val="bg1"/>
              </a:solidFill>
            </a:endParaRPr>
          </a:p>
        </p:txBody>
      </p:sp>
      <p:grpSp>
        <p:nvGrpSpPr>
          <p:cNvPr id="1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420499"/>
            <a:ext cx="10838960" cy="4334858"/>
            <a:chOff x="660400" y="1580300"/>
            <a:chExt cx="10838960" cy="4334858"/>
          </a:xfrm>
        </p:grpSpPr>
        <p:sp>
          <p:nvSpPr>
            <p:cNvPr id="12"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rPr>
                <a:t>目录实现了对文件的有效管理</a:t>
              </a:r>
              <a:endParaRPr lang="zh-CN" altLang="en-US" sz="2400" dirty="0">
                <a:solidFill>
                  <a:schemeClr val="tx1"/>
                </a:solidFill>
              </a:endParaRPr>
            </a:p>
          </p:txBody>
        </p:sp>
        <p:sp>
          <p:nvSpPr>
            <p:cNvPr id="14"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rgbClr val="0000FF"/>
                  </a:solidFill>
                </a:rPr>
                <a:t>目录是一种数据结构，</a:t>
              </a:r>
              <a:r>
                <a:rPr lang="zh-CN" altLang="en-US" sz="2400" dirty="0">
                  <a:solidFill>
                    <a:schemeClr val="tx1"/>
                  </a:solidFill>
                </a:rPr>
                <a:t>用于标识文件及其物理地址</a:t>
              </a:r>
              <a:endParaRPr lang="zh-CN" altLang="en-US" sz="2400" dirty="0">
                <a:solidFill>
                  <a:schemeClr val="tx1"/>
                </a:solidFill>
              </a:endParaRPr>
            </a:p>
          </p:txBody>
        </p:sp>
        <p:sp>
          <p:nvSpPr>
            <p:cNvPr id="16" name="íŝḻiďé"/>
            <p:cNvSpPr/>
            <p:nvPr/>
          </p:nvSpPr>
          <p:spPr>
            <a:xfrm>
              <a:off x="8023305" y="1580300"/>
              <a:ext cx="3476055"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7" name="í$ḷîḋe"/>
            <p:cNvSpPr/>
            <p:nvPr/>
          </p:nvSpPr>
          <p:spPr>
            <a:xfrm>
              <a:off x="8001657" y="4245058"/>
              <a:ext cx="349770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rgbClr val="FF0000"/>
                  </a:solidFill>
                </a:rPr>
                <a:t>对目录管理的要求</a:t>
              </a:r>
              <a:endParaRPr lang="en-US" altLang="zh-CN" sz="2400" dirty="0">
                <a:solidFill>
                  <a:srgbClr val="FF0000"/>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实现“按名存取”</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提高对目录的检索速度</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文件共享</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允许文件重名</a:t>
              </a:r>
              <a:endParaRPr lang="zh-CN" altLang="en-US" sz="2200" dirty="0">
                <a:solidFill>
                  <a:schemeClr val="tx1"/>
                </a:solidFil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8.3.1 </a:t>
            </a:r>
            <a:r>
              <a:rPr lang="zh-CN" altLang="en-US" sz="2800" b="1" dirty="0">
                <a:solidFill>
                  <a:schemeClr val="bg1"/>
                </a:solidFill>
              </a:rPr>
              <a:t>文件控制块和索引结点</a:t>
            </a:r>
            <a:endParaRPr lang="zh-CN" altLang="en-US" sz="2800" b="1" dirty="0">
              <a:solidFill>
                <a:schemeClr val="bg1"/>
              </a:solidFill>
            </a:endParaRPr>
          </a:p>
        </p:txBody>
      </p:sp>
      <p:sp>
        <p:nvSpPr>
          <p:cNvPr id="55" name="i$lîďê"/>
          <p:cNvSpPr/>
          <p:nvPr/>
        </p:nvSpPr>
        <p:spPr>
          <a:xfrm>
            <a:off x="1605545" y="2054243"/>
            <a:ext cx="9820016" cy="392877"/>
          </a:xfrm>
          <a:prstGeom prst="rect">
            <a:avLst/>
          </a:prstGeom>
          <a:noFill/>
          <a:ln>
            <a:noFill/>
          </a:ln>
        </p:spPr>
        <p:txBody>
          <a:bodyPr wrap="square" lIns="91440" tIns="45720" rIns="91440" bIns="45720" anchor="ctr" anchorCtr="0">
            <a:noAutofit/>
          </a:bodyPr>
          <a:lstStyle/>
          <a:p>
            <a:r>
              <a:rPr lang="zh-CN" altLang="en-US" sz="2400" b="1" u="sng" dirty="0">
                <a:solidFill>
                  <a:srgbClr val="0000FF"/>
                </a:solidFill>
                <a:latin typeface="黑体" panose="02010609060101010101" charset="-122"/>
                <a:ea typeface="黑体" panose="02010609060101010101" charset="-122"/>
                <a:cs typeface="黑体" panose="02010609060101010101" charset="-122"/>
              </a:rPr>
              <a:t>文件目录</a:t>
            </a:r>
            <a:r>
              <a:rPr lang="zh-CN" altLang="en-US" sz="2400" dirty="0"/>
              <a:t>：文件控制块的集合，即一个文件控制块就是一个文件目录项</a:t>
            </a:r>
            <a:endParaRPr lang="en-US" altLang="zh-CN" sz="2400" dirty="0"/>
          </a:p>
        </p:txBody>
      </p:sp>
      <p:sp>
        <p:nvSpPr>
          <p:cNvPr id="57" name="ïṧḷïḋè"/>
          <p:cNvSpPr/>
          <p:nvPr/>
        </p:nvSpPr>
        <p:spPr>
          <a:xfrm>
            <a:off x="1605547" y="2759215"/>
            <a:ext cx="7264246" cy="415102"/>
          </a:xfrm>
          <a:prstGeom prst="rect">
            <a:avLst/>
          </a:prstGeom>
          <a:noFill/>
          <a:ln>
            <a:noFill/>
          </a:ln>
        </p:spPr>
        <p:txBody>
          <a:bodyPr wrap="square" lIns="91440" tIns="45720" rIns="91440" bIns="45720" anchor="ctr" anchorCtr="0">
            <a:noAutofit/>
          </a:bodyPr>
          <a:lstStyle/>
          <a:p>
            <a:r>
              <a:rPr lang="zh-CN" altLang="en-US" sz="2400" b="1" u="sng" dirty="0">
                <a:solidFill>
                  <a:srgbClr val="0000FF"/>
                </a:solidFill>
                <a:latin typeface="黑体" panose="02010609060101010101" charset="-122"/>
                <a:ea typeface="黑体" panose="02010609060101010101" charset="-122"/>
                <a:cs typeface="黑体" panose="02010609060101010101" charset="-122"/>
              </a:rPr>
              <a:t>目录文件</a:t>
            </a:r>
            <a:r>
              <a:rPr lang="zh-CN" altLang="en-US" sz="2400" dirty="0"/>
              <a:t>：文件目录也被看做是一个文件</a:t>
            </a:r>
            <a:endParaRPr lang="en-US" altLang="zh-CN" sz="2400" dirty="0"/>
          </a:p>
        </p:txBody>
      </p:sp>
      <p:sp>
        <p:nvSpPr>
          <p:cNvPr id="58" name="îs1iďé"/>
          <p:cNvSpPr/>
          <p:nvPr/>
        </p:nvSpPr>
        <p:spPr>
          <a:xfrm>
            <a:off x="1605545" y="4072405"/>
            <a:ext cx="9820016" cy="2932077"/>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基本信息类：文件名、文件物理位置、文件逻辑结构、文件物理结构</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存取控制信息类：文件主的存取权限、核准用户的存取权限以及一般用户的存取权限</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使用信息类：文件的建立日期和时间、文件上一次修改的日期和时间及当前使用信息</a:t>
            </a:r>
            <a:endParaRPr lang="zh-CN" altLang="en-US" sz="2200" dirty="0"/>
          </a:p>
        </p:txBody>
      </p:sp>
      <p:sp>
        <p:nvSpPr>
          <p:cNvPr id="59" name="íšḻíḑê"/>
          <p:cNvSpPr/>
          <p:nvPr/>
        </p:nvSpPr>
        <p:spPr>
          <a:xfrm>
            <a:off x="1605546" y="1342424"/>
            <a:ext cx="9100924" cy="405747"/>
          </a:xfrm>
          <a:prstGeom prst="rect">
            <a:avLst/>
          </a:prstGeom>
          <a:noFill/>
          <a:ln>
            <a:noFill/>
          </a:ln>
        </p:spPr>
        <p:txBody>
          <a:bodyPr wrap="square" lIns="91440" tIns="45720" rIns="91440" bIns="45720" anchor="ctr" anchorCtr="0">
            <a:noAutofit/>
          </a:bodyPr>
          <a:lstStyle/>
          <a:p>
            <a:r>
              <a:rPr lang="zh-CN" altLang="en-US" sz="2400" b="1" u="sng" dirty="0">
                <a:solidFill>
                  <a:srgbClr val="0000FF"/>
                </a:solidFill>
                <a:latin typeface="黑体" panose="02010609060101010101" charset="-122"/>
                <a:ea typeface="黑体" panose="02010609060101010101" charset="-122"/>
                <a:cs typeface="黑体" panose="02010609060101010101" charset="-122"/>
              </a:rPr>
              <a:t>文件控制块</a:t>
            </a:r>
            <a:r>
              <a:rPr lang="en-US" altLang="zh-CN" sz="2400" dirty="0">
                <a:solidFill>
                  <a:srgbClr val="0000FF"/>
                </a:solidFill>
                <a:latin typeface="黑体" panose="02010609060101010101" charset="-122"/>
                <a:ea typeface="黑体" panose="02010609060101010101" charset="-122"/>
                <a:cs typeface="黑体" panose="02010609060101010101" charset="-122"/>
              </a:rPr>
              <a:t>(FCB)</a:t>
            </a:r>
            <a:r>
              <a:rPr lang="zh-CN" altLang="en-US" sz="2400" dirty="0"/>
              <a:t>：管理和控制文件的数据结构，与文件一一对应</a:t>
            </a:r>
            <a:endParaRPr lang="en-US" altLang="zh-CN" sz="2400" dirty="0"/>
          </a:p>
        </p:txBody>
      </p:sp>
      <p:sp>
        <p:nvSpPr>
          <p:cNvPr id="60" name="íšḻíḑê"/>
          <p:cNvSpPr/>
          <p:nvPr/>
        </p:nvSpPr>
        <p:spPr>
          <a:xfrm>
            <a:off x="1605546" y="3561133"/>
            <a:ext cx="7264247" cy="405747"/>
          </a:xfrm>
          <a:prstGeom prst="rect">
            <a:avLst/>
          </a:prstGeom>
          <a:noFill/>
          <a:ln>
            <a:noFill/>
          </a:ln>
        </p:spPr>
        <p:txBody>
          <a:bodyPr wrap="square" lIns="91440" tIns="45720" rIns="91440" bIns="45720" anchor="ctr" anchorCtr="0">
            <a:noAutofit/>
          </a:bodyPr>
          <a:lstStyle/>
          <a:p>
            <a:r>
              <a:rPr lang="zh-CN" altLang="en-US" sz="2400" dirty="0">
                <a:sym typeface="Wingdings" panose="05000000000000000000" pitchFamily="2" charset="2"/>
              </a:rPr>
              <a:t>文件控制块包含信息</a:t>
            </a:r>
            <a:endParaRPr lang="en-US" altLang="zh-CN" sz="2400" dirty="0">
              <a:sym typeface="Wingdings" panose="05000000000000000000" pitchFamily="2" charset="2"/>
            </a:endParaRPr>
          </a:p>
        </p:txBody>
      </p:sp>
      <p:sp>
        <p:nvSpPr>
          <p:cNvPr id="61" name="îSļiḓè"/>
          <p:cNvSpPr/>
          <p:nvPr/>
        </p:nvSpPr>
        <p:spPr>
          <a:xfrm>
            <a:off x="922043" y="12223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2" name="íṥḻîḓe"/>
          <p:cNvSpPr/>
          <p:nvPr/>
        </p:nvSpPr>
        <p:spPr>
          <a:xfrm>
            <a:off x="922043" y="267661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3" name="îşļiḓè"/>
          <p:cNvSpPr/>
          <p:nvPr/>
        </p:nvSpPr>
        <p:spPr>
          <a:xfrm>
            <a:off x="922043" y="195371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4" name="îṡḷíďe"/>
          <p:cNvSpPr/>
          <p:nvPr/>
        </p:nvSpPr>
        <p:spPr>
          <a:xfrm>
            <a:off x="1112298" y="141846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65" name="íSlíḋe"/>
          <p:cNvSpPr/>
          <p:nvPr/>
        </p:nvSpPr>
        <p:spPr>
          <a:xfrm>
            <a:off x="1112297" y="217573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66" name="ïśḷïḓe"/>
          <p:cNvSpPr/>
          <p:nvPr/>
        </p:nvSpPr>
        <p:spPr>
          <a:xfrm>
            <a:off x="1141236" y="286607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67" name="îSļiḓè"/>
          <p:cNvSpPr/>
          <p:nvPr/>
        </p:nvSpPr>
        <p:spPr>
          <a:xfrm>
            <a:off x="922043" y="344453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8" name="îṡḷíďe"/>
          <p:cNvSpPr/>
          <p:nvPr/>
        </p:nvSpPr>
        <p:spPr>
          <a:xfrm>
            <a:off x="1112298" y="364067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索引结点</a:t>
            </a:r>
            <a:endParaRPr lang="zh-CN" altLang="en-US" sz="2800" b="1" dirty="0">
              <a:solidFill>
                <a:schemeClr val="bg1"/>
              </a:solidFill>
            </a:endParaRPr>
          </a:p>
        </p:txBody>
      </p:sp>
      <p:sp>
        <p:nvSpPr>
          <p:cNvPr id="55" name="i$lîďê"/>
          <p:cNvSpPr/>
          <p:nvPr/>
        </p:nvSpPr>
        <p:spPr>
          <a:xfrm>
            <a:off x="1605543" y="2901907"/>
            <a:ext cx="9820016" cy="392877"/>
          </a:xfrm>
          <a:prstGeom prst="rect">
            <a:avLst/>
          </a:prstGeom>
          <a:noFill/>
          <a:ln>
            <a:noFill/>
          </a:ln>
        </p:spPr>
        <p:txBody>
          <a:bodyPr wrap="square" lIns="91440" tIns="45720" rIns="91440" bIns="45720" anchor="ctr" anchorCtr="0">
            <a:noAutofit/>
          </a:bodyPr>
          <a:lstStyle/>
          <a:p>
            <a:pPr>
              <a:lnSpc>
                <a:spcPct val="90000"/>
              </a:lnSpc>
            </a:pPr>
            <a:r>
              <a:rPr lang="zh-CN" altLang="en-US" sz="2400" dirty="0">
                <a:sym typeface="Wingdings" panose="05000000000000000000" pitchFamily="2" charset="2"/>
              </a:rPr>
              <a:t>磁盘索引结点：存放在磁盘上的索引结点</a:t>
            </a:r>
            <a:endParaRPr lang="en-US" altLang="zh-CN" sz="2400" dirty="0">
              <a:sym typeface="Wingdings" panose="05000000000000000000" pitchFamily="2" charset="2"/>
            </a:endParaRPr>
          </a:p>
        </p:txBody>
      </p:sp>
      <p:sp>
        <p:nvSpPr>
          <p:cNvPr id="57" name="ïṧḷïḋè"/>
          <p:cNvSpPr/>
          <p:nvPr/>
        </p:nvSpPr>
        <p:spPr>
          <a:xfrm>
            <a:off x="1605545" y="4438695"/>
            <a:ext cx="7264246" cy="415102"/>
          </a:xfrm>
          <a:prstGeom prst="rect">
            <a:avLst/>
          </a:prstGeom>
          <a:noFill/>
          <a:ln>
            <a:noFill/>
          </a:ln>
        </p:spPr>
        <p:txBody>
          <a:bodyPr wrap="square" lIns="91440" tIns="45720" rIns="91440" bIns="45720" anchor="ctr" anchorCtr="0">
            <a:noAutofit/>
          </a:bodyPr>
          <a:lstStyle/>
          <a:p>
            <a:pPr>
              <a:lnSpc>
                <a:spcPct val="90000"/>
              </a:lnSpc>
            </a:pPr>
            <a:r>
              <a:rPr lang="zh-CN" altLang="en-US" sz="2400" dirty="0">
                <a:sym typeface="Wingdings" panose="05000000000000000000" pitchFamily="2" charset="2"/>
              </a:rPr>
              <a:t>内存索引结点：存放在内存上的索引结点</a:t>
            </a:r>
            <a:endParaRPr lang="en-US" altLang="zh-CN" sz="2400" dirty="0">
              <a:sym typeface="Wingdings" panose="05000000000000000000" pitchFamily="2" charset="2"/>
            </a:endParaRPr>
          </a:p>
        </p:txBody>
      </p:sp>
      <p:sp>
        <p:nvSpPr>
          <p:cNvPr id="58" name="îs1iďé"/>
          <p:cNvSpPr/>
          <p:nvPr/>
        </p:nvSpPr>
        <p:spPr>
          <a:xfrm>
            <a:off x="1605543" y="1748171"/>
            <a:ext cx="9820016" cy="1008488"/>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把文件名与文件描述信息分开，文件描述信息用</a:t>
            </a:r>
            <a:r>
              <a:rPr lang="zh-CN" altLang="en-US" sz="2200" dirty="0">
                <a:solidFill>
                  <a:srgbClr val="0000FF"/>
                </a:solidFill>
              </a:rPr>
              <a:t>索引结点</a:t>
            </a:r>
            <a:r>
              <a:rPr lang="zh-CN" altLang="en-US" sz="2200" dirty="0"/>
              <a:t>（</a:t>
            </a:r>
            <a:r>
              <a:rPr lang="en-US" altLang="zh-CN" sz="2200" dirty="0" err="1"/>
              <a:t>iNode</a:t>
            </a:r>
            <a:r>
              <a:rPr lang="zh-CN" altLang="en-US" sz="2200" dirty="0"/>
              <a:t>）保存，简称为</a:t>
            </a:r>
            <a:r>
              <a:rPr lang="en-US" altLang="zh-CN" sz="2200" dirty="0" err="1">
                <a:solidFill>
                  <a:srgbClr val="0000FF"/>
                </a:solidFill>
              </a:rPr>
              <a:t>i</a:t>
            </a:r>
            <a:r>
              <a:rPr lang="zh-CN" altLang="en-US" sz="2200" dirty="0">
                <a:solidFill>
                  <a:srgbClr val="0000FF"/>
                </a:solidFill>
              </a:rPr>
              <a:t>节点</a:t>
            </a:r>
            <a:r>
              <a:rPr lang="zh-CN" altLang="en-US" sz="2200" dirty="0"/>
              <a:t>（</a:t>
            </a:r>
            <a:r>
              <a:rPr lang="en-US" altLang="zh-CN" sz="2200" dirty="0"/>
              <a:t>UNIX</a:t>
            </a:r>
            <a:r>
              <a:rPr lang="zh-CN" altLang="en-US" sz="2200" dirty="0"/>
              <a:t>）</a:t>
            </a:r>
            <a:endParaRPr lang="zh-CN" altLang="en-US" sz="2200" dirty="0"/>
          </a:p>
        </p:txBody>
      </p:sp>
      <p:sp>
        <p:nvSpPr>
          <p:cNvPr id="59" name="íšḻíḑê"/>
          <p:cNvSpPr/>
          <p:nvPr/>
        </p:nvSpPr>
        <p:spPr>
          <a:xfrm>
            <a:off x="1605546" y="1342424"/>
            <a:ext cx="9100924" cy="405747"/>
          </a:xfrm>
          <a:prstGeom prst="rect">
            <a:avLst/>
          </a:prstGeom>
          <a:noFill/>
          <a:ln>
            <a:noFill/>
          </a:ln>
        </p:spPr>
        <p:txBody>
          <a:bodyPr wrap="square" lIns="91440" tIns="45720" rIns="91440" bIns="45720" anchor="ctr" anchorCtr="0">
            <a:noAutofit/>
          </a:bodyPr>
          <a:lstStyle/>
          <a:p>
            <a:pPr>
              <a:lnSpc>
                <a:spcPct val="90000"/>
              </a:lnSpc>
            </a:pPr>
            <a:r>
              <a:rPr lang="zh-CN" altLang="en-US" sz="2400" dirty="0">
                <a:sym typeface="Wingdings" panose="05000000000000000000" pitchFamily="2" charset="2"/>
              </a:rPr>
              <a:t>索引结点的引入：减少磁盘访问次数</a:t>
            </a:r>
            <a:endParaRPr lang="zh-CN" altLang="en-US" sz="2400" dirty="0">
              <a:sym typeface="Wingdings" panose="05000000000000000000" pitchFamily="2" charset="2"/>
            </a:endParaRPr>
          </a:p>
        </p:txBody>
      </p:sp>
      <p:sp>
        <p:nvSpPr>
          <p:cNvPr id="61" name="îSļiḓè"/>
          <p:cNvSpPr/>
          <p:nvPr/>
        </p:nvSpPr>
        <p:spPr>
          <a:xfrm>
            <a:off x="922043" y="12223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2" name="íṥḻîḓe"/>
          <p:cNvSpPr/>
          <p:nvPr/>
        </p:nvSpPr>
        <p:spPr>
          <a:xfrm>
            <a:off x="922041" y="435609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3" name="îşļiḓè"/>
          <p:cNvSpPr/>
          <p:nvPr/>
        </p:nvSpPr>
        <p:spPr>
          <a:xfrm>
            <a:off x="922041" y="276404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4" name="îṡḷíďe"/>
          <p:cNvSpPr/>
          <p:nvPr/>
        </p:nvSpPr>
        <p:spPr>
          <a:xfrm>
            <a:off x="1112298" y="141846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65" name="íSlíḋe"/>
          <p:cNvSpPr/>
          <p:nvPr/>
        </p:nvSpPr>
        <p:spPr>
          <a:xfrm>
            <a:off x="1112295" y="298605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66" name="ïśḷïḓe"/>
          <p:cNvSpPr/>
          <p:nvPr/>
        </p:nvSpPr>
        <p:spPr>
          <a:xfrm>
            <a:off x="1141234" y="454555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6" name="îs1iďé"/>
          <p:cNvSpPr/>
          <p:nvPr/>
        </p:nvSpPr>
        <p:spPr>
          <a:xfrm>
            <a:off x="1549908" y="3324185"/>
            <a:ext cx="9820016" cy="1008488"/>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①文件拥有者标识符，②文件类型， ③文件存取权限， ④文件物理地址， ⑤文件长度， ⑥文件连接计数，⑦文件存取时间</a:t>
            </a:r>
            <a:endParaRPr lang="zh-CN" altLang="en-US" sz="2200" dirty="0"/>
          </a:p>
        </p:txBody>
      </p:sp>
      <p:sp>
        <p:nvSpPr>
          <p:cNvPr id="17" name="îs1iďé"/>
          <p:cNvSpPr/>
          <p:nvPr/>
        </p:nvSpPr>
        <p:spPr>
          <a:xfrm>
            <a:off x="1605543" y="4924728"/>
            <a:ext cx="9664416" cy="1008488"/>
          </a:xfrm>
          <a:prstGeom prst="rect">
            <a:avLst/>
          </a:prstGeom>
          <a:noFill/>
          <a:ln>
            <a:noFill/>
          </a:ln>
        </p:spPr>
        <p:txBody>
          <a:bodyPr wrap="square" lIns="91440" tIns="45720" rIns="91440" bIns="45720" anchor="t" anchorCtr="0">
            <a:normAutofit fontScale="92500"/>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①索引节点编号，②状态， ③访问计数， ④文件所属文件系统的逻辑设备号</a:t>
            </a:r>
            <a:endParaRPr lang="zh-CN" altLang="en-US" sz="2200" dirty="0"/>
          </a:p>
          <a:p>
            <a:pPr>
              <a:lnSpc>
                <a:spcPct val="120000"/>
              </a:lnSpc>
              <a:spcBef>
                <a:spcPts val="800"/>
              </a:spcBef>
              <a:buClr>
                <a:srgbClr val="FF0000"/>
              </a:buClr>
            </a:pPr>
            <a:r>
              <a:rPr lang="zh-CN" altLang="en-US" sz="2200" dirty="0"/>
              <a:t>⑤链接指针</a:t>
            </a:r>
            <a:endParaRPr lang="zh-CN" alt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引入索引节点的例子</a:t>
            </a:r>
            <a:endParaRPr lang="zh-CN" altLang="en-US" sz="2800" b="1" dirty="0">
              <a:solidFill>
                <a:schemeClr val="bg1"/>
              </a:solidFill>
            </a:endParaRPr>
          </a:p>
        </p:txBody>
      </p:sp>
      <p:sp>
        <p:nvSpPr>
          <p:cNvPr id="25" name="内容占位符 2"/>
          <p:cNvSpPr txBox="1"/>
          <p:nvPr/>
        </p:nvSpPr>
        <p:spPr>
          <a:xfrm>
            <a:off x="1482571" y="1192382"/>
            <a:ext cx="9880846" cy="4666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a:sym typeface="Wingdings" panose="05000000000000000000" pitchFamily="2" charset="2"/>
              </a:rPr>
              <a:t>设目录文件所占盘块数为</a:t>
            </a:r>
            <a:r>
              <a:rPr lang="en-US" altLang="zh-CN" sz="2400" dirty="0">
                <a:sym typeface="Wingdings" panose="05000000000000000000" pitchFamily="2" charset="2"/>
              </a:rPr>
              <a:t>N</a:t>
            </a:r>
            <a:r>
              <a:rPr lang="zh-CN" altLang="en-US" sz="2400" dirty="0">
                <a:sym typeface="Wingdings" panose="05000000000000000000" pitchFamily="2" charset="2"/>
              </a:rPr>
              <a:t>，则查找一个目录项平均需要调入盘块</a:t>
            </a:r>
            <a:r>
              <a:rPr lang="en-US" altLang="zh-CN" sz="2400" dirty="0">
                <a:sym typeface="Wingdings" panose="05000000000000000000" pitchFamily="2" charset="2"/>
              </a:rPr>
              <a:t>(N+1)/2</a:t>
            </a:r>
            <a:r>
              <a:rPr lang="zh-CN" altLang="en-US" sz="2400" dirty="0">
                <a:sym typeface="Wingdings" panose="05000000000000000000" pitchFamily="2" charset="2"/>
              </a:rPr>
              <a:t>次</a:t>
            </a:r>
            <a:endParaRPr lang="zh-CN" altLang="en-US" sz="2400" dirty="0">
              <a:sym typeface="Wingdings" panose="05000000000000000000" pitchFamily="2" charset="2"/>
            </a:endParaRPr>
          </a:p>
          <a:p>
            <a:pPr marL="0" indent="0">
              <a:lnSpc>
                <a:spcPct val="123000"/>
              </a:lnSpc>
              <a:buNone/>
            </a:pPr>
            <a:r>
              <a:rPr lang="zh-CN" altLang="en-US" sz="2400" dirty="0">
                <a:sym typeface="Wingdings" panose="05000000000000000000" pitchFamily="2" charset="2"/>
              </a:rPr>
              <a:t>假如一个</a:t>
            </a:r>
            <a:r>
              <a:rPr lang="en-US" altLang="zh-CN" sz="2400" dirty="0">
                <a:sym typeface="Wingdings" panose="05000000000000000000" pitchFamily="2" charset="2"/>
              </a:rPr>
              <a:t>FCB</a:t>
            </a:r>
            <a:r>
              <a:rPr lang="zh-CN" altLang="en-US" sz="2400" dirty="0">
                <a:sym typeface="Wingdings" panose="05000000000000000000" pitchFamily="2" charset="2"/>
              </a:rPr>
              <a:t>为</a:t>
            </a:r>
            <a:r>
              <a:rPr lang="en-US" altLang="zh-CN" sz="2400" dirty="0">
                <a:sym typeface="Wingdings" panose="05000000000000000000" pitchFamily="2" charset="2"/>
              </a:rPr>
              <a:t>64B</a:t>
            </a:r>
            <a:r>
              <a:rPr lang="zh-CN" altLang="en-US" sz="2400" dirty="0">
                <a:sym typeface="Wingdings" panose="05000000000000000000" pitchFamily="2" charset="2"/>
              </a:rPr>
              <a:t>，盘块大小为</a:t>
            </a:r>
            <a:r>
              <a:rPr lang="en-US" altLang="zh-CN" sz="2400" dirty="0">
                <a:sym typeface="Wingdings" panose="05000000000000000000" pitchFamily="2" charset="2"/>
              </a:rPr>
              <a:t>1KB</a:t>
            </a:r>
            <a:r>
              <a:rPr lang="zh-CN" altLang="en-US" sz="2400" dirty="0">
                <a:sym typeface="Wingdings" panose="05000000000000000000" pitchFamily="2" charset="2"/>
              </a:rPr>
              <a:t>，则每个盘块中只能存放</a:t>
            </a:r>
            <a:r>
              <a:rPr lang="en-US" altLang="zh-CN" sz="2400" dirty="0">
                <a:sym typeface="Wingdings" panose="05000000000000000000" pitchFamily="2" charset="2"/>
              </a:rPr>
              <a:t>16</a:t>
            </a:r>
            <a:r>
              <a:rPr lang="zh-CN" altLang="en-US" sz="2400" dirty="0">
                <a:sym typeface="Wingdings" panose="05000000000000000000" pitchFamily="2" charset="2"/>
              </a:rPr>
              <a:t>个</a:t>
            </a:r>
            <a:r>
              <a:rPr lang="en-US" altLang="zh-CN" sz="2400" dirty="0">
                <a:sym typeface="Wingdings" panose="05000000000000000000" pitchFamily="2" charset="2"/>
              </a:rPr>
              <a:t>FCB</a:t>
            </a:r>
            <a:r>
              <a:rPr lang="zh-CN" altLang="en-US" sz="2400" dirty="0">
                <a:sym typeface="Wingdings" panose="05000000000000000000" pitchFamily="2" charset="2"/>
              </a:rPr>
              <a:t>；若一个文件目录中共有</a:t>
            </a:r>
            <a:r>
              <a:rPr lang="en-US" altLang="zh-CN" sz="2400" dirty="0">
                <a:sym typeface="Wingdings" panose="05000000000000000000" pitchFamily="2" charset="2"/>
              </a:rPr>
              <a:t>640</a:t>
            </a:r>
            <a:r>
              <a:rPr lang="zh-CN" altLang="en-US" sz="2400" dirty="0">
                <a:sym typeface="Wingdings" panose="05000000000000000000" pitchFamily="2" charset="2"/>
              </a:rPr>
              <a:t>个</a:t>
            </a:r>
            <a:r>
              <a:rPr lang="en-US" altLang="zh-CN" sz="2400" dirty="0">
                <a:sym typeface="Wingdings" panose="05000000000000000000" pitchFamily="2" charset="2"/>
              </a:rPr>
              <a:t>FCB (640*64B=40KB)</a:t>
            </a:r>
            <a:r>
              <a:rPr lang="zh-CN" altLang="en-US" sz="2400" dirty="0">
                <a:sym typeface="Wingdings" panose="05000000000000000000" pitchFamily="2" charset="2"/>
              </a:rPr>
              <a:t>，需占用</a:t>
            </a:r>
            <a:r>
              <a:rPr lang="en-US" altLang="zh-CN" sz="2400" dirty="0">
                <a:sym typeface="Wingdings" panose="05000000000000000000" pitchFamily="2" charset="2"/>
              </a:rPr>
              <a:t>40</a:t>
            </a:r>
            <a:r>
              <a:rPr lang="zh-CN" altLang="en-US" sz="2400" dirty="0">
                <a:sym typeface="Wingdings" panose="05000000000000000000" pitchFamily="2" charset="2"/>
              </a:rPr>
              <a:t>个盘块</a:t>
            </a:r>
            <a:r>
              <a:rPr lang="en-US" altLang="zh-CN" sz="2400" dirty="0">
                <a:sym typeface="Wingdings" panose="05000000000000000000" pitchFamily="2" charset="2"/>
              </a:rPr>
              <a:t>(40KB/1KB=40)</a:t>
            </a:r>
            <a:r>
              <a:rPr lang="zh-CN" altLang="en-US" sz="2400" dirty="0">
                <a:sym typeface="Wingdings" panose="05000000000000000000" pitchFamily="2" charset="2"/>
              </a:rPr>
              <a:t>，故平均查找一个文件需启动磁盘</a:t>
            </a:r>
            <a:r>
              <a:rPr lang="en-US" altLang="zh-CN" sz="2400" dirty="0">
                <a:solidFill>
                  <a:srgbClr val="FF0000"/>
                </a:solidFill>
                <a:sym typeface="Wingdings" panose="05000000000000000000" pitchFamily="2" charset="2"/>
              </a:rPr>
              <a:t>20</a:t>
            </a:r>
            <a:r>
              <a:rPr lang="zh-CN" altLang="en-US" sz="2400" dirty="0">
                <a:solidFill>
                  <a:srgbClr val="FF0000"/>
                </a:solidFill>
                <a:sym typeface="Wingdings" panose="05000000000000000000" pitchFamily="2" charset="2"/>
              </a:rPr>
              <a:t>次</a:t>
            </a:r>
            <a:endParaRPr lang="en-US" altLang="zh-CN" sz="2400" dirty="0">
              <a:solidFill>
                <a:srgbClr val="FF0000"/>
              </a:solidFill>
              <a:sym typeface="Wingdings" panose="05000000000000000000" pitchFamily="2" charset="2"/>
            </a:endParaRPr>
          </a:p>
          <a:p>
            <a:pPr marL="0" indent="0">
              <a:lnSpc>
                <a:spcPct val="123000"/>
              </a:lnSpc>
              <a:buNone/>
            </a:pPr>
            <a:r>
              <a:rPr lang="zh-CN" altLang="en-US" sz="2400" dirty="0"/>
              <a:t>引入索引节点后，</a:t>
            </a:r>
            <a:r>
              <a:rPr lang="zh-CN" altLang="zh-CN" sz="2400" dirty="0"/>
              <a:t>一个目录仅占</a:t>
            </a:r>
            <a:r>
              <a:rPr lang="en-US" altLang="zh-CN" sz="2400" dirty="0"/>
              <a:t>16B</a:t>
            </a:r>
            <a:r>
              <a:rPr lang="zh-CN" altLang="zh-CN" sz="2400" dirty="0"/>
              <a:t>，其中</a:t>
            </a:r>
            <a:r>
              <a:rPr lang="en-US" altLang="zh-CN" sz="2400" dirty="0"/>
              <a:t>14B</a:t>
            </a:r>
            <a:r>
              <a:rPr lang="zh-CN" altLang="zh-CN" sz="2400" dirty="0"/>
              <a:t>是文件名，</a:t>
            </a:r>
            <a:r>
              <a:rPr lang="en-US" altLang="zh-CN" sz="2400" dirty="0"/>
              <a:t>2B</a:t>
            </a:r>
            <a:r>
              <a:rPr lang="zh-CN" altLang="zh-CN" sz="2400" dirty="0"/>
              <a:t>为</a:t>
            </a:r>
            <a:r>
              <a:rPr lang="en-US" altLang="zh-CN" sz="2400" dirty="0" err="1"/>
              <a:t>i</a:t>
            </a:r>
            <a:r>
              <a:rPr lang="zh-CN" altLang="zh-CN" sz="2400" dirty="0"/>
              <a:t>节点指针。</a:t>
            </a:r>
            <a:r>
              <a:rPr lang="en-US" altLang="zh-CN" sz="2400" dirty="0"/>
              <a:t>1KB</a:t>
            </a:r>
            <a:r>
              <a:rPr lang="zh-CN" altLang="zh-CN" sz="2400" dirty="0"/>
              <a:t>的盘块中可容纳</a:t>
            </a:r>
            <a:r>
              <a:rPr lang="en-US" altLang="zh-CN" sz="2400" dirty="0"/>
              <a:t>64</a:t>
            </a:r>
            <a:r>
              <a:rPr lang="zh-CN" altLang="zh-CN" sz="2400" dirty="0"/>
              <a:t>个目录项</a:t>
            </a:r>
            <a:r>
              <a:rPr lang="zh-CN" altLang="en-US" sz="2400" dirty="0"/>
              <a:t>；</a:t>
            </a:r>
            <a:r>
              <a:rPr lang="zh-CN" altLang="en-US" sz="2400" dirty="0">
                <a:sym typeface="Wingdings" panose="05000000000000000000" pitchFamily="2" charset="2"/>
              </a:rPr>
              <a:t>若一个文件目录中共有</a:t>
            </a:r>
            <a:r>
              <a:rPr lang="en-US" altLang="zh-CN" sz="2400" dirty="0">
                <a:sym typeface="Wingdings" panose="05000000000000000000" pitchFamily="2" charset="2"/>
              </a:rPr>
              <a:t>640</a:t>
            </a:r>
            <a:r>
              <a:rPr lang="zh-CN" altLang="en-US" sz="2400" dirty="0">
                <a:sym typeface="Wingdings" panose="05000000000000000000" pitchFamily="2" charset="2"/>
              </a:rPr>
              <a:t>个</a:t>
            </a:r>
            <a:r>
              <a:rPr lang="en-US" altLang="zh-CN" sz="2400" dirty="0">
                <a:sym typeface="Wingdings" panose="05000000000000000000" pitchFamily="2" charset="2"/>
              </a:rPr>
              <a:t>FCB (640*16B=10KB)</a:t>
            </a:r>
            <a:r>
              <a:rPr lang="zh-CN" altLang="en-US" sz="2400" dirty="0">
                <a:sym typeface="Wingdings" panose="05000000000000000000" pitchFamily="2" charset="2"/>
              </a:rPr>
              <a:t>，需占用</a:t>
            </a:r>
            <a:r>
              <a:rPr lang="en-US" altLang="zh-CN" sz="2400" dirty="0">
                <a:sym typeface="Wingdings" panose="05000000000000000000" pitchFamily="2" charset="2"/>
              </a:rPr>
              <a:t>10</a:t>
            </a:r>
            <a:r>
              <a:rPr lang="zh-CN" altLang="en-US" sz="2400" dirty="0">
                <a:sym typeface="Wingdings" panose="05000000000000000000" pitchFamily="2" charset="2"/>
              </a:rPr>
              <a:t>个盘块</a:t>
            </a:r>
            <a:r>
              <a:rPr lang="en-US" altLang="zh-CN" sz="2400" dirty="0">
                <a:sym typeface="Wingdings" panose="05000000000000000000" pitchFamily="2" charset="2"/>
              </a:rPr>
              <a:t>(10KB/1KB=10)</a:t>
            </a:r>
            <a:r>
              <a:rPr lang="zh-CN" altLang="en-US" sz="2400" dirty="0">
                <a:sym typeface="Wingdings" panose="05000000000000000000" pitchFamily="2" charset="2"/>
              </a:rPr>
              <a:t>，故平均查找一个文件需启动磁盘</a:t>
            </a:r>
            <a:r>
              <a:rPr lang="en-US" altLang="zh-CN" sz="2400" dirty="0">
                <a:solidFill>
                  <a:srgbClr val="FF0000"/>
                </a:solidFill>
                <a:sym typeface="Wingdings" panose="05000000000000000000" pitchFamily="2" charset="2"/>
              </a:rPr>
              <a:t>5</a:t>
            </a:r>
            <a:r>
              <a:rPr lang="zh-CN" altLang="en-US" sz="2400" dirty="0">
                <a:solidFill>
                  <a:srgbClr val="FF0000"/>
                </a:solidFill>
                <a:sym typeface="Wingdings" panose="05000000000000000000" pitchFamily="2" charset="2"/>
              </a:rPr>
              <a:t>次</a:t>
            </a:r>
            <a:endParaRPr lang="en-US" altLang="zh-CN" sz="2400" dirty="0">
              <a:solidFill>
                <a:srgbClr val="FF0000"/>
              </a:solidFill>
              <a:sym typeface="Wingdings" panose="05000000000000000000" pitchFamily="2" charset="2"/>
            </a:endParaRPr>
          </a:p>
          <a:p>
            <a:pPr marL="0" indent="0">
              <a:lnSpc>
                <a:spcPct val="123000"/>
              </a:lnSpc>
              <a:buNone/>
            </a:pPr>
            <a:r>
              <a:rPr lang="zh-CN" altLang="zh-CN" sz="2400" dirty="0"/>
              <a:t>可使平均启动磁盘次数</a:t>
            </a:r>
            <a:r>
              <a:rPr lang="zh-CN" altLang="zh-CN" sz="2400" dirty="0">
                <a:solidFill>
                  <a:srgbClr val="FF0000"/>
                </a:solidFill>
              </a:rPr>
              <a:t>减少到原来的</a:t>
            </a:r>
            <a:r>
              <a:rPr lang="en-US" altLang="zh-CN" sz="2400" b="1" dirty="0">
                <a:solidFill>
                  <a:srgbClr val="FF0000"/>
                </a:solidFill>
              </a:rPr>
              <a:t>1/4</a:t>
            </a:r>
            <a:endParaRPr lang="zh-CN" altLang="en-US" sz="2400" b="1" dirty="0">
              <a:solidFill>
                <a:srgbClr val="FF0000"/>
              </a:solidFill>
            </a:endParaRPr>
          </a:p>
        </p:txBody>
      </p:sp>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1192382"/>
            <a:ext cx="527050" cy="527050"/>
          </a:xfrm>
          <a:prstGeom prst="rect">
            <a:avLst/>
          </a:prstGeom>
          <a:ln>
            <a:noFill/>
          </a:ln>
          <a:effectLst>
            <a:softEdge rad="0"/>
          </a:effectLst>
        </p:spPr>
      </p:pic>
      <p:pic>
        <p:nvPicPr>
          <p:cNvPr id="38" name="图片 3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2265794"/>
            <a:ext cx="527050" cy="527050"/>
          </a:xfrm>
          <a:prstGeom prst="rect">
            <a:avLst/>
          </a:prstGeom>
          <a:ln>
            <a:noFill/>
          </a:ln>
          <a:effectLst>
            <a:softEdge rad="0"/>
          </a:effectLst>
        </p:spPr>
      </p:pic>
      <p:pic>
        <p:nvPicPr>
          <p:cNvPr id="39" name="图片 3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3800152"/>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40944" y="5615157"/>
            <a:ext cx="527050" cy="527050"/>
          </a:xfrm>
          <a:prstGeom prst="rect">
            <a:avLst/>
          </a:prstGeom>
          <a:ln>
            <a:noFill/>
          </a:ln>
          <a:effectLst>
            <a:softEdge rad="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8.3.2 </a:t>
            </a:r>
            <a:r>
              <a:rPr lang="zh-CN" altLang="en-US" sz="2800" b="1" dirty="0">
                <a:solidFill>
                  <a:schemeClr val="bg1"/>
                </a:solidFill>
              </a:rPr>
              <a:t>简单的目录结构</a:t>
            </a:r>
            <a:endParaRPr lang="zh-CN" altLang="en-US" sz="2800" b="1" dirty="0">
              <a:solidFill>
                <a:schemeClr val="bg1"/>
              </a:solidFill>
            </a:endParaRPr>
          </a:p>
        </p:txBody>
      </p:sp>
      <p:sp>
        <p:nvSpPr>
          <p:cNvPr id="9"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0"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1" name="í$1iďè"/>
          <p:cNvGrpSpPr/>
          <p:nvPr/>
        </p:nvGrpSpPr>
        <p:grpSpPr>
          <a:xfrm>
            <a:off x="4183062" y="1726446"/>
            <a:ext cx="7381904" cy="1702554"/>
            <a:chOff x="4136995" y="1456168"/>
            <a:chExt cx="7381904" cy="1702554"/>
          </a:xfrm>
        </p:grpSpPr>
        <p:sp>
          <p:nvSpPr>
            <p:cNvPr id="3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9" name="ïSḻiḍé"/>
            <p:cNvSpPr txBox="1"/>
            <p:nvPr/>
          </p:nvSpPr>
          <p:spPr>
            <a:xfrm>
              <a:off x="4882718" y="1456168"/>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目录结构的组织，是设计好文件系统的重要环节</a:t>
              </a:r>
              <a:endParaRPr lang="en-US" altLang="zh-CN" sz="2400" dirty="0"/>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关系到文件系统的存取速度</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也关系到文件的共享性和安全性</a:t>
              </a:r>
              <a:endParaRPr lang="zh-CN" altLang="en-US" sz="2400" dirty="0">
                <a:latin typeface="+mj-ea"/>
                <a:ea typeface="+mj-ea"/>
              </a:endParaRPr>
            </a:p>
          </p:txBody>
        </p:sp>
      </p:grpSp>
      <p:grpSp>
        <p:nvGrpSpPr>
          <p:cNvPr id="12" name="išḷîḓé"/>
          <p:cNvGrpSpPr/>
          <p:nvPr/>
        </p:nvGrpSpPr>
        <p:grpSpPr>
          <a:xfrm>
            <a:off x="4183062" y="3800144"/>
            <a:ext cx="7722859" cy="700835"/>
            <a:chOff x="4136995" y="3233565"/>
            <a:chExt cx="7722859" cy="700835"/>
          </a:xfrm>
        </p:grpSpPr>
        <p:sp>
          <p:nvSpPr>
            <p:cNvPr id="33"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5" name="îŝľîḓè"/>
            <p:cNvSpPr txBox="1"/>
            <p:nvPr/>
          </p:nvSpPr>
          <p:spPr>
            <a:xfrm>
              <a:off x="4882718" y="3233565"/>
              <a:ext cx="6977136" cy="70083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目录结构和文件都驻留在磁盘上。</a:t>
              </a:r>
              <a:endParaRPr lang="zh-CN" altLang="en-US" sz="2400" dirty="0">
                <a:solidFill>
                  <a:srgbClr val="FF0000"/>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单级文件目录</a:t>
            </a:r>
            <a:endParaRPr lang="zh-CN" altLang="en-US" sz="2800" b="1" dirty="0">
              <a:solidFill>
                <a:schemeClr val="bg1"/>
              </a:solidFill>
            </a:endParaRPr>
          </a:p>
        </p:txBody>
      </p:sp>
      <p:sp>
        <p:nvSpPr>
          <p:cNvPr id="21" name="Rectangle 3"/>
          <p:cNvSpPr txBox="1">
            <a:spLocks noChangeArrowheads="1"/>
          </p:cNvSpPr>
          <p:nvPr/>
        </p:nvSpPr>
        <p:spPr bwMode="auto">
          <a:xfrm>
            <a:off x="2112332" y="1438407"/>
            <a:ext cx="8229600" cy="38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所有用户的文件都在同一目录中</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最简单的文件目录</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zh-CN" b="0" i="0" u="none" strike="noStrike" kern="1200" cap="none" spc="0" normalizeH="0" baseline="0" noProof="0" dirty="0">
                <a:ln>
                  <a:noFill/>
                </a:ln>
                <a:solidFill>
                  <a:srgbClr val="0000FF"/>
                </a:solidFill>
                <a:effectLst/>
                <a:uLnTx/>
                <a:uFillTx/>
                <a:latin typeface="+mn-ea"/>
                <a:cs typeface="+mn-cs"/>
              </a:rPr>
              <a:t>目录项：</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zh-CN" sz="2400" b="0" i="0" u="none" strike="noStrike" kern="1200" cap="none" spc="0" normalizeH="0" baseline="0" noProof="0" dirty="0">
                <a:ln>
                  <a:noFill/>
                </a:ln>
                <a:solidFill>
                  <a:sysClr val="windowText" lastClr="000000"/>
                </a:solidFill>
                <a:effectLst/>
                <a:uLnTx/>
                <a:uFillTx/>
                <a:latin typeface="+mn-ea"/>
                <a:cs typeface="+mn-cs"/>
              </a:rPr>
              <a:t>文件名、扩展名、文件长度、文件类型、物理地址、文件说明以及其他文件属性</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缺点</a:t>
            </a:r>
            <a:r>
              <a:rPr kumimoji="0" lang="zh-CN" altLang="en-US"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查找速度慢</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不允许重名</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不便于实现文件共享</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1358508"/>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1899259"/>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2439316"/>
            <a:ext cx="527050" cy="527050"/>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91360" y="3819311"/>
            <a:ext cx="527050" cy="527050"/>
          </a:xfrm>
          <a:prstGeom prst="rect">
            <a:avLst/>
          </a:prstGeom>
          <a:ln>
            <a:noFill/>
          </a:ln>
          <a:effectLst>
            <a:softEdge rad="0"/>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两级文件目录</a:t>
            </a:r>
            <a:endParaRPr lang="zh-CN" altLang="en-US" sz="2800" b="1" dirty="0">
              <a:solidFill>
                <a:schemeClr val="bg1"/>
              </a:solidFill>
            </a:endParaRPr>
          </a:p>
        </p:txBody>
      </p:sp>
      <p:sp>
        <p:nvSpPr>
          <p:cNvPr id="21" name="Rectangle 3"/>
          <p:cNvSpPr txBox="1">
            <a:spLocks noChangeArrowheads="1"/>
          </p:cNvSpPr>
          <p:nvPr/>
        </p:nvSpPr>
        <p:spPr bwMode="auto">
          <a:xfrm>
            <a:off x="669925" y="1372946"/>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每个用户有自己的目录结构</a:t>
            </a:r>
            <a:endParaRPr kumimoji="0" lang="zh-CN" altLang="en-US" b="0" i="0" u="none" strike="noStrike" kern="1200" cap="none" spc="0" normalizeH="0" baseline="0" noProof="0" dirty="0">
              <a:ln>
                <a:noFill/>
              </a:ln>
              <a:solidFill>
                <a:sysClr val="windowText" lastClr="000000"/>
              </a:solidFill>
              <a:effectLst/>
              <a:uLnTx/>
              <a:uFillTx/>
              <a:latin typeface="+mn-ea"/>
              <a:cs typeface="+mn-cs"/>
            </a:endParaRPr>
          </a:p>
        </p:txBody>
      </p:sp>
      <p:pic>
        <p:nvPicPr>
          <p:cNvPr id="22" name="图片 21"/>
          <p:cNvPicPr>
            <a:picLocks noChangeAspect="1"/>
          </p:cNvPicPr>
          <p:nvPr/>
        </p:nvPicPr>
        <p:blipFill>
          <a:blip r:embed="rId1">
            <a:clrChange>
              <a:clrFrom>
                <a:srgbClr val="FFFFFF"/>
              </a:clrFrom>
              <a:clrTo>
                <a:srgbClr val="FFFFFF">
                  <a:alpha val="0"/>
                </a:srgbClr>
              </a:clrTo>
            </a:clrChange>
          </a:blip>
          <a:stretch>
            <a:fillRect/>
          </a:stretch>
        </p:blipFill>
        <p:spPr>
          <a:xfrm>
            <a:off x="3286067" y="1469256"/>
            <a:ext cx="8244794" cy="4452208"/>
          </a:xfrm>
          <a:prstGeom prst="rect">
            <a:avLst/>
          </a:prstGeom>
        </p:spPr>
      </p:pic>
      <p:sp>
        <p:nvSpPr>
          <p:cNvPr id="23" name="Rectangle 3"/>
          <p:cNvSpPr txBox="1">
            <a:spLocks noChangeArrowheads="1"/>
          </p:cNvSpPr>
          <p:nvPr/>
        </p:nvSpPr>
        <p:spPr bwMode="auto">
          <a:xfrm>
            <a:off x="669925" y="1927294"/>
            <a:ext cx="2616142" cy="2715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特点</a:t>
            </a:r>
            <a:r>
              <a:rPr kumimoji="0" lang="zh-CN" altLang="en-US"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提高了检索目录的速度</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不同用户可以有相同的文件名</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p:txBody>
      </p:sp>
      <p:sp>
        <p:nvSpPr>
          <p:cNvPr id="27" name="Rectangle 3"/>
          <p:cNvSpPr txBox="1">
            <a:spLocks noChangeArrowheads="1"/>
          </p:cNvSpPr>
          <p:nvPr/>
        </p:nvSpPr>
        <p:spPr bwMode="auto">
          <a:xfrm>
            <a:off x="661139" y="4643023"/>
            <a:ext cx="5805062" cy="1437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不同用户可以使用不同文件名访问同一个共享文件</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不便于共享文件</a:t>
            </a:r>
            <a:endParaRPr kumimoji="0" lang="zh-CN" altLang="en-US" sz="2400" b="0" i="0" u="none" strike="noStrike" kern="1200" cap="none" spc="0" normalizeH="0" baseline="0" noProof="0" dirty="0">
              <a:ln>
                <a:noFill/>
              </a:ln>
              <a:solidFill>
                <a:sysClr val="windowText" lastClr="000000"/>
              </a:solidFill>
              <a:effectLst/>
              <a:uLnTx/>
              <a:uFillTx/>
              <a:latin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8.3.3 </a:t>
            </a:r>
            <a:r>
              <a:rPr lang="zh-CN" altLang="en-US" sz="2800" b="1" dirty="0">
                <a:solidFill>
                  <a:schemeClr val="bg1"/>
                </a:solidFill>
              </a:rPr>
              <a:t>树形结构目录</a:t>
            </a:r>
            <a:r>
              <a:rPr lang="en-US" altLang="zh-CN" sz="2800" b="1" dirty="0">
                <a:solidFill>
                  <a:schemeClr val="bg1"/>
                </a:solidFill>
              </a:rPr>
              <a:t>(1)</a:t>
            </a:r>
            <a:endParaRPr lang="zh-CN" altLang="en-US" sz="2800" b="1" dirty="0">
              <a:solidFill>
                <a:schemeClr val="bg1"/>
              </a:solidFill>
            </a:endParaRPr>
          </a:p>
        </p:txBody>
      </p:sp>
      <p:pic>
        <p:nvPicPr>
          <p:cNvPr id="21"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5788" y="1163200"/>
            <a:ext cx="9725486" cy="4997886"/>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路径名和当前目录</a:t>
            </a:r>
            <a:endParaRPr lang="zh-CN" altLang="en-US" sz="2800" b="1" dirty="0">
              <a:solidFill>
                <a:schemeClr val="bg1"/>
              </a:solidFill>
            </a:endParaRPr>
          </a:p>
        </p:txBody>
      </p:sp>
      <p:grpSp>
        <p:nvGrpSpPr>
          <p:cNvPr id="24" name="2041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429214"/>
            <a:ext cx="10845800" cy="4481929"/>
            <a:chOff x="673100" y="1367070"/>
            <a:chExt cx="10845800" cy="4481929"/>
          </a:xfrm>
        </p:grpSpPr>
        <p:sp>
          <p:nvSpPr>
            <p:cNvPr id="25" name="ïsḷîde"/>
            <p:cNvSpPr/>
            <p:nvPr/>
          </p:nvSpPr>
          <p:spPr bwMode="auto">
            <a:xfrm>
              <a:off x="673100"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6" name="îSḷïḋe"/>
            <p:cNvSpPr/>
            <p:nvPr/>
          </p:nvSpPr>
          <p:spPr bwMode="auto">
            <a:xfrm>
              <a:off x="2727477"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7" name="íšļíḍè"/>
            <p:cNvSpPr/>
            <p:nvPr/>
          </p:nvSpPr>
          <p:spPr bwMode="auto">
            <a:xfrm>
              <a:off x="4781854"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8" name="îṧḷíḋé"/>
            <p:cNvSpPr/>
            <p:nvPr/>
          </p:nvSpPr>
          <p:spPr bwMode="auto">
            <a:xfrm>
              <a:off x="6836231"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9" name="íṣlíḍè"/>
            <p:cNvSpPr/>
            <p:nvPr/>
          </p:nvSpPr>
          <p:spPr bwMode="auto">
            <a:xfrm>
              <a:off x="8890608"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30" name="îṧlîḍe"/>
            <p:cNvSpPr/>
            <p:nvPr/>
          </p:nvSpPr>
          <p:spPr bwMode="auto">
            <a:xfrm>
              <a:off x="7866670" y="3365703"/>
              <a:ext cx="567414" cy="545694"/>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tx1">
                <a:lumMod val="50000"/>
                <a:lumOff val="50000"/>
              </a:schemeClr>
            </a:solidFill>
            <a:ln>
              <a:noFill/>
            </a:ln>
          </p:spPr>
          <p:txBody>
            <a:bodyPr/>
            <a:lstStyle/>
            <a:p>
              <a:endParaRPr lang="zh-CN" altLang="en-US"/>
            </a:p>
          </p:txBody>
        </p:sp>
        <p:sp>
          <p:nvSpPr>
            <p:cNvPr id="31" name="iṥḷíďe"/>
            <p:cNvSpPr/>
            <p:nvPr/>
          </p:nvSpPr>
          <p:spPr bwMode="auto">
            <a:xfrm>
              <a:off x="3757917" y="3365618"/>
              <a:ext cx="567412" cy="545864"/>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tx1">
                <a:lumMod val="50000"/>
                <a:lumOff val="50000"/>
              </a:schemeClr>
            </a:solidFill>
            <a:ln>
              <a:noFill/>
            </a:ln>
          </p:spPr>
          <p:txBody>
            <a:bodyPr/>
            <a:lstStyle/>
            <a:p>
              <a:endParaRPr lang="zh-CN" altLang="en-US"/>
            </a:p>
          </p:txBody>
        </p:sp>
        <p:sp>
          <p:nvSpPr>
            <p:cNvPr id="32" name="iṥḻíḓê"/>
            <p:cNvSpPr/>
            <p:nvPr/>
          </p:nvSpPr>
          <p:spPr bwMode="auto">
            <a:xfrm>
              <a:off x="1703540" y="3355375"/>
              <a:ext cx="567412"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a:bodyPr>
            <a:lstStyle/>
            <a:p>
              <a:endParaRPr lang="zh-CN" altLang="en-US"/>
            </a:p>
          </p:txBody>
        </p:sp>
        <p:sp>
          <p:nvSpPr>
            <p:cNvPr id="33" name="îsḻiḋè"/>
            <p:cNvSpPr/>
            <p:nvPr/>
          </p:nvSpPr>
          <p:spPr bwMode="auto">
            <a:xfrm>
              <a:off x="9921048" y="3390890"/>
              <a:ext cx="567412" cy="49532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lstStyle/>
            <a:p>
              <a:endParaRPr lang="zh-CN" altLang="en-US"/>
            </a:p>
          </p:txBody>
        </p:sp>
        <p:sp>
          <p:nvSpPr>
            <p:cNvPr id="34" name="îṥḷiḋè"/>
            <p:cNvSpPr/>
            <p:nvPr/>
          </p:nvSpPr>
          <p:spPr bwMode="auto">
            <a:xfrm>
              <a:off x="5778268" y="3381375"/>
              <a:ext cx="635464" cy="51435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vert="horz" wrap="square" lIns="91440" tIns="45720" rIns="91440" bIns="45720" numCol="1" anchor="t" anchorCtr="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49" name="ïṧļíḋê"/>
            <p:cNvSpPr txBox="1"/>
            <p:nvPr/>
          </p:nvSpPr>
          <p:spPr>
            <a:xfrm>
              <a:off x="894793" y="4469859"/>
              <a:ext cx="2232179" cy="393389"/>
            </a:xfrm>
            <a:prstGeom prst="rect">
              <a:avLst/>
            </a:prstGeom>
            <a:noFill/>
          </p:spPr>
          <p:txBody>
            <a:bodyPr wrap="square" lIns="91440" tIns="45720" rIns="91440" bIns="45720">
              <a:noAutofit/>
            </a:bodyPr>
            <a:lstStyle/>
            <a:p>
              <a:pPr algn="ctr"/>
              <a:r>
                <a:rPr lang="zh-CN" altLang="en-US" sz="2200" b="1" dirty="0"/>
                <a:t>主目录 </a:t>
              </a:r>
              <a:r>
                <a:rPr lang="en-US" altLang="zh-CN" sz="2200" b="1" dirty="0"/>
                <a:t>– </a:t>
              </a:r>
              <a:r>
                <a:rPr lang="zh-CN" altLang="en-US" sz="2200" b="1" dirty="0"/>
                <a:t>根目录</a:t>
              </a:r>
              <a:endParaRPr lang="zh-CN" altLang="en-US" sz="2200" b="1" dirty="0"/>
            </a:p>
          </p:txBody>
        </p:sp>
        <p:grpSp>
          <p:nvGrpSpPr>
            <p:cNvPr id="36" name="îṥḻiḋe"/>
            <p:cNvGrpSpPr/>
            <p:nvPr/>
          </p:nvGrpSpPr>
          <p:grpSpPr>
            <a:xfrm>
              <a:off x="4619035" y="4469858"/>
              <a:ext cx="3247635" cy="1379141"/>
              <a:chOff x="510281" y="4753177"/>
              <a:chExt cx="3247635" cy="1379141"/>
            </a:xfrm>
          </p:grpSpPr>
          <p:sp>
            <p:nvSpPr>
              <p:cNvPr id="46" name="ïśḻîdê"/>
              <p:cNvSpPr txBox="1"/>
              <p:nvPr/>
            </p:nvSpPr>
            <p:spPr>
              <a:xfrm>
                <a:off x="681532" y="5217286"/>
                <a:ext cx="3076384" cy="915032"/>
              </a:xfrm>
              <a:prstGeom prst="rect">
                <a:avLst/>
              </a:prstGeom>
              <a:noFill/>
            </p:spPr>
            <p:txBody>
              <a:bodyPr wrap="square" lIns="91440" tIns="45720" rIns="91440" bIns="45720">
                <a:noAutofit/>
              </a:bodyPr>
              <a:lstStyle/>
              <a:p>
                <a:pPr marL="171450" indent="-171450">
                  <a:lnSpc>
                    <a:spcPct val="120000"/>
                  </a:lnSpc>
                  <a:buClr>
                    <a:srgbClr val="FF0000"/>
                  </a:buClr>
                  <a:buFont typeface="Wingdings" panose="05000000000000000000" pitchFamily="2" charset="2"/>
                  <a:buChar char="Ø"/>
                </a:pPr>
                <a:r>
                  <a:rPr lang="en-US" altLang="zh-CN" sz="2400" dirty="0"/>
                  <a:t>cd /spell/mail/prog</a:t>
                </a:r>
                <a:endParaRPr lang="en-US" altLang="zh-CN" sz="2400" dirty="0"/>
              </a:p>
              <a:p>
                <a:pPr marL="171450" indent="-171450">
                  <a:lnSpc>
                    <a:spcPct val="120000"/>
                  </a:lnSpc>
                  <a:buClr>
                    <a:srgbClr val="FF0000"/>
                  </a:buClr>
                  <a:buFont typeface="Wingdings" panose="05000000000000000000" pitchFamily="2" charset="2"/>
                  <a:buChar char="Ø"/>
                </a:pPr>
                <a:r>
                  <a:rPr lang="en-US" altLang="zh-CN" sz="2400" dirty="0"/>
                  <a:t>type list</a:t>
                </a:r>
                <a:endParaRPr lang="en-US" altLang="zh-CN" sz="2400" dirty="0"/>
              </a:p>
            </p:txBody>
          </p:sp>
          <p:sp>
            <p:nvSpPr>
              <p:cNvPr id="47" name="îşḷíḓè"/>
              <p:cNvSpPr txBox="1"/>
              <p:nvPr/>
            </p:nvSpPr>
            <p:spPr>
              <a:xfrm>
                <a:off x="510281" y="4753177"/>
                <a:ext cx="3077165" cy="393389"/>
              </a:xfrm>
              <a:prstGeom prst="rect">
                <a:avLst/>
              </a:prstGeom>
              <a:noFill/>
            </p:spPr>
            <p:txBody>
              <a:bodyPr wrap="square" lIns="91440" tIns="45720" rIns="91440" bIns="45720">
                <a:noAutofit/>
              </a:bodyPr>
              <a:lstStyle/>
              <a:p>
                <a:pPr algn="ctr"/>
                <a:r>
                  <a:rPr lang="zh-CN" altLang="en-US" sz="2200" b="1" dirty="0"/>
                  <a:t>当前目录 － 工作目录</a:t>
                </a:r>
                <a:endParaRPr lang="zh-CN" altLang="en-US" sz="2200" b="1" dirty="0"/>
              </a:p>
            </p:txBody>
          </p:sp>
        </p:grpSp>
        <p:sp>
          <p:nvSpPr>
            <p:cNvPr id="45" name="íşľiḍé"/>
            <p:cNvSpPr txBox="1"/>
            <p:nvPr/>
          </p:nvSpPr>
          <p:spPr>
            <a:xfrm>
              <a:off x="9128024" y="4408441"/>
              <a:ext cx="2153459" cy="1051052"/>
            </a:xfrm>
            <a:prstGeom prst="rect">
              <a:avLst/>
            </a:prstGeom>
            <a:noFill/>
          </p:spPr>
          <p:txBody>
            <a:bodyPr wrap="square" lIns="91440" tIns="45720" rIns="91440" bIns="45720">
              <a:noAutofit/>
            </a:bodyPr>
            <a:lstStyle/>
            <a:p>
              <a:pPr algn="ctr"/>
              <a:r>
                <a:rPr lang="zh-CN" altLang="en-US" sz="2200" b="1" dirty="0"/>
                <a:t>更加有效地进行文件管理和保护</a:t>
              </a:r>
              <a:endParaRPr lang="zh-CN" altLang="en-US" sz="2200" b="1" dirty="0"/>
            </a:p>
          </p:txBody>
        </p:sp>
        <p:sp>
          <p:nvSpPr>
            <p:cNvPr id="43" name="í$ḻiḍê"/>
            <p:cNvSpPr txBox="1"/>
            <p:nvPr/>
          </p:nvSpPr>
          <p:spPr>
            <a:xfrm>
              <a:off x="7073647" y="2117956"/>
              <a:ext cx="2153460" cy="393389"/>
            </a:xfrm>
            <a:prstGeom prst="rect">
              <a:avLst/>
            </a:prstGeom>
            <a:noFill/>
          </p:spPr>
          <p:txBody>
            <a:bodyPr wrap="square" lIns="91440" tIns="45720" rIns="91440" bIns="45720">
              <a:noAutofit/>
            </a:bodyPr>
            <a:lstStyle/>
            <a:p>
              <a:pPr algn="ctr"/>
              <a:r>
                <a:rPr lang="zh-CN" altLang="en-US" sz="2200" b="1" dirty="0"/>
                <a:t>明显提高对目录的检索速度</a:t>
              </a:r>
              <a:endParaRPr lang="zh-CN" altLang="en-US" sz="2200" b="1" dirty="0"/>
            </a:p>
          </p:txBody>
        </p:sp>
        <p:grpSp>
          <p:nvGrpSpPr>
            <p:cNvPr id="39" name="íṡľiḑê"/>
            <p:cNvGrpSpPr/>
            <p:nvPr/>
          </p:nvGrpSpPr>
          <p:grpSpPr>
            <a:xfrm>
              <a:off x="1473693" y="1367070"/>
              <a:ext cx="5294300" cy="1501591"/>
              <a:chOff x="-580684" y="4634609"/>
              <a:chExt cx="5294300" cy="1501591"/>
            </a:xfrm>
          </p:grpSpPr>
          <p:sp>
            <p:nvSpPr>
              <p:cNvPr id="40" name="îşľïḑe"/>
              <p:cNvSpPr txBox="1"/>
              <p:nvPr/>
            </p:nvSpPr>
            <p:spPr>
              <a:xfrm>
                <a:off x="-580684" y="5085148"/>
                <a:ext cx="4847208" cy="1051052"/>
              </a:xfrm>
              <a:prstGeom prst="rect">
                <a:avLst/>
              </a:prstGeom>
              <a:noFill/>
            </p:spPr>
            <p:txBody>
              <a:bodyPr wrap="square" lIns="91440" tIns="45720" rIns="91440" bIns="45720">
                <a:noAutofit/>
              </a:bodyPr>
              <a:lstStyle/>
              <a:p>
                <a:pPr marL="171450" indent="-171450" algn="just">
                  <a:lnSpc>
                    <a:spcPct val="120000"/>
                  </a:lnSpc>
                  <a:buClr>
                    <a:srgbClr val="FFC000"/>
                  </a:buClr>
                  <a:buFont typeface="Wingdings" panose="05000000000000000000" pitchFamily="2" charset="2"/>
                  <a:buChar char="Ø"/>
                </a:pPr>
                <a:r>
                  <a:rPr lang="zh-CN" altLang="en-US" sz="2000" dirty="0"/>
                  <a:t>绝对路径名：从根目录开始的路径名</a:t>
                </a:r>
                <a:endParaRPr lang="zh-CN" altLang="en-US" sz="2000" dirty="0"/>
              </a:p>
              <a:p>
                <a:pPr marL="171450" indent="-171450" algn="just">
                  <a:lnSpc>
                    <a:spcPct val="120000"/>
                  </a:lnSpc>
                  <a:buClr>
                    <a:srgbClr val="FFC000"/>
                  </a:buClr>
                  <a:buFont typeface="Wingdings" panose="05000000000000000000" pitchFamily="2" charset="2"/>
                  <a:buChar char="Ø"/>
                </a:pPr>
                <a:r>
                  <a:rPr lang="zh-CN" altLang="en-US" sz="2000" dirty="0"/>
                  <a:t>相对路径名：从当前目录开始的路径名</a:t>
                </a:r>
                <a:endParaRPr lang="zh-CN" altLang="en-US" sz="2000" dirty="0"/>
              </a:p>
            </p:txBody>
          </p:sp>
          <p:sp>
            <p:nvSpPr>
              <p:cNvPr id="41" name="îṥľíḑé"/>
              <p:cNvSpPr txBox="1"/>
              <p:nvPr/>
            </p:nvSpPr>
            <p:spPr>
              <a:xfrm>
                <a:off x="-580684" y="4634609"/>
                <a:ext cx="5294300" cy="393389"/>
              </a:xfrm>
              <a:prstGeom prst="rect">
                <a:avLst/>
              </a:prstGeom>
              <a:noFill/>
            </p:spPr>
            <p:txBody>
              <a:bodyPr wrap="square" lIns="91440" tIns="45720" rIns="91440" bIns="45720">
                <a:noAutofit/>
              </a:bodyPr>
              <a:lstStyle/>
              <a:p>
                <a:pPr algn="ctr"/>
                <a:r>
                  <a:rPr lang="zh-CN" altLang="en-US" sz="2200" b="1" dirty="0"/>
                  <a:t>路径名 </a:t>
                </a:r>
                <a:r>
                  <a:rPr lang="en-US" altLang="zh-CN" sz="2200" b="1" dirty="0"/>
                  <a:t>– </a:t>
                </a:r>
                <a:r>
                  <a:rPr lang="zh-CN" altLang="en-US" sz="2200" b="1" dirty="0"/>
                  <a:t>从根目录到任何数据文件的通路</a:t>
                </a:r>
                <a:endParaRPr lang="zh-CN" altLang="en-US" sz="2200" b="1" dirty="0"/>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目录操作</a:t>
            </a:r>
            <a:endParaRPr lang="zh-CN" altLang="en-US" sz="2800" b="1" dirty="0">
              <a:solidFill>
                <a:schemeClr val="bg1"/>
              </a:solidFill>
            </a:endParaRPr>
          </a:p>
        </p:txBody>
      </p:sp>
      <p:sp>
        <p:nvSpPr>
          <p:cNvPr id="24" name="Rectangle 3"/>
          <p:cNvSpPr txBox="1">
            <a:spLocks noChangeArrowheads="1"/>
          </p:cNvSpPr>
          <p:nvPr/>
        </p:nvSpPr>
        <p:spPr bwMode="auto">
          <a:xfrm>
            <a:off x="957071" y="1041214"/>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目录操作</a:t>
            </a:r>
            <a:endParaRPr kumimoji="0" lang="zh-CN" altLang="en-US" b="0" i="0" u="none" strike="noStrike" kern="1200" cap="none" spc="0" normalizeH="0" baseline="0" noProof="0" dirty="0">
              <a:ln>
                <a:noFill/>
              </a:ln>
              <a:solidFill>
                <a:srgbClr val="FF0000"/>
              </a:solidFill>
              <a:effectLst/>
              <a:uLnTx/>
              <a:uFillTx/>
              <a:latin typeface="+mn-ea"/>
              <a:cs typeface="+mn-cs"/>
            </a:endParaRPr>
          </a:p>
        </p:txBody>
      </p:sp>
      <p:grpSp>
        <p:nvGrpSpPr>
          <p:cNvPr id="25"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4" y="1763071"/>
            <a:ext cx="10848975" cy="3733544"/>
            <a:chOff x="665163" y="1557009"/>
            <a:chExt cx="10848975" cy="3733544"/>
          </a:xfrm>
        </p:grpSpPr>
        <p:sp>
          <p:nvSpPr>
            <p:cNvPr id="26"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27"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28"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29"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30"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31"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32"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33"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34"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35"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36"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37"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38"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39"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0"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1"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2"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3"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4"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5" name="îṩļiḓè"/>
            <p:cNvSpPr/>
            <p:nvPr/>
          </p:nvSpPr>
          <p:spPr>
            <a:xfrm>
              <a:off x="665163" y="1667557"/>
              <a:ext cx="3067575" cy="467559"/>
            </a:xfrm>
            <a:prstGeom prst="rect">
              <a:avLst/>
            </a:prstGeom>
          </p:spPr>
          <p:txBody>
            <a:bodyPr wrap="square" lIns="91440" tIns="45720" rIns="91440" bIns="45720" anchor="ctr" anchorCtr="0">
              <a:normAutofit/>
            </a:bodyPr>
            <a:lstStyle/>
            <a:p>
              <a:pPr algn="r"/>
              <a:r>
                <a:rPr lang="zh-CN" altLang="en-US" sz="2400" dirty="0"/>
                <a:t>创建目录</a:t>
              </a:r>
              <a:endParaRPr lang="zh-CN" altLang="en-US" sz="2400" dirty="0"/>
            </a:p>
          </p:txBody>
        </p:sp>
        <p:sp>
          <p:nvSpPr>
            <p:cNvPr id="46" name="ïṣľîḋê"/>
            <p:cNvSpPr/>
            <p:nvPr/>
          </p:nvSpPr>
          <p:spPr>
            <a:xfrm>
              <a:off x="8029002" y="1667557"/>
              <a:ext cx="3485135"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移动目录</a:t>
              </a:r>
              <a:endParaRPr lang="en-US" altLang="zh-CN" sz="2400" dirty="0"/>
            </a:p>
          </p:txBody>
        </p:sp>
        <p:sp>
          <p:nvSpPr>
            <p:cNvPr id="47" name="išľïḓe"/>
            <p:cNvSpPr/>
            <p:nvPr/>
          </p:nvSpPr>
          <p:spPr>
            <a:xfrm>
              <a:off x="665163" y="3036926"/>
              <a:ext cx="2530918" cy="770168"/>
            </a:xfrm>
            <a:prstGeom prst="rect">
              <a:avLst/>
            </a:prstGeom>
          </p:spPr>
          <p:txBody>
            <a:bodyPr wrap="square" lIns="91440" tIns="45720" rIns="91440" bIns="45720" anchor="ctr" anchorCtr="0">
              <a:noAutofit/>
            </a:bodyPr>
            <a:lstStyle/>
            <a:p>
              <a:pPr algn="r"/>
              <a:r>
                <a:rPr lang="zh-CN" altLang="en-US" sz="2400" dirty="0"/>
                <a:t>删除目录：删除</a:t>
              </a:r>
              <a:r>
                <a:rPr lang="en-US" altLang="zh-CN" sz="2400" dirty="0"/>
                <a:t>/</a:t>
              </a:r>
              <a:r>
                <a:rPr lang="zh-CN" altLang="en-US" sz="2400" dirty="0"/>
                <a:t>不删除非空目录</a:t>
              </a:r>
              <a:endParaRPr lang="zh-CN" altLang="en-US" sz="2400" dirty="0"/>
            </a:p>
          </p:txBody>
        </p:sp>
        <p:sp>
          <p:nvSpPr>
            <p:cNvPr id="48" name="îṧľïdè"/>
            <p:cNvSpPr/>
            <p:nvPr/>
          </p:nvSpPr>
          <p:spPr>
            <a:xfrm>
              <a:off x="8632118" y="3161434"/>
              <a:ext cx="2882020"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链接操作</a:t>
              </a:r>
              <a:endParaRPr lang="en-US" altLang="zh-CN" sz="2400" dirty="0"/>
            </a:p>
          </p:txBody>
        </p:sp>
        <p:sp>
          <p:nvSpPr>
            <p:cNvPr id="49" name="işľîḓé"/>
            <p:cNvSpPr/>
            <p:nvPr/>
          </p:nvSpPr>
          <p:spPr>
            <a:xfrm>
              <a:off x="1877305" y="4708346"/>
              <a:ext cx="2274041"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改变目录</a:t>
              </a:r>
              <a:endParaRPr lang="en-US" altLang="zh-CN" sz="2400" dirty="0"/>
            </a:p>
          </p:txBody>
        </p:sp>
        <p:sp>
          <p:nvSpPr>
            <p:cNvPr id="50" name="ïśļíde"/>
            <p:cNvSpPr/>
            <p:nvPr/>
          </p:nvSpPr>
          <p:spPr>
            <a:xfrm>
              <a:off x="8029002" y="4708346"/>
              <a:ext cx="3485135"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查找操作</a:t>
              </a:r>
              <a:endParaRPr lang="en-US" altLang="zh-CN" sz="2400" dirty="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8.3.4 </a:t>
            </a:r>
            <a:r>
              <a:rPr lang="zh-CN" altLang="en-US" sz="2800" b="1" dirty="0">
                <a:solidFill>
                  <a:schemeClr val="bg1"/>
                </a:solidFill>
              </a:rPr>
              <a:t>无环图目录</a:t>
            </a:r>
            <a:endParaRPr lang="zh-CN" altLang="en-US" sz="2800" b="1" dirty="0">
              <a:solidFill>
                <a:schemeClr val="bg1"/>
              </a:solidFill>
            </a:endParaRPr>
          </a:p>
        </p:txBody>
      </p:sp>
      <p:sp>
        <p:nvSpPr>
          <p:cNvPr id="24" name="Rectangle 3"/>
          <p:cNvSpPr txBox="1">
            <a:spLocks noChangeArrowheads="1"/>
          </p:cNvSpPr>
          <p:nvPr/>
        </p:nvSpPr>
        <p:spPr bwMode="auto">
          <a:xfrm>
            <a:off x="845806" y="1244403"/>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有共享的</a:t>
            </a:r>
            <a:r>
              <a:rPr kumimoji="0" lang="zh-CN" altLang="en-US" b="0" i="0" u="none" strike="noStrike" kern="1200" cap="none" spc="0" normalizeH="0" baseline="0" noProof="0" dirty="0">
                <a:ln>
                  <a:noFill/>
                </a:ln>
                <a:effectLst/>
                <a:uLnTx/>
                <a:uFillTx/>
                <a:latin typeface="+mn-ea"/>
                <a:cs typeface="+mn-cs"/>
              </a:rPr>
              <a:t>子目录和文件</a:t>
            </a:r>
            <a:endParaRPr kumimoji="0" lang="zh-CN" altLang="en-US" b="0" i="0" u="none" strike="noStrike" kern="1200" cap="none" spc="0" normalizeH="0" baseline="0" noProof="0" dirty="0">
              <a:ln>
                <a:noFill/>
              </a:ln>
              <a:effectLst/>
              <a:uLnTx/>
              <a:uFillTx/>
              <a:latin typeface="+mn-ea"/>
              <a:cs typeface="+mn-cs"/>
            </a:endParaRPr>
          </a:p>
        </p:txBody>
      </p:sp>
      <p:pic>
        <p:nvPicPr>
          <p:cNvPr id="51" name="图片 50"/>
          <p:cNvPicPr>
            <a:picLocks noChangeAspect="1"/>
          </p:cNvPicPr>
          <p:nvPr/>
        </p:nvPicPr>
        <p:blipFill>
          <a:blip r:embed="rId1">
            <a:clrChange>
              <a:clrFrom>
                <a:srgbClr val="FFFFFF"/>
              </a:clrFrom>
              <a:clrTo>
                <a:srgbClr val="FFFFFF">
                  <a:alpha val="0"/>
                </a:srgbClr>
              </a:clrTo>
            </a:clrChange>
          </a:blip>
          <a:stretch>
            <a:fillRect/>
          </a:stretch>
        </p:blipFill>
        <p:spPr>
          <a:xfrm>
            <a:off x="2144794" y="1111238"/>
            <a:ext cx="8135547" cy="514988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8.3.5 </a:t>
            </a:r>
            <a:r>
              <a:rPr lang="zh-CN" altLang="en-US" sz="2800" b="1" dirty="0">
                <a:solidFill>
                  <a:schemeClr val="bg1"/>
                </a:solidFill>
              </a:rPr>
              <a:t>目录查询技术</a:t>
            </a:r>
            <a:endParaRPr lang="zh-CN" altLang="en-US" sz="2800" b="1" dirty="0">
              <a:solidFill>
                <a:schemeClr val="bg1"/>
              </a:solidFill>
            </a:endParaRPr>
          </a:p>
        </p:txBody>
      </p:sp>
      <p:sp>
        <p:nvSpPr>
          <p:cNvPr id="7" name="内容占位符 2"/>
          <p:cNvSpPr txBox="1"/>
          <p:nvPr/>
        </p:nvSpPr>
        <p:spPr>
          <a:xfrm>
            <a:off x="1475122" y="1256506"/>
            <a:ext cx="4468969" cy="166424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FF0000"/>
                </a:solidFill>
              </a:rPr>
              <a:t>线性检索法：</a:t>
            </a:r>
            <a:endParaRPr lang="zh-CN" altLang="en-US" sz="2400" dirty="0">
              <a:solidFill>
                <a:srgbClr val="FF0000"/>
              </a:solidFill>
            </a:endParaRPr>
          </a:p>
          <a:p>
            <a:pPr marL="342900" lvl="1" indent="-342900">
              <a:lnSpc>
                <a:spcPct val="150000"/>
              </a:lnSpc>
              <a:spcBef>
                <a:spcPts val="30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顺序检索法。</a:t>
            </a:r>
            <a:endParaRPr lang="zh-CN" altLang="en-US" sz="2400" dirty="0">
              <a:solidFill>
                <a:schemeClr val="tx1">
                  <a:lumMod val="65000"/>
                  <a:lumOff val="35000"/>
                </a:schemeClr>
              </a:solidFill>
            </a:endParaRPr>
          </a:p>
          <a:p>
            <a:pPr marL="342900" lvl="1" indent="-342900">
              <a:lnSpc>
                <a:spcPct val="150000"/>
              </a:lnSpc>
              <a:spcBef>
                <a:spcPts val="30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查找</a:t>
            </a:r>
            <a:r>
              <a:rPr lang="en-US" altLang="zh-CN" sz="2400" dirty="0">
                <a:solidFill>
                  <a:schemeClr val="tx1">
                    <a:lumMod val="65000"/>
                    <a:lumOff val="35000"/>
                  </a:schemeClr>
                </a:solidFill>
              </a:rPr>
              <a:t>/</a:t>
            </a:r>
            <a:r>
              <a:rPr lang="en-US" altLang="zh-CN" sz="2400" dirty="0" err="1">
                <a:solidFill>
                  <a:schemeClr val="tx1">
                    <a:lumMod val="65000"/>
                    <a:lumOff val="35000"/>
                  </a:schemeClr>
                </a:solidFill>
              </a:rPr>
              <a:t>usr</a:t>
            </a:r>
            <a:r>
              <a:rPr lang="en-US" altLang="zh-CN" sz="2400" dirty="0">
                <a:solidFill>
                  <a:schemeClr val="tx1">
                    <a:lumMod val="65000"/>
                    <a:lumOff val="35000"/>
                  </a:schemeClr>
                </a:solidFill>
              </a:rPr>
              <a:t>/</a:t>
            </a:r>
            <a:r>
              <a:rPr lang="en-US" altLang="zh-CN" sz="2400" dirty="0" err="1">
                <a:solidFill>
                  <a:schemeClr val="tx1">
                    <a:lumMod val="65000"/>
                    <a:lumOff val="35000"/>
                  </a:schemeClr>
                </a:solidFill>
              </a:rPr>
              <a:t>ast</a:t>
            </a:r>
            <a:r>
              <a:rPr lang="en-US" altLang="zh-CN" sz="2400" dirty="0">
                <a:solidFill>
                  <a:schemeClr val="tx1">
                    <a:lumMod val="65000"/>
                    <a:lumOff val="35000"/>
                  </a:schemeClr>
                </a:solidFill>
              </a:rPr>
              <a:t>/</a:t>
            </a:r>
            <a:r>
              <a:rPr lang="en-US" altLang="zh-CN" sz="2400" dirty="0" err="1">
                <a:solidFill>
                  <a:schemeClr val="tx1">
                    <a:lumMod val="65000"/>
                    <a:lumOff val="35000"/>
                  </a:schemeClr>
                </a:solidFill>
              </a:rPr>
              <a:t>mbox</a:t>
            </a:r>
            <a:r>
              <a:rPr lang="zh-CN" altLang="en-US" sz="2400" dirty="0">
                <a:solidFill>
                  <a:schemeClr val="tx1">
                    <a:lumMod val="65000"/>
                    <a:lumOff val="35000"/>
                  </a:schemeClr>
                </a:solidFill>
              </a:rPr>
              <a:t>的过程。</a:t>
            </a:r>
            <a:endParaRPr lang="zh-CN" altLang="en-US" sz="2400" dirty="0">
              <a:solidFill>
                <a:schemeClr val="tx1">
                  <a:lumMod val="65000"/>
                  <a:lumOff val="35000"/>
                </a:schemeClr>
              </a:solidFill>
            </a:endParaRPr>
          </a:p>
        </p:txBody>
      </p:sp>
      <p:grpSp>
        <p:nvGrpSpPr>
          <p:cNvPr id="2" name="组合 1"/>
          <p:cNvGrpSpPr/>
          <p:nvPr/>
        </p:nvGrpSpPr>
        <p:grpSpPr>
          <a:xfrm>
            <a:off x="589878" y="1411054"/>
            <a:ext cx="712277" cy="418475"/>
            <a:chOff x="673100" y="2982961"/>
            <a:chExt cx="1597850" cy="938764"/>
          </a:xfrm>
        </p:grpSpPr>
        <p:sp>
          <p:nvSpPr>
            <p:cNvPr id="11"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2"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13" name="组合 12"/>
          <p:cNvGrpSpPr/>
          <p:nvPr/>
        </p:nvGrpSpPr>
        <p:grpSpPr>
          <a:xfrm>
            <a:off x="635240" y="3999421"/>
            <a:ext cx="712277" cy="418475"/>
            <a:chOff x="673100" y="2982961"/>
            <a:chExt cx="1597850" cy="938764"/>
          </a:xfrm>
        </p:grpSpPr>
        <p:sp>
          <p:nvSpPr>
            <p:cNvPr id="14"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5"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6" name="内容占位符 2"/>
          <p:cNvSpPr txBox="1"/>
          <p:nvPr/>
        </p:nvSpPr>
        <p:spPr>
          <a:xfrm>
            <a:off x="1456089" y="3997173"/>
            <a:ext cx="10466621" cy="28563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solidFill>
                  <a:srgbClr val="0000FF"/>
                </a:solidFill>
              </a:rPr>
              <a:t>Hash</a:t>
            </a:r>
            <a:r>
              <a:rPr lang="zh-CN" altLang="en-US" sz="2400" dirty="0">
                <a:solidFill>
                  <a:srgbClr val="0000FF"/>
                </a:solidFill>
              </a:rPr>
              <a:t>方法：</a:t>
            </a:r>
            <a:endParaRPr lang="en-US" altLang="zh-CN" sz="2400" dirty="0">
              <a:solidFill>
                <a:srgbClr val="0000FF"/>
              </a:solidFill>
            </a:endParaRPr>
          </a:p>
          <a:p>
            <a:pPr indent="-360045">
              <a:lnSpc>
                <a:spcPct val="112000"/>
              </a:lnSpc>
              <a:buClr>
                <a:srgbClr val="0000FF"/>
              </a:buClr>
              <a:buFont typeface="Wingdings" panose="05000000000000000000" pitchFamily="2" charset="2"/>
              <a:buChar char="n"/>
            </a:pPr>
            <a:r>
              <a:rPr lang="zh-CN" altLang="en-US" sz="2400" dirty="0"/>
              <a:t>系统利用用户提供的文件名，将之变换为文   件目录的索引值，再利用该索引值到目录中去查找。</a:t>
            </a:r>
            <a:endParaRPr lang="zh-CN" altLang="en-US" sz="2400" dirty="0"/>
          </a:p>
          <a:p>
            <a:pPr indent="-360045">
              <a:lnSpc>
                <a:spcPct val="112000"/>
              </a:lnSpc>
              <a:buClr>
                <a:srgbClr val="0000FF"/>
              </a:buClr>
              <a:buFont typeface="Wingdings" panose="05000000000000000000" pitchFamily="2" charset="2"/>
              <a:buChar char="n"/>
            </a:pPr>
            <a:r>
              <a:rPr lang="zh-CN" altLang="en-US" sz="2400" dirty="0"/>
              <a:t>模式匹配（*  ？）时，无法使用</a:t>
            </a:r>
            <a:r>
              <a:rPr lang="en-US" altLang="zh-CN" sz="2400" dirty="0"/>
              <a:t>Hash</a:t>
            </a:r>
            <a:r>
              <a:rPr lang="zh-CN" altLang="en-US" sz="2400" dirty="0"/>
              <a:t>方法。</a:t>
            </a:r>
            <a:endParaRPr lang="zh-CN" altLang="en-US" sz="2400" dirty="0"/>
          </a:p>
          <a:p>
            <a:pPr indent="-360045">
              <a:lnSpc>
                <a:spcPct val="112000"/>
              </a:lnSpc>
              <a:buClr>
                <a:srgbClr val="0000FF"/>
              </a:buClr>
              <a:buFont typeface="Wingdings" panose="05000000000000000000" pitchFamily="2" charset="2"/>
              <a:buChar char="n"/>
            </a:pPr>
            <a:r>
              <a:rPr lang="zh-CN" altLang="en-US" sz="2400" dirty="0"/>
              <a:t>处理冲突使用有效规则。</a:t>
            </a:r>
            <a:endParaRPr lang="zh-CN" altLang="en-US" sz="2400" dirty="0"/>
          </a:p>
          <a:p>
            <a:pPr marL="0" indent="0">
              <a:buNone/>
            </a:pPr>
            <a:endParaRPr lang="zh-CN" altLang="en-US" sz="2400" dirty="0">
              <a:solidFill>
                <a:srgbClr val="0000FF"/>
              </a:solidFill>
            </a:endParaRPr>
          </a:p>
        </p:txBody>
      </p:sp>
      <p:pic>
        <p:nvPicPr>
          <p:cNvPr id="18" name="图片 17"/>
          <p:cNvPicPr>
            <a:picLocks noChangeAspect="1"/>
          </p:cNvPicPr>
          <p:nvPr/>
        </p:nvPicPr>
        <p:blipFill>
          <a:blip r:embed="rId1"/>
          <a:stretch>
            <a:fillRect/>
          </a:stretch>
        </p:blipFill>
        <p:spPr>
          <a:xfrm>
            <a:off x="5476985" y="1257116"/>
            <a:ext cx="6286292" cy="316078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latin typeface="+mj-ea"/>
              </a:rPr>
              <a:t>8.4 </a:t>
            </a:r>
            <a:r>
              <a:rPr lang="zh-CN" altLang="en-US" sz="2400" b="1" dirty="0">
                <a:solidFill>
                  <a:srgbClr val="0000FF"/>
                </a:solidFill>
                <a:latin typeface="+mj-ea"/>
              </a:rPr>
              <a:t>文件共享</a:t>
            </a:r>
            <a:endParaRPr lang="en-US" altLang="zh-CN" sz="2400" b="1" dirty="0">
              <a:solidFill>
                <a:srgbClr val="0000FF"/>
              </a:solidFill>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 </a:t>
            </a:r>
            <a:r>
              <a:rPr lang="zh-CN" altLang="en-US" sz="2800" b="1" dirty="0">
                <a:solidFill>
                  <a:schemeClr val="bg1"/>
                </a:solidFill>
              </a:rPr>
              <a:t>文件共享</a:t>
            </a:r>
            <a:endParaRPr lang="zh-CN" altLang="en-US" sz="2800" b="1" dirty="0">
              <a:solidFill>
                <a:schemeClr val="bg1"/>
              </a:solidFill>
            </a:endParaRPr>
          </a:p>
        </p:txBody>
      </p:sp>
      <p:sp>
        <p:nvSpPr>
          <p:cNvPr id="29" name="矩形 28"/>
          <p:cNvSpPr/>
          <p:nvPr/>
        </p:nvSpPr>
        <p:spPr>
          <a:xfrm>
            <a:off x="669925" y="1028818"/>
            <a:ext cx="10850563" cy="523221"/>
          </a:xfrm>
          <a:prstGeom prst="rect">
            <a:avLst/>
          </a:prstGeom>
        </p:spPr>
        <p:txBody>
          <a:bodyPr wrap="square">
            <a:noAutofit/>
          </a:bodyPr>
          <a:lstStyle/>
          <a:p>
            <a:pPr indent="457200">
              <a:lnSpc>
                <a:spcPct val="132000"/>
              </a:lnSpc>
              <a:spcBef>
                <a:spcPts val="600"/>
              </a:spcBef>
              <a:spcAft>
                <a:spcPts val="600"/>
              </a:spcAft>
            </a:pPr>
            <a:r>
              <a:rPr lang="zh-CN" altLang="en-US" sz="2400" dirty="0">
                <a:solidFill>
                  <a:srgbClr val="FF0000"/>
                </a:solidFill>
                <a:latin typeface="+mn-ea"/>
              </a:rPr>
              <a:t>基于有向无环图</a:t>
            </a:r>
            <a:r>
              <a:rPr lang="zh-CN" altLang="en-US" sz="2400" dirty="0">
                <a:latin typeface="+mn-ea"/>
              </a:rPr>
              <a:t>实现共享</a:t>
            </a:r>
            <a:endParaRPr lang="zh-CN" altLang="en-US" sz="2400" dirty="0">
              <a:latin typeface="+mn-ea"/>
            </a:endParaRPr>
          </a:p>
        </p:txBody>
      </p:sp>
      <p:sp>
        <p:nvSpPr>
          <p:cNvPr id="31" name="矩形 30"/>
          <p:cNvSpPr/>
          <p:nvPr/>
        </p:nvSpPr>
        <p:spPr>
          <a:xfrm>
            <a:off x="1805040" y="1729397"/>
            <a:ext cx="8688367" cy="1291969"/>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有向无环图：树形目录中，允许一个文件有多个父目录</a:t>
            </a:r>
            <a:endParaRPr lang="zh-CN" altLang="en-US" sz="2400" dirty="0">
              <a:latin typeface="+mn-ea"/>
            </a:endParaRPr>
          </a:p>
          <a:p>
            <a:pPr>
              <a:lnSpc>
                <a:spcPct val="132000"/>
              </a:lnSpc>
              <a:spcBef>
                <a:spcPts val="600"/>
              </a:spcBef>
              <a:spcAft>
                <a:spcPts val="600"/>
              </a:spcAft>
            </a:pPr>
            <a:r>
              <a:rPr lang="zh-CN" altLang="en-US" sz="2400" dirty="0">
                <a:latin typeface="+mn-ea"/>
              </a:rPr>
              <a:t>利用索引结点实现共享，设置链接计数</a:t>
            </a:r>
            <a:r>
              <a:rPr lang="en-US" altLang="zh-CN" sz="2400" dirty="0">
                <a:latin typeface="+mn-ea"/>
              </a:rPr>
              <a:t>count</a:t>
            </a:r>
            <a:endParaRPr lang="en-US" altLang="zh-CN" sz="2400" dirty="0">
              <a:latin typeface="+mn-ea"/>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1757516"/>
            <a:ext cx="527050" cy="527050"/>
          </a:xfrm>
          <a:prstGeom prst="rect">
            <a:avLst/>
          </a:prstGeom>
          <a:ln>
            <a:noFill/>
          </a:ln>
          <a:effectLst>
            <a:softEdge rad="0"/>
          </a:effectLst>
        </p:spPr>
      </p:pic>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2433296"/>
            <a:ext cx="527050" cy="527050"/>
          </a:xfrm>
          <a:prstGeom prst="rect">
            <a:avLst/>
          </a:prstGeom>
          <a:ln>
            <a:noFill/>
          </a:ln>
          <a:effectLst>
            <a:softEdge rad="0"/>
          </a:effectLst>
        </p:spPr>
      </p:pic>
      <p:pic>
        <p:nvPicPr>
          <p:cNvPr id="36" name="图片 35"/>
          <p:cNvPicPr>
            <a:picLocks noChangeAspect="1"/>
          </p:cNvPicPr>
          <p:nvPr/>
        </p:nvPicPr>
        <p:blipFill>
          <a:blip r:embed="rId2">
            <a:clrChange>
              <a:clrFrom>
                <a:srgbClr val="FFFFFF"/>
              </a:clrFrom>
              <a:clrTo>
                <a:srgbClr val="FFFFFF">
                  <a:alpha val="0"/>
                </a:srgbClr>
              </a:clrTo>
            </a:clrChange>
          </a:blip>
          <a:stretch>
            <a:fillRect/>
          </a:stretch>
        </p:blipFill>
        <p:spPr>
          <a:xfrm>
            <a:off x="1181100" y="3109076"/>
            <a:ext cx="4712556" cy="3160776"/>
          </a:xfrm>
          <a:prstGeom prst="rect">
            <a:avLst/>
          </a:prstGeom>
          <a:ln>
            <a:solidFill>
              <a:schemeClr val="accent5">
                <a:lumMod val="75000"/>
              </a:schemeClr>
            </a:solidFill>
          </a:ln>
        </p:spPr>
      </p:pic>
      <p:pic>
        <p:nvPicPr>
          <p:cNvPr id="38" name="图片 37"/>
          <p:cNvPicPr>
            <a:picLocks noChangeAspect="1"/>
          </p:cNvPicPr>
          <p:nvPr/>
        </p:nvPicPr>
        <p:blipFill>
          <a:blip r:embed="rId3">
            <a:clrChange>
              <a:clrFrom>
                <a:srgbClr val="FFFFFF"/>
              </a:clrFrom>
              <a:clrTo>
                <a:srgbClr val="FFFFFF">
                  <a:alpha val="0"/>
                </a:srgbClr>
              </a:clrTo>
            </a:clrChange>
          </a:blip>
          <a:stretch>
            <a:fillRect/>
          </a:stretch>
        </p:blipFill>
        <p:spPr>
          <a:xfrm>
            <a:off x="6412639" y="3109076"/>
            <a:ext cx="4986333" cy="3160776"/>
          </a:xfrm>
          <a:prstGeom prst="rect">
            <a:avLst/>
          </a:prstGeom>
          <a:ln>
            <a:solidFill>
              <a:schemeClr val="accent5">
                <a:lumMod val="75000"/>
              </a:schemeClr>
            </a:solid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利用符号链接实现共享</a:t>
            </a:r>
            <a:endParaRPr lang="zh-CN" altLang="en-US" sz="2800" b="1" dirty="0">
              <a:solidFill>
                <a:schemeClr val="bg1"/>
              </a:solidFill>
            </a:endParaRPr>
          </a:p>
        </p:txBody>
      </p:sp>
      <p:sp>
        <p:nvSpPr>
          <p:cNvPr id="3" name="îśḻiďé"/>
          <p:cNvSpPr/>
          <p:nvPr/>
        </p:nvSpPr>
        <p:spPr bwMode="auto">
          <a:xfrm>
            <a:off x="879924" y="1389333"/>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4" name="išľiďe"/>
          <p:cNvSpPr/>
          <p:nvPr/>
        </p:nvSpPr>
        <p:spPr bwMode="auto">
          <a:xfrm>
            <a:off x="1482807" y="3070818"/>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5" name="íśľîḋé"/>
          <p:cNvSpPr/>
          <p:nvPr/>
        </p:nvSpPr>
        <p:spPr bwMode="auto">
          <a:xfrm>
            <a:off x="886041" y="4515179"/>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6" name="ïṡḷidè"/>
          <p:cNvSpPr/>
          <p:nvPr/>
        </p:nvSpPr>
        <p:spPr bwMode="auto">
          <a:xfrm>
            <a:off x="1734150" y="3321938"/>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 name="iṡļîḍé"/>
          <p:cNvSpPr/>
          <p:nvPr/>
        </p:nvSpPr>
        <p:spPr bwMode="auto">
          <a:xfrm>
            <a:off x="1136901" y="4766783"/>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ïslíḓé"/>
          <p:cNvSpPr/>
          <p:nvPr/>
        </p:nvSpPr>
        <p:spPr bwMode="auto">
          <a:xfrm>
            <a:off x="1131412" y="1642717"/>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9" name="ïṣľîḋê"/>
          <p:cNvSpPr/>
          <p:nvPr/>
        </p:nvSpPr>
        <p:spPr>
          <a:xfrm>
            <a:off x="1906505" y="1263764"/>
            <a:ext cx="9732330" cy="1683865"/>
          </a:xfrm>
          <a:prstGeom prst="rect">
            <a:avLst/>
          </a:prstGeom>
        </p:spPr>
        <p:txBody>
          <a:bodyPr wrap="square" lIns="91440" tIns="45720" rIns="91440" bIns="45720" anchor="ctr" anchorCtr="0">
            <a:normAutofit fontScale="85000" lnSpcReduction="10000"/>
          </a:bodyPr>
          <a:lstStyle/>
          <a:p>
            <a:pPr>
              <a:lnSpc>
                <a:spcPct val="122000"/>
              </a:lnSpc>
            </a:pPr>
            <a:r>
              <a:rPr lang="zh-CN" altLang="en-US" sz="2800" dirty="0">
                <a:solidFill>
                  <a:srgbClr val="0000FF"/>
                </a:solidFill>
              </a:rPr>
              <a:t>基本思想：</a:t>
            </a:r>
            <a:r>
              <a:rPr lang="zh-CN" altLang="en-US" sz="2800" dirty="0"/>
              <a:t>允许一个文件有多个父目录，但其中仅有一个作为主父目录，其它的都是通过符号链接方式与之相链接。</a:t>
            </a:r>
            <a:endParaRPr lang="zh-CN" altLang="en-US" sz="2800" dirty="0"/>
          </a:p>
          <a:p>
            <a:pPr marL="342900" indent="-342900">
              <a:lnSpc>
                <a:spcPct val="150000"/>
              </a:lnSpc>
              <a:buClr>
                <a:srgbClr val="0000FF"/>
              </a:buClr>
              <a:buFont typeface="Wingdings" panose="05000000000000000000" pitchFamily="2" charset="2"/>
              <a:buChar char="Ø"/>
            </a:pPr>
            <a:r>
              <a:rPr lang="en-US" altLang="zh-CN" sz="3100" dirty="0"/>
              <a:t>Linux</a:t>
            </a:r>
            <a:r>
              <a:rPr lang="zh-CN" altLang="en-US" sz="3100" dirty="0"/>
              <a:t>系统中的创建符号链接命令：</a:t>
            </a:r>
            <a:r>
              <a:rPr lang="en-US" altLang="zh-CN" sz="3100" dirty="0"/>
              <a:t>ln –s  </a:t>
            </a:r>
            <a:r>
              <a:rPr lang="zh-CN" altLang="en-US" sz="3100" dirty="0"/>
              <a:t>源文件 目标文件 </a:t>
            </a:r>
            <a:endParaRPr lang="zh-CN" altLang="en-US" sz="3100" dirty="0"/>
          </a:p>
        </p:txBody>
      </p:sp>
      <p:sp>
        <p:nvSpPr>
          <p:cNvPr id="10" name="îṧľïdè"/>
          <p:cNvSpPr/>
          <p:nvPr/>
        </p:nvSpPr>
        <p:spPr>
          <a:xfrm>
            <a:off x="2373556" y="2976911"/>
            <a:ext cx="9034249" cy="1683866"/>
          </a:xfrm>
          <a:prstGeom prst="rect">
            <a:avLst/>
          </a:prstGeom>
        </p:spPr>
        <p:txBody>
          <a:bodyPr wrap="square" lIns="91440" tIns="45720" rIns="91440" bIns="45720" anchor="ctr" anchorCtr="0">
            <a:normAutofit/>
          </a:bodyPr>
          <a:lstStyle/>
          <a:p>
            <a:r>
              <a:rPr lang="zh-CN" altLang="en-US" sz="2600" dirty="0">
                <a:solidFill>
                  <a:srgbClr val="FF0000"/>
                </a:solidFill>
              </a:rPr>
              <a:t>优点</a:t>
            </a:r>
            <a:r>
              <a:rPr lang="zh-CN" altLang="en-US" sz="2600" dirty="0"/>
              <a:t>：</a:t>
            </a:r>
            <a:endParaRPr lang="en-US" altLang="zh-CN" sz="2600" dirty="0"/>
          </a:p>
          <a:p>
            <a:pPr marL="342900" indent="-342900">
              <a:lnSpc>
                <a:spcPct val="132000"/>
              </a:lnSpc>
              <a:buClr>
                <a:srgbClr val="FF0000"/>
              </a:buClr>
              <a:buFont typeface="Wingdings" panose="05000000000000000000" pitchFamily="2" charset="2"/>
              <a:buChar char="Ø"/>
            </a:pPr>
            <a:r>
              <a:rPr lang="zh-CN" altLang="en-US" sz="2400" dirty="0"/>
              <a:t>不会发生在文件拥有者删除一个共享文件后留下一个悬空指针的情况。</a:t>
            </a:r>
            <a:endParaRPr lang="zh-CN" altLang="en-US" sz="2400" dirty="0"/>
          </a:p>
        </p:txBody>
      </p:sp>
      <p:sp>
        <p:nvSpPr>
          <p:cNvPr id="11" name="ïśļíde"/>
          <p:cNvSpPr/>
          <p:nvPr/>
        </p:nvSpPr>
        <p:spPr>
          <a:xfrm>
            <a:off x="1880598" y="4512605"/>
            <a:ext cx="9527208" cy="1604110"/>
          </a:xfrm>
          <a:prstGeom prst="rect">
            <a:avLst/>
          </a:prstGeom>
        </p:spPr>
        <p:txBody>
          <a:bodyPr wrap="square" lIns="91440" tIns="45720" rIns="91440" bIns="45720" anchor="ctr" anchorCtr="0">
            <a:normAutofit/>
          </a:bodyPr>
          <a:lstStyle/>
          <a:p>
            <a:r>
              <a:rPr lang="zh-CN" altLang="en-US" sz="2600" dirty="0">
                <a:solidFill>
                  <a:srgbClr val="FF0000"/>
                </a:solidFill>
              </a:rPr>
              <a:t>缺点</a:t>
            </a:r>
            <a:r>
              <a:rPr lang="zh-CN" altLang="en-US" sz="2600" dirty="0"/>
              <a:t>：</a:t>
            </a:r>
            <a:endParaRPr lang="en-US" altLang="zh-CN" sz="2600" dirty="0"/>
          </a:p>
          <a:p>
            <a:pPr marL="342900" indent="-342900">
              <a:lnSpc>
                <a:spcPct val="132000"/>
              </a:lnSpc>
              <a:buClr>
                <a:srgbClr val="FF0000"/>
              </a:buClr>
              <a:buFont typeface="Wingdings" panose="05000000000000000000" pitchFamily="2" charset="2"/>
              <a:buChar char="Ø"/>
            </a:pPr>
            <a:r>
              <a:rPr lang="zh-CN" altLang="en-US" sz="2400" dirty="0"/>
              <a:t>每次访问共享文件时都可能要多次地读盘，这使每次访问文件的开销甚大，且增加了启动磁盘的频率。</a:t>
            </a:r>
            <a:endParaRPr lang="zh-CN"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b="1" dirty="0">
                <a:solidFill>
                  <a:srgbClr val="0000FF"/>
                </a:solidFill>
                <a:latin typeface="+mj-ea"/>
              </a:rPr>
              <a:t>8.5 </a:t>
            </a:r>
            <a:r>
              <a:rPr lang="zh-CN" altLang="en-US" sz="2400" b="1" dirty="0">
                <a:solidFill>
                  <a:srgbClr val="0000FF"/>
                </a:solidFill>
                <a:latin typeface="+mj-ea"/>
              </a:rPr>
              <a:t>文件保护</a:t>
            </a:r>
            <a:endParaRPr lang="en-US" altLang="zh-CN" sz="2400" b="1" dirty="0">
              <a:solidFill>
                <a:srgbClr val="0000FF"/>
              </a:solidFill>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 </a:t>
            </a:r>
            <a:r>
              <a:rPr lang="zh-CN" altLang="en-US" sz="2800" b="1" dirty="0">
                <a:solidFill>
                  <a:schemeClr val="bg1"/>
                </a:solidFill>
              </a:rPr>
              <a:t>文件保护</a:t>
            </a:r>
            <a:endParaRPr lang="zh-CN" altLang="en-US" sz="2800" b="1" dirty="0">
              <a:solidFill>
                <a:schemeClr val="bg1"/>
              </a:solidFill>
            </a:endParaRPr>
          </a:p>
        </p:txBody>
      </p:sp>
      <p:sp>
        <p:nvSpPr>
          <p:cNvPr id="3" name="矩形: 圆角 2"/>
          <p:cNvSpPr/>
          <p:nvPr/>
        </p:nvSpPr>
        <p:spPr>
          <a:xfrm>
            <a:off x="1399083" y="1388815"/>
            <a:ext cx="469691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影响文件安全性的主要因素</a:t>
            </a:r>
            <a:endParaRPr lang="zh-CN" altLang="en-US" sz="2800" dirty="0">
              <a:solidFill>
                <a:schemeClr val="bg1"/>
              </a:solidFill>
              <a:sym typeface="Wingdings" panose="05000000000000000000" pitchFamily="2" charset="2"/>
            </a:endParaRPr>
          </a:p>
        </p:txBody>
      </p:sp>
      <p:sp>
        <p:nvSpPr>
          <p:cNvPr id="4" name="内容占位符 2"/>
          <p:cNvSpPr txBox="1"/>
          <p:nvPr/>
        </p:nvSpPr>
        <p:spPr>
          <a:xfrm>
            <a:off x="1400389" y="2107607"/>
            <a:ext cx="5412543" cy="17136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人为因素</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系统因素</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自然因素</a:t>
            </a:r>
            <a:endParaRPr lang="zh-CN" altLang="en-US" sz="2400" dirty="0"/>
          </a:p>
        </p:txBody>
      </p:sp>
      <p:sp>
        <p:nvSpPr>
          <p:cNvPr id="5" name="矩形: 圆角 4"/>
          <p:cNvSpPr/>
          <p:nvPr/>
        </p:nvSpPr>
        <p:spPr>
          <a:xfrm>
            <a:off x="1399084" y="3985771"/>
            <a:ext cx="4696916"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采取的措施</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1399083" y="4708355"/>
            <a:ext cx="4300381"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存取控制机制</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系统容错技术</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建立后备系统</a:t>
            </a:r>
            <a:endParaRPr lang="zh-CN" altLang="en-US" sz="2400" dirty="0"/>
          </a:p>
        </p:txBody>
      </p:sp>
      <p:sp>
        <p:nvSpPr>
          <p:cNvPr id="7" name="íśḷíḋé"/>
          <p:cNvSpPr/>
          <p:nvPr/>
        </p:nvSpPr>
        <p:spPr bwMode="auto">
          <a:xfrm>
            <a:off x="8303744" y="3196490"/>
            <a:ext cx="2589100" cy="2588226"/>
          </a:xfrm>
          <a:prstGeom prst="ellipse">
            <a:avLst/>
          </a:prstGeom>
          <a:blipFill>
            <a:blip r:embed="rId1"/>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8.5.1 </a:t>
            </a:r>
            <a:r>
              <a:rPr lang="zh-CN" altLang="en-US" sz="2800" b="1" dirty="0">
                <a:solidFill>
                  <a:schemeClr val="bg1"/>
                </a:solidFill>
              </a:rPr>
              <a:t>保护域</a:t>
            </a:r>
            <a:endParaRPr lang="zh-CN" altLang="en-US" sz="2800" b="1" dirty="0">
              <a:solidFill>
                <a:schemeClr val="bg1"/>
              </a:solidFill>
            </a:endParaRPr>
          </a:p>
        </p:txBody>
      </p:sp>
      <p:sp>
        <p:nvSpPr>
          <p:cNvPr id="3" name="矩形: 圆角 2"/>
          <p:cNvSpPr/>
          <p:nvPr/>
        </p:nvSpPr>
        <p:spPr>
          <a:xfrm>
            <a:off x="669925" y="1273405"/>
            <a:ext cx="1503914"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访问权</a:t>
            </a:r>
            <a:endParaRPr lang="zh-CN" altLang="en-US" sz="2800" dirty="0">
              <a:solidFill>
                <a:schemeClr val="bg1"/>
              </a:solidFill>
              <a:sym typeface="Wingdings" panose="05000000000000000000" pitchFamily="2" charset="2"/>
            </a:endParaRPr>
          </a:p>
        </p:txBody>
      </p:sp>
      <p:sp>
        <p:nvSpPr>
          <p:cNvPr id="4" name="内容占位符 2"/>
          <p:cNvSpPr txBox="1"/>
          <p:nvPr/>
        </p:nvSpPr>
        <p:spPr>
          <a:xfrm>
            <a:off x="2454336" y="1135463"/>
            <a:ext cx="8693522" cy="12434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一个进程能对某对象执行操作的权利，称为访问权</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表示：</a:t>
            </a:r>
            <a:r>
              <a:rPr lang="en-US" altLang="zh-CN" sz="2400" dirty="0"/>
              <a:t>(</a:t>
            </a:r>
            <a:r>
              <a:rPr lang="zh-CN" altLang="en-US" sz="2400" dirty="0"/>
              <a:t>对象名，权集</a:t>
            </a:r>
            <a:r>
              <a:rPr lang="en-US" altLang="zh-CN" sz="2400" dirty="0"/>
              <a:t>)</a:t>
            </a:r>
            <a:r>
              <a:rPr lang="zh-CN" altLang="en-US" sz="2400" dirty="0"/>
              <a:t>，如</a:t>
            </a:r>
            <a:r>
              <a:rPr lang="en-US" altLang="zh-CN" sz="2400" dirty="0"/>
              <a:t>(F</a:t>
            </a:r>
            <a:r>
              <a:rPr lang="en-US" altLang="zh-CN" sz="2400" baseline="-25000" dirty="0"/>
              <a:t>1</a:t>
            </a:r>
            <a:r>
              <a:rPr lang="en-US" altLang="zh-CN" sz="2400" dirty="0"/>
              <a:t>, {R/W})</a:t>
            </a:r>
            <a:endParaRPr lang="zh-CN" altLang="en-US" sz="2400" dirty="0"/>
          </a:p>
        </p:txBody>
      </p:sp>
      <p:sp>
        <p:nvSpPr>
          <p:cNvPr id="5" name="矩形: 圆角 4"/>
          <p:cNvSpPr/>
          <p:nvPr/>
        </p:nvSpPr>
        <p:spPr>
          <a:xfrm>
            <a:off x="669925" y="2457551"/>
            <a:ext cx="1503914"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保护域</a:t>
            </a:r>
            <a:endParaRPr lang="zh-CN" altLang="en-US" sz="2800" dirty="0">
              <a:solidFill>
                <a:schemeClr val="bg1"/>
              </a:solidFill>
              <a:sym typeface="Wingdings" panose="05000000000000000000" pitchFamily="2" charset="2"/>
            </a:endParaRPr>
          </a:p>
        </p:txBody>
      </p:sp>
      <p:sp>
        <p:nvSpPr>
          <p:cNvPr id="6" name="内容占位符 2"/>
          <p:cNvSpPr txBox="1"/>
          <p:nvPr/>
        </p:nvSpPr>
        <p:spPr>
          <a:xfrm>
            <a:off x="2454336" y="2306895"/>
            <a:ext cx="9084829" cy="17837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进程对一组对象访问权的集合</a:t>
            </a:r>
            <a:r>
              <a:rPr lang="zh-CN" altLang="en-US" sz="2400" dirty="0"/>
              <a:t>，称为</a:t>
            </a:r>
            <a:r>
              <a:rPr lang="zh-CN" altLang="en-US" sz="2400" dirty="0">
                <a:solidFill>
                  <a:srgbClr val="FF0000"/>
                </a:solidFill>
              </a:rPr>
              <a:t>保护域</a:t>
            </a:r>
            <a:endParaRPr lang="zh-CN" altLang="en-US" sz="2400" dirty="0">
              <a:solidFill>
                <a:srgbClr val="FF0000"/>
              </a:solidFill>
            </a:endParaRP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如进程和域一一对应，则称为静态联系方式，该域称为静态域</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如进程和域是一对多关系，则称为动态联系方式</a:t>
            </a:r>
            <a:endParaRPr lang="zh-CN" altLang="en-US" sz="2400" dirty="0"/>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2454336" y="3998721"/>
            <a:ext cx="8125180" cy="221408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8.5.2 </a:t>
            </a:r>
            <a:r>
              <a:rPr lang="zh-CN" altLang="en-US" sz="2800" b="1" dirty="0">
                <a:solidFill>
                  <a:schemeClr val="bg1"/>
                </a:solidFill>
              </a:rPr>
              <a:t>访问矩阵的概念</a:t>
            </a:r>
            <a:endParaRPr lang="zh-CN" altLang="en-US" sz="2800" b="1" dirty="0">
              <a:solidFill>
                <a:schemeClr val="bg1"/>
              </a:solidFill>
            </a:endParaRPr>
          </a:p>
        </p:txBody>
      </p:sp>
      <p:sp>
        <p:nvSpPr>
          <p:cNvPr id="3" name="内容占位符 2"/>
          <p:cNvSpPr txBox="1"/>
          <p:nvPr/>
        </p:nvSpPr>
        <p:spPr>
          <a:xfrm>
            <a:off x="1025031" y="1597105"/>
            <a:ext cx="8693522" cy="12434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用矩阵来描述系统的访问控制</a:t>
            </a:r>
            <a:endParaRPr lang="zh-CN" altLang="en-US" sz="2400" dirty="0">
              <a:solidFill>
                <a:srgbClr val="FF0000"/>
              </a:solidFill>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行代表域；列代表对象；每一项为访问权</a:t>
            </a:r>
            <a:endParaRPr lang="zh-CN" altLang="en-US" sz="2400" dirty="0"/>
          </a:p>
        </p:txBody>
      </p:sp>
      <p:pic>
        <p:nvPicPr>
          <p:cNvPr id="4" name="图片 3"/>
          <p:cNvPicPr>
            <a:picLocks noChangeAspect="1"/>
          </p:cNvPicPr>
          <p:nvPr/>
        </p:nvPicPr>
        <p:blipFill>
          <a:blip r:embed="rId1"/>
          <a:stretch>
            <a:fillRect/>
          </a:stretch>
        </p:blipFill>
        <p:spPr>
          <a:xfrm>
            <a:off x="376963" y="3135650"/>
            <a:ext cx="11463895" cy="226197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具有域切换权的访问控制矩阵</a:t>
            </a:r>
            <a:endParaRPr lang="zh-CN" altLang="en-US" sz="2800" b="1" dirty="0">
              <a:solidFill>
                <a:schemeClr val="bg1"/>
              </a:solidFill>
            </a:endParaRPr>
          </a:p>
        </p:txBody>
      </p:sp>
      <p:sp>
        <p:nvSpPr>
          <p:cNvPr id="3" name="内容占位符 2"/>
          <p:cNvSpPr txBox="1"/>
          <p:nvPr/>
        </p:nvSpPr>
        <p:spPr>
          <a:xfrm>
            <a:off x="669925" y="1366284"/>
            <a:ext cx="10817780" cy="16965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能够将进程从</a:t>
            </a:r>
            <a:r>
              <a:rPr lang="zh-CN" altLang="en-US" sz="2400" dirty="0">
                <a:solidFill>
                  <a:srgbClr val="FF0000"/>
                </a:solidFill>
              </a:rPr>
              <a:t>一个保护域切换为另一个域</a:t>
            </a:r>
            <a:endParaRPr lang="zh-CN" altLang="en-US" sz="2400" dirty="0">
              <a:solidFill>
                <a:srgbClr val="FF0000"/>
              </a:solidFill>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如，由于域</a:t>
            </a:r>
            <a:r>
              <a:rPr lang="en-US" altLang="zh-CN" sz="2400" dirty="0"/>
              <a:t>D</a:t>
            </a:r>
            <a:r>
              <a:rPr lang="en-US" altLang="zh-CN" sz="2400" baseline="-25000" dirty="0"/>
              <a:t>1</a:t>
            </a:r>
            <a:r>
              <a:rPr lang="zh-CN" altLang="en-US" sz="2400" dirty="0"/>
              <a:t>和</a:t>
            </a:r>
            <a:r>
              <a:rPr lang="en-US" altLang="zh-CN" sz="2400" dirty="0"/>
              <a:t>D</a:t>
            </a:r>
            <a:r>
              <a:rPr lang="en-US" altLang="zh-CN" sz="2400" baseline="-25000" dirty="0"/>
              <a:t>2</a:t>
            </a:r>
            <a:r>
              <a:rPr lang="zh-CN" altLang="en-US" sz="2400" dirty="0"/>
              <a:t>所对应的项目中有一个</a:t>
            </a:r>
            <a:r>
              <a:rPr lang="en-US" altLang="zh-CN" sz="2400" dirty="0"/>
              <a:t>S</a:t>
            </a:r>
            <a:r>
              <a:rPr lang="zh-CN" altLang="en-US" sz="2400" dirty="0"/>
              <a:t>（即切换权），则允许在域</a:t>
            </a:r>
            <a:r>
              <a:rPr lang="en-US" altLang="zh-CN" sz="2400" dirty="0"/>
              <a:t>D</a:t>
            </a:r>
            <a:r>
              <a:rPr lang="en-US" altLang="zh-CN" sz="2400" baseline="-25000" dirty="0"/>
              <a:t>1</a:t>
            </a:r>
            <a:r>
              <a:rPr lang="zh-CN" altLang="en-US" sz="2400" dirty="0"/>
              <a:t>中的进程切换到域</a:t>
            </a:r>
            <a:r>
              <a:rPr lang="en-US" altLang="zh-CN" sz="2400" dirty="0"/>
              <a:t>D</a:t>
            </a:r>
            <a:r>
              <a:rPr lang="en-US" altLang="zh-CN" sz="2400" baseline="-25000" dirty="0"/>
              <a:t>2</a:t>
            </a:r>
            <a:r>
              <a:rPr lang="zh-CN" altLang="en-US" sz="2400" dirty="0"/>
              <a:t>中。</a:t>
            </a:r>
            <a:endParaRPr lang="zh-CN" altLang="en-US" sz="2400" dirty="0"/>
          </a:p>
        </p:txBody>
      </p:sp>
      <p:pic>
        <p:nvPicPr>
          <p:cNvPr id="5" name="图片 4"/>
          <p:cNvPicPr>
            <a:picLocks noChangeAspect="1"/>
          </p:cNvPicPr>
          <p:nvPr/>
        </p:nvPicPr>
        <p:blipFill>
          <a:blip r:embed="rId1"/>
          <a:stretch>
            <a:fillRect/>
          </a:stretch>
        </p:blipFill>
        <p:spPr>
          <a:xfrm>
            <a:off x="669925" y="3216570"/>
            <a:ext cx="10927393" cy="217217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8.5.3 </a:t>
            </a:r>
            <a:r>
              <a:rPr lang="zh-CN" altLang="en-US" sz="2800" b="1" dirty="0">
                <a:solidFill>
                  <a:schemeClr val="bg1"/>
                </a:solidFill>
              </a:rPr>
              <a:t>访问矩阵的修改</a:t>
            </a:r>
            <a:r>
              <a:rPr lang="en-US" altLang="zh-CN" sz="2800" b="1" dirty="0">
                <a:solidFill>
                  <a:schemeClr val="bg1"/>
                </a:solidFill>
              </a:rPr>
              <a:t>(1)</a:t>
            </a:r>
            <a:endParaRPr lang="zh-CN" altLang="en-US" sz="2800" b="1" dirty="0">
              <a:solidFill>
                <a:schemeClr val="bg1"/>
              </a:solidFill>
            </a:endParaRPr>
          </a:p>
        </p:txBody>
      </p:sp>
      <p:sp>
        <p:nvSpPr>
          <p:cNvPr id="3" name="内容占位符 2"/>
          <p:cNvSpPr txBox="1"/>
          <p:nvPr/>
        </p:nvSpPr>
        <p:spPr>
          <a:xfrm>
            <a:off x="669924" y="1366284"/>
            <a:ext cx="11048599" cy="12970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复制权</a:t>
            </a:r>
            <a:endParaRPr lang="en-US" altLang="zh-CN" sz="2400" dirty="0"/>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200" dirty="0"/>
              <a:t>利用复制权</a:t>
            </a:r>
            <a:r>
              <a:rPr lang="zh-CN" altLang="en-US" sz="2200" dirty="0">
                <a:solidFill>
                  <a:srgbClr val="FF0000"/>
                </a:solidFill>
              </a:rPr>
              <a:t>将某个域所拥有的访问权</a:t>
            </a:r>
            <a:r>
              <a:rPr lang="en-US" altLang="zh-CN" sz="2200" dirty="0">
                <a:solidFill>
                  <a:srgbClr val="FF0000"/>
                </a:solidFill>
              </a:rPr>
              <a:t>access</a:t>
            </a:r>
            <a:r>
              <a:rPr lang="zh-CN" altLang="en-US" sz="2200" dirty="0">
                <a:solidFill>
                  <a:srgbClr val="FF0000"/>
                </a:solidFill>
              </a:rPr>
              <a:t>（</a:t>
            </a:r>
            <a:r>
              <a:rPr lang="en-US" altLang="zh-CN" sz="2200" dirty="0" err="1">
                <a:solidFill>
                  <a:srgbClr val="FF0000"/>
                </a:solidFill>
              </a:rPr>
              <a:t>i</a:t>
            </a:r>
            <a:r>
              <a:rPr lang="zh-CN" altLang="en-US" sz="2200" dirty="0">
                <a:solidFill>
                  <a:srgbClr val="FF0000"/>
                </a:solidFill>
              </a:rPr>
              <a:t>，</a:t>
            </a:r>
            <a:r>
              <a:rPr lang="en-US" altLang="zh-CN" sz="2200" dirty="0">
                <a:solidFill>
                  <a:srgbClr val="FF0000"/>
                </a:solidFill>
              </a:rPr>
              <a:t>j</a:t>
            </a:r>
            <a:r>
              <a:rPr lang="zh-CN" altLang="en-US" sz="2200" dirty="0">
                <a:solidFill>
                  <a:srgbClr val="FF0000"/>
                </a:solidFill>
              </a:rPr>
              <a:t>）扩展到同一列的其他域中</a:t>
            </a:r>
            <a:endParaRPr lang="zh-CN" altLang="en-US" sz="2200" dirty="0">
              <a:solidFill>
                <a:srgbClr val="FF0000"/>
              </a:solidFill>
            </a:endParaRPr>
          </a:p>
        </p:txBody>
      </p:sp>
      <p:pic>
        <p:nvPicPr>
          <p:cNvPr id="6" name="图片 5"/>
          <p:cNvPicPr>
            <a:picLocks noChangeAspect="1"/>
          </p:cNvPicPr>
          <p:nvPr/>
        </p:nvPicPr>
        <p:blipFill>
          <a:blip r:embed="rId1"/>
          <a:stretch>
            <a:fillRect/>
          </a:stretch>
        </p:blipFill>
        <p:spPr>
          <a:xfrm>
            <a:off x="866850" y="2793630"/>
            <a:ext cx="10458299" cy="307451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访问矩阵的修改</a:t>
            </a:r>
            <a:r>
              <a:rPr lang="en-US" altLang="zh-CN" sz="2800" b="1" dirty="0">
                <a:solidFill>
                  <a:schemeClr val="bg1"/>
                </a:solidFill>
              </a:rPr>
              <a:t>(2)</a:t>
            </a:r>
            <a:endParaRPr lang="zh-CN" altLang="en-US" sz="2800" b="1" dirty="0">
              <a:solidFill>
                <a:schemeClr val="bg1"/>
              </a:solidFill>
            </a:endParaRPr>
          </a:p>
        </p:txBody>
      </p:sp>
      <p:sp>
        <p:nvSpPr>
          <p:cNvPr id="3" name="内容占位符 2"/>
          <p:cNvSpPr txBox="1"/>
          <p:nvPr/>
        </p:nvSpPr>
        <p:spPr>
          <a:xfrm>
            <a:off x="740946" y="953906"/>
            <a:ext cx="11048599" cy="12970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所有权</a:t>
            </a:r>
            <a:endParaRPr lang="zh-CN" altLang="en-US" sz="2400" dirty="0">
              <a:solidFill>
                <a:srgbClr val="FF0000"/>
              </a:solidFill>
            </a:endParaRPr>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400" dirty="0"/>
              <a:t>利用所有权（</a:t>
            </a:r>
            <a:r>
              <a:rPr lang="en-US" altLang="zh-CN" sz="2400" dirty="0"/>
              <a:t>owner right</a:t>
            </a:r>
            <a:r>
              <a:rPr lang="zh-CN" altLang="en-US" sz="2400" dirty="0"/>
              <a:t>）能增加某种访问权，或者能删除某种访问权</a:t>
            </a:r>
            <a:endParaRPr lang="zh-CN" altLang="en-US" sz="2400" dirty="0"/>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400" dirty="0"/>
              <a:t>图中的“</a:t>
            </a:r>
            <a:r>
              <a:rPr lang="en-US" altLang="zh-CN" sz="2400" dirty="0"/>
              <a:t>O”</a:t>
            </a:r>
            <a:r>
              <a:rPr lang="zh-CN" altLang="en-US" sz="2400" dirty="0"/>
              <a:t>表示所有权</a:t>
            </a:r>
            <a:endParaRPr lang="zh-CN" altLang="en-US" sz="2400" dirty="0"/>
          </a:p>
        </p:txBody>
      </p:sp>
      <p:pic>
        <p:nvPicPr>
          <p:cNvPr id="5" name="图片 4"/>
          <p:cNvPicPr>
            <a:picLocks noChangeAspect="1"/>
          </p:cNvPicPr>
          <p:nvPr/>
        </p:nvPicPr>
        <p:blipFill>
          <a:blip r:embed="rId1"/>
          <a:stretch>
            <a:fillRect/>
          </a:stretch>
        </p:blipFill>
        <p:spPr>
          <a:xfrm>
            <a:off x="758700" y="2631315"/>
            <a:ext cx="10871047" cy="2731237"/>
          </a:xfrm>
          <a:prstGeom prst="rect">
            <a:avLst/>
          </a:prstGeom>
        </p:spPr>
      </p:pic>
      <p:sp>
        <p:nvSpPr>
          <p:cNvPr id="7" name="TextBox 2"/>
          <p:cNvSpPr txBox="1"/>
          <p:nvPr/>
        </p:nvSpPr>
        <p:spPr>
          <a:xfrm>
            <a:off x="696559" y="5372607"/>
            <a:ext cx="11048598" cy="960584"/>
          </a:xfrm>
          <a:prstGeom prst="rect">
            <a:avLst/>
          </a:prstGeom>
          <a:noFill/>
        </p:spPr>
        <p:txBody>
          <a:bodyPr wrap="square" rtlCol="0">
            <a:spAutoFit/>
          </a:bodyPr>
          <a:lstStyle/>
          <a:p>
            <a:pPr>
              <a:lnSpc>
                <a:spcPct val="123000"/>
              </a:lnSpc>
            </a:pPr>
            <a:r>
              <a:rPr lang="zh-CN" altLang="zh-CN" sz="2400" b="0" dirty="0">
                <a:solidFill>
                  <a:srgbClr val="0000FF"/>
                </a:solidFill>
                <a:latin typeface="+mn-ea"/>
                <a:ea typeface="+mn-ea"/>
              </a:rPr>
              <a:t>图（</a:t>
            </a:r>
            <a:r>
              <a:rPr lang="en-US" altLang="zh-CN" sz="2400" b="0" dirty="0">
                <a:solidFill>
                  <a:srgbClr val="0000FF"/>
                </a:solidFill>
                <a:latin typeface="+mn-ea"/>
                <a:ea typeface="+mn-ea"/>
              </a:rPr>
              <a:t>b</a:t>
            </a:r>
            <a:r>
              <a:rPr lang="zh-CN" altLang="zh-CN" sz="2400" b="0" dirty="0">
                <a:solidFill>
                  <a:srgbClr val="0000FF"/>
                </a:solidFill>
                <a:latin typeface="+mn-ea"/>
                <a:ea typeface="+mn-ea"/>
              </a:rPr>
              <a:t>）所示为</a:t>
            </a:r>
            <a:r>
              <a:rPr lang="zh-CN" altLang="zh-CN" sz="2400" b="0" dirty="0">
                <a:latin typeface="+mn-ea"/>
                <a:ea typeface="+mn-ea"/>
              </a:rPr>
              <a:t>：在域</a:t>
            </a:r>
            <a:r>
              <a:rPr lang="en-US" altLang="zh-CN" sz="2400" b="0" dirty="0">
                <a:latin typeface="+mn-ea"/>
                <a:ea typeface="+mn-ea"/>
              </a:rPr>
              <a:t>D</a:t>
            </a:r>
            <a:r>
              <a:rPr lang="en-US" altLang="zh-CN" sz="2400" b="0" baseline="-25000" dirty="0">
                <a:latin typeface="+mn-ea"/>
                <a:ea typeface="+mn-ea"/>
              </a:rPr>
              <a:t>1</a:t>
            </a:r>
            <a:r>
              <a:rPr lang="zh-CN" altLang="zh-CN" sz="2400" b="0" dirty="0">
                <a:latin typeface="+mn-ea"/>
                <a:ea typeface="+mn-ea"/>
              </a:rPr>
              <a:t>中运行的进程删除了在域</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中运行的进程对文件</a:t>
            </a:r>
            <a:r>
              <a:rPr lang="en-US" altLang="zh-CN" sz="2400" b="0" dirty="0">
                <a:latin typeface="+mn-ea"/>
                <a:ea typeface="+mn-ea"/>
              </a:rPr>
              <a:t>F</a:t>
            </a:r>
            <a:r>
              <a:rPr lang="en-US" altLang="zh-CN" sz="2400" b="0" baseline="-25000" dirty="0">
                <a:latin typeface="+mn-ea"/>
                <a:ea typeface="+mn-ea"/>
              </a:rPr>
              <a:t>1</a:t>
            </a:r>
            <a:r>
              <a:rPr lang="zh-CN" altLang="zh-CN" sz="2400" b="0" dirty="0">
                <a:latin typeface="+mn-ea"/>
                <a:ea typeface="+mn-ea"/>
              </a:rPr>
              <a:t>的执行权；在域</a:t>
            </a:r>
            <a:r>
              <a:rPr lang="en-US" altLang="zh-CN" sz="2400" b="0" dirty="0">
                <a:latin typeface="+mn-ea"/>
                <a:ea typeface="+mn-ea"/>
              </a:rPr>
              <a:t>D</a:t>
            </a:r>
            <a:r>
              <a:rPr lang="en-US" altLang="zh-CN" sz="2400" b="0" baseline="-25000" dirty="0">
                <a:latin typeface="+mn-ea"/>
                <a:ea typeface="+mn-ea"/>
              </a:rPr>
              <a:t>2</a:t>
            </a:r>
            <a:r>
              <a:rPr lang="zh-CN" altLang="zh-CN" sz="2400" b="0" dirty="0">
                <a:latin typeface="+mn-ea"/>
                <a:ea typeface="+mn-ea"/>
              </a:rPr>
              <a:t>中运行的进程增加了在域</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中运行的进程对文件</a:t>
            </a:r>
            <a:r>
              <a:rPr lang="en-US" altLang="zh-CN" sz="2400" b="0" dirty="0">
                <a:latin typeface="+mn-ea"/>
                <a:ea typeface="+mn-ea"/>
              </a:rPr>
              <a:t>F</a:t>
            </a:r>
            <a:r>
              <a:rPr lang="en-US" altLang="zh-CN" sz="2400" b="0" baseline="-25000" dirty="0">
                <a:latin typeface="+mn-ea"/>
                <a:ea typeface="+mn-ea"/>
              </a:rPr>
              <a:t>2</a:t>
            </a:r>
            <a:r>
              <a:rPr lang="zh-CN" altLang="zh-CN" sz="2400" b="0" dirty="0">
                <a:latin typeface="+mn-ea"/>
                <a:ea typeface="+mn-ea"/>
              </a:rPr>
              <a:t>和</a:t>
            </a:r>
            <a:r>
              <a:rPr lang="en-US" altLang="zh-CN" sz="2400" b="0" dirty="0">
                <a:latin typeface="+mn-ea"/>
                <a:ea typeface="+mn-ea"/>
              </a:rPr>
              <a:t>F</a:t>
            </a:r>
            <a:r>
              <a:rPr lang="en-US" altLang="zh-CN" sz="2400" b="0" baseline="-25000" dirty="0">
                <a:latin typeface="+mn-ea"/>
                <a:ea typeface="+mn-ea"/>
              </a:rPr>
              <a:t>3</a:t>
            </a:r>
            <a:r>
              <a:rPr lang="zh-CN" altLang="zh-CN" sz="2400" b="0" dirty="0">
                <a:latin typeface="+mn-ea"/>
                <a:ea typeface="+mn-ea"/>
              </a:rPr>
              <a:t>的写访问权。</a:t>
            </a:r>
            <a:endParaRPr lang="zh-CN" altLang="en-US" sz="2400" b="0" dirty="0">
              <a:latin typeface="+mn-ea"/>
              <a:ea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访问矩阵的修改</a:t>
            </a:r>
            <a:r>
              <a:rPr lang="en-US" altLang="zh-CN" sz="2800" b="1" dirty="0">
                <a:solidFill>
                  <a:schemeClr val="bg1"/>
                </a:solidFill>
              </a:rPr>
              <a:t>(3)</a:t>
            </a:r>
            <a:endParaRPr lang="zh-CN" altLang="en-US" sz="2800" b="1" dirty="0">
              <a:solidFill>
                <a:schemeClr val="bg1"/>
              </a:solidFill>
            </a:endParaRPr>
          </a:p>
        </p:txBody>
      </p:sp>
      <p:sp>
        <p:nvSpPr>
          <p:cNvPr id="3" name="内容占位符 2"/>
          <p:cNvSpPr txBox="1"/>
          <p:nvPr/>
        </p:nvSpPr>
        <p:spPr>
          <a:xfrm>
            <a:off x="740946" y="953906"/>
            <a:ext cx="11048599" cy="12970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控制权</a:t>
            </a:r>
            <a:endParaRPr lang="zh-CN" altLang="en-US" sz="2400" dirty="0"/>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400" dirty="0">
                <a:solidFill>
                  <a:srgbClr val="FF0000"/>
                </a:solidFill>
              </a:rPr>
              <a:t>用于改变矩阵内同一行（域）中的各项访问权</a:t>
            </a:r>
            <a:r>
              <a:rPr lang="zh-CN" altLang="en-US" sz="2400" dirty="0"/>
              <a:t>，亦即，用于改变在某个域中运行的进程对不同对象的访问权</a:t>
            </a:r>
            <a:endParaRPr lang="zh-CN" altLang="en-US" sz="2400" dirty="0"/>
          </a:p>
        </p:txBody>
      </p:sp>
      <p:pic>
        <p:nvPicPr>
          <p:cNvPr id="6" name="图片 5"/>
          <p:cNvPicPr>
            <a:picLocks noChangeAspect="1"/>
          </p:cNvPicPr>
          <p:nvPr/>
        </p:nvPicPr>
        <p:blipFill>
          <a:blip r:embed="rId1"/>
          <a:stretch>
            <a:fillRect/>
          </a:stretch>
        </p:blipFill>
        <p:spPr>
          <a:xfrm>
            <a:off x="726774" y="2759863"/>
            <a:ext cx="11062770" cy="2191138"/>
          </a:xfrm>
          <a:prstGeom prst="rect">
            <a:avLst/>
          </a:prstGeom>
        </p:spPr>
      </p:pic>
      <p:sp>
        <p:nvSpPr>
          <p:cNvPr id="8" name="TextBox 2"/>
          <p:cNvSpPr txBox="1"/>
          <p:nvPr/>
        </p:nvSpPr>
        <p:spPr>
          <a:xfrm>
            <a:off x="849582" y="5084166"/>
            <a:ext cx="10817153" cy="960584"/>
          </a:xfrm>
          <a:prstGeom prst="rect">
            <a:avLst/>
          </a:prstGeom>
          <a:noFill/>
        </p:spPr>
        <p:txBody>
          <a:bodyPr wrap="square" rtlCol="0">
            <a:spAutoFit/>
          </a:bodyPr>
          <a:lstStyle/>
          <a:p>
            <a:pPr>
              <a:lnSpc>
                <a:spcPct val="123000"/>
              </a:lnSpc>
            </a:pPr>
            <a:r>
              <a:rPr lang="zh-CN" altLang="zh-CN" sz="2400" b="0" dirty="0">
                <a:latin typeface="+mn-ea"/>
                <a:ea typeface="+mn-ea"/>
              </a:rPr>
              <a:t>若在</a:t>
            </a:r>
            <a:r>
              <a:rPr lang="en-US" altLang="zh-CN" sz="2400" b="0" dirty="0">
                <a:latin typeface="+mn-ea"/>
                <a:ea typeface="+mn-ea"/>
              </a:rPr>
              <a:t>access</a:t>
            </a:r>
            <a:r>
              <a:rPr lang="zh-CN" altLang="zh-CN" sz="2400" b="0" dirty="0">
                <a:latin typeface="+mn-ea"/>
                <a:ea typeface="+mn-ea"/>
              </a:rPr>
              <a:t>（</a:t>
            </a:r>
            <a:r>
              <a:rPr lang="en-US" altLang="zh-CN" sz="2400" b="0" dirty="0">
                <a:latin typeface="+mn-ea"/>
                <a:ea typeface="+mn-ea"/>
              </a:rPr>
              <a:t>D</a:t>
            </a:r>
            <a:r>
              <a:rPr lang="en-US" altLang="zh-CN" sz="2400" b="0" baseline="-25000" dirty="0">
                <a:latin typeface="+mn-ea"/>
                <a:ea typeface="+mn-ea"/>
              </a:rPr>
              <a:t>2</a:t>
            </a:r>
            <a:r>
              <a:rPr lang="zh-CN" altLang="zh-CN" sz="2400" b="0" dirty="0">
                <a:latin typeface="+mn-ea"/>
                <a:ea typeface="+mn-ea"/>
              </a:rPr>
              <a:t>，</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）中包括了控制权，则一个在域</a:t>
            </a:r>
            <a:r>
              <a:rPr lang="en-US" altLang="zh-CN" sz="2400" b="0" dirty="0">
                <a:latin typeface="+mn-ea"/>
                <a:ea typeface="+mn-ea"/>
              </a:rPr>
              <a:t>D</a:t>
            </a:r>
            <a:r>
              <a:rPr lang="en-US" altLang="zh-CN" sz="2400" b="0" baseline="-25000" dirty="0">
                <a:latin typeface="+mn-ea"/>
                <a:ea typeface="+mn-ea"/>
              </a:rPr>
              <a:t>2</a:t>
            </a:r>
            <a:r>
              <a:rPr lang="zh-CN" altLang="zh-CN" sz="2400" b="0" dirty="0">
                <a:latin typeface="+mn-ea"/>
                <a:ea typeface="+mn-ea"/>
              </a:rPr>
              <a:t>中运行的进程能够改变对域</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的各项访问权</a:t>
            </a:r>
            <a:endParaRPr lang="zh-CN" altLang="en-US" sz="2400" b="0" dirty="0">
              <a:latin typeface="+mn-ea"/>
              <a:ea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访问矩阵的实现</a:t>
            </a:r>
            <a:endParaRPr lang="zh-CN" altLang="en-US" sz="2800" b="1" dirty="0">
              <a:solidFill>
                <a:schemeClr val="bg1"/>
              </a:solidFill>
            </a:endParaRPr>
          </a:p>
        </p:txBody>
      </p:sp>
      <p:sp>
        <p:nvSpPr>
          <p:cNvPr id="10" name="矩形 9"/>
          <p:cNvSpPr/>
          <p:nvPr/>
        </p:nvSpPr>
        <p:spPr>
          <a:xfrm>
            <a:off x="1240598" y="1196740"/>
            <a:ext cx="4378968" cy="4760177"/>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访问矩阵：稀疏矩阵</a:t>
            </a:r>
            <a:endParaRPr lang="zh-CN" altLang="en-US" sz="2400" dirty="0">
              <a:latin typeface="+mn-ea"/>
            </a:endParaRPr>
          </a:p>
          <a:p>
            <a:pPr>
              <a:lnSpc>
                <a:spcPct val="132000"/>
              </a:lnSpc>
              <a:spcBef>
                <a:spcPts val="600"/>
              </a:spcBef>
              <a:spcAft>
                <a:spcPts val="600"/>
              </a:spcAft>
            </a:pPr>
            <a:r>
              <a:rPr lang="zh-CN" altLang="en-US" sz="2400" dirty="0">
                <a:solidFill>
                  <a:srgbClr val="FF0000"/>
                </a:solidFill>
                <a:latin typeface="+mn-ea"/>
              </a:rPr>
              <a:t>访问控制表</a:t>
            </a:r>
            <a:r>
              <a:rPr lang="en-US" altLang="zh-CN" sz="2400" dirty="0">
                <a:latin typeface="+mn-ea"/>
              </a:rPr>
              <a:t>ACL</a:t>
            </a:r>
            <a:endParaRPr lang="en-US" altLang="zh-CN" sz="2400" dirty="0">
              <a:latin typeface="+mn-ea"/>
            </a:endParaRP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对访问矩阵按列</a:t>
            </a:r>
            <a:r>
              <a:rPr lang="en-US" altLang="zh-CN" sz="2400" dirty="0">
                <a:latin typeface="+mn-ea"/>
              </a:rPr>
              <a:t>(</a:t>
            </a:r>
            <a:r>
              <a:rPr lang="zh-CN" altLang="en-US" sz="2400" dirty="0">
                <a:latin typeface="+mn-ea"/>
              </a:rPr>
              <a:t>对象</a:t>
            </a:r>
            <a:r>
              <a:rPr lang="en-US" altLang="zh-CN" sz="2400" dirty="0">
                <a:latin typeface="+mn-ea"/>
              </a:rPr>
              <a:t>)</a:t>
            </a:r>
            <a:r>
              <a:rPr lang="zh-CN" altLang="en-US" sz="2400" dirty="0">
                <a:latin typeface="+mn-ea"/>
              </a:rPr>
              <a:t>划分，为每一列建立一张访问控制表</a:t>
            </a:r>
            <a:r>
              <a:rPr lang="en-US" altLang="zh-CN" sz="2400" dirty="0">
                <a:latin typeface="+mn-ea"/>
              </a:rPr>
              <a:t>ACL</a:t>
            </a:r>
            <a:r>
              <a:rPr lang="zh-CN" altLang="en-US" sz="2400" dirty="0">
                <a:latin typeface="+mn-ea"/>
              </a:rPr>
              <a:t>，删除空项，由</a:t>
            </a:r>
            <a:r>
              <a:rPr lang="en-US" altLang="zh-CN" sz="2400" dirty="0">
                <a:latin typeface="+mn-ea"/>
              </a:rPr>
              <a:t>(</a:t>
            </a:r>
            <a:r>
              <a:rPr lang="zh-CN" altLang="en-US" sz="2400" dirty="0">
                <a:latin typeface="+mn-ea"/>
              </a:rPr>
              <a:t>域，权集</a:t>
            </a:r>
            <a:r>
              <a:rPr lang="en-US" altLang="zh-CN" sz="2400" dirty="0">
                <a:latin typeface="+mn-ea"/>
              </a:rPr>
              <a:t>)</a:t>
            </a:r>
            <a:r>
              <a:rPr lang="zh-CN" altLang="en-US" sz="2400" dirty="0">
                <a:latin typeface="+mn-ea"/>
              </a:rPr>
              <a:t>组成</a:t>
            </a:r>
            <a:endParaRPr lang="zh-CN" altLang="en-US" sz="2400" dirty="0">
              <a:latin typeface="+mn-ea"/>
            </a:endParaRP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当对象是文件时，</a:t>
            </a:r>
            <a:r>
              <a:rPr lang="en-US" altLang="zh-CN" sz="2400" dirty="0">
                <a:latin typeface="+mn-ea"/>
              </a:rPr>
              <a:t>ACL</a:t>
            </a:r>
            <a:r>
              <a:rPr lang="zh-CN" altLang="en-US" sz="2400" dirty="0">
                <a:latin typeface="+mn-ea"/>
              </a:rPr>
              <a:t>存放在文件的文件控制表中</a:t>
            </a:r>
            <a:endParaRPr lang="zh-CN" altLang="en-US" sz="2400" dirty="0">
              <a:latin typeface="+mn-ea"/>
            </a:endParaRPr>
          </a:p>
        </p:txBody>
      </p:sp>
      <p:sp>
        <p:nvSpPr>
          <p:cNvPr id="11" name="矩形 10"/>
          <p:cNvSpPr/>
          <p:nvPr/>
        </p:nvSpPr>
        <p:spPr>
          <a:xfrm>
            <a:off x="6755561" y="2600203"/>
            <a:ext cx="4519080" cy="3347835"/>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访问权限表</a:t>
            </a:r>
            <a:endParaRPr lang="zh-CN" altLang="en-US" sz="2400" dirty="0">
              <a:solidFill>
                <a:srgbClr val="FF0000"/>
              </a:solidFill>
              <a:latin typeface="+mn-ea"/>
            </a:endParaRP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对访问矩阵按行</a:t>
            </a:r>
            <a:r>
              <a:rPr lang="en-US" altLang="zh-CN" sz="2400" dirty="0">
                <a:latin typeface="+mn-ea"/>
              </a:rPr>
              <a:t>(</a:t>
            </a:r>
            <a:r>
              <a:rPr lang="zh-CN" altLang="en-US" sz="2400" dirty="0">
                <a:latin typeface="+mn-ea"/>
              </a:rPr>
              <a:t>域</a:t>
            </a:r>
            <a:r>
              <a:rPr lang="en-US" altLang="zh-CN" sz="2400" dirty="0">
                <a:latin typeface="+mn-ea"/>
              </a:rPr>
              <a:t>)</a:t>
            </a:r>
            <a:r>
              <a:rPr lang="zh-CN" altLang="en-US" sz="2400" dirty="0">
                <a:latin typeface="+mn-ea"/>
              </a:rPr>
              <a:t>划分，为每一行建立一张访问权限表</a:t>
            </a:r>
            <a:endParaRPr lang="zh-CN" altLang="en-US" sz="2400" dirty="0">
              <a:latin typeface="+mn-ea"/>
            </a:endParaRP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当对象是文件时，访问权限表用来描述一个用户对文件的一组操作</a:t>
            </a:r>
            <a:endParaRPr lang="zh-CN" altLang="en-US" sz="2400" dirty="0">
              <a:latin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023930" y="2672855"/>
            <a:ext cx="527050" cy="527050"/>
          </a:xfrm>
          <a:prstGeom prst="rect">
            <a:avLst/>
          </a:prstGeom>
          <a:ln>
            <a:noFill/>
          </a:ln>
          <a:effectLst>
            <a:softEdge rad="0"/>
          </a:effectLst>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198225"/>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874005"/>
            <a:ext cx="527050" cy="527050"/>
          </a:xfrm>
          <a:prstGeom prst="rect">
            <a:avLst/>
          </a:prstGeom>
          <a:ln>
            <a:noFill/>
          </a:ln>
          <a:effectLst>
            <a:softEdge rad="0"/>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Windows XP </a:t>
            </a:r>
            <a:r>
              <a:rPr lang="zh-CN" altLang="en-US" sz="2800" b="1" dirty="0">
                <a:solidFill>
                  <a:schemeClr val="bg1"/>
                </a:solidFill>
              </a:rPr>
              <a:t>访问控制列表管理</a:t>
            </a:r>
            <a:endParaRPr lang="zh-CN" altLang="en-US" sz="2800" b="1" dirty="0">
              <a:solidFill>
                <a:schemeClr val="bg1"/>
              </a:solidFill>
            </a:endParaRPr>
          </a:p>
        </p:txBody>
      </p:sp>
      <p:pic>
        <p:nvPicPr>
          <p:cNvPr id="21" name="Picture 3"/>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a:xfrm>
            <a:off x="1504026" y="1192381"/>
            <a:ext cx="8909480" cy="5011583"/>
          </a:xfrm>
          <a:prstGeom prst="rect">
            <a:avLst/>
          </a:prstGeom>
          <a:noFill/>
          <a:ln w="38100" cmpd="dbl">
            <a:solidFill>
              <a:srgbClr val="CC66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UNIX </a:t>
            </a:r>
            <a:r>
              <a:rPr lang="zh-CN" altLang="en-US" sz="2800" b="1" dirty="0">
                <a:solidFill>
                  <a:schemeClr val="bg1"/>
                </a:solidFill>
              </a:rPr>
              <a:t>目录</a:t>
            </a:r>
            <a:endParaRPr lang="zh-CN" altLang="en-US" sz="2800" b="1" dirty="0">
              <a:solidFill>
                <a:schemeClr val="bg1"/>
              </a:solidFill>
            </a:endParaRPr>
          </a:p>
        </p:txBody>
      </p:sp>
      <p:pic>
        <p:nvPicPr>
          <p:cNvPr id="21" name="Picture 3"/>
          <p:cNvPicPr>
            <a:picLocks noChangeAspect="1" noChangeArrowheads="1"/>
          </p:cNvPicPr>
          <p:nvPr/>
        </p:nvPicPr>
        <p:blipFill>
          <a:blip r:embed="rId1">
            <a:extLst>
              <a:ext uri="{28A0092B-C50C-407E-A947-70E740481C1C}">
                <a14:useLocalDpi xmlns:a14="http://schemas.microsoft.com/office/drawing/2010/main" val="0"/>
              </a:ext>
            </a:extLst>
          </a:blip>
          <a:srcRect l="722" t="27065" r="722" b="27065"/>
          <a:stretch>
            <a:fillRect/>
          </a:stretch>
        </p:blipFill>
        <p:spPr>
          <a:xfrm>
            <a:off x="414588" y="1483769"/>
            <a:ext cx="11362824" cy="3890461"/>
          </a:xfrm>
          <a:prstGeom prst="rect">
            <a:avLst/>
          </a:prstGeom>
          <a:noFill/>
          <a:ln w="38100" cmpd="dbl">
            <a:solidFill>
              <a:srgbClr val="CC66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endParaRPr lang="zh-CN" altLang="en-US" sz="2400" dirty="0">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b="1" dirty="0">
                <a:solidFill>
                  <a:srgbClr val="0000FF"/>
                </a:solidFill>
                <a:latin typeface="+mj-ea"/>
              </a:rPr>
              <a:t>8.6  Linux</a:t>
            </a:r>
            <a:r>
              <a:rPr lang="zh-CN" altLang="en-US" sz="2400" b="1" dirty="0">
                <a:solidFill>
                  <a:srgbClr val="0000FF"/>
                </a:solidFill>
                <a:latin typeface="+mj-ea"/>
              </a:rPr>
              <a:t>文件系统实例</a:t>
            </a:r>
            <a:endParaRPr lang="en-US" altLang="zh-CN" sz="2400" b="1" dirty="0">
              <a:solidFill>
                <a:srgbClr val="0000FF"/>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8.6.1 </a:t>
            </a:r>
            <a:r>
              <a:rPr lang="zh-CN" altLang="en-US" sz="2800" b="1" dirty="0">
                <a:solidFill>
                  <a:schemeClr val="bg1"/>
                </a:solidFill>
              </a:rPr>
              <a:t>实例</a:t>
            </a:r>
            <a:r>
              <a:rPr lang="en-US" altLang="zh-CN" sz="2800" b="1" dirty="0">
                <a:solidFill>
                  <a:schemeClr val="bg1"/>
                </a:solidFill>
              </a:rPr>
              <a:t>1</a:t>
            </a:r>
            <a:r>
              <a:rPr lang="zh-CN" altLang="en-US" sz="2800" b="1" dirty="0">
                <a:solidFill>
                  <a:schemeClr val="bg1"/>
                </a:solidFill>
              </a:rPr>
              <a:t>：虚拟文件系统</a:t>
            </a:r>
            <a:endParaRPr lang="zh-CN" altLang="en-US" sz="2800" b="1" dirty="0">
              <a:solidFill>
                <a:schemeClr val="bg1"/>
              </a:solidFill>
            </a:endParaRPr>
          </a:p>
        </p:txBody>
      </p:sp>
      <p:sp>
        <p:nvSpPr>
          <p:cNvPr id="21" name="íSľïdé"/>
          <p:cNvSpPr/>
          <p:nvPr/>
        </p:nvSpPr>
        <p:spPr>
          <a:xfrm>
            <a:off x="803260" y="140260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2" name="ïŝļíḓê"/>
          <p:cNvSpPr/>
          <p:nvPr/>
        </p:nvSpPr>
        <p:spPr bwMode="auto">
          <a:xfrm>
            <a:off x="803260" y="483680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24" name="内容占位符 2"/>
          <p:cNvSpPr txBox="1"/>
          <p:nvPr/>
        </p:nvSpPr>
        <p:spPr>
          <a:xfrm>
            <a:off x="1518081" y="1202050"/>
            <a:ext cx="4577919" cy="26743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300"/>
              </a:spcBef>
              <a:buNone/>
              <a:defRPr/>
            </a:pPr>
            <a:r>
              <a:rPr lang="en-US" altLang="zh-CN" sz="2500" dirty="0"/>
              <a:t>Linux</a:t>
            </a:r>
            <a:r>
              <a:rPr lang="zh-CN" altLang="en-US" sz="2500" dirty="0"/>
              <a:t>的</a:t>
            </a:r>
            <a:r>
              <a:rPr lang="zh-CN" altLang="en-US" sz="2500" dirty="0">
                <a:solidFill>
                  <a:srgbClr val="FF0000"/>
                </a:solidFill>
              </a:rPr>
              <a:t>虚拟文件系统</a:t>
            </a:r>
            <a:r>
              <a:rPr lang="en-US" altLang="zh-CN" sz="2500" dirty="0">
                <a:solidFill>
                  <a:srgbClr val="FF0000"/>
                </a:solidFill>
              </a:rPr>
              <a:t>VFS</a:t>
            </a:r>
            <a:r>
              <a:rPr lang="zh-CN" altLang="en-US" sz="2500" dirty="0"/>
              <a:t>隐藏了各种硬件的具体细节，包括本地存储设备和远程网络存储设备等，并且把文件系统的相关操作和不同文件系统的具体细节分离开，为所有的设备提供了统一的接口。</a:t>
            </a:r>
            <a:endParaRPr lang="zh-CN" altLang="en-US" sz="2500" dirty="0"/>
          </a:p>
        </p:txBody>
      </p:sp>
      <p:sp>
        <p:nvSpPr>
          <p:cNvPr id="26" name="内容占位符 2"/>
          <p:cNvSpPr txBox="1"/>
          <p:nvPr/>
        </p:nvSpPr>
        <p:spPr>
          <a:xfrm>
            <a:off x="1518080" y="4666886"/>
            <a:ext cx="4341181" cy="12545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500" dirty="0">
                <a:solidFill>
                  <a:srgbClr val="FF0000"/>
                </a:solidFill>
              </a:rPr>
              <a:t>VFS</a:t>
            </a:r>
            <a:r>
              <a:rPr lang="zh-CN" altLang="en-US" sz="2500" dirty="0"/>
              <a:t>使得</a:t>
            </a:r>
            <a:r>
              <a:rPr lang="en-US" altLang="zh-CN" sz="2500" dirty="0"/>
              <a:t>Linux</a:t>
            </a:r>
            <a:r>
              <a:rPr lang="zh-CN" altLang="en-US" sz="2500" dirty="0"/>
              <a:t>系统可以支持多达数十种不同的文件系统。</a:t>
            </a:r>
            <a:endParaRPr lang="zh-CN" altLang="en-US" sz="2500" dirty="0"/>
          </a:p>
        </p:txBody>
      </p:sp>
      <p:pic>
        <p:nvPicPr>
          <p:cNvPr id="27" name="图片 26"/>
          <p:cNvPicPr>
            <a:picLocks noChangeAspect="1"/>
          </p:cNvPicPr>
          <p:nvPr/>
        </p:nvPicPr>
        <p:blipFill>
          <a:blip r:embed="rId1"/>
          <a:stretch>
            <a:fillRect/>
          </a:stretch>
        </p:blipFill>
        <p:spPr>
          <a:xfrm>
            <a:off x="6243118" y="1323288"/>
            <a:ext cx="5170475" cy="459811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VFS</a:t>
            </a:r>
            <a:r>
              <a:rPr lang="zh-CN" altLang="en-US" sz="2800" b="1" dirty="0">
                <a:solidFill>
                  <a:schemeClr val="bg1"/>
                </a:solidFill>
              </a:rPr>
              <a:t>支持的对象</a:t>
            </a:r>
            <a:endParaRPr lang="zh-CN" altLang="en-US" sz="2800" b="1" dirty="0">
              <a:solidFill>
                <a:schemeClr val="bg1"/>
              </a:solidFill>
            </a:endParaRPr>
          </a:p>
        </p:txBody>
      </p:sp>
      <p:sp>
        <p:nvSpPr>
          <p:cNvPr id="8" name="内容占位符 2"/>
          <p:cNvSpPr txBox="1"/>
          <p:nvPr/>
        </p:nvSpPr>
        <p:spPr>
          <a:xfrm>
            <a:off x="669925" y="1140337"/>
            <a:ext cx="11048599" cy="52322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400" dirty="0"/>
              <a:t>VFS</a:t>
            </a:r>
            <a:r>
              <a:rPr lang="zh-CN" altLang="en-US" sz="2400" dirty="0"/>
              <a:t>支持的</a:t>
            </a:r>
            <a:r>
              <a:rPr lang="zh-CN" altLang="en-US" sz="2400" dirty="0">
                <a:solidFill>
                  <a:srgbClr val="FF0000"/>
                </a:solidFill>
              </a:rPr>
              <a:t>四个主要文件系统对象</a:t>
            </a:r>
            <a:endParaRPr lang="zh-CN" altLang="en-US" sz="2400" dirty="0">
              <a:solidFill>
                <a:srgbClr val="FF0000"/>
              </a:solidFill>
            </a:endParaRPr>
          </a:p>
        </p:txBody>
      </p:sp>
      <p:grpSp>
        <p:nvGrpSpPr>
          <p:cNvPr id="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2018605"/>
            <a:ext cx="10845800" cy="3699058"/>
            <a:chOff x="673100" y="1929384"/>
            <a:chExt cx="10845800" cy="3699058"/>
          </a:xfrm>
        </p:grpSpPr>
        <p:sp>
          <p:nvSpPr>
            <p:cNvPr id="10"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1"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5" name="ï$1iḍe"/>
            <p:cNvSpPr txBox="1"/>
            <p:nvPr/>
          </p:nvSpPr>
          <p:spPr>
            <a:xfrm>
              <a:off x="67310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超级块</a:t>
              </a:r>
              <a:r>
                <a:rPr lang="en-US" altLang="zh-CN" sz="2400" dirty="0">
                  <a:solidFill>
                    <a:srgbClr val="0000FF"/>
                  </a:solidFill>
                </a:rPr>
                <a:t>superblock</a:t>
              </a:r>
              <a:r>
                <a:rPr lang="zh-CN" altLang="en-US" sz="2400" dirty="0"/>
                <a:t>是对一个文件系统的描述</a:t>
              </a:r>
              <a:endParaRPr lang="zh-CN" altLang="en-US" sz="2400" dirty="0"/>
            </a:p>
          </p:txBody>
        </p:sp>
        <p:sp>
          <p:nvSpPr>
            <p:cNvPr id="17" name="íṩ1ïḑe"/>
            <p:cNvSpPr txBox="1"/>
            <p:nvPr/>
          </p:nvSpPr>
          <p:spPr>
            <a:xfrm>
              <a:off x="350294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索引节点</a:t>
              </a:r>
              <a:r>
                <a:rPr lang="en-US" altLang="zh-CN" sz="2400" dirty="0" err="1">
                  <a:solidFill>
                    <a:srgbClr val="0000FF"/>
                  </a:solidFill>
                </a:rPr>
                <a:t>iNode</a:t>
              </a:r>
              <a:r>
                <a:rPr lang="zh-CN" altLang="en-US" sz="2400" dirty="0"/>
                <a:t>是对一个文件物理属性的描述</a:t>
              </a:r>
              <a:endParaRPr lang="zh-CN" altLang="en-US" sz="2400" dirty="0"/>
            </a:p>
          </p:txBody>
        </p:sp>
        <p:sp>
          <p:nvSpPr>
            <p:cNvPr id="19" name="ïsḻiďê"/>
            <p:cNvSpPr txBox="1"/>
            <p:nvPr/>
          </p:nvSpPr>
          <p:spPr>
            <a:xfrm>
              <a:off x="633278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目录项</a:t>
              </a:r>
              <a:r>
                <a:rPr lang="en-US" altLang="zh-CN" sz="2400" dirty="0" err="1">
                  <a:solidFill>
                    <a:srgbClr val="0000FF"/>
                  </a:solidFill>
                </a:rPr>
                <a:t>dentry</a:t>
              </a:r>
              <a:r>
                <a:rPr lang="zh-CN" altLang="en-US" sz="2400" dirty="0"/>
                <a:t>是对一个文件逻辑属性的描述</a:t>
              </a:r>
              <a:endParaRPr lang="zh-CN" altLang="en-US" sz="2400" dirty="0"/>
            </a:p>
          </p:txBody>
        </p:sp>
        <p:sp>
          <p:nvSpPr>
            <p:cNvPr id="25" name="isḷiḋé"/>
            <p:cNvSpPr txBox="1"/>
            <p:nvPr/>
          </p:nvSpPr>
          <p:spPr>
            <a:xfrm>
              <a:off x="916262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文件</a:t>
              </a:r>
              <a:r>
                <a:rPr lang="en-US" altLang="zh-CN" sz="2400" dirty="0">
                  <a:solidFill>
                    <a:srgbClr val="0000FF"/>
                  </a:solidFill>
                </a:rPr>
                <a:t>file</a:t>
              </a:r>
              <a:r>
                <a:rPr lang="zh-CN" altLang="en-US" sz="2400" dirty="0"/>
                <a:t>是对当前进程打开的文件的描述</a:t>
              </a:r>
              <a:endParaRPr lang="zh-CN" altLang="en-US" sz="2400" dirty="0"/>
            </a:p>
          </p:txBody>
        </p:sp>
        <p:sp>
          <p:nvSpPr>
            <p:cNvPr id="29"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0"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8.6.2 </a:t>
            </a:r>
            <a:r>
              <a:rPr lang="zh-CN" altLang="en-US" sz="2800" b="1" dirty="0">
                <a:solidFill>
                  <a:schemeClr val="bg1"/>
                </a:solidFill>
              </a:rPr>
              <a:t>实例</a:t>
            </a:r>
            <a:r>
              <a:rPr lang="en-US" altLang="zh-CN" sz="2800" b="1" dirty="0">
                <a:solidFill>
                  <a:schemeClr val="bg1"/>
                </a:solidFill>
              </a:rPr>
              <a:t>2</a:t>
            </a:r>
            <a:r>
              <a:rPr lang="zh-CN" altLang="en-US" sz="2800" b="1" dirty="0">
                <a:solidFill>
                  <a:schemeClr val="bg1"/>
                </a:solidFill>
              </a:rPr>
              <a:t>：</a:t>
            </a:r>
            <a:r>
              <a:rPr lang="en-US" altLang="zh-CN" sz="2800" b="1" dirty="0">
                <a:solidFill>
                  <a:schemeClr val="bg1"/>
                </a:solidFill>
              </a:rPr>
              <a:t>Linux ext2</a:t>
            </a:r>
            <a:r>
              <a:rPr lang="zh-CN" altLang="en-US" sz="2800" b="1" dirty="0">
                <a:solidFill>
                  <a:schemeClr val="bg1"/>
                </a:solidFill>
              </a:rPr>
              <a:t>文件系统</a:t>
            </a:r>
            <a:endParaRPr lang="zh-CN" altLang="en-US" sz="2800" b="1" dirty="0">
              <a:solidFill>
                <a:schemeClr val="bg1"/>
              </a:solidFill>
            </a:endParaRPr>
          </a:p>
        </p:txBody>
      </p:sp>
      <p:sp>
        <p:nvSpPr>
          <p:cNvPr id="18" name="内容占位符 3"/>
          <p:cNvSpPr txBox="1"/>
          <p:nvPr/>
        </p:nvSpPr>
        <p:spPr>
          <a:xfrm>
            <a:off x="1335751" y="1333741"/>
            <a:ext cx="10072056" cy="44213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zh-CN" sz="2400" dirty="0">
                <a:solidFill>
                  <a:srgbClr val="0000FF"/>
                </a:solidFill>
                <a:latin typeface="+mn-ea"/>
              </a:rPr>
              <a:t>超级块</a:t>
            </a:r>
            <a:r>
              <a:rPr lang="zh-CN" altLang="zh-CN" sz="2400" dirty="0">
                <a:latin typeface="+mn-ea"/>
              </a:rPr>
              <a:t>：记录整个文件系统的信息。</a:t>
            </a:r>
            <a:endParaRPr lang="zh-CN" altLang="zh-CN" sz="2400" dirty="0">
              <a:latin typeface="+mn-ea"/>
            </a:endParaRPr>
          </a:p>
          <a:p>
            <a:pPr marL="0" indent="0">
              <a:lnSpc>
                <a:spcPct val="123000"/>
              </a:lnSpc>
              <a:buNone/>
            </a:pPr>
            <a:r>
              <a:rPr lang="zh-CN" altLang="zh-CN" sz="2400" dirty="0">
                <a:solidFill>
                  <a:srgbClr val="0000FF"/>
                </a:solidFill>
                <a:latin typeface="+mn-ea"/>
              </a:rPr>
              <a:t>组描述符</a:t>
            </a:r>
            <a:r>
              <a:rPr lang="zh-CN" altLang="zh-CN" sz="2400" dirty="0">
                <a:latin typeface="+mn-ea"/>
              </a:rPr>
              <a:t>：描述每个组块的开始与结束的</a:t>
            </a:r>
            <a:r>
              <a:rPr lang="en-US" altLang="zh-CN" sz="2400" dirty="0">
                <a:latin typeface="+mn-ea"/>
              </a:rPr>
              <a:t>block</a:t>
            </a:r>
            <a:r>
              <a:rPr lang="zh-CN" altLang="zh-CN" sz="2400" dirty="0">
                <a:latin typeface="+mn-ea"/>
              </a:rPr>
              <a:t>号码。</a:t>
            </a:r>
            <a:endParaRPr lang="zh-CN" altLang="zh-CN" sz="2400" dirty="0">
              <a:latin typeface="+mn-ea"/>
            </a:endParaRPr>
          </a:p>
          <a:p>
            <a:pPr marL="0" indent="0">
              <a:lnSpc>
                <a:spcPct val="123000"/>
              </a:lnSpc>
              <a:buNone/>
            </a:pPr>
            <a:r>
              <a:rPr lang="zh-CN" altLang="zh-CN" sz="2400" dirty="0">
                <a:solidFill>
                  <a:srgbClr val="0000FF"/>
                </a:solidFill>
                <a:latin typeface="+mn-ea"/>
              </a:rPr>
              <a:t>块位图</a:t>
            </a:r>
            <a:r>
              <a:rPr lang="zh-CN" altLang="zh-CN" sz="2400" dirty="0">
                <a:latin typeface="+mn-ea"/>
              </a:rPr>
              <a:t>：数据块位示图，用一个二进制位来表示数据块是否空闲。</a:t>
            </a:r>
            <a:endParaRPr lang="zh-CN" altLang="zh-CN" sz="2400" dirty="0">
              <a:latin typeface="+mn-ea"/>
            </a:endParaRPr>
          </a:p>
          <a:p>
            <a:pPr marL="0" indent="0">
              <a:lnSpc>
                <a:spcPct val="123000"/>
              </a:lnSpc>
              <a:buNone/>
            </a:pPr>
            <a:r>
              <a:rPr lang="zh-CN" altLang="zh-CN" sz="2400" dirty="0">
                <a:solidFill>
                  <a:srgbClr val="0000FF"/>
                </a:solidFill>
                <a:latin typeface="+mn-ea"/>
              </a:rPr>
              <a:t>索引节点位图</a:t>
            </a:r>
            <a:r>
              <a:rPr lang="zh-CN" altLang="zh-CN" sz="2400" dirty="0">
                <a:latin typeface="+mn-ea"/>
              </a:rPr>
              <a:t>：类似数据块位示图，用一个二进制位来表示</a:t>
            </a:r>
            <a:r>
              <a:rPr lang="en-US" altLang="zh-CN" sz="2400" dirty="0" err="1">
                <a:latin typeface="+mn-ea"/>
              </a:rPr>
              <a:t>iNode</a:t>
            </a:r>
            <a:r>
              <a:rPr lang="zh-CN" altLang="zh-CN" sz="2400" dirty="0">
                <a:latin typeface="+mn-ea"/>
              </a:rPr>
              <a:t>是否被使用。</a:t>
            </a:r>
            <a:endParaRPr lang="zh-CN" altLang="zh-CN" sz="2400" dirty="0">
              <a:latin typeface="+mn-ea"/>
            </a:endParaRPr>
          </a:p>
          <a:p>
            <a:pPr marL="0" indent="0">
              <a:lnSpc>
                <a:spcPct val="123000"/>
              </a:lnSpc>
              <a:buNone/>
            </a:pPr>
            <a:r>
              <a:rPr lang="zh-CN" altLang="zh-CN" sz="2400" dirty="0">
                <a:solidFill>
                  <a:srgbClr val="0000FF"/>
                </a:solidFill>
                <a:latin typeface="+mn-ea"/>
              </a:rPr>
              <a:t>索引节点表</a:t>
            </a:r>
            <a:r>
              <a:rPr lang="zh-CN" altLang="zh-CN" sz="2400" dirty="0">
                <a:latin typeface="+mn-ea"/>
              </a:rPr>
              <a:t>：每个</a:t>
            </a:r>
            <a:r>
              <a:rPr lang="en-US" altLang="zh-CN" sz="2400" dirty="0" err="1">
                <a:latin typeface="+mn-ea"/>
              </a:rPr>
              <a:t>iNode</a:t>
            </a:r>
            <a:r>
              <a:rPr lang="zh-CN" altLang="zh-CN" sz="2400" dirty="0">
                <a:latin typeface="+mn-ea"/>
              </a:rPr>
              <a:t>的固定大小为</a:t>
            </a:r>
            <a:r>
              <a:rPr lang="en-US" altLang="zh-CN" sz="2400" dirty="0">
                <a:latin typeface="+mn-ea"/>
              </a:rPr>
              <a:t>128B</a:t>
            </a:r>
            <a:r>
              <a:rPr lang="zh-CN" altLang="zh-CN" sz="2400" dirty="0">
                <a:latin typeface="+mn-ea"/>
              </a:rPr>
              <a:t>，每个文件仅占用一个</a:t>
            </a:r>
            <a:r>
              <a:rPr lang="en-US" altLang="zh-CN" sz="2400" dirty="0" err="1">
                <a:latin typeface="+mn-ea"/>
              </a:rPr>
              <a:t>iNode</a:t>
            </a:r>
            <a:r>
              <a:rPr lang="zh-CN" altLang="zh-CN" sz="2400" dirty="0">
                <a:latin typeface="+mn-ea"/>
              </a:rPr>
              <a:t>，文件系统能够创建的文件数量与</a:t>
            </a:r>
            <a:r>
              <a:rPr lang="en-US" altLang="zh-CN" sz="2400" dirty="0" err="1">
                <a:latin typeface="+mn-ea"/>
              </a:rPr>
              <a:t>iNode</a:t>
            </a:r>
            <a:r>
              <a:rPr lang="zh-CN" altLang="zh-CN" sz="2400" dirty="0">
                <a:latin typeface="+mn-ea"/>
              </a:rPr>
              <a:t>的数量有关。</a:t>
            </a:r>
            <a:endParaRPr lang="zh-CN" altLang="zh-CN" sz="2400" dirty="0">
              <a:latin typeface="+mn-ea"/>
            </a:endParaRPr>
          </a:p>
          <a:p>
            <a:pPr marL="0" indent="0">
              <a:lnSpc>
                <a:spcPct val="123000"/>
              </a:lnSpc>
              <a:buNone/>
            </a:pPr>
            <a:r>
              <a:rPr lang="zh-CN" altLang="zh-CN" sz="2400" dirty="0">
                <a:solidFill>
                  <a:srgbClr val="0000FF"/>
                </a:solidFill>
                <a:latin typeface="+mn-ea"/>
              </a:rPr>
              <a:t>数据块</a:t>
            </a:r>
            <a:r>
              <a:rPr lang="zh-CN" altLang="zh-CN" sz="2400" dirty="0">
                <a:latin typeface="+mn-ea"/>
              </a:rPr>
              <a:t>：每个数据块中只能放一个文件的数据</a:t>
            </a:r>
            <a:r>
              <a:rPr lang="zh-CN" altLang="en-US" sz="2400" dirty="0">
                <a:latin typeface="+mn-ea"/>
              </a:rPr>
              <a:t>，</a:t>
            </a:r>
            <a:r>
              <a:rPr lang="en-US" altLang="zh-CN" sz="2400" dirty="0">
                <a:latin typeface="+mn-ea"/>
              </a:rPr>
              <a:t>ext2</a:t>
            </a:r>
            <a:r>
              <a:rPr lang="zh-CN" altLang="zh-CN" sz="2400" dirty="0">
                <a:latin typeface="+mn-ea"/>
              </a:rPr>
              <a:t>支持的数据块的大小有</a:t>
            </a:r>
            <a:r>
              <a:rPr lang="en-US" altLang="zh-CN" sz="2400" dirty="0">
                <a:latin typeface="+mn-ea"/>
              </a:rPr>
              <a:t>1KB</a:t>
            </a:r>
            <a:r>
              <a:rPr lang="zh-CN" altLang="zh-CN" sz="2400" dirty="0">
                <a:latin typeface="+mn-ea"/>
              </a:rPr>
              <a:t>、</a:t>
            </a:r>
            <a:r>
              <a:rPr lang="en-US" altLang="zh-CN" sz="2400" dirty="0">
                <a:latin typeface="+mn-ea"/>
              </a:rPr>
              <a:t>2KB</a:t>
            </a:r>
            <a:r>
              <a:rPr lang="zh-CN" altLang="zh-CN" sz="2400" dirty="0">
                <a:latin typeface="+mn-ea"/>
              </a:rPr>
              <a:t>、</a:t>
            </a:r>
            <a:r>
              <a:rPr lang="en-US" altLang="zh-CN" sz="2400" dirty="0">
                <a:latin typeface="+mn-ea"/>
              </a:rPr>
              <a:t>4KB</a:t>
            </a:r>
            <a:r>
              <a:rPr lang="zh-CN" altLang="zh-CN" sz="2400" dirty="0">
                <a:latin typeface="+mn-ea"/>
              </a:rPr>
              <a:t>三种。</a:t>
            </a:r>
            <a:endParaRPr lang="zh-CN" altLang="en-US" sz="2400" dirty="0">
              <a:latin typeface="+mn-ea"/>
            </a:endParaRPr>
          </a:p>
        </p:txBody>
      </p:sp>
      <p:pic>
        <p:nvPicPr>
          <p:cNvPr id="22" name="图片 2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333741"/>
            <a:ext cx="527050" cy="527050"/>
          </a:xfrm>
          <a:prstGeom prst="rect">
            <a:avLst/>
          </a:prstGeom>
          <a:ln>
            <a:noFill/>
          </a:ln>
          <a:effectLst>
            <a:softEdge rad="0"/>
          </a:effectLst>
        </p:spPr>
      </p:pic>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918881"/>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494448"/>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3112921"/>
            <a:ext cx="527050" cy="527050"/>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4111864"/>
            <a:ext cx="527050" cy="527050"/>
          </a:xfrm>
          <a:prstGeom prst="rect">
            <a:avLst/>
          </a:prstGeom>
          <a:ln>
            <a:noFill/>
          </a:ln>
          <a:effectLst>
            <a:softEdge rad="0"/>
          </a:effectLst>
        </p:spPr>
      </p:pic>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5110807"/>
            <a:ext cx="527050" cy="527050"/>
          </a:xfrm>
          <a:prstGeom prst="rect">
            <a:avLst/>
          </a:prstGeom>
          <a:ln>
            <a:noFill/>
          </a:ln>
          <a:effectLst>
            <a:softEdge rad="0"/>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8.6.2 </a:t>
            </a:r>
            <a:r>
              <a:rPr lang="zh-CN" altLang="en-US" sz="2800" b="1" dirty="0">
                <a:solidFill>
                  <a:schemeClr val="bg1"/>
                </a:solidFill>
              </a:rPr>
              <a:t>实例</a:t>
            </a:r>
            <a:r>
              <a:rPr lang="en-US" altLang="zh-CN" sz="2800" b="1" dirty="0">
                <a:solidFill>
                  <a:schemeClr val="bg1"/>
                </a:solidFill>
              </a:rPr>
              <a:t>2</a:t>
            </a:r>
            <a:r>
              <a:rPr lang="zh-CN" altLang="en-US" sz="2800" b="1" dirty="0">
                <a:solidFill>
                  <a:schemeClr val="bg1"/>
                </a:solidFill>
              </a:rPr>
              <a:t>：</a:t>
            </a:r>
            <a:r>
              <a:rPr lang="en-US" altLang="zh-CN" sz="2800" b="1" dirty="0">
                <a:solidFill>
                  <a:schemeClr val="bg1"/>
                </a:solidFill>
              </a:rPr>
              <a:t>Linux ext2</a:t>
            </a:r>
            <a:r>
              <a:rPr lang="zh-CN" altLang="en-US" sz="2800" b="1" dirty="0">
                <a:solidFill>
                  <a:schemeClr val="bg1"/>
                </a:solidFill>
              </a:rPr>
              <a:t>文件系统</a:t>
            </a:r>
            <a:endParaRPr lang="zh-CN" altLang="en-US" sz="2800" b="1" dirty="0">
              <a:solidFill>
                <a:schemeClr val="bg1"/>
              </a:solidFill>
            </a:endParaRPr>
          </a:p>
        </p:txBody>
      </p:sp>
      <p:pic>
        <p:nvPicPr>
          <p:cNvPr id="21" name="图片 20"/>
          <p:cNvPicPr>
            <a:picLocks noChangeAspect="1"/>
          </p:cNvPicPr>
          <p:nvPr/>
        </p:nvPicPr>
        <p:blipFill>
          <a:blip r:embed="rId1"/>
          <a:stretch>
            <a:fillRect/>
          </a:stretch>
        </p:blipFill>
        <p:spPr>
          <a:xfrm>
            <a:off x="728663" y="2426166"/>
            <a:ext cx="10734674" cy="2421041"/>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8章 知识导图"/>
          <p:cNvPicPr>
            <a:picLocks noChangeAspect="1"/>
          </p:cNvPicPr>
          <p:nvPr/>
        </p:nvPicPr>
        <p:blipFill>
          <a:blip r:embed="rId1"/>
          <a:stretch>
            <a:fillRect/>
          </a:stretch>
        </p:blipFill>
        <p:spPr>
          <a:xfrm>
            <a:off x="4963160" y="760095"/>
            <a:ext cx="6248400" cy="600011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8</a:t>
            </a:r>
            <a:r>
              <a:rPr lang="zh-CN" altLang="en-US" sz="2800" b="1" dirty="0">
                <a:solidFill>
                  <a:schemeClr val="bg1"/>
                </a:solidFill>
              </a:rPr>
              <a:t>章总结）</a:t>
            </a:r>
            <a:endParaRPr lang="zh-CN" altLang="en-US" sz="2800" b="1" dirty="0">
              <a:solidFill>
                <a:schemeClr val="bg1"/>
              </a:solidFill>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3"/>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第8章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文件管理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14" name="前凸带形 3"/>
          <p:cNvSpPr/>
          <p:nvPr/>
        </p:nvSpPr>
        <p:spPr>
          <a:xfrm>
            <a:off x="5067935" y="6353175"/>
            <a:ext cx="2046605" cy="387985"/>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latin typeface="+mn-ea"/>
              </a:rPr>
              <a:t>本章学习结束</a:t>
            </a:r>
            <a:endParaRPr lang="zh-CN" altLang="en-US" sz="1400" b="1">
              <a:solidFill>
                <a:schemeClr val="bg1"/>
              </a:solidFill>
              <a:latin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第一次作业</a:t>
            </a:r>
            <a:endParaRPr lang="zh-CN" altLang="en-US" sz="2800" b="1" dirty="0">
              <a:solidFill>
                <a:schemeClr val="bg1"/>
              </a:solidFill>
            </a:endParaRPr>
          </a:p>
        </p:txBody>
      </p:sp>
      <p:sp>
        <p:nvSpPr>
          <p:cNvPr id="7" name="流程图: 预定义过程 6"/>
          <p:cNvSpPr/>
          <p:nvPr/>
        </p:nvSpPr>
        <p:spPr>
          <a:xfrm>
            <a:off x="1846580"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8" name="立方体 7"/>
          <p:cNvSpPr/>
          <p:nvPr/>
        </p:nvSpPr>
        <p:spPr>
          <a:xfrm>
            <a:off x="1828800" y="5003529"/>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cs typeface="Times New Roman" panose="02020603050405020304" pitchFamily="18" charset="0"/>
              </a:rPr>
              <a:t>18</a:t>
            </a:r>
            <a:endParaRPr lang="en-US" altLang="zh-CN" sz="2800" dirty="0">
              <a:solidFill>
                <a:schemeClr val="tx1"/>
              </a:solidFill>
              <a:latin typeface="Times New Roman" panose="02020603050405020304" pitchFamily="18" charset="0"/>
              <a:cs typeface="Times New Roman" panose="02020603050405020304" pitchFamily="18" charset="0"/>
            </a:endParaRPr>
          </a:p>
        </p:txBody>
      </p:sp>
      <p:sp>
        <p:nvSpPr>
          <p:cNvPr id="9" name="圆柱形 8"/>
          <p:cNvSpPr/>
          <p:nvPr/>
        </p:nvSpPr>
        <p:spPr>
          <a:xfrm>
            <a:off x="1870849" y="3484216"/>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13</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10" name="矩形 9"/>
          <p:cNvSpPr/>
          <p:nvPr/>
        </p:nvSpPr>
        <p:spPr>
          <a:xfrm>
            <a:off x="1414780" y="1233204"/>
            <a:ext cx="9288780" cy="1771253"/>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文本框 10"/>
          <p:cNvSpPr txBox="1"/>
          <p:nvPr/>
        </p:nvSpPr>
        <p:spPr>
          <a:xfrm>
            <a:off x="669925" y="1610998"/>
            <a:ext cx="553998" cy="1015663"/>
          </a:xfrm>
          <a:prstGeom prst="rect">
            <a:avLst/>
          </a:prstGeom>
          <a:noFill/>
        </p:spPr>
        <p:txBody>
          <a:bodyPr vert="eaVert" wrap="square" rtlCol="0">
            <a:spAutoFit/>
          </a:bodyPr>
          <a:lstStyle/>
          <a:p>
            <a:r>
              <a:rPr lang="zh-CN" altLang="en-US" sz="2400" dirty="0">
                <a:solidFill>
                  <a:schemeClr val="tx1"/>
                </a:solidFill>
                <a:latin typeface="+mn-ea"/>
              </a:rPr>
              <a:t>简答题</a:t>
            </a:r>
            <a:endParaRPr lang="zh-CN" altLang="en-US" sz="2400" dirty="0">
              <a:solidFill>
                <a:schemeClr val="tx1"/>
              </a:solidFill>
              <a:latin typeface="+mn-ea"/>
            </a:endParaRPr>
          </a:p>
        </p:txBody>
      </p:sp>
      <p:sp>
        <p:nvSpPr>
          <p:cNvPr id="12" name="矩形 11"/>
          <p:cNvSpPr/>
          <p:nvPr/>
        </p:nvSpPr>
        <p:spPr>
          <a:xfrm>
            <a:off x="1395234" y="3366741"/>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030A0"/>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669925" y="3297878"/>
            <a:ext cx="553998" cy="1015663"/>
          </a:xfrm>
          <a:prstGeom prst="rect">
            <a:avLst/>
          </a:prstGeom>
          <a:noFill/>
          <a:ln>
            <a:noFill/>
          </a:ln>
        </p:spPr>
        <p:txBody>
          <a:bodyPr vert="eaVert" wrap="none" rtlCol="0">
            <a:spAutoFit/>
          </a:bodyPr>
          <a:lstStyle/>
          <a:p>
            <a:r>
              <a:rPr lang="zh-CN" altLang="en-US" sz="2400" dirty="0">
                <a:solidFill>
                  <a:srgbClr val="7030A0"/>
                </a:solidFill>
                <a:latin typeface="+mn-ea"/>
              </a:rPr>
              <a:t>计算题</a:t>
            </a:r>
            <a:endParaRPr lang="zh-CN" altLang="en-US" sz="2400" dirty="0">
              <a:solidFill>
                <a:srgbClr val="7030A0"/>
              </a:solidFill>
              <a:latin typeface="+mn-ea"/>
            </a:endParaRPr>
          </a:p>
        </p:txBody>
      </p:sp>
      <p:sp>
        <p:nvSpPr>
          <p:cNvPr id="14" name="矩形 13"/>
          <p:cNvSpPr/>
          <p:nvPr/>
        </p:nvSpPr>
        <p:spPr>
          <a:xfrm>
            <a:off x="1414780" y="4918439"/>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文本框 14"/>
          <p:cNvSpPr txBox="1"/>
          <p:nvPr/>
        </p:nvSpPr>
        <p:spPr>
          <a:xfrm>
            <a:off x="653772" y="4554904"/>
            <a:ext cx="553998" cy="1631216"/>
          </a:xfrm>
          <a:prstGeom prst="rect">
            <a:avLst/>
          </a:prstGeom>
          <a:noFill/>
        </p:spPr>
        <p:txBody>
          <a:bodyPr vert="eaVert" wrap="none" rtlCol="0">
            <a:spAutoFit/>
          </a:bodyPr>
          <a:lstStyle/>
          <a:p>
            <a:r>
              <a:rPr lang="zh-CN" altLang="en-US" sz="2400" dirty="0">
                <a:solidFill>
                  <a:srgbClr val="0000FF"/>
                </a:solidFill>
                <a:latin typeface="+mn-ea"/>
              </a:rPr>
              <a:t>综合应用题</a:t>
            </a:r>
            <a:endParaRPr lang="zh-CN" altLang="en-US" sz="2400" dirty="0">
              <a:solidFill>
                <a:srgbClr val="0000FF"/>
              </a:solidFill>
              <a:latin typeface="+mn-ea"/>
            </a:endParaRPr>
          </a:p>
        </p:txBody>
      </p:sp>
      <p:sp>
        <p:nvSpPr>
          <p:cNvPr id="16" name="圆柱形 15"/>
          <p:cNvSpPr/>
          <p:nvPr/>
        </p:nvSpPr>
        <p:spPr>
          <a:xfrm>
            <a:off x="2972574" y="3484216"/>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14</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18" name="立方体 17"/>
          <p:cNvSpPr/>
          <p:nvPr/>
        </p:nvSpPr>
        <p:spPr>
          <a:xfrm>
            <a:off x="2930525" y="5003529"/>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cs typeface="Times New Roman" panose="02020603050405020304" pitchFamily="18" charset="0"/>
              </a:rPr>
              <a:t>19</a:t>
            </a:r>
            <a:endParaRPr lang="en-US" altLang="zh-CN" sz="2800" dirty="0">
              <a:solidFill>
                <a:schemeClr val="tx1"/>
              </a:solidFill>
              <a:latin typeface="Times New Roman" panose="02020603050405020304" pitchFamily="18" charset="0"/>
              <a:cs typeface="Times New Roman" panose="02020603050405020304" pitchFamily="18" charset="0"/>
            </a:endParaRPr>
          </a:p>
        </p:txBody>
      </p:sp>
      <p:sp>
        <p:nvSpPr>
          <p:cNvPr id="19" name="流程图: 预定义过程 18"/>
          <p:cNvSpPr/>
          <p:nvPr/>
        </p:nvSpPr>
        <p:spPr>
          <a:xfrm>
            <a:off x="2948305"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2</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1" name="流程图: 预定义过程 20"/>
          <p:cNvSpPr/>
          <p:nvPr/>
        </p:nvSpPr>
        <p:spPr>
          <a:xfrm>
            <a:off x="40500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3</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2" name="流程图: 预定义过程 21"/>
          <p:cNvSpPr/>
          <p:nvPr/>
        </p:nvSpPr>
        <p:spPr>
          <a:xfrm>
            <a:off x="51517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4</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3" name="流程图: 预定义过程 22"/>
          <p:cNvSpPr/>
          <p:nvPr/>
        </p:nvSpPr>
        <p:spPr>
          <a:xfrm>
            <a:off x="625348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5</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4" name="流程图: 预定义过程 23"/>
          <p:cNvSpPr/>
          <p:nvPr/>
        </p:nvSpPr>
        <p:spPr>
          <a:xfrm>
            <a:off x="735520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6</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5" name="流程图: 预定义过程 24"/>
          <p:cNvSpPr/>
          <p:nvPr/>
        </p:nvSpPr>
        <p:spPr>
          <a:xfrm>
            <a:off x="84569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7</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6" name="流程图: 预定义过程 25"/>
          <p:cNvSpPr/>
          <p:nvPr/>
        </p:nvSpPr>
        <p:spPr>
          <a:xfrm>
            <a:off x="95586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8</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7" name="流程图: 预定义过程 26"/>
          <p:cNvSpPr/>
          <p:nvPr/>
        </p:nvSpPr>
        <p:spPr>
          <a:xfrm>
            <a:off x="184658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9</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8" name="流程图: 预定义过程 27"/>
          <p:cNvSpPr/>
          <p:nvPr/>
        </p:nvSpPr>
        <p:spPr>
          <a:xfrm>
            <a:off x="294830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10</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9" name="流程图: 预定义过程 28"/>
          <p:cNvSpPr/>
          <p:nvPr/>
        </p:nvSpPr>
        <p:spPr>
          <a:xfrm>
            <a:off x="405003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11</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30" name="流程图: 预定义过程 29"/>
          <p:cNvSpPr/>
          <p:nvPr/>
        </p:nvSpPr>
        <p:spPr>
          <a:xfrm>
            <a:off x="515175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12</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
        <p:nvSpPr>
          <p:cNvPr id="44" name="圆柱形 8"/>
          <p:cNvSpPr/>
          <p:nvPr/>
        </p:nvSpPr>
        <p:spPr>
          <a:xfrm>
            <a:off x="4073981" y="3484216"/>
            <a:ext cx="653415" cy="712470"/>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15</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45" name="圆柱形 15"/>
          <p:cNvSpPr/>
          <p:nvPr/>
        </p:nvSpPr>
        <p:spPr>
          <a:xfrm>
            <a:off x="5175706" y="3484216"/>
            <a:ext cx="653415" cy="712470"/>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16</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46" name="圆柱形 15"/>
          <p:cNvSpPr/>
          <p:nvPr/>
        </p:nvSpPr>
        <p:spPr>
          <a:xfrm>
            <a:off x="6225899" y="3483906"/>
            <a:ext cx="653415" cy="712470"/>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17</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47" name="立方体 46"/>
          <p:cNvSpPr/>
          <p:nvPr/>
        </p:nvSpPr>
        <p:spPr>
          <a:xfrm>
            <a:off x="4014470" y="5003211"/>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cs typeface="Times New Roman" panose="02020603050405020304" pitchFamily="18" charset="0"/>
              </a:rPr>
              <a:t>20</a:t>
            </a:r>
            <a:endParaRPr lang="en-US" altLang="zh-CN"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第二次作业</a:t>
            </a:r>
            <a:endParaRPr lang="zh-CN" altLang="en-US" sz="2800" b="1" dirty="0">
              <a:solidFill>
                <a:schemeClr val="bg1"/>
              </a:solidFill>
            </a:endParaRPr>
          </a:p>
        </p:txBody>
      </p:sp>
      <p:sp>
        <p:nvSpPr>
          <p:cNvPr id="7" name="流程图: 预定义过程 6"/>
          <p:cNvSpPr/>
          <p:nvPr/>
        </p:nvSpPr>
        <p:spPr>
          <a:xfrm>
            <a:off x="1846580" y="1476409"/>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8" name="立方体 7"/>
          <p:cNvSpPr/>
          <p:nvPr/>
        </p:nvSpPr>
        <p:spPr>
          <a:xfrm>
            <a:off x="1828800" y="5003529"/>
            <a:ext cx="776605" cy="776605"/>
          </a:xfrm>
          <a:prstGeom prst="cub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cs typeface="Times New Roman" panose="02020603050405020304" pitchFamily="18" charset="0"/>
              </a:rPr>
              <a:t>18</a:t>
            </a:r>
            <a:endParaRPr lang="en-US" altLang="zh-CN" sz="2800" dirty="0">
              <a:solidFill>
                <a:schemeClr val="tx1"/>
              </a:solidFill>
              <a:latin typeface="Times New Roman" panose="02020603050405020304" pitchFamily="18" charset="0"/>
              <a:cs typeface="Times New Roman" panose="02020603050405020304" pitchFamily="18" charset="0"/>
            </a:endParaRPr>
          </a:p>
        </p:txBody>
      </p:sp>
      <p:sp>
        <p:nvSpPr>
          <p:cNvPr id="9" name="圆柱形 8"/>
          <p:cNvSpPr/>
          <p:nvPr/>
        </p:nvSpPr>
        <p:spPr>
          <a:xfrm>
            <a:off x="1870849" y="3484216"/>
            <a:ext cx="653415" cy="712470"/>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13</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10" name="矩形 9"/>
          <p:cNvSpPr/>
          <p:nvPr/>
        </p:nvSpPr>
        <p:spPr>
          <a:xfrm>
            <a:off x="1414780" y="1233204"/>
            <a:ext cx="9288780" cy="1771253"/>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文本框 10"/>
          <p:cNvSpPr txBox="1"/>
          <p:nvPr/>
        </p:nvSpPr>
        <p:spPr>
          <a:xfrm>
            <a:off x="669925" y="1610998"/>
            <a:ext cx="553998" cy="1015663"/>
          </a:xfrm>
          <a:prstGeom prst="rect">
            <a:avLst/>
          </a:prstGeom>
          <a:noFill/>
        </p:spPr>
        <p:txBody>
          <a:bodyPr vert="eaVert" wrap="square" rtlCol="0">
            <a:spAutoFit/>
          </a:bodyPr>
          <a:lstStyle/>
          <a:p>
            <a:r>
              <a:rPr lang="zh-CN" altLang="en-US" sz="2400" dirty="0">
                <a:solidFill>
                  <a:schemeClr val="tx1"/>
                </a:solidFill>
                <a:latin typeface="+mn-ea"/>
              </a:rPr>
              <a:t>简答题</a:t>
            </a:r>
            <a:endParaRPr lang="zh-CN" altLang="en-US" sz="2400" dirty="0">
              <a:solidFill>
                <a:schemeClr val="tx1"/>
              </a:solidFill>
              <a:latin typeface="+mn-ea"/>
            </a:endParaRPr>
          </a:p>
        </p:txBody>
      </p:sp>
      <p:sp>
        <p:nvSpPr>
          <p:cNvPr id="12" name="矩形 11"/>
          <p:cNvSpPr/>
          <p:nvPr/>
        </p:nvSpPr>
        <p:spPr>
          <a:xfrm>
            <a:off x="1395234" y="3366741"/>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030A0"/>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669925" y="3297878"/>
            <a:ext cx="553998" cy="1015663"/>
          </a:xfrm>
          <a:prstGeom prst="rect">
            <a:avLst/>
          </a:prstGeom>
          <a:noFill/>
          <a:ln>
            <a:noFill/>
          </a:ln>
        </p:spPr>
        <p:txBody>
          <a:bodyPr vert="eaVert" wrap="none" rtlCol="0">
            <a:spAutoFit/>
          </a:bodyPr>
          <a:lstStyle/>
          <a:p>
            <a:r>
              <a:rPr lang="zh-CN" altLang="en-US" sz="2400" dirty="0">
                <a:solidFill>
                  <a:srgbClr val="7030A0"/>
                </a:solidFill>
                <a:latin typeface="+mn-ea"/>
              </a:rPr>
              <a:t>计算题</a:t>
            </a:r>
            <a:endParaRPr lang="zh-CN" altLang="en-US" sz="2400" dirty="0">
              <a:solidFill>
                <a:srgbClr val="7030A0"/>
              </a:solidFill>
              <a:latin typeface="+mn-ea"/>
            </a:endParaRPr>
          </a:p>
        </p:txBody>
      </p:sp>
      <p:sp>
        <p:nvSpPr>
          <p:cNvPr id="14" name="矩形 13"/>
          <p:cNvSpPr/>
          <p:nvPr/>
        </p:nvSpPr>
        <p:spPr>
          <a:xfrm>
            <a:off x="1414780" y="4918439"/>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文本框 14"/>
          <p:cNvSpPr txBox="1"/>
          <p:nvPr/>
        </p:nvSpPr>
        <p:spPr>
          <a:xfrm>
            <a:off x="653772" y="4554904"/>
            <a:ext cx="553998" cy="1631216"/>
          </a:xfrm>
          <a:prstGeom prst="rect">
            <a:avLst/>
          </a:prstGeom>
          <a:noFill/>
        </p:spPr>
        <p:txBody>
          <a:bodyPr vert="eaVert" wrap="none" rtlCol="0">
            <a:spAutoFit/>
          </a:bodyPr>
          <a:lstStyle/>
          <a:p>
            <a:r>
              <a:rPr lang="zh-CN" altLang="en-US" sz="2400" dirty="0">
                <a:solidFill>
                  <a:srgbClr val="0000FF"/>
                </a:solidFill>
                <a:latin typeface="+mn-ea"/>
              </a:rPr>
              <a:t>综合应用题</a:t>
            </a:r>
            <a:endParaRPr lang="zh-CN" altLang="en-US" sz="2400" dirty="0">
              <a:solidFill>
                <a:srgbClr val="0000FF"/>
              </a:solidFill>
              <a:latin typeface="+mn-ea"/>
            </a:endParaRPr>
          </a:p>
        </p:txBody>
      </p:sp>
      <p:sp>
        <p:nvSpPr>
          <p:cNvPr id="16" name="圆柱形 15"/>
          <p:cNvSpPr/>
          <p:nvPr/>
        </p:nvSpPr>
        <p:spPr>
          <a:xfrm>
            <a:off x="2972574" y="3484216"/>
            <a:ext cx="653415" cy="712470"/>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14</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18" name="立方体 17"/>
          <p:cNvSpPr/>
          <p:nvPr/>
        </p:nvSpPr>
        <p:spPr>
          <a:xfrm>
            <a:off x="2930525" y="5003529"/>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cs typeface="Times New Roman" panose="02020603050405020304" pitchFamily="18" charset="0"/>
              </a:rPr>
              <a:t>19</a:t>
            </a:r>
            <a:endParaRPr lang="en-US" altLang="zh-CN" sz="2800" dirty="0">
              <a:solidFill>
                <a:schemeClr val="tx1"/>
              </a:solidFill>
              <a:latin typeface="Times New Roman" panose="02020603050405020304" pitchFamily="18" charset="0"/>
              <a:cs typeface="Times New Roman" panose="02020603050405020304" pitchFamily="18" charset="0"/>
            </a:endParaRPr>
          </a:p>
        </p:txBody>
      </p:sp>
      <p:sp>
        <p:nvSpPr>
          <p:cNvPr id="19" name="流程图: 预定义过程 18"/>
          <p:cNvSpPr/>
          <p:nvPr/>
        </p:nvSpPr>
        <p:spPr>
          <a:xfrm>
            <a:off x="2948305" y="1476409"/>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2</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1" name="流程图: 预定义过程 20"/>
          <p:cNvSpPr/>
          <p:nvPr/>
        </p:nvSpPr>
        <p:spPr>
          <a:xfrm>
            <a:off x="4050030"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3</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2" name="流程图: 预定义过程 21"/>
          <p:cNvSpPr/>
          <p:nvPr/>
        </p:nvSpPr>
        <p:spPr>
          <a:xfrm>
            <a:off x="5151755"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4</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3" name="流程图: 预定义过程 22"/>
          <p:cNvSpPr/>
          <p:nvPr/>
        </p:nvSpPr>
        <p:spPr>
          <a:xfrm>
            <a:off x="625348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5</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4" name="流程图: 预定义过程 23"/>
          <p:cNvSpPr/>
          <p:nvPr/>
        </p:nvSpPr>
        <p:spPr>
          <a:xfrm>
            <a:off x="735520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6</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5" name="流程图: 预定义过程 24"/>
          <p:cNvSpPr/>
          <p:nvPr/>
        </p:nvSpPr>
        <p:spPr>
          <a:xfrm>
            <a:off x="84569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7</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6" name="流程图: 预定义过程 25"/>
          <p:cNvSpPr/>
          <p:nvPr/>
        </p:nvSpPr>
        <p:spPr>
          <a:xfrm>
            <a:off x="95586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8</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7" name="流程图: 预定义过程 26"/>
          <p:cNvSpPr/>
          <p:nvPr/>
        </p:nvSpPr>
        <p:spPr>
          <a:xfrm>
            <a:off x="184658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9</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8" name="流程图: 预定义过程 27"/>
          <p:cNvSpPr/>
          <p:nvPr/>
        </p:nvSpPr>
        <p:spPr>
          <a:xfrm>
            <a:off x="294830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10</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29" name="流程图: 预定义过程 28"/>
          <p:cNvSpPr/>
          <p:nvPr/>
        </p:nvSpPr>
        <p:spPr>
          <a:xfrm>
            <a:off x="4050030" y="2237774"/>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11</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30" name="流程图: 预定义过程 29"/>
          <p:cNvSpPr/>
          <p:nvPr/>
        </p:nvSpPr>
        <p:spPr>
          <a:xfrm>
            <a:off x="5151755" y="2237774"/>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cs typeface="Times New Roman" panose="02020603050405020304" pitchFamily="18" charset="0"/>
              </a:rPr>
              <a:t>12</a:t>
            </a:r>
            <a:endParaRPr lang="en-US" altLang="zh-CN" sz="2800">
              <a:solidFill>
                <a:schemeClr val="tx1"/>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
        <p:nvSpPr>
          <p:cNvPr id="44" name="圆柱形 8"/>
          <p:cNvSpPr/>
          <p:nvPr/>
        </p:nvSpPr>
        <p:spPr>
          <a:xfrm>
            <a:off x="4073981" y="3484216"/>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15</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45" name="圆柱形 15"/>
          <p:cNvSpPr/>
          <p:nvPr/>
        </p:nvSpPr>
        <p:spPr>
          <a:xfrm>
            <a:off x="5175706" y="3484216"/>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16</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46" name="圆柱形 15"/>
          <p:cNvSpPr/>
          <p:nvPr/>
        </p:nvSpPr>
        <p:spPr>
          <a:xfrm>
            <a:off x="6225899" y="3483906"/>
            <a:ext cx="653415" cy="712470"/>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latin typeface="Times New Roman" panose="02020603050405020304" pitchFamily="18" charset="0"/>
                <a:cs typeface="Times New Roman" panose="02020603050405020304" pitchFamily="18" charset="0"/>
              </a:rPr>
              <a:t>17</a:t>
            </a:r>
            <a:endParaRPr lang="en-US" altLang="zh-CN" sz="2800" dirty="0">
              <a:solidFill>
                <a:srgbClr val="7030A0"/>
              </a:solidFill>
              <a:latin typeface="Times New Roman" panose="02020603050405020304" pitchFamily="18" charset="0"/>
              <a:cs typeface="Times New Roman" panose="02020603050405020304" pitchFamily="18" charset="0"/>
            </a:endParaRPr>
          </a:p>
        </p:txBody>
      </p:sp>
      <p:sp>
        <p:nvSpPr>
          <p:cNvPr id="47" name="立方体 46"/>
          <p:cNvSpPr/>
          <p:nvPr/>
        </p:nvSpPr>
        <p:spPr>
          <a:xfrm>
            <a:off x="4014470" y="5003211"/>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cs typeface="Times New Roman" panose="02020603050405020304" pitchFamily="18" charset="0"/>
              </a:rPr>
              <a:t>20</a:t>
            </a:r>
            <a:endParaRPr lang="en-US" altLang="zh-CN"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1069419" y="1988338"/>
            <a:ext cx="10267365" cy="47143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just">
              <a:lnSpc>
                <a:spcPct val="125000"/>
              </a:lnSpc>
              <a:spcBef>
                <a:spcPts val="300"/>
              </a:spcBef>
              <a:spcAft>
                <a:spcPts val="300"/>
              </a:spcAft>
              <a:buFont typeface="Arial" panose="020B0604020202020204" pitchFamily="34" charset="0"/>
              <a:buNone/>
            </a:pPr>
            <a:r>
              <a:rPr lang="en-US" altLang="zh-CN" sz="2400" dirty="0">
                <a:latin typeface="+mn-ea"/>
                <a:cs typeface="Times New Roman" panose="02020603050405020304" pitchFamily="18" charset="0"/>
              </a:rPr>
              <a:t>2018</a:t>
            </a:r>
            <a:r>
              <a:rPr lang="zh-CN" altLang="en-US" sz="2400" dirty="0">
                <a:latin typeface="+mn-ea"/>
                <a:cs typeface="Times New Roman" panose="02020603050405020304" pitchFamily="18" charset="0"/>
              </a:rPr>
              <a:t>年以来，在“中兴事件”“华为事件”等的影响下，国人尤其觉得倘若核心技术受制于人，我国就无法在相应的科技领域中占据主导地位，而这必将会严重影响国家安全、社会稳定以及经济发展等。例如，采用</a:t>
            </a:r>
            <a:r>
              <a:rPr lang="en-US" altLang="zh-CN" sz="2400" dirty="0">
                <a:latin typeface="+mn-ea"/>
                <a:cs typeface="Times New Roman" panose="02020603050405020304" pitchFamily="18" charset="0"/>
              </a:rPr>
              <a:t>Windows 10</a:t>
            </a:r>
            <a:r>
              <a:rPr lang="zh-CN" altLang="en-US" sz="2400" dirty="0">
                <a:latin typeface="+mn-ea"/>
                <a:cs typeface="Times New Roman" panose="02020603050405020304" pitchFamily="18" charset="0"/>
              </a:rPr>
              <a:t>等知识产权非我国所有的操作系统，即有可能给我国信息安全带来潜在风险。</a:t>
            </a:r>
            <a:endParaRPr lang="zh-CN" altLang="en-US" sz="2400" dirty="0">
              <a:latin typeface="+mn-ea"/>
              <a:cs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rPr>
              <a:t>值得庆幸的是，近年来，在“核高基”（核心电子器件</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高端通用芯片</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基础软件产品）等国家科技重大专项的支持与引导下，国产操作系统领域研发人员不断增强自主创新能力，同时促进自主研发的操作系统充分参与市场竞争，使得国产操作系统市场占有率得以大幅提升。那么，国产操作系统究竟能否成功呢？</a:t>
            </a:r>
            <a:endParaRPr lang="zh-CN" altLang="en-US" sz="2400" dirty="0">
              <a:latin typeface="+mn-ea"/>
              <a:cs typeface="Times New Roman" panose="02020603050405020304" pitchFamily="18" charset="0"/>
            </a:endParaRPr>
          </a:p>
        </p:txBody>
      </p:sp>
      <p:sp>
        <p:nvSpPr>
          <p:cNvPr id="4" name="内容占位符 3"/>
          <p:cNvSpPr txBox="1"/>
          <p:nvPr/>
        </p:nvSpPr>
        <p:spPr>
          <a:xfrm>
            <a:off x="2124723" y="1143557"/>
            <a:ext cx="8386438" cy="826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多维度发力构建良好生态环境</a:t>
            </a:r>
            <a:endParaRPr lang="zh-CN" altLang="en-US" sz="2400" dirty="0">
              <a:solidFill>
                <a:srgbClr val="0000FF"/>
              </a:solidFill>
              <a:latin typeface="+mn-ea"/>
              <a:cs typeface="黑体" panose="02010609060101010101" charset="-122"/>
            </a:endParaRPr>
          </a:p>
          <a:p>
            <a:pPr marL="0" indent="0" algn="r">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大力推动国产操作系统落地生根</a:t>
            </a:r>
            <a:endParaRPr lang="zh-CN" altLang="en-US" sz="2400" dirty="0">
              <a:solidFill>
                <a:srgbClr val="0000FF"/>
              </a:solidFill>
              <a:latin typeface="+mn-ea"/>
              <a:cs typeface="黑体" panose="02010609060101010101"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998398" y="1997216"/>
            <a:ext cx="10489307" cy="44302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just">
              <a:lnSpc>
                <a:spcPct val="125000"/>
              </a:lnSpc>
              <a:spcBef>
                <a:spcPts val="300"/>
              </a:spcBef>
              <a:spcAft>
                <a:spcPts val="300"/>
              </a:spcAft>
              <a:buFont typeface="Arial" panose="020B0604020202020204" pitchFamily="34" charset="0"/>
              <a:buNone/>
            </a:pPr>
            <a:r>
              <a:rPr lang="zh-CN" altLang="en-US" sz="2200" dirty="0">
                <a:latin typeface="+mn-ea"/>
                <a:cs typeface="Times New Roman" panose="02020603050405020304" pitchFamily="18" charset="0"/>
              </a:rPr>
              <a:t>判定一个操作系统能否成功，主要得看它的生态建设情况。</a:t>
            </a:r>
            <a:endParaRPr lang="en-US" altLang="zh-CN" sz="2200" dirty="0">
              <a:latin typeface="+mn-ea"/>
              <a:cs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200" dirty="0">
                <a:latin typeface="+mn-ea"/>
                <a:cs typeface="Times New Roman" panose="02020603050405020304" pitchFamily="18" charset="0"/>
              </a:rPr>
              <a:t> 在上述国际形势下，中国信息技术（</a:t>
            </a:r>
            <a:r>
              <a:rPr lang="en-US" altLang="zh-CN" sz="2200" dirty="0">
                <a:latin typeface="+mn-ea"/>
                <a:cs typeface="Times New Roman" panose="02020603050405020304" pitchFamily="18" charset="0"/>
              </a:rPr>
              <a:t>information technology</a:t>
            </a:r>
            <a:r>
              <a:rPr lang="zh-CN" altLang="en-US" sz="2200" dirty="0">
                <a:latin typeface="+mn-ea"/>
                <a:cs typeface="Times New Roman" panose="02020603050405020304" pitchFamily="18" charset="0"/>
              </a:rPr>
              <a:t>，</a:t>
            </a:r>
            <a:r>
              <a:rPr lang="en-US" altLang="zh-CN" sz="2200" dirty="0">
                <a:latin typeface="+mn-ea"/>
                <a:cs typeface="Times New Roman" panose="02020603050405020304" pitchFamily="18" charset="0"/>
              </a:rPr>
              <a:t>IT</a:t>
            </a:r>
            <a:r>
              <a:rPr lang="zh-CN" altLang="en-US" sz="2200" dirty="0">
                <a:latin typeface="+mn-ea"/>
                <a:cs typeface="Times New Roman" panose="02020603050405020304" pitchFamily="18" charset="0"/>
              </a:rPr>
              <a:t>）产业从基础硬件到系统软件，再到行业应用软件，在不同层面均迎来了国产替代潮。如今，国产操作系统的应用领域正在逐步拓展，金财、金农、金企等“十二金”工程以及通信、能源、交通等一系列关键基础设施，都已开始进行部分产品国产化替代。</a:t>
            </a:r>
            <a:endParaRPr lang="zh-CN" altLang="en-US" sz="2200" dirty="0">
              <a:latin typeface="+mn-ea"/>
              <a:cs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200" dirty="0">
                <a:latin typeface="+mn-ea"/>
                <a:cs typeface="Times New Roman" panose="02020603050405020304" pitchFamily="18" charset="0"/>
              </a:rPr>
              <a:t>坚信，随着国家战略向国产操作系统倾斜，行业市场规模必将越来越大，成熟的开源软件（如</a:t>
            </a:r>
            <a:r>
              <a:rPr lang="en-US" altLang="zh-CN" sz="2200" dirty="0">
                <a:latin typeface="+mn-ea"/>
                <a:cs typeface="Times New Roman" panose="02020603050405020304" pitchFamily="18" charset="0"/>
              </a:rPr>
              <a:t>Linux</a:t>
            </a:r>
            <a:r>
              <a:rPr lang="zh-CN" altLang="en-US" sz="2200" dirty="0">
                <a:latin typeface="+mn-ea"/>
                <a:cs typeface="Times New Roman" panose="02020603050405020304" pitchFamily="18" charset="0"/>
              </a:rPr>
              <a:t>等）所构成的生态圈，也必将会孕育出蓬勃发展的国产操作系统生态环境。但是与此同时，我们也要清晰地认识到研发国产操作系统依旧任重而道远，我们必须促使更多企业投入国产操作系统研发中来，同时不断培养</a:t>
            </a:r>
            <a:r>
              <a:rPr lang="en-US" altLang="zh-CN" sz="2200" dirty="0">
                <a:latin typeface="+mn-ea"/>
                <a:cs typeface="Times New Roman" panose="02020603050405020304" pitchFamily="18" charset="0"/>
              </a:rPr>
              <a:t>IT</a:t>
            </a:r>
            <a:r>
              <a:rPr lang="zh-CN" altLang="en-US" sz="2200" dirty="0">
                <a:latin typeface="+mn-ea"/>
                <a:cs typeface="Times New Roman" panose="02020603050405020304" pitchFamily="18" charset="0"/>
              </a:rPr>
              <a:t>产业高级人才，以实现国产操作系统生态发展的良性循环。</a:t>
            </a:r>
            <a:endParaRPr lang="zh-CN" altLang="en-US" sz="2200" dirty="0">
              <a:latin typeface="+mn-ea"/>
              <a:cs typeface="Times New Roman" panose="02020603050405020304" pitchFamily="18" charset="0"/>
            </a:endParaRPr>
          </a:p>
        </p:txBody>
      </p:sp>
      <p:sp>
        <p:nvSpPr>
          <p:cNvPr id="4" name="内容占位符 3"/>
          <p:cNvSpPr txBox="1"/>
          <p:nvPr/>
        </p:nvSpPr>
        <p:spPr>
          <a:xfrm>
            <a:off x="2124723" y="1143557"/>
            <a:ext cx="8386438" cy="826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多维度发力构建良好生态环境</a:t>
            </a:r>
            <a:endParaRPr lang="zh-CN" altLang="en-US" sz="2400" dirty="0">
              <a:solidFill>
                <a:srgbClr val="0000FF"/>
              </a:solidFill>
              <a:latin typeface="+mn-ea"/>
              <a:cs typeface="黑体" panose="02010609060101010101" charset="-122"/>
            </a:endParaRPr>
          </a:p>
          <a:p>
            <a:pPr marL="0" indent="0" algn="r">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大力推动国产操作系统落地生根</a:t>
            </a:r>
            <a:endParaRPr lang="zh-CN" altLang="en-US" sz="2400" dirty="0">
              <a:solidFill>
                <a:srgbClr val="0000FF"/>
              </a:solidFill>
              <a:latin typeface="+mn-ea"/>
              <a:cs typeface="黑体" panose="02010609060101010101"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ISLIDE.DIAGRAM" val="272399"/>
</p:tagLst>
</file>

<file path=ppt/tags/tag10.xml><?xml version="1.0" encoding="utf-8"?>
<p:tagLst xmlns:p="http://schemas.openxmlformats.org/presentationml/2006/main">
  <p:tag name="KSO_WM_UNIT_TABLE_BEAUTIFY" val="smartTable{42d4fdd7-c1d9-4a94-9f04-03e109b50901}"/>
</p:tagLst>
</file>

<file path=ppt/tags/tag11.xml><?xml version="1.0" encoding="utf-8"?>
<p:tagLst xmlns:p="http://schemas.openxmlformats.org/presentationml/2006/main">
  <p:tag name="ISLIDE.DIAGRAM" val="185926"/>
</p:tagLst>
</file>

<file path=ppt/tags/tag12.xml><?xml version="1.0" encoding="utf-8"?>
<p:tagLst xmlns:p="http://schemas.openxmlformats.org/presentationml/2006/main">
  <p:tag name="ISLIDE.DIAGRAM" val="204110"/>
</p:tagLst>
</file>

<file path=ppt/tags/tag13.xml><?xml version="1.0" encoding="utf-8"?>
<p:tagLst xmlns:p="http://schemas.openxmlformats.org/presentationml/2006/main">
  <p:tag name="ISLIDE.DIAGRAM" val="224405"/>
</p:tagLst>
</file>

<file path=ppt/tags/tag14.xml><?xml version="1.0" encoding="utf-8"?>
<p:tagLst xmlns:p="http://schemas.openxmlformats.org/presentationml/2006/main">
  <p:tag name="ISLIDE.DIAGRAM" val="217641"/>
</p:tagLst>
</file>

<file path=ppt/tags/tag15.xml><?xml version="1.0" encoding="utf-8"?>
<p:tagLst xmlns:p="http://schemas.openxmlformats.org/presentationml/2006/main">
  <p:tag name="KSO_WM_UNIT_TABLE_BEAUTIFY" val="smartTable{58a06314-7e72-4d48-85a8-7253ed818c17}"/>
</p:tagLst>
</file>

<file path=ppt/tags/tag16.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6703</Words>
  <Application>WPS 演示</Application>
  <PresentationFormat>自定义</PresentationFormat>
  <Paragraphs>1016</Paragraphs>
  <Slides>63</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63</vt:i4>
      </vt:variant>
    </vt:vector>
  </HeadingPairs>
  <TitlesOfParts>
    <vt:vector size="82" baseType="lpstr">
      <vt:lpstr>Arial</vt:lpstr>
      <vt:lpstr>宋体</vt:lpstr>
      <vt:lpstr>Wingdings</vt:lpstr>
      <vt:lpstr>微软雅黑</vt:lpstr>
      <vt:lpstr>Times New Roman</vt:lpstr>
      <vt:lpstr>微软雅黑 (正文)</vt:lpstr>
      <vt:lpstr>黑体</vt:lpstr>
      <vt:lpstr>华文楷体</vt:lpstr>
      <vt:lpstr>Monotype Sorts</vt:lpstr>
      <vt:lpstr>Wingdings</vt:lpstr>
      <vt:lpstr>Wingdings 2</vt:lpstr>
      <vt:lpstr>Arial Unicode MS</vt:lpstr>
      <vt:lpstr>Calibri</vt:lpstr>
      <vt:lpstr>华文新魏</vt:lpstr>
      <vt:lpstr>Impact</vt:lpstr>
      <vt:lpstr>主题5</vt:lpstr>
      <vt:lpstr>TCLayout.ActiveDocument.1</vt:lpstr>
      <vt:lpstr>Equation.3</vt:lpstr>
      <vt:lpstr>Equation.3</vt:lpstr>
      <vt:lpstr>第8章 文件管理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韦平</cp:lastModifiedBy>
  <cp:revision>156</cp:revision>
  <cp:lastPrinted>2019-04-18T16:00:00Z</cp:lastPrinted>
  <dcterms:created xsi:type="dcterms:W3CDTF">2019-04-18T16:00:00Z</dcterms:created>
  <dcterms:modified xsi:type="dcterms:W3CDTF">2025-06-20T03:14:57Z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246305EB49FA446BB55A03E5D0666094</vt:lpwstr>
  </property>
  <property fmtid="{D5CDD505-2E9C-101B-9397-08002B2CF9AE}" pid="4" name="KSOProductBuildVer">
    <vt:lpwstr>2052-12.1.0.21171</vt:lpwstr>
  </property>
</Properties>
</file>