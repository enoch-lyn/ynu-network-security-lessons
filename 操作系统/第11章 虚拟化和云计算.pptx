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1"/>
  </p:notesMasterIdLst>
  <p:sldIdLst>
    <p:sldId id="421" r:id="rId3"/>
    <p:sldId id="312" r:id="rId4"/>
    <p:sldId id="315" r:id="rId5"/>
    <p:sldId id="353" r:id="rId6"/>
    <p:sldId id="366" r:id="rId7"/>
    <p:sldId id="367" r:id="rId8"/>
    <p:sldId id="368" r:id="rId9"/>
    <p:sldId id="369" r:id="rId10"/>
    <p:sldId id="370" r:id="rId11"/>
    <p:sldId id="371" r:id="rId12"/>
    <p:sldId id="372" r:id="rId13"/>
    <p:sldId id="373" r:id="rId14"/>
    <p:sldId id="394" r:id="rId15"/>
    <p:sldId id="374" r:id="rId16"/>
    <p:sldId id="377" r:id="rId17"/>
    <p:sldId id="375" r:id="rId18"/>
    <p:sldId id="376" r:id="rId19"/>
    <p:sldId id="302" r:id="rId20"/>
    <p:sldId id="379" r:id="rId21"/>
    <p:sldId id="380" r:id="rId22"/>
    <p:sldId id="381" r:id="rId23"/>
    <p:sldId id="382" r:id="rId24"/>
    <p:sldId id="383" r:id="rId25"/>
    <p:sldId id="385" r:id="rId26"/>
    <p:sldId id="384" r:id="rId27"/>
    <p:sldId id="386" r:id="rId28"/>
    <p:sldId id="387" r:id="rId29"/>
    <p:sldId id="388" r:id="rId30"/>
    <p:sldId id="389" r:id="rId31"/>
    <p:sldId id="390" r:id="rId32"/>
    <p:sldId id="391" r:id="rId33"/>
    <p:sldId id="393" r:id="rId34"/>
    <p:sldId id="392" r:id="rId35"/>
    <p:sldId id="351" r:id="rId36"/>
    <p:sldId id="309" r:id="rId37"/>
    <p:sldId id="362" r:id="rId38"/>
    <p:sldId id="364" r:id="rId39"/>
    <p:sldId id="365" r:id="rId40"/>
  </p:sldIdLst>
  <p:sldSz cx="12192000" cy="6858000"/>
  <p:notesSz cx="6858000" cy="9144000"/>
  <p:custDataLst>
    <p:tags r:id="rId4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C000"/>
    <a:srgbClr val="FFFF00"/>
    <a:srgbClr val="00005C"/>
    <a:srgbClr val="06D24C"/>
    <a:srgbClr val="035920"/>
    <a:srgbClr val="F6F5F3"/>
    <a:srgbClr val="04862F"/>
    <a:srgbClr val="07DB4E"/>
    <a:srgbClr val="0839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6182" autoAdjust="0"/>
  </p:normalViewPr>
  <p:slideViewPr>
    <p:cSldViewPr snapToGrid="0">
      <p:cViewPr varScale="1">
        <p:scale>
          <a:sx n="74" d="100"/>
          <a:sy n="74" d="100"/>
        </p:scale>
        <p:origin x="624" y="60"/>
      </p:cViewPr>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5" Type="http://schemas.openxmlformats.org/officeDocument/2006/relationships/tags" Target="tags/tag13.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notesMaster" Target="notesMasters/notesMaster1.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2.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4.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userDrawn="1">
  <p:cSld name="标题幻灯片">
    <p:bg>
      <p:bgPr>
        <a:solidFill>
          <a:srgbClr val="00002E"/>
        </a:solidFill>
        <a:effectLst/>
      </p:bgPr>
    </p:bg>
    <p:spTree>
      <p:nvGrpSpPr>
        <p:cNvPr id="1" name=""/>
        <p:cNvGrpSpPr/>
        <p:nvPr/>
      </p:nvGrpSpPr>
      <p:grpSpPr>
        <a:xfrm>
          <a:off x="0" y="0"/>
          <a:ext cx="0" cy="0"/>
          <a:chOff x="0" y="0"/>
          <a:chExt cx="0" cy="0"/>
        </a:xfrm>
      </p:grpSpPr>
      <p:sp>
        <p:nvSpPr>
          <p:cNvPr id="8"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23" name="任意多边形: 形状 22"/>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20" name="任意多边形: 形状 19"/>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2" name="文本占位符 13"/>
          <p:cNvSpPr>
            <a:spLocks noGrp="1"/>
          </p:cNvSpPr>
          <p:nvPr>
            <p:ph type="body" sz="quarter" idx="10" hasCustomPrompt="1"/>
          </p:nvPr>
        </p:nvSpPr>
        <p:spPr>
          <a:xfrm>
            <a:off x="669925" y="5306656"/>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3" name="文本占位符 13"/>
          <p:cNvSpPr>
            <a:spLocks noGrp="1"/>
          </p:cNvSpPr>
          <p:nvPr>
            <p:ph type="body" sz="quarter" idx="11" hasCustomPrompt="1"/>
          </p:nvPr>
        </p:nvSpPr>
        <p:spPr>
          <a:xfrm>
            <a:off x="669925" y="5602927"/>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1" name="副标题 2"/>
          <p:cNvSpPr>
            <a:spLocks noGrp="1"/>
          </p:cNvSpPr>
          <p:nvPr>
            <p:ph type="subTitle" idx="1"/>
          </p:nvPr>
        </p:nvSpPr>
        <p:spPr>
          <a:xfrm>
            <a:off x="669925" y="4456729"/>
            <a:ext cx="10850563" cy="558799"/>
          </a:xfrm>
        </p:spPr>
        <p:txBody>
          <a:bodyPr anchor="t" anchorCtr="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9802" name="标题 1"/>
          <p:cNvSpPr>
            <a:spLocks noGrp="1"/>
          </p:cNvSpPr>
          <p:nvPr>
            <p:ph type="ctrTitle"/>
          </p:nvPr>
        </p:nvSpPr>
        <p:spPr>
          <a:xfrm>
            <a:off x="669925" y="1028701"/>
            <a:ext cx="10850563" cy="3136900"/>
          </a:xfrm>
        </p:spPr>
        <p:txBody>
          <a:bodyPr anchor="b" anchorCtr="0">
            <a:normAutofit/>
          </a:bodyPr>
          <a:lstStyle>
            <a:lvl1pPr algn="l">
              <a:defRPr sz="4000">
                <a:solidFill>
                  <a:schemeClr val="bg1"/>
                </a:solidFill>
              </a:defRPr>
            </a:lvl1pPr>
          </a:lstStyle>
          <a:p>
            <a:r>
              <a:rPr lang="en-US" dirty="0"/>
              <a:t>Click to edit Master title style</a:t>
            </a:r>
            <a:endParaRPr lang="zh-CN" altLang="en-US" dirty="0"/>
          </a:p>
        </p:txBody>
      </p:sp>
      <p:pic>
        <p:nvPicPr>
          <p:cNvPr id="4" name="图片 3"/>
          <p:cNvPicPr>
            <a:picLocks noChangeAspect="1"/>
          </p:cNvPicPr>
          <p:nvPr userDrawn="1">
            <p:custDataLst>
              <p:tags r:id="rId3"/>
            </p:custDataLst>
          </p:nvPr>
        </p:nvPicPr>
        <p:blipFill>
          <a:blip r:embed="rId4"/>
          <a:stretch>
            <a:fillRect/>
          </a:stretch>
        </p:blipFill>
        <p:spPr>
          <a:xfrm>
            <a:off x="10061575" y="31115"/>
            <a:ext cx="2019300" cy="762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showMasterSp="0" userDrawn="1">
  <p:cSld name="节标题">
    <p:spTree>
      <p:nvGrpSpPr>
        <p:cNvPr id="1" name=""/>
        <p:cNvGrpSpPr/>
        <p:nvPr/>
      </p:nvGrpSpPr>
      <p:grpSpPr>
        <a:xfrm>
          <a:off x="0" y="0"/>
          <a:ext cx="0" cy="0"/>
          <a:chOff x="0" y="0"/>
          <a:chExt cx="0" cy="0"/>
        </a:xfrm>
      </p:grpSpPr>
      <p:sp>
        <p:nvSpPr>
          <p:cNvPr id="7" name="Freeform 22_1"/>
          <p:cNvSpPr>
            <a:spLocks noChangeArrowheads="1"/>
          </p:cNvSpPr>
          <p:nvPr userDrawn="1"/>
        </p:nvSpPr>
        <p:spPr bwMode="auto">
          <a:xfrm>
            <a:off x="190500" y="3192312"/>
            <a:ext cx="12192000" cy="3429000"/>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dpi="0" rotWithShape="1">
            <a:blip r:embed="rId2">
              <a:alphaModFix amt="60000"/>
            </a:blip>
            <a:srcRect/>
            <a:stretch>
              <a:fillRect t="-93255" b="-31457"/>
            </a:stretch>
          </a:blipFill>
          <a:ln>
            <a:noFill/>
          </a:ln>
        </p:spPr>
        <p:txBody>
          <a:bodyPr vert="horz" wrap="square" lIns="91440" tIns="45720" rIns="91440" bIns="45720" numCol="1" anchor="t" anchorCtr="0" compatLnSpc="1">
            <a:noAutofit/>
          </a:bodyPr>
          <a:lstStyle/>
          <a:p>
            <a:endParaRPr lang="zh-CN" altLang="en-US" dirty="0"/>
          </a:p>
        </p:txBody>
      </p:sp>
      <p:sp>
        <p:nvSpPr>
          <p:cNvPr id="20" name="标题 1"/>
          <p:cNvSpPr>
            <a:spLocks noGrp="1"/>
          </p:cNvSpPr>
          <p:nvPr>
            <p:ph type="title"/>
          </p:nvPr>
        </p:nvSpPr>
        <p:spPr>
          <a:xfrm>
            <a:off x="2488168" y="2033814"/>
            <a:ext cx="5419185" cy="895350"/>
          </a:xfrm>
        </p:spPr>
        <p:txBody>
          <a:bodyPr anchor="b">
            <a:normAutofit/>
          </a:bodyPr>
          <a:lstStyle>
            <a:lvl1pPr algn="l">
              <a:defRPr sz="2400" b="1">
                <a:solidFill>
                  <a:schemeClr val="accent3"/>
                </a:solidFill>
              </a:defRPr>
            </a:lvl1pPr>
          </a:lstStyle>
          <a:p>
            <a:r>
              <a:rPr lang="en-US" dirty="0"/>
              <a:t>Click to edit Master title style</a:t>
            </a:r>
            <a:endParaRPr lang="zh-CN" altLang="en-US" dirty="0"/>
          </a:p>
        </p:txBody>
      </p:sp>
      <p:sp>
        <p:nvSpPr>
          <p:cNvPr id="21" name="文本占位符 2"/>
          <p:cNvSpPr>
            <a:spLocks noGrp="1"/>
          </p:cNvSpPr>
          <p:nvPr>
            <p:ph type="body" idx="1"/>
          </p:nvPr>
        </p:nvSpPr>
        <p:spPr>
          <a:xfrm>
            <a:off x="2489284" y="2929164"/>
            <a:ext cx="5419185" cy="1015623"/>
          </a:xfrm>
        </p:spPr>
        <p:txBody>
          <a:bodyPr anchor="t">
            <a:normAutofit/>
          </a:bodyPr>
          <a:lstStyle>
            <a:lvl1pPr marL="0" indent="0" algn="l">
              <a:lnSpc>
                <a:spcPct val="100000"/>
              </a:lnSpc>
              <a:buNone/>
              <a:defRPr sz="11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endParaRPr lang="en-US" dirty="0"/>
          </a:p>
        </p:txBody>
      </p:sp>
      <p:pic>
        <p:nvPicPr>
          <p:cNvPr id="4" name="图片 3"/>
          <p:cNvPicPr>
            <a:picLocks noChangeAspect="1"/>
          </p:cNvPicPr>
          <p:nvPr userDrawn="1">
            <p:custDataLst>
              <p:tags r:id="rId3"/>
            </p:custDataLst>
          </p:nvPr>
        </p:nvPicPr>
        <p:blipFill>
          <a:blip r:embed="rId4"/>
          <a:stretch>
            <a:fillRect/>
          </a:stretch>
        </p:blipFill>
        <p:spPr>
          <a:xfrm>
            <a:off x="10061575" y="31115"/>
            <a:ext cx="2019300" cy="762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任意多边形: 形状 6"/>
          <p:cNvSpPr/>
          <p:nvPr userDrawn="1"/>
        </p:nvSpPr>
        <p:spPr>
          <a:xfrm>
            <a:off x="-9525" y="-9525"/>
            <a:ext cx="100996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userDrawn="1"/>
        </p:nvSpPr>
        <p:spPr>
          <a:xfrm>
            <a:off x="11520488" y="6486465"/>
            <a:ext cx="671512" cy="400110"/>
          </a:xfrm>
          <a:prstGeom prst="rect">
            <a:avLst/>
          </a:prstGeom>
          <a:noFill/>
        </p:spPr>
        <p:txBody>
          <a:bodyPr wrap="square" rtlCol="0">
            <a:spAutoFit/>
          </a:bodyPr>
          <a:lstStyle/>
          <a:p>
            <a:pPr algn="ctr"/>
            <a:fld id="{379552D3-A968-4710-B841-1063F5B640DF}" type="slidenum">
              <a:rPr lang="zh-CN" altLang="en-US" sz="2000" b="1" smtClean="0">
                <a:solidFill>
                  <a:schemeClr val="accent2">
                    <a:lumMod val="50000"/>
                  </a:schemeClr>
                </a:solidFill>
              </a:rPr>
            </a:fld>
            <a:endParaRPr lang="zh-CN" altLang="en-US"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34410" y="24187"/>
            <a:ext cx="527050" cy="5270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E6F26766-F62E-419D-BB7F-91C9CEBCA24E}" type="datetime1">
              <a:rPr lang="zh-CN" altLang="en-US" smtClean="0"/>
            </a:fld>
            <a:endParaRPr lang="zh-CN" altLang="en-US"/>
          </a:p>
        </p:txBody>
      </p:sp>
      <p:sp>
        <p:nvSpPr>
          <p:cNvPr id="4" name="Footer Placeholder 3"/>
          <p:cNvSpPr>
            <a:spLocks noGrp="1"/>
          </p:cNvSpPr>
          <p:nvPr>
            <p:ph type="ftr" sz="quarter" idx="11"/>
          </p:nvPr>
        </p:nvSpPr>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4" name="图片 3"/>
          <p:cNvPicPr>
            <a:picLocks noChangeAspect="1"/>
          </p:cNvPicPr>
          <p:nvPr userDrawn="1">
            <p:custDataLst>
              <p:tags r:id="rId2"/>
            </p:custDataLst>
          </p:nvPr>
        </p:nvPicPr>
        <p:blipFill>
          <a:blip r:embed="rId3"/>
          <a:stretch>
            <a:fillRect/>
          </a:stretch>
        </p:blipFill>
        <p:spPr>
          <a:xfrm>
            <a:off x="10061575" y="31115"/>
            <a:ext cx="2019300" cy="762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solidFill>
          <a:schemeClr val="accent3"/>
        </a:solidFill>
        <a:effectLst/>
      </p:bgPr>
    </p:bg>
    <p:spTree>
      <p:nvGrpSpPr>
        <p:cNvPr id="1" name=""/>
        <p:cNvGrpSpPr/>
        <p:nvPr/>
      </p:nvGrpSpPr>
      <p:grpSpPr>
        <a:xfrm>
          <a:off x="0" y="0"/>
          <a:ext cx="0" cy="0"/>
          <a:chOff x="0" y="0"/>
          <a:chExt cx="0" cy="0"/>
        </a:xfrm>
      </p:grpSpPr>
      <p:sp>
        <p:nvSpPr>
          <p:cNvPr id="5"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10" name="任意多边形: 形状 9"/>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13" name="标题 1"/>
          <p:cNvSpPr>
            <a:spLocks noGrp="1"/>
          </p:cNvSpPr>
          <p:nvPr>
            <p:ph type="ctrTitle" hasCustomPrompt="1"/>
          </p:nvPr>
        </p:nvSpPr>
        <p:spPr>
          <a:xfrm>
            <a:off x="4034971" y="2163199"/>
            <a:ext cx="6536871" cy="2390427"/>
          </a:xfrm>
        </p:spPr>
        <p:txBody>
          <a:bodyPr anchor="b">
            <a:normAutofit/>
          </a:bodyPr>
          <a:lstStyle>
            <a:lvl1pPr marL="0" indent="0" algn="ctr">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p:ph type="body" sz="quarter" idx="18" hasCustomPrompt="1"/>
          </p:nvPr>
        </p:nvSpPr>
        <p:spPr>
          <a:xfrm>
            <a:off x="4034971" y="5238353"/>
            <a:ext cx="6536871" cy="310871"/>
          </a:xfrm>
        </p:spPr>
        <p:txBody>
          <a:bodyPr vert="horz" lIns="91440" tIns="45720" rIns="91440" bIns="45720" rtlCol="0">
            <a:normAutofit/>
          </a:bodyPr>
          <a:lstStyle>
            <a:lvl1pPr marL="0" indent="0" algn="ctr">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endParaRPr lang="en-US" altLang="zh-CN" dirty="0"/>
          </a:p>
        </p:txBody>
      </p:sp>
      <p:sp>
        <p:nvSpPr>
          <p:cNvPr id="6" name="文本占位符 13"/>
          <p:cNvSpPr>
            <a:spLocks noGrp="1"/>
          </p:cNvSpPr>
          <p:nvPr>
            <p:ph type="body" sz="quarter" idx="10" hasCustomPrompt="1"/>
          </p:nvPr>
        </p:nvSpPr>
        <p:spPr>
          <a:xfrm>
            <a:off x="4034973" y="4942082"/>
            <a:ext cx="6536871" cy="296271"/>
          </a:xfrm>
        </p:spPr>
        <p:txBody>
          <a:bodyPr vert="horz" anchor="ctr">
            <a:noAutofit/>
          </a:bodyPr>
          <a:lstStyle>
            <a:lvl1pPr marL="0" indent="0" algn="ct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1" name="任意多边形: 形状 10"/>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pic>
        <p:nvPicPr>
          <p:cNvPr id="4" name="图片 3"/>
          <p:cNvPicPr>
            <a:picLocks noChangeAspect="1"/>
          </p:cNvPicPr>
          <p:nvPr userDrawn="1">
            <p:custDataLst>
              <p:tags r:id="rId3"/>
            </p:custDataLst>
          </p:nvPr>
        </p:nvPicPr>
        <p:blipFill>
          <a:blip r:embed="rId4"/>
          <a:stretch>
            <a:fillRect/>
          </a:stretch>
        </p:blipFill>
        <p:spPr>
          <a:xfrm>
            <a:off x="10061575" y="31115"/>
            <a:ext cx="2019300" cy="762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2.png"/><Relationship Id="rId7" Type="http://schemas.openxmlformats.org/officeDocument/2006/relationships/tags" Target="../tags/tag5.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zh-CN" altLang="en-US" dirty="0"/>
          </a:p>
        </p:txBody>
      </p: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7FE44A0-2E53-457E-9AC0-11D6EE9FA3B5}" type="datetime1">
              <a:rPr lang="zh-CN" altLang="en-US" smtClean="0"/>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请在插入菜单</a:t>
            </a:r>
            <a:r>
              <a:rPr lang="en-US" altLang="zh-CN"/>
              <a:t>—</a:t>
            </a:r>
            <a:r>
              <a:rPr lang="zh-CN" altLang="en-US"/>
              <a:t>页眉和页脚中修改此文本</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fld>
            <a:endParaRPr lang="zh-CN" altLang="en-US"/>
          </a:p>
        </p:txBody>
      </p:sp>
      <p:pic>
        <p:nvPicPr>
          <p:cNvPr id="4" name="图片 3"/>
          <p:cNvPicPr>
            <a:picLocks noChangeAspect="1"/>
          </p:cNvPicPr>
          <p:nvPr userDrawn="1">
            <p:custDataLst>
              <p:tags r:id="rId7"/>
            </p:custDataLst>
          </p:nvPr>
        </p:nvPicPr>
        <p:blipFill>
          <a:blip r:embed="rId8"/>
          <a:stretch>
            <a:fillRect/>
          </a:stretch>
        </p:blipFill>
        <p:spPr>
          <a:xfrm>
            <a:off x="10061575" y="31115"/>
            <a:ext cx="2019300" cy="762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tags" Target="../tags/tag7.xml"/><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tags" Target="../tags/tag6.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tags" Target="../tags/tag8.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png"/><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0.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png"/><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6.png"/><Relationship Id="rId2" Type="http://schemas.openxmlformats.org/officeDocument/2006/relationships/tags" Target="../tags/tag12.xml"/><Relationship Id="rId1"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6" name="think-cell Slide" r:id="rId2" imgW="9525" imgH="9525" progId="TCLayout.ActiveDocument.1">
                  <p:embed/>
                </p:oleObj>
              </mc:Choice>
              <mc:Fallback>
                <p:oleObj name="think-cell Slide" r:id="rId2" imgW="9525" imgH="9525" progId="TCLayout.ActiveDocument.1">
                  <p:embed/>
                  <p:pic>
                    <p:nvPicPr>
                      <p:cNvPr id="0" name="图片 1025"/>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2" name="矩形 1" hidden="1"/>
          <p:cNvSpPr/>
          <p:nvPr>
            <p:custDataLst>
              <p:tags r:id="rId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cs typeface="+mn-ea"/>
              <a:sym typeface="+mn-lt"/>
            </a:endParaRPr>
          </a:p>
        </p:txBody>
      </p:sp>
      <p:sp>
        <p:nvSpPr>
          <p:cNvPr id="4" name="标题 3"/>
          <p:cNvSpPr>
            <a:spLocks noGrp="1"/>
          </p:cNvSpPr>
          <p:nvPr>
            <p:ph type="ctrTitle"/>
          </p:nvPr>
        </p:nvSpPr>
        <p:spPr>
          <a:xfrm>
            <a:off x="669925" y="1319455"/>
            <a:ext cx="10850563" cy="3136900"/>
          </a:xfrm>
        </p:spPr>
        <p:txBody>
          <a:bodyPr>
            <a:normAutofit/>
          </a:bodyPr>
          <a:lstStyle/>
          <a:p>
            <a:r>
              <a:rPr lang="zh-CN" altLang="en-US" sz="4800" dirty="0">
                <a:latin typeface="+mn-lt"/>
                <a:ea typeface="+mn-ea"/>
                <a:cs typeface="+mn-ea"/>
                <a:sym typeface="+mn-lt"/>
              </a:rPr>
              <a:t>第</a:t>
            </a:r>
            <a:r>
              <a:rPr lang="en-US" altLang="zh-CN" sz="4800" dirty="0">
                <a:latin typeface="+mn-lt"/>
                <a:ea typeface="+mn-ea"/>
                <a:cs typeface="+mn-ea"/>
                <a:sym typeface="+mn-lt"/>
              </a:rPr>
              <a:t>11</a:t>
            </a:r>
            <a:r>
              <a:rPr lang="zh-CN" altLang="en-US" sz="4800" dirty="0">
                <a:latin typeface="+mn-lt"/>
                <a:ea typeface="+mn-ea"/>
                <a:cs typeface="+mn-ea"/>
                <a:sym typeface="+mn-lt"/>
              </a:rPr>
              <a:t>章</a:t>
            </a:r>
            <a:br>
              <a:rPr lang="en-US" altLang="zh-CN" sz="4800" dirty="0">
                <a:latin typeface="+mn-lt"/>
                <a:ea typeface="+mn-ea"/>
                <a:cs typeface="+mn-ea"/>
                <a:sym typeface="+mn-lt"/>
              </a:rPr>
            </a:br>
            <a:r>
              <a:rPr lang="zh-CN" altLang="en-US" sz="4800" dirty="0">
                <a:latin typeface="+mn-lt"/>
                <a:ea typeface="+mn-ea"/>
                <a:cs typeface="+mn-ea"/>
                <a:sym typeface="+mn-lt"/>
              </a:rPr>
              <a:t>虚拟化和云计算</a:t>
            </a:r>
            <a:endParaRPr lang="zh-CN" altLang="en-US" sz="2000" b="0" dirty="0">
              <a:latin typeface="+mn-lt"/>
              <a:ea typeface="+mn-ea"/>
              <a:cs typeface="+mn-ea"/>
              <a:sym typeface="+mn-lt"/>
            </a:endParaRPr>
          </a:p>
        </p:txBody>
      </p:sp>
      <p:sp>
        <p:nvSpPr>
          <p:cNvPr id="29" name="任意多边形: 形状 28"/>
          <p:cNvSpPr/>
          <p:nvPr/>
        </p:nvSpPr>
        <p:spPr>
          <a:xfrm>
            <a:off x="10968292" y="649047"/>
            <a:ext cx="552196" cy="3896208"/>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5" name="图片 24"/>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611186" y="488949"/>
            <a:ext cx="631826" cy="631826"/>
          </a:xfrm>
          <a:prstGeom prst="rect">
            <a:avLst/>
          </a:prstGeom>
        </p:spPr>
      </p:pic>
      <p:sp>
        <p:nvSpPr>
          <p:cNvPr id="17" name="矩形: 圆角 21"/>
          <p:cNvSpPr/>
          <p:nvPr/>
        </p:nvSpPr>
        <p:spPr>
          <a:xfrm>
            <a:off x="800099" y="4579447"/>
            <a:ext cx="4235540" cy="459272"/>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cs typeface="+mn-ea"/>
                <a:sym typeface="+mn-lt"/>
              </a:rPr>
              <a:t>主讲教师：韦平</a:t>
            </a:r>
            <a:endParaRPr lang="en-US" altLang="zh-CN" b="1" dirty="0">
              <a:solidFill>
                <a:schemeClr val="tx1"/>
              </a:solidFill>
              <a:cs typeface="+mn-ea"/>
              <a:sym typeface="+mn-lt"/>
            </a:endParaRPr>
          </a:p>
        </p:txBody>
      </p:sp>
      <p:sp>
        <p:nvSpPr>
          <p:cNvPr id="6" name="矩形 5"/>
          <p:cNvSpPr/>
          <p:nvPr/>
        </p:nvSpPr>
        <p:spPr>
          <a:xfrm>
            <a:off x="933450" y="5034280"/>
            <a:ext cx="6122035" cy="1553210"/>
          </a:xfrm>
          <a:prstGeom prst="rect">
            <a:avLst/>
          </a:prstGeom>
        </p:spPr>
        <p:txBody>
          <a:bodyPr wrap="square">
            <a:spAutoFit/>
          </a:bodyPr>
          <a:p>
            <a:pPr algn="l">
              <a:lnSpc>
                <a:spcPct val="132000"/>
              </a:lnSpc>
            </a:pPr>
            <a:r>
              <a:rPr lang="zh-CN" altLang="en-US" dirty="0">
                <a:solidFill>
                  <a:srgbClr val="0000FF"/>
                </a:solidFill>
                <a:latin typeface="Times New Roman" panose="02020603050405020304" charset="0"/>
                <a:ea typeface="微软雅黑" panose="020B0503020204020204" charset="-122"/>
                <a:cs typeface="+mn-ea"/>
                <a:sym typeface="Times New Roman" panose="02020603050405020304" charset="0"/>
              </a:rPr>
              <a:t>学院：软件学院</a:t>
            </a:r>
            <a:endParaRPr lang="en-US" altLang="zh-CN" dirty="0">
              <a:solidFill>
                <a:srgbClr val="0000FF"/>
              </a:solidFill>
              <a:latin typeface="Times New Roman" panose="02020603050405020304" charset="0"/>
              <a:ea typeface="微软雅黑" panose="020B0503020204020204" charset="-122"/>
              <a:cs typeface="+mn-ea"/>
              <a:sym typeface="Times New Roman" panose="02020603050405020304" charset="0"/>
            </a:endParaRPr>
          </a:p>
          <a:p>
            <a:pPr algn="l">
              <a:lnSpc>
                <a:spcPct val="132000"/>
              </a:lnSpc>
            </a:pPr>
            <a:r>
              <a:rPr lang="zh-CN" altLang="en-US" dirty="0">
                <a:solidFill>
                  <a:srgbClr val="0000FF"/>
                </a:solidFill>
                <a:latin typeface="Times New Roman" panose="02020603050405020304" charset="0"/>
                <a:ea typeface="微软雅黑" panose="020B0503020204020204" charset="-122"/>
                <a:cs typeface="+mn-ea"/>
                <a:sym typeface="Times New Roman" panose="02020603050405020304" charset="0"/>
              </a:rPr>
              <a:t>邮箱：</a:t>
            </a:r>
            <a:r>
              <a:rPr lang="en-US" altLang="zh-CN" dirty="0">
                <a:solidFill>
                  <a:srgbClr val="0000FF"/>
                </a:solidFill>
                <a:latin typeface="Times New Roman" panose="02020603050405020304" charset="0"/>
                <a:ea typeface="微软雅黑" panose="020B0503020204020204" charset="-122"/>
                <a:cs typeface="+mn-ea"/>
                <a:sym typeface="Times New Roman" panose="02020603050405020304" charset="0"/>
              </a:rPr>
              <a:t>weip@ynu.edu.cn</a:t>
            </a:r>
            <a:endParaRPr lang="en-US" altLang="zh-CN" dirty="0">
              <a:solidFill>
                <a:srgbClr val="0000FF"/>
              </a:solidFill>
              <a:latin typeface="Times New Roman" panose="02020603050405020304" charset="0"/>
              <a:ea typeface="微软雅黑" panose="020B0503020204020204" charset="-122"/>
              <a:cs typeface="+mn-ea"/>
              <a:sym typeface="Times New Roman" panose="02020603050405020304" charset="0"/>
            </a:endParaRPr>
          </a:p>
          <a:p>
            <a:pPr algn="l">
              <a:lnSpc>
                <a:spcPct val="132000"/>
              </a:lnSpc>
            </a:pPr>
            <a:r>
              <a:rPr lang="zh-CN" altLang="en-US" dirty="0">
                <a:solidFill>
                  <a:srgbClr val="0000FF"/>
                </a:solidFill>
                <a:latin typeface="Times New Roman" panose="02020603050405020304" charset="0"/>
                <a:ea typeface="微软雅黑" panose="020B0503020204020204" charset="-122"/>
                <a:cs typeface="+mn-ea"/>
                <a:sym typeface="Times New Roman" panose="02020603050405020304" charset="0"/>
              </a:rPr>
              <a:t>办公地点：软件学院</a:t>
            </a:r>
            <a:r>
              <a:rPr lang="en-US" altLang="zh-CN" dirty="0">
                <a:solidFill>
                  <a:srgbClr val="0000FF"/>
                </a:solidFill>
                <a:latin typeface="Times New Roman" panose="02020603050405020304" charset="0"/>
                <a:ea typeface="微软雅黑" panose="020B0503020204020204" charset="-122"/>
                <a:cs typeface="+mn-ea"/>
                <a:sym typeface="Times New Roman" panose="02020603050405020304" charset="0"/>
              </a:rPr>
              <a:t>1323</a:t>
            </a:r>
            <a:endParaRPr lang="en-US" altLang="zh-CN" dirty="0">
              <a:solidFill>
                <a:srgbClr val="0000FF"/>
              </a:solidFill>
              <a:latin typeface="Times New Roman" panose="02020603050405020304" charset="0"/>
              <a:ea typeface="微软雅黑" panose="020B0503020204020204" charset="-122"/>
              <a:cs typeface="+mn-ea"/>
              <a:sym typeface="Times New Roman" panose="02020603050405020304" charset="0"/>
            </a:endParaRPr>
          </a:p>
          <a:p>
            <a:pPr algn="l">
              <a:lnSpc>
                <a:spcPct val="132000"/>
              </a:lnSpc>
            </a:pPr>
            <a:r>
              <a:rPr lang="zh-CN" altLang="en-US" dirty="0">
                <a:solidFill>
                  <a:srgbClr val="0000FF"/>
                </a:solidFill>
                <a:latin typeface="Times New Roman" panose="02020603050405020304" charset="0"/>
                <a:ea typeface="微软雅黑" panose="020B0503020204020204" charset="-122"/>
                <a:cs typeface="+mn-ea"/>
                <a:sym typeface="Times New Roman" panose="02020603050405020304" charset="0"/>
              </a:rPr>
              <a:t>办公电话：</a:t>
            </a:r>
            <a:r>
              <a:rPr lang="en-US" altLang="zh-CN" dirty="0">
                <a:solidFill>
                  <a:srgbClr val="0000FF"/>
                </a:solidFill>
                <a:latin typeface="Times New Roman" panose="02020603050405020304" charset="0"/>
                <a:ea typeface="微软雅黑" panose="020B0503020204020204" charset="-122"/>
                <a:cs typeface="+mn-ea"/>
                <a:sym typeface="Times New Roman" panose="02020603050405020304" charset="0"/>
              </a:rPr>
              <a:t>15121079110</a:t>
            </a:r>
            <a:endParaRPr lang="en-US" altLang="zh-CN" dirty="0">
              <a:solidFill>
                <a:srgbClr val="0000FF"/>
              </a:solidFill>
              <a:latin typeface="Times New Roman" panose="02020603050405020304" charset="0"/>
              <a:ea typeface="微软雅黑" panose="020B0503020204020204" charset="-122"/>
              <a:cs typeface="+mn-ea"/>
              <a:sym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2739853" cy="523220"/>
          </a:xfrm>
          <a:prstGeom prst="rect">
            <a:avLst/>
          </a:prstGeom>
        </p:spPr>
        <p:txBody>
          <a:bodyPr wrap="none">
            <a:spAutoFit/>
          </a:bodyPr>
          <a:lstStyle/>
          <a:p>
            <a:r>
              <a:rPr lang="zh-CN" altLang="en-US" sz="2800" b="1" dirty="0">
                <a:solidFill>
                  <a:schemeClr val="bg1"/>
                </a:solidFill>
                <a:cs typeface="+mn-ea"/>
                <a:sym typeface="+mn-lt"/>
              </a:rPr>
              <a:t>第</a:t>
            </a:r>
            <a:r>
              <a:rPr lang="en-US" altLang="zh-CN" sz="2800" b="1" dirty="0">
                <a:solidFill>
                  <a:schemeClr val="bg1"/>
                </a:solidFill>
                <a:cs typeface="+mn-ea"/>
                <a:sym typeface="+mn-lt"/>
              </a:rPr>
              <a:t>11</a:t>
            </a:r>
            <a:r>
              <a:rPr lang="zh-CN" altLang="en-US" sz="2800" b="1" dirty="0">
                <a:solidFill>
                  <a:schemeClr val="bg1"/>
                </a:solidFill>
                <a:cs typeface="+mn-ea"/>
                <a:sym typeface="+mn-lt"/>
              </a:rPr>
              <a:t>章知识导图</a:t>
            </a:r>
            <a:endParaRPr lang="zh-CN" altLang="en-US" sz="2800" b="1" dirty="0">
              <a:solidFill>
                <a:schemeClr val="bg1"/>
              </a:solidFill>
              <a:cs typeface="+mn-ea"/>
              <a:sym typeface="+mn-lt"/>
            </a:endParaRPr>
          </a:p>
        </p:txBody>
      </p:sp>
      <p:graphicFrame>
        <p:nvGraphicFramePr>
          <p:cNvPr id="30" name="表格 29"/>
          <p:cNvGraphicFramePr/>
          <p:nvPr>
            <p:custDataLst>
              <p:tags r:id="rId1"/>
            </p:custDataLst>
          </p:nvPr>
        </p:nvGraphicFramePr>
        <p:xfrm>
          <a:off x="462431" y="1634204"/>
          <a:ext cx="4173963" cy="4789452"/>
        </p:xfrm>
        <a:graphic>
          <a:graphicData uri="http://schemas.openxmlformats.org/drawingml/2006/table">
            <a:tbl>
              <a:tblPr firstRow="1" bandRow="1">
                <a:tableStyleId>{72833802-FEF1-4C79-8D5D-14CF1EAF98D9}</a:tableStyleId>
              </a:tblPr>
              <a:tblGrid>
                <a:gridCol w="1221039"/>
                <a:gridCol w="2952924"/>
              </a:tblGrid>
              <a:tr h="399121">
                <a:tc>
                  <a:txBody>
                    <a:bodyPr/>
                    <a:lstStyle/>
                    <a:p>
                      <a:pPr marL="71755" indent="0" algn="ctr">
                        <a:lnSpc>
                          <a:spcPct val="100000"/>
                        </a:lnSpc>
                        <a:spcBef>
                          <a:spcPts val="300"/>
                        </a:spcBef>
                        <a:spcAft>
                          <a:spcPts val="300"/>
                        </a:spcAft>
                        <a:buNone/>
                      </a:pPr>
                      <a:r>
                        <a:rPr lang="en-US" sz="2000" b="0" dirty="0">
                          <a:solidFill>
                            <a:schemeClr val="tx1"/>
                          </a:solidFill>
                          <a:latin typeface="+mn-lt"/>
                          <a:ea typeface="+mn-ea"/>
                          <a:cs typeface="+mn-ea"/>
                          <a:sym typeface="+mn-lt"/>
                        </a:rPr>
                        <a:t>第1章</a:t>
                      </a:r>
                      <a:endParaRPr lang="en-US" altLang="en-US" sz="2000" b="0" dirty="0">
                        <a:solidFill>
                          <a:schemeClr val="tx1"/>
                        </a:solidFill>
                        <a:latin typeface="+mn-lt"/>
                        <a:ea typeface="+mn-ea"/>
                        <a:cs typeface="+mn-ea"/>
                        <a:sym typeface="+mn-lt"/>
                      </a:endParaRPr>
                    </a:p>
                  </a:txBody>
                  <a:tcPr marL="98738" marR="98738" marT="0" marB="0" anchor="ctr">
                    <a:noFill/>
                  </a:tcPr>
                </a:tc>
                <a:tc>
                  <a:txBody>
                    <a:bodyPr/>
                    <a:lstStyle/>
                    <a:p>
                      <a:pPr marL="71755" indent="0" algn="l">
                        <a:lnSpc>
                          <a:spcPct val="100000"/>
                        </a:lnSpc>
                        <a:spcBef>
                          <a:spcPts val="300"/>
                        </a:spcBef>
                        <a:spcAft>
                          <a:spcPts val="300"/>
                        </a:spcAft>
                        <a:buNone/>
                      </a:pPr>
                      <a:r>
                        <a:rPr lang="en-US" sz="2000" b="0" dirty="0" err="1">
                          <a:solidFill>
                            <a:schemeClr val="tx1"/>
                          </a:solidFill>
                          <a:latin typeface="+mn-lt"/>
                          <a:ea typeface="+mn-ea"/>
                          <a:cs typeface="+mn-ea"/>
                          <a:sym typeface="+mn-lt"/>
                        </a:rPr>
                        <a:t>操作系统引论</a:t>
                      </a:r>
                      <a:endParaRPr lang="en-US" altLang="en-US" sz="2000" b="0" dirty="0">
                        <a:solidFill>
                          <a:schemeClr val="tx1"/>
                        </a:solidFill>
                        <a:latin typeface="+mn-lt"/>
                        <a:ea typeface="+mn-ea"/>
                        <a:cs typeface="+mn-ea"/>
                        <a:sym typeface="+mn-lt"/>
                      </a:endParaRPr>
                    </a:p>
                  </a:txBody>
                  <a:tcPr marL="98738" marR="98738" marT="0" marB="0" anchor="ctr">
                    <a:noFill/>
                  </a:tcP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第2章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进程的描述与控制</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mn-lt"/>
                          <a:ea typeface="+mn-ea"/>
                          <a:cs typeface="+mn-ea"/>
                          <a:sym typeface="+mn-lt"/>
                        </a:rPr>
                        <a:t>第3章</a:t>
                      </a:r>
                      <a:endParaRPr lang="en-US" altLang="en-US" sz="2000" b="0" dirty="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处理机调度与死锁</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mn-lt"/>
                          <a:ea typeface="+mn-ea"/>
                          <a:cs typeface="+mn-ea"/>
                          <a:sym typeface="+mn-lt"/>
                        </a:rPr>
                        <a:t>第4章</a:t>
                      </a:r>
                      <a:endParaRPr lang="en-US" altLang="en-US" sz="2000" b="0" dirty="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进程同步</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第5章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存储器管理</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mn-lt"/>
                          <a:ea typeface="+mn-ea"/>
                          <a:cs typeface="+mn-ea"/>
                          <a:sym typeface="+mn-lt"/>
                        </a:rPr>
                        <a:t>第6章</a:t>
                      </a:r>
                      <a:endParaRPr lang="en-US" altLang="en-US" sz="2000" b="0" dirty="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虚拟存储器</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第7章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输入</a:t>
                      </a:r>
                      <a:r>
                        <a:rPr lang="en-US" sz="2000" dirty="0">
                          <a:latin typeface="+mn-lt"/>
                          <a:ea typeface="+mn-ea"/>
                          <a:cs typeface="+mn-ea"/>
                          <a:sym typeface="+mn-lt"/>
                        </a:rPr>
                        <a:t>/</a:t>
                      </a:r>
                      <a:r>
                        <a:rPr lang="en-US" sz="2000" dirty="0" err="1">
                          <a:latin typeface="+mn-lt"/>
                          <a:ea typeface="+mn-ea"/>
                          <a:cs typeface="+mn-ea"/>
                          <a:sym typeface="+mn-lt"/>
                        </a:rPr>
                        <a:t>输出系统</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第8章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文件管理</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第9章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磁盘存储器管理</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l" defTabSz="914400" rtl="0" eaLnBrk="1" latinLnBrk="0" hangingPunct="1">
                        <a:lnSpc>
                          <a:spcPct val="100000"/>
                        </a:lnSpc>
                        <a:spcBef>
                          <a:spcPts val="300"/>
                        </a:spcBef>
                        <a:spcAft>
                          <a:spcPts val="300"/>
                        </a:spcAft>
                        <a:buNone/>
                      </a:pPr>
                      <a:r>
                        <a:rPr lang="en-US" sz="2000" kern="1200" dirty="0">
                          <a:solidFill>
                            <a:schemeClr val="tx1"/>
                          </a:solidFill>
                          <a:latin typeface="+mn-lt"/>
                          <a:ea typeface="+mn-ea"/>
                          <a:cs typeface="+mn-ea"/>
                          <a:sym typeface="+mn-lt"/>
                        </a:rPr>
                        <a:t>第10章</a:t>
                      </a:r>
                      <a:endParaRPr lang="en-US" altLang="en-US" sz="2000" kern="1200" dirty="0">
                        <a:solidFill>
                          <a:schemeClr val="tx1"/>
                        </a:solidFill>
                        <a:latin typeface="+mn-lt"/>
                        <a:ea typeface="+mn-ea"/>
                        <a:cs typeface="+mn-ea"/>
                        <a:sym typeface="+mn-lt"/>
                      </a:endParaRPr>
                    </a:p>
                  </a:txBody>
                  <a:tcPr marL="98738" marR="98738" marT="0" marB="0" anchor="ctr">
                    <a:noFill/>
                  </a:tcPr>
                </a:tc>
                <a:tc>
                  <a:txBody>
                    <a:bodyPr/>
                    <a:lstStyle/>
                    <a:p>
                      <a:pPr marL="71755" indent="0" algn="l" defTabSz="914400" rtl="0" eaLnBrk="1" latinLnBrk="0" hangingPunct="1">
                        <a:lnSpc>
                          <a:spcPct val="100000"/>
                        </a:lnSpc>
                        <a:spcBef>
                          <a:spcPts val="300"/>
                        </a:spcBef>
                        <a:spcAft>
                          <a:spcPts val="300"/>
                        </a:spcAft>
                        <a:buNone/>
                      </a:pPr>
                      <a:r>
                        <a:rPr lang="en-US" sz="2000" kern="1200" dirty="0" err="1">
                          <a:solidFill>
                            <a:schemeClr val="tx1"/>
                          </a:solidFill>
                          <a:latin typeface="+mn-lt"/>
                          <a:ea typeface="+mn-ea"/>
                          <a:cs typeface="+mn-ea"/>
                          <a:sym typeface="+mn-lt"/>
                        </a:rPr>
                        <a:t>多处理机操作系统</a:t>
                      </a:r>
                      <a:endParaRPr lang="en-US" altLang="en-US" sz="2000" kern="1200" dirty="0">
                        <a:solidFill>
                          <a:schemeClr val="tx1"/>
                        </a:solidFill>
                        <a:latin typeface="+mn-lt"/>
                        <a:ea typeface="+mn-ea"/>
                        <a:cs typeface="+mn-ea"/>
                        <a:sym typeface="+mn-lt"/>
                      </a:endParaRPr>
                    </a:p>
                  </a:txBody>
                  <a:tcPr marL="98738" marR="98738" marT="0" marB="0" anchor="ctr">
                    <a:noFill/>
                  </a:tcPr>
                </a:tc>
              </a:tr>
              <a:tr h="399121">
                <a:tc>
                  <a:txBody>
                    <a:bodyPr/>
                    <a:lstStyle/>
                    <a:p>
                      <a:pPr marL="71755" indent="0" algn="l" defTabSz="914400" rtl="0" eaLnBrk="1" latinLnBrk="0" hangingPunct="1">
                        <a:lnSpc>
                          <a:spcPct val="100000"/>
                        </a:lnSpc>
                        <a:spcBef>
                          <a:spcPts val="300"/>
                        </a:spcBef>
                        <a:spcAft>
                          <a:spcPts val="300"/>
                        </a:spcAft>
                        <a:buNone/>
                      </a:pPr>
                      <a:r>
                        <a:rPr lang="en-US" sz="2000" b="1" kern="1200" dirty="0">
                          <a:solidFill>
                            <a:schemeClr val="bg1"/>
                          </a:solidFill>
                          <a:latin typeface="+mn-lt"/>
                          <a:ea typeface="+mn-ea"/>
                          <a:cs typeface="+mn-ea"/>
                          <a:sym typeface="+mn-lt"/>
                        </a:rPr>
                        <a:t>第11章</a:t>
                      </a:r>
                      <a:endParaRPr lang="en-US" altLang="en-US" sz="2000" b="1" kern="1200" dirty="0">
                        <a:solidFill>
                          <a:schemeClr val="bg1"/>
                        </a:solidFill>
                        <a:latin typeface="+mn-lt"/>
                        <a:ea typeface="+mn-ea"/>
                        <a:cs typeface="+mn-ea"/>
                        <a:sym typeface="+mn-lt"/>
                      </a:endParaRPr>
                    </a:p>
                  </a:txBody>
                  <a:tcPr marL="98738" marR="98738" marT="0" marB="0" anchor="ctr">
                    <a:solidFill>
                      <a:srgbClr val="FFC000"/>
                    </a:solidFill>
                  </a:tcPr>
                </a:tc>
                <a:tc>
                  <a:txBody>
                    <a:bodyPr/>
                    <a:lstStyle/>
                    <a:p>
                      <a:pPr marL="71755" indent="0" algn="l" defTabSz="914400" rtl="0" eaLnBrk="1" latinLnBrk="0" hangingPunct="1">
                        <a:lnSpc>
                          <a:spcPct val="100000"/>
                        </a:lnSpc>
                        <a:spcBef>
                          <a:spcPts val="300"/>
                        </a:spcBef>
                        <a:spcAft>
                          <a:spcPts val="300"/>
                        </a:spcAft>
                        <a:buNone/>
                      </a:pPr>
                      <a:r>
                        <a:rPr lang="en-US" sz="2000" b="1" kern="1200" dirty="0" err="1">
                          <a:solidFill>
                            <a:schemeClr val="bg1"/>
                          </a:solidFill>
                          <a:latin typeface="+mn-lt"/>
                          <a:ea typeface="+mn-ea"/>
                          <a:cs typeface="+mn-ea"/>
                          <a:sym typeface="+mn-lt"/>
                        </a:rPr>
                        <a:t>虚拟化和云计算</a:t>
                      </a:r>
                      <a:endParaRPr lang="en-US" altLang="en-US" sz="2000" b="1" kern="1200" dirty="0">
                        <a:solidFill>
                          <a:schemeClr val="bg1"/>
                        </a:solidFill>
                        <a:latin typeface="+mn-lt"/>
                        <a:ea typeface="+mn-ea"/>
                        <a:cs typeface="+mn-ea"/>
                        <a:sym typeface="+mn-lt"/>
                      </a:endParaRPr>
                    </a:p>
                  </a:txBody>
                  <a:tcPr marL="98738" marR="98738" marT="0" marB="0" anchor="ctr">
                    <a:solidFill>
                      <a:srgbClr val="FFC000"/>
                    </a:solidFill>
                  </a:tcPr>
                </a:tc>
              </a:tr>
              <a:tr h="399121">
                <a:tc>
                  <a:txBody>
                    <a:bodyPr/>
                    <a:lstStyle/>
                    <a:p>
                      <a:pPr marL="0" indent="0" algn="ctr">
                        <a:lnSpc>
                          <a:spcPct val="100000"/>
                        </a:lnSpc>
                        <a:spcBef>
                          <a:spcPts val="300"/>
                        </a:spcBef>
                        <a:spcAft>
                          <a:spcPts val="300"/>
                        </a:spcAft>
                        <a:buNone/>
                      </a:pPr>
                      <a:r>
                        <a:rPr lang="en-US" sz="2000" dirty="0">
                          <a:latin typeface="+mn-lt"/>
                          <a:ea typeface="+mn-ea"/>
                          <a:cs typeface="+mn-ea"/>
                          <a:sym typeface="+mn-lt"/>
                        </a:rPr>
                        <a:t>第12章</a:t>
                      </a:r>
                      <a:endParaRPr lang="en-US" altLang="en-US" sz="2000" b="0" dirty="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保护和安全</a:t>
                      </a:r>
                      <a:endParaRPr lang="en-US" altLang="en-US" sz="2000" b="0" dirty="0">
                        <a:solidFill>
                          <a:srgbClr val="000000"/>
                        </a:solidFill>
                        <a:latin typeface="+mn-lt"/>
                        <a:ea typeface="+mn-ea"/>
                        <a:cs typeface="+mn-ea"/>
                        <a:sym typeface="+mn-lt"/>
                      </a:endParaRPr>
                    </a:p>
                  </a:txBody>
                  <a:tcPr marL="98738" marR="98738" marT="0" marB="0" anchor="ctr"/>
                </a:tc>
              </a:tr>
            </a:tbl>
          </a:graphicData>
        </a:graphic>
      </p:graphicFrame>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2" name="图片 1" descr="第11章 知识导图"/>
          <p:cNvPicPr>
            <a:picLocks noChangeAspect="1"/>
          </p:cNvPicPr>
          <p:nvPr/>
        </p:nvPicPr>
        <p:blipFill>
          <a:blip r:embed="rId3"/>
          <a:stretch>
            <a:fillRect/>
          </a:stretch>
        </p:blipFill>
        <p:spPr>
          <a:xfrm>
            <a:off x="4792980" y="1616710"/>
            <a:ext cx="7250430" cy="45262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cs typeface="+mn-ea"/>
                <a:sym typeface="+mn-lt"/>
              </a:rPr>
              <a:t>内容导航：</a:t>
            </a:r>
            <a:endParaRPr lang="zh-CN" altLang="en-US" sz="2800" b="1" dirty="0">
              <a:solidFill>
                <a:schemeClr val="bg1"/>
              </a:solidFill>
              <a:cs typeface="+mn-ea"/>
              <a:sym typeface="+mn-lt"/>
            </a:endParaRPr>
          </a:p>
        </p:txBody>
      </p:sp>
      <p:sp>
        <p:nvSpPr>
          <p:cNvPr id="22" name="矩形 21"/>
          <p:cNvSpPr/>
          <p:nvPr/>
        </p:nvSpPr>
        <p:spPr>
          <a:xfrm>
            <a:off x="1379228" y="1767926"/>
            <a:ext cx="4500146" cy="461665"/>
          </a:xfrm>
          <a:prstGeom prst="rect">
            <a:avLst/>
          </a:prstGeom>
        </p:spPr>
        <p:txBody>
          <a:bodyPr wrap="square">
            <a:spAutoFit/>
          </a:bodyPr>
          <a:lstStyle/>
          <a:p>
            <a:r>
              <a:rPr lang="en-US" altLang="zh-CN" sz="2400" b="1" dirty="0">
                <a:solidFill>
                  <a:srgbClr val="0000FF"/>
                </a:solidFill>
                <a:cs typeface="+mn-ea"/>
                <a:sym typeface="+mn-lt"/>
              </a:rPr>
              <a:t>11.1  </a:t>
            </a:r>
            <a:r>
              <a:rPr lang="zh-CN" altLang="en-US" sz="2400" b="1" dirty="0">
                <a:solidFill>
                  <a:srgbClr val="0000FF"/>
                </a:solidFill>
                <a:cs typeface="+mn-ea"/>
                <a:sym typeface="+mn-lt"/>
              </a:rPr>
              <a:t>虚拟化的基本概念</a:t>
            </a:r>
            <a:endParaRPr lang="zh-CN" altLang="en-US" sz="2400" b="1" dirty="0">
              <a:solidFill>
                <a:srgbClr val="0000FF"/>
              </a:solidFill>
              <a:cs typeface="+mn-ea"/>
              <a:sym typeface="+mn-lt"/>
            </a:endParaRPr>
          </a:p>
        </p:txBody>
      </p:sp>
      <p:sp>
        <p:nvSpPr>
          <p:cNvPr id="23" name="矩形 22"/>
          <p:cNvSpPr/>
          <p:nvPr/>
        </p:nvSpPr>
        <p:spPr>
          <a:xfrm>
            <a:off x="1379228" y="2406101"/>
            <a:ext cx="3682150" cy="461665"/>
          </a:xfrm>
          <a:prstGeom prst="rect">
            <a:avLst/>
          </a:prstGeom>
        </p:spPr>
        <p:txBody>
          <a:bodyPr wrap="square">
            <a:spAutoFit/>
          </a:bodyPr>
          <a:lstStyle/>
          <a:p>
            <a:r>
              <a:rPr lang="en-US" altLang="zh-CN" sz="2400" dirty="0">
                <a:cs typeface="+mn-ea"/>
                <a:sym typeface="+mn-lt"/>
              </a:rPr>
              <a:t>11.2  </a:t>
            </a:r>
            <a:r>
              <a:rPr lang="zh-CN" altLang="en-US" sz="2400" dirty="0">
                <a:cs typeface="+mn-ea"/>
                <a:sym typeface="+mn-lt"/>
              </a:rPr>
              <a:t>虚拟化技术</a:t>
            </a:r>
            <a:endParaRPr lang="zh-CN" altLang="en-US" sz="2400" dirty="0">
              <a:cs typeface="+mn-ea"/>
              <a:sym typeface="+mn-lt"/>
            </a:endParaRPr>
          </a:p>
        </p:txBody>
      </p:sp>
      <p:sp>
        <p:nvSpPr>
          <p:cNvPr id="24" name="矩形 23"/>
          <p:cNvSpPr/>
          <p:nvPr/>
        </p:nvSpPr>
        <p:spPr>
          <a:xfrm>
            <a:off x="1379227" y="3025226"/>
            <a:ext cx="5320152" cy="461665"/>
          </a:xfrm>
          <a:prstGeom prst="rect">
            <a:avLst/>
          </a:prstGeom>
        </p:spPr>
        <p:txBody>
          <a:bodyPr wrap="square">
            <a:spAutoFit/>
          </a:bodyPr>
          <a:lstStyle/>
          <a:p>
            <a:r>
              <a:rPr lang="en-US" altLang="zh-CN" sz="2400" dirty="0">
                <a:cs typeface="+mn-ea"/>
                <a:sym typeface="+mn-lt"/>
              </a:rPr>
              <a:t>11.3  </a:t>
            </a:r>
            <a:r>
              <a:rPr lang="zh-CN" altLang="en-US" sz="2400" dirty="0">
                <a:cs typeface="+mn-ea"/>
                <a:sym typeface="+mn-lt"/>
              </a:rPr>
              <a:t>云计算</a:t>
            </a:r>
            <a:endParaRPr lang="zh-CN" altLang="en-US" sz="2400" dirty="0">
              <a:cs typeface="+mn-ea"/>
              <a:sym typeface="+mn-lt"/>
            </a:endParaRPr>
          </a:p>
        </p:txBody>
      </p:sp>
      <p:sp>
        <p:nvSpPr>
          <p:cNvPr id="25" name="矩形 24"/>
          <p:cNvSpPr/>
          <p:nvPr/>
        </p:nvSpPr>
        <p:spPr>
          <a:xfrm>
            <a:off x="1379227" y="3686384"/>
            <a:ext cx="5254838" cy="461665"/>
          </a:xfrm>
          <a:prstGeom prst="rect">
            <a:avLst/>
          </a:prstGeom>
        </p:spPr>
        <p:txBody>
          <a:bodyPr wrap="square">
            <a:spAutoFit/>
          </a:bodyPr>
          <a:lstStyle/>
          <a:p>
            <a:r>
              <a:rPr lang="en-US" altLang="zh-CN" sz="2400" dirty="0">
                <a:cs typeface="+mn-ea"/>
                <a:sym typeface="+mn-lt"/>
              </a:rPr>
              <a:t>11.4  </a:t>
            </a:r>
            <a:r>
              <a:rPr lang="zh-CN" altLang="en-US" sz="2400" dirty="0">
                <a:cs typeface="+mn-ea"/>
                <a:sym typeface="+mn-lt"/>
              </a:rPr>
              <a:t>实例：虚拟机软件</a:t>
            </a:r>
            <a:endParaRPr lang="zh-CN" altLang="en-US" sz="2400" dirty="0">
              <a:cs typeface="+mn-ea"/>
              <a:sym typeface="+mn-lt"/>
            </a:endParaRPr>
          </a:p>
        </p:txBody>
      </p:sp>
      <p:sp>
        <p:nvSpPr>
          <p:cNvPr id="3" name="矩形 2"/>
          <p:cNvSpPr/>
          <p:nvPr/>
        </p:nvSpPr>
        <p:spPr>
          <a:xfrm>
            <a:off x="6699378" y="2349214"/>
            <a:ext cx="4991859" cy="646331"/>
          </a:xfrm>
          <a:prstGeom prst="rect">
            <a:avLst/>
          </a:prstGeom>
        </p:spPr>
        <p:txBody>
          <a:bodyPr wrap="square">
            <a:spAutoFit/>
          </a:bodyPr>
          <a:lstStyle/>
          <a:p>
            <a:r>
              <a:rPr lang="zh-CN" altLang="en-US" sz="3600" dirty="0">
                <a:solidFill>
                  <a:srgbClr val="000000"/>
                </a:solidFill>
                <a:cs typeface="+mn-ea"/>
                <a:sym typeface="+mn-lt"/>
              </a:rPr>
              <a:t>第</a:t>
            </a:r>
            <a:r>
              <a:rPr lang="en-US" altLang="zh-CN" sz="3600" dirty="0">
                <a:solidFill>
                  <a:srgbClr val="000000"/>
                </a:solidFill>
                <a:cs typeface="+mn-ea"/>
                <a:sym typeface="+mn-lt"/>
              </a:rPr>
              <a:t>11</a:t>
            </a:r>
            <a:r>
              <a:rPr lang="zh-CN" altLang="en-US" sz="3600" dirty="0">
                <a:solidFill>
                  <a:srgbClr val="000000"/>
                </a:solidFill>
                <a:cs typeface="+mn-ea"/>
                <a:sym typeface="+mn-lt"/>
              </a:rPr>
              <a:t>章 虚拟化和云计算</a:t>
            </a:r>
            <a:endParaRPr lang="zh-CN" altLang="en-US" sz="3600" dirty="0">
              <a:cs typeface="+mn-ea"/>
              <a:sym typeface="+mn-lt"/>
            </a:endParaRPr>
          </a:p>
        </p:txBody>
      </p:sp>
      <p:cxnSp>
        <p:nvCxnSpPr>
          <p:cNvPr id="5" name="直接连接符 4"/>
          <p:cNvCxnSpPr/>
          <p:nvPr/>
        </p:nvCxnSpPr>
        <p:spPr>
          <a:xfrm>
            <a:off x="6699379" y="3190471"/>
            <a:ext cx="4847743"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1730916"/>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316056"/>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971525"/>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3632031"/>
            <a:ext cx="527050" cy="527050"/>
          </a:xfrm>
          <a:prstGeom prst="rect">
            <a:avLst/>
          </a:prstGeom>
          <a:ln>
            <a:noFill/>
          </a:ln>
          <a:effectLst>
            <a:softEdge rad="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11.1 </a:t>
            </a:r>
            <a:r>
              <a:rPr lang="zh-CN" altLang="en-US" sz="2800" b="1" dirty="0">
                <a:solidFill>
                  <a:schemeClr val="bg1"/>
                </a:solidFill>
                <a:cs typeface="+mn-ea"/>
                <a:sym typeface="+mn-lt"/>
              </a:rPr>
              <a:t>虚拟化的基本概念</a:t>
            </a:r>
            <a:endParaRPr lang="zh-CN" altLang="en-US" sz="2800" b="1" dirty="0">
              <a:solidFill>
                <a:schemeClr val="bg1"/>
              </a:solidFill>
              <a:cs typeface="+mn-ea"/>
              <a:sym typeface="+mn-lt"/>
            </a:endParaRPr>
          </a:p>
        </p:txBody>
      </p:sp>
      <p:sp>
        <p:nvSpPr>
          <p:cNvPr id="23" name="ïşľîďè"/>
          <p:cNvSpPr/>
          <p:nvPr/>
        </p:nvSpPr>
        <p:spPr>
          <a:xfrm>
            <a:off x="1588" y="1143000"/>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24" name="îŝļiḋe"/>
          <p:cNvSpPr/>
          <p:nvPr/>
        </p:nvSpPr>
        <p:spPr>
          <a:xfrm>
            <a:off x="4014295" y="1143000"/>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25" name="í$1iďè"/>
          <p:cNvGrpSpPr/>
          <p:nvPr/>
        </p:nvGrpSpPr>
        <p:grpSpPr>
          <a:xfrm>
            <a:off x="4183062" y="1607317"/>
            <a:ext cx="7381905" cy="1702554"/>
            <a:chOff x="4136995" y="1337039"/>
            <a:chExt cx="7381905" cy="1702554"/>
          </a:xfrm>
        </p:grpSpPr>
        <p:sp>
          <p:nvSpPr>
            <p:cNvPr id="26"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27" name="ïSḻiḍé"/>
            <p:cNvSpPr txBox="1"/>
            <p:nvPr/>
          </p:nvSpPr>
          <p:spPr>
            <a:xfrm>
              <a:off x="4882719" y="1337039"/>
              <a:ext cx="6636181" cy="1702554"/>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23000"/>
                </a:lnSpc>
                <a:spcBef>
                  <a:spcPts val="600"/>
                </a:spcBef>
                <a:spcAft>
                  <a:spcPts val="600"/>
                </a:spcAft>
              </a:pPr>
              <a:r>
                <a:rPr lang="zh-CN" altLang="en-US" sz="2400" dirty="0">
                  <a:solidFill>
                    <a:srgbClr val="FF0000"/>
                  </a:solidFill>
                  <a:latin typeface="+mj-ea"/>
                  <a:ea typeface="+mj-ea"/>
                </a:rPr>
                <a:t>虚拟化</a:t>
              </a:r>
              <a:r>
                <a:rPr lang="zh-CN" altLang="en-US" sz="2400" dirty="0">
                  <a:latin typeface="+mj-ea"/>
                  <a:ea typeface="+mj-ea"/>
                </a:rPr>
                <a:t>是指实体计算机的物理资源抽象成逻辑资源，基于这些逻辑资源构建与实体计算机架构类似、功能等价的逻辑计算机。</a:t>
              </a:r>
              <a:endParaRPr lang="zh-CN" altLang="en-US" sz="2400" dirty="0">
                <a:latin typeface="+mj-ea"/>
                <a:ea typeface="+mj-ea"/>
              </a:endParaRPr>
            </a:p>
            <a:p>
              <a:pPr marL="342900" indent="-342900" algn="just">
                <a:lnSpc>
                  <a:spcPct val="130000"/>
                </a:lnSpc>
                <a:spcBef>
                  <a:spcPts val="600"/>
                </a:spcBef>
                <a:spcAft>
                  <a:spcPts val="600"/>
                </a:spcAft>
                <a:buClr>
                  <a:srgbClr val="FF0000"/>
                </a:buClr>
                <a:buFont typeface="Wingdings" panose="05000000000000000000" pitchFamily="2" charset="2"/>
                <a:buChar char="Ø"/>
              </a:pPr>
              <a:r>
                <a:rPr lang="zh-CN" altLang="en-US" sz="2400" dirty="0">
                  <a:latin typeface="+mj-ea"/>
                  <a:ea typeface="+mj-ea"/>
                </a:rPr>
                <a:t>这些计算机称为虚拟机</a:t>
              </a:r>
              <a:r>
                <a:rPr lang="en-US" altLang="zh-CN" sz="2400" dirty="0">
                  <a:latin typeface="+mj-ea"/>
                  <a:ea typeface="+mj-ea"/>
                </a:rPr>
                <a:t>VM</a:t>
              </a:r>
              <a:endParaRPr lang="en-US" altLang="zh-CN" sz="2400" dirty="0">
                <a:latin typeface="+mj-ea"/>
                <a:ea typeface="+mj-ea"/>
              </a:endParaRPr>
            </a:p>
          </p:txBody>
        </p:sp>
      </p:grpSp>
      <p:grpSp>
        <p:nvGrpSpPr>
          <p:cNvPr id="28" name="išḷîḓé"/>
          <p:cNvGrpSpPr/>
          <p:nvPr/>
        </p:nvGrpSpPr>
        <p:grpSpPr>
          <a:xfrm>
            <a:off x="4183062" y="3800144"/>
            <a:ext cx="7381904" cy="1763616"/>
            <a:chOff x="4136995" y="3233565"/>
            <a:chExt cx="7381904" cy="1763616"/>
          </a:xfrm>
        </p:grpSpPr>
        <p:sp>
          <p:nvSpPr>
            <p:cNvPr id="29"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0" name="îŝľîḓè"/>
            <p:cNvSpPr txBox="1"/>
            <p:nvPr/>
          </p:nvSpPr>
          <p:spPr>
            <a:xfrm>
              <a:off x="4882718" y="3233565"/>
              <a:ext cx="6636181" cy="176361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0000FF"/>
                  </a:solidFill>
                </a:rPr>
                <a:t>虚拟化技术</a:t>
              </a:r>
              <a:r>
                <a:rPr lang="zh-CN" altLang="en-US" sz="2400" dirty="0"/>
                <a:t>是指采用纯软件或软硬件结合的相关方法与技术，实现计算机物理资源的模拟、隔离与共享。</a:t>
              </a:r>
              <a:endParaRPr lang="zh-CN" altLang="en-US" sz="2400"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11.1.1 </a:t>
            </a:r>
            <a:r>
              <a:rPr lang="zh-CN" altLang="en-US" sz="2800" b="1" dirty="0">
                <a:solidFill>
                  <a:schemeClr val="bg1"/>
                </a:solidFill>
                <a:cs typeface="+mn-ea"/>
                <a:sym typeface="+mn-lt"/>
              </a:rPr>
              <a:t>虚拟化的引入（</a:t>
            </a:r>
            <a:r>
              <a:rPr lang="en-US" altLang="zh-CN" sz="2800" b="1" dirty="0">
                <a:solidFill>
                  <a:schemeClr val="bg1"/>
                </a:solidFill>
                <a:cs typeface="+mn-ea"/>
                <a:sym typeface="+mn-lt"/>
              </a:rPr>
              <a:t>1</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grpSp>
        <p:nvGrpSpPr>
          <p:cNvPr id="4"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226978" y="1380218"/>
            <a:ext cx="11171950" cy="4328124"/>
            <a:chOff x="498858" y="1929384"/>
            <a:chExt cx="11171950" cy="4328124"/>
          </a:xfrm>
        </p:grpSpPr>
        <p:sp>
          <p:nvSpPr>
            <p:cNvPr id="6"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7"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8"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9"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0"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2" name="isľîdê"/>
            <p:cNvSpPr txBox="1"/>
            <p:nvPr/>
          </p:nvSpPr>
          <p:spPr>
            <a:xfrm>
              <a:off x="498858" y="4127645"/>
              <a:ext cx="2664115"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虚拟化思想的诞生可追溯到</a:t>
              </a:r>
              <a:r>
                <a:rPr lang="en-US" altLang="zh-CN" sz="2400" dirty="0"/>
                <a:t>20</a:t>
              </a:r>
              <a:r>
                <a:rPr lang="zh-CN" altLang="en-US" sz="2400" dirty="0"/>
                <a:t>世纪</a:t>
              </a:r>
              <a:r>
                <a:rPr lang="en-US" altLang="zh-CN" sz="2400" dirty="0"/>
                <a:t>60</a:t>
              </a:r>
              <a:r>
                <a:rPr lang="zh-CN" altLang="en-US" sz="2400" dirty="0"/>
                <a:t>年代，其本质是分离软硬件以产生更好的系统性能。</a:t>
              </a:r>
              <a:endParaRPr lang="zh-CN" altLang="en-US" sz="2400" dirty="0"/>
            </a:p>
          </p:txBody>
        </p:sp>
        <p:sp>
          <p:nvSpPr>
            <p:cNvPr id="16"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7"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8"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9"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1" name="isľîdê"/>
            <p:cNvSpPr txBox="1"/>
            <p:nvPr/>
          </p:nvSpPr>
          <p:spPr>
            <a:xfrm>
              <a:off x="3540236" y="4127645"/>
              <a:ext cx="2276119" cy="858742"/>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虚拟化技术首先应用在</a:t>
              </a:r>
              <a:r>
                <a:rPr lang="en-US" altLang="zh-CN" sz="2400" dirty="0"/>
                <a:t>IBM</a:t>
              </a:r>
              <a:r>
                <a:rPr lang="zh-CN" altLang="en-US" sz="2400" dirty="0"/>
                <a:t>大型计算机上</a:t>
              </a:r>
              <a:endParaRPr lang="zh-CN" altLang="en-US" sz="2400" dirty="0"/>
            </a:p>
          </p:txBody>
        </p:sp>
        <p:sp>
          <p:nvSpPr>
            <p:cNvPr id="22" name="isľîdê"/>
            <p:cNvSpPr txBox="1"/>
            <p:nvPr/>
          </p:nvSpPr>
          <p:spPr>
            <a:xfrm>
              <a:off x="5867385" y="4151140"/>
              <a:ext cx="3024689" cy="2106368"/>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400" dirty="0"/>
                <a:t>引入该技术的</a:t>
              </a:r>
              <a:r>
                <a:rPr lang="zh-CN" altLang="en-US" sz="2400" dirty="0">
                  <a:solidFill>
                    <a:srgbClr val="0000FF"/>
                  </a:solidFill>
                </a:rPr>
                <a:t>目的</a:t>
              </a:r>
              <a:r>
                <a:rPr lang="zh-CN" altLang="en-US" sz="2400" dirty="0"/>
                <a:t>是，在多用户之间共享资源并提高资源利用率和应用程序灵活度。</a:t>
              </a:r>
              <a:endParaRPr lang="zh-CN" altLang="en-US" sz="2400" dirty="0"/>
            </a:p>
          </p:txBody>
        </p:sp>
        <p:sp>
          <p:nvSpPr>
            <p:cNvPr id="23" name="isľîdê"/>
            <p:cNvSpPr txBox="1"/>
            <p:nvPr/>
          </p:nvSpPr>
          <p:spPr>
            <a:xfrm>
              <a:off x="9256082" y="4151140"/>
              <a:ext cx="2414726"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400" dirty="0"/>
                <a:t>近年来，随着</a:t>
              </a:r>
              <a:r>
                <a:rPr lang="zh-CN" altLang="en-US" sz="2400" dirty="0">
                  <a:solidFill>
                    <a:srgbClr val="0000FF"/>
                  </a:solidFill>
                </a:rPr>
                <a:t>分布式和云计算技术</a:t>
              </a:r>
              <a:r>
                <a:rPr lang="zh-CN" altLang="en-US" sz="2400" dirty="0"/>
                <a:t>的迅速发展，虚拟化技术再次兴起。</a:t>
              </a:r>
              <a:endParaRPr lang="zh-CN" altLang="en-US" sz="2400"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虚拟化的引入（</a:t>
            </a:r>
            <a:r>
              <a:rPr lang="en-US" altLang="zh-CN" sz="2800" b="1" dirty="0">
                <a:solidFill>
                  <a:schemeClr val="bg1"/>
                </a:solidFill>
                <a:cs typeface="+mn-ea"/>
                <a:sym typeface="+mn-lt"/>
              </a:rPr>
              <a:t>2</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内容占位符 2"/>
          <p:cNvSpPr txBox="1"/>
          <p:nvPr/>
        </p:nvSpPr>
        <p:spPr>
          <a:xfrm>
            <a:off x="489050" y="1058342"/>
            <a:ext cx="11213899" cy="14340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32000"/>
              </a:lnSpc>
              <a:buNone/>
            </a:pPr>
            <a:r>
              <a:rPr lang="zh-CN" altLang="en-US" sz="2200" dirty="0">
                <a:latin typeface="+mn-ea"/>
              </a:rPr>
              <a:t>虚拟化技术</a:t>
            </a:r>
            <a:r>
              <a:rPr lang="zh-CN" altLang="zh-CN" sz="2200" dirty="0">
                <a:latin typeface="+mn-ea"/>
              </a:rPr>
              <a:t>通过引入一个新的虚拟化层——</a:t>
            </a:r>
            <a:r>
              <a:rPr lang="zh-CN" altLang="zh-CN" sz="2200" dirty="0">
                <a:solidFill>
                  <a:srgbClr val="0000FF"/>
                </a:solidFill>
                <a:latin typeface="+mn-ea"/>
              </a:rPr>
              <a:t>虚拟机监视器（</a:t>
            </a:r>
            <a:r>
              <a:rPr lang="en-US" altLang="zh-CN" sz="2200" dirty="0">
                <a:solidFill>
                  <a:srgbClr val="0000FF"/>
                </a:solidFill>
                <a:latin typeface="+mn-ea"/>
              </a:rPr>
              <a:t>VMM</a:t>
            </a:r>
            <a:r>
              <a:rPr lang="zh-CN" altLang="zh-CN" sz="2200" dirty="0">
                <a:solidFill>
                  <a:srgbClr val="0000FF"/>
                </a:solidFill>
                <a:latin typeface="+mn-ea"/>
              </a:rPr>
              <a:t>）</a:t>
            </a:r>
            <a:r>
              <a:rPr lang="zh-CN" altLang="zh-CN" sz="2200" dirty="0">
                <a:latin typeface="+mn-ea"/>
              </a:rPr>
              <a:t>，在一台物理机上模拟出了一个或多个虚拟机</a:t>
            </a:r>
            <a:endParaRPr lang="en-US" altLang="zh-CN" sz="2200" dirty="0">
              <a:latin typeface="+mn-ea"/>
            </a:endParaRPr>
          </a:p>
          <a:p>
            <a:pPr marL="0" indent="457200">
              <a:lnSpc>
                <a:spcPct val="132000"/>
              </a:lnSpc>
              <a:buNone/>
            </a:pPr>
            <a:r>
              <a:rPr lang="zh-CN" altLang="en-US" sz="2200" dirty="0">
                <a:latin typeface="+mn-ea"/>
              </a:rPr>
              <a:t>虚拟化技术的</a:t>
            </a:r>
            <a:r>
              <a:rPr lang="zh-CN" altLang="en-US" sz="2200" dirty="0">
                <a:solidFill>
                  <a:srgbClr val="FF0000"/>
                </a:solidFill>
                <a:latin typeface="+mn-ea"/>
              </a:rPr>
              <a:t>好处：</a:t>
            </a:r>
            <a:endParaRPr lang="en-US" altLang="zh-CN" sz="2200" dirty="0">
              <a:latin typeface="+mn-ea"/>
            </a:endParaRPr>
          </a:p>
        </p:txBody>
      </p:sp>
      <p:sp>
        <p:nvSpPr>
          <p:cNvPr id="25" name="i$lîďê"/>
          <p:cNvSpPr/>
          <p:nvPr/>
        </p:nvSpPr>
        <p:spPr>
          <a:xfrm>
            <a:off x="7660116" y="2683265"/>
            <a:ext cx="3936569" cy="1240665"/>
          </a:xfrm>
          <a:prstGeom prst="rect">
            <a:avLst/>
          </a:prstGeom>
          <a:noFill/>
          <a:ln>
            <a:noFill/>
          </a:ln>
        </p:spPr>
        <p:txBody>
          <a:bodyPr wrap="square" lIns="91440" tIns="45720" rIns="91440" bIns="45720" anchor="ctr" anchorCtr="0">
            <a:noAutofit/>
          </a:bodyPr>
          <a:lstStyle/>
          <a:p>
            <a:pPr>
              <a:lnSpc>
                <a:spcPct val="123000"/>
              </a:lnSpc>
            </a:pPr>
            <a:r>
              <a:rPr lang="zh-CN" altLang="en-US" sz="2200" dirty="0"/>
              <a:t>灵活性：计算机资源可以被随意拆分、组合，以适应不同场景下的业务需求</a:t>
            </a:r>
            <a:endParaRPr lang="zh-CN" altLang="en-US" sz="2200" dirty="0"/>
          </a:p>
        </p:txBody>
      </p:sp>
      <p:sp>
        <p:nvSpPr>
          <p:cNvPr id="26" name="î$ļíḋè"/>
          <p:cNvSpPr/>
          <p:nvPr/>
        </p:nvSpPr>
        <p:spPr>
          <a:xfrm>
            <a:off x="1647153" y="4784356"/>
            <a:ext cx="9828892" cy="1504623"/>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各虚拟机执行的敏感指令只会影响自己的</a:t>
            </a:r>
            <a:r>
              <a:rPr lang="en-US" altLang="zh-CN" sz="2000" dirty="0"/>
              <a:t>CPU</a:t>
            </a:r>
            <a:r>
              <a:rPr lang="zh-CN" altLang="en-US" sz="2000" dirty="0"/>
              <a:t>、内存等资源，而无法影响属于其他虚拟机的核心资源</a:t>
            </a:r>
            <a:endParaRPr lang="zh-CN" altLang="en-US" sz="2000" dirty="0"/>
          </a:p>
          <a:p>
            <a:pPr marL="342900" indent="-342900">
              <a:lnSpc>
                <a:spcPct val="120000"/>
              </a:lnSpc>
              <a:buClr>
                <a:srgbClr val="FF0000"/>
              </a:buClr>
              <a:buFont typeface="Wingdings" panose="05000000000000000000" pitchFamily="2" charset="2"/>
              <a:buChar char="Ø"/>
            </a:pPr>
            <a:r>
              <a:rPr lang="zh-CN" altLang="en-US" sz="2000" dirty="0"/>
              <a:t>一台虚拟机在感染病毒或遭遇崩溃时，不会影响处在同一物理机上的其他虚拟机的运行其他虚拟机的核心资源</a:t>
            </a:r>
            <a:endParaRPr lang="zh-CN" altLang="en-US" sz="2000" dirty="0"/>
          </a:p>
        </p:txBody>
      </p:sp>
      <p:sp>
        <p:nvSpPr>
          <p:cNvPr id="27" name="ïṧḷïḋè"/>
          <p:cNvSpPr/>
          <p:nvPr/>
        </p:nvSpPr>
        <p:spPr>
          <a:xfrm>
            <a:off x="1676567" y="4290490"/>
            <a:ext cx="9770065" cy="415102"/>
          </a:xfrm>
          <a:prstGeom prst="rect">
            <a:avLst/>
          </a:prstGeom>
          <a:noFill/>
          <a:ln>
            <a:noFill/>
          </a:ln>
        </p:spPr>
        <p:txBody>
          <a:bodyPr wrap="square" lIns="91440" tIns="45720" rIns="91440" bIns="45720" anchor="ctr" anchorCtr="0">
            <a:noAutofit/>
          </a:bodyPr>
          <a:lstStyle/>
          <a:p>
            <a:r>
              <a:rPr lang="zh-CN" altLang="en-US" sz="2200" dirty="0"/>
              <a:t>隔离性：①硬件与软件之间的隔离，②软件与软件之间的隔离</a:t>
            </a:r>
            <a:endParaRPr lang="zh-CN" altLang="en-US" sz="2200" dirty="0"/>
          </a:p>
        </p:txBody>
      </p:sp>
      <p:sp>
        <p:nvSpPr>
          <p:cNvPr id="28" name="îs1iďé"/>
          <p:cNvSpPr/>
          <p:nvPr/>
        </p:nvSpPr>
        <p:spPr>
          <a:xfrm>
            <a:off x="1676565" y="3113399"/>
            <a:ext cx="5123584" cy="1167998"/>
          </a:xfrm>
          <a:prstGeom prst="rect">
            <a:avLst/>
          </a:prstGeom>
          <a:noFill/>
          <a:ln>
            <a:noFill/>
          </a:ln>
        </p:spPr>
        <p:txBody>
          <a:bodyPr wrap="square" lIns="91440" tIns="45720" rIns="91440" bIns="45720" anchor="t" anchorCtr="0">
            <a:normAutofit lnSpcReduction="10000"/>
          </a:bodyPr>
          <a:lstStyle/>
          <a:p>
            <a:pPr marL="342900" indent="-342900">
              <a:lnSpc>
                <a:spcPct val="120000"/>
              </a:lnSpc>
              <a:spcBef>
                <a:spcPts val="800"/>
              </a:spcBef>
              <a:buClr>
                <a:srgbClr val="FF0000"/>
              </a:buClr>
              <a:buFont typeface="Wingdings" panose="05000000000000000000" pitchFamily="2" charset="2"/>
              <a:buChar char="Ø"/>
            </a:pPr>
            <a:r>
              <a:rPr lang="zh-CN" altLang="en-US" sz="2000" dirty="0"/>
              <a:t>每台虚拟机可以运行不同的</a:t>
            </a:r>
            <a:r>
              <a:rPr lang="en-US" altLang="zh-CN" sz="2000" dirty="0"/>
              <a:t>OS</a:t>
            </a:r>
            <a:r>
              <a:rPr lang="zh-CN" altLang="en-US" sz="2000" dirty="0"/>
              <a:t>，且每台虚拟机服务于一个客户，可根据客户需求配置计算资源，提高资源利用率</a:t>
            </a:r>
            <a:endParaRPr lang="zh-CN" altLang="en-US" sz="2000" dirty="0"/>
          </a:p>
        </p:txBody>
      </p:sp>
      <p:sp>
        <p:nvSpPr>
          <p:cNvPr id="29" name="íšḻíḑê"/>
          <p:cNvSpPr/>
          <p:nvPr/>
        </p:nvSpPr>
        <p:spPr>
          <a:xfrm>
            <a:off x="1676567" y="2682953"/>
            <a:ext cx="7264247" cy="405747"/>
          </a:xfrm>
          <a:prstGeom prst="rect">
            <a:avLst/>
          </a:prstGeom>
          <a:noFill/>
          <a:ln>
            <a:noFill/>
          </a:ln>
        </p:spPr>
        <p:txBody>
          <a:bodyPr wrap="square" lIns="91440" tIns="45720" rIns="91440" bIns="45720" anchor="ctr" anchorCtr="0">
            <a:noAutofit/>
          </a:bodyPr>
          <a:lstStyle/>
          <a:p>
            <a:r>
              <a:rPr lang="zh-CN" altLang="en-US" sz="2200" dirty="0"/>
              <a:t>资源利用率：</a:t>
            </a:r>
            <a:endParaRPr lang="zh-CN" altLang="en-US" sz="2200" dirty="0"/>
          </a:p>
        </p:txBody>
      </p:sp>
      <p:sp>
        <p:nvSpPr>
          <p:cNvPr id="30" name="îSļiḓè"/>
          <p:cNvSpPr/>
          <p:nvPr/>
        </p:nvSpPr>
        <p:spPr>
          <a:xfrm>
            <a:off x="993064" y="266939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1" name="íṥḻîḓe"/>
          <p:cNvSpPr/>
          <p:nvPr/>
        </p:nvSpPr>
        <p:spPr>
          <a:xfrm>
            <a:off x="993063" y="4207888"/>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2" name="îşļiḓè"/>
          <p:cNvSpPr/>
          <p:nvPr/>
        </p:nvSpPr>
        <p:spPr>
          <a:xfrm>
            <a:off x="6976614" y="266939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3" name="îṡḷíďe"/>
          <p:cNvSpPr/>
          <p:nvPr/>
        </p:nvSpPr>
        <p:spPr>
          <a:xfrm>
            <a:off x="1183319" y="2865529"/>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34" name="íSlíḋe"/>
          <p:cNvSpPr/>
          <p:nvPr/>
        </p:nvSpPr>
        <p:spPr>
          <a:xfrm>
            <a:off x="7166868" y="289140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35" name="ïśḷïḓe"/>
          <p:cNvSpPr/>
          <p:nvPr/>
        </p:nvSpPr>
        <p:spPr>
          <a:xfrm>
            <a:off x="1212256" y="4397348"/>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11.1.2 </a:t>
            </a:r>
            <a:r>
              <a:rPr lang="zh-CN" altLang="en-US" sz="2800" b="1" dirty="0">
                <a:solidFill>
                  <a:schemeClr val="bg1"/>
                </a:solidFill>
                <a:cs typeface="+mn-ea"/>
                <a:sym typeface="+mn-lt"/>
              </a:rPr>
              <a:t>虚拟化的发展（</a:t>
            </a:r>
            <a:r>
              <a:rPr lang="en-US" altLang="zh-CN" sz="2800" b="1" dirty="0">
                <a:solidFill>
                  <a:schemeClr val="bg1"/>
                </a:solidFill>
                <a:cs typeface="+mn-ea"/>
                <a:sym typeface="+mn-lt"/>
              </a:rPr>
              <a:t>1</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3" name="内容占位符 2"/>
          <p:cNvSpPr txBox="1"/>
          <p:nvPr/>
        </p:nvSpPr>
        <p:spPr>
          <a:xfrm>
            <a:off x="152167" y="1111847"/>
            <a:ext cx="11149107" cy="11375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23000"/>
              </a:lnSpc>
              <a:spcBef>
                <a:spcPts val="600"/>
              </a:spcBef>
              <a:buNone/>
            </a:pPr>
            <a:r>
              <a:rPr lang="en-US" altLang="zh-CN" sz="2400" dirty="0">
                <a:solidFill>
                  <a:srgbClr val="FF0000"/>
                </a:solidFill>
              </a:rPr>
              <a:t>	VM/370</a:t>
            </a:r>
            <a:endParaRPr lang="en-US" altLang="zh-CN" sz="2400" dirty="0">
              <a:solidFill>
                <a:srgbClr val="FF0000"/>
              </a:solidFill>
            </a:endParaRPr>
          </a:p>
          <a:p>
            <a:pPr marL="1028700" lvl="1" indent="-342900">
              <a:lnSpc>
                <a:spcPct val="123000"/>
              </a:lnSpc>
              <a:spcBef>
                <a:spcPts val="600"/>
              </a:spcBef>
              <a:buClr>
                <a:srgbClr val="0000FF"/>
              </a:buClr>
              <a:buFont typeface="Wingdings" panose="05000000000000000000" pitchFamily="2" charset="2"/>
              <a:buChar char="Ø"/>
            </a:pPr>
            <a:r>
              <a:rPr lang="zh-CN" altLang="zh-CN" sz="2400" dirty="0"/>
              <a:t>它的</a:t>
            </a:r>
            <a:r>
              <a:rPr lang="zh-CN" altLang="en-US" sz="2400" dirty="0"/>
              <a:t>现代化身</a:t>
            </a:r>
            <a:r>
              <a:rPr lang="en-US" altLang="zh-CN" sz="2400" dirty="0"/>
              <a:t>z/VM</a:t>
            </a:r>
            <a:r>
              <a:rPr lang="zh-CN" altLang="zh-CN" sz="2400" dirty="0"/>
              <a:t>，目前在现有的</a:t>
            </a:r>
            <a:r>
              <a:rPr lang="en-US" altLang="zh-CN" sz="2400" dirty="0"/>
              <a:t>IBM</a:t>
            </a:r>
            <a:r>
              <a:rPr lang="zh-CN" altLang="zh-CN" sz="2400" dirty="0"/>
              <a:t>大型计算机上广泛应用</a:t>
            </a:r>
            <a:endParaRPr lang="en-US" altLang="zh-CN" sz="2400" dirty="0"/>
          </a:p>
        </p:txBody>
      </p:sp>
      <p:pic>
        <p:nvPicPr>
          <p:cNvPr id="4" name="图片 3"/>
          <p:cNvPicPr>
            <a:picLocks noChangeAspect="1"/>
          </p:cNvPicPr>
          <p:nvPr/>
        </p:nvPicPr>
        <p:blipFill>
          <a:blip r:embed="rId1"/>
          <a:stretch>
            <a:fillRect/>
          </a:stretch>
        </p:blipFill>
        <p:spPr>
          <a:xfrm>
            <a:off x="4710172" y="2358761"/>
            <a:ext cx="6753860" cy="3399790"/>
          </a:xfrm>
          <a:prstGeom prst="rect">
            <a:avLst/>
          </a:prstGeom>
          <a:ln>
            <a:solidFill>
              <a:schemeClr val="accent1"/>
            </a:solidFill>
          </a:ln>
        </p:spPr>
      </p:pic>
      <p:sp>
        <p:nvSpPr>
          <p:cNvPr id="5" name="内容占位符 2"/>
          <p:cNvSpPr txBox="1"/>
          <p:nvPr/>
        </p:nvSpPr>
        <p:spPr>
          <a:xfrm>
            <a:off x="131637" y="2249424"/>
            <a:ext cx="4218422" cy="36184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28700" lvl="1" indent="-342900">
              <a:lnSpc>
                <a:spcPct val="123000"/>
              </a:lnSpc>
              <a:spcBef>
                <a:spcPts val="600"/>
              </a:spcBef>
              <a:buClr>
                <a:srgbClr val="0000FF"/>
              </a:buClr>
              <a:buFont typeface="Wingdings" panose="05000000000000000000" pitchFamily="2" charset="2"/>
              <a:buChar char="Ø"/>
            </a:pPr>
            <a:r>
              <a:rPr lang="zh-CN" altLang="zh-CN" sz="2400" dirty="0"/>
              <a:t>核心为虚拟机监视器，它在裸机上运行并且具备了多道程序功能。</a:t>
            </a:r>
            <a:r>
              <a:rPr lang="en-US" altLang="zh-CN" sz="2400" dirty="0"/>
              <a:t>VM/370</a:t>
            </a:r>
            <a:r>
              <a:rPr lang="zh-CN" altLang="zh-CN" sz="2400" dirty="0"/>
              <a:t>向上层提供了若干个虚拟</a:t>
            </a:r>
            <a:endParaRPr lang="en-US" altLang="zh-CN" sz="2400" dirty="0"/>
          </a:p>
          <a:p>
            <a:pPr marL="1028700" lvl="1" indent="-342900">
              <a:lnSpc>
                <a:spcPct val="123000"/>
              </a:lnSpc>
              <a:spcBef>
                <a:spcPts val="600"/>
              </a:spcBef>
              <a:buClr>
                <a:srgbClr val="0000FF"/>
              </a:buClr>
              <a:buFont typeface="Wingdings" panose="05000000000000000000" pitchFamily="2" charset="2"/>
              <a:buChar char="Ø"/>
            </a:pPr>
            <a:r>
              <a:rPr lang="zh-CN" altLang="zh-CN" sz="2400" dirty="0"/>
              <a:t>会话监控系统</a:t>
            </a:r>
            <a:r>
              <a:rPr lang="en-US" altLang="zh-CN" sz="2400" dirty="0"/>
              <a:t>CMS</a:t>
            </a:r>
            <a:r>
              <a:rPr lang="zh-CN" altLang="en-US" sz="2400" dirty="0"/>
              <a:t>：</a:t>
            </a:r>
            <a:r>
              <a:rPr lang="zh-CN" altLang="zh-CN" sz="2400" dirty="0"/>
              <a:t>运行单用户、交互式系统以供分时用户使用</a:t>
            </a:r>
            <a:endParaRPr lang="zh-CN" alt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虚拟化的发展（</a:t>
            </a:r>
            <a:r>
              <a:rPr lang="en-US" altLang="zh-CN" sz="2800" b="1" dirty="0">
                <a:solidFill>
                  <a:schemeClr val="bg1"/>
                </a:solidFill>
                <a:cs typeface="+mn-ea"/>
                <a:sym typeface="+mn-lt"/>
              </a:rPr>
              <a:t>2</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7" name="内容占位符 2"/>
          <p:cNvSpPr txBox="1"/>
          <p:nvPr/>
        </p:nvSpPr>
        <p:spPr>
          <a:xfrm>
            <a:off x="1404101" y="1093206"/>
            <a:ext cx="10145748" cy="198955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0"/>
              </a:spcBef>
              <a:buNone/>
            </a:pPr>
            <a:r>
              <a:rPr lang="zh-CN" altLang="en-US" sz="2400" dirty="0">
                <a:solidFill>
                  <a:srgbClr val="FF0000"/>
                </a:solidFill>
              </a:rPr>
              <a:t>新时代虚拟机</a:t>
            </a:r>
            <a:endParaRPr lang="zh-CN" altLang="en-US" sz="2400" dirty="0">
              <a:solidFill>
                <a:srgbClr val="FF0000"/>
              </a:solidFill>
            </a:endParaRPr>
          </a:p>
          <a:p>
            <a:pPr marL="342900" lvl="1" indent="-342900">
              <a:lnSpc>
                <a:spcPct val="123000"/>
              </a:lnSpc>
              <a:spcBef>
                <a:spcPts val="300"/>
              </a:spcBef>
              <a:buClr>
                <a:srgbClr val="E71101"/>
              </a:buClr>
              <a:buSzPct val="100000"/>
              <a:buFont typeface="Wingdings" panose="05000000000000000000" pitchFamily="2" charset="2"/>
              <a:buChar char="n"/>
              <a:defRPr/>
            </a:pPr>
            <a:r>
              <a:rPr lang="zh-CN" altLang="en-US" sz="2000" dirty="0">
                <a:solidFill>
                  <a:schemeClr val="tx1">
                    <a:lumMod val="65000"/>
                    <a:lumOff val="35000"/>
                  </a:schemeClr>
                </a:solidFill>
              </a:rPr>
              <a:t>发展</a:t>
            </a:r>
            <a:r>
              <a:rPr lang="en-US" altLang="zh-CN" sz="2000" dirty="0">
                <a:solidFill>
                  <a:schemeClr val="tx1">
                    <a:lumMod val="65000"/>
                    <a:lumOff val="35000"/>
                  </a:schemeClr>
                </a:solidFill>
              </a:rPr>
              <a:t>50</a:t>
            </a:r>
            <a:r>
              <a:rPr lang="zh-CN" altLang="en-US" sz="2000" dirty="0">
                <a:solidFill>
                  <a:schemeClr val="tx1">
                    <a:lumMod val="65000"/>
                    <a:lumOff val="35000"/>
                  </a:schemeClr>
                </a:solidFill>
              </a:rPr>
              <a:t>年来，主要在高端企业服务器上增加了对虚拟机的支持，</a:t>
            </a:r>
            <a:r>
              <a:rPr lang="en-US" altLang="zh-CN" sz="2000" dirty="0">
                <a:solidFill>
                  <a:schemeClr val="tx1">
                    <a:lumMod val="65000"/>
                    <a:lumOff val="35000"/>
                  </a:schemeClr>
                </a:solidFill>
              </a:rPr>
              <a:t>PC</a:t>
            </a:r>
            <a:r>
              <a:rPr lang="zh-CN" altLang="en-US" sz="2000" dirty="0">
                <a:solidFill>
                  <a:schemeClr val="tx1">
                    <a:lumMod val="65000"/>
                    <a:lumOff val="35000"/>
                  </a:schemeClr>
                </a:solidFill>
              </a:rPr>
              <a:t>机上被忽略</a:t>
            </a:r>
            <a:endParaRPr lang="zh-CN" altLang="en-US" sz="2000" dirty="0">
              <a:solidFill>
                <a:schemeClr val="tx1">
                  <a:lumMod val="65000"/>
                  <a:lumOff val="35000"/>
                </a:schemeClr>
              </a:solidFill>
            </a:endParaRPr>
          </a:p>
          <a:p>
            <a:pPr marL="342900" lvl="1" indent="-342900">
              <a:lnSpc>
                <a:spcPct val="123000"/>
              </a:lnSpc>
              <a:spcBef>
                <a:spcPts val="300"/>
              </a:spcBef>
              <a:buClr>
                <a:srgbClr val="E71101"/>
              </a:buClr>
              <a:buSzPct val="100000"/>
              <a:buFont typeface="Wingdings" panose="05000000000000000000" pitchFamily="2" charset="2"/>
              <a:buChar char="n"/>
              <a:defRPr/>
            </a:pPr>
            <a:r>
              <a:rPr lang="en-US" altLang="zh-CN" sz="2000" dirty="0">
                <a:solidFill>
                  <a:schemeClr val="tx1">
                    <a:lumMod val="65000"/>
                    <a:lumOff val="35000"/>
                  </a:schemeClr>
                </a:solidFill>
              </a:rPr>
              <a:t>20</a:t>
            </a:r>
            <a:r>
              <a:rPr lang="zh-CN" altLang="en-US" sz="2000" dirty="0">
                <a:solidFill>
                  <a:schemeClr val="tx1">
                    <a:lumMod val="65000"/>
                    <a:lumOff val="35000"/>
                  </a:schemeClr>
                </a:solidFill>
              </a:rPr>
              <a:t>世纪</a:t>
            </a:r>
            <a:r>
              <a:rPr lang="en-US" altLang="zh-CN" sz="2000" dirty="0">
                <a:solidFill>
                  <a:schemeClr val="tx1">
                    <a:lumMod val="65000"/>
                    <a:lumOff val="35000"/>
                  </a:schemeClr>
                </a:solidFill>
              </a:rPr>
              <a:t>90</a:t>
            </a:r>
            <a:r>
              <a:rPr lang="zh-CN" altLang="en-US" sz="2000" dirty="0">
                <a:solidFill>
                  <a:schemeClr val="tx1">
                    <a:lumMod val="65000"/>
                    <a:lumOff val="35000"/>
                  </a:schemeClr>
                </a:solidFill>
              </a:rPr>
              <a:t>年代，开始在</a:t>
            </a:r>
            <a:r>
              <a:rPr lang="en-US" altLang="zh-CN" sz="2000" dirty="0">
                <a:solidFill>
                  <a:schemeClr val="tx1">
                    <a:lumMod val="65000"/>
                    <a:lumOff val="35000"/>
                  </a:schemeClr>
                </a:solidFill>
              </a:rPr>
              <a:t>PC</a:t>
            </a:r>
            <a:r>
              <a:rPr lang="zh-CN" altLang="en-US" sz="2000" dirty="0">
                <a:solidFill>
                  <a:schemeClr val="tx1">
                    <a:lumMod val="65000"/>
                    <a:lumOff val="35000"/>
                  </a:schemeClr>
                </a:solidFill>
              </a:rPr>
              <a:t>机上支持虚拟机，如</a:t>
            </a:r>
            <a:r>
              <a:rPr lang="en-US" altLang="zh-CN" sz="2000" dirty="0" err="1">
                <a:solidFill>
                  <a:schemeClr val="tx1">
                    <a:lumMod val="65000"/>
                    <a:lumOff val="35000"/>
                  </a:schemeClr>
                </a:solidFill>
              </a:rPr>
              <a:t>Vmware</a:t>
            </a:r>
            <a:endParaRPr lang="en-US" altLang="zh-CN" sz="2000" dirty="0">
              <a:solidFill>
                <a:schemeClr val="tx1">
                  <a:lumMod val="65000"/>
                  <a:lumOff val="35000"/>
                </a:schemeClr>
              </a:solidFill>
            </a:endParaRPr>
          </a:p>
          <a:p>
            <a:pPr marL="800100" lvl="2" indent="-342900">
              <a:lnSpc>
                <a:spcPct val="123000"/>
              </a:lnSpc>
              <a:spcBef>
                <a:spcPts val="300"/>
              </a:spcBef>
              <a:buClr>
                <a:srgbClr val="E71101"/>
              </a:buClr>
              <a:buSzPct val="60000"/>
              <a:buFont typeface="Wingdings" panose="05000000000000000000" pitchFamily="2" charset="2"/>
              <a:buChar char="l"/>
              <a:defRPr/>
            </a:pPr>
            <a:r>
              <a:rPr lang="zh-CN" altLang="en-US" sz="2000" dirty="0">
                <a:solidFill>
                  <a:schemeClr val="tx1">
                    <a:lumMod val="65000"/>
                    <a:lumOff val="35000"/>
                  </a:schemeClr>
                </a:solidFill>
              </a:rPr>
              <a:t>主机</a:t>
            </a:r>
            <a:r>
              <a:rPr lang="en-US" altLang="zh-CN" sz="2000" dirty="0">
                <a:solidFill>
                  <a:schemeClr val="tx1">
                    <a:lumMod val="65000"/>
                    <a:lumOff val="35000"/>
                  </a:schemeClr>
                </a:solidFill>
              </a:rPr>
              <a:t>OS</a:t>
            </a:r>
            <a:r>
              <a:rPr lang="zh-CN" altLang="en-US" sz="2000" dirty="0">
                <a:solidFill>
                  <a:schemeClr val="tx1">
                    <a:lumMod val="65000"/>
                    <a:lumOff val="35000"/>
                  </a:schemeClr>
                </a:solidFill>
              </a:rPr>
              <a:t>上运行的虚拟机，如</a:t>
            </a:r>
            <a:r>
              <a:rPr lang="en-US" altLang="zh-CN" sz="2000" dirty="0">
                <a:solidFill>
                  <a:schemeClr val="tx1">
                    <a:lumMod val="65000"/>
                    <a:lumOff val="35000"/>
                  </a:schemeClr>
                </a:solidFill>
              </a:rPr>
              <a:t>VMware Workstations</a:t>
            </a:r>
            <a:endParaRPr lang="en-US" altLang="zh-CN" sz="2000" dirty="0">
              <a:solidFill>
                <a:schemeClr val="tx1">
                  <a:lumMod val="65000"/>
                  <a:lumOff val="35000"/>
                </a:schemeClr>
              </a:solidFill>
            </a:endParaRPr>
          </a:p>
          <a:p>
            <a:pPr marL="800100" lvl="2" indent="-342900">
              <a:lnSpc>
                <a:spcPct val="123000"/>
              </a:lnSpc>
              <a:spcBef>
                <a:spcPts val="300"/>
              </a:spcBef>
              <a:buClr>
                <a:srgbClr val="E71101"/>
              </a:buClr>
              <a:buSzPct val="60000"/>
              <a:buFont typeface="Wingdings" panose="05000000000000000000" pitchFamily="2" charset="2"/>
              <a:buChar char="l"/>
              <a:defRPr/>
            </a:pPr>
            <a:r>
              <a:rPr lang="zh-CN" altLang="en-US" sz="2000" dirty="0">
                <a:solidFill>
                  <a:schemeClr val="tx1">
                    <a:lumMod val="65000"/>
                    <a:lumOff val="35000"/>
                  </a:schemeClr>
                </a:solidFill>
              </a:rPr>
              <a:t>主机上直接运行的虚拟机，如</a:t>
            </a:r>
            <a:r>
              <a:rPr lang="en-US" altLang="zh-CN" sz="2000" dirty="0">
                <a:solidFill>
                  <a:schemeClr val="tx1">
                    <a:lumMod val="65000"/>
                    <a:lumOff val="35000"/>
                  </a:schemeClr>
                </a:solidFill>
              </a:rPr>
              <a:t>VMware ESX</a:t>
            </a:r>
            <a:r>
              <a:rPr lang="zh-CN" altLang="en-US" sz="2000" dirty="0">
                <a:solidFill>
                  <a:schemeClr val="tx1">
                    <a:lumMod val="65000"/>
                    <a:lumOff val="35000"/>
                  </a:schemeClr>
                </a:solidFill>
              </a:rPr>
              <a:t>，</a:t>
            </a:r>
            <a:r>
              <a:rPr lang="en-US" altLang="zh-CN" sz="2000" dirty="0" err="1">
                <a:solidFill>
                  <a:schemeClr val="tx1">
                    <a:lumMod val="65000"/>
                    <a:lumOff val="35000"/>
                  </a:schemeClr>
                </a:solidFill>
              </a:rPr>
              <a:t>Critrix</a:t>
            </a:r>
            <a:r>
              <a:rPr lang="en-US" altLang="zh-CN" sz="2000" dirty="0">
                <a:solidFill>
                  <a:schemeClr val="tx1">
                    <a:lumMod val="65000"/>
                    <a:lumOff val="35000"/>
                  </a:schemeClr>
                </a:solidFill>
              </a:rPr>
              <a:t> </a:t>
            </a:r>
            <a:r>
              <a:rPr lang="en-US" altLang="zh-CN" sz="2000" dirty="0" err="1">
                <a:solidFill>
                  <a:schemeClr val="tx1">
                    <a:lumMod val="65000"/>
                    <a:lumOff val="35000"/>
                  </a:schemeClr>
                </a:solidFill>
              </a:rPr>
              <a:t>XenServer</a:t>
            </a:r>
            <a:endParaRPr lang="en-US" altLang="zh-CN" sz="2000" dirty="0">
              <a:solidFill>
                <a:schemeClr val="tx1">
                  <a:lumMod val="65000"/>
                  <a:lumOff val="35000"/>
                </a:schemeClr>
              </a:solidFill>
            </a:endParaRPr>
          </a:p>
          <a:p>
            <a:pPr marL="342900" lvl="1" indent="-342900">
              <a:lnSpc>
                <a:spcPct val="123000"/>
              </a:lnSpc>
              <a:spcBef>
                <a:spcPts val="300"/>
              </a:spcBef>
              <a:buClr>
                <a:srgbClr val="E71101"/>
              </a:buClr>
              <a:buSzPct val="60000"/>
              <a:buFont typeface="Wingdings" panose="05000000000000000000" pitchFamily="2" charset="2"/>
              <a:buChar char="n"/>
              <a:defRPr/>
            </a:pPr>
            <a:endParaRPr lang="zh-CN" altLang="en-US" sz="2200" dirty="0">
              <a:solidFill>
                <a:schemeClr val="tx1">
                  <a:lumMod val="65000"/>
                  <a:lumOff val="35000"/>
                </a:schemeClr>
              </a:solidFill>
            </a:endParaRPr>
          </a:p>
        </p:txBody>
      </p:sp>
      <p:grpSp>
        <p:nvGrpSpPr>
          <p:cNvPr id="8" name="组合 7"/>
          <p:cNvGrpSpPr/>
          <p:nvPr/>
        </p:nvGrpSpPr>
        <p:grpSpPr>
          <a:xfrm>
            <a:off x="518857" y="1247754"/>
            <a:ext cx="712277" cy="418475"/>
            <a:chOff x="673100" y="2982961"/>
            <a:chExt cx="1597850" cy="938764"/>
          </a:xfrm>
        </p:grpSpPr>
        <p:sp>
          <p:nvSpPr>
            <p:cNvPr id="9"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10"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grpSp>
        <p:nvGrpSpPr>
          <p:cNvPr id="11" name="组合 10"/>
          <p:cNvGrpSpPr/>
          <p:nvPr/>
        </p:nvGrpSpPr>
        <p:grpSpPr>
          <a:xfrm>
            <a:off x="518857" y="3477138"/>
            <a:ext cx="762024" cy="418475"/>
            <a:chOff x="673100" y="2982961"/>
            <a:chExt cx="1597850" cy="938764"/>
          </a:xfrm>
        </p:grpSpPr>
        <p:sp>
          <p:nvSpPr>
            <p:cNvPr id="12"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13"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sp>
        <p:nvSpPr>
          <p:cNvPr id="14" name="内容占位符 2"/>
          <p:cNvSpPr txBox="1"/>
          <p:nvPr/>
        </p:nvSpPr>
        <p:spPr>
          <a:xfrm>
            <a:off x="1471532" y="3366856"/>
            <a:ext cx="10344647" cy="29718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en-US" altLang="zh-CN" sz="2400" dirty="0">
                <a:solidFill>
                  <a:srgbClr val="FF0000"/>
                </a:solidFill>
              </a:rPr>
              <a:t>Java</a:t>
            </a:r>
            <a:r>
              <a:rPr lang="zh-CN" altLang="en-US" sz="2400" dirty="0">
                <a:solidFill>
                  <a:srgbClr val="FF0000"/>
                </a:solidFill>
              </a:rPr>
              <a:t>虚拟机</a:t>
            </a:r>
            <a:r>
              <a:rPr lang="en-US" altLang="zh-CN" sz="2400" dirty="0"/>
              <a:t>JVM</a:t>
            </a:r>
            <a:r>
              <a:rPr lang="zh-CN" altLang="en-US" sz="2400" dirty="0"/>
              <a:t>，</a:t>
            </a:r>
            <a:r>
              <a:rPr lang="en-US" altLang="zh-CN" sz="2400" dirty="0"/>
              <a:t>Sun Microsystems</a:t>
            </a:r>
            <a:r>
              <a:rPr lang="zh-CN" altLang="en-US" sz="2400" dirty="0"/>
              <a:t>公司发明</a:t>
            </a:r>
            <a:endParaRPr lang="en-US" altLang="zh-CN" sz="2400" dirty="0"/>
          </a:p>
          <a:p>
            <a:pPr marL="342900" lvl="1" indent="-342900">
              <a:lnSpc>
                <a:spcPct val="123000"/>
              </a:lnSpc>
              <a:spcBef>
                <a:spcPts val="300"/>
              </a:spcBef>
              <a:spcAft>
                <a:spcPts val="600"/>
              </a:spcAft>
              <a:buClr>
                <a:srgbClr val="E71101"/>
              </a:buClr>
              <a:buSzPct val="100000"/>
              <a:buFont typeface="Wingdings" panose="05000000000000000000" pitchFamily="2" charset="2"/>
              <a:buChar char="n"/>
              <a:defRPr/>
            </a:pPr>
            <a:r>
              <a:rPr lang="en-US" altLang="zh-CN" sz="2000" dirty="0">
                <a:solidFill>
                  <a:schemeClr val="tx1">
                    <a:lumMod val="65000"/>
                    <a:lumOff val="35000"/>
                  </a:schemeClr>
                </a:solidFill>
              </a:rPr>
              <a:t>JVM</a:t>
            </a:r>
            <a:r>
              <a:rPr lang="zh-CN" altLang="en-US" sz="2000" dirty="0">
                <a:solidFill>
                  <a:schemeClr val="tx1">
                    <a:lumMod val="65000"/>
                    <a:lumOff val="35000"/>
                  </a:schemeClr>
                </a:solidFill>
              </a:rPr>
              <a:t>有自己完善的硬体架构，如处理器、堆栈、寄存器等，还具有相应的指令系统。</a:t>
            </a:r>
            <a:endParaRPr lang="zh-CN" altLang="en-US" sz="2000" dirty="0">
              <a:solidFill>
                <a:schemeClr val="tx1">
                  <a:lumMod val="65000"/>
                  <a:lumOff val="35000"/>
                </a:schemeClr>
              </a:solidFill>
            </a:endParaRPr>
          </a:p>
          <a:p>
            <a:pPr marL="342900" lvl="1" indent="-342900">
              <a:lnSpc>
                <a:spcPct val="123000"/>
              </a:lnSpc>
              <a:spcBef>
                <a:spcPts val="300"/>
              </a:spcBef>
              <a:spcAft>
                <a:spcPts val="600"/>
              </a:spcAft>
              <a:buClr>
                <a:srgbClr val="E71101"/>
              </a:buClr>
              <a:buSzPct val="100000"/>
              <a:buFont typeface="Wingdings" panose="05000000000000000000" pitchFamily="2" charset="2"/>
              <a:buChar char="n"/>
              <a:defRPr/>
            </a:pPr>
            <a:r>
              <a:rPr lang="zh-CN" altLang="en-US" sz="2000" dirty="0">
                <a:solidFill>
                  <a:schemeClr val="tx1">
                    <a:lumMod val="65000"/>
                    <a:lumOff val="35000"/>
                  </a:schemeClr>
                </a:solidFill>
              </a:rPr>
              <a:t>它屏蔽了与具体</a:t>
            </a:r>
            <a:r>
              <a:rPr lang="en-US" altLang="zh-CN" sz="2000" dirty="0">
                <a:solidFill>
                  <a:schemeClr val="tx1">
                    <a:lumMod val="65000"/>
                    <a:lumOff val="35000"/>
                  </a:schemeClr>
                </a:solidFill>
              </a:rPr>
              <a:t>OS</a:t>
            </a:r>
            <a:r>
              <a:rPr lang="zh-CN" altLang="en-US" sz="2000" dirty="0">
                <a:solidFill>
                  <a:schemeClr val="tx1">
                    <a:lumMod val="65000"/>
                    <a:lumOff val="35000"/>
                  </a:schemeClr>
                </a:solidFill>
              </a:rPr>
              <a:t>平台相关的信息，使得</a:t>
            </a:r>
            <a:r>
              <a:rPr lang="en-US" altLang="zh-CN" sz="2000" dirty="0">
                <a:solidFill>
                  <a:schemeClr val="tx1">
                    <a:lumMod val="65000"/>
                    <a:lumOff val="35000"/>
                  </a:schemeClr>
                </a:solidFill>
              </a:rPr>
              <a:t>Java</a:t>
            </a:r>
            <a:r>
              <a:rPr lang="zh-CN" altLang="en-US" sz="2000" dirty="0">
                <a:solidFill>
                  <a:schemeClr val="tx1">
                    <a:lumMod val="65000"/>
                    <a:lumOff val="35000"/>
                  </a:schemeClr>
                </a:solidFill>
              </a:rPr>
              <a:t>编译器只须生成在</a:t>
            </a:r>
            <a:r>
              <a:rPr lang="en-US" altLang="zh-CN" sz="2000" dirty="0">
                <a:solidFill>
                  <a:schemeClr val="tx1">
                    <a:lumMod val="65000"/>
                    <a:lumOff val="35000"/>
                  </a:schemeClr>
                </a:solidFill>
              </a:rPr>
              <a:t>Java</a:t>
            </a:r>
            <a:r>
              <a:rPr lang="zh-CN" altLang="en-US" sz="2000" dirty="0">
                <a:solidFill>
                  <a:schemeClr val="tx1">
                    <a:lumMod val="65000"/>
                    <a:lumOff val="35000"/>
                  </a:schemeClr>
                </a:solidFill>
              </a:rPr>
              <a:t>虚拟机上运行的目标代码），就可以使该代码在多种平台上不加修改地运行。</a:t>
            </a:r>
            <a:endParaRPr lang="zh-CN" altLang="en-US" sz="2000" dirty="0">
              <a:solidFill>
                <a:schemeClr val="tx1">
                  <a:lumMod val="65000"/>
                  <a:lumOff val="35000"/>
                </a:schemeClr>
              </a:solidFill>
            </a:endParaRPr>
          </a:p>
          <a:p>
            <a:pPr marL="342900" lvl="1" indent="-342900">
              <a:lnSpc>
                <a:spcPct val="123000"/>
              </a:lnSpc>
              <a:spcBef>
                <a:spcPts val="300"/>
              </a:spcBef>
              <a:spcAft>
                <a:spcPts val="600"/>
              </a:spcAft>
              <a:buClr>
                <a:srgbClr val="E71101"/>
              </a:buClr>
              <a:buSzPct val="100000"/>
              <a:buFont typeface="Wingdings" panose="05000000000000000000" pitchFamily="2" charset="2"/>
              <a:buChar char="n"/>
              <a:defRPr/>
            </a:pPr>
            <a:r>
              <a:rPr lang="zh-CN" altLang="en-US" sz="2000" dirty="0">
                <a:solidFill>
                  <a:schemeClr val="tx1">
                    <a:lumMod val="65000"/>
                    <a:lumOff val="35000"/>
                  </a:schemeClr>
                </a:solidFill>
              </a:rPr>
              <a:t>优点：字节码可以通过互联网传输到任何有</a:t>
            </a:r>
            <a:r>
              <a:rPr lang="en-US" altLang="zh-CN" sz="2000" dirty="0">
                <a:solidFill>
                  <a:schemeClr val="tx1">
                    <a:lumMod val="65000"/>
                    <a:lumOff val="35000"/>
                  </a:schemeClr>
                </a:solidFill>
              </a:rPr>
              <a:t>Java</a:t>
            </a:r>
            <a:r>
              <a:rPr lang="zh-CN" altLang="en-US" sz="2000" dirty="0">
                <a:solidFill>
                  <a:schemeClr val="tx1">
                    <a:lumMod val="65000"/>
                    <a:lumOff val="35000"/>
                  </a:schemeClr>
                </a:solidFill>
              </a:rPr>
              <a:t>解释器的计算机上，并在该计算机上执行；</a:t>
            </a:r>
            <a:r>
              <a:rPr lang="en-US" altLang="zh-CN" sz="2000" dirty="0">
                <a:solidFill>
                  <a:schemeClr val="tx1">
                    <a:lumMod val="65000"/>
                    <a:lumOff val="35000"/>
                  </a:schemeClr>
                </a:solidFill>
              </a:rPr>
              <a:t>Java</a:t>
            </a:r>
            <a:r>
              <a:rPr lang="zh-CN" altLang="en-US" sz="2000" dirty="0">
                <a:solidFill>
                  <a:schemeClr val="tx1">
                    <a:lumMod val="65000"/>
                    <a:lumOff val="35000"/>
                  </a:schemeClr>
                </a:solidFill>
              </a:rPr>
              <a:t>解释器正确完成解释任务，还要对所输入的字节码进行安全性检查，然后在一种保护环境下执行该代码，这样程序就不能偷窃数据或进行其他任何有害的操作</a:t>
            </a:r>
            <a:endParaRPr lang="zh-CN" altLang="en-US" sz="2000" dirty="0">
              <a:solidFill>
                <a:schemeClr val="tx1">
                  <a:lumMod val="65000"/>
                  <a:lumOff val="35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11.1.3 </a:t>
            </a:r>
            <a:r>
              <a:rPr lang="zh-CN" altLang="en-US" sz="2800" b="1" dirty="0">
                <a:solidFill>
                  <a:schemeClr val="bg1"/>
                </a:solidFill>
                <a:cs typeface="+mn-ea"/>
                <a:sym typeface="+mn-lt"/>
              </a:rPr>
              <a:t>虚拟化的必要条件（</a:t>
            </a:r>
            <a:r>
              <a:rPr lang="en-US" altLang="zh-CN" sz="2800" b="1" dirty="0">
                <a:solidFill>
                  <a:schemeClr val="bg1"/>
                </a:solidFill>
                <a:cs typeface="+mn-ea"/>
                <a:sym typeface="+mn-lt"/>
              </a:rPr>
              <a:t>1</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3" name="内容占位符 2"/>
          <p:cNvSpPr txBox="1"/>
          <p:nvPr/>
        </p:nvSpPr>
        <p:spPr>
          <a:xfrm>
            <a:off x="731093" y="1668581"/>
            <a:ext cx="10729807" cy="12936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50000"/>
              </a:lnSpc>
              <a:spcBef>
                <a:spcPts val="0"/>
              </a:spcBef>
              <a:buClr>
                <a:srgbClr val="FF0000"/>
              </a:buClr>
              <a:buFont typeface="Wingdings" panose="05000000000000000000" pitchFamily="2" charset="2"/>
              <a:buChar char="p"/>
            </a:pPr>
            <a:r>
              <a:rPr lang="zh-CN" altLang="en-US" sz="2400" dirty="0"/>
              <a:t>具有裸金属架构的虚拟化技术，</a:t>
            </a:r>
            <a:r>
              <a:rPr lang="en-US" altLang="zh-CN" sz="2400" dirty="0"/>
              <a:t>VMM</a:t>
            </a:r>
            <a:r>
              <a:rPr lang="zh-CN" altLang="en-US" sz="2400" dirty="0"/>
              <a:t>称为</a:t>
            </a:r>
            <a:r>
              <a:rPr lang="en-US" altLang="zh-CN" sz="2400" dirty="0"/>
              <a:t>Type 1 VMM</a:t>
            </a:r>
            <a:r>
              <a:rPr lang="zh-CN" altLang="zh-CN" sz="2400" dirty="0"/>
              <a:t>，或</a:t>
            </a:r>
            <a:r>
              <a:rPr lang="en-US" altLang="zh-CN" sz="2400" dirty="0"/>
              <a:t>hypervisor</a:t>
            </a:r>
            <a:endParaRPr lang="en-US" altLang="zh-CN" sz="2400" dirty="0"/>
          </a:p>
          <a:p>
            <a:pPr lvl="1" indent="-457200">
              <a:lnSpc>
                <a:spcPct val="150000"/>
              </a:lnSpc>
              <a:spcBef>
                <a:spcPts val="0"/>
              </a:spcBef>
              <a:buClr>
                <a:srgbClr val="FF0000"/>
              </a:buClr>
              <a:buFont typeface="Wingdings" panose="05000000000000000000" pitchFamily="2" charset="2"/>
              <a:buChar char="p"/>
            </a:pPr>
            <a:r>
              <a:rPr lang="zh-CN" altLang="en-US" sz="2400" dirty="0"/>
              <a:t>具有寄居架构的虚拟化技术，</a:t>
            </a:r>
            <a:r>
              <a:rPr lang="en-US" altLang="zh-CN" sz="2400" dirty="0"/>
              <a:t> VMM</a:t>
            </a:r>
            <a:r>
              <a:rPr lang="zh-CN" altLang="en-US" sz="2400" dirty="0"/>
              <a:t>称为</a:t>
            </a:r>
            <a:r>
              <a:rPr lang="en-US" altLang="zh-CN" sz="2400" dirty="0"/>
              <a:t>Type 2 VMM</a:t>
            </a:r>
            <a:endParaRPr lang="en-US" altLang="zh-CN" sz="2400" dirty="0"/>
          </a:p>
        </p:txBody>
      </p:sp>
      <p:pic>
        <p:nvPicPr>
          <p:cNvPr id="4" name="图片 3"/>
          <p:cNvPicPr>
            <a:picLocks noChangeAspect="1"/>
          </p:cNvPicPr>
          <p:nvPr/>
        </p:nvPicPr>
        <p:blipFill>
          <a:blip r:embed="rId1">
            <a:clrChange>
              <a:clrFrom>
                <a:srgbClr val="FFFFFF"/>
              </a:clrFrom>
              <a:clrTo>
                <a:srgbClr val="FFFFFF">
                  <a:alpha val="0"/>
                </a:srgbClr>
              </a:clrTo>
            </a:clrChange>
          </a:blip>
          <a:stretch>
            <a:fillRect/>
          </a:stretch>
        </p:blipFill>
        <p:spPr>
          <a:xfrm>
            <a:off x="1037804" y="2891963"/>
            <a:ext cx="8079563" cy="3362511"/>
          </a:xfrm>
          <a:prstGeom prst="rect">
            <a:avLst/>
          </a:prstGeom>
        </p:spPr>
      </p:pic>
      <p:sp>
        <p:nvSpPr>
          <p:cNvPr id="5" name="内容占位符 2"/>
          <p:cNvSpPr txBox="1"/>
          <p:nvPr/>
        </p:nvSpPr>
        <p:spPr>
          <a:xfrm>
            <a:off x="489048" y="1147975"/>
            <a:ext cx="11213899" cy="6213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32000"/>
              </a:lnSpc>
              <a:buNone/>
            </a:pPr>
            <a:r>
              <a:rPr lang="zh-CN" altLang="en-US" sz="2400" dirty="0">
                <a:latin typeface="+mn-ea"/>
              </a:rPr>
              <a:t>虚拟化技术的</a:t>
            </a:r>
            <a:r>
              <a:rPr lang="zh-CN" altLang="en-US" sz="2400" dirty="0">
                <a:solidFill>
                  <a:srgbClr val="FF0000"/>
                </a:solidFill>
                <a:latin typeface="+mn-ea"/>
              </a:rPr>
              <a:t>分类</a:t>
            </a:r>
            <a:r>
              <a:rPr lang="zh-CN" altLang="en-US" sz="2400" dirty="0">
                <a:latin typeface="+mn-ea"/>
              </a:rPr>
              <a:t>：</a:t>
            </a:r>
            <a:endParaRPr lang="zh-CN" altLang="en-US" sz="2400" dirty="0">
              <a:latin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虚拟化的必要条件（</a:t>
            </a:r>
            <a:r>
              <a:rPr lang="en-US" altLang="zh-CN" sz="2800" b="1" dirty="0">
                <a:solidFill>
                  <a:schemeClr val="bg1"/>
                </a:solidFill>
                <a:cs typeface="+mn-ea"/>
                <a:sym typeface="+mn-lt"/>
              </a:rPr>
              <a:t>2</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pic>
        <p:nvPicPr>
          <p:cNvPr id="3" name="图片 2"/>
          <p:cNvPicPr>
            <a:picLocks noChangeAspect="1"/>
          </p:cNvPicPr>
          <p:nvPr/>
        </p:nvPicPr>
        <p:blipFill>
          <a:blip r:embed="rId1">
            <a:clrChange>
              <a:clrFrom>
                <a:srgbClr val="FFFFFF"/>
              </a:clrFrom>
              <a:clrTo>
                <a:srgbClr val="FFFFFF">
                  <a:alpha val="0"/>
                </a:srgbClr>
              </a:clrTo>
            </a:clrChange>
          </a:blip>
          <a:stretch>
            <a:fillRect/>
          </a:stretch>
        </p:blipFill>
        <p:spPr>
          <a:xfrm>
            <a:off x="8528045" y="4375707"/>
            <a:ext cx="2640178" cy="2083163"/>
          </a:xfrm>
          <a:prstGeom prst="rect">
            <a:avLst/>
          </a:prstGeom>
          <a:noFill/>
        </p:spPr>
      </p:pic>
      <p:sp>
        <p:nvSpPr>
          <p:cNvPr id="4" name="内容占位符 2"/>
          <p:cNvSpPr txBox="1"/>
          <p:nvPr/>
        </p:nvSpPr>
        <p:spPr>
          <a:xfrm>
            <a:off x="1384916" y="1163092"/>
            <a:ext cx="10262587" cy="36929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600"/>
              </a:spcBef>
              <a:spcAft>
                <a:spcPts val="600"/>
              </a:spcAft>
              <a:buNone/>
            </a:pPr>
            <a:r>
              <a:rPr lang="zh-CN" altLang="en-US" sz="2200" dirty="0"/>
              <a:t>敏感指令：一组</a:t>
            </a:r>
            <a:r>
              <a:rPr lang="zh-CN" altLang="zh-CN" sz="2200" dirty="0"/>
              <a:t>操作特权资源的指令，如</a:t>
            </a:r>
            <a:r>
              <a:rPr lang="en-US" altLang="zh-CN" sz="2200" dirty="0"/>
              <a:t>I/O</a:t>
            </a:r>
            <a:r>
              <a:rPr lang="zh-CN" altLang="zh-CN" sz="2200" dirty="0"/>
              <a:t>指令、改变内存管理单元状态的指令、读</a:t>
            </a:r>
            <a:r>
              <a:rPr lang="en-US" altLang="zh-CN" sz="2200" dirty="0"/>
              <a:t>/</a:t>
            </a:r>
            <a:r>
              <a:rPr lang="zh-CN" altLang="zh-CN" sz="2200" dirty="0"/>
              <a:t>写时钟与中断等寄存器的指令等。</a:t>
            </a:r>
            <a:endParaRPr lang="en-US" altLang="zh-CN" sz="2200" dirty="0"/>
          </a:p>
          <a:p>
            <a:pPr marL="0" indent="0">
              <a:lnSpc>
                <a:spcPct val="120000"/>
              </a:lnSpc>
              <a:spcBef>
                <a:spcPts val="600"/>
              </a:spcBef>
              <a:spcAft>
                <a:spcPts val="600"/>
              </a:spcAft>
              <a:buNone/>
            </a:pPr>
            <a:r>
              <a:rPr lang="zh-CN" altLang="en-US" sz="2200" dirty="0"/>
              <a:t>特权指令：只能在内核态下运行的指令。</a:t>
            </a:r>
            <a:endParaRPr lang="en-US" altLang="zh-CN" sz="2200" dirty="0"/>
          </a:p>
          <a:p>
            <a:pPr marL="0" indent="0">
              <a:lnSpc>
                <a:spcPct val="120000"/>
              </a:lnSpc>
              <a:spcBef>
                <a:spcPts val="600"/>
              </a:spcBef>
              <a:spcAft>
                <a:spcPts val="600"/>
              </a:spcAft>
              <a:buNone/>
            </a:pPr>
            <a:r>
              <a:rPr lang="zh-CN" altLang="en-US" sz="2200" u="sng" dirty="0">
                <a:solidFill>
                  <a:srgbClr val="FF0000"/>
                </a:solidFill>
              </a:rPr>
              <a:t>当且仅当</a:t>
            </a:r>
            <a:r>
              <a:rPr lang="zh-CN" altLang="zh-CN" sz="2200" u="sng" dirty="0">
                <a:solidFill>
                  <a:srgbClr val="FF0000"/>
                </a:solidFill>
              </a:rPr>
              <a:t>敏感指令是特权指令的子集时，机器才是可虚拟化的。</a:t>
            </a:r>
            <a:endParaRPr lang="en-US" altLang="zh-CN" sz="2200" u="sng" dirty="0"/>
          </a:p>
          <a:p>
            <a:pPr marL="0" indent="0">
              <a:lnSpc>
                <a:spcPct val="120000"/>
              </a:lnSpc>
              <a:spcBef>
                <a:spcPts val="600"/>
              </a:spcBef>
              <a:spcAft>
                <a:spcPts val="600"/>
              </a:spcAft>
              <a:buNone/>
            </a:pPr>
            <a:r>
              <a:rPr lang="en-US" altLang="zh-CN" sz="2200" dirty="0"/>
              <a:t>Intel x86</a:t>
            </a:r>
            <a:r>
              <a:rPr lang="zh-CN" altLang="en-US" sz="2200" dirty="0"/>
              <a:t>体系结构不具有这种特性，</a:t>
            </a:r>
            <a:r>
              <a:rPr lang="en-US" altLang="zh-CN" sz="2200" dirty="0"/>
              <a:t>IBM VM/370</a:t>
            </a:r>
            <a:r>
              <a:rPr lang="zh-CN" altLang="zh-CN" sz="2200" dirty="0"/>
              <a:t>具有这种特性。</a:t>
            </a:r>
            <a:endParaRPr lang="en-US" altLang="zh-CN" sz="2200" dirty="0"/>
          </a:p>
          <a:p>
            <a:pPr marL="0" indent="0">
              <a:lnSpc>
                <a:spcPct val="120000"/>
              </a:lnSpc>
              <a:spcBef>
                <a:spcPts val="600"/>
              </a:spcBef>
              <a:spcAft>
                <a:spcPts val="600"/>
              </a:spcAft>
              <a:buNone/>
            </a:pPr>
            <a:r>
              <a:rPr lang="zh-CN" altLang="en-US" sz="2200" dirty="0"/>
              <a:t>因此，</a:t>
            </a:r>
            <a:r>
              <a:rPr lang="en-US" altLang="zh-CN" sz="2200" dirty="0"/>
              <a:t>Intel x86</a:t>
            </a:r>
            <a:r>
              <a:rPr lang="zh-CN" altLang="zh-CN" sz="2200" dirty="0"/>
              <a:t>体系结构是不可虚拟化的</a:t>
            </a:r>
            <a:r>
              <a:rPr lang="zh-CN" altLang="en-US" sz="2200" dirty="0"/>
              <a:t>，不支持</a:t>
            </a:r>
            <a:r>
              <a:rPr lang="en-US" altLang="zh-CN" sz="2200" dirty="0"/>
              <a:t>Type 1 VMM</a:t>
            </a:r>
            <a:r>
              <a:rPr lang="zh-CN" altLang="en-US" sz="2200" dirty="0"/>
              <a:t>。</a:t>
            </a:r>
            <a:endParaRPr lang="en-US" altLang="zh-CN" sz="2200" dirty="0"/>
          </a:p>
          <a:p>
            <a:pPr marL="0" indent="0">
              <a:lnSpc>
                <a:spcPct val="120000"/>
              </a:lnSpc>
              <a:spcBef>
                <a:spcPts val="600"/>
              </a:spcBef>
              <a:spcAft>
                <a:spcPts val="600"/>
              </a:spcAft>
              <a:buNone/>
            </a:pPr>
            <a:r>
              <a:rPr lang="en-US" altLang="zh-CN" sz="2200" dirty="0"/>
              <a:t>2005</a:t>
            </a:r>
            <a:r>
              <a:rPr lang="zh-CN" altLang="en-US" sz="2200" dirty="0"/>
              <a:t>年开始，</a:t>
            </a:r>
            <a:r>
              <a:rPr lang="en-US" altLang="zh-CN" sz="2200" dirty="0"/>
              <a:t> Intel</a:t>
            </a:r>
            <a:r>
              <a:rPr lang="zh-CN" altLang="zh-CN" sz="2200" dirty="0"/>
              <a:t>和</a:t>
            </a:r>
            <a:r>
              <a:rPr lang="en-US" altLang="zh-CN" sz="2200" dirty="0"/>
              <a:t>AMD</a:t>
            </a:r>
            <a:r>
              <a:rPr lang="zh-CN" altLang="en-US" sz="2200" dirty="0"/>
              <a:t>在处理机上引进虚拟化技术：</a:t>
            </a:r>
            <a:endParaRPr lang="en-US" altLang="zh-CN" sz="2200" dirty="0"/>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54523" y="1163092"/>
            <a:ext cx="527050" cy="527050"/>
          </a:xfrm>
          <a:prstGeom prst="rect">
            <a:avLst/>
          </a:prstGeom>
          <a:ln>
            <a:noFill/>
          </a:ln>
          <a:effectLst>
            <a:softEdge rad="0"/>
          </a:effectLst>
        </p:spPr>
      </p:pic>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54523" y="2042291"/>
            <a:ext cx="527050" cy="527050"/>
          </a:xfrm>
          <a:prstGeom prst="rect">
            <a:avLst/>
          </a:prstGeom>
          <a:ln>
            <a:noFill/>
          </a:ln>
          <a:effectLst>
            <a:softEdge rad="0"/>
          </a:effectLst>
        </p:spPr>
      </p:pic>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54523" y="2628470"/>
            <a:ext cx="527050" cy="527050"/>
          </a:xfrm>
          <a:prstGeom prst="rect">
            <a:avLst/>
          </a:prstGeom>
          <a:ln>
            <a:noFill/>
          </a:ln>
          <a:effectLst>
            <a:softEdge rad="0"/>
          </a:effectLst>
        </p:spPr>
      </p:pic>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54523" y="3225098"/>
            <a:ext cx="527050" cy="527050"/>
          </a:xfrm>
          <a:prstGeom prst="rect">
            <a:avLst/>
          </a:prstGeom>
          <a:ln>
            <a:noFill/>
          </a:ln>
          <a:effectLst>
            <a:softEdge rad="0"/>
          </a:effectLst>
        </p:spPr>
      </p:pic>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54523" y="3761026"/>
            <a:ext cx="527050" cy="527050"/>
          </a:xfrm>
          <a:prstGeom prst="rect">
            <a:avLst/>
          </a:prstGeom>
          <a:ln>
            <a:noFill/>
          </a:ln>
          <a:effectLst>
            <a:softEdge rad="0"/>
          </a:effectLst>
        </p:spPr>
      </p:pic>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54523" y="4367978"/>
            <a:ext cx="527050" cy="527050"/>
          </a:xfrm>
          <a:prstGeom prst="rect">
            <a:avLst/>
          </a:prstGeom>
          <a:ln>
            <a:noFill/>
          </a:ln>
          <a:effectLst>
            <a:softEdge rad="0"/>
          </a:effectLst>
        </p:spPr>
      </p:pic>
      <p:sp>
        <p:nvSpPr>
          <p:cNvPr id="11" name="内容占位符 2"/>
          <p:cNvSpPr txBox="1"/>
          <p:nvPr/>
        </p:nvSpPr>
        <p:spPr>
          <a:xfrm>
            <a:off x="1145127" y="4844573"/>
            <a:ext cx="6903639" cy="14965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00000"/>
              </a:lnSpc>
              <a:spcBef>
                <a:spcPts val="600"/>
              </a:spcBef>
              <a:spcAft>
                <a:spcPts val="600"/>
              </a:spcAft>
              <a:buClr>
                <a:srgbClr val="FF0000"/>
              </a:buClr>
              <a:buFont typeface="Wingdings" panose="05000000000000000000" pitchFamily="2" charset="2"/>
              <a:buChar char="Ø"/>
            </a:pPr>
            <a:r>
              <a:rPr lang="en-US" altLang="zh-CN" sz="2200" dirty="0"/>
              <a:t>Intel </a:t>
            </a:r>
            <a:r>
              <a:rPr lang="zh-CN" altLang="en-US" sz="2200" dirty="0"/>
              <a:t>虚拟机</a:t>
            </a:r>
            <a:r>
              <a:rPr lang="en-US" altLang="zh-CN" sz="2200" dirty="0"/>
              <a:t>(Intel VT)</a:t>
            </a:r>
            <a:endParaRPr lang="en-US" altLang="zh-CN" sz="2200" dirty="0"/>
          </a:p>
          <a:p>
            <a:pPr lvl="1" indent="-457200">
              <a:lnSpc>
                <a:spcPct val="100000"/>
              </a:lnSpc>
              <a:spcBef>
                <a:spcPts val="600"/>
              </a:spcBef>
              <a:spcAft>
                <a:spcPts val="600"/>
              </a:spcAft>
              <a:buClr>
                <a:srgbClr val="FF0000"/>
              </a:buClr>
              <a:buFont typeface="Wingdings" panose="05000000000000000000" pitchFamily="2" charset="2"/>
              <a:buChar char="Ø"/>
            </a:pPr>
            <a:r>
              <a:rPr lang="zh-CN" altLang="en-US" sz="2200" dirty="0"/>
              <a:t>安全虚拟机</a:t>
            </a:r>
            <a:r>
              <a:rPr lang="en-US" altLang="zh-CN" sz="2200" dirty="0"/>
              <a:t>SVM (AMD Pacific CPU</a:t>
            </a:r>
            <a:r>
              <a:rPr lang="zh-CN" altLang="zh-CN" sz="2200" dirty="0"/>
              <a:t>上</a:t>
            </a:r>
            <a:r>
              <a:rPr lang="en-US" altLang="zh-CN" sz="2200" dirty="0"/>
              <a:t>)</a:t>
            </a:r>
            <a:endParaRPr lang="en-US" altLang="zh-CN" sz="2200" dirty="0"/>
          </a:p>
          <a:p>
            <a:pPr lvl="1" indent="-457200">
              <a:lnSpc>
                <a:spcPct val="100000"/>
              </a:lnSpc>
              <a:spcBef>
                <a:spcPts val="600"/>
              </a:spcBef>
              <a:spcAft>
                <a:spcPts val="600"/>
              </a:spcAft>
              <a:buClr>
                <a:srgbClr val="FF0000"/>
              </a:buClr>
              <a:buFont typeface="Wingdings" panose="05000000000000000000" pitchFamily="2" charset="2"/>
              <a:buChar char="Ø"/>
            </a:pPr>
            <a:r>
              <a:rPr lang="zh-CN" altLang="en-US" sz="2200" dirty="0"/>
              <a:t>基本</a:t>
            </a:r>
            <a:r>
              <a:rPr lang="zh-CN" altLang="zh-CN" sz="2200" dirty="0"/>
              <a:t>思想是创建容器以使虚拟机可以在其内运行</a:t>
            </a:r>
            <a:endParaRPr lang="en-US" altLang="zh-CN"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11.1.4 </a:t>
            </a:r>
            <a:r>
              <a:rPr lang="zh-CN" altLang="en-US" sz="2800" b="1" dirty="0">
                <a:solidFill>
                  <a:schemeClr val="bg1"/>
                </a:solidFill>
                <a:cs typeface="+mn-ea"/>
                <a:sym typeface="+mn-lt"/>
              </a:rPr>
              <a:t>虚拟化的实现方法（</a:t>
            </a:r>
            <a:r>
              <a:rPr lang="en-US" altLang="zh-CN" sz="2800" b="1" dirty="0">
                <a:solidFill>
                  <a:schemeClr val="bg1"/>
                </a:solidFill>
                <a:cs typeface="+mn-ea"/>
                <a:sym typeface="+mn-lt"/>
              </a:rPr>
              <a:t>1</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pic>
        <p:nvPicPr>
          <p:cNvPr id="4" name="图片 3"/>
          <p:cNvPicPr>
            <a:picLocks noChangeAspect="1"/>
          </p:cNvPicPr>
          <p:nvPr/>
        </p:nvPicPr>
        <p:blipFill>
          <a:blip r:embed="rId1">
            <a:clrChange>
              <a:clrFrom>
                <a:srgbClr val="FFFFFF"/>
              </a:clrFrom>
              <a:clrTo>
                <a:srgbClr val="FFFFFF">
                  <a:alpha val="0"/>
                </a:srgbClr>
              </a:clrTo>
            </a:clrChange>
          </a:blip>
          <a:stretch>
            <a:fillRect/>
          </a:stretch>
        </p:blipFill>
        <p:spPr>
          <a:xfrm>
            <a:off x="6960094" y="3355610"/>
            <a:ext cx="4483423" cy="3221351"/>
          </a:xfrm>
          <a:prstGeom prst="rect">
            <a:avLst/>
          </a:prstGeom>
        </p:spPr>
      </p:pic>
      <p:sp>
        <p:nvSpPr>
          <p:cNvPr id="5" name="内容占位符 2"/>
          <p:cNvSpPr txBox="1"/>
          <p:nvPr/>
        </p:nvSpPr>
        <p:spPr>
          <a:xfrm>
            <a:off x="489050" y="1033421"/>
            <a:ext cx="11213899" cy="6213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32000"/>
              </a:lnSpc>
              <a:buNone/>
            </a:pPr>
            <a:r>
              <a:rPr lang="zh-CN" altLang="en-US" sz="2400" dirty="0">
                <a:solidFill>
                  <a:srgbClr val="FF0000"/>
                </a:solidFill>
                <a:latin typeface="+mn-ea"/>
              </a:rPr>
              <a:t>全虚拟化</a:t>
            </a:r>
            <a:endParaRPr lang="zh-CN" altLang="en-US" sz="2400" dirty="0">
              <a:solidFill>
                <a:srgbClr val="FF0000"/>
              </a:solidFill>
              <a:latin typeface="+mn-ea"/>
            </a:endParaRPr>
          </a:p>
        </p:txBody>
      </p:sp>
      <p:sp>
        <p:nvSpPr>
          <p:cNvPr id="6" name="íšḻîḋè"/>
          <p:cNvSpPr/>
          <p:nvPr/>
        </p:nvSpPr>
        <p:spPr>
          <a:xfrm>
            <a:off x="1676566" y="3621769"/>
            <a:ext cx="2655737" cy="1427119"/>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解释执行</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动态翻译</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扫描与修补等</a:t>
            </a:r>
            <a:endParaRPr lang="zh-CN" altLang="en-US" sz="2200" dirty="0"/>
          </a:p>
        </p:txBody>
      </p:sp>
      <p:sp>
        <p:nvSpPr>
          <p:cNvPr id="7" name="i$lîďê"/>
          <p:cNvSpPr/>
          <p:nvPr/>
        </p:nvSpPr>
        <p:spPr>
          <a:xfrm>
            <a:off x="1676566" y="2703135"/>
            <a:ext cx="10026383" cy="883444"/>
          </a:xfrm>
          <a:prstGeom prst="rect">
            <a:avLst/>
          </a:prstGeom>
          <a:noFill/>
          <a:ln>
            <a:noFill/>
          </a:ln>
        </p:spPr>
        <p:txBody>
          <a:bodyPr wrap="square" lIns="91440" tIns="45720" rIns="91440" bIns="45720" anchor="ctr" anchorCtr="0">
            <a:noAutofit/>
          </a:bodyPr>
          <a:lstStyle/>
          <a:p>
            <a:pPr>
              <a:lnSpc>
                <a:spcPct val="123000"/>
              </a:lnSpc>
            </a:pPr>
            <a:r>
              <a:rPr lang="zh-CN" altLang="en-US" sz="2400" dirty="0"/>
              <a:t>纯软件实现方法：</a:t>
            </a:r>
            <a:r>
              <a:rPr lang="en-US" altLang="zh-CN" sz="2400" dirty="0"/>
              <a:t>VMM</a:t>
            </a:r>
            <a:r>
              <a:rPr lang="zh-CN" altLang="en-US" sz="2400" dirty="0"/>
              <a:t>为虚拟机模拟出硬件环境，接收虚拟机的硬件请求，并将其转发到真正的硬件上</a:t>
            </a:r>
            <a:endParaRPr lang="zh-CN" altLang="en-US" sz="2400" dirty="0"/>
          </a:p>
        </p:txBody>
      </p:sp>
      <p:sp>
        <p:nvSpPr>
          <p:cNvPr id="9" name="ïṧḷïḋè"/>
          <p:cNvSpPr/>
          <p:nvPr/>
        </p:nvSpPr>
        <p:spPr>
          <a:xfrm>
            <a:off x="1676568" y="5048888"/>
            <a:ext cx="4804131" cy="415102"/>
          </a:xfrm>
          <a:prstGeom prst="rect">
            <a:avLst/>
          </a:prstGeom>
          <a:noFill/>
          <a:ln>
            <a:noFill/>
          </a:ln>
        </p:spPr>
        <p:txBody>
          <a:bodyPr wrap="square" lIns="91440" tIns="45720" rIns="91440" bIns="45720" anchor="ctr" anchorCtr="0">
            <a:noAutofit/>
          </a:bodyPr>
          <a:lstStyle/>
          <a:p>
            <a:r>
              <a:rPr lang="zh-CN" altLang="en-US" sz="2400" dirty="0"/>
              <a:t>优点是兼容性好，缺点是性能低下</a:t>
            </a:r>
            <a:endParaRPr lang="zh-CN" altLang="en-US" sz="2400" dirty="0"/>
          </a:p>
        </p:txBody>
      </p:sp>
      <p:sp>
        <p:nvSpPr>
          <p:cNvPr id="11" name="íšḻíḑê"/>
          <p:cNvSpPr/>
          <p:nvPr/>
        </p:nvSpPr>
        <p:spPr>
          <a:xfrm>
            <a:off x="1676567" y="1723393"/>
            <a:ext cx="10157367" cy="671016"/>
          </a:xfrm>
          <a:prstGeom prst="rect">
            <a:avLst/>
          </a:prstGeom>
          <a:noFill/>
          <a:ln>
            <a:noFill/>
          </a:ln>
        </p:spPr>
        <p:txBody>
          <a:bodyPr wrap="square" lIns="91440" tIns="45720" rIns="91440" bIns="45720" anchor="ctr" anchorCtr="0">
            <a:noAutofit/>
          </a:bodyPr>
          <a:lstStyle/>
          <a:p>
            <a:pPr>
              <a:lnSpc>
                <a:spcPct val="123000"/>
              </a:lnSpc>
            </a:pPr>
            <a:r>
              <a:rPr lang="zh-CN" altLang="en-US" sz="2400" dirty="0"/>
              <a:t>虚拟出来的硬件环境与真实物理机的环境是同质的，无须对客户机</a:t>
            </a:r>
            <a:r>
              <a:rPr lang="en-US" altLang="zh-CN" sz="2400" dirty="0"/>
              <a:t>OS</a:t>
            </a:r>
            <a:r>
              <a:rPr lang="zh-CN" altLang="en-US" sz="2400" dirty="0"/>
              <a:t>进行任何更改</a:t>
            </a:r>
            <a:endParaRPr lang="zh-CN" altLang="en-US" sz="2400" dirty="0"/>
          </a:p>
        </p:txBody>
      </p:sp>
      <p:sp>
        <p:nvSpPr>
          <p:cNvPr id="12" name="íšḻíḑê"/>
          <p:cNvSpPr/>
          <p:nvPr/>
        </p:nvSpPr>
        <p:spPr>
          <a:xfrm>
            <a:off x="1676567" y="5895196"/>
            <a:ext cx="4342493" cy="405747"/>
          </a:xfrm>
          <a:prstGeom prst="rect">
            <a:avLst/>
          </a:prstGeom>
          <a:noFill/>
          <a:ln>
            <a:noFill/>
          </a:ln>
        </p:spPr>
        <p:txBody>
          <a:bodyPr wrap="square" lIns="91440" tIns="45720" rIns="91440" bIns="45720" anchor="ctr" anchorCtr="0">
            <a:noAutofit/>
          </a:bodyPr>
          <a:lstStyle/>
          <a:p>
            <a:r>
              <a:rPr lang="zh-CN" altLang="en-US" sz="2400" dirty="0"/>
              <a:t>代表方案：快速模拟器</a:t>
            </a:r>
            <a:r>
              <a:rPr lang="en-US" altLang="zh-CN" sz="2400" dirty="0"/>
              <a:t>QEMU</a:t>
            </a:r>
            <a:endParaRPr lang="en-US" altLang="zh-CN" sz="2400" dirty="0"/>
          </a:p>
        </p:txBody>
      </p:sp>
      <p:sp>
        <p:nvSpPr>
          <p:cNvPr id="13" name="îSļiḓè"/>
          <p:cNvSpPr/>
          <p:nvPr/>
        </p:nvSpPr>
        <p:spPr>
          <a:xfrm>
            <a:off x="993064" y="170983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4" name="íṥḻîḓe"/>
          <p:cNvSpPr/>
          <p:nvPr/>
        </p:nvSpPr>
        <p:spPr>
          <a:xfrm>
            <a:off x="993064" y="4966286"/>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5" name="îşļiḓè"/>
          <p:cNvSpPr/>
          <p:nvPr/>
        </p:nvSpPr>
        <p:spPr>
          <a:xfrm>
            <a:off x="993064" y="278904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6" name="îṡḷíďe"/>
          <p:cNvSpPr/>
          <p:nvPr/>
        </p:nvSpPr>
        <p:spPr>
          <a:xfrm>
            <a:off x="1183319" y="1905969"/>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7" name="íSlíḋe"/>
          <p:cNvSpPr/>
          <p:nvPr/>
        </p:nvSpPr>
        <p:spPr>
          <a:xfrm>
            <a:off x="1183318" y="3011059"/>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8" name="ïśḷïḓe"/>
          <p:cNvSpPr/>
          <p:nvPr/>
        </p:nvSpPr>
        <p:spPr>
          <a:xfrm>
            <a:off x="1212257" y="5155746"/>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9" name="îSļiḓè"/>
          <p:cNvSpPr/>
          <p:nvPr/>
        </p:nvSpPr>
        <p:spPr>
          <a:xfrm>
            <a:off x="993064" y="577860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1" name="îṡḷíďe"/>
          <p:cNvSpPr/>
          <p:nvPr/>
        </p:nvSpPr>
        <p:spPr>
          <a:xfrm>
            <a:off x="1183319" y="5974740"/>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cxnSp>
        <p:nvCxnSpPr>
          <p:cNvPr id="22" name="直接连接符 21"/>
          <p:cNvCxnSpPr/>
          <p:nvPr/>
        </p:nvCxnSpPr>
        <p:spPr>
          <a:xfrm>
            <a:off x="6924583" y="3310373"/>
            <a:ext cx="0" cy="32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6889072" y="3310373"/>
            <a:ext cx="4554445"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虚拟化的实现方法（</a:t>
            </a:r>
            <a:r>
              <a:rPr lang="en-US" altLang="zh-CN" sz="2800" b="1" dirty="0">
                <a:solidFill>
                  <a:schemeClr val="bg1"/>
                </a:solidFill>
                <a:cs typeface="+mn-ea"/>
                <a:sym typeface="+mn-lt"/>
              </a:rPr>
              <a:t>2</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pic>
        <p:nvPicPr>
          <p:cNvPr id="4" name="图片 3"/>
          <p:cNvPicPr>
            <a:picLocks noChangeAspect="1"/>
          </p:cNvPicPr>
          <p:nvPr/>
        </p:nvPicPr>
        <p:blipFill>
          <a:blip r:embed="rId1"/>
          <a:stretch>
            <a:fillRect/>
          </a:stretch>
        </p:blipFill>
        <p:spPr>
          <a:xfrm>
            <a:off x="6095999" y="1753766"/>
            <a:ext cx="5641998" cy="4354070"/>
          </a:xfrm>
          <a:prstGeom prst="rect">
            <a:avLst/>
          </a:prstGeom>
          <a:ln>
            <a:noFill/>
          </a:ln>
          <a:effectLst>
            <a:outerShdw blurRad="292100" dist="139700" dir="2700000" algn="tl" rotWithShape="0">
              <a:srgbClr val="333333">
                <a:alpha val="65000"/>
              </a:srgbClr>
            </a:outerShdw>
          </a:effectLst>
        </p:spPr>
      </p:pic>
      <p:sp>
        <p:nvSpPr>
          <p:cNvPr id="6" name="内容占位符 2"/>
          <p:cNvSpPr txBox="1"/>
          <p:nvPr/>
        </p:nvSpPr>
        <p:spPr>
          <a:xfrm>
            <a:off x="489049" y="1068953"/>
            <a:ext cx="11213899" cy="6213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32000"/>
              </a:lnSpc>
              <a:buNone/>
            </a:pPr>
            <a:r>
              <a:rPr lang="zh-CN" altLang="en-US" sz="2400" dirty="0">
                <a:latin typeface="+mn-ea"/>
              </a:rPr>
              <a:t>半虚拟化，又称为“协同虚拟化”</a:t>
            </a:r>
            <a:endParaRPr lang="zh-CN" altLang="en-US" sz="2400" dirty="0">
              <a:latin typeface="+mn-ea"/>
            </a:endParaRPr>
          </a:p>
        </p:txBody>
      </p:sp>
      <p:grpSp>
        <p:nvGrpSpPr>
          <p:cNvPr id="2" name="组合 1"/>
          <p:cNvGrpSpPr/>
          <p:nvPr/>
        </p:nvGrpSpPr>
        <p:grpSpPr>
          <a:xfrm>
            <a:off x="571498" y="1921411"/>
            <a:ext cx="5226599" cy="4021556"/>
            <a:chOff x="358434" y="2173111"/>
            <a:chExt cx="5226599" cy="4021556"/>
          </a:xfrm>
        </p:grpSpPr>
        <p:sp>
          <p:nvSpPr>
            <p:cNvPr id="7" name="ïṩḻíḑe"/>
            <p:cNvSpPr/>
            <p:nvPr/>
          </p:nvSpPr>
          <p:spPr>
            <a:xfrm rot="2700000">
              <a:off x="916995" y="2173111"/>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8" name="is1íḑe"/>
            <p:cNvSpPr/>
            <p:nvPr/>
          </p:nvSpPr>
          <p:spPr>
            <a:xfrm rot="2700000">
              <a:off x="3680278" y="2173111"/>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9" name="isľîdê"/>
            <p:cNvSpPr txBox="1"/>
            <p:nvPr/>
          </p:nvSpPr>
          <p:spPr>
            <a:xfrm>
              <a:off x="358434" y="4111138"/>
              <a:ext cx="2741815"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客户机</a:t>
              </a:r>
              <a:r>
                <a:rPr lang="en-US" altLang="zh-CN" sz="2000" dirty="0"/>
                <a:t>OS</a:t>
              </a:r>
              <a:r>
                <a:rPr lang="zh-CN" altLang="en-US" sz="2000" dirty="0"/>
                <a:t>能够意识到自己处于虚拟化环境，其所在的虚拟化环境中的部分硬件抽象与真实硬件是不同的，不满足同质性要求</a:t>
              </a:r>
              <a:endParaRPr lang="zh-CN" altLang="en-US" sz="2000" dirty="0"/>
            </a:p>
          </p:txBody>
        </p:sp>
        <p:sp>
          <p:nvSpPr>
            <p:cNvPr id="10" name="îṣḻidé"/>
            <p:cNvSpPr txBox="1"/>
            <p:nvPr/>
          </p:nvSpPr>
          <p:spPr>
            <a:xfrm>
              <a:off x="1729342" y="2588898"/>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1" name="ïŝ1ïḋè"/>
            <p:cNvSpPr txBox="1"/>
            <p:nvPr/>
          </p:nvSpPr>
          <p:spPr>
            <a:xfrm>
              <a:off x="4510275" y="2588898"/>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2" name="isľîdê"/>
            <p:cNvSpPr txBox="1"/>
            <p:nvPr/>
          </p:nvSpPr>
          <p:spPr>
            <a:xfrm>
              <a:off x="3308914" y="4111138"/>
              <a:ext cx="2276119" cy="2083529"/>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u="sng" dirty="0">
                  <a:solidFill>
                    <a:srgbClr val="FF0000"/>
                  </a:solidFill>
                </a:rPr>
                <a:t>对客户机</a:t>
              </a:r>
              <a:r>
                <a:rPr lang="en-US" altLang="zh-CN" sz="2000" u="sng" dirty="0">
                  <a:solidFill>
                    <a:srgbClr val="FF0000"/>
                  </a:solidFill>
                </a:rPr>
                <a:t>OS</a:t>
              </a:r>
              <a:r>
                <a:rPr lang="zh-CN" altLang="en-US" sz="2000" u="sng" dirty="0">
                  <a:solidFill>
                    <a:srgbClr val="FF0000"/>
                  </a:solidFill>
                </a:rPr>
                <a:t>需要进行一些修改以适配环境</a:t>
              </a:r>
              <a:r>
                <a:rPr lang="zh-CN" altLang="en-US" sz="2000" dirty="0"/>
                <a:t>，与全虚拟化的最大区别</a:t>
              </a:r>
              <a:endParaRPr lang="zh-CN" altLang="en-US" sz="2000" dirty="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虚拟化的实现方法（</a:t>
            </a:r>
            <a:r>
              <a:rPr lang="en-US" altLang="zh-CN" sz="2800" b="1" dirty="0">
                <a:solidFill>
                  <a:schemeClr val="bg1"/>
                </a:solidFill>
                <a:cs typeface="+mn-ea"/>
                <a:sym typeface="+mn-lt"/>
              </a:rPr>
              <a:t>2</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6" name="ïşľîďè"/>
          <p:cNvSpPr/>
          <p:nvPr/>
        </p:nvSpPr>
        <p:spPr>
          <a:xfrm>
            <a:off x="-788524" y="1134122"/>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7" name="îŝļiḋe"/>
          <p:cNvSpPr/>
          <p:nvPr/>
        </p:nvSpPr>
        <p:spPr>
          <a:xfrm>
            <a:off x="3224183" y="1134122"/>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8" name="í$1iďè"/>
          <p:cNvGrpSpPr/>
          <p:nvPr/>
        </p:nvGrpSpPr>
        <p:grpSpPr>
          <a:xfrm>
            <a:off x="3348471" y="1174124"/>
            <a:ext cx="8378932" cy="2669907"/>
            <a:chOff x="4136995" y="1170302"/>
            <a:chExt cx="8378932" cy="2669907"/>
          </a:xfrm>
        </p:grpSpPr>
        <p:sp>
          <p:nvSpPr>
            <p:cNvPr id="9"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0" name="ïSḻiḍé"/>
            <p:cNvSpPr txBox="1"/>
            <p:nvPr/>
          </p:nvSpPr>
          <p:spPr>
            <a:xfrm>
              <a:off x="4882718" y="1170302"/>
              <a:ext cx="7633209" cy="266990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实现机制</a:t>
              </a:r>
              <a:endParaRPr lang="en-US" altLang="zh-CN" sz="2400" dirty="0"/>
            </a:p>
            <a:p>
              <a:pPr marL="342900" indent="-342900" algn="just">
                <a:lnSpc>
                  <a:spcPct val="130000"/>
                </a:lnSpc>
                <a:buClr>
                  <a:srgbClr val="FF0000"/>
                </a:buClr>
                <a:buFont typeface="Wingdings" panose="05000000000000000000" pitchFamily="2" charset="2"/>
                <a:buChar char="Ø"/>
              </a:pPr>
              <a:r>
                <a:rPr lang="zh-CN" altLang="en-US" sz="2200" dirty="0">
                  <a:latin typeface="+mj-ea"/>
                  <a:ea typeface="+mj-ea"/>
                </a:rPr>
                <a:t>修改供虚拟机使用的硬件抽象，以避开硬件存在的虚拟化漏洞，并在客户机</a:t>
              </a:r>
              <a:r>
                <a:rPr lang="en-US" altLang="zh-CN" sz="2200" dirty="0">
                  <a:latin typeface="+mj-ea"/>
                  <a:ea typeface="+mj-ea"/>
                </a:rPr>
                <a:t>OS</a:t>
              </a:r>
              <a:r>
                <a:rPr lang="zh-CN" altLang="en-US" sz="2200" dirty="0">
                  <a:latin typeface="+mj-ea"/>
                  <a:ea typeface="+mj-ea"/>
                </a:rPr>
                <a:t>中加入虚拟化指令，使客户机</a:t>
              </a:r>
              <a:r>
                <a:rPr lang="en-US" altLang="zh-CN" sz="2200" dirty="0">
                  <a:latin typeface="+mj-ea"/>
                  <a:ea typeface="+mj-ea"/>
                </a:rPr>
                <a:t>OS</a:t>
              </a:r>
              <a:r>
                <a:rPr lang="zh-CN" altLang="en-US" sz="2200" dirty="0">
                  <a:latin typeface="+mj-ea"/>
                  <a:ea typeface="+mj-ea"/>
                </a:rPr>
                <a:t>可以请求</a:t>
              </a:r>
              <a:r>
                <a:rPr lang="en-US" altLang="zh-CN" sz="2200" dirty="0">
                  <a:latin typeface="+mj-ea"/>
                  <a:ea typeface="+mj-ea"/>
                </a:rPr>
                <a:t>VMM</a:t>
              </a:r>
              <a:r>
                <a:rPr lang="zh-CN" altLang="en-US" sz="2200" dirty="0">
                  <a:latin typeface="+mj-ea"/>
                  <a:ea typeface="+mj-ea"/>
                </a:rPr>
                <a:t>帮助访问硬件</a:t>
              </a:r>
              <a:endParaRPr lang="zh-CN" altLang="en-US" sz="2200" dirty="0">
                <a:latin typeface="+mj-ea"/>
                <a:ea typeface="+mj-ea"/>
              </a:endParaRPr>
            </a:p>
            <a:p>
              <a:pPr marL="342900" indent="-342900" algn="just">
                <a:lnSpc>
                  <a:spcPct val="130000"/>
                </a:lnSpc>
                <a:buClr>
                  <a:srgbClr val="FF0000"/>
                </a:buClr>
                <a:buFont typeface="Wingdings" panose="05000000000000000000" pitchFamily="2" charset="2"/>
                <a:buChar char="Ø"/>
              </a:pPr>
              <a:r>
                <a:rPr lang="zh-CN" altLang="en-US" sz="2200" dirty="0">
                  <a:latin typeface="+mj-ea"/>
                  <a:ea typeface="+mj-ea"/>
                </a:rPr>
                <a:t>客户机</a:t>
              </a:r>
              <a:r>
                <a:rPr lang="en-US" altLang="zh-CN" sz="2200" dirty="0">
                  <a:latin typeface="+mj-ea"/>
                  <a:ea typeface="+mj-ea"/>
                </a:rPr>
                <a:t>OS</a:t>
              </a:r>
              <a:r>
                <a:rPr lang="zh-CN" altLang="en-US" sz="2200" dirty="0">
                  <a:latin typeface="+mj-ea"/>
                  <a:ea typeface="+mj-ea"/>
                </a:rPr>
                <a:t>中不可虚拟化的指令被修改为可直接与虚拟化层交互的超级调用</a:t>
              </a:r>
              <a:r>
                <a:rPr lang="en-US" altLang="zh-CN" sz="2200" dirty="0">
                  <a:latin typeface="+mj-ea"/>
                  <a:ea typeface="+mj-ea"/>
                </a:rPr>
                <a:t>(</a:t>
              </a:r>
              <a:r>
                <a:rPr lang="en-US" altLang="zh-CN" sz="2200" dirty="0" err="1">
                  <a:latin typeface="+mj-ea"/>
                  <a:ea typeface="+mj-ea"/>
                </a:rPr>
                <a:t>hypercalls</a:t>
              </a:r>
              <a:r>
                <a:rPr lang="en-US" altLang="zh-CN" sz="2200" dirty="0">
                  <a:latin typeface="+mj-ea"/>
                  <a:ea typeface="+mj-ea"/>
                </a:rPr>
                <a:t>)</a:t>
              </a:r>
              <a:endParaRPr lang="en-US" altLang="zh-CN" sz="2200" dirty="0">
                <a:latin typeface="+mj-ea"/>
                <a:ea typeface="+mj-ea"/>
              </a:endParaRPr>
            </a:p>
          </p:txBody>
        </p:sp>
      </p:grpSp>
      <p:grpSp>
        <p:nvGrpSpPr>
          <p:cNvPr id="11" name="išḷîḓé"/>
          <p:cNvGrpSpPr/>
          <p:nvPr/>
        </p:nvGrpSpPr>
        <p:grpSpPr>
          <a:xfrm>
            <a:off x="3348471" y="4015679"/>
            <a:ext cx="8378932" cy="801176"/>
            <a:chOff x="4136995" y="3233565"/>
            <a:chExt cx="8378932" cy="801176"/>
          </a:xfrm>
        </p:grpSpPr>
        <p:sp>
          <p:nvSpPr>
            <p:cNvPr id="12"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3" name="îŝľîḓè"/>
            <p:cNvSpPr txBox="1"/>
            <p:nvPr/>
          </p:nvSpPr>
          <p:spPr>
            <a:xfrm>
              <a:off x="4882718" y="3233565"/>
              <a:ext cx="7633209" cy="8011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2000"/>
                </a:lnSpc>
              </a:pPr>
              <a:r>
                <a:rPr lang="zh-CN" altLang="en-US" sz="2400" dirty="0">
                  <a:solidFill>
                    <a:srgbClr val="0000FF"/>
                  </a:solidFill>
                </a:rPr>
                <a:t>优点</a:t>
              </a:r>
              <a:r>
                <a:rPr lang="zh-CN" altLang="en-US" sz="2400" dirty="0"/>
                <a:t>：</a:t>
              </a:r>
              <a:r>
                <a:rPr lang="zh-CN" altLang="zh-CN" sz="2400" dirty="0"/>
                <a:t>免除了</a:t>
              </a:r>
              <a:r>
                <a:rPr lang="en-US" altLang="zh-CN" sz="2400" dirty="0"/>
                <a:t>VMM</a:t>
              </a:r>
              <a:r>
                <a:rPr lang="zh-CN" altLang="zh-CN" sz="2400" dirty="0"/>
                <a:t>模拟指令的开销，提高了</a:t>
              </a:r>
              <a:r>
                <a:rPr lang="en-US" altLang="zh-CN" sz="2400" dirty="0"/>
                <a:t>CPU</a:t>
              </a:r>
              <a:r>
                <a:rPr lang="zh-CN" altLang="zh-CN" sz="2400" dirty="0"/>
                <a:t>的利用效率</a:t>
              </a:r>
              <a:endParaRPr lang="en-US" altLang="zh-CN" sz="2400" dirty="0"/>
            </a:p>
          </p:txBody>
        </p:sp>
      </p:grpSp>
      <p:grpSp>
        <p:nvGrpSpPr>
          <p:cNvPr id="14" name="ïSlíḍê"/>
          <p:cNvGrpSpPr/>
          <p:nvPr/>
        </p:nvGrpSpPr>
        <p:grpSpPr>
          <a:xfrm>
            <a:off x="3348471" y="5087232"/>
            <a:ext cx="8361970" cy="1001393"/>
            <a:chOff x="4136995" y="5025008"/>
            <a:chExt cx="8361970" cy="1001393"/>
          </a:xfrm>
        </p:grpSpPr>
        <p:sp>
          <p:nvSpPr>
            <p:cNvPr id="15"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6" name="íṧļîḋê"/>
            <p:cNvSpPr txBox="1"/>
            <p:nvPr/>
          </p:nvSpPr>
          <p:spPr>
            <a:xfrm>
              <a:off x="4865756" y="5025008"/>
              <a:ext cx="7633209" cy="100139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2000"/>
                </a:lnSpc>
              </a:pPr>
              <a:r>
                <a:rPr lang="zh-CN" altLang="en-US" sz="2400" dirty="0">
                  <a:solidFill>
                    <a:srgbClr val="0000FF"/>
                  </a:solidFill>
                </a:rPr>
                <a:t>缺点</a:t>
              </a:r>
              <a:r>
                <a:rPr lang="zh-CN" altLang="en-US" sz="2400" dirty="0"/>
                <a:t>：</a:t>
              </a:r>
              <a:r>
                <a:rPr lang="zh-CN" altLang="zh-CN" sz="2400" dirty="0"/>
                <a:t>修改</a:t>
              </a:r>
              <a:r>
                <a:rPr lang="en-US" altLang="zh-CN" sz="2400" dirty="0"/>
                <a:t>OS</a:t>
              </a:r>
              <a:r>
                <a:rPr lang="zh-CN" altLang="zh-CN" sz="2400" dirty="0"/>
                <a:t>会带来额外的工作量，并且技术支持和维护也是会有问题的</a:t>
              </a:r>
              <a:endParaRPr lang="en-US" altLang="zh-CN" sz="2400" dirty="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虚拟化的实现方法（</a:t>
            </a:r>
            <a:r>
              <a:rPr lang="en-US" altLang="zh-CN" sz="2800" b="1" dirty="0">
                <a:solidFill>
                  <a:schemeClr val="bg1"/>
                </a:solidFill>
                <a:cs typeface="+mn-ea"/>
                <a:sym typeface="+mn-lt"/>
              </a:rPr>
              <a:t>3</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pic>
        <p:nvPicPr>
          <p:cNvPr id="4" name="图片 3"/>
          <p:cNvPicPr>
            <a:picLocks noChangeAspect="1"/>
          </p:cNvPicPr>
          <p:nvPr/>
        </p:nvPicPr>
        <p:blipFill>
          <a:blip r:embed="rId1">
            <a:clrChange>
              <a:clrFrom>
                <a:srgbClr val="FFFFFF"/>
              </a:clrFrom>
              <a:clrTo>
                <a:srgbClr val="FFFFFF">
                  <a:alpha val="0"/>
                </a:srgbClr>
              </a:clrTo>
            </a:clrChange>
          </a:blip>
          <a:stretch>
            <a:fillRect/>
          </a:stretch>
        </p:blipFill>
        <p:spPr>
          <a:xfrm>
            <a:off x="6542176" y="2722508"/>
            <a:ext cx="5368925" cy="3410585"/>
          </a:xfrm>
          <a:prstGeom prst="rect">
            <a:avLst/>
          </a:prstGeom>
        </p:spPr>
      </p:pic>
      <p:grpSp>
        <p:nvGrpSpPr>
          <p:cNvPr id="5" name="2723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764684" y="1234420"/>
            <a:ext cx="10653753" cy="5239362"/>
            <a:chOff x="651522" y="1834087"/>
            <a:chExt cx="10653753" cy="5239362"/>
          </a:xfrm>
        </p:grpSpPr>
        <p:grpSp>
          <p:nvGrpSpPr>
            <p:cNvPr id="7" name="iṡļiḓe"/>
            <p:cNvGrpSpPr/>
            <p:nvPr/>
          </p:nvGrpSpPr>
          <p:grpSpPr>
            <a:xfrm>
              <a:off x="660400" y="1834087"/>
              <a:ext cx="10644875" cy="1445317"/>
              <a:chOff x="660400" y="1834087"/>
              <a:chExt cx="10644875" cy="1445317"/>
            </a:xfrm>
          </p:grpSpPr>
          <p:grpSp>
            <p:nvGrpSpPr>
              <p:cNvPr id="16" name="iSḻíḓè"/>
              <p:cNvGrpSpPr/>
              <p:nvPr/>
            </p:nvGrpSpPr>
            <p:grpSpPr>
              <a:xfrm>
                <a:off x="1530997" y="1834087"/>
                <a:ext cx="9774278" cy="1445317"/>
                <a:chOff x="1592242" y="1834087"/>
                <a:chExt cx="12327812" cy="1445317"/>
              </a:xfrm>
            </p:grpSpPr>
            <p:sp>
              <p:nvSpPr>
                <p:cNvPr id="21" name="îṧľîḋé"/>
                <p:cNvSpPr txBox="1"/>
                <p:nvPr/>
              </p:nvSpPr>
              <p:spPr>
                <a:xfrm>
                  <a:off x="1592242" y="1834087"/>
                  <a:ext cx="10721600" cy="4437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2000"/>
                    </a:lnSpc>
                  </a:pPr>
                  <a:r>
                    <a:rPr lang="zh-CN" altLang="en-US" sz="2200" dirty="0">
                      <a:solidFill>
                        <a:srgbClr val="0000FF"/>
                      </a:solidFill>
                    </a:rPr>
                    <a:t>硬件辅助虚拟化：</a:t>
                  </a:r>
                  <a:r>
                    <a:rPr lang="zh-CN" altLang="en-US" sz="2200" dirty="0"/>
                    <a:t>开发出新的硬件特性以简化虚拟化技术。</a:t>
                  </a:r>
                  <a:endParaRPr lang="zh-CN" altLang="en-US" sz="2200" dirty="0"/>
                </a:p>
              </p:txBody>
            </p:sp>
            <p:sp>
              <p:nvSpPr>
                <p:cNvPr id="22" name="íşļîḓé"/>
                <p:cNvSpPr/>
                <p:nvPr/>
              </p:nvSpPr>
              <p:spPr bwMode="auto">
                <a:xfrm>
                  <a:off x="1619683" y="2254720"/>
                  <a:ext cx="12300371" cy="102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spcBef>
                      <a:spcPts val="600"/>
                    </a:spcBef>
                    <a:spcAft>
                      <a:spcPts val="600"/>
                    </a:spcAft>
                    <a:buClr>
                      <a:schemeClr val="accent4">
                        <a:lumMod val="40000"/>
                        <a:lumOff val="60000"/>
                      </a:schemeClr>
                    </a:buClr>
                    <a:buFont typeface="Wingdings" panose="05000000000000000000" pitchFamily="2" charset="2"/>
                    <a:buChar char="Ø"/>
                  </a:pPr>
                  <a:r>
                    <a:rPr lang="zh-CN" altLang="en-US" sz="2000" dirty="0"/>
                    <a:t>第一代技术：</a:t>
                  </a:r>
                  <a:r>
                    <a:rPr lang="en-US" altLang="zh-CN" sz="2000" dirty="0"/>
                    <a:t>Intel</a:t>
                  </a:r>
                  <a:r>
                    <a:rPr lang="zh-CN" altLang="en-US" sz="2000" dirty="0"/>
                    <a:t>公司的</a:t>
                  </a:r>
                  <a:r>
                    <a:rPr lang="en-US" altLang="zh-CN" sz="2000" dirty="0"/>
                    <a:t>VT-x</a:t>
                  </a:r>
                  <a:r>
                    <a:rPr lang="zh-CN" altLang="en-US" sz="2000" dirty="0"/>
                    <a:t>和</a:t>
                  </a:r>
                  <a:r>
                    <a:rPr lang="en-US" altLang="zh-CN" sz="2000" dirty="0"/>
                    <a:t>AMD</a:t>
                  </a:r>
                  <a:r>
                    <a:rPr lang="zh-CN" altLang="en-US" sz="2000" dirty="0"/>
                    <a:t>公司的</a:t>
                  </a:r>
                  <a:r>
                    <a:rPr lang="en-US" altLang="zh-CN" sz="2000" dirty="0"/>
                    <a:t>AMD-V</a:t>
                  </a:r>
                  <a:r>
                    <a:rPr lang="zh-CN" altLang="en-US" sz="2000" dirty="0"/>
                    <a:t>，两者都针对特权指令为</a:t>
                  </a:r>
                  <a:r>
                    <a:rPr lang="en-US" altLang="zh-CN" sz="2000" dirty="0"/>
                    <a:t>CPU</a:t>
                  </a:r>
                  <a:r>
                    <a:rPr lang="zh-CN" altLang="en-US" sz="2000" dirty="0"/>
                    <a:t>添加了一个执行模式，即</a:t>
                  </a:r>
                  <a:r>
                    <a:rPr lang="en-US" altLang="zh-CN" sz="2000" dirty="0"/>
                    <a:t>VMM</a:t>
                  </a:r>
                  <a:r>
                    <a:rPr lang="zh-CN" altLang="en-US" sz="2000" dirty="0"/>
                    <a:t>运行在一个新增的根模式下。</a:t>
                  </a:r>
                  <a:endParaRPr lang="zh-CN" altLang="en-US" sz="2000" dirty="0"/>
                </a:p>
              </p:txBody>
            </p:sp>
          </p:grpSp>
          <p:grpSp>
            <p:nvGrpSpPr>
              <p:cNvPr id="17" name="ïS1íḋé"/>
              <p:cNvGrpSpPr/>
              <p:nvPr/>
            </p:nvGrpSpPr>
            <p:grpSpPr>
              <a:xfrm>
                <a:off x="660400" y="1860585"/>
                <a:ext cx="733394" cy="733394"/>
                <a:chOff x="660400" y="1860585"/>
                <a:chExt cx="733394" cy="733394"/>
              </a:xfrm>
            </p:grpSpPr>
            <p:sp>
              <p:nvSpPr>
                <p:cNvPr id="18" name="islîḋe"/>
                <p:cNvSpPr/>
                <p:nvPr/>
              </p:nvSpPr>
              <p:spPr>
                <a:xfrm>
                  <a:off x="660400" y="1860585"/>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9" name="îŝlîďe"/>
                <p:cNvSpPr/>
                <p:nvPr/>
              </p:nvSpPr>
              <p:spPr>
                <a:xfrm>
                  <a:off x="797603" y="2045456"/>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8" name="iŝļïḓê"/>
            <p:cNvGrpSpPr/>
            <p:nvPr/>
          </p:nvGrpSpPr>
          <p:grpSpPr>
            <a:xfrm>
              <a:off x="651522" y="3215831"/>
              <a:ext cx="5869408" cy="3857618"/>
              <a:chOff x="651522" y="824487"/>
              <a:chExt cx="5869408" cy="3857618"/>
            </a:xfrm>
          </p:grpSpPr>
          <p:grpSp>
            <p:nvGrpSpPr>
              <p:cNvPr id="10" name="ïṧļïḓe"/>
              <p:cNvGrpSpPr/>
              <p:nvPr/>
            </p:nvGrpSpPr>
            <p:grpSpPr>
              <a:xfrm>
                <a:off x="1518118" y="853557"/>
                <a:ext cx="5002812" cy="3828548"/>
                <a:chOff x="1575998" y="853557"/>
                <a:chExt cx="6309799" cy="3828548"/>
              </a:xfrm>
            </p:grpSpPr>
            <p:sp>
              <p:nvSpPr>
                <p:cNvPr id="14" name="ïšļíďè"/>
                <p:cNvSpPr txBox="1"/>
                <p:nvPr/>
              </p:nvSpPr>
              <p:spPr>
                <a:xfrm>
                  <a:off x="1592242" y="853557"/>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200" dirty="0">
                      <a:solidFill>
                        <a:srgbClr val="0000FF"/>
                      </a:solidFill>
                    </a:rPr>
                    <a:t>硬件辅助虚拟化</a:t>
                  </a:r>
                  <a:r>
                    <a:rPr lang="zh-CN" altLang="en-US" sz="2200" dirty="0"/>
                    <a:t>与</a:t>
                  </a:r>
                  <a:r>
                    <a:rPr lang="zh-CN" altLang="en-US" sz="2200" dirty="0">
                      <a:solidFill>
                        <a:srgbClr val="FF0000"/>
                      </a:solidFill>
                    </a:rPr>
                    <a:t>全虚拟化结合：</a:t>
                  </a:r>
                  <a:endParaRPr lang="zh-CN" altLang="en-US" sz="2200" dirty="0">
                    <a:solidFill>
                      <a:srgbClr val="FF0000"/>
                    </a:solidFill>
                  </a:endParaRPr>
                </a:p>
              </p:txBody>
            </p:sp>
            <p:sp>
              <p:nvSpPr>
                <p:cNvPr id="15" name="íşľíḑè"/>
                <p:cNvSpPr/>
                <p:nvPr/>
              </p:nvSpPr>
              <p:spPr bwMode="auto">
                <a:xfrm>
                  <a:off x="1575998" y="1271520"/>
                  <a:ext cx="5901855" cy="3410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23000"/>
                    </a:lnSpc>
                    <a:spcBef>
                      <a:spcPts val="600"/>
                    </a:spcBef>
                    <a:buFont typeface="Wingdings" panose="05000000000000000000" pitchFamily="2" charset="2"/>
                    <a:buChar char="Ø"/>
                  </a:pPr>
                  <a:r>
                    <a:rPr lang="zh-CN" altLang="en-US" sz="2000" dirty="0"/>
                    <a:t>如基于</a:t>
                  </a:r>
                  <a:r>
                    <a:rPr lang="en-US" altLang="zh-CN" sz="2000" dirty="0"/>
                    <a:t>Arm v8.4</a:t>
                  </a:r>
                  <a:r>
                    <a:rPr lang="zh-CN" altLang="en-US" sz="2000" dirty="0"/>
                    <a:t>体系结构的鲲鹏处理器加入了许多对虚拟化技术的硬件支持，包括异常级别的设计、指令集扩展及专用寄存器等；</a:t>
                  </a:r>
                  <a:endParaRPr lang="zh-CN" altLang="en-US" sz="2000" dirty="0"/>
                </a:p>
                <a:p>
                  <a:pPr marL="342900" lvl="1" indent="-342900">
                    <a:lnSpc>
                      <a:spcPct val="123000"/>
                    </a:lnSpc>
                    <a:spcBef>
                      <a:spcPts val="600"/>
                    </a:spcBef>
                    <a:buFont typeface="Wingdings" panose="05000000000000000000" pitchFamily="2" charset="2"/>
                    <a:buChar char="Ø"/>
                  </a:pPr>
                  <a:r>
                    <a:rPr lang="zh-CN" altLang="en-US" sz="2000" dirty="0"/>
                    <a:t>硬件辅助降低了</a:t>
                  </a:r>
                  <a:r>
                    <a:rPr lang="en-US" altLang="zh-CN" sz="2000" dirty="0"/>
                    <a:t>VMM</a:t>
                  </a:r>
                  <a:r>
                    <a:rPr lang="zh-CN" altLang="en-US" sz="2000" dirty="0"/>
                    <a:t>实现的复杂度，以往依赖纯软件进行的复杂操作，现在可直接使用专用指令让硬件自动执行，这使得虚拟机的运行效率及稳定性得以提升。</a:t>
                  </a:r>
                  <a:endParaRPr lang="zh-CN" altLang="en-US" sz="2000" dirty="0"/>
                </a:p>
              </p:txBody>
            </p:sp>
          </p:grpSp>
          <p:grpSp>
            <p:nvGrpSpPr>
              <p:cNvPr id="11" name="ïŝľídè"/>
              <p:cNvGrpSpPr/>
              <p:nvPr/>
            </p:nvGrpSpPr>
            <p:grpSpPr>
              <a:xfrm>
                <a:off x="651522" y="824487"/>
                <a:ext cx="733394" cy="733394"/>
                <a:chOff x="651522" y="824487"/>
                <a:chExt cx="733394" cy="733394"/>
              </a:xfrm>
            </p:grpSpPr>
            <p:sp>
              <p:nvSpPr>
                <p:cNvPr id="12" name="ïṡľïde"/>
                <p:cNvSpPr/>
                <p:nvPr/>
              </p:nvSpPr>
              <p:spPr>
                <a:xfrm>
                  <a:off x="651522" y="824487"/>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3" name="ïšliḍe"/>
                <p:cNvSpPr/>
                <p:nvPr/>
              </p:nvSpPr>
              <p:spPr>
                <a:xfrm>
                  <a:off x="797603" y="1035992"/>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cs typeface="+mn-ea"/>
                <a:sym typeface="+mn-lt"/>
              </a:rPr>
              <a:t>内容导航：</a:t>
            </a:r>
            <a:endParaRPr lang="zh-CN" altLang="en-US" sz="2800" b="1" dirty="0">
              <a:solidFill>
                <a:schemeClr val="bg1"/>
              </a:solidFill>
              <a:cs typeface="+mn-ea"/>
              <a:sym typeface="+mn-lt"/>
            </a:endParaRPr>
          </a:p>
        </p:txBody>
      </p:sp>
      <p:sp>
        <p:nvSpPr>
          <p:cNvPr id="22" name="矩形 21"/>
          <p:cNvSpPr/>
          <p:nvPr/>
        </p:nvSpPr>
        <p:spPr>
          <a:xfrm>
            <a:off x="1379228" y="1767926"/>
            <a:ext cx="4500146" cy="461665"/>
          </a:xfrm>
          <a:prstGeom prst="rect">
            <a:avLst/>
          </a:prstGeom>
        </p:spPr>
        <p:txBody>
          <a:bodyPr wrap="square">
            <a:spAutoFit/>
          </a:bodyPr>
          <a:lstStyle/>
          <a:p>
            <a:r>
              <a:rPr lang="en-US" altLang="zh-CN" sz="2400" dirty="0">
                <a:cs typeface="+mn-ea"/>
                <a:sym typeface="+mn-lt"/>
              </a:rPr>
              <a:t>11.1  </a:t>
            </a:r>
            <a:r>
              <a:rPr lang="zh-CN" altLang="en-US" sz="2400" dirty="0">
                <a:cs typeface="+mn-ea"/>
                <a:sym typeface="+mn-lt"/>
              </a:rPr>
              <a:t>虚拟化的基本概念</a:t>
            </a:r>
            <a:endParaRPr lang="zh-CN" altLang="en-US" sz="2400" dirty="0">
              <a:cs typeface="+mn-ea"/>
              <a:sym typeface="+mn-lt"/>
            </a:endParaRPr>
          </a:p>
        </p:txBody>
      </p:sp>
      <p:sp>
        <p:nvSpPr>
          <p:cNvPr id="23" name="矩形 22"/>
          <p:cNvSpPr/>
          <p:nvPr/>
        </p:nvSpPr>
        <p:spPr>
          <a:xfrm>
            <a:off x="1379228" y="2406101"/>
            <a:ext cx="3682150" cy="461665"/>
          </a:xfrm>
          <a:prstGeom prst="rect">
            <a:avLst/>
          </a:prstGeom>
        </p:spPr>
        <p:txBody>
          <a:bodyPr wrap="square">
            <a:spAutoFit/>
          </a:bodyPr>
          <a:lstStyle/>
          <a:p>
            <a:r>
              <a:rPr lang="en-US" altLang="zh-CN" sz="2400" b="1" dirty="0">
                <a:solidFill>
                  <a:srgbClr val="0000FF"/>
                </a:solidFill>
                <a:cs typeface="+mn-ea"/>
                <a:sym typeface="+mn-lt"/>
              </a:rPr>
              <a:t>11.2  </a:t>
            </a:r>
            <a:r>
              <a:rPr lang="zh-CN" altLang="en-US" sz="2400" b="1" dirty="0">
                <a:solidFill>
                  <a:srgbClr val="0000FF"/>
                </a:solidFill>
                <a:cs typeface="+mn-ea"/>
                <a:sym typeface="+mn-lt"/>
              </a:rPr>
              <a:t>虚拟化技术</a:t>
            </a:r>
            <a:endParaRPr lang="zh-CN" altLang="en-US" sz="2400" b="1" dirty="0">
              <a:solidFill>
                <a:srgbClr val="0000FF"/>
              </a:solidFill>
              <a:cs typeface="+mn-ea"/>
              <a:sym typeface="+mn-lt"/>
            </a:endParaRPr>
          </a:p>
        </p:txBody>
      </p:sp>
      <p:sp>
        <p:nvSpPr>
          <p:cNvPr id="24" name="矩形 23"/>
          <p:cNvSpPr/>
          <p:nvPr/>
        </p:nvSpPr>
        <p:spPr>
          <a:xfrm>
            <a:off x="1379227" y="3025226"/>
            <a:ext cx="5320152" cy="461665"/>
          </a:xfrm>
          <a:prstGeom prst="rect">
            <a:avLst/>
          </a:prstGeom>
        </p:spPr>
        <p:txBody>
          <a:bodyPr wrap="square">
            <a:spAutoFit/>
          </a:bodyPr>
          <a:lstStyle/>
          <a:p>
            <a:r>
              <a:rPr lang="en-US" altLang="zh-CN" sz="2400" dirty="0">
                <a:cs typeface="+mn-ea"/>
                <a:sym typeface="+mn-lt"/>
              </a:rPr>
              <a:t>11.3  </a:t>
            </a:r>
            <a:r>
              <a:rPr lang="zh-CN" altLang="en-US" sz="2400" dirty="0">
                <a:cs typeface="+mn-ea"/>
                <a:sym typeface="+mn-lt"/>
              </a:rPr>
              <a:t>云计算</a:t>
            </a:r>
            <a:endParaRPr lang="zh-CN" altLang="en-US" sz="2400" dirty="0">
              <a:cs typeface="+mn-ea"/>
              <a:sym typeface="+mn-lt"/>
            </a:endParaRPr>
          </a:p>
        </p:txBody>
      </p:sp>
      <p:sp>
        <p:nvSpPr>
          <p:cNvPr id="25" name="矩形 24"/>
          <p:cNvSpPr/>
          <p:nvPr/>
        </p:nvSpPr>
        <p:spPr>
          <a:xfrm>
            <a:off x="1379227" y="3641996"/>
            <a:ext cx="5254838" cy="461665"/>
          </a:xfrm>
          <a:prstGeom prst="rect">
            <a:avLst/>
          </a:prstGeom>
        </p:spPr>
        <p:txBody>
          <a:bodyPr wrap="square">
            <a:spAutoFit/>
          </a:bodyPr>
          <a:lstStyle/>
          <a:p>
            <a:r>
              <a:rPr lang="en-US" altLang="zh-CN" sz="2400" dirty="0">
                <a:cs typeface="+mn-ea"/>
                <a:sym typeface="+mn-lt"/>
              </a:rPr>
              <a:t>11.4  </a:t>
            </a:r>
            <a:r>
              <a:rPr lang="zh-CN" altLang="en-US" sz="2400" dirty="0">
                <a:cs typeface="+mn-ea"/>
                <a:sym typeface="+mn-lt"/>
              </a:rPr>
              <a:t>实例：虚拟机软件</a:t>
            </a:r>
            <a:endParaRPr lang="zh-CN" altLang="en-US" sz="2400" dirty="0">
              <a:cs typeface="+mn-ea"/>
              <a:sym typeface="+mn-lt"/>
            </a:endParaRPr>
          </a:p>
        </p:txBody>
      </p:sp>
      <p:sp>
        <p:nvSpPr>
          <p:cNvPr id="3" name="矩形 2"/>
          <p:cNvSpPr/>
          <p:nvPr/>
        </p:nvSpPr>
        <p:spPr>
          <a:xfrm>
            <a:off x="6699378" y="2349214"/>
            <a:ext cx="4991859" cy="646331"/>
          </a:xfrm>
          <a:prstGeom prst="rect">
            <a:avLst/>
          </a:prstGeom>
        </p:spPr>
        <p:txBody>
          <a:bodyPr wrap="square">
            <a:spAutoFit/>
          </a:bodyPr>
          <a:lstStyle/>
          <a:p>
            <a:r>
              <a:rPr lang="zh-CN" altLang="en-US" sz="3600" dirty="0">
                <a:solidFill>
                  <a:srgbClr val="000000"/>
                </a:solidFill>
                <a:cs typeface="+mn-ea"/>
                <a:sym typeface="+mn-lt"/>
              </a:rPr>
              <a:t>第</a:t>
            </a:r>
            <a:r>
              <a:rPr lang="en-US" altLang="zh-CN" sz="3600" dirty="0">
                <a:solidFill>
                  <a:srgbClr val="000000"/>
                </a:solidFill>
                <a:cs typeface="+mn-ea"/>
                <a:sym typeface="+mn-lt"/>
              </a:rPr>
              <a:t>11</a:t>
            </a:r>
            <a:r>
              <a:rPr lang="zh-CN" altLang="en-US" sz="3600" dirty="0">
                <a:solidFill>
                  <a:srgbClr val="000000"/>
                </a:solidFill>
                <a:cs typeface="+mn-ea"/>
                <a:sym typeface="+mn-lt"/>
              </a:rPr>
              <a:t>章 虚拟化和云计算</a:t>
            </a:r>
            <a:endParaRPr lang="zh-CN" altLang="en-US" sz="3600" dirty="0">
              <a:cs typeface="+mn-ea"/>
              <a:sym typeface="+mn-lt"/>
            </a:endParaRPr>
          </a:p>
        </p:txBody>
      </p:sp>
      <p:cxnSp>
        <p:nvCxnSpPr>
          <p:cNvPr id="5" name="直接连接符 4"/>
          <p:cNvCxnSpPr/>
          <p:nvPr/>
        </p:nvCxnSpPr>
        <p:spPr>
          <a:xfrm>
            <a:off x="6699379" y="3190471"/>
            <a:ext cx="4847743"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1730916"/>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316056"/>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971525"/>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3587643"/>
            <a:ext cx="527050" cy="527050"/>
          </a:xfrm>
          <a:prstGeom prst="rect">
            <a:avLst/>
          </a:prstGeom>
          <a:ln>
            <a:noFill/>
          </a:ln>
          <a:effectLst>
            <a:softEdge rad="0"/>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11.2.1 </a:t>
            </a:r>
            <a:r>
              <a:rPr lang="zh-CN" altLang="en-US" sz="2800" b="1" dirty="0">
                <a:solidFill>
                  <a:schemeClr val="bg1"/>
                </a:solidFill>
                <a:cs typeface="+mn-ea"/>
                <a:sym typeface="+mn-lt"/>
              </a:rPr>
              <a:t>虚拟机监视器</a:t>
            </a:r>
            <a:r>
              <a:rPr lang="en-US" altLang="zh-CN" sz="2800" b="1" dirty="0">
                <a:solidFill>
                  <a:schemeClr val="bg1"/>
                </a:solidFill>
                <a:cs typeface="+mn-ea"/>
                <a:sym typeface="+mn-lt"/>
              </a:rPr>
              <a:t>VMM</a:t>
            </a:r>
            <a:r>
              <a:rPr lang="zh-CN" altLang="en-US" sz="2800" b="1" dirty="0">
                <a:solidFill>
                  <a:schemeClr val="bg1"/>
                </a:solidFill>
                <a:cs typeface="+mn-ea"/>
                <a:sym typeface="+mn-lt"/>
              </a:rPr>
              <a:t>（</a:t>
            </a:r>
            <a:r>
              <a:rPr lang="en-US" altLang="zh-CN" sz="2800" b="1" dirty="0">
                <a:solidFill>
                  <a:schemeClr val="bg1"/>
                </a:solidFill>
                <a:cs typeface="+mn-ea"/>
                <a:sym typeface="+mn-lt"/>
              </a:rPr>
              <a:t>1</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pic>
        <p:nvPicPr>
          <p:cNvPr id="4"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48248" y="2432529"/>
            <a:ext cx="3828184" cy="262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内容占位符 2"/>
          <p:cNvSpPr txBox="1"/>
          <p:nvPr/>
        </p:nvSpPr>
        <p:spPr>
          <a:xfrm>
            <a:off x="489049" y="1068952"/>
            <a:ext cx="11213899" cy="166191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32000"/>
              </a:lnSpc>
              <a:spcBef>
                <a:spcPts val="600"/>
              </a:spcBef>
              <a:buNone/>
            </a:pPr>
            <a:r>
              <a:rPr lang="zh-CN" altLang="en-US" sz="2300" dirty="0">
                <a:solidFill>
                  <a:srgbClr val="0000FF"/>
                </a:solidFill>
                <a:latin typeface="+mn-ea"/>
              </a:rPr>
              <a:t>虚拟机监视器</a:t>
            </a:r>
            <a:r>
              <a:rPr lang="zh-CN" altLang="en-US" sz="2300" dirty="0">
                <a:latin typeface="+mn-ea"/>
              </a:rPr>
              <a:t>（即</a:t>
            </a:r>
            <a:r>
              <a:rPr lang="en-US" altLang="zh-CN" sz="2300" dirty="0">
                <a:latin typeface="+mn-ea"/>
              </a:rPr>
              <a:t>VMM</a:t>
            </a:r>
            <a:r>
              <a:rPr lang="zh-CN" altLang="en-US" sz="2300" dirty="0">
                <a:latin typeface="+mn-ea"/>
              </a:rPr>
              <a:t>或</a:t>
            </a:r>
            <a:r>
              <a:rPr lang="en-US" altLang="zh-CN" sz="2300" dirty="0">
                <a:latin typeface="+mn-ea"/>
              </a:rPr>
              <a:t>hypervisor</a:t>
            </a:r>
            <a:r>
              <a:rPr lang="zh-CN" altLang="en-US" sz="2300" dirty="0">
                <a:latin typeface="+mn-ea"/>
              </a:rPr>
              <a:t>）是虚拟化技术中的虚拟化层，用来实现对计算机硬件资源的模拟、隔离和共享。</a:t>
            </a:r>
            <a:endParaRPr lang="en-US" altLang="zh-CN" sz="2300" dirty="0">
              <a:latin typeface="+mn-ea"/>
            </a:endParaRPr>
          </a:p>
          <a:p>
            <a:pPr marL="0" indent="457200">
              <a:lnSpc>
                <a:spcPct val="132000"/>
              </a:lnSpc>
              <a:spcBef>
                <a:spcPts val="600"/>
              </a:spcBef>
              <a:buNone/>
            </a:pPr>
            <a:r>
              <a:rPr lang="en-US" altLang="zh-CN" sz="2300" dirty="0">
                <a:latin typeface="+mn-ea"/>
              </a:rPr>
              <a:t> </a:t>
            </a:r>
            <a:r>
              <a:rPr lang="en-US" altLang="zh-CN" sz="2300" dirty="0">
                <a:solidFill>
                  <a:srgbClr val="FF0000"/>
                </a:solidFill>
                <a:latin typeface="+mn-ea"/>
              </a:rPr>
              <a:t>Type 1 VMM</a:t>
            </a:r>
            <a:endParaRPr lang="en-US" altLang="zh-CN" sz="2300" dirty="0">
              <a:solidFill>
                <a:srgbClr val="FF0000"/>
              </a:solidFill>
              <a:latin typeface="+mn-ea"/>
            </a:endParaRPr>
          </a:p>
        </p:txBody>
      </p:sp>
      <p:sp>
        <p:nvSpPr>
          <p:cNvPr id="6" name="内容占位符 2"/>
          <p:cNvSpPr txBox="1"/>
          <p:nvPr/>
        </p:nvSpPr>
        <p:spPr>
          <a:xfrm>
            <a:off x="830396" y="2556813"/>
            <a:ext cx="6591336" cy="269645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32000"/>
              </a:lnSpc>
              <a:spcBef>
                <a:spcPts val="600"/>
              </a:spcBef>
              <a:buClr>
                <a:srgbClr val="FF0000"/>
              </a:buClr>
              <a:buFont typeface="Wingdings" panose="05000000000000000000" pitchFamily="2" charset="2"/>
              <a:buChar char="p"/>
            </a:pPr>
            <a:r>
              <a:rPr lang="zh-CN" altLang="en-US" sz="2000" dirty="0"/>
              <a:t>此类</a:t>
            </a:r>
            <a:r>
              <a:rPr lang="en-US" altLang="zh-CN" sz="2000" dirty="0"/>
              <a:t>VMM</a:t>
            </a:r>
            <a:r>
              <a:rPr lang="zh-CN" altLang="en-US" sz="2000" dirty="0"/>
              <a:t>直接运行在硬件之上，管理底层硬件，并监管上层虚拟机</a:t>
            </a:r>
            <a:endParaRPr lang="zh-CN" altLang="en-US" sz="2000" dirty="0"/>
          </a:p>
          <a:p>
            <a:pPr lvl="1" indent="-457200">
              <a:lnSpc>
                <a:spcPct val="132000"/>
              </a:lnSpc>
              <a:spcBef>
                <a:spcPts val="600"/>
              </a:spcBef>
              <a:buClr>
                <a:srgbClr val="FF0000"/>
              </a:buClr>
              <a:buFont typeface="Wingdings" panose="05000000000000000000" pitchFamily="2" charset="2"/>
              <a:buChar char="p"/>
            </a:pPr>
            <a:r>
              <a:rPr lang="en-US" altLang="zh-CN" sz="2000" dirty="0"/>
              <a:t>Type 1 VMM</a:t>
            </a:r>
            <a:r>
              <a:rPr lang="zh-CN" altLang="en-US" sz="2000" dirty="0"/>
              <a:t>较</a:t>
            </a:r>
            <a:r>
              <a:rPr lang="en-US" altLang="zh-CN" sz="2000" dirty="0"/>
              <a:t>Type 2 VMM</a:t>
            </a:r>
            <a:r>
              <a:rPr lang="zh-CN" altLang="en-US" sz="2000" dirty="0"/>
              <a:t>在性能、安全性、隔离性等多个方面都有优势</a:t>
            </a:r>
            <a:endParaRPr lang="zh-CN" altLang="en-US" sz="2000" dirty="0"/>
          </a:p>
          <a:p>
            <a:pPr lvl="1" indent="-457200">
              <a:lnSpc>
                <a:spcPct val="132000"/>
              </a:lnSpc>
              <a:spcBef>
                <a:spcPts val="600"/>
              </a:spcBef>
              <a:buClr>
                <a:srgbClr val="FF0000"/>
              </a:buClr>
              <a:buFont typeface="Wingdings" panose="05000000000000000000" pitchFamily="2" charset="2"/>
              <a:buChar char="p"/>
            </a:pPr>
            <a:r>
              <a:rPr lang="zh-CN" altLang="en-US" sz="2000" dirty="0"/>
              <a:t>典型的</a:t>
            </a:r>
            <a:r>
              <a:rPr lang="en-US" altLang="zh-CN" sz="2000" dirty="0"/>
              <a:t>Type 1 VMM</a:t>
            </a:r>
            <a:r>
              <a:rPr lang="zh-CN" altLang="en-US" sz="2000" dirty="0"/>
              <a:t>有早期的</a:t>
            </a:r>
            <a:r>
              <a:rPr lang="en-US" altLang="zh-CN" sz="2000" dirty="0"/>
              <a:t>Xen</a:t>
            </a:r>
            <a:r>
              <a:rPr lang="zh-CN" altLang="en-US" sz="2000" dirty="0"/>
              <a:t>、</a:t>
            </a:r>
            <a:r>
              <a:rPr lang="en-US" altLang="zh-CN" sz="2000" dirty="0"/>
              <a:t>VMware</a:t>
            </a:r>
            <a:r>
              <a:rPr lang="zh-CN" altLang="en-US" sz="2000" dirty="0"/>
              <a:t>、</a:t>
            </a:r>
            <a:r>
              <a:rPr lang="en-US" altLang="zh-CN" sz="2000" dirty="0"/>
              <a:t>vSphere</a:t>
            </a:r>
            <a:r>
              <a:rPr lang="zh-CN" altLang="en-US" sz="2000" dirty="0"/>
              <a:t>的</a:t>
            </a:r>
            <a:r>
              <a:rPr lang="en-US" altLang="zh-CN" sz="2000" dirty="0" err="1"/>
              <a:t>ESXi</a:t>
            </a:r>
            <a:r>
              <a:rPr lang="zh-CN" altLang="en-US" sz="2000" dirty="0"/>
              <a:t>、</a:t>
            </a:r>
            <a:r>
              <a:rPr lang="en-US" altLang="zh-CN" sz="2000" dirty="0"/>
              <a:t>Citrix</a:t>
            </a:r>
            <a:r>
              <a:rPr lang="zh-CN" altLang="en-US" sz="2000" dirty="0"/>
              <a:t>的</a:t>
            </a:r>
            <a:r>
              <a:rPr lang="en-US" altLang="zh-CN" sz="2000" dirty="0" err="1"/>
              <a:t>XenServer</a:t>
            </a:r>
            <a:r>
              <a:rPr lang="zh-CN" altLang="en-US" sz="2000" dirty="0"/>
              <a:t>以及内核虚拟机</a:t>
            </a:r>
            <a:endParaRPr lang="zh-CN" altLang="en-US" sz="2000" dirty="0"/>
          </a:p>
        </p:txBody>
      </p:sp>
      <p:sp>
        <p:nvSpPr>
          <p:cNvPr id="7" name="内容占位符 2"/>
          <p:cNvSpPr txBox="1"/>
          <p:nvPr/>
        </p:nvSpPr>
        <p:spPr>
          <a:xfrm>
            <a:off x="1300913" y="5191124"/>
            <a:ext cx="4295215" cy="53808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32000"/>
              </a:lnSpc>
              <a:spcBef>
                <a:spcPts val="600"/>
              </a:spcBef>
              <a:buClr>
                <a:srgbClr val="FF0000"/>
              </a:buClr>
              <a:buFont typeface="Wingdings" panose="05000000000000000000" pitchFamily="2" charset="2"/>
              <a:buChar char="Ø"/>
            </a:pPr>
            <a:r>
              <a:rPr lang="zh-CN" altLang="en-US" sz="2000" dirty="0"/>
              <a:t>早期的</a:t>
            </a:r>
            <a:r>
              <a:rPr lang="en-US" altLang="zh-CN" sz="2000" dirty="0"/>
              <a:t>Xen </a:t>
            </a:r>
            <a:r>
              <a:rPr lang="zh-CN" altLang="en-US" sz="2000" dirty="0"/>
              <a:t>属于半虚拟化方案</a:t>
            </a:r>
            <a:endParaRPr lang="zh-CN" altLang="en-US" sz="2000" dirty="0"/>
          </a:p>
        </p:txBody>
      </p:sp>
      <p:sp>
        <p:nvSpPr>
          <p:cNvPr id="8" name="内容占位符 2"/>
          <p:cNvSpPr txBox="1"/>
          <p:nvPr/>
        </p:nvSpPr>
        <p:spPr>
          <a:xfrm>
            <a:off x="5596129" y="5191125"/>
            <a:ext cx="6005174" cy="92021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32000"/>
              </a:lnSpc>
              <a:spcBef>
                <a:spcPts val="600"/>
              </a:spcBef>
              <a:buClr>
                <a:srgbClr val="FF0000"/>
              </a:buClr>
              <a:buFont typeface="Wingdings" panose="05000000000000000000" pitchFamily="2" charset="2"/>
              <a:buChar char="Ø"/>
            </a:pPr>
            <a:r>
              <a:rPr lang="en-US" altLang="zh-CN" sz="2000" dirty="0" err="1"/>
              <a:t>ESXi</a:t>
            </a:r>
            <a:r>
              <a:rPr lang="zh-CN" altLang="en-US" sz="2000" dirty="0"/>
              <a:t>、</a:t>
            </a:r>
            <a:r>
              <a:rPr lang="en-US" altLang="zh-CN" sz="2000" dirty="0" err="1"/>
              <a:t>XenServer</a:t>
            </a:r>
            <a:r>
              <a:rPr lang="zh-CN" altLang="en-US" sz="2000" dirty="0"/>
              <a:t>、内核虚拟机等都属于硬件辅助的全虚拟化实现方案</a:t>
            </a:r>
            <a:endParaRPr lang="zh-CN" altLang="en-US" sz="2000" dirty="0"/>
          </a:p>
        </p:txBody>
      </p:sp>
      <p:sp>
        <p:nvSpPr>
          <p:cNvPr id="9" name="内容占位符 2"/>
          <p:cNvSpPr txBox="1"/>
          <p:nvPr/>
        </p:nvSpPr>
        <p:spPr>
          <a:xfrm>
            <a:off x="1277476" y="5697260"/>
            <a:ext cx="4155658" cy="9245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23000"/>
              </a:lnSpc>
              <a:spcBef>
                <a:spcPts val="600"/>
              </a:spcBef>
              <a:buClr>
                <a:srgbClr val="FF0000"/>
              </a:buClr>
              <a:buFont typeface="Wingdings" panose="05000000000000000000" pitchFamily="2" charset="2"/>
              <a:buChar char="Ø"/>
            </a:pPr>
            <a:r>
              <a:rPr lang="zh-CN" altLang="en-US" sz="2000" dirty="0"/>
              <a:t>内核虚拟机：基于</a:t>
            </a:r>
            <a:r>
              <a:rPr lang="en-US" altLang="zh-CN" sz="2000" dirty="0"/>
              <a:t>Linux</a:t>
            </a:r>
            <a:r>
              <a:rPr lang="zh-CN" altLang="en-US" sz="2000" dirty="0"/>
              <a:t>内核实现的</a:t>
            </a:r>
            <a:r>
              <a:rPr lang="en-US" altLang="zh-CN" sz="2000" dirty="0"/>
              <a:t>VMM</a:t>
            </a:r>
            <a:endParaRPr lang="zh-CN" alt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虚拟机监视器</a:t>
            </a:r>
            <a:r>
              <a:rPr lang="en-US" altLang="zh-CN" sz="2800" b="1" dirty="0">
                <a:solidFill>
                  <a:schemeClr val="bg1"/>
                </a:solidFill>
                <a:cs typeface="+mn-ea"/>
                <a:sym typeface="+mn-lt"/>
              </a:rPr>
              <a:t>VMM</a:t>
            </a:r>
            <a:r>
              <a:rPr lang="zh-CN" altLang="en-US" sz="2800" b="1" dirty="0">
                <a:solidFill>
                  <a:schemeClr val="bg1"/>
                </a:solidFill>
                <a:cs typeface="+mn-ea"/>
                <a:sym typeface="+mn-lt"/>
              </a:rPr>
              <a:t>（</a:t>
            </a:r>
            <a:r>
              <a:rPr lang="en-US" altLang="zh-CN" sz="2800" b="1" dirty="0">
                <a:solidFill>
                  <a:schemeClr val="bg1"/>
                </a:solidFill>
                <a:cs typeface="+mn-ea"/>
                <a:sym typeface="+mn-lt"/>
              </a:rPr>
              <a:t>2</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pic>
        <p:nvPicPr>
          <p:cNvPr id="4"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66928" y="2475416"/>
            <a:ext cx="4237544" cy="3499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1348617" y="1034993"/>
            <a:ext cx="10316641" cy="2096408"/>
          </a:xfrm>
          <a:prstGeom prst="rect">
            <a:avLst/>
          </a:prstGeom>
          <a:noFill/>
        </p:spPr>
        <p:txBody>
          <a:bodyPr wrap="square" rtlCol="0">
            <a:spAutoFit/>
          </a:bodyPr>
          <a:lstStyle/>
          <a:p>
            <a:pPr algn="just">
              <a:lnSpc>
                <a:spcPct val="150000"/>
              </a:lnSpc>
              <a:spcAft>
                <a:spcPts val="600"/>
              </a:spcAft>
            </a:pPr>
            <a:r>
              <a:rPr lang="en-US" altLang="zh-CN" sz="2400" dirty="0">
                <a:solidFill>
                  <a:srgbClr val="FF0000"/>
                </a:solidFill>
                <a:latin typeface="+mn-ea"/>
              </a:rPr>
              <a:t>Type 2 VMM</a:t>
            </a:r>
            <a:r>
              <a:rPr lang="zh-CN" altLang="en-US" sz="2400" dirty="0">
                <a:solidFill>
                  <a:srgbClr val="FF0000"/>
                </a:solidFill>
                <a:latin typeface="+mn-ea"/>
              </a:rPr>
              <a:t>，</a:t>
            </a:r>
            <a:r>
              <a:rPr lang="en-US" altLang="zh-CN" sz="2400" dirty="0">
                <a:latin typeface="+mn-ea"/>
              </a:rPr>
              <a:t>PC</a:t>
            </a:r>
            <a:r>
              <a:rPr lang="zh-CN" altLang="en-US" sz="2400" dirty="0">
                <a:latin typeface="+mn-ea"/>
              </a:rPr>
              <a:t>机上常用</a:t>
            </a:r>
            <a:endParaRPr lang="zh-CN" altLang="en-US" sz="2400" dirty="0">
              <a:latin typeface="+mn-ea"/>
            </a:endParaRPr>
          </a:p>
          <a:p>
            <a:pPr marL="342900" indent="-342900" algn="just">
              <a:lnSpc>
                <a:spcPct val="132000"/>
              </a:lnSpc>
              <a:spcAft>
                <a:spcPts val="600"/>
              </a:spcAft>
              <a:buClr>
                <a:srgbClr val="FF0000"/>
              </a:buClr>
              <a:buFont typeface="Wingdings" panose="05000000000000000000" pitchFamily="2" charset="2"/>
              <a:buChar char="Ø"/>
            </a:pPr>
            <a:r>
              <a:rPr lang="en-US" altLang="zh-CN" sz="2200" dirty="0">
                <a:latin typeface="+mn-ea"/>
              </a:rPr>
              <a:t>VMM</a:t>
            </a:r>
            <a:r>
              <a:rPr lang="zh-CN" altLang="en-US" sz="2200" dirty="0">
                <a:latin typeface="+mn-ea"/>
              </a:rPr>
              <a:t>作为一个应用程序运行在主机</a:t>
            </a:r>
            <a:r>
              <a:rPr lang="en-US" altLang="zh-CN" sz="2200" dirty="0">
                <a:latin typeface="+mn-ea"/>
              </a:rPr>
              <a:t>OS</a:t>
            </a:r>
            <a:r>
              <a:rPr lang="zh-CN" altLang="en-US" sz="2200" dirty="0">
                <a:latin typeface="+mn-ea"/>
              </a:rPr>
              <a:t>上，并不直接管理硬件资源，而是利用主机</a:t>
            </a:r>
            <a:r>
              <a:rPr lang="en-US" altLang="zh-CN" sz="2200" dirty="0">
                <a:latin typeface="+mn-ea"/>
              </a:rPr>
              <a:t>OS</a:t>
            </a:r>
            <a:r>
              <a:rPr lang="zh-CN" altLang="en-US" sz="2200" dirty="0">
                <a:latin typeface="+mn-ea"/>
              </a:rPr>
              <a:t>与硬件进行交互</a:t>
            </a:r>
            <a:endParaRPr lang="zh-CN" altLang="en-US" sz="2200" dirty="0">
              <a:latin typeface="+mn-ea"/>
            </a:endParaRPr>
          </a:p>
          <a:p>
            <a:pPr marL="342900" indent="-342900" algn="just">
              <a:lnSpc>
                <a:spcPct val="132000"/>
              </a:lnSpc>
              <a:spcAft>
                <a:spcPts val="600"/>
              </a:spcAft>
              <a:buClr>
                <a:srgbClr val="FF0000"/>
              </a:buClr>
              <a:buFont typeface="Wingdings" panose="05000000000000000000" pitchFamily="2" charset="2"/>
              <a:buChar char="Ø"/>
            </a:pPr>
            <a:r>
              <a:rPr lang="zh-CN" altLang="en-US" sz="2200" dirty="0">
                <a:latin typeface="+mn-ea"/>
              </a:rPr>
              <a:t>导致架构的性能和安全性下降</a:t>
            </a:r>
            <a:endParaRPr lang="zh-CN" altLang="en-US" sz="2200" dirty="0">
              <a:latin typeface="+mn-ea"/>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25509" y="1131860"/>
            <a:ext cx="527050" cy="527050"/>
          </a:xfrm>
          <a:prstGeom prst="rect">
            <a:avLst/>
          </a:prstGeom>
          <a:ln>
            <a:noFill/>
          </a:ln>
          <a:effectLst>
            <a:softEdge rad="0"/>
          </a:effectLst>
        </p:spPr>
      </p:pic>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25509" y="3335124"/>
            <a:ext cx="527050" cy="527050"/>
          </a:xfrm>
          <a:prstGeom prst="rect">
            <a:avLst/>
          </a:prstGeom>
          <a:ln>
            <a:noFill/>
          </a:ln>
          <a:effectLst>
            <a:softEdge rad="0"/>
          </a:effectLst>
        </p:spPr>
      </p:pic>
      <p:sp>
        <p:nvSpPr>
          <p:cNvPr id="8" name="文本框 7"/>
          <p:cNvSpPr txBox="1"/>
          <p:nvPr/>
        </p:nvSpPr>
        <p:spPr>
          <a:xfrm>
            <a:off x="1348616" y="3204048"/>
            <a:ext cx="5780153" cy="3687741"/>
          </a:xfrm>
          <a:prstGeom prst="rect">
            <a:avLst/>
          </a:prstGeom>
          <a:noFill/>
        </p:spPr>
        <p:txBody>
          <a:bodyPr wrap="square" rtlCol="0">
            <a:spAutoFit/>
          </a:bodyPr>
          <a:lstStyle/>
          <a:p>
            <a:pPr algn="just">
              <a:lnSpc>
                <a:spcPct val="132000"/>
              </a:lnSpc>
              <a:spcBef>
                <a:spcPts val="600"/>
              </a:spcBef>
              <a:spcAft>
                <a:spcPts val="600"/>
              </a:spcAft>
            </a:pPr>
            <a:r>
              <a:rPr lang="zh-CN" altLang="en-US" sz="2400" dirty="0">
                <a:latin typeface="+mn-ea"/>
              </a:rPr>
              <a:t>优点是安装、使用、卸载等都十分方便，不会影响主机</a:t>
            </a:r>
            <a:r>
              <a:rPr lang="en-US" altLang="zh-CN" sz="2400" dirty="0">
                <a:latin typeface="+mn-ea"/>
              </a:rPr>
              <a:t>OS</a:t>
            </a:r>
            <a:r>
              <a:rPr lang="zh-CN" altLang="en-US" sz="2400" dirty="0">
                <a:latin typeface="+mn-ea"/>
              </a:rPr>
              <a:t>的支持运行</a:t>
            </a:r>
            <a:endParaRPr lang="en-US" altLang="zh-CN" sz="2400" dirty="0">
              <a:latin typeface="+mn-ea"/>
            </a:endParaRPr>
          </a:p>
          <a:p>
            <a:pPr algn="just">
              <a:lnSpc>
                <a:spcPct val="132000"/>
              </a:lnSpc>
              <a:spcBef>
                <a:spcPts val="600"/>
              </a:spcBef>
              <a:spcAft>
                <a:spcPts val="600"/>
              </a:spcAft>
            </a:pPr>
            <a:r>
              <a:rPr lang="zh-CN" altLang="en-US" sz="2200" dirty="0">
                <a:latin typeface="+mn-ea"/>
              </a:rPr>
              <a:t>常见的软件</a:t>
            </a:r>
            <a:endParaRPr lang="en-US" altLang="zh-CN" sz="2200" dirty="0">
              <a:latin typeface="+mn-ea"/>
            </a:endParaRPr>
          </a:p>
          <a:p>
            <a:pPr marL="342900" indent="-342900" algn="just">
              <a:lnSpc>
                <a:spcPct val="132000"/>
              </a:lnSpc>
              <a:spcAft>
                <a:spcPts val="600"/>
              </a:spcAft>
              <a:buClr>
                <a:srgbClr val="FF0000"/>
              </a:buClr>
              <a:buFont typeface="Wingdings" panose="05000000000000000000" pitchFamily="2" charset="2"/>
              <a:buChar char="Ø"/>
            </a:pPr>
            <a:r>
              <a:rPr lang="en-US" altLang="zh-CN" sz="2200" dirty="0">
                <a:latin typeface="+mn-ea"/>
              </a:rPr>
              <a:t>VMware  Workstations</a:t>
            </a:r>
            <a:r>
              <a:rPr lang="zh-CN" altLang="en-US" sz="2200" dirty="0">
                <a:latin typeface="+mn-ea"/>
              </a:rPr>
              <a:t>、</a:t>
            </a:r>
            <a:r>
              <a:rPr lang="en-US" altLang="zh-CN" sz="2200" dirty="0">
                <a:latin typeface="+mn-ea"/>
              </a:rPr>
              <a:t>VirtualBox</a:t>
            </a:r>
            <a:r>
              <a:rPr lang="zh-CN" altLang="en-US" sz="2200" dirty="0">
                <a:latin typeface="+mn-ea"/>
              </a:rPr>
              <a:t>、</a:t>
            </a:r>
            <a:r>
              <a:rPr lang="en-US" altLang="zh-CN" sz="2200" dirty="0">
                <a:latin typeface="+mn-ea"/>
              </a:rPr>
              <a:t>Virtual PC</a:t>
            </a:r>
            <a:r>
              <a:rPr lang="zh-CN" altLang="en-US" sz="2200" dirty="0">
                <a:latin typeface="+mn-ea"/>
              </a:rPr>
              <a:t>等</a:t>
            </a:r>
            <a:endParaRPr lang="zh-CN" altLang="en-US" sz="2200" dirty="0">
              <a:latin typeface="+mn-ea"/>
            </a:endParaRPr>
          </a:p>
          <a:p>
            <a:pPr marL="342900" indent="-342900" algn="just">
              <a:lnSpc>
                <a:spcPct val="132000"/>
              </a:lnSpc>
              <a:spcAft>
                <a:spcPts val="600"/>
              </a:spcAft>
              <a:buClr>
                <a:srgbClr val="FF0000"/>
              </a:buClr>
              <a:buFont typeface="Wingdings" panose="05000000000000000000" pitchFamily="2" charset="2"/>
              <a:buChar char="Ø"/>
            </a:pPr>
            <a:r>
              <a:rPr lang="zh-CN" altLang="en-US" sz="2200" dirty="0">
                <a:latin typeface="+mn-ea"/>
              </a:rPr>
              <a:t>它们都支持基于硬件辅助的全虚拟化实现</a:t>
            </a:r>
            <a:endParaRPr lang="zh-CN" altLang="en-US" sz="2200" dirty="0">
              <a:latin typeface="+mn-ea"/>
            </a:endParaRPr>
          </a:p>
          <a:p>
            <a:pPr algn="just">
              <a:lnSpc>
                <a:spcPct val="150000"/>
              </a:lnSpc>
              <a:spcAft>
                <a:spcPts val="600"/>
              </a:spcAft>
              <a:buClr>
                <a:srgbClr val="FF0000"/>
              </a:buClr>
            </a:pPr>
            <a:endParaRPr lang="zh-CN" altLang="en-US" sz="2200" dirty="0">
              <a:latin typeface="+mn-ea"/>
            </a:endParaRP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25509" y="4329423"/>
            <a:ext cx="527050" cy="527050"/>
          </a:xfrm>
          <a:prstGeom prst="rect">
            <a:avLst/>
          </a:prstGeom>
          <a:ln>
            <a:noFill/>
          </a:ln>
          <a:effectLst>
            <a:softEdge rad="0"/>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虚拟机监视器</a:t>
            </a:r>
            <a:r>
              <a:rPr lang="en-US" altLang="zh-CN" sz="2800" b="1" dirty="0">
                <a:solidFill>
                  <a:schemeClr val="bg1"/>
                </a:solidFill>
              </a:rPr>
              <a:t>VMM</a:t>
            </a:r>
            <a:r>
              <a:rPr lang="zh-CN" altLang="en-US" sz="2800" b="1" dirty="0">
                <a:solidFill>
                  <a:schemeClr val="bg1"/>
                </a:solidFill>
              </a:rPr>
              <a:t>（</a:t>
            </a:r>
            <a:r>
              <a:rPr lang="en-US" altLang="zh-CN" sz="2800" b="1" dirty="0">
                <a:solidFill>
                  <a:schemeClr val="bg1"/>
                </a:solidFill>
              </a:rPr>
              <a:t>3</a:t>
            </a:r>
            <a:r>
              <a:rPr lang="zh-CN" altLang="en-US" sz="2800" b="1" dirty="0">
                <a:solidFill>
                  <a:schemeClr val="bg1"/>
                </a:solidFill>
              </a:rPr>
              <a:t>）</a:t>
            </a:r>
            <a:endParaRPr lang="zh-CN" altLang="en-US" sz="2800" b="1" dirty="0">
              <a:solidFill>
                <a:schemeClr val="bg1"/>
              </a:solidFill>
            </a:endParaRPr>
          </a:p>
        </p:txBody>
      </p:sp>
      <p:sp>
        <p:nvSpPr>
          <p:cNvPr id="5" name="矩形: 圆角 4"/>
          <p:cNvSpPr/>
          <p:nvPr/>
        </p:nvSpPr>
        <p:spPr>
          <a:xfrm>
            <a:off x="881725" y="1331757"/>
            <a:ext cx="6380207"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altLang="zh-CN" sz="2400" dirty="0">
                <a:solidFill>
                  <a:schemeClr val="bg1"/>
                </a:solidFill>
              </a:rPr>
              <a:t> Type 1 VMM</a:t>
            </a:r>
            <a:r>
              <a:rPr lang="zh-CN" altLang="en-US" sz="2400" dirty="0">
                <a:solidFill>
                  <a:schemeClr val="bg1"/>
                </a:solidFill>
              </a:rPr>
              <a:t>与</a:t>
            </a:r>
            <a:r>
              <a:rPr lang="en-US" altLang="zh-CN" sz="2400" dirty="0">
                <a:solidFill>
                  <a:schemeClr val="bg1"/>
                </a:solidFill>
              </a:rPr>
              <a:t>Type 2 VMM</a:t>
            </a:r>
            <a:r>
              <a:rPr lang="zh-CN" altLang="en-US" sz="2400" dirty="0">
                <a:solidFill>
                  <a:schemeClr val="bg1"/>
                </a:solidFill>
              </a:rPr>
              <a:t>的区别</a:t>
            </a:r>
            <a:endParaRPr lang="zh-CN" altLang="en-US" sz="2400" dirty="0">
              <a:solidFill>
                <a:schemeClr val="bg1"/>
              </a:solidFill>
            </a:endParaRPr>
          </a:p>
        </p:txBody>
      </p:sp>
      <p:sp>
        <p:nvSpPr>
          <p:cNvPr id="6" name="内容占位符 2"/>
          <p:cNvSpPr txBox="1"/>
          <p:nvPr/>
        </p:nvSpPr>
        <p:spPr>
          <a:xfrm>
            <a:off x="881725" y="2054340"/>
            <a:ext cx="6584396" cy="404459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23000"/>
              </a:lnSpc>
              <a:spcBef>
                <a:spcPts val="600"/>
              </a:spcBef>
              <a:buClr>
                <a:srgbClr val="E71101"/>
              </a:buClr>
              <a:buSzPct val="100000"/>
              <a:buFont typeface="Wingdings" panose="05000000000000000000" pitchFamily="2" charset="2"/>
              <a:buChar char="n"/>
              <a:defRPr/>
            </a:pPr>
            <a:r>
              <a:rPr lang="zh-CN" altLang="en-US" sz="2200" dirty="0"/>
              <a:t>本质区别在于对硬件的控制能力，或者说</a:t>
            </a:r>
            <a:r>
              <a:rPr lang="en-US" altLang="zh-CN" sz="2200" dirty="0"/>
              <a:t>VMM   </a:t>
            </a:r>
            <a:r>
              <a:rPr lang="zh-CN" altLang="en-US" sz="2200" dirty="0"/>
              <a:t>在计算机系统中的层级</a:t>
            </a:r>
            <a:endParaRPr lang="zh-CN" altLang="en-US" sz="2200" dirty="0"/>
          </a:p>
          <a:p>
            <a:pPr marL="799465" lvl="2" indent="-533400">
              <a:lnSpc>
                <a:spcPct val="123000"/>
              </a:lnSpc>
              <a:spcBef>
                <a:spcPts val="600"/>
              </a:spcBef>
              <a:buClr>
                <a:srgbClr val="E71101"/>
              </a:buClr>
              <a:buSzPct val="100000"/>
              <a:buFont typeface="Wingdings" panose="05000000000000000000" pitchFamily="2" charset="2"/>
              <a:buChar char="Ø"/>
              <a:defRPr/>
            </a:pPr>
            <a:r>
              <a:rPr lang="en-US" altLang="zh-CN" sz="2000" dirty="0"/>
              <a:t>Type 1 VMM</a:t>
            </a:r>
            <a:r>
              <a:rPr lang="zh-CN" altLang="en-US" sz="2000" dirty="0"/>
              <a:t>直接管理硬件、紧贴着硬件层</a:t>
            </a:r>
            <a:endParaRPr lang="zh-CN" altLang="en-US" sz="2000" dirty="0"/>
          </a:p>
          <a:p>
            <a:pPr marL="799465" lvl="2" indent="-533400">
              <a:lnSpc>
                <a:spcPct val="123000"/>
              </a:lnSpc>
              <a:spcBef>
                <a:spcPts val="600"/>
              </a:spcBef>
              <a:buClr>
                <a:srgbClr val="E71101"/>
              </a:buClr>
              <a:buSzPct val="100000"/>
              <a:buFont typeface="Wingdings" panose="05000000000000000000" pitchFamily="2" charset="2"/>
              <a:buChar char="Ø"/>
              <a:defRPr/>
            </a:pPr>
            <a:r>
              <a:rPr lang="en-US" altLang="zh-CN" sz="2000" dirty="0"/>
              <a:t>Type 2 VMM</a:t>
            </a:r>
            <a:r>
              <a:rPr lang="zh-CN" altLang="en-US" sz="2000" dirty="0"/>
              <a:t>则须通过主机</a:t>
            </a:r>
            <a:r>
              <a:rPr lang="en-US" altLang="zh-CN" sz="2000" dirty="0"/>
              <a:t>OS</a:t>
            </a:r>
            <a:r>
              <a:rPr lang="zh-CN" altLang="en-US" sz="2000" dirty="0"/>
              <a:t>访问硬件，与硬件层隔了一层</a:t>
            </a:r>
            <a:r>
              <a:rPr lang="en-US" altLang="zh-CN" sz="2000" dirty="0"/>
              <a:t>OS</a:t>
            </a:r>
            <a:endParaRPr lang="en-US" altLang="zh-CN" sz="2000" dirty="0"/>
          </a:p>
          <a:p>
            <a:pPr marL="342265" lvl="1" indent="-533400">
              <a:lnSpc>
                <a:spcPct val="123000"/>
              </a:lnSpc>
              <a:spcBef>
                <a:spcPts val="600"/>
              </a:spcBef>
              <a:buClr>
                <a:srgbClr val="E71101"/>
              </a:buClr>
              <a:buSzPct val="100000"/>
              <a:buFont typeface="Wingdings" panose="05000000000000000000" pitchFamily="2" charset="2"/>
              <a:buChar char="n"/>
              <a:defRPr/>
            </a:pPr>
            <a:r>
              <a:rPr lang="zh-CN" altLang="en-US" sz="2200" dirty="0"/>
              <a:t>性能方面，</a:t>
            </a:r>
            <a:r>
              <a:rPr lang="en-US" altLang="zh-CN" sz="2200" dirty="0"/>
              <a:t>Type 1 VMM</a:t>
            </a:r>
            <a:r>
              <a:rPr lang="zh-CN" altLang="en-US" sz="2200" dirty="0"/>
              <a:t>一般要高于</a:t>
            </a:r>
            <a:r>
              <a:rPr lang="en-US" altLang="zh-CN" sz="2200" dirty="0"/>
              <a:t>Type 2 VMM</a:t>
            </a:r>
            <a:endParaRPr lang="en-US" altLang="zh-CN" sz="2200" dirty="0"/>
          </a:p>
          <a:p>
            <a:pPr marL="799465" lvl="2" indent="-533400">
              <a:lnSpc>
                <a:spcPct val="123000"/>
              </a:lnSpc>
              <a:spcBef>
                <a:spcPts val="600"/>
              </a:spcBef>
              <a:buClr>
                <a:srgbClr val="E71101"/>
              </a:buClr>
              <a:buSzPct val="100000"/>
              <a:buFont typeface="Wingdings" panose="05000000000000000000" pitchFamily="2" charset="2"/>
              <a:buChar char="Ø"/>
              <a:defRPr/>
            </a:pPr>
            <a:r>
              <a:rPr lang="en-US" altLang="zh-CN" sz="2000" dirty="0"/>
              <a:t>Type 2 VMM</a:t>
            </a:r>
            <a:r>
              <a:rPr lang="zh-CN" altLang="en-US" sz="2000" dirty="0"/>
              <a:t>通过主机</a:t>
            </a:r>
            <a:r>
              <a:rPr lang="en-US" altLang="zh-CN" sz="2000" dirty="0"/>
              <a:t>OS</a:t>
            </a:r>
            <a:r>
              <a:rPr lang="zh-CN" altLang="en-US" sz="2000" dirty="0"/>
              <a:t>管理硬件，使得管理流程更复杂，导致效率降低</a:t>
            </a:r>
            <a:endParaRPr lang="zh-CN" altLang="en-US" sz="2000" dirty="0"/>
          </a:p>
          <a:p>
            <a:pPr marL="342265" lvl="1" indent="-533400">
              <a:lnSpc>
                <a:spcPct val="123000"/>
              </a:lnSpc>
              <a:spcBef>
                <a:spcPts val="600"/>
              </a:spcBef>
              <a:buClr>
                <a:srgbClr val="E71101"/>
              </a:buClr>
              <a:buSzPct val="100000"/>
              <a:buFont typeface="Wingdings" panose="05000000000000000000" pitchFamily="2" charset="2"/>
              <a:buChar char="n"/>
              <a:defRPr/>
            </a:pPr>
            <a:r>
              <a:rPr lang="zh-CN" altLang="en-US" sz="2200" dirty="0"/>
              <a:t>稳定性方面，</a:t>
            </a:r>
            <a:r>
              <a:rPr lang="en-US" altLang="zh-CN" sz="2200" dirty="0"/>
              <a:t>Type 1 VMM</a:t>
            </a:r>
            <a:r>
              <a:rPr lang="zh-CN" altLang="en-US" sz="2200" dirty="0"/>
              <a:t>也会优于</a:t>
            </a:r>
            <a:r>
              <a:rPr lang="en-US" altLang="zh-CN" sz="2200" dirty="0"/>
              <a:t>Type 2 VMM</a:t>
            </a:r>
            <a:endParaRPr lang="en-US" altLang="zh-CN" sz="2200" dirty="0"/>
          </a:p>
        </p:txBody>
      </p:sp>
      <p:sp>
        <p:nvSpPr>
          <p:cNvPr id="7" name="矩形: 圆角 4"/>
          <p:cNvSpPr/>
          <p:nvPr/>
        </p:nvSpPr>
        <p:spPr>
          <a:xfrm>
            <a:off x="8060925" y="1331757"/>
            <a:ext cx="3142694"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zh-CN" altLang="en-US" sz="2400" dirty="0">
                <a:solidFill>
                  <a:schemeClr val="bg1"/>
                </a:solidFill>
              </a:rPr>
              <a:t>总体来讲：</a:t>
            </a:r>
            <a:endParaRPr lang="zh-CN" altLang="en-US" sz="2400" dirty="0">
              <a:solidFill>
                <a:schemeClr val="bg1"/>
              </a:solidFill>
            </a:endParaRPr>
          </a:p>
        </p:txBody>
      </p:sp>
      <p:sp>
        <p:nvSpPr>
          <p:cNvPr id="8" name="内容占位符 2"/>
          <p:cNvSpPr txBox="1"/>
          <p:nvPr/>
        </p:nvSpPr>
        <p:spPr>
          <a:xfrm>
            <a:off x="8060926" y="2054340"/>
            <a:ext cx="3249350" cy="298122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en-US" altLang="zh-CN" sz="2400" dirty="0"/>
              <a:t>Type 1 VMM</a:t>
            </a:r>
            <a:r>
              <a:rPr lang="zh-CN" altLang="en-US" sz="2400" dirty="0"/>
              <a:t>性能更高、安全性更好，更适合企业用户在服务器中使用</a:t>
            </a:r>
            <a:endParaRPr lang="zh-CN" altLang="en-US" sz="2400" dirty="0"/>
          </a:p>
          <a:p>
            <a:pPr marL="342900" lvl="1" indent="-342900">
              <a:lnSpc>
                <a:spcPct val="132000"/>
              </a:lnSpc>
              <a:spcBef>
                <a:spcPts val="370"/>
              </a:spcBef>
              <a:buClr>
                <a:srgbClr val="E71101"/>
              </a:buClr>
              <a:buSzPct val="100000"/>
              <a:buFont typeface="Wingdings" panose="05000000000000000000" pitchFamily="2" charset="2"/>
              <a:buChar char="n"/>
              <a:defRPr/>
            </a:pPr>
            <a:r>
              <a:rPr lang="en-US" altLang="zh-CN" sz="2400" dirty="0"/>
              <a:t>Type 2 VMM</a:t>
            </a:r>
            <a:r>
              <a:rPr lang="zh-CN" altLang="en-US" sz="2400" dirty="0"/>
              <a:t>则使用更加便捷，更适用于</a:t>
            </a:r>
            <a:r>
              <a:rPr lang="en-US" altLang="zh-CN" sz="2400" dirty="0"/>
              <a:t>PC</a:t>
            </a:r>
            <a:r>
              <a:rPr lang="zh-CN" altLang="en-US" sz="2400" dirty="0"/>
              <a:t>场景</a:t>
            </a:r>
            <a:endParaRPr lang="zh-CN" altLang="en-US" sz="2400" dirty="0"/>
          </a:p>
        </p:txBody>
      </p:sp>
      <p:cxnSp>
        <p:nvCxnSpPr>
          <p:cNvPr id="4" name="直接连接符 3"/>
          <p:cNvCxnSpPr/>
          <p:nvPr/>
        </p:nvCxnSpPr>
        <p:spPr>
          <a:xfrm>
            <a:off x="7812351" y="2228294"/>
            <a:ext cx="0" cy="371086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7696200" y="5725971"/>
            <a:ext cx="400546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7590409" y="5924754"/>
            <a:ext cx="411126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11.2.2 CPU</a:t>
            </a:r>
            <a:r>
              <a:rPr lang="zh-CN" altLang="en-US" sz="2800" b="1" dirty="0">
                <a:solidFill>
                  <a:schemeClr val="bg1"/>
                </a:solidFill>
                <a:cs typeface="+mn-ea"/>
                <a:sym typeface="+mn-lt"/>
              </a:rPr>
              <a:t>虚拟化（</a:t>
            </a:r>
            <a:r>
              <a:rPr lang="en-US" altLang="zh-CN" sz="2800" b="1" dirty="0">
                <a:solidFill>
                  <a:schemeClr val="bg1"/>
                </a:solidFill>
                <a:cs typeface="+mn-ea"/>
                <a:sym typeface="+mn-lt"/>
              </a:rPr>
              <a:t>1</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内容占位符 2"/>
          <p:cNvSpPr txBox="1"/>
          <p:nvPr/>
        </p:nvSpPr>
        <p:spPr>
          <a:xfrm>
            <a:off x="253346" y="1203907"/>
            <a:ext cx="11527322" cy="20541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32000"/>
              </a:lnSpc>
              <a:spcBef>
                <a:spcPts val="600"/>
              </a:spcBef>
              <a:buClr>
                <a:srgbClr val="FF0000"/>
              </a:buClr>
              <a:buFont typeface="Wingdings" panose="05000000000000000000" pitchFamily="2" charset="2"/>
              <a:buChar char="p"/>
            </a:pPr>
            <a:r>
              <a:rPr lang="en-US" altLang="zh-CN" sz="2000" dirty="0">
                <a:solidFill>
                  <a:srgbClr val="FF0000"/>
                </a:solidFill>
              </a:rPr>
              <a:t>CPU</a:t>
            </a:r>
            <a:r>
              <a:rPr lang="zh-CN" altLang="en-US" sz="2000" dirty="0">
                <a:solidFill>
                  <a:srgbClr val="FF0000"/>
                </a:solidFill>
              </a:rPr>
              <a:t>虚拟化技术</a:t>
            </a:r>
            <a:r>
              <a:rPr lang="zh-CN" altLang="en-US" sz="2000" dirty="0"/>
              <a:t>：</a:t>
            </a:r>
            <a:r>
              <a:rPr lang="en-US" altLang="zh-CN" sz="2000" dirty="0"/>
              <a:t>VMM</a:t>
            </a:r>
            <a:r>
              <a:rPr lang="zh-CN" altLang="en-US" sz="2000" dirty="0"/>
              <a:t>不允许虚拟机直接控制物理</a:t>
            </a:r>
            <a:r>
              <a:rPr lang="en-US" altLang="zh-CN" sz="2000" dirty="0"/>
              <a:t>CPU</a:t>
            </a:r>
            <a:r>
              <a:rPr lang="zh-CN" altLang="en-US" sz="2000" dirty="0"/>
              <a:t>，而是为其虚拟出了与物理</a:t>
            </a:r>
            <a:r>
              <a:rPr lang="en-US" altLang="zh-CN" sz="2000" dirty="0"/>
              <a:t>CPU</a:t>
            </a:r>
            <a:r>
              <a:rPr lang="zh-CN" altLang="en-US" sz="2000" dirty="0"/>
              <a:t>同质的虚拟</a:t>
            </a:r>
            <a:r>
              <a:rPr lang="en-US" altLang="zh-CN" sz="2000" dirty="0"/>
              <a:t>CPU</a:t>
            </a:r>
            <a:r>
              <a:rPr lang="zh-CN" altLang="en-US" sz="2000" dirty="0"/>
              <a:t>（</a:t>
            </a:r>
            <a:r>
              <a:rPr lang="en-US" altLang="zh-CN" sz="2000" dirty="0"/>
              <a:t>vCPU</a:t>
            </a:r>
            <a:r>
              <a:rPr lang="zh-CN" altLang="en-US" sz="2000" dirty="0"/>
              <a:t>），虚拟机允许位于虚拟</a:t>
            </a:r>
            <a:r>
              <a:rPr lang="en-US" altLang="zh-CN" sz="2000" dirty="0"/>
              <a:t>CPU</a:t>
            </a:r>
            <a:r>
              <a:rPr lang="zh-CN" altLang="en-US" sz="2000" dirty="0"/>
              <a:t>之上</a:t>
            </a:r>
            <a:endParaRPr lang="zh-CN" altLang="en-US" sz="2000" dirty="0"/>
          </a:p>
          <a:p>
            <a:pPr lvl="1" indent="-457200">
              <a:lnSpc>
                <a:spcPct val="132000"/>
              </a:lnSpc>
              <a:spcBef>
                <a:spcPts val="600"/>
              </a:spcBef>
              <a:buClr>
                <a:srgbClr val="FF0000"/>
              </a:buClr>
              <a:buFont typeface="Wingdings" panose="05000000000000000000" pitchFamily="2" charset="2"/>
              <a:buChar char="p"/>
            </a:pPr>
            <a:r>
              <a:rPr lang="en-US" altLang="zh-CN" sz="2000" dirty="0"/>
              <a:t>CPU</a:t>
            </a:r>
            <a:r>
              <a:rPr lang="zh-CN" altLang="en-US" sz="2000" dirty="0"/>
              <a:t>虚拟化需要实现对指令、异常和中断的模拟</a:t>
            </a:r>
            <a:endParaRPr lang="zh-CN" altLang="en-US" sz="2000" dirty="0"/>
          </a:p>
          <a:p>
            <a:pPr lvl="1" indent="-457200">
              <a:lnSpc>
                <a:spcPct val="132000"/>
              </a:lnSpc>
              <a:spcBef>
                <a:spcPts val="600"/>
              </a:spcBef>
              <a:buClr>
                <a:srgbClr val="FF0000"/>
              </a:buClr>
              <a:buFont typeface="Wingdings" panose="05000000000000000000" pitchFamily="2" charset="2"/>
              <a:buChar char="p"/>
            </a:pPr>
            <a:r>
              <a:rPr lang="zh-CN" altLang="en-US" sz="2000" dirty="0"/>
              <a:t>指令执行：普通</a:t>
            </a:r>
            <a:r>
              <a:rPr lang="en-US" altLang="zh-CN" sz="2000" dirty="0"/>
              <a:t>CPU</a:t>
            </a:r>
            <a:r>
              <a:rPr lang="zh-CN" altLang="en-US" sz="2000" dirty="0"/>
              <a:t>指令直接执行，以保证计算性能；敏感指令由</a:t>
            </a:r>
            <a:r>
              <a:rPr lang="en-US" altLang="zh-CN" sz="2000" dirty="0"/>
              <a:t>VMM</a:t>
            </a:r>
            <a:r>
              <a:rPr lang="zh-CN" altLang="en-US" sz="2000" dirty="0"/>
              <a:t>模拟执行，以保证安全</a:t>
            </a:r>
            <a:endParaRPr lang="zh-CN" altLang="en-US" sz="2000" dirty="0"/>
          </a:p>
        </p:txBody>
      </p:sp>
      <p:sp>
        <p:nvSpPr>
          <p:cNvPr id="5" name="矩形 4"/>
          <p:cNvSpPr/>
          <p:nvPr/>
        </p:nvSpPr>
        <p:spPr>
          <a:xfrm>
            <a:off x="1378911" y="3287095"/>
            <a:ext cx="2243179" cy="527051"/>
          </a:xfrm>
          <a:prstGeom prst="rect">
            <a:avLst/>
          </a:prstGeom>
        </p:spPr>
        <p:txBody>
          <a:bodyPr wrap="square">
            <a:noAutofit/>
          </a:bodyPr>
          <a:lstStyle/>
          <a:p>
            <a:pPr>
              <a:lnSpc>
                <a:spcPct val="132000"/>
              </a:lnSpc>
              <a:spcBef>
                <a:spcPts val="600"/>
              </a:spcBef>
              <a:spcAft>
                <a:spcPts val="600"/>
              </a:spcAft>
            </a:pPr>
            <a:r>
              <a:rPr lang="zh-CN" altLang="en-US" sz="2200" dirty="0">
                <a:solidFill>
                  <a:srgbClr val="0000FF"/>
                </a:solidFill>
                <a:latin typeface="+mn-ea"/>
              </a:rPr>
              <a:t>软件模拟</a:t>
            </a:r>
            <a:r>
              <a:rPr lang="zh-CN" altLang="en-US" sz="2200" dirty="0">
                <a:latin typeface="+mn-ea"/>
              </a:rPr>
              <a:t>虚拟化</a:t>
            </a:r>
            <a:endParaRPr lang="zh-CN" altLang="en-US" sz="2200" dirty="0">
              <a:latin typeface="+mn-ea"/>
            </a:endParaRPr>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05892" y="3355497"/>
            <a:ext cx="390248" cy="390248"/>
          </a:xfrm>
          <a:prstGeom prst="rect">
            <a:avLst/>
          </a:prstGeom>
          <a:ln>
            <a:noFill/>
          </a:ln>
          <a:effectLst>
            <a:softEdge rad="0"/>
          </a:effectLst>
        </p:spPr>
      </p:pic>
      <p:sp>
        <p:nvSpPr>
          <p:cNvPr id="7" name="内容占位符 2"/>
          <p:cNvSpPr txBox="1"/>
          <p:nvPr/>
        </p:nvSpPr>
        <p:spPr>
          <a:xfrm>
            <a:off x="669924" y="3814146"/>
            <a:ext cx="6210269" cy="25653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32000"/>
              </a:lnSpc>
              <a:spcBef>
                <a:spcPts val="600"/>
              </a:spcBef>
              <a:buClr>
                <a:srgbClr val="FF0000"/>
              </a:buClr>
              <a:buFont typeface="Wingdings" panose="05000000000000000000" pitchFamily="2" charset="2"/>
              <a:buChar char="Ø"/>
            </a:pPr>
            <a:r>
              <a:rPr lang="zh-CN" altLang="en-US" sz="2000" dirty="0"/>
              <a:t>解释执行技术：虚拟机所须执行的每一条指令都经由</a:t>
            </a:r>
            <a:r>
              <a:rPr lang="en-US" altLang="zh-CN" sz="2000" dirty="0"/>
              <a:t>VMM</a:t>
            </a:r>
            <a:r>
              <a:rPr lang="zh-CN" altLang="en-US" sz="2000" dirty="0"/>
              <a:t>实时解释执行</a:t>
            </a:r>
            <a:endParaRPr lang="zh-CN" altLang="en-US" sz="2000" dirty="0"/>
          </a:p>
          <a:p>
            <a:pPr lvl="1" indent="-457200">
              <a:lnSpc>
                <a:spcPct val="132000"/>
              </a:lnSpc>
              <a:spcBef>
                <a:spcPts val="600"/>
              </a:spcBef>
              <a:buClr>
                <a:srgbClr val="FF0000"/>
              </a:buClr>
              <a:buFont typeface="Wingdings" panose="05000000000000000000" pitchFamily="2" charset="2"/>
              <a:buChar char="Ø"/>
            </a:pPr>
            <a:r>
              <a:rPr lang="zh-CN" altLang="en-US" sz="2000" dirty="0"/>
              <a:t>扫描与修补技术：扫描虚拟机所须执行的代码，保留普通指令并修补敏感指令</a:t>
            </a:r>
            <a:endParaRPr lang="zh-CN" altLang="en-US" sz="2000" dirty="0"/>
          </a:p>
          <a:p>
            <a:pPr lvl="1" indent="-457200">
              <a:lnSpc>
                <a:spcPct val="132000"/>
              </a:lnSpc>
              <a:spcBef>
                <a:spcPts val="600"/>
              </a:spcBef>
              <a:buClr>
                <a:srgbClr val="FF0000"/>
              </a:buClr>
              <a:buFont typeface="Wingdings" panose="05000000000000000000" pitchFamily="2" charset="2"/>
              <a:buChar char="Ø"/>
            </a:pPr>
            <a:r>
              <a:rPr lang="zh-CN" altLang="en-US" sz="2000" dirty="0"/>
              <a:t>二进制翻译技术： </a:t>
            </a:r>
            <a:r>
              <a:rPr lang="en-US" altLang="zh-CN" sz="2000" dirty="0"/>
              <a:t>VMM</a:t>
            </a:r>
            <a:r>
              <a:rPr lang="zh-CN" altLang="en-US" sz="2000" dirty="0"/>
              <a:t>在虚拟机启动时，就预先将后续可能用到的代码翻译并存储在缓冲区中</a:t>
            </a:r>
            <a:endParaRPr lang="zh-CN" altLang="en-US" sz="2000" dirty="0"/>
          </a:p>
        </p:txBody>
      </p:sp>
      <p:sp>
        <p:nvSpPr>
          <p:cNvPr id="8" name="矩形 7"/>
          <p:cNvSpPr/>
          <p:nvPr/>
        </p:nvSpPr>
        <p:spPr>
          <a:xfrm>
            <a:off x="7696200" y="3333073"/>
            <a:ext cx="2243179" cy="527051"/>
          </a:xfrm>
          <a:prstGeom prst="rect">
            <a:avLst/>
          </a:prstGeom>
        </p:spPr>
        <p:txBody>
          <a:bodyPr wrap="square">
            <a:noAutofit/>
          </a:bodyPr>
          <a:lstStyle/>
          <a:p>
            <a:pPr>
              <a:lnSpc>
                <a:spcPct val="132000"/>
              </a:lnSpc>
              <a:spcBef>
                <a:spcPts val="600"/>
              </a:spcBef>
              <a:spcAft>
                <a:spcPts val="600"/>
              </a:spcAft>
            </a:pPr>
            <a:r>
              <a:rPr lang="zh-CN" altLang="en-US" sz="2200" dirty="0">
                <a:solidFill>
                  <a:srgbClr val="0000FF"/>
                </a:solidFill>
                <a:latin typeface="+mn-ea"/>
              </a:rPr>
              <a:t>硬件辅助</a:t>
            </a:r>
            <a:r>
              <a:rPr lang="zh-CN" altLang="en-US" sz="2200" dirty="0">
                <a:latin typeface="+mn-ea"/>
              </a:rPr>
              <a:t>虚拟化</a:t>
            </a:r>
            <a:endParaRPr lang="zh-CN" altLang="en-US" sz="2200" dirty="0">
              <a:latin typeface="+mn-ea"/>
            </a:endParaRPr>
          </a:p>
        </p:txBody>
      </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223181" y="3401475"/>
            <a:ext cx="390248" cy="390248"/>
          </a:xfrm>
          <a:prstGeom prst="rect">
            <a:avLst/>
          </a:prstGeom>
          <a:ln>
            <a:noFill/>
          </a:ln>
          <a:effectLst>
            <a:softEdge rad="0"/>
          </a:effectLst>
        </p:spPr>
      </p:pic>
      <p:sp>
        <p:nvSpPr>
          <p:cNvPr id="10" name="内容占位符 2"/>
          <p:cNvSpPr txBox="1"/>
          <p:nvPr/>
        </p:nvSpPr>
        <p:spPr>
          <a:xfrm>
            <a:off x="7011540" y="3860124"/>
            <a:ext cx="4510535" cy="9426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32000"/>
              </a:lnSpc>
              <a:spcBef>
                <a:spcPts val="600"/>
              </a:spcBef>
              <a:buClr>
                <a:srgbClr val="FF0000"/>
              </a:buClr>
              <a:buFont typeface="Wingdings" panose="05000000000000000000" pitchFamily="2" charset="2"/>
              <a:buChar char="Ø"/>
            </a:pPr>
            <a:r>
              <a:rPr lang="zh-CN" altLang="en-US" sz="2000" dirty="0"/>
              <a:t>加入新的虚拟化专用指令，降低了虚拟化的复杂性</a:t>
            </a:r>
            <a:endParaRPr lang="zh-CN" altLang="en-US" sz="2000" dirty="0"/>
          </a:p>
        </p:txBody>
      </p:sp>
      <p:cxnSp>
        <p:nvCxnSpPr>
          <p:cNvPr id="13" name="直接连接符 12"/>
          <p:cNvCxnSpPr/>
          <p:nvPr/>
        </p:nvCxnSpPr>
        <p:spPr>
          <a:xfrm>
            <a:off x="7368466" y="4944862"/>
            <a:ext cx="415360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368466" y="5264458"/>
            <a:ext cx="415360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7368466" y="5601809"/>
            <a:ext cx="415360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368466" y="5939161"/>
            <a:ext cx="4153609"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CPU</a:t>
            </a:r>
            <a:r>
              <a:rPr lang="zh-CN" altLang="en-US" sz="2800" b="1" dirty="0">
                <a:solidFill>
                  <a:schemeClr val="bg1"/>
                </a:solidFill>
                <a:cs typeface="+mn-ea"/>
                <a:sym typeface="+mn-lt"/>
              </a:rPr>
              <a:t>虚拟化（</a:t>
            </a:r>
            <a:r>
              <a:rPr lang="en-US" altLang="zh-CN" sz="2800" b="1" dirty="0">
                <a:solidFill>
                  <a:schemeClr val="bg1"/>
                </a:solidFill>
                <a:cs typeface="+mn-ea"/>
                <a:sym typeface="+mn-lt"/>
              </a:rPr>
              <a:t>2</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7" name="内容占位符 2"/>
          <p:cNvSpPr txBox="1"/>
          <p:nvPr/>
        </p:nvSpPr>
        <p:spPr>
          <a:xfrm>
            <a:off x="511268" y="1197944"/>
            <a:ext cx="5579954" cy="517088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80"/>
              </a:spcBef>
              <a:buNone/>
              <a:defRPr/>
            </a:pPr>
            <a:r>
              <a:rPr lang="en-US" altLang="zh-CN" sz="2400" dirty="0"/>
              <a:t>1.</a:t>
            </a:r>
            <a:r>
              <a:rPr lang="zh-CN" altLang="en-US" sz="2400" dirty="0"/>
              <a:t>中断和异常</a:t>
            </a:r>
            <a:endParaRPr lang="zh-CN" altLang="en-US"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FF0000"/>
                </a:solidFill>
              </a:rPr>
              <a:t>中断</a:t>
            </a:r>
            <a:r>
              <a:rPr lang="zh-CN" altLang="en-US" sz="2200" dirty="0">
                <a:solidFill>
                  <a:schemeClr val="tx1">
                    <a:lumMod val="65000"/>
                    <a:lumOff val="35000"/>
                  </a:schemeClr>
                </a:solidFill>
              </a:rPr>
              <a:t>的模拟</a:t>
            </a:r>
            <a:endParaRPr lang="zh-CN" altLang="en-US" sz="2200" dirty="0">
              <a:solidFill>
                <a:schemeClr val="tx1">
                  <a:lumMod val="65000"/>
                  <a:lumOff val="35000"/>
                </a:schemeClr>
              </a:solidFill>
            </a:endParaRPr>
          </a:p>
          <a:p>
            <a:pPr marL="800100" lvl="2" indent="-342900">
              <a:lnSpc>
                <a:spcPct val="132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中断源的模拟</a:t>
            </a:r>
            <a:endParaRPr lang="zh-CN" altLang="en-US" sz="2000" dirty="0">
              <a:solidFill>
                <a:schemeClr val="tx1">
                  <a:lumMod val="65000"/>
                  <a:lumOff val="35000"/>
                </a:schemeClr>
              </a:solidFill>
            </a:endParaRPr>
          </a:p>
          <a:p>
            <a:pPr marL="800100" lvl="2" indent="-342900">
              <a:lnSpc>
                <a:spcPct val="132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中断控制器的模拟</a:t>
            </a:r>
            <a:endParaRPr lang="zh-CN" altLang="en-US" sz="20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FF0000"/>
                </a:solidFill>
              </a:rPr>
              <a:t>异常</a:t>
            </a:r>
            <a:r>
              <a:rPr lang="zh-CN" altLang="en-US" sz="2200" dirty="0">
                <a:solidFill>
                  <a:schemeClr val="tx1">
                    <a:lumMod val="65000"/>
                    <a:lumOff val="35000"/>
                  </a:schemeClr>
                </a:solidFill>
              </a:rPr>
              <a:t>的模拟</a:t>
            </a:r>
            <a:endParaRPr lang="zh-CN" altLang="en-US" sz="2200" dirty="0">
              <a:solidFill>
                <a:schemeClr val="tx1">
                  <a:lumMod val="65000"/>
                  <a:lumOff val="35000"/>
                </a:schemeClr>
              </a:solidFill>
            </a:endParaRPr>
          </a:p>
          <a:p>
            <a:pPr marL="800100" lvl="2" indent="-342900">
              <a:lnSpc>
                <a:spcPct val="132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由虚拟机运行在低特权级却运行了特权指令而造成的异常，这种异常将陷入</a:t>
            </a:r>
            <a:r>
              <a:rPr lang="en-US" altLang="zh-CN" sz="2000" dirty="0">
                <a:solidFill>
                  <a:schemeClr val="tx1">
                    <a:lumMod val="65000"/>
                    <a:lumOff val="35000"/>
                  </a:schemeClr>
                </a:solidFill>
              </a:rPr>
              <a:t>VMM</a:t>
            </a:r>
            <a:r>
              <a:rPr lang="zh-CN" altLang="en-US" sz="2000" dirty="0">
                <a:solidFill>
                  <a:schemeClr val="tx1">
                    <a:lumMod val="65000"/>
                    <a:lumOff val="35000"/>
                  </a:schemeClr>
                </a:solidFill>
              </a:rPr>
              <a:t>处理并返回虚拟机期望的正确结果</a:t>
            </a:r>
            <a:endParaRPr lang="zh-CN" altLang="en-US" sz="2000" dirty="0">
              <a:solidFill>
                <a:schemeClr val="tx1">
                  <a:lumMod val="65000"/>
                  <a:lumOff val="35000"/>
                </a:schemeClr>
              </a:solidFill>
            </a:endParaRPr>
          </a:p>
          <a:p>
            <a:pPr marL="800100" lvl="2" indent="-342900">
              <a:lnSpc>
                <a:spcPct val="132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由虚拟机自身程序存在问题导致执行的指令出错而引发的异常，</a:t>
            </a:r>
            <a:r>
              <a:rPr lang="en-US" altLang="zh-CN" sz="2000" dirty="0">
                <a:solidFill>
                  <a:schemeClr val="tx1">
                    <a:lumMod val="65000"/>
                    <a:lumOff val="35000"/>
                  </a:schemeClr>
                </a:solidFill>
              </a:rPr>
              <a:t>VMM</a:t>
            </a:r>
            <a:r>
              <a:rPr lang="zh-CN" altLang="en-US" sz="2000" dirty="0">
                <a:solidFill>
                  <a:schemeClr val="tx1">
                    <a:lumMod val="65000"/>
                    <a:lumOff val="35000"/>
                  </a:schemeClr>
                </a:solidFill>
              </a:rPr>
              <a:t>需要严格按照</a:t>
            </a:r>
            <a:r>
              <a:rPr lang="en-US" altLang="zh-CN" sz="2000" dirty="0">
                <a:solidFill>
                  <a:schemeClr val="tx1">
                    <a:lumMod val="65000"/>
                    <a:lumOff val="35000"/>
                  </a:schemeClr>
                </a:solidFill>
              </a:rPr>
              <a:t>CPU</a:t>
            </a:r>
            <a:r>
              <a:rPr lang="zh-CN" altLang="en-US" sz="2000" dirty="0">
                <a:solidFill>
                  <a:schemeClr val="tx1">
                    <a:lumMod val="65000"/>
                    <a:lumOff val="35000"/>
                  </a:schemeClr>
                </a:solidFill>
              </a:rPr>
              <a:t>数据手册所定义的异常产生条件和处理规则给予虚拟机响应</a:t>
            </a:r>
            <a:endParaRPr lang="zh-CN" altLang="en-US" sz="2000" dirty="0">
              <a:solidFill>
                <a:schemeClr val="tx1">
                  <a:lumMod val="65000"/>
                  <a:lumOff val="35000"/>
                </a:schemeClr>
              </a:solidFill>
            </a:endParaRPr>
          </a:p>
        </p:txBody>
      </p:sp>
      <p:sp>
        <p:nvSpPr>
          <p:cNvPr id="8" name="内容占位符 2"/>
          <p:cNvSpPr txBox="1"/>
          <p:nvPr/>
        </p:nvSpPr>
        <p:spPr>
          <a:xfrm>
            <a:off x="6670620" y="1197944"/>
            <a:ext cx="4851455" cy="475813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en-US" altLang="zh-CN" sz="2400" dirty="0">
                <a:solidFill>
                  <a:srgbClr val="0000FF"/>
                </a:solidFill>
              </a:rPr>
              <a:t>2.</a:t>
            </a:r>
            <a:r>
              <a:rPr lang="zh-CN" altLang="en-US" sz="2400" dirty="0">
                <a:solidFill>
                  <a:srgbClr val="0000FF"/>
                </a:solidFill>
              </a:rPr>
              <a:t>上下文切换</a:t>
            </a:r>
            <a:r>
              <a:rPr lang="zh-CN" altLang="en-US" sz="2400" dirty="0"/>
              <a:t>：指切换虚拟机运行时</a:t>
            </a:r>
            <a:r>
              <a:rPr lang="en-US" altLang="zh-CN" sz="2400" dirty="0"/>
              <a:t>CPU</a:t>
            </a:r>
            <a:r>
              <a:rPr lang="zh-CN" altLang="en-US" sz="2400" dirty="0"/>
              <a:t>各寄存器的状态</a:t>
            </a:r>
            <a:endParaRPr lang="zh-CN" altLang="en-US" sz="24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软件切换：</a:t>
            </a:r>
            <a:r>
              <a:rPr lang="en-US" altLang="zh-CN" sz="2200" dirty="0">
                <a:solidFill>
                  <a:schemeClr val="tx1">
                    <a:lumMod val="65000"/>
                    <a:lumOff val="35000"/>
                  </a:schemeClr>
                </a:solidFill>
              </a:rPr>
              <a:t>VMM</a:t>
            </a:r>
            <a:r>
              <a:rPr lang="zh-CN" altLang="en-US" sz="2200" dirty="0">
                <a:solidFill>
                  <a:schemeClr val="tx1">
                    <a:lumMod val="65000"/>
                    <a:lumOff val="35000"/>
                  </a:schemeClr>
                </a:solidFill>
              </a:rPr>
              <a:t>会维护一块内存，用于保存各虚拟机的上下文</a:t>
            </a:r>
            <a:endParaRPr lang="zh-CN" altLang="en-US" sz="2200" dirty="0">
              <a:solidFill>
                <a:schemeClr val="tx1">
                  <a:lumMod val="65000"/>
                  <a:lumOff val="35000"/>
                </a:schemeClr>
              </a:solidFill>
            </a:endParaRPr>
          </a:p>
          <a:p>
            <a:pPr marL="457200" lvl="2" indent="-342900">
              <a:lnSpc>
                <a:spcPct val="132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先将当前</a:t>
            </a:r>
            <a:r>
              <a:rPr lang="en-US" altLang="zh-CN" sz="2000" dirty="0">
                <a:solidFill>
                  <a:schemeClr val="tx1">
                    <a:lumMod val="65000"/>
                    <a:lumOff val="35000"/>
                  </a:schemeClr>
                </a:solidFill>
              </a:rPr>
              <a:t>CPU</a:t>
            </a:r>
            <a:r>
              <a:rPr lang="zh-CN" altLang="en-US" sz="2000" dirty="0">
                <a:solidFill>
                  <a:schemeClr val="tx1">
                    <a:lumMod val="65000"/>
                    <a:lumOff val="35000"/>
                  </a:schemeClr>
                </a:solidFill>
              </a:rPr>
              <a:t>所有寄存器的值存入内存空间，再从内存中读取即将运行的虚拟机在挂起前所保存的</a:t>
            </a:r>
            <a:r>
              <a:rPr lang="en-US" altLang="zh-CN" sz="2000" dirty="0">
                <a:solidFill>
                  <a:schemeClr val="tx1">
                    <a:lumMod val="65000"/>
                    <a:lumOff val="35000"/>
                  </a:schemeClr>
                </a:solidFill>
              </a:rPr>
              <a:t>CPU</a:t>
            </a:r>
            <a:r>
              <a:rPr lang="zh-CN" altLang="en-US" sz="2000" dirty="0">
                <a:solidFill>
                  <a:schemeClr val="tx1">
                    <a:lumMod val="65000"/>
                    <a:lumOff val="35000"/>
                  </a:schemeClr>
                </a:solidFill>
              </a:rPr>
              <a:t>寄存器的值，并将其加装到对应的寄存器中</a:t>
            </a:r>
            <a:endParaRPr lang="zh-CN" altLang="en-US" sz="20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硬件切换：硬件提供了便于虚拟机上下文切换的专用数据结构和指令</a:t>
            </a:r>
            <a:endParaRPr lang="zh-CN" altLang="en-US" sz="2200" dirty="0">
              <a:solidFill>
                <a:schemeClr val="tx1">
                  <a:lumMod val="65000"/>
                  <a:lumOff val="35000"/>
                </a:schemeClr>
              </a:solidFill>
            </a:endParaRPr>
          </a:p>
        </p:txBody>
      </p:sp>
      <p:cxnSp>
        <p:nvCxnSpPr>
          <p:cNvPr id="9" name="直接连接符 8"/>
          <p:cNvCxnSpPr/>
          <p:nvPr/>
        </p:nvCxnSpPr>
        <p:spPr>
          <a:xfrm>
            <a:off x="6436311" y="1367161"/>
            <a:ext cx="0" cy="4696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6436311" y="6072326"/>
            <a:ext cx="5130153"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11.2.3 </a:t>
            </a:r>
            <a:r>
              <a:rPr lang="zh-CN" altLang="en-US" sz="2800" b="1" dirty="0">
                <a:solidFill>
                  <a:schemeClr val="bg1"/>
                </a:solidFill>
                <a:cs typeface="+mn-ea"/>
                <a:sym typeface="+mn-lt"/>
              </a:rPr>
              <a:t>内存虚拟化</a:t>
            </a:r>
            <a:endParaRPr lang="zh-CN" altLang="en-US" sz="2800" b="1" dirty="0">
              <a:solidFill>
                <a:schemeClr val="bg1"/>
              </a:solidFill>
              <a:cs typeface="+mn-ea"/>
              <a:sym typeface="+mn-lt"/>
            </a:endParaRPr>
          </a:p>
        </p:txBody>
      </p:sp>
      <p:pic>
        <p:nvPicPr>
          <p:cNvPr id="4" name="图片 3"/>
          <p:cNvPicPr>
            <a:picLocks noChangeAspect="1"/>
          </p:cNvPicPr>
          <p:nvPr/>
        </p:nvPicPr>
        <p:blipFill>
          <a:blip r:embed="rId1"/>
          <a:stretch>
            <a:fillRect/>
          </a:stretch>
        </p:blipFill>
        <p:spPr>
          <a:xfrm>
            <a:off x="1995448" y="3870368"/>
            <a:ext cx="8715375" cy="2200910"/>
          </a:xfrm>
          <a:prstGeom prst="rect">
            <a:avLst/>
          </a:prstGeom>
        </p:spPr>
      </p:pic>
      <p:sp>
        <p:nvSpPr>
          <p:cNvPr id="5" name="内容占位符 2"/>
          <p:cNvSpPr txBox="1"/>
          <p:nvPr/>
        </p:nvSpPr>
        <p:spPr>
          <a:xfrm>
            <a:off x="932155" y="1133937"/>
            <a:ext cx="10653203" cy="347357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FF0000"/>
                </a:solidFill>
              </a:rPr>
              <a:t>内存虚拟化</a:t>
            </a:r>
            <a:r>
              <a:rPr lang="zh-CN" altLang="en-US" sz="2200" dirty="0"/>
              <a:t>类似于现代</a:t>
            </a:r>
            <a:r>
              <a:rPr lang="en-US" altLang="zh-CN" sz="2200" dirty="0"/>
              <a:t>OS</a:t>
            </a:r>
            <a:r>
              <a:rPr lang="zh-CN" altLang="en-US" sz="2200" dirty="0"/>
              <a:t>所提供的虚拟存储器</a:t>
            </a:r>
            <a:endParaRPr lang="zh-CN" altLang="en-US" sz="22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t>需要维护两级内存映射</a:t>
            </a:r>
            <a:endParaRPr lang="zh-CN" altLang="en-US" sz="2200" dirty="0"/>
          </a:p>
          <a:p>
            <a:pPr marL="800100" lvl="2" indent="-342900">
              <a:lnSpc>
                <a:spcPct val="132000"/>
              </a:lnSpc>
              <a:spcBef>
                <a:spcPts val="370"/>
              </a:spcBef>
              <a:buClr>
                <a:srgbClr val="E71101"/>
              </a:buClr>
              <a:buSzPct val="60000"/>
              <a:buFont typeface="Wingdings" panose="05000000000000000000" pitchFamily="2" charset="2"/>
              <a:buChar char="p"/>
              <a:defRPr/>
            </a:pPr>
            <a:r>
              <a:rPr lang="zh-CN" altLang="en-US" sz="2000" dirty="0"/>
              <a:t>客户机</a:t>
            </a:r>
            <a:r>
              <a:rPr lang="en-US" altLang="zh-CN" sz="2000" dirty="0"/>
              <a:t>OS</a:t>
            </a:r>
            <a:r>
              <a:rPr lang="zh-CN" altLang="en-US" sz="2000" dirty="0"/>
              <a:t>负责从虚拟地址到虚拟机的物理内存地址的映射，但是它不能直接访问实际机器内存</a:t>
            </a:r>
            <a:endParaRPr lang="zh-CN" altLang="en-US" sz="2000" dirty="0"/>
          </a:p>
          <a:p>
            <a:pPr marL="800100" lvl="2" indent="-342900">
              <a:lnSpc>
                <a:spcPct val="132000"/>
              </a:lnSpc>
              <a:spcBef>
                <a:spcPts val="370"/>
              </a:spcBef>
              <a:buClr>
                <a:srgbClr val="E71101"/>
              </a:buClr>
              <a:buSzPct val="60000"/>
              <a:buFont typeface="Wingdings" panose="05000000000000000000" pitchFamily="2" charset="2"/>
              <a:buChar char="p"/>
              <a:defRPr/>
            </a:pPr>
            <a:r>
              <a:rPr lang="en-US" altLang="zh-CN" sz="2000" dirty="0"/>
              <a:t>VMM</a:t>
            </a:r>
            <a:r>
              <a:rPr lang="zh-CN" altLang="en-US" sz="2000" dirty="0"/>
              <a:t>负责将客户物理内存映射到实际的机器内存上</a:t>
            </a:r>
            <a:endParaRPr lang="zh-CN" altLang="en-US" sz="2000" dirty="0"/>
          </a:p>
          <a:p>
            <a:pPr marL="1257300" lvl="3" indent="-342900">
              <a:lnSpc>
                <a:spcPct val="132000"/>
              </a:lnSpc>
              <a:spcBef>
                <a:spcPts val="370"/>
              </a:spcBef>
              <a:buClr>
                <a:srgbClr val="E71101"/>
              </a:buClr>
              <a:buSzPct val="60000"/>
              <a:buFont typeface="Wingdings" panose="05000000000000000000" pitchFamily="2" charset="2"/>
              <a:buChar char="Ø"/>
              <a:defRPr/>
            </a:pPr>
            <a:r>
              <a:rPr lang="zh-CN" altLang="en-US" sz="2000" dirty="0"/>
              <a:t>扩展页表</a:t>
            </a:r>
            <a:endParaRPr lang="zh-CN" altLang="en-US" sz="2000" dirty="0"/>
          </a:p>
          <a:p>
            <a:pPr marL="1257300" lvl="3" indent="-342900">
              <a:lnSpc>
                <a:spcPct val="132000"/>
              </a:lnSpc>
              <a:spcBef>
                <a:spcPts val="370"/>
              </a:spcBef>
              <a:buClr>
                <a:srgbClr val="E71101"/>
              </a:buClr>
              <a:buSzPct val="60000"/>
              <a:buFont typeface="Wingdings" panose="05000000000000000000" pitchFamily="2" charset="2"/>
              <a:buChar char="Ø"/>
              <a:defRPr/>
            </a:pPr>
            <a:r>
              <a:rPr lang="zh-CN" altLang="en-US" sz="2000" dirty="0"/>
              <a:t>影子页表</a:t>
            </a:r>
            <a:endParaRPr lang="zh-CN" alt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11.2.4 I/O</a:t>
            </a:r>
            <a:r>
              <a:rPr lang="zh-CN" altLang="en-US" sz="2800" b="1" dirty="0">
                <a:solidFill>
                  <a:schemeClr val="bg1"/>
                </a:solidFill>
                <a:cs typeface="+mn-ea"/>
                <a:sym typeface="+mn-lt"/>
              </a:rPr>
              <a:t>虚拟化</a:t>
            </a:r>
            <a:endParaRPr lang="zh-CN" altLang="en-US" sz="2800" b="1" dirty="0">
              <a:solidFill>
                <a:schemeClr val="bg1"/>
              </a:solidFill>
              <a:cs typeface="+mn-ea"/>
              <a:sym typeface="+mn-lt"/>
            </a:endParaRPr>
          </a:p>
        </p:txBody>
      </p:sp>
      <p:pic>
        <p:nvPicPr>
          <p:cNvPr id="4" name="图片 3"/>
          <p:cNvPicPr>
            <a:picLocks noChangeAspect="1"/>
          </p:cNvPicPr>
          <p:nvPr/>
        </p:nvPicPr>
        <p:blipFill>
          <a:blip r:embed="rId1"/>
          <a:stretch>
            <a:fillRect/>
          </a:stretch>
        </p:blipFill>
        <p:spPr>
          <a:xfrm>
            <a:off x="8704576" y="1405554"/>
            <a:ext cx="2921635" cy="4781550"/>
          </a:xfrm>
          <a:prstGeom prst="rect">
            <a:avLst/>
          </a:prstGeom>
        </p:spPr>
      </p:pic>
      <p:sp>
        <p:nvSpPr>
          <p:cNvPr id="12" name="îSļiḓè"/>
          <p:cNvSpPr/>
          <p:nvPr/>
        </p:nvSpPr>
        <p:spPr>
          <a:xfrm>
            <a:off x="669925" y="1240087"/>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3" name="íṥḻîḓe"/>
          <p:cNvSpPr/>
          <p:nvPr/>
        </p:nvSpPr>
        <p:spPr>
          <a:xfrm>
            <a:off x="669925" y="361044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4" name="îşļiḓè"/>
          <p:cNvSpPr/>
          <p:nvPr/>
        </p:nvSpPr>
        <p:spPr>
          <a:xfrm>
            <a:off x="669925" y="2425266"/>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5" name="îṡḷíďe"/>
          <p:cNvSpPr/>
          <p:nvPr/>
        </p:nvSpPr>
        <p:spPr>
          <a:xfrm>
            <a:off x="860180" y="1436225"/>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6" name="íSlíḋe"/>
          <p:cNvSpPr/>
          <p:nvPr/>
        </p:nvSpPr>
        <p:spPr>
          <a:xfrm>
            <a:off x="860179" y="2647283"/>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7" name="ïśḷïḓe"/>
          <p:cNvSpPr/>
          <p:nvPr/>
        </p:nvSpPr>
        <p:spPr>
          <a:xfrm>
            <a:off x="889118" y="3799905"/>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8" name="îSļiḓè"/>
          <p:cNvSpPr/>
          <p:nvPr/>
        </p:nvSpPr>
        <p:spPr>
          <a:xfrm>
            <a:off x="669925" y="530397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9" name="îṡḷíďe"/>
          <p:cNvSpPr/>
          <p:nvPr/>
        </p:nvSpPr>
        <p:spPr>
          <a:xfrm>
            <a:off x="860180" y="5500117"/>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3" name="内容占位符 2"/>
          <p:cNvSpPr txBox="1"/>
          <p:nvPr/>
        </p:nvSpPr>
        <p:spPr>
          <a:xfrm>
            <a:off x="1488046" y="1140210"/>
            <a:ext cx="6812575" cy="571778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spcBef>
                <a:spcPts val="370"/>
              </a:spcBef>
              <a:buClr>
                <a:srgbClr val="E71101"/>
              </a:buClr>
              <a:buSzPct val="60000"/>
              <a:buNone/>
              <a:defRPr/>
            </a:pPr>
            <a:r>
              <a:rPr lang="en-US" altLang="zh-CN" sz="2000" dirty="0">
                <a:solidFill>
                  <a:srgbClr val="FF0000"/>
                </a:solidFill>
              </a:rPr>
              <a:t>I/O</a:t>
            </a:r>
            <a:r>
              <a:rPr lang="zh-CN" altLang="en-US" sz="2000" dirty="0">
                <a:solidFill>
                  <a:srgbClr val="FF0000"/>
                </a:solidFill>
              </a:rPr>
              <a:t>虚拟化</a:t>
            </a:r>
            <a:r>
              <a:rPr lang="zh-CN" altLang="en-US" sz="2000" dirty="0"/>
              <a:t>是指管理虚拟设备与共享物理硬件之间的</a:t>
            </a:r>
            <a:r>
              <a:rPr lang="en-US" altLang="zh-CN" sz="2000" dirty="0"/>
              <a:t>I/O</a:t>
            </a:r>
            <a:r>
              <a:rPr lang="zh-CN" altLang="en-US" sz="2000" dirty="0"/>
              <a:t>请求的路由选择：</a:t>
            </a:r>
            <a:endParaRPr lang="zh-CN" altLang="en-US" sz="20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1800" dirty="0"/>
              <a:t>全设备模拟，半虚拟化，直接</a:t>
            </a:r>
            <a:r>
              <a:rPr lang="en-US" altLang="zh-CN" sz="1800" dirty="0"/>
              <a:t>I/O</a:t>
            </a:r>
            <a:r>
              <a:rPr lang="zh-CN" altLang="en-US" sz="1800" dirty="0"/>
              <a:t>，以及硬件辅助</a:t>
            </a:r>
            <a:endParaRPr lang="zh-CN" altLang="en-US" sz="1800" dirty="0"/>
          </a:p>
          <a:p>
            <a:pPr marL="0" lvl="1" indent="0">
              <a:lnSpc>
                <a:spcPct val="132000"/>
              </a:lnSpc>
              <a:spcBef>
                <a:spcPts val="370"/>
              </a:spcBef>
              <a:buClr>
                <a:srgbClr val="E71101"/>
              </a:buClr>
              <a:buSzPct val="60000"/>
              <a:buNone/>
              <a:defRPr/>
            </a:pPr>
            <a:r>
              <a:rPr lang="zh-CN" altLang="en-US" sz="2000" dirty="0"/>
              <a:t>全设备模拟：</a:t>
            </a:r>
            <a:endParaRPr lang="zh-CN" altLang="en-US" sz="20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1800" dirty="0"/>
              <a:t>在软件复制一个设备的所有功能或总线结构，该软件作为虚拟设备处于</a:t>
            </a:r>
            <a:r>
              <a:rPr lang="en-US" altLang="zh-CN" sz="1800" dirty="0"/>
              <a:t>VMM</a:t>
            </a:r>
            <a:r>
              <a:rPr lang="zh-CN" altLang="en-US" sz="1800" dirty="0"/>
              <a:t>中</a:t>
            </a:r>
            <a:endParaRPr lang="zh-CN" altLang="en-US" sz="1800" dirty="0"/>
          </a:p>
          <a:p>
            <a:pPr marL="0" lvl="1" indent="0">
              <a:lnSpc>
                <a:spcPct val="132000"/>
              </a:lnSpc>
              <a:spcBef>
                <a:spcPts val="370"/>
              </a:spcBef>
              <a:buClr>
                <a:srgbClr val="E71101"/>
              </a:buClr>
              <a:buSzPct val="60000"/>
              <a:buNone/>
              <a:defRPr/>
            </a:pPr>
            <a:r>
              <a:rPr lang="zh-CN" altLang="en-US" sz="2000" dirty="0"/>
              <a:t>半虚拟化：</a:t>
            </a:r>
            <a:endParaRPr lang="zh-CN" altLang="en-US" sz="20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1800" dirty="0"/>
              <a:t>分离式驱动模型：前端驱动和后端驱动</a:t>
            </a:r>
            <a:endParaRPr lang="zh-CN" altLang="en-US" sz="18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1800" dirty="0"/>
              <a:t>前端驱动负责管理客户机</a:t>
            </a:r>
            <a:r>
              <a:rPr lang="en-US" altLang="zh-CN" sz="1800" dirty="0"/>
              <a:t>OS</a:t>
            </a:r>
            <a:r>
              <a:rPr lang="zh-CN" altLang="en-US" sz="1800" dirty="0"/>
              <a:t>的</a:t>
            </a:r>
            <a:r>
              <a:rPr lang="en-US" altLang="zh-CN" sz="1800" dirty="0"/>
              <a:t>I/O</a:t>
            </a:r>
            <a:r>
              <a:rPr lang="zh-CN" altLang="en-US" sz="1800" dirty="0"/>
              <a:t>请求</a:t>
            </a:r>
            <a:endParaRPr lang="zh-CN" altLang="en-US" sz="18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1800" dirty="0"/>
              <a:t>后端驱动负责管理真实的</a:t>
            </a:r>
            <a:r>
              <a:rPr lang="en-US" altLang="zh-CN" sz="1800" dirty="0"/>
              <a:t>I/O</a:t>
            </a:r>
            <a:r>
              <a:rPr lang="zh-CN" altLang="en-US" sz="1800" dirty="0"/>
              <a:t>设备并复用不同虚拟机的</a:t>
            </a:r>
            <a:r>
              <a:rPr lang="en-US" altLang="zh-CN" sz="1800" dirty="0"/>
              <a:t>I/O</a:t>
            </a:r>
            <a:r>
              <a:rPr lang="zh-CN" altLang="en-US" sz="1800" dirty="0"/>
              <a:t>数据</a:t>
            </a:r>
            <a:endParaRPr lang="zh-CN" altLang="en-US" sz="1800" dirty="0"/>
          </a:p>
          <a:p>
            <a:pPr marL="0" lvl="1" indent="0">
              <a:lnSpc>
                <a:spcPct val="132000"/>
              </a:lnSpc>
              <a:spcBef>
                <a:spcPts val="370"/>
              </a:spcBef>
              <a:buClr>
                <a:srgbClr val="E71101"/>
              </a:buClr>
              <a:buSzPct val="60000"/>
              <a:buNone/>
              <a:defRPr/>
            </a:pPr>
            <a:r>
              <a:rPr lang="zh-CN" altLang="en-US" sz="2000" dirty="0"/>
              <a:t>直接</a:t>
            </a:r>
            <a:r>
              <a:rPr lang="en-US" altLang="zh-CN" sz="2000" dirty="0"/>
              <a:t>I/O</a:t>
            </a:r>
            <a:r>
              <a:rPr lang="zh-CN" altLang="en-US" sz="2000" dirty="0"/>
              <a:t>：</a:t>
            </a:r>
            <a:endParaRPr lang="zh-CN" altLang="en-US" sz="20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1800" dirty="0"/>
              <a:t>使虚拟机直接访问设备硬件</a:t>
            </a:r>
            <a:endParaRPr lang="zh-CN" altLang="en-US" sz="18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1800" dirty="0"/>
              <a:t>主要应用于主机较多的大规模网络中</a:t>
            </a:r>
            <a:endParaRPr lang="zh-CN" alt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11.2.5 </a:t>
            </a:r>
            <a:r>
              <a:rPr lang="zh-CN" altLang="en-US" sz="2800" b="1" dirty="0">
                <a:solidFill>
                  <a:schemeClr val="bg1"/>
                </a:solidFill>
                <a:cs typeface="+mn-ea"/>
                <a:sym typeface="+mn-lt"/>
              </a:rPr>
              <a:t>多核虚拟化</a:t>
            </a:r>
            <a:endParaRPr lang="zh-CN" altLang="en-US" sz="2800" b="1" dirty="0">
              <a:solidFill>
                <a:schemeClr val="bg1"/>
              </a:solidFill>
              <a:cs typeface="+mn-ea"/>
              <a:sym typeface="+mn-lt"/>
            </a:endParaRPr>
          </a:p>
        </p:txBody>
      </p:sp>
      <p:sp>
        <p:nvSpPr>
          <p:cNvPr id="4" name="内容占位符 2"/>
          <p:cNvSpPr txBox="1"/>
          <p:nvPr/>
        </p:nvSpPr>
        <p:spPr>
          <a:xfrm>
            <a:off x="1461856" y="1391389"/>
            <a:ext cx="10070237" cy="416603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spcBef>
                <a:spcPts val="600"/>
              </a:spcBef>
              <a:spcAft>
                <a:spcPts val="600"/>
              </a:spcAft>
              <a:buClr>
                <a:srgbClr val="E71101"/>
              </a:buClr>
              <a:buSzPct val="60000"/>
              <a:buNone/>
              <a:defRPr/>
            </a:pPr>
            <a:r>
              <a:rPr lang="zh-CN" altLang="en-US" sz="2400" dirty="0">
                <a:solidFill>
                  <a:srgbClr val="FF0000"/>
                </a:solidFill>
              </a:rPr>
              <a:t>虚拟机</a:t>
            </a:r>
            <a:r>
              <a:rPr lang="zh-CN" altLang="en-US" sz="2400" dirty="0"/>
              <a:t>与</a:t>
            </a:r>
            <a:r>
              <a:rPr lang="zh-CN" altLang="en-US" sz="2400" dirty="0">
                <a:solidFill>
                  <a:srgbClr val="FF0000"/>
                </a:solidFill>
              </a:rPr>
              <a:t>多核技术</a:t>
            </a:r>
            <a:r>
              <a:rPr lang="zh-CN" altLang="en-US" sz="2400" dirty="0"/>
              <a:t>的</a:t>
            </a:r>
            <a:r>
              <a:rPr lang="zh-CN" altLang="en-US" sz="2400" dirty="0">
                <a:solidFill>
                  <a:srgbClr val="0000FF"/>
                </a:solidFill>
              </a:rPr>
              <a:t>结合</a:t>
            </a:r>
            <a:r>
              <a:rPr lang="zh-CN" altLang="en-US" sz="2400" dirty="0"/>
              <a:t>，可以使用户在软件中指定可用的处理机数量。</a:t>
            </a:r>
            <a:endParaRPr lang="zh-CN" altLang="en-US" sz="2400" dirty="0"/>
          </a:p>
          <a:p>
            <a:pPr marL="0" lvl="1" indent="0">
              <a:lnSpc>
                <a:spcPct val="132000"/>
              </a:lnSpc>
              <a:spcBef>
                <a:spcPts val="600"/>
              </a:spcBef>
              <a:spcAft>
                <a:spcPts val="600"/>
              </a:spcAft>
              <a:buClr>
                <a:srgbClr val="E71101"/>
              </a:buClr>
              <a:buSzPct val="60000"/>
              <a:buNone/>
              <a:defRPr/>
            </a:pPr>
            <a:r>
              <a:rPr lang="zh-CN" altLang="en-US" sz="2400" dirty="0"/>
              <a:t>与虚拟化单核处理器相比，虚拟化多核处理器更加复杂。</a:t>
            </a:r>
            <a:endParaRPr lang="zh-CN" altLang="en-US" sz="2400" dirty="0"/>
          </a:p>
          <a:p>
            <a:pPr marL="0" lvl="1" indent="0">
              <a:lnSpc>
                <a:spcPct val="132000"/>
              </a:lnSpc>
              <a:spcBef>
                <a:spcPts val="600"/>
              </a:spcBef>
              <a:spcAft>
                <a:spcPts val="600"/>
              </a:spcAft>
              <a:buClr>
                <a:srgbClr val="E71101"/>
              </a:buClr>
              <a:buSzPct val="60000"/>
              <a:buNone/>
              <a:defRPr/>
            </a:pPr>
            <a:r>
              <a:rPr lang="zh-CN" altLang="en-US" sz="2400" dirty="0">
                <a:solidFill>
                  <a:srgbClr val="0000FF"/>
                </a:solidFill>
              </a:rPr>
              <a:t>多核虚拟化技术</a:t>
            </a:r>
            <a:r>
              <a:rPr lang="zh-CN" altLang="en-US" sz="2400" dirty="0"/>
              <a:t>目前正处在发展阶段：</a:t>
            </a:r>
            <a:endParaRPr lang="zh-CN" altLang="en-US" sz="2400" dirty="0"/>
          </a:p>
          <a:p>
            <a:pPr marL="457200" lvl="3" indent="-342900">
              <a:lnSpc>
                <a:spcPct val="132000"/>
              </a:lnSpc>
              <a:spcBef>
                <a:spcPts val="370"/>
              </a:spcBef>
              <a:buClr>
                <a:srgbClr val="E71101"/>
              </a:buClr>
              <a:buSzPct val="60000"/>
              <a:buFont typeface="Wingdings" panose="05000000000000000000" pitchFamily="2" charset="2"/>
              <a:buChar char="Ø"/>
              <a:defRPr/>
            </a:pPr>
            <a:r>
              <a:rPr lang="zh-CN" altLang="en-US" sz="2200" dirty="0"/>
              <a:t>允许硬件设计者获得处理器核底层细节的抽象，它位于</a:t>
            </a:r>
            <a:r>
              <a:rPr lang="en-US" altLang="zh-CN" sz="2200" dirty="0"/>
              <a:t>ISA</a:t>
            </a:r>
            <a:r>
              <a:rPr lang="zh-CN" altLang="en-US" sz="2200" dirty="0"/>
              <a:t>之下并且不需要</a:t>
            </a:r>
            <a:r>
              <a:rPr lang="en-US" altLang="zh-CN" sz="2200" dirty="0"/>
              <a:t>OS</a:t>
            </a:r>
            <a:r>
              <a:rPr lang="zh-CN" altLang="en-US" sz="2200" dirty="0"/>
              <a:t>或</a:t>
            </a:r>
            <a:r>
              <a:rPr lang="en-US" altLang="zh-CN" sz="2200" dirty="0"/>
              <a:t>VMM</a:t>
            </a:r>
            <a:r>
              <a:rPr lang="zh-CN" altLang="en-US" sz="2200" dirty="0"/>
              <a:t>的修改（</a:t>
            </a:r>
            <a:r>
              <a:rPr lang="en-US" altLang="zh-CN" sz="2200" dirty="0"/>
              <a:t>Wells</a:t>
            </a:r>
            <a:r>
              <a:rPr lang="zh-CN" altLang="en-US" sz="2200" dirty="0"/>
              <a:t>等人提出）；</a:t>
            </a:r>
            <a:endParaRPr lang="zh-CN" altLang="en-US" sz="2200" dirty="0"/>
          </a:p>
          <a:p>
            <a:pPr marL="457200" lvl="3" indent="-342900">
              <a:lnSpc>
                <a:spcPct val="132000"/>
              </a:lnSpc>
              <a:spcBef>
                <a:spcPts val="370"/>
              </a:spcBef>
              <a:buClr>
                <a:srgbClr val="E71101"/>
              </a:buClr>
              <a:buSzPct val="60000"/>
              <a:buFont typeface="Wingdings" panose="05000000000000000000" pitchFamily="2" charset="2"/>
              <a:buChar char="Ø"/>
              <a:defRPr/>
            </a:pPr>
            <a:r>
              <a:rPr lang="zh-CN" altLang="en-US" sz="2200" dirty="0"/>
              <a:t>除了在一个或多个处理器核上支持分时共享作业外，还可以使用多余的处理器核进行空间共享，其中单线程或多线程作业被同时长时间地分配给独立的核组（基于片上多核处理器）。</a:t>
            </a:r>
            <a:endParaRPr lang="zh-CN" altLang="en-US" sz="2200" dirty="0"/>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25544" y="1411364"/>
            <a:ext cx="527050" cy="527050"/>
          </a:xfrm>
          <a:prstGeom prst="rect">
            <a:avLst/>
          </a:prstGeom>
          <a:ln>
            <a:noFill/>
          </a:ln>
          <a:effectLst>
            <a:softEdge rad="0"/>
          </a:effectLst>
        </p:spPr>
      </p:pic>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25544" y="1996504"/>
            <a:ext cx="527050" cy="527050"/>
          </a:xfrm>
          <a:prstGeom prst="rect">
            <a:avLst/>
          </a:prstGeom>
          <a:ln>
            <a:noFill/>
          </a:ln>
          <a:effectLst>
            <a:softEdge rad="0"/>
          </a:effectLst>
        </p:spPr>
      </p:pic>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25544" y="2651973"/>
            <a:ext cx="527050" cy="527050"/>
          </a:xfrm>
          <a:prstGeom prst="rect">
            <a:avLst/>
          </a:prstGeom>
          <a:ln>
            <a:noFill/>
          </a:ln>
          <a:effectLst>
            <a:softEdge rad="0"/>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cs typeface="+mn-ea"/>
                <a:sym typeface="+mn-lt"/>
              </a:rPr>
              <a:t>内容导航：</a:t>
            </a:r>
            <a:endParaRPr lang="zh-CN" altLang="en-US" sz="2800" b="1" dirty="0">
              <a:solidFill>
                <a:schemeClr val="bg1"/>
              </a:solidFill>
              <a:cs typeface="+mn-ea"/>
              <a:sym typeface="+mn-lt"/>
            </a:endParaRPr>
          </a:p>
        </p:txBody>
      </p:sp>
      <p:sp>
        <p:nvSpPr>
          <p:cNvPr id="22" name="矩形 21"/>
          <p:cNvSpPr/>
          <p:nvPr/>
        </p:nvSpPr>
        <p:spPr>
          <a:xfrm>
            <a:off x="1379228" y="1767926"/>
            <a:ext cx="4500146" cy="461665"/>
          </a:xfrm>
          <a:prstGeom prst="rect">
            <a:avLst/>
          </a:prstGeom>
        </p:spPr>
        <p:txBody>
          <a:bodyPr wrap="square">
            <a:spAutoFit/>
          </a:bodyPr>
          <a:lstStyle/>
          <a:p>
            <a:r>
              <a:rPr lang="en-US" altLang="zh-CN" sz="2400" dirty="0">
                <a:cs typeface="+mn-ea"/>
                <a:sym typeface="+mn-lt"/>
              </a:rPr>
              <a:t>11.1  </a:t>
            </a:r>
            <a:r>
              <a:rPr lang="zh-CN" altLang="en-US" sz="2400" dirty="0">
                <a:cs typeface="+mn-ea"/>
                <a:sym typeface="+mn-lt"/>
              </a:rPr>
              <a:t>虚拟化的基本概念</a:t>
            </a:r>
            <a:endParaRPr lang="zh-CN" altLang="en-US" sz="2400" dirty="0">
              <a:cs typeface="+mn-ea"/>
              <a:sym typeface="+mn-lt"/>
            </a:endParaRPr>
          </a:p>
        </p:txBody>
      </p:sp>
      <p:sp>
        <p:nvSpPr>
          <p:cNvPr id="23" name="矩形 22"/>
          <p:cNvSpPr/>
          <p:nvPr/>
        </p:nvSpPr>
        <p:spPr>
          <a:xfrm>
            <a:off x="1379228" y="2406101"/>
            <a:ext cx="3682150" cy="461665"/>
          </a:xfrm>
          <a:prstGeom prst="rect">
            <a:avLst/>
          </a:prstGeom>
        </p:spPr>
        <p:txBody>
          <a:bodyPr wrap="square">
            <a:spAutoFit/>
          </a:bodyPr>
          <a:lstStyle/>
          <a:p>
            <a:r>
              <a:rPr lang="en-US" altLang="zh-CN" sz="2400" dirty="0">
                <a:cs typeface="+mn-ea"/>
                <a:sym typeface="+mn-lt"/>
              </a:rPr>
              <a:t>11.2  </a:t>
            </a:r>
            <a:r>
              <a:rPr lang="zh-CN" altLang="en-US" sz="2400" dirty="0">
                <a:cs typeface="+mn-ea"/>
                <a:sym typeface="+mn-lt"/>
              </a:rPr>
              <a:t>虚拟化技术</a:t>
            </a:r>
            <a:endParaRPr lang="zh-CN" altLang="en-US" sz="2400" dirty="0">
              <a:cs typeface="+mn-ea"/>
              <a:sym typeface="+mn-lt"/>
            </a:endParaRPr>
          </a:p>
        </p:txBody>
      </p:sp>
      <p:sp>
        <p:nvSpPr>
          <p:cNvPr id="24" name="矩形 23"/>
          <p:cNvSpPr/>
          <p:nvPr/>
        </p:nvSpPr>
        <p:spPr>
          <a:xfrm>
            <a:off x="1379227" y="3025226"/>
            <a:ext cx="5320152" cy="461665"/>
          </a:xfrm>
          <a:prstGeom prst="rect">
            <a:avLst/>
          </a:prstGeom>
        </p:spPr>
        <p:txBody>
          <a:bodyPr wrap="square">
            <a:spAutoFit/>
          </a:bodyPr>
          <a:lstStyle/>
          <a:p>
            <a:r>
              <a:rPr lang="en-US" altLang="zh-CN" sz="2400" b="1" dirty="0">
                <a:solidFill>
                  <a:srgbClr val="0000FF"/>
                </a:solidFill>
                <a:cs typeface="+mn-ea"/>
                <a:sym typeface="+mn-lt"/>
              </a:rPr>
              <a:t>11.3  </a:t>
            </a:r>
            <a:r>
              <a:rPr lang="zh-CN" altLang="en-US" sz="2400" b="1" dirty="0">
                <a:solidFill>
                  <a:srgbClr val="0000FF"/>
                </a:solidFill>
                <a:cs typeface="+mn-ea"/>
                <a:sym typeface="+mn-lt"/>
              </a:rPr>
              <a:t>云计算</a:t>
            </a:r>
            <a:endParaRPr lang="zh-CN" altLang="en-US" sz="2400" b="1" dirty="0">
              <a:solidFill>
                <a:srgbClr val="0000FF"/>
              </a:solidFill>
              <a:cs typeface="+mn-ea"/>
              <a:sym typeface="+mn-lt"/>
            </a:endParaRPr>
          </a:p>
        </p:txBody>
      </p:sp>
      <p:sp>
        <p:nvSpPr>
          <p:cNvPr id="25" name="矩形 24"/>
          <p:cNvSpPr/>
          <p:nvPr/>
        </p:nvSpPr>
        <p:spPr>
          <a:xfrm>
            <a:off x="1379227" y="3641996"/>
            <a:ext cx="5254838" cy="461665"/>
          </a:xfrm>
          <a:prstGeom prst="rect">
            <a:avLst/>
          </a:prstGeom>
        </p:spPr>
        <p:txBody>
          <a:bodyPr wrap="square">
            <a:spAutoFit/>
          </a:bodyPr>
          <a:lstStyle/>
          <a:p>
            <a:r>
              <a:rPr lang="en-US" altLang="zh-CN" sz="2400" dirty="0">
                <a:cs typeface="+mn-ea"/>
                <a:sym typeface="+mn-lt"/>
              </a:rPr>
              <a:t>11.4  </a:t>
            </a:r>
            <a:r>
              <a:rPr lang="zh-CN" altLang="en-US" sz="2400" dirty="0">
                <a:cs typeface="+mn-ea"/>
                <a:sym typeface="+mn-lt"/>
              </a:rPr>
              <a:t>实例：虚拟机软件</a:t>
            </a:r>
            <a:endParaRPr lang="zh-CN" altLang="en-US" sz="2400" dirty="0">
              <a:cs typeface="+mn-ea"/>
              <a:sym typeface="+mn-lt"/>
            </a:endParaRPr>
          </a:p>
        </p:txBody>
      </p:sp>
      <p:sp>
        <p:nvSpPr>
          <p:cNvPr id="3" name="矩形 2"/>
          <p:cNvSpPr/>
          <p:nvPr/>
        </p:nvSpPr>
        <p:spPr>
          <a:xfrm>
            <a:off x="6699378" y="2349214"/>
            <a:ext cx="4991859" cy="646331"/>
          </a:xfrm>
          <a:prstGeom prst="rect">
            <a:avLst/>
          </a:prstGeom>
        </p:spPr>
        <p:txBody>
          <a:bodyPr wrap="square">
            <a:spAutoFit/>
          </a:bodyPr>
          <a:lstStyle/>
          <a:p>
            <a:r>
              <a:rPr lang="zh-CN" altLang="en-US" sz="3600" dirty="0">
                <a:solidFill>
                  <a:srgbClr val="000000"/>
                </a:solidFill>
                <a:cs typeface="+mn-ea"/>
                <a:sym typeface="+mn-lt"/>
              </a:rPr>
              <a:t>第</a:t>
            </a:r>
            <a:r>
              <a:rPr lang="en-US" altLang="zh-CN" sz="3600" dirty="0">
                <a:solidFill>
                  <a:srgbClr val="000000"/>
                </a:solidFill>
                <a:cs typeface="+mn-ea"/>
                <a:sym typeface="+mn-lt"/>
              </a:rPr>
              <a:t>11</a:t>
            </a:r>
            <a:r>
              <a:rPr lang="zh-CN" altLang="en-US" sz="3600" dirty="0">
                <a:solidFill>
                  <a:srgbClr val="000000"/>
                </a:solidFill>
                <a:cs typeface="+mn-ea"/>
                <a:sym typeface="+mn-lt"/>
              </a:rPr>
              <a:t>章 虚拟化和云计算</a:t>
            </a:r>
            <a:endParaRPr lang="zh-CN" altLang="en-US" sz="3600" dirty="0">
              <a:cs typeface="+mn-ea"/>
              <a:sym typeface="+mn-lt"/>
            </a:endParaRPr>
          </a:p>
        </p:txBody>
      </p:sp>
      <p:cxnSp>
        <p:nvCxnSpPr>
          <p:cNvPr id="5" name="直接连接符 4"/>
          <p:cNvCxnSpPr/>
          <p:nvPr/>
        </p:nvCxnSpPr>
        <p:spPr>
          <a:xfrm>
            <a:off x="6699379" y="3190471"/>
            <a:ext cx="4847743"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1730916"/>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316056"/>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971525"/>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3587643"/>
            <a:ext cx="527050" cy="527050"/>
          </a:xfrm>
          <a:prstGeom prst="rect">
            <a:avLst/>
          </a:prstGeom>
          <a:ln>
            <a:noFill/>
          </a:ln>
          <a:effectLst>
            <a:softEdge rad="0"/>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11.3.1 </a:t>
            </a:r>
            <a:r>
              <a:rPr lang="zh-CN" altLang="en-US" sz="2800" b="1" dirty="0">
                <a:solidFill>
                  <a:schemeClr val="bg1"/>
                </a:solidFill>
                <a:cs typeface="+mn-ea"/>
                <a:sym typeface="+mn-lt"/>
              </a:rPr>
              <a:t>云计算的引入</a:t>
            </a:r>
            <a:endParaRPr lang="zh-CN" altLang="en-US" sz="2800" b="1" dirty="0">
              <a:solidFill>
                <a:schemeClr val="bg1"/>
              </a:solidFill>
              <a:cs typeface="+mn-ea"/>
              <a:sym typeface="+mn-lt"/>
            </a:endParaRPr>
          </a:p>
        </p:txBody>
      </p:sp>
      <p:sp>
        <p:nvSpPr>
          <p:cNvPr id="4" name="内容占位符 2"/>
          <p:cNvSpPr txBox="1"/>
          <p:nvPr/>
        </p:nvSpPr>
        <p:spPr>
          <a:xfrm>
            <a:off x="489049" y="1068952"/>
            <a:ext cx="11213899" cy="11238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32000"/>
              </a:lnSpc>
              <a:buNone/>
            </a:pPr>
            <a:r>
              <a:rPr lang="zh-CN" altLang="en-US" sz="2300" dirty="0">
                <a:solidFill>
                  <a:srgbClr val="0000FF"/>
                </a:solidFill>
                <a:latin typeface="+mn-ea"/>
              </a:rPr>
              <a:t>云计算</a:t>
            </a:r>
            <a:r>
              <a:rPr lang="zh-CN" altLang="en-US" sz="2300" dirty="0">
                <a:latin typeface="+mn-ea"/>
              </a:rPr>
              <a:t>本身无论是商业模式还是技术，都已经发展了很长时间，并在实践过程中逐步演进。</a:t>
            </a:r>
            <a:endParaRPr lang="en-US" altLang="zh-CN" sz="2300" dirty="0">
              <a:latin typeface="+mn-ea"/>
            </a:endParaRPr>
          </a:p>
        </p:txBody>
      </p:sp>
      <p:grpSp>
        <p:nvGrpSpPr>
          <p:cNvPr id="5"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55107" y="2104008"/>
            <a:ext cx="11205141" cy="4155247"/>
            <a:chOff x="539158" y="1929384"/>
            <a:chExt cx="11205141" cy="4155247"/>
          </a:xfrm>
        </p:grpSpPr>
        <p:sp>
          <p:nvSpPr>
            <p:cNvPr id="6"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7"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8"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9"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0"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2" name="isľîdê"/>
            <p:cNvSpPr txBox="1"/>
            <p:nvPr/>
          </p:nvSpPr>
          <p:spPr>
            <a:xfrm>
              <a:off x="539158" y="4127645"/>
              <a:ext cx="2586039"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云计算最初源于互联网公司的成本控制，这些公司会尽可能合理地利用每一个硬件，最大程度地发挥机器性能</a:t>
              </a:r>
              <a:endParaRPr lang="zh-CN" altLang="en-US" sz="2000" dirty="0"/>
            </a:p>
          </p:txBody>
        </p:sp>
        <p:sp>
          <p:nvSpPr>
            <p:cNvPr id="16"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7"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8"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9"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1" name="isľîdê"/>
            <p:cNvSpPr txBox="1"/>
            <p:nvPr/>
          </p:nvSpPr>
          <p:spPr>
            <a:xfrm>
              <a:off x="3277234" y="4127645"/>
              <a:ext cx="2940500" cy="195698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随着公司业务需求的不断增长，如何管理和维护成千上万台服务器，成为了大型互联网公司所面临的挑战</a:t>
              </a:r>
              <a:endParaRPr lang="zh-CN" altLang="en-US" sz="2000" dirty="0"/>
            </a:p>
          </p:txBody>
        </p:sp>
        <p:sp>
          <p:nvSpPr>
            <p:cNvPr id="22" name="isľîdê"/>
            <p:cNvSpPr txBox="1"/>
            <p:nvPr/>
          </p:nvSpPr>
          <p:spPr>
            <a:xfrm>
              <a:off x="6469394" y="4151139"/>
              <a:ext cx="2450284" cy="179095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海量数据的存储问题同样是互联网公司所面临的棘手问题</a:t>
              </a:r>
              <a:endParaRPr lang="zh-CN" altLang="en-US" sz="2000" dirty="0"/>
            </a:p>
          </p:txBody>
        </p:sp>
        <p:sp>
          <p:nvSpPr>
            <p:cNvPr id="23" name="isľîdê"/>
            <p:cNvSpPr txBox="1"/>
            <p:nvPr/>
          </p:nvSpPr>
          <p:spPr>
            <a:xfrm>
              <a:off x="9112965" y="4127645"/>
              <a:ext cx="2631334" cy="835247"/>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由此引出了“</a:t>
              </a:r>
              <a:r>
                <a:rPr lang="zh-CN" altLang="en-US" sz="2000" dirty="0">
                  <a:solidFill>
                    <a:srgbClr val="FF0000"/>
                  </a:solidFill>
                </a:rPr>
                <a:t>云</a:t>
              </a:r>
              <a:r>
                <a:rPr lang="zh-CN" altLang="en-US" sz="2000" dirty="0"/>
                <a:t>”和云计算</a:t>
              </a:r>
              <a:endParaRPr lang="zh-CN" altLang="en-US" sz="2000" dirty="0"/>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云计算的发展阶段</a:t>
            </a:r>
            <a:endParaRPr lang="zh-CN" altLang="en-US" sz="2800" b="1" dirty="0">
              <a:solidFill>
                <a:schemeClr val="bg1"/>
              </a:solidFill>
              <a:cs typeface="+mn-ea"/>
              <a:sym typeface="+mn-lt"/>
            </a:endParaRPr>
          </a:p>
        </p:txBody>
      </p:sp>
      <p:sp>
        <p:nvSpPr>
          <p:cNvPr id="4" name="内容占位符 2"/>
          <p:cNvSpPr txBox="1"/>
          <p:nvPr/>
        </p:nvSpPr>
        <p:spPr>
          <a:xfrm>
            <a:off x="1488046" y="1140211"/>
            <a:ext cx="10168335" cy="535824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spcBef>
                <a:spcPts val="370"/>
              </a:spcBef>
              <a:buClr>
                <a:srgbClr val="E71101"/>
              </a:buClr>
              <a:buSzPct val="60000"/>
              <a:buNone/>
              <a:defRPr/>
            </a:pPr>
            <a:r>
              <a:rPr lang="zh-CN" altLang="en-US" sz="2400" dirty="0">
                <a:solidFill>
                  <a:srgbClr val="FF0000"/>
                </a:solidFill>
              </a:rPr>
              <a:t>第一阶段</a:t>
            </a:r>
            <a:r>
              <a:rPr lang="zh-CN" altLang="en-US" sz="2400" dirty="0"/>
              <a:t>，</a:t>
            </a:r>
            <a:r>
              <a:rPr lang="en-US" altLang="zh-CN" sz="2400" dirty="0"/>
              <a:t>2006</a:t>
            </a:r>
            <a:r>
              <a:rPr lang="zh-CN" altLang="en-US" sz="2400" dirty="0"/>
              <a:t>年之前</a:t>
            </a:r>
            <a:endParaRPr lang="zh-CN" altLang="en-US"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t>属于云计算发展前期，虚拟化技术、并行计算、网格计算等与云计算密切相关的技术各自发展</a:t>
            </a:r>
            <a:endParaRPr lang="zh-CN" altLang="en-US" sz="2400" dirty="0"/>
          </a:p>
          <a:p>
            <a:pPr marL="0" lvl="1" indent="0">
              <a:lnSpc>
                <a:spcPct val="132000"/>
              </a:lnSpc>
              <a:spcBef>
                <a:spcPts val="370"/>
              </a:spcBef>
              <a:buClr>
                <a:srgbClr val="E71101"/>
              </a:buClr>
              <a:buSzPct val="60000"/>
              <a:buNone/>
              <a:defRPr/>
            </a:pPr>
            <a:r>
              <a:rPr lang="zh-CN" altLang="en-US" sz="2400" dirty="0">
                <a:solidFill>
                  <a:srgbClr val="FF0000"/>
                </a:solidFill>
              </a:rPr>
              <a:t>第二阶段</a:t>
            </a:r>
            <a:r>
              <a:rPr lang="zh-CN" altLang="en-US" sz="2400" dirty="0"/>
              <a:t>，</a:t>
            </a:r>
            <a:r>
              <a:rPr lang="en-US" altLang="zh-CN" sz="2400" dirty="0"/>
              <a:t>2006~2009</a:t>
            </a:r>
            <a:r>
              <a:rPr lang="zh-CN" altLang="en-US" sz="2400" dirty="0"/>
              <a:t>年</a:t>
            </a:r>
            <a:endParaRPr lang="zh-CN" altLang="en-US"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t>属于云计算技术发展阶段，云计算、云模式、云服务的概念开始受到各个厂家和标准组织的关注，并结合传统的虚拟化技术、并行计算以及网格计算等，使云计算的技术体系日趋完善</a:t>
            </a:r>
            <a:endParaRPr lang="zh-CN" altLang="en-US" sz="2400" dirty="0"/>
          </a:p>
          <a:p>
            <a:pPr marL="0" lvl="1" indent="0">
              <a:lnSpc>
                <a:spcPct val="132000"/>
              </a:lnSpc>
              <a:spcBef>
                <a:spcPts val="370"/>
              </a:spcBef>
              <a:buClr>
                <a:srgbClr val="E71101"/>
              </a:buClr>
              <a:buSzPct val="60000"/>
              <a:buNone/>
              <a:defRPr/>
            </a:pPr>
            <a:r>
              <a:rPr lang="zh-CN" altLang="en-US" sz="2400" dirty="0">
                <a:solidFill>
                  <a:srgbClr val="FF0000"/>
                </a:solidFill>
              </a:rPr>
              <a:t>第三阶段</a:t>
            </a:r>
            <a:r>
              <a:rPr lang="zh-CN" altLang="en-US" sz="2400" dirty="0"/>
              <a:t>，</a:t>
            </a:r>
            <a:r>
              <a:rPr lang="en-US" altLang="zh-CN" sz="2400" dirty="0"/>
              <a:t>2010</a:t>
            </a:r>
            <a:r>
              <a:rPr lang="zh-CN" altLang="en-US" sz="2400" dirty="0"/>
              <a:t>年至今</a:t>
            </a:r>
            <a:endParaRPr lang="zh-CN" altLang="en-US"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t>属于云计算技术与应用得到高度重视和飞速发展的阶段，云计算得到了政府和企业的高度重视与逐步认同，云计算技术与应用得到了飞速发展</a:t>
            </a:r>
            <a:endParaRPr lang="zh-CN" altLang="en-US" sz="2400" dirty="0"/>
          </a:p>
        </p:txBody>
      </p:sp>
      <p:sp>
        <p:nvSpPr>
          <p:cNvPr id="6" name="îSļiḓè"/>
          <p:cNvSpPr/>
          <p:nvPr/>
        </p:nvSpPr>
        <p:spPr>
          <a:xfrm>
            <a:off x="763620" y="114021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7" name="íṥḻîḓe"/>
          <p:cNvSpPr/>
          <p:nvPr/>
        </p:nvSpPr>
        <p:spPr>
          <a:xfrm>
            <a:off x="763620" y="473159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8" name="îşļiḓè"/>
          <p:cNvSpPr/>
          <p:nvPr/>
        </p:nvSpPr>
        <p:spPr>
          <a:xfrm>
            <a:off x="763620" y="2673558"/>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9" name="îṡḷíďe"/>
          <p:cNvSpPr/>
          <p:nvPr/>
        </p:nvSpPr>
        <p:spPr>
          <a:xfrm>
            <a:off x="953875" y="1336349"/>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0" name="íSlíḋe"/>
          <p:cNvSpPr/>
          <p:nvPr/>
        </p:nvSpPr>
        <p:spPr>
          <a:xfrm>
            <a:off x="953874" y="2895575"/>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1" name="ïśḷïḓe"/>
          <p:cNvSpPr/>
          <p:nvPr/>
        </p:nvSpPr>
        <p:spPr>
          <a:xfrm>
            <a:off x="982813" y="4921059"/>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11.3.2 </a:t>
            </a:r>
            <a:r>
              <a:rPr lang="zh-CN" altLang="en-US" sz="2800" b="1" dirty="0">
                <a:solidFill>
                  <a:schemeClr val="bg1"/>
                </a:solidFill>
                <a:cs typeface="+mn-ea"/>
                <a:sym typeface="+mn-lt"/>
              </a:rPr>
              <a:t>云计算的定义和基本特征</a:t>
            </a:r>
            <a:endParaRPr lang="zh-CN" altLang="en-US" sz="2800" b="1" dirty="0">
              <a:solidFill>
                <a:schemeClr val="bg1"/>
              </a:solidFill>
              <a:cs typeface="+mn-ea"/>
              <a:sym typeface="+mn-lt"/>
            </a:endParaRPr>
          </a:p>
        </p:txBody>
      </p:sp>
      <p:sp>
        <p:nvSpPr>
          <p:cNvPr id="4" name="ïşľîďè"/>
          <p:cNvSpPr/>
          <p:nvPr/>
        </p:nvSpPr>
        <p:spPr>
          <a:xfrm>
            <a:off x="-788524" y="1134122"/>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5" name="îŝļiḋe"/>
          <p:cNvSpPr/>
          <p:nvPr/>
        </p:nvSpPr>
        <p:spPr>
          <a:xfrm>
            <a:off x="3224183" y="1134122"/>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6" name="í$1iďè"/>
          <p:cNvGrpSpPr/>
          <p:nvPr/>
        </p:nvGrpSpPr>
        <p:grpSpPr>
          <a:xfrm>
            <a:off x="3348471" y="1174124"/>
            <a:ext cx="8281277" cy="2254876"/>
            <a:chOff x="4136995" y="1170302"/>
            <a:chExt cx="8281277" cy="2254876"/>
          </a:xfrm>
        </p:grpSpPr>
        <p:sp>
          <p:nvSpPr>
            <p:cNvPr id="7"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8" name="ïSḻiḍé"/>
            <p:cNvSpPr txBox="1"/>
            <p:nvPr/>
          </p:nvSpPr>
          <p:spPr>
            <a:xfrm>
              <a:off x="4882718" y="1170302"/>
              <a:ext cx="7535554" cy="22548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200" dirty="0">
                  <a:latin typeface="+mj-ea"/>
                  <a:ea typeface="+mj-ea"/>
                </a:rPr>
                <a:t>云计算的</a:t>
              </a:r>
              <a:r>
                <a:rPr lang="zh-CN" altLang="en-US" sz="2200" dirty="0">
                  <a:solidFill>
                    <a:srgbClr val="FF0000"/>
                  </a:solidFill>
                  <a:latin typeface="+mj-ea"/>
                  <a:ea typeface="+mj-ea"/>
                </a:rPr>
                <a:t>定义</a:t>
              </a:r>
              <a:r>
                <a:rPr lang="zh-CN" altLang="en-US" sz="2200" dirty="0">
                  <a:latin typeface="+mj-ea"/>
                  <a:ea typeface="+mj-ea"/>
                </a:rPr>
                <a:t>（</a:t>
              </a:r>
              <a:r>
                <a:rPr lang="en-US" altLang="zh-CN" sz="2200" dirty="0">
                  <a:latin typeface="+mj-ea"/>
                  <a:ea typeface="+mj-ea"/>
                </a:rPr>
                <a:t>NIST</a:t>
              </a:r>
              <a:r>
                <a:rPr lang="zh-CN" altLang="en-US" sz="2200" dirty="0">
                  <a:latin typeface="+mj-ea"/>
                  <a:ea typeface="+mj-ea"/>
                </a:rPr>
                <a:t>的定义）</a:t>
              </a:r>
              <a:endParaRPr lang="zh-CN" altLang="en-US" sz="2200" dirty="0">
                <a:latin typeface="+mj-ea"/>
                <a:ea typeface="+mj-ea"/>
              </a:endParaRPr>
            </a:p>
            <a:p>
              <a:pPr marL="342900" indent="-342900" algn="just">
                <a:lnSpc>
                  <a:spcPct val="130000"/>
                </a:lnSpc>
                <a:buClr>
                  <a:srgbClr val="FF0000"/>
                </a:buClr>
                <a:buFont typeface="Wingdings" panose="05000000000000000000" pitchFamily="2" charset="2"/>
                <a:buChar char="Ø"/>
              </a:pPr>
              <a:r>
                <a:rPr lang="zh-CN" altLang="en-US" sz="2000" dirty="0">
                  <a:solidFill>
                    <a:srgbClr val="FF0000"/>
                  </a:solidFill>
                  <a:latin typeface="+mj-ea"/>
                  <a:ea typeface="+mj-ea"/>
                </a:rPr>
                <a:t>云计算</a:t>
              </a:r>
              <a:r>
                <a:rPr lang="zh-CN" altLang="en-US" sz="2000" dirty="0">
                  <a:latin typeface="+mj-ea"/>
                  <a:ea typeface="+mj-ea"/>
                </a:rPr>
                <a:t>是一种采用按计算资源使用量进行付费的模式来提供可用、便捷、按需的网络访问服务的技术，用户进入可配置的计算资源共享池（其中包含网络、服务器、存储设备、应用软件以及服务等）后，只须投入很少的管理工作或与服务供应商进行很少的交互，即可快速获得这些资源</a:t>
              </a:r>
              <a:endParaRPr lang="zh-CN" altLang="en-US" sz="2000" dirty="0">
                <a:latin typeface="+mj-ea"/>
                <a:ea typeface="+mj-ea"/>
              </a:endParaRPr>
            </a:p>
          </p:txBody>
        </p:sp>
      </p:grpSp>
      <p:grpSp>
        <p:nvGrpSpPr>
          <p:cNvPr id="9" name="išḷîḓé"/>
          <p:cNvGrpSpPr/>
          <p:nvPr/>
        </p:nvGrpSpPr>
        <p:grpSpPr>
          <a:xfrm>
            <a:off x="3348471" y="3598227"/>
            <a:ext cx="8378932" cy="1179412"/>
            <a:chOff x="4136995" y="3233565"/>
            <a:chExt cx="8378932" cy="1179412"/>
          </a:xfrm>
        </p:grpSpPr>
        <p:sp>
          <p:nvSpPr>
            <p:cNvPr id="10"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1" name="îŝľîḓè"/>
            <p:cNvSpPr txBox="1"/>
            <p:nvPr/>
          </p:nvSpPr>
          <p:spPr>
            <a:xfrm>
              <a:off x="4882718" y="3233565"/>
              <a:ext cx="7633209" cy="1179412"/>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200" dirty="0">
                  <a:solidFill>
                    <a:srgbClr val="0000FF"/>
                  </a:solidFill>
                </a:rPr>
                <a:t>狭义</a:t>
              </a:r>
              <a:r>
                <a:rPr lang="zh-CN" altLang="en-US" sz="2200" dirty="0"/>
                <a:t>的云计算</a:t>
              </a:r>
              <a:endParaRPr lang="zh-CN" altLang="en-US" sz="2200" dirty="0"/>
            </a:p>
            <a:p>
              <a:pPr marL="342900" indent="-342900">
                <a:lnSpc>
                  <a:spcPct val="130000"/>
                </a:lnSpc>
                <a:buClr>
                  <a:srgbClr val="FF0000"/>
                </a:buClr>
                <a:buFont typeface="Wingdings" panose="05000000000000000000" pitchFamily="2" charset="2"/>
                <a:buChar char="Ø"/>
              </a:pPr>
              <a:r>
                <a:rPr lang="zh-CN" altLang="en-US" sz="2000" dirty="0"/>
                <a:t>指</a:t>
              </a:r>
              <a:r>
                <a:rPr lang="en-US" altLang="zh-CN" sz="2000" dirty="0"/>
                <a:t>IT</a:t>
              </a:r>
              <a:r>
                <a:rPr lang="zh-CN" altLang="en-US" sz="2000" dirty="0"/>
                <a:t>基础设施的交付和使用模式，即通过网络以按需、易扩展的方式获得所需的资源</a:t>
              </a:r>
              <a:endParaRPr lang="zh-CN" altLang="en-US" sz="2000" dirty="0"/>
            </a:p>
          </p:txBody>
        </p:sp>
      </p:grpSp>
      <p:grpSp>
        <p:nvGrpSpPr>
          <p:cNvPr id="12" name="ïSlíḍê"/>
          <p:cNvGrpSpPr/>
          <p:nvPr/>
        </p:nvGrpSpPr>
        <p:grpSpPr>
          <a:xfrm>
            <a:off x="3348472" y="4822528"/>
            <a:ext cx="8378931" cy="1311067"/>
            <a:chOff x="4136995" y="4714289"/>
            <a:chExt cx="8378931" cy="1311067"/>
          </a:xfrm>
        </p:grpSpPr>
        <p:sp>
          <p:nvSpPr>
            <p:cNvPr id="13"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4" name="íṧļîḋê"/>
            <p:cNvSpPr txBox="1"/>
            <p:nvPr/>
          </p:nvSpPr>
          <p:spPr>
            <a:xfrm>
              <a:off x="4882717" y="4714289"/>
              <a:ext cx="7633209"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200" dirty="0">
                  <a:solidFill>
                    <a:srgbClr val="0000FF"/>
                  </a:solidFill>
                </a:rPr>
                <a:t>广义</a:t>
              </a:r>
              <a:r>
                <a:rPr lang="zh-CN" altLang="en-US" sz="2200" dirty="0"/>
                <a:t>的云计算</a:t>
              </a:r>
              <a:endParaRPr lang="zh-CN" altLang="en-US" sz="2200" dirty="0"/>
            </a:p>
            <a:p>
              <a:pPr marL="342900" indent="-342900">
                <a:lnSpc>
                  <a:spcPct val="130000"/>
                </a:lnSpc>
                <a:buClr>
                  <a:srgbClr val="FF0000"/>
                </a:buClr>
                <a:buFont typeface="Wingdings" panose="05000000000000000000" pitchFamily="2" charset="2"/>
                <a:buChar char="Ø"/>
              </a:pPr>
              <a:r>
                <a:rPr lang="zh-CN" altLang="en-US" sz="2000" dirty="0"/>
                <a:t>指服务的交付和使用模式，即通过网络以按需、易扩展的方式获得所需的服务</a:t>
              </a:r>
              <a:endParaRPr lang="zh-CN" altLang="en-US" sz="2000" dirty="0"/>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云计算的基本特征</a:t>
            </a:r>
            <a:endParaRPr lang="zh-CN" altLang="en-US" sz="2800" b="1" dirty="0">
              <a:solidFill>
                <a:schemeClr val="bg1"/>
              </a:solidFill>
              <a:cs typeface="+mn-ea"/>
              <a:sym typeface="+mn-lt"/>
            </a:endParaRPr>
          </a:p>
        </p:txBody>
      </p:sp>
      <p:sp>
        <p:nvSpPr>
          <p:cNvPr id="4" name="内容占位符 2"/>
          <p:cNvSpPr txBox="1"/>
          <p:nvPr/>
        </p:nvSpPr>
        <p:spPr>
          <a:xfrm>
            <a:off x="516384" y="1042557"/>
            <a:ext cx="11159231" cy="535824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spcBef>
                <a:spcPts val="370"/>
              </a:spcBef>
              <a:buClr>
                <a:srgbClr val="E71101"/>
              </a:buClr>
              <a:buSzPct val="60000"/>
              <a:buNone/>
              <a:defRPr/>
            </a:pPr>
            <a:r>
              <a:rPr lang="zh-CN" altLang="en-US" sz="2200" dirty="0"/>
              <a:t>（</a:t>
            </a:r>
            <a:r>
              <a:rPr lang="en-US" altLang="zh-CN" sz="2200" dirty="0"/>
              <a:t>1</a:t>
            </a:r>
            <a:r>
              <a:rPr lang="zh-CN" altLang="en-US" sz="2200" dirty="0"/>
              <a:t>）按需自助服务</a:t>
            </a:r>
            <a:endParaRPr lang="zh-CN" altLang="en-US" sz="2200" dirty="0"/>
          </a:p>
          <a:p>
            <a:pPr marL="800100" lvl="2" indent="-342900">
              <a:lnSpc>
                <a:spcPct val="132000"/>
              </a:lnSpc>
              <a:spcBef>
                <a:spcPts val="370"/>
              </a:spcBef>
              <a:buClr>
                <a:srgbClr val="E71101"/>
              </a:buClr>
              <a:buSzPct val="60000"/>
              <a:buFont typeface="Wingdings" panose="05000000000000000000" pitchFamily="2" charset="2"/>
              <a:buChar char="Ø"/>
              <a:defRPr/>
            </a:pPr>
            <a:r>
              <a:rPr lang="zh-CN" altLang="en-US" sz="2000" dirty="0"/>
              <a:t>消费者无须同服务供应商交互就可以在需要时得到自助的计算资源（资源的自助服务）</a:t>
            </a:r>
            <a:endParaRPr lang="zh-CN" altLang="en-US" sz="2000" dirty="0"/>
          </a:p>
          <a:p>
            <a:pPr marL="0" lvl="1" indent="0">
              <a:lnSpc>
                <a:spcPct val="132000"/>
              </a:lnSpc>
              <a:spcBef>
                <a:spcPts val="370"/>
              </a:spcBef>
              <a:buClr>
                <a:srgbClr val="E71101"/>
              </a:buClr>
              <a:buSzPct val="60000"/>
              <a:buNone/>
              <a:defRPr/>
            </a:pPr>
            <a:r>
              <a:rPr lang="zh-CN" altLang="en-US" sz="2200" dirty="0"/>
              <a:t>（</a:t>
            </a:r>
            <a:r>
              <a:rPr lang="en-US" altLang="zh-CN" sz="2200" dirty="0"/>
              <a:t>2</a:t>
            </a:r>
            <a:r>
              <a:rPr lang="zh-CN" altLang="en-US" sz="2200" dirty="0"/>
              <a:t>）无处不在的网络访问</a:t>
            </a:r>
            <a:endParaRPr lang="zh-CN" altLang="en-US" sz="2200" dirty="0"/>
          </a:p>
          <a:p>
            <a:pPr marL="800100" lvl="2" indent="-342900">
              <a:lnSpc>
                <a:spcPct val="132000"/>
              </a:lnSpc>
              <a:spcBef>
                <a:spcPts val="370"/>
              </a:spcBef>
              <a:buClr>
                <a:srgbClr val="E71101"/>
              </a:buClr>
              <a:buSzPct val="60000"/>
              <a:buFont typeface="Wingdings" panose="05000000000000000000" pitchFamily="2" charset="2"/>
              <a:buChar char="Ø"/>
              <a:defRPr/>
            </a:pPr>
            <a:r>
              <a:rPr lang="zh-CN" altLang="en-US" sz="2000" dirty="0"/>
              <a:t>用户可借助不同的客户端，通过标准的应用进行网络访问以获取可用服务</a:t>
            </a:r>
            <a:endParaRPr lang="zh-CN" altLang="en-US" sz="2000" dirty="0"/>
          </a:p>
          <a:p>
            <a:pPr marL="0" lvl="1" indent="0">
              <a:lnSpc>
                <a:spcPct val="132000"/>
              </a:lnSpc>
              <a:spcBef>
                <a:spcPts val="370"/>
              </a:spcBef>
              <a:buClr>
                <a:srgbClr val="E71101"/>
              </a:buClr>
              <a:buSzPct val="60000"/>
              <a:buNone/>
              <a:defRPr/>
            </a:pPr>
            <a:r>
              <a:rPr lang="zh-CN" altLang="en-US" sz="2200" dirty="0"/>
              <a:t>（</a:t>
            </a:r>
            <a:r>
              <a:rPr lang="en-US" altLang="zh-CN" sz="2200" dirty="0"/>
              <a:t>3</a:t>
            </a:r>
            <a:r>
              <a:rPr lang="zh-CN" altLang="en-US" sz="2200" dirty="0"/>
              <a:t>）共享资源池</a:t>
            </a:r>
            <a:endParaRPr lang="zh-CN" altLang="en-US" sz="2200" dirty="0"/>
          </a:p>
          <a:p>
            <a:pPr marL="800100" lvl="2" indent="-342900">
              <a:lnSpc>
                <a:spcPct val="132000"/>
              </a:lnSpc>
              <a:spcBef>
                <a:spcPts val="370"/>
              </a:spcBef>
              <a:buClr>
                <a:srgbClr val="E71101"/>
              </a:buClr>
              <a:buSzPct val="60000"/>
              <a:buFont typeface="Wingdings" panose="05000000000000000000" pitchFamily="2" charset="2"/>
              <a:buChar char="Ø"/>
              <a:defRPr/>
            </a:pPr>
            <a:r>
              <a:rPr lang="zh-CN" altLang="en-US" sz="2000" dirty="0"/>
              <a:t>根据消费者的需求来动态划分或释放不同的物理资源和虚拟资源，这些资源的供应商以计算资源池多租户的模式来提供服务</a:t>
            </a:r>
            <a:endParaRPr lang="zh-CN" altLang="en-US" sz="2000" dirty="0"/>
          </a:p>
          <a:p>
            <a:pPr marL="0" lvl="1" indent="0">
              <a:lnSpc>
                <a:spcPct val="132000"/>
              </a:lnSpc>
              <a:spcBef>
                <a:spcPts val="370"/>
              </a:spcBef>
              <a:buClr>
                <a:srgbClr val="E71101"/>
              </a:buClr>
              <a:buSzPct val="60000"/>
              <a:buNone/>
              <a:defRPr/>
            </a:pPr>
            <a:r>
              <a:rPr lang="zh-CN" altLang="en-US" sz="2200" dirty="0"/>
              <a:t>（</a:t>
            </a:r>
            <a:r>
              <a:rPr lang="en-US" altLang="zh-CN" sz="2200" dirty="0"/>
              <a:t>4</a:t>
            </a:r>
            <a:r>
              <a:rPr lang="zh-CN" altLang="en-US" sz="2200" dirty="0"/>
              <a:t>）快速弹性</a:t>
            </a:r>
            <a:endParaRPr lang="zh-CN" altLang="en-US" sz="2200" dirty="0"/>
          </a:p>
          <a:p>
            <a:pPr marL="800100" lvl="2" indent="-342900">
              <a:lnSpc>
                <a:spcPct val="132000"/>
              </a:lnSpc>
              <a:spcBef>
                <a:spcPts val="370"/>
              </a:spcBef>
              <a:buClr>
                <a:srgbClr val="E71101"/>
              </a:buClr>
              <a:buSzPct val="60000"/>
              <a:buFont typeface="Wingdings" panose="05000000000000000000" pitchFamily="2" charset="2"/>
              <a:buChar char="Ø"/>
              <a:defRPr/>
            </a:pPr>
            <a:r>
              <a:rPr lang="zh-CN" altLang="en-US" sz="2000" dirty="0"/>
              <a:t>一种能快速、弹性地提供资源和释放资源的能力</a:t>
            </a:r>
            <a:endParaRPr lang="zh-CN" altLang="en-US" sz="2000" dirty="0"/>
          </a:p>
          <a:p>
            <a:pPr marL="0" lvl="1" indent="0">
              <a:lnSpc>
                <a:spcPct val="132000"/>
              </a:lnSpc>
              <a:spcBef>
                <a:spcPts val="370"/>
              </a:spcBef>
              <a:buClr>
                <a:srgbClr val="E71101"/>
              </a:buClr>
              <a:buSzPct val="60000"/>
              <a:buNone/>
              <a:defRPr/>
            </a:pPr>
            <a:r>
              <a:rPr lang="zh-CN" altLang="en-US" sz="2200" dirty="0"/>
              <a:t>（</a:t>
            </a:r>
            <a:r>
              <a:rPr lang="en-US" altLang="zh-CN" sz="2200" dirty="0"/>
              <a:t>5</a:t>
            </a:r>
            <a:r>
              <a:rPr lang="zh-CN" altLang="en-US" sz="2200" dirty="0"/>
              <a:t>）服务可计量</a:t>
            </a:r>
            <a:endParaRPr lang="zh-CN" altLang="en-US" sz="2200" dirty="0"/>
          </a:p>
          <a:p>
            <a:pPr marL="800100" lvl="2" indent="-342900">
              <a:lnSpc>
                <a:spcPct val="132000"/>
              </a:lnSpc>
              <a:spcBef>
                <a:spcPts val="370"/>
              </a:spcBef>
              <a:buClr>
                <a:srgbClr val="E71101"/>
              </a:buClr>
              <a:buSzPct val="60000"/>
              <a:buFont typeface="Wingdings" panose="05000000000000000000" pitchFamily="2" charset="2"/>
              <a:buChar char="Ø"/>
              <a:defRPr/>
            </a:pPr>
            <a:r>
              <a:rPr lang="zh-CN" altLang="en-US" sz="2000" dirty="0"/>
              <a:t>云系统通过计量的方法对服务类型进行自动控制、对资源（如网络、服务器、存储设备等）进行优化使用</a:t>
            </a:r>
            <a:endParaRPr lang="zh-CN" alt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11.3.3 </a:t>
            </a:r>
            <a:r>
              <a:rPr lang="zh-CN" altLang="en-US" sz="2800" b="1" dirty="0">
                <a:solidFill>
                  <a:schemeClr val="bg1"/>
                </a:solidFill>
                <a:cs typeface="+mn-ea"/>
                <a:sym typeface="+mn-lt"/>
              </a:rPr>
              <a:t>虚拟机迁移（</a:t>
            </a:r>
            <a:r>
              <a:rPr lang="en-US" altLang="zh-CN" sz="2800" b="1" dirty="0">
                <a:solidFill>
                  <a:schemeClr val="bg1"/>
                </a:solidFill>
                <a:cs typeface="+mn-ea"/>
                <a:sym typeface="+mn-lt"/>
              </a:rPr>
              <a:t>1</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内容占位符 2"/>
          <p:cNvSpPr txBox="1"/>
          <p:nvPr/>
        </p:nvSpPr>
        <p:spPr>
          <a:xfrm>
            <a:off x="511267" y="1197944"/>
            <a:ext cx="4850845" cy="468795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32000"/>
              </a:lnSpc>
              <a:spcBef>
                <a:spcPts val="580"/>
              </a:spcBef>
              <a:buNone/>
              <a:defRPr/>
            </a:pPr>
            <a:r>
              <a:rPr lang="zh-CN" altLang="en-US" sz="2400" dirty="0">
                <a:solidFill>
                  <a:srgbClr val="FF0000"/>
                </a:solidFill>
              </a:rPr>
              <a:t>虚拟机迁移</a:t>
            </a:r>
            <a:r>
              <a:rPr lang="zh-CN" altLang="en-US" sz="2400" dirty="0"/>
              <a:t>是指系统可以在不间断服务的情况下，将虚拟机从主机</a:t>
            </a:r>
            <a:r>
              <a:rPr lang="en-US" altLang="zh-CN" sz="2400" dirty="0"/>
              <a:t>A</a:t>
            </a:r>
            <a:r>
              <a:rPr lang="zh-CN" altLang="en-US" sz="2400" dirty="0"/>
              <a:t>迁移到主机</a:t>
            </a:r>
            <a:r>
              <a:rPr lang="en-US" altLang="zh-CN" sz="2400" dirty="0"/>
              <a:t>B</a:t>
            </a:r>
            <a:endParaRPr lang="zh-CN" altLang="en-US"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a:t>
            </a:r>
            <a:r>
              <a:rPr lang="en-US" altLang="zh-CN" sz="2200" dirty="0">
                <a:solidFill>
                  <a:schemeClr val="tx1">
                    <a:lumMod val="65000"/>
                    <a:lumOff val="35000"/>
                  </a:schemeClr>
                </a:solidFill>
              </a:rPr>
              <a:t>1</a:t>
            </a:r>
            <a:r>
              <a:rPr lang="zh-CN" altLang="en-US" sz="2200" dirty="0">
                <a:solidFill>
                  <a:schemeClr val="tx1">
                    <a:lumMod val="65000"/>
                    <a:lumOff val="35000"/>
                  </a:schemeClr>
                </a:solidFill>
              </a:rPr>
              <a:t>）</a:t>
            </a:r>
            <a:r>
              <a:rPr lang="en-US" altLang="zh-CN" sz="2200" dirty="0">
                <a:solidFill>
                  <a:schemeClr val="tx1">
                    <a:lumMod val="65000"/>
                    <a:lumOff val="35000"/>
                  </a:schemeClr>
                </a:solidFill>
              </a:rPr>
              <a:t>P2V</a:t>
            </a:r>
            <a:r>
              <a:rPr lang="zh-CN" altLang="en-US" sz="2200" dirty="0">
                <a:solidFill>
                  <a:schemeClr val="tx1">
                    <a:lumMod val="65000"/>
                    <a:lumOff val="35000"/>
                  </a:schemeClr>
                </a:solidFill>
              </a:rPr>
              <a:t>：物理机到虚拟机的迁移。</a:t>
            </a:r>
            <a:endParaRPr lang="zh-CN" altLang="en-US" sz="22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a:t>
            </a:r>
            <a:r>
              <a:rPr lang="en-US" altLang="zh-CN" sz="2200" dirty="0">
                <a:solidFill>
                  <a:srgbClr val="0000FF"/>
                </a:solidFill>
              </a:rPr>
              <a:t>2</a:t>
            </a:r>
            <a:r>
              <a:rPr lang="zh-CN" altLang="en-US" sz="2200" dirty="0">
                <a:solidFill>
                  <a:srgbClr val="0000FF"/>
                </a:solidFill>
              </a:rPr>
              <a:t>）</a:t>
            </a:r>
            <a:r>
              <a:rPr lang="en-US" altLang="zh-CN" sz="2200" dirty="0">
                <a:solidFill>
                  <a:srgbClr val="0000FF"/>
                </a:solidFill>
              </a:rPr>
              <a:t>V2V</a:t>
            </a:r>
            <a:r>
              <a:rPr lang="zh-CN" altLang="en-US" sz="2200" dirty="0">
                <a:solidFill>
                  <a:srgbClr val="0000FF"/>
                </a:solidFill>
              </a:rPr>
              <a:t>：虚拟机到虚拟机的迁移。</a:t>
            </a:r>
            <a:endParaRPr lang="zh-CN" altLang="en-US" sz="2200" dirty="0">
              <a:solidFill>
                <a:srgbClr val="0000FF"/>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a:t>
            </a:r>
            <a:r>
              <a:rPr lang="en-US" altLang="zh-CN" sz="2200" dirty="0">
                <a:solidFill>
                  <a:schemeClr val="tx1">
                    <a:lumMod val="65000"/>
                    <a:lumOff val="35000"/>
                  </a:schemeClr>
                </a:solidFill>
              </a:rPr>
              <a:t>3</a:t>
            </a:r>
            <a:r>
              <a:rPr lang="zh-CN" altLang="en-US" sz="2200" dirty="0">
                <a:solidFill>
                  <a:schemeClr val="tx1">
                    <a:lumMod val="65000"/>
                    <a:lumOff val="35000"/>
                  </a:schemeClr>
                </a:solidFill>
              </a:rPr>
              <a:t>）</a:t>
            </a:r>
            <a:r>
              <a:rPr lang="en-US" altLang="zh-CN" sz="2200" dirty="0">
                <a:solidFill>
                  <a:schemeClr val="tx1">
                    <a:lumMod val="65000"/>
                    <a:lumOff val="35000"/>
                  </a:schemeClr>
                </a:solidFill>
              </a:rPr>
              <a:t>V2P</a:t>
            </a:r>
            <a:r>
              <a:rPr lang="zh-CN" altLang="en-US" sz="2200" dirty="0">
                <a:solidFill>
                  <a:schemeClr val="tx1">
                    <a:lumMod val="65000"/>
                    <a:lumOff val="35000"/>
                  </a:schemeClr>
                </a:solidFill>
              </a:rPr>
              <a:t>：虚拟机到物理机的迁移。</a:t>
            </a:r>
            <a:endParaRPr lang="zh-CN" altLang="en-US" sz="2200" dirty="0">
              <a:solidFill>
                <a:schemeClr val="tx1">
                  <a:lumMod val="65000"/>
                  <a:lumOff val="35000"/>
                </a:schemeClr>
              </a:solidFill>
            </a:endParaRPr>
          </a:p>
        </p:txBody>
      </p:sp>
      <p:sp>
        <p:nvSpPr>
          <p:cNvPr id="5" name="内容占位符 2"/>
          <p:cNvSpPr txBox="1"/>
          <p:nvPr/>
        </p:nvSpPr>
        <p:spPr>
          <a:xfrm>
            <a:off x="6010183" y="1197944"/>
            <a:ext cx="5795978" cy="475813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32000"/>
              </a:lnSpc>
              <a:spcBef>
                <a:spcPts val="580"/>
              </a:spcBef>
              <a:buNone/>
              <a:defRPr/>
            </a:pPr>
            <a:r>
              <a:rPr lang="en-US" altLang="zh-CN" sz="2400" dirty="0"/>
              <a:t>V2V</a:t>
            </a:r>
            <a:r>
              <a:rPr lang="zh-CN" altLang="en-US" sz="2400" dirty="0"/>
              <a:t>迁移方式又分为静态迁移和动态迁移</a:t>
            </a:r>
            <a:endParaRPr lang="zh-CN" altLang="en-US" sz="24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FF0000"/>
                </a:solidFill>
              </a:rPr>
              <a:t>静态迁移</a:t>
            </a:r>
            <a:r>
              <a:rPr lang="zh-CN" altLang="en-US" sz="2200" dirty="0">
                <a:solidFill>
                  <a:schemeClr val="tx1">
                    <a:lumMod val="65000"/>
                    <a:lumOff val="35000"/>
                  </a:schemeClr>
                </a:solidFill>
              </a:rPr>
              <a:t>，也叫作常规迁移、离线迁移</a:t>
            </a:r>
            <a:endParaRPr lang="zh-CN" altLang="en-US" sz="2200" dirty="0">
              <a:solidFill>
                <a:schemeClr val="tx1">
                  <a:lumMod val="65000"/>
                  <a:lumOff val="35000"/>
                </a:schemeClr>
              </a:solidFill>
            </a:endParaRPr>
          </a:p>
          <a:p>
            <a:pPr marL="914400" lvl="3" indent="-342900">
              <a:lnSpc>
                <a:spcPct val="132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在虚拟机关机或暂停的情况下，从一台物理机迁移到另一台物理机</a:t>
            </a:r>
            <a:endParaRPr lang="zh-CN" altLang="en-US" sz="2000" dirty="0">
              <a:solidFill>
                <a:schemeClr val="tx1">
                  <a:lumMod val="65000"/>
                  <a:lumOff val="35000"/>
                </a:schemeClr>
              </a:solidFill>
            </a:endParaRPr>
          </a:p>
          <a:p>
            <a:pPr marL="914400" lvl="3" indent="-342900">
              <a:lnSpc>
                <a:spcPct val="132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步骤：</a:t>
            </a:r>
            <a:endParaRPr lang="zh-CN" altLang="en-US" sz="2000" dirty="0">
              <a:solidFill>
                <a:schemeClr val="tx1">
                  <a:lumMod val="65000"/>
                  <a:lumOff val="35000"/>
                </a:schemeClr>
              </a:solidFill>
            </a:endParaRPr>
          </a:p>
          <a:p>
            <a:pPr marL="571500" lvl="3" indent="0">
              <a:lnSpc>
                <a:spcPct val="132000"/>
              </a:lnSpc>
              <a:spcBef>
                <a:spcPts val="370"/>
              </a:spcBef>
              <a:buClr>
                <a:srgbClr val="E71101"/>
              </a:buClr>
              <a:buSzPct val="60000"/>
              <a:buNone/>
              <a:defRPr/>
            </a:pPr>
            <a:r>
              <a:rPr lang="zh-CN" altLang="en-US" sz="2000" dirty="0">
                <a:solidFill>
                  <a:schemeClr val="tx1">
                    <a:lumMod val="65000"/>
                    <a:lumOff val="35000"/>
                  </a:schemeClr>
                </a:solidFill>
              </a:rPr>
              <a:t>（</a:t>
            </a:r>
            <a:r>
              <a:rPr lang="en-US" altLang="zh-CN" sz="2000" dirty="0">
                <a:solidFill>
                  <a:schemeClr val="tx1">
                    <a:lumMod val="65000"/>
                    <a:lumOff val="35000"/>
                  </a:schemeClr>
                </a:solidFill>
              </a:rPr>
              <a:t>1</a:t>
            </a:r>
            <a:r>
              <a:rPr lang="zh-CN" altLang="en-US" sz="2000" dirty="0">
                <a:solidFill>
                  <a:schemeClr val="tx1">
                    <a:lumMod val="65000"/>
                    <a:lumOff val="35000"/>
                  </a:schemeClr>
                </a:solidFill>
              </a:rPr>
              <a:t>）复制虚拟机的镜像文件和配置文件；</a:t>
            </a:r>
            <a:endParaRPr lang="zh-CN" altLang="en-US" sz="2000" dirty="0">
              <a:solidFill>
                <a:schemeClr val="tx1">
                  <a:lumMod val="65000"/>
                  <a:lumOff val="35000"/>
                </a:schemeClr>
              </a:solidFill>
            </a:endParaRPr>
          </a:p>
          <a:p>
            <a:pPr marL="571500" lvl="3" indent="0">
              <a:lnSpc>
                <a:spcPct val="132000"/>
              </a:lnSpc>
              <a:spcBef>
                <a:spcPts val="370"/>
              </a:spcBef>
              <a:buClr>
                <a:srgbClr val="E71101"/>
              </a:buClr>
              <a:buSzPct val="60000"/>
              <a:buNone/>
              <a:defRPr/>
            </a:pPr>
            <a:r>
              <a:rPr lang="zh-CN" altLang="en-US" sz="2000" dirty="0">
                <a:solidFill>
                  <a:schemeClr val="tx1">
                    <a:lumMod val="65000"/>
                    <a:lumOff val="35000"/>
                  </a:schemeClr>
                </a:solidFill>
              </a:rPr>
              <a:t>（</a:t>
            </a:r>
            <a:r>
              <a:rPr lang="en-US" altLang="zh-CN" sz="2000" dirty="0">
                <a:solidFill>
                  <a:schemeClr val="tx1">
                    <a:lumMod val="65000"/>
                    <a:lumOff val="35000"/>
                  </a:schemeClr>
                </a:solidFill>
              </a:rPr>
              <a:t>2</a:t>
            </a:r>
            <a:r>
              <a:rPr lang="zh-CN" altLang="en-US" sz="2000" dirty="0">
                <a:solidFill>
                  <a:schemeClr val="tx1">
                    <a:lumMod val="65000"/>
                    <a:lumOff val="35000"/>
                  </a:schemeClr>
                </a:solidFill>
              </a:rPr>
              <a:t>）将镜像文件和配置文件复制到目标虚拟机相应的目录中；</a:t>
            </a:r>
            <a:endParaRPr lang="zh-CN" altLang="en-US" sz="2000" dirty="0">
              <a:solidFill>
                <a:schemeClr val="tx1">
                  <a:lumMod val="65000"/>
                  <a:lumOff val="35000"/>
                </a:schemeClr>
              </a:solidFill>
            </a:endParaRPr>
          </a:p>
          <a:p>
            <a:pPr marL="571500" lvl="3" indent="0">
              <a:lnSpc>
                <a:spcPct val="132000"/>
              </a:lnSpc>
              <a:spcBef>
                <a:spcPts val="370"/>
              </a:spcBef>
              <a:buClr>
                <a:srgbClr val="E71101"/>
              </a:buClr>
              <a:buSzPct val="60000"/>
              <a:buNone/>
              <a:defRPr/>
            </a:pPr>
            <a:r>
              <a:rPr lang="zh-CN" altLang="en-US" sz="2000" dirty="0">
                <a:solidFill>
                  <a:schemeClr val="tx1">
                    <a:lumMod val="65000"/>
                    <a:lumOff val="35000"/>
                  </a:schemeClr>
                </a:solidFill>
              </a:rPr>
              <a:t>（</a:t>
            </a:r>
            <a:r>
              <a:rPr lang="en-US" altLang="zh-CN" sz="2000" dirty="0">
                <a:solidFill>
                  <a:schemeClr val="tx1">
                    <a:lumMod val="65000"/>
                    <a:lumOff val="35000"/>
                  </a:schemeClr>
                </a:solidFill>
              </a:rPr>
              <a:t>3</a:t>
            </a:r>
            <a:r>
              <a:rPr lang="zh-CN" altLang="en-US" sz="2000" dirty="0">
                <a:solidFill>
                  <a:schemeClr val="tx1">
                    <a:lumMod val="65000"/>
                    <a:lumOff val="35000"/>
                  </a:schemeClr>
                </a:solidFill>
              </a:rPr>
              <a:t>）激活虚拟机配置文件；</a:t>
            </a:r>
            <a:endParaRPr lang="zh-CN" altLang="en-US" sz="2000" dirty="0">
              <a:solidFill>
                <a:schemeClr val="tx1">
                  <a:lumMod val="65000"/>
                  <a:lumOff val="35000"/>
                </a:schemeClr>
              </a:solidFill>
            </a:endParaRPr>
          </a:p>
          <a:p>
            <a:pPr marL="571500" lvl="3" indent="0">
              <a:lnSpc>
                <a:spcPct val="132000"/>
              </a:lnSpc>
              <a:spcBef>
                <a:spcPts val="370"/>
              </a:spcBef>
              <a:buClr>
                <a:srgbClr val="E71101"/>
              </a:buClr>
              <a:buSzPct val="60000"/>
              <a:buNone/>
              <a:defRPr/>
            </a:pPr>
            <a:r>
              <a:rPr lang="zh-CN" altLang="en-US" sz="2000" dirty="0">
                <a:solidFill>
                  <a:schemeClr val="tx1">
                    <a:lumMod val="65000"/>
                    <a:lumOff val="35000"/>
                  </a:schemeClr>
                </a:solidFill>
              </a:rPr>
              <a:t>（</a:t>
            </a:r>
            <a:r>
              <a:rPr lang="en-US" altLang="zh-CN" sz="2000" dirty="0">
                <a:solidFill>
                  <a:schemeClr val="tx1">
                    <a:lumMod val="65000"/>
                    <a:lumOff val="35000"/>
                  </a:schemeClr>
                </a:solidFill>
              </a:rPr>
              <a:t>4</a:t>
            </a:r>
            <a:r>
              <a:rPr lang="zh-CN" altLang="en-US" sz="2000" dirty="0">
                <a:solidFill>
                  <a:schemeClr val="tx1">
                    <a:lumMod val="65000"/>
                    <a:lumOff val="35000"/>
                  </a:schemeClr>
                </a:solidFill>
              </a:rPr>
              <a:t>）开启虚拟机电源，启动迁移后的虚拟机。</a:t>
            </a:r>
            <a:endParaRPr lang="zh-CN" altLang="en-US" sz="2000" dirty="0">
              <a:solidFill>
                <a:schemeClr val="tx1">
                  <a:lumMod val="65000"/>
                  <a:lumOff val="35000"/>
                </a:schemeClr>
              </a:solidFill>
            </a:endParaRPr>
          </a:p>
        </p:txBody>
      </p:sp>
      <p:cxnSp>
        <p:nvCxnSpPr>
          <p:cNvPr id="10" name="直接连接符 9"/>
          <p:cNvCxnSpPr/>
          <p:nvPr/>
        </p:nvCxnSpPr>
        <p:spPr>
          <a:xfrm>
            <a:off x="594804" y="4358936"/>
            <a:ext cx="46785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585927" y="4669655"/>
            <a:ext cx="468740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520144" y="5015884"/>
            <a:ext cx="46785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511267" y="5326603"/>
            <a:ext cx="468740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520144" y="5645358"/>
            <a:ext cx="46785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511267" y="5956077"/>
            <a:ext cx="468740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5788241" y="1491449"/>
            <a:ext cx="0" cy="4394446"/>
          </a:xfrm>
          <a:prstGeom prst="line">
            <a:avLst/>
          </a:prstGeom>
          <a:ln w="19050">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虚拟机迁移（</a:t>
            </a:r>
            <a:r>
              <a:rPr lang="en-US" altLang="zh-CN" sz="2800" b="1" dirty="0">
                <a:solidFill>
                  <a:schemeClr val="bg1"/>
                </a:solidFill>
                <a:cs typeface="+mn-ea"/>
                <a:sym typeface="+mn-lt"/>
              </a:rPr>
              <a:t>2</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pic>
        <p:nvPicPr>
          <p:cNvPr id="4" name="图片 3"/>
          <p:cNvPicPr>
            <a:picLocks noChangeAspect="1"/>
          </p:cNvPicPr>
          <p:nvPr/>
        </p:nvPicPr>
        <p:blipFill>
          <a:blip r:embed="rId1">
            <a:clrChange>
              <a:clrFrom>
                <a:srgbClr val="FFFFFF"/>
              </a:clrFrom>
              <a:clrTo>
                <a:srgbClr val="FFFFFF">
                  <a:alpha val="0"/>
                </a:srgbClr>
              </a:clrTo>
            </a:clrChange>
          </a:blip>
          <a:stretch>
            <a:fillRect/>
          </a:stretch>
        </p:blipFill>
        <p:spPr>
          <a:xfrm>
            <a:off x="6995525" y="918092"/>
            <a:ext cx="5039360" cy="5332730"/>
          </a:xfrm>
          <a:prstGeom prst="rect">
            <a:avLst/>
          </a:prstGeom>
        </p:spPr>
      </p:pic>
      <p:sp>
        <p:nvSpPr>
          <p:cNvPr id="5" name="内容占位符 2"/>
          <p:cNvSpPr txBox="1"/>
          <p:nvPr/>
        </p:nvSpPr>
        <p:spPr>
          <a:xfrm>
            <a:off x="511267" y="1197944"/>
            <a:ext cx="6191374" cy="405763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32000"/>
              </a:lnSpc>
              <a:spcBef>
                <a:spcPts val="580"/>
              </a:spcBef>
              <a:buNone/>
              <a:defRPr/>
            </a:pPr>
            <a:r>
              <a:rPr lang="zh-CN" altLang="en-US" sz="2400" dirty="0">
                <a:solidFill>
                  <a:srgbClr val="FF0000"/>
                </a:solidFill>
              </a:rPr>
              <a:t>动态迁移，</a:t>
            </a:r>
            <a:r>
              <a:rPr lang="zh-CN" altLang="en-US" sz="2400" dirty="0"/>
              <a:t>也叫作在线迁移，分为手动和自动两种</a:t>
            </a:r>
            <a:endParaRPr lang="zh-CN" altLang="en-US"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在线迁移方案的设计目标是最小化</a:t>
            </a:r>
            <a:r>
              <a:rPr lang="en-US" altLang="zh-CN" sz="2200" dirty="0">
                <a:solidFill>
                  <a:schemeClr val="tx1">
                    <a:lumMod val="65000"/>
                    <a:lumOff val="35000"/>
                  </a:schemeClr>
                </a:solidFill>
              </a:rPr>
              <a:t>3</a:t>
            </a:r>
            <a:r>
              <a:rPr lang="zh-CN" altLang="en-US" sz="2200" dirty="0">
                <a:solidFill>
                  <a:schemeClr val="tx1">
                    <a:lumMod val="65000"/>
                    <a:lumOff val="35000"/>
                  </a:schemeClr>
                </a:solidFill>
              </a:rPr>
              <a:t>个指标：微小的停机时间、最低的网络带宽消耗以及合理的总迁移时间</a:t>
            </a:r>
            <a:endParaRPr lang="zh-CN" altLang="en-US" sz="22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在迁移过程中，还需要确保不会因资源竞争而中断运行在同一物理机上的其他活跃服务</a:t>
            </a:r>
            <a:endParaRPr lang="zh-CN" altLang="en-US" sz="22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步骤：</a:t>
            </a:r>
            <a:endParaRPr lang="zh-CN" altLang="en-US" sz="2200" dirty="0">
              <a:solidFill>
                <a:schemeClr val="tx1">
                  <a:lumMod val="65000"/>
                  <a:lumOff val="35000"/>
                </a:schemeClr>
              </a:solidFill>
            </a:endParaRPr>
          </a:p>
        </p:txBody>
      </p:sp>
      <p:sp>
        <p:nvSpPr>
          <p:cNvPr id="6" name="内容占位符 2"/>
          <p:cNvSpPr txBox="1"/>
          <p:nvPr/>
        </p:nvSpPr>
        <p:spPr>
          <a:xfrm>
            <a:off x="1914224" y="4589756"/>
            <a:ext cx="5418732" cy="190869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457200">
              <a:lnSpc>
                <a:spcPct val="132000"/>
              </a:lnSpc>
              <a:spcBef>
                <a:spcPts val="370"/>
              </a:spcBef>
              <a:buClr>
                <a:srgbClr val="E71101"/>
              </a:buClr>
              <a:buSzPct val="100000"/>
              <a:buFont typeface="+mj-ea"/>
              <a:buAutoNum type="circleNumDbPlain"/>
              <a:defRPr/>
            </a:pPr>
            <a:r>
              <a:rPr lang="zh-CN" altLang="en-US" sz="2000" dirty="0">
                <a:solidFill>
                  <a:schemeClr val="tx1">
                    <a:lumMod val="65000"/>
                    <a:lumOff val="35000"/>
                  </a:schemeClr>
                </a:solidFill>
              </a:rPr>
              <a:t>开始迁移</a:t>
            </a:r>
            <a:endParaRPr lang="zh-CN" altLang="en-US" sz="2000" dirty="0">
              <a:solidFill>
                <a:schemeClr val="tx1">
                  <a:lumMod val="65000"/>
                  <a:lumOff val="35000"/>
                </a:schemeClr>
              </a:solidFill>
            </a:endParaRPr>
          </a:p>
          <a:p>
            <a:pPr marL="457200" lvl="1" indent="-457200">
              <a:lnSpc>
                <a:spcPct val="132000"/>
              </a:lnSpc>
              <a:spcBef>
                <a:spcPts val="370"/>
              </a:spcBef>
              <a:buClr>
                <a:srgbClr val="E71101"/>
              </a:buClr>
              <a:buSzPct val="100000"/>
              <a:buFont typeface="+mj-ea"/>
              <a:buAutoNum type="circleNumDbPlain"/>
              <a:defRPr/>
            </a:pPr>
            <a:r>
              <a:rPr lang="zh-CN" altLang="en-US" sz="2000" dirty="0">
                <a:solidFill>
                  <a:schemeClr val="tx1">
                    <a:lumMod val="65000"/>
                    <a:lumOff val="35000"/>
                  </a:schemeClr>
                </a:solidFill>
              </a:rPr>
              <a:t>传输内存</a:t>
            </a:r>
            <a:endParaRPr lang="zh-CN" altLang="en-US" sz="2000" dirty="0">
              <a:solidFill>
                <a:schemeClr val="tx1">
                  <a:lumMod val="65000"/>
                  <a:lumOff val="35000"/>
                </a:schemeClr>
              </a:solidFill>
            </a:endParaRPr>
          </a:p>
          <a:p>
            <a:pPr marL="457200" lvl="1" indent="-457200">
              <a:lnSpc>
                <a:spcPct val="132000"/>
              </a:lnSpc>
              <a:spcBef>
                <a:spcPts val="370"/>
              </a:spcBef>
              <a:buClr>
                <a:srgbClr val="E71101"/>
              </a:buClr>
              <a:buSzPct val="100000"/>
              <a:buFont typeface="+mj-ea"/>
              <a:buAutoNum type="circleNumDbPlain"/>
              <a:defRPr/>
            </a:pPr>
            <a:r>
              <a:rPr lang="zh-CN" altLang="en-US" sz="2000" dirty="0">
                <a:solidFill>
                  <a:schemeClr val="tx1">
                    <a:lumMod val="65000"/>
                    <a:lumOff val="35000"/>
                  </a:schemeClr>
                </a:solidFill>
              </a:rPr>
              <a:t>挂起虚拟机并复制最后的内存数据</a:t>
            </a:r>
            <a:endParaRPr lang="zh-CN" altLang="en-US" sz="2000" dirty="0">
              <a:solidFill>
                <a:schemeClr val="tx1">
                  <a:lumMod val="65000"/>
                  <a:lumOff val="35000"/>
                </a:schemeClr>
              </a:solidFill>
            </a:endParaRPr>
          </a:p>
          <a:p>
            <a:pPr marL="457200" lvl="1" indent="-457200">
              <a:lnSpc>
                <a:spcPct val="132000"/>
              </a:lnSpc>
              <a:spcBef>
                <a:spcPts val="370"/>
              </a:spcBef>
              <a:buClr>
                <a:srgbClr val="E71101"/>
              </a:buClr>
              <a:buSzPct val="100000"/>
              <a:buFont typeface="+mj-ea"/>
              <a:buAutoNum type="circleNumDbPlain"/>
              <a:defRPr/>
            </a:pPr>
            <a:r>
              <a:rPr lang="zh-CN" altLang="en-US" sz="2000" dirty="0">
                <a:solidFill>
                  <a:schemeClr val="tx1">
                    <a:lumMod val="65000"/>
                    <a:lumOff val="35000"/>
                  </a:schemeClr>
                </a:solidFill>
              </a:rPr>
              <a:t>提交并激活新主机</a:t>
            </a:r>
            <a:endParaRPr lang="zh-CN" altLang="en-US" sz="2000" dirty="0">
              <a:solidFill>
                <a:schemeClr val="tx1">
                  <a:lumMod val="65000"/>
                  <a:lumOff val="35000"/>
                </a:schemeClr>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11.3.4 </a:t>
            </a:r>
            <a:r>
              <a:rPr lang="zh-CN" altLang="en-US" sz="2800" b="1" dirty="0">
                <a:solidFill>
                  <a:schemeClr val="bg1"/>
                </a:solidFill>
                <a:cs typeface="+mn-ea"/>
                <a:sym typeface="+mn-lt"/>
              </a:rPr>
              <a:t>授权和检查</a:t>
            </a:r>
            <a:endParaRPr lang="zh-CN" altLang="en-US" sz="2800" b="1" dirty="0">
              <a:solidFill>
                <a:schemeClr val="bg1"/>
              </a:solidFill>
              <a:cs typeface="+mn-ea"/>
              <a:sym typeface="+mn-lt"/>
            </a:endParaRPr>
          </a:p>
        </p:txBody>
      </p:sp>
      <p:sp>
        <p:nvSpPr>
          <p:cNvPr id="4" name="内容占位符 2"/>
          <p:cNvSpPr txBox="1"/>
          <p:nvPr/>
        </p:nvSpPr>
        <p:spPr>
          <a:xfrm>
            <a:off x="1597981" y="1118045"/>
            <a:ext cx="9907478" cy="51851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spcBef>
                <a:spcPts val="600"/>
              </a:spcBef>
              <a:spcAft>
                <a:spcPts val="600"/>
              </a:spcAft>
              <a:buClr>
                <a:srgbClr val="E71101"/>
              </a:buClr>
              <a:buSzPct val="60000"/>
              <a:buNone/>
              <a:defRPr/>
            </a:pPr>
            <a:r>
              <a:rPr lang="zh-CN" altLang="en-US" sz="2200" dirty="0">
                <a:solidFill>
                  <a:schemeClr val="tx1">
                    <a:lumMod val="65000"/>
                    <a:lumOff val="35000"/>
                  </a:schemeClr>
                </a:solidFill>
              </a:rPr>
              <a:t>软件</a:t>
            </a:r>
            <a:r>
              <a:rPr lang="zh-CN" altLang="en-US" sz="2200" dirty="0">
                <a:solidFill>
                  <a:srgbClr val="FF0000"/>
                </a:solidFill>
              </a:rPr>
              <a:t>授权的目的</a:t>
            </a:r>
            <a:r>
              <a:rPr lang="zh-CN" altLang="en-US" sz="2200" dirty="0">
                <a:solidFill>
                  <a:schemeClr val="tx1">
                    <a:lumMod val="65000"/>
                    <a:lumOff val="35000"/>
                  </a:schemeClr>
                </a:solidFill>
              </a:rPr>
              <a:t>是：在保护软件不被盗版的同时，为开发商创造更方便、更灵活的销售模式。</a:t>
            </a:r>
            <a:endParaRPr lang="zh-CN" altLang="en-US" sz="2200" dirty="0">
              <a:solidFill>
                <a:schemeClr val="tx1">
                  <a:lumMod val="65000"/>
                  <a:lumOff val="35000"/>
                </a:schemeClr>
              </a:solidFill>
            </a:endParaRPr>
          </a:p>
          <a:p>
            <a:pPr marL="0" lvl="1" indent="0">
              <a:lnSpc>
                <a:spcPct val="132000"/>
              </a:lnSpc>
              <a:spcBef>
                <a:spcPts val="600"/>
              </a:spcBef>
              <a:spcAft>
                <a:spcPts val="600"/>
              </a:spcAft>
              <a:buClr>
                <a:srgbClr val="E71101"/>
              </a:buClr>
              <a:buSzPct val="60000"/>
              <a:buNone/>
              <a:defRPr/>
            </a:pPr>
            <a:r>
              <a:rPr lang="zh-CN" altLang="en-US" sz="2200" dirty="0">
                <a:solidFill>
                  <a:schemeClr val="tx1">
                    <a:lumMod val="65000"/>
                    <a:lumOff val="35000"/>
                  </a:schemeClr>
                </a:solidFill>
              </a:rPr>
              <a:t>大部分软件是基于每个处理器进行授权的，是否允许用户在同一台物理机上的多个虚拟机中运行该软件？</a:t>
            </a:r>
            <a:endParaRPr lang="zh-CN" altLang="en-US" sz="2200" dirty="0">
              <a:solidFill>
                <a:schemeClr val="tx1">
                  <a:lumMod val="65000"/>
                  <a:lumOff val="35000"/>
                </a:schemeClr>
              </a:solidFill>
            </a:endParaRPr>
          </a:p>
          <a:p>
            <a:pPr marL="0" lvl="1" indent="0">
              <a:lnSpc>
                <a:spcPct val="132000"/>
              </a:lnSpc>
              <a:spcBef>
                <a:spcPts val="600"/>
              </a:spcBef>
              <a:spcAft>
                <a:spcPts val="600"/>
              </a:spcAft>
              <a:buClr>
                <a:srgbClr val="E71101"/>
              </a:buClr>
              <a:buSzPct val="60000"/>
              <a:buNone/>
              <a:defRPr/>
            </a:pPr>
            <a:r>
              <a:rPr lang="zh-CN" altLang="en-US" sz="2200" dirty="0">
                <a:solidFill>
                  <a:schemeClr val="tx1">
                    <a:lumMod val="65000"/>
                    <a:lumOff val="35000"/>
                  </a:schemeClr>
                </a:solidFill>
              </a:rPr>
              <a:t>虚拟机不会直接授权。</a:t>
            </a:r>
            <a:endParaRPr lang="zh-CN" altLang="en-US" sz="2200" dirty="0">
              <a:solidFill>
                <a:schemeClr val="tx1">
                  <a:lumMod val="65000"/>
                  <a:lumOff val="35000"/>
                </a:schemeClr>
              </a:solidFill>
            </a:endParaRPr>
          </a:p>
          <a:p>
            <a:pPr marL="0" lvl="1" indent="0">
              <a:lnSpc>
                <a:spcPct val="132000"/>
              </a:lnSpc>
              <a:spcBef>
                <a:spcPts val="600"/>
              </a:spcBef>
              <a:spcAft>
                <a:spcPts val="600"/>
              </a:spcAft>
              <a:buClr>
                <a:srgbClr val="E71101"/>
              </a:buClr>
              <a:buSzPct val="60000"/>
              <a:buNone/>
              <a:defRPr/>
            </a:pPr>
            <a:r>
              <a:rPr lang="zh-CN" altLang="en-US" sz="2200" dirty="0">
                <a:solidFill>
                  <a:schemeClr val="tx1">
                    <a:lumMod val="65000"/>
                    <a:lumOff val="35000"/>
                  </a:schemeClr>
                </a:solidFill>
              </a:rPr>
              <a:t>以</a:t>
            </a:r>
            <a:r>
              <a:rPr lang="en-US" altLang="zh-CN" sz="2200" dirty="0">
                <a:solidFill>
                  <a:schemeClr val="tx1">
                    <a:lumMod val="65000"/>
                    <a:lumOff val="35000"/>
                  </a:schemeClr>
                </a:solidFill>
              </a:rPr>
              <a:t>Windows Server 2012 R2</a:t>
            </a:r>
            <a:r>
              <a:rPr lang="zh-CN" altLang="en-US" sz="2200" dirty="0">
                <a:solidFill>
                  <a:schemeClr val="tx1">
                    <a:lumMod val="65000"/>
                    <a:lumOff val="35000"/>
                  </a:schemeClr>
                </a:solidFill>
              </a:rPr>
              <a:t>为例，它有两种版本：标准版和数据中心。</a:t>
            </a:r>
            <a:endParaRPr lang="zh-CN" altLang="en-US" sz="22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标准版：</a:t>
            </a:r>
            <a:r>
              <a:rPr lang="zh-CN" altLang="en-US" sz="2200" dirty="0">
                <a:solidFill>
                  <a:schemeClr val="tx1">
                    <a:lumMod val="65000"/>
                    <a:lumOff val="35000"/>
                  </a:schemeClr>
                </a:solidFill>
              </a:rPr>
              <a:t>的许可证只允许物理机运行两个虚拟机。</a:t>
            </a:r>
            <a:endParaRPr lang="zh-CN" altLang="en-US" sz="22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数据中心：</a:t>
            </a:r>
            <a:r>
              <a:rPr lang="zh-CN" altLang="en-US" sz="2200" dirty="0">
                <a:solidFill>
                  <a:schemeClr val="tx1">
                    <a:lumMod val="65000"/>
                    <a:lumOff val="35000"/>
                  </a:schemeClr>
                </a:solidFill>
              </a:rPr>
              <a:t>与许可证在同一台物理机上，此时物理机可以运行虚拟机的数量不受限制。</a:t>
            </a:r>
            <a:endParaRPr lang="zh-CN" altLang="en-US" sz="2200" dirty="0">
              <a:solidFill>
                <a:schemeClr val="tx1">
                  <a:lumMod val="65000"/>
                  <a:lumOff val="35000"/>
                </a:schemeClr>
              </a:solidFill>
            </a:endParaRPr>
          </a:p>
          <a:p>
            <a:pPr marL="0" lvl="1" indent="0">
              <a:lnSpc>
                <a:spcPct val="132000"/>
              </a:lnSpc>
              <a:spcBef>
                <a:spcPts val="600"/>
              </a:spcBef>
              <a:spcAft>
                <a:spcPts val="600"/>
              </a:spcAft>
              <a:buClr>
                <a:srgbClr val="E71101"/>
              </a:buClr>
              <a:buSzPct val="60000"/>
              <a:buNone/>
              <a:defRPr/>
            </a:pPr>
            <a:r>
              <a:rPr lang="zh-CN" altLang="en-US" sz="2200" dirty="0">
                <a:solidFill>
                  <a:schemeClr val="tx1">
                    <a:lumMod val="65000"/>
                    <a:lumOff val="35000"/>
                  </a:schemeClr>
                </a:solidFill>
              </a:rPr>
              <a:t>在云计算中，授权主要用于身份认证与访问管理。</a:t>
            </a:r>
            <a:endParaRPr lang="zh-CN" altLang="en-US" sz="2200" dirty="0">
              <a:solidFill>
                <a:schemeClr val="tx1">
                  <a:lumMod val="65000"/>
                  <a:lumOff val="35000"/>
                </a:schemeClr>
              </a:solidFill>
            </a:endParaRPr>
          </a:p>
        </p:txBody>
      </p:sp>
      <p:sp>
        <p:nvSpPr>
          <p:cNvPr id="5" name="îşļïďè"/>
          <p:cNvSpPr/>
          <p:nvPr/>
        </p:nvSpPr>
        <p:spPr>
          <a:xfrm>
            <a:off x="808758" y="5727872"/>
            <a:ext cx="624349" cy="62434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5</a:t>
            </a:r>
            <a:endParaRPr lang="en-US" altLang="zh-CN" sz="2400" dirty="0">
              <a:solidFill>
                <a:schemeClr val="bg1"/>
              </a:solidFill>
              <a:latin typeface="Impact" panose="020B0806030902050204" pitchFamily="34" charset="0"/>
            </a:endParaRPr>
          </a:p>
        </p:txBody>
      </p:sp>
      <p:sp>
        <p:nvSpPr>
          <p:cNvPr id="6" name="işlíḋé"/>
          <p:cNvSpPr/>
          <p:nvPr/>
        </p:nvSpPr>
        <p:spPr>
          <a:xfrm>
            <a:off x="808758" y="3851772"/>
            <a:ext cx="624349" cy="624349"/>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4</a:t>
            </a:r>
            <a:endParaRPr lang="en-US" altLang="zh-CN" sz="2400" dirty="0">
              <a:solidFill>
                <a:schemeClr val="bg1"/>
              </a:solidFill>
              <a:latin typeface="Impact" panose="020B0806030902050204" pitchFamily="34" charset="0"/>
            </a:endParaRPr>
          </a:p>
        </p:txBody>
      </p:sp>
      <p:sp>
        <p:nvSpPr>
          <p:cNvPr id="7" name="i$1îḑe"/>
          <p:cNvSpPr/>
          <p:nvPr/>
        </p:nvSpPr>
        <p:spPr>
          <a:xfrm>
            <a:off x="814197" y="3147521"/>
            <a:ext cx="624349" cy="62434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3</a:t>
            </a:r>
            <a:endParaRPr lang="en-US" altLang="zh-CN" sz="2400" dirty="0">
              <a:solidFill>
                <a:schemeClr val="bg1"/>
              </a:solidFill>
              <a:latin typeface="Impact" panose="020B0806030902050204" pitchFamily="34" charset="0"/>
            </a:endParaRPr>
          </a:p>
        </p:txBody>
      </p:sp>
      <p:sp>
        <p:nvSpPr>
          <p:cNvPr id="8" name="ïSļïḓè"/>
          <p:cNvSpPr/>
          <p:nvPr/>
        </p:nvSpPr>
        <p:spPr>
          <a:xfrm>
            <a:off x="814197" y="2348847"/>
            <a:ext cx="624349" cy="624349"/>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2</a:t>
            </a:r>
            <a:endParaRPr lang="en-US" altLang="zh-CN" sz="2400" dirty="0">
              <a:solidFill>
                <a:schemeClr val="bg1"/>
              </a:solidFill>
              <a:latin typeface="Impact" panose="020B0806030902050204" pitchFamily="34" charset="0"/>
            </a:endParaRPr>
          </a:p>
        </p:txBody>
      </p:sp>
      <p:sp>
        <p:nvSpPr>
          <p:cNvPr id="9" name="ïśľiďe"/>
          <p:cNvSpPr/>
          <p:nvPr/>
        </p:nvSpPr>
        <p:spPr>
          <a:xfrm>
            <a:off x="808758" y="1249076"/>
            <a:ext cx="624349" cy="624349"/>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1</a:t>
            </a:r>
            <a:endParaRPr lang="en-US" altLang="zh-CN" sz="2400" dirty="0">
              <a:solidFill>
                <a:schemeClr val="bg1"/>
              </a:solidFill>
              <a:latin typeface="Impact" panose="020B080603090205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cs typeface="+mn-ea"/>
                <a:sym typeface="+mn-lt"/>
              </a:rPr>
              <a:t>内容导航：</a:t>
            </a:r>
            <a:endParaRPr lang="zh-CN" altLang="en-US" sz="2800" b="1" dirty="0">
              <a:solidFill>
                <a:schemeClr val="bg1"/>
              </a:solidFill>
              <a:cs typeface="+mn-ea"/>
              <a:sym typeface="+mn-lt"/>
            </a:endParaRPr>
          </a:p>
        </p:txBody>
      </p:sp>
      <p:sp>
        <p:nvSpPr>
          <p:cNvPr id="22" name="矩形 21"/>
          <p:cNvSpPr/>
          <p:nvPr/>
        </p:nvSpPr>
        <p:spPr>
          <a:xfrm>
            <a:off x="1379228" y="1767926"/>
            <a:ext cx="4500146" cy="461665"/>
          </a:xfrm>
          <a:prstGeom prst="rect">
            <a:avLst/>
          </a:prstGeom>
        </p:spPr>
        <p:txBody>
          <a:bodyPr wrap="square">
            <a:spAutoFit/>
          </a:bodyPr>
          <a:lstStyle/>
          <a:p>
            <a:r>
              <a:rPr lang="en-US" altLang="zh-CN" sz="2400" dirty="0">
                <a:cs typeface="+mn-ea"/>
                <a:sym typeface="+mn-lt"/>
              </a:rPr>
              <a:t>11.1  </a:t>
            </a:r>
            <a:r>
              <a:rPr lang="zh-CN" altLang="en-US" sz="2400" dirty="0">
                <a:cs typeface="+mn-ea"/>
                <a:sym typeface="+mn-lt"/>
              </a:rPr>
              <a:t>虚拟化的基本概念</a:t>
            </a:r>
            <a:endParaRPr lang="zh-CN" altLang="en-US" sz="2400" dirty="0">
              <a:cs typeface="+mn-ea"/>
              <a:sym typeface="+mn-lt"/>
            </a:endParaRPr>
          </a:p>
        </p:txBody>
      </p:sp>
      <p:sp>
        <p:nvSpPr>
          <p:cNvPr id="23" name="矩形 22"/>
          <p:cNvSpPr/>
          <p:nvPr/>
        </p:nvSpPr>
        <p:spPr>
          <a:xfrm>
            <a:off x="1379228" y="2406101"/>
            <a:ext cx="3682150" cy="461665"/>
          </a:xfrm>
          <a:prstGeom prst="rect">
            <a:avLst/>
          </a:prstGeom>
        </p:spPr>
        <p:txBody>
          <a:bodyPr wrap="square">
            <a:spAutoFit/>
          </a:bodyPr>
          <a:lstStyle/>
          <a:p>
            <a:r>
              <a:rPr lang="en-US" altLang="zh-CN" sz="2400" dirty="0">
                <a:cs typeface="+mn-ea"/>
                <a:sym typeface="+mn-lt"/>
              </a:rPr>
              <a:t>11.2  </a:t>
            </a:r>
            <a:r>
              <a:rPr lang="zh-CN" altLang="en-US" sz="2400" dirty="0">
                <a:cs typeface="+mn-ea"/>
                <a:sym typeface="+mn-lt"/>
              </a:rPr>
              <a:t>虚拟化技术</a:t>
            </a:r>
            <a:endParaRPr lang="zh-CN" altLang="en-US" sz="2400" dirty="0">
              <a:cs typeface="+mn-ea"/>
              <a:sym typeface="+mn-lt"/>
            </a:endParaRPr>
          </a:p>
        </p:txBody>
      </p:sp>
      <p:sp>
        <p:nvSpPr>
          <p:cNvPr id="24" name="矩形 23"/>
          <p:cNvSpPr/>
          <p:nvPr/>
        </p:nvSpPr>
        <p:spPr>
          <a:xfrm>
            <a:off x="1379227" y="3025226"/>
            <a:ext cx="5320152" cy="461665"/>
          </a:xfrm>
          <a:prstGeom prst="rect">
            <a:avLst/>
          </a:prstGeom>
        </p:spPr>
        <p:txBody>
          <a:bodyPr wrap="square">
            <a:spAutoFit/>
          </a:bodyPr>
          <a:lstStyle/>
          <a:p>
            <a:r>
              <a:rPr lang="en-US" altLang="zh-CN" sz="2400" dirty="0">
                <a:cs typeface="+mn-ea"/>
                <a:sym typeface="+mn-lt"/>
              </a:rPr>
              <a:t>11.3  </a:t>
            </a:r>
            <a:r>
              <a:rPr lang="zh-CN" altLang="en-US" sz="2400" dirty="0">
                <a:cs typeface="+mn-ea"/>
                <a:sym typeface="+mn-lt"/>
              </a:rPr>
              <a:t>云计算</a:t>
            </a:r>
            <a:endParaRPr lang="zh-CN" altLang="en-US" sz="2400" dirty="0">
              <a:cs typeface="+mn-ea"/>
              <a:sym typeface="+mn-lt"/>
            </a:endParaRPr>
          </a:p>
        </p:txBody>
      </p:sp>
      <p:sp>
        <p:nvSpPr>
          <p:cNvPr id="25" name="矩形 24"/>
          <p:cNvSpPr/>
          <p:nvPr/>
        </p:nvSpPr>
        <p:spPr>
          <a:xfrm>
            <a:off x="1379227" y="3641996"/>
            <a:ext cx="5254838" cy="461665"/>
          </a:xfrm>
          <a:prstGeom prst="rect">
            <a:avLst/>
          </a:prstGeom>
        </p:spPr>
        <p:txBody>
          <a:bodyPr wrap="square">
            <a:spAutoFit/>
          </a:bodyPr>
          <a:lstStyle/>
          <a:p>
            <a:r>
              <a:rPr lang="en-US" altLang="zh-CN" sz="2400" b="1" dirty="0">
                <a:solidFill>
                  <a:srgbClr val="0000FF"/>
                </a:solidFill>
                <a:cs typeface="+mn-ea"/>
                <a:sym typeface="+mn-lt"/>
              </a:rPr>
              <a:t>11.4  </a:t>
            </a:r>
            <a:r>
              <a:rPr lang="zh-CN" altLang="en-US" sz="2400" b="1" dirty="0">
                <a:solidFill>
                  <a:srgbClr val="0000FF"/>
                </a:solidFill>
                <a:cs typeface="+mn-ea"/>
                <a:sym typeface="+mn-lt"/>
              </a:rPr>
              <a:t>实例：虚拟机软件</a:t>
            </a:r>
            <a:endParaRPr lang="zh-CN" altLang="en-US" sz="2400" b="1" dirty="0">
              <a:solidFill>
                <a:srgbClr val="0000FF"/>
              </a:solidFill>
              <a:cs typeface="+mn-ea"/>
              <a:sym typeface="+mn-lt"/>
            </a:endParaRPr>
          </a:p>
        </p:txBody>
      </p:sp>
      <p:sp>
        <p:nvSpPr>
          <p:cNvPr id="3" name="矩形 2"/>
          <p:cNvSpPr/>
          <p:nvPr/>
        </p:nvSpPr>
        <p:spPr>
          <a:xfrm>
            <a:off x="6699378" y="2349214"/>
            <a:ext cx="4991859" cy="646331"/>
          </a:xfrm>
          <a:prstGeom prst="rect">
            <a:avLst/>
          </a:prstGeom>
        </p:spPr>
        <p:txBody>
          <a:bodyPr wrap="square">
            <a:spAutoFit/>
          </a:bodyPr>
          <a:lstStyle/>
          <a:p>
            <a:r>
              <a:rPr lang="zh-CN" altLang="en-US" sz="3600" dirty="0">
                <a:solidFill>
                  <a:srgbClr val="000000"/>
                </a:solidFill>
                <a:cs typeface="+mn-ea"/>
                <a:sym typeface="+mn-lt"/>
              </a:rPr>
              <a:t>第</a:t>
            </a:r>
            <a:r>
              <a:rPr lang="en-US" altLang="zh-CN" sz="3600" dirty="0">
                <a:solidFill>
                  <a:srgbClr val="000000"/>
                </a:solidFill>
                <a:cs typeface="+mn-ea"/>
                <a:sym typeface="+mn-lt"/>
              </a:rPr>
              <a:t>11</a:t>
            </a:r>
            <a:r>
              <a:rPr lang="zh-CN" altLang="en-US" sz="3600" dirty="0">
                <a:solidFill>
                  <a:srgbClr val="000000"/>
                </a:solidFill>
                <a:cs typeface="+mn-ea"/>
                <a:sym typeface="+mn-lt"/>
              </a:rPr>
              <a:t>章 虚拟化和云计算</a:t>
            </a:r>
            <a:endParaRPr lang="zh-CN" altLang="en-US" sz="3600" dirty="0">
              <a:cs typeface="+mn-ea"/>
              <a:sym typeface="+mn-lt"/>
            </a:endParaRPr>
          </a:p>
        </p:txBody>
      </p:sp>
      <p:cxnSp>
        <p:nvCxnSpPr>
          <p:cNvPr id="5" name="直接连接符 4"/>
          <p:cNvCxnSpPr/>
          <p:nvPr/>
        </p:nvCxnSpPr>
        <p:spPr>
          <a:xfrm>
            <a:off x="6699379" y="3190471"/>
            <a:ext cx="4847743"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1730916"/>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316056"/>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971525"/>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3587643"/>
            <a:ext cx="527050" cy="527050"/>
          </a:xfrm>
          <a:prstGeom prst="rect">
            <a:avLst/>
          </a:prstGeom>
          <a:ln>
            <a:noFill/>
          </a:ln>
          <a:effectLst>
            <a:softEdge rad="0"/>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11.4 </a:t>
            </a:r>
            <a:r>
              <a:rPr lang="zh-CN" altLang="en-US" sz="2800" b="1" dirty="0">
                <a:solidFill>
                  <a:schemeClr val="bg1"/>
                </a:solidFill>
                <a:cs typeface="+mn-ea"/>
                <a:sym typeface="+mn-lt"/>
              </a:rPr>
              <a:t>实例：虚拟机软件</a:t>
            </a:r>
            <a:endParaRPr lang="zh-CN" altLang="en-US" sz="2800" b="1" dirty="0">
              <a:solidFill>
                <a:schemeClr val="bg1"/>
              </a:solidFill>
              <a:cs typeface="+mn-ea"/>
              <a:sym typeface="+mn-lt"/>
            </a:endParaRPr>
          </a:p>
        </p:txBody>
      </p:sp>
      <p:sp>
        <p:nvSpPr>
          <p:cNvPr id="4" name="内容占位符 2"/>
          <p:cNvSpPr txBox="1"/>
          <p:nvPr/>
        </p:nvSpPr>
        <p:spPr>
          <a:xfrm>
            <a:off x="1557292" y="1118045"/>
            <a:ext cx="9845335" cy="51851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spcBef>
                <a:spcPts val="370"/>
              </a:spcBef>
              <a:buClr>
                <a:srgbClr val="E71101"/>
              </a:buClr>
              <a:buSzPct val="60000"/>
              <a:buNone/>
              <a:defRPr/>
            </a:pPr>
            <a:r>
              <a:rPr lang="en-US" altLang="zh-CN" sz="2200" b="1" dirty="0">
                <a:solidFill>
                  <a:srgbClr val="0000FF"/>
                </a:solidFill>
              </a:rPr>
              <a:t>VMware </a:t>
            </a:r>
            <a:r>
              <a:rPr lang="zh-CN" altLang="en-US" sz="2200" b="1" dirty="0">
                <a:solidFill>
                  <a:srgbClr val="0000FF"/>
                </a:solidFill>
              </a:rPr>
              <a:t>工作站：</a:t>
            </a:r>
            <a:endParaRPr lang="zh-CN" altLang="en-US" sz="2200" b="1" dirty="0">
              <a:solidFill>
                <a:srgbClr val="0000FF"/>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000" dirty="0">
                <a:solidFill>
                  <a:schemeClr val="tx1">
                    <a:lumMod val="65000"/>
                    <a:lumOff val="35000"/>
                  </a:schemeClr>
                </a:solidFill>
              </a:rPr>
              <a:t>包含一个用于兼容</a:t>
            </a:r>
            <a:r>
              <a:rPr lang="en-US" altLang="zh-CN" sz="2000" dirty="0">
                <a:solidFill>
                  <a:schemeClr val="tx1">
                    <a:lumMod val="65000"/>
                    <a:lumOff val="35000"/>
                  </a:schemeClr>
                </a:solidFill>
              </a:rPr>
              <a:t>Intel x86</a:t>
            </a:r>
            <a:r>
              <a:rPr lang="zh-CN" altLang="en-US" sz="2000" dirty="0">
                <a:solidFill>
                  <a:schemeClr val="tx1">
                    <a:lumMod val="65000"/>
                    <a:lumOff val="35000"/>
                  </a:schemeClr>
                </a:solidFill>
              </a:rPr>
              <a:t>体系结构计算机的虚拟机套装，允许用户同时创建和运行多个具有</a:t>
            </a:r>
            <a:r>
              <a:rPr lang="en-US" altLang="zh-CN" sz="2000" dirty="0">
                <a:solidFill>
                  <a:schemeClr val="tx1">
                    <a:lumMod val="65000"/>
                    <a:lumOff val="35000"/>
                  </a:schemeClr>
                </a:solidFill>
              </a:rPr>
              <a:t>Intel x86</a:t>
            </a:r>
            <a:r>
              <a:rPr lang="zh-CN" altLang="en-US" sz="2000" dirty="0">
                <a:solidFill>
                  <a:schemeClr val="tx1">
                    <a:lumMod val="65000"/>
                    <a:lumOff val="35000"/>
                  </a:schemeClr>
                </a:solidFill>
              </a:rPr>
              <a:t>体系结构的虚拟机；</a:t>
            </a:r>
            <a:endParaRPr lang="zh-CN" altLang="en-US" sz="20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000" dirty="0">
                <a:solidFill>
                  <a:schemeClr val="tx1">
                    <a:lumMod val="65000"/>
                    <a:lumOff val="35000"/>
                  </a:schemeClr>
                </a:solidFill>
              </a:rPr>
              <a:t>每个虚拟机可以运行其安装的</a:t>
            </a:r>
            <a:r>
              <a:rPr lang="en-US" altLang="zh-CN" sz="2000" dirty="0">
                <a:solidFill>
                  <a:schemeClr val="tx1">
                    <a:lumMod val="65000"/>
                    <a:lumOff val="35000"/>
                  </a:schemeClr>
                </a:solidFill>
              </a:rPr>
              <a:t>OS</a:t>
            </a:r>
            <a:r>
              <a:rPr lang="zh-CN" altLang="en-US" sz="2000" dirty="0">
                <a:solidFill>
                  <a:schemeClr val="tx1">
                    <a:lumMod val="65000"/>
                    <a:lumOff val="35000"/>
                  </a:schemeClr>
                </a:solidFill>
              </a:rPr>
              <a:t>，如（但不限于）</a:t>
            </a:r>
            <a:r>
              <a:rPr lang="en-US" altLang="zh-CN" sz="2000" dirty="0">
                <a:solidFill>
                  <a:schemeClr val="tx1">
                    <a:lumMod val="65000"/>
                    <a:lumOff val="35000"/>
                  </a:schemeClr>
                </a:solidFill>
              </a:rPr>
              <a:t>Windows</a:t>
            </a:r>
            <a:r>
              <a:rPr lang="zh-CN" altLang="en-US" sz="2000" dirty="0">
                <a:solidFill>
                  <a:schemeClr val="tx1">
                    <a:lumMod val="65000"/>
                    <a:lumOff val="35000"/>
                  </a:schemeClr>
                </a:solidFill>
              </a:rPr>
              <a:t>、</a:t>
            </a:r>
            <a:r>
              <a:rPr lang="en-US" altLang="zh-CN" sz="2000" dirty="0">
                <a:solidFill>
                  <a:schemeClr val="tx1">
                    <a:lumMod val="65000"/>
                    <a:lumOff val="35000"/>
                  </a:schemeClr>
                </a:solidFill>
              </a:rPr>
              <a:t>Linux</a:t>
            </a:r>
            <a:r>
              <a:rPr lang="zh-CN" altLang="en-US" sz="2000" dirty="0">
                <a:solidFill>
                  <a:schemeClr val="tx1">
                    <a:lumMod val="65000"/>
                    <a:lumOff val="35000"/>
                  </a:schemeClr>
                </a:solidFill>
              </a:rPr>
              <a:t>、</a:t>
            </a:r>
            <a:r>
              <a:rPr lang="en-US" altLang="zh-CN" sz="2000" dirty="0">
                <a:solidFill>
                  <a:schemeClr val="tx1">
                    <a:lumMod val="65000"/>
                    <a:lumOff val="35000"/>
                  </a:schemeClr>
                </a:solidFill>
              </a:rPr>
              <a:t>BSD</a:t>
            </a:r>
            <a:r>
              <a:rPr lang="zh-CN" altLang="en-US" sz="2000" dirty="0">
                <a:solidFill>
                  <a:schemeClr val="tx1">
                    <a:lumMod val="65000"/>
                    <a:lumOff val="35000"/>
                  </a:schemeClr>
                </a:solidFill>
              </a:rPr>
              <a:t>等系统。</a:t>
            </a:r>
            <a:endParaRPr lang="zh-CN" altLang="en-US" sz="2000" dirty="0">
              <a:solidFill>
                <a:schemeClr val="tx1">
                  <a:lumMod val="65000"/>
                  <a:lumOff val="35000"/>
                </a:schemeClr>
              </a:solidFill>
            </a:endParaRPr>
          </a:p>
          <a:p>
            <a:pPr marL="0" lvl="1" indent="0">
              <a:lnSpc>
                <a:spcPct val="132000"/>
              </a:lnSpc>
              <a:spcBef>
                <a:spcPts val="370"/>
              </a:spcBef>
              <a:buClr>
                <a:srgbClr val="E71101"/>
              </a:buClr>
              <a:buSzPct val="60000"/>
              <a:buNone/>
              <a:defRPr/>
            </a:pPr>
            <a:r>
              <a:rPr lang="en-US" altLang="zh-CN" sz="2200" b="1" dirty="0">
                <a:solidFill>
                  <a:srgbClr val="FF0000"/>
                </a:solidFill>
              </a:rPr>
              <a:t>KVM</a:t>
            </a:r>
            <a:r>
              <a:rPr lang="en-US" altLang="zh-CN" sz="2200" b="1" dirty="0">
                <a:solidFill>
                  <a:schemeClr val="tx1">
                    <a:lumMod val="65000"/>
                    <a:lumOff val="35000"/>
                  </a:schemeClr>
                </a:solidFill>
              </a:rPr>
              <a:t>(kernel-based virtual machine</a:t>
            </a:r>
            <a:r>
              <a:rPr lang="zh-CN" altLang="en-US" sz="2200" b="1" dirty="0">
                <a:solidFill>
                  <a:schemeClr val="tx1">
                    <a:lumMod val="65000"/>
                    <a:lumOff val="35000"/>
                  </a:schemeClr>
                </a:solidFill>
              </a:rPr>
              <a:t>，</a:t>
            </a:r>
            <a:r>
              <a:rPr lang="zh-CN" altLang="en-US" sz="2200" b="1" dirty="0">
                <a:solidFill>
                  <a:srgbClr val="FF0000"/>
                </a:solidFill>
              </a:rPr>
              <a:t>内核虚拟机</a:t>
            </a:r>
            <a:r>
              <a:rPr lang="en-US" altLang="zh-CN" sz="2200" b="1" dirty="0">
                <a:solidFill>
                  <a:schemeClr val="tx1">
                    <a:lumMod val="65000"/>
                    <a:lumOff val="35000"/>
                  </a:schemeClr>
                </a:solidFill>
              </a:rPr>
              <a:t>)</a:t>
            </a:r>
            <a:r>
              <a:rPr lang="zh-CN" altLang="en-US" sz="2200" b="1" dirty="0">
                <a:solidFill>
                  <a:schemeClr val="tx1">
                    <a:lumMod val="65000"/>
                    <a:lumOff val="35000"/>
                  </a:schemeClr>
                </a:solidFill>
              </a:rPr>
              <a:t>：</a:t>
            </a:r>
            <a:endParaRPr lang="zh-CN" altLang="en-US" sz="2200" b="1"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000" dirty="0">
                <a:solidFill>
                  <a:schemeClr val="tx1">
                    <a:lumMod val="65000"/>
                    <a:lumOff val="35000"/>
                  </a:schemeClr>
                </a:solidFill>
              </a:rPr>
              <a:t>基于</a:t>
            </a:r>
            <a:r>
              <a:rPr lang="en-US" altLang="zh-CN" sz="2000" dirty="0">
                <a:solidFill>
                  <a:schemeClr val="tx1">
                    <a:lumMod val="65000"/>
                    <a:lumOff val="35000"/>
                  </a:schemeClr>
                </a:solidFill>
              </a:rPr>
              <a:t>Linux</a:t>
            </a:r>
            <a:r>
              <a:rPr lang="zh-CN" altLang="en-US" sz="2000" dirty="0">
                <a:solidFill>
                  <a:schemeClr val="tx1">
                    <a:lumMod val="65000"/>
                    <a:lumOff val="35000"/>
                  </a:schemeClr>
                </a:solidFill>
              </a:rPr>
              <a:t>内核，通过加载新的模块使</a:t>
            </a:r>
            <a:r>
              <a:rPr lang="en-US" altLang="zh-CN" sz="2000" dirty="0">
                <a:solidFill>
                  <a:schemeClr val="tx1">
                    <a:lumMod val="65000"/>
                    <a:lumOff val="35000"/>
                  </a:schemeClr>
                </a:solidFill>
              </a:rPr>
              <a:t>Linux</a:t>
            </a:r>
            <a:r>
              <a:rPr lang="zh-CN" altLang="en-US" sz="2000" dirty="0">
                <a:solidFill>
                  <a:schemeClr val="tx1">
                    <a:lumMod val="65000"/>
                    <a:lumOff val="35000"/>
                  </a:schemeClr>
                </a:solidFill>
              </a:rPr>
              <a:t>内核变成一个虚拟机管理层；</a:t>
            </a:r>
            <a:endParaRPr lang="zh-CN" altLang="en-US" sz="20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000" dirty="0">
                <a:solidFill>
                  <a:schemeClr val="tx1">
                    <a:lumMod val="65000"/>
                    <a:lumOff val="35000"/>
                  </a:schemeClr>
                </a:solidFill>
              </a:rPr>
              <a:t>允许需要主机具有</a:t>
            </a:r>
            <a:r>
              <a:rPr lang="en-US" altLang="zh-CN" sz="2000" dirty="0">
                <a:solidFill>
                  <a:schemeClr val="tx1">
                    <a:lumMod val="65000"/>
                    <a:lumOff val="35000"/>
                  </a:schemeClr>
                </a:solidFill>
              </a:rPr>
              <a:t>Intel x86</a:t>
            </a:r>
            <a:r>
              <a:rPr lang="zh-CN" altLang="en-US" sz="2000" dirty="0">
                <a:solidFill>
                  <a:schemeClr val="tx1">
                    <a:lumMod val="65000"/>
                    <a:lumOff val="35000"/>
                  </a:schemeClr>
                </a:solidFill>
              </a:rPr>
              <a:t>体系结构且硬件支持虚拟化技术（如</a:t>
            </a:r>
            <a:r>
              <a:rPr lang="en-US" altLang="zh-CN" sz="2000" dirty="0">
                <a:solidFill>
                  <a:schemeClr val="tx1">
                    <a:lumMod val="65000"/>
                    <a:lumOff val="35000"/>
                  </a:schemeClr>
                </a:solidFill>
              </a:rPr>
              <a:t>Intel VT</a:t>
            </a:r>
            <a:r>
              <a:rPr lang="zh-CN" altLang="en-US" sz="2000" dirty="0">
                <a:solidFill>
                  <a:schemeClr val="tx1">
                    <a:lumMod val="65000"/>
                    <a:lumOff val="35000"/>
                  </a:schemeClr>
                </a:solidFill>
              </a:rPr>
              <a:t>或</a:t>
            </a:r>
            <a:r>
              <a:rPr lang="en-US" altLang="zh-CN" sz="2000" dirty="0">
                <a:solidFill>
                  <a:schemeClr val="tx1">
                    <a:lumMod val="65000"/>
                    <a:lumOff val="35000"/>
                  </a:schemeClr>
                </a:solidFill>
              </a:rPr>
              <a:t>AMD-V</a:t>
            </a:r>
            <a:r>
              <a:rPr lang="zh-CN" altLang="en-US" sz="2000" dirty="0">
                <a:solidFill>
                  <a:schemeClr val="tx1">
                    <a:lumMod val="65000"/>
                    <a:lumOff val="35000"/>
                  </a:schemeClr>
                </a:solidFill>
              </a:rPr>
              <a:t>），还需要将一个经过修改的</a:t>
            </a:r>
            <a:r>
              <a:rPr lang="en-US" altLang="zh-CN" sz="2000" dirty="0">
                <a:solidFill>
                  <a:schemeClr val="tx1">
                    <a:lumMod val="65000"/>
                    <a:lumOff val="35000"/>
                  </a:schemeClr>
                </a:solidFill>
              </a:rPr>
              <a:t>QEMU</a:t>
            </a:r>
            <a:r>
              <a:rPr lang="zh-CN" altLang="en-US" sz="2000" dirty="0">
                <a:solidFill>
                  <a:schemeClr val="tx1">
                    <a:lumMod val="65000"/>
                    <a:lumOff val="35000"/>
                  </a:schemeClr>
                </a:solidFill>
              </a:rPr>
              <a:t>软件作为虚拟机的上层控制软件并使用其界面；</a:t>
            </a:r>
            <a:endParaRPr lang="zh-CN" altLang="en-US" sz="20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en-US" altLang="zh-CN" sz="2000" dirty="0">
                <a:solidFill>
                  <a:schemeClr val="tx1">
                    <a:lumMod val="65000"/>
                    <a:lumOff val="35000"/>
                  </a:schemeClr>
                </a:solidFill>
              </a:rPr>
              <a:t>KVM</a:t>
            </a:r>
            <a:r>
              <a:rPr lang="zh-CN" altLang="en-US" sz="2000" dirty="0">
                <a:solidFill>
                  <a:schemeClr val="tx1">
                    <a:lumMod val="65000"/>
                    <a:lumOff val="35000"/>
                  </a:schemeClr>
                </a:solidFill>
              </a:rPr>
              <a:t>能在不改变</a:t>
            </a:r>
            <a:r>
              <a:rPr lang="en-US" altLang="zh-CN" sz="2000" dirty="0">
                <a:solidFill>
                  <a:schemeClr val="tx1">
                    <a:lumMod val="65000"/>
                    <a:lumOff val="35000"/>
                  </a:schemeClr>
                </a:solidFill>
              </a:rPr>
              <a:t>Linux</a:t>
            </a:r>
            <a:r>
              <a:rPr lang="zh-CN" altLang="en-US" sz="2000" dirty="0">
                <a:solidFill>
                  <a:schemeClr val="tx1">
                    <a:lumMod val="65000"/>
                    <a:lumOff val="35000"/>
                  </a:schemeClr>
                </a:solidFill>
              </a:rPr>
              <a:t>或</a:t>
            </a:r>
            <a:r>
              <a:rPr lang="en-US" altLang="zh-CN" sz="2000" dirty="0">
                <a:solidFill>
                  <a:schemeClr val="tx1">
                    <a:lumMod val="65000"/>
                    <a:lumOff val="35000"/>
                  </a:schemeClr>
                </a:solidFill>
              </a:rPr>
              <a:t>Windows</a:t>
            </a:r>
            <a:r>
              <a:rPr lang="zh-CN" altLang="en-US" sz="2000" dirty="0">
                <a:solidFill>
                  <a:schemeClr val="tx1">
                    <a:lumMod val="65000"/>
                    <a:lumOff val="35000"/>
                  </a:schemeClr>
                </a:solidFill>
              </a:rPr>
              <a:t>镜像的情况下同时运行多个虚拟机，并为每个虚拟机配置个性化硬件环境；</a:t>
            </a:r>
            <a:endParaRPr lang="zh-CN" altLang="en-US" sz="20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000" dirty="0">
                <a:solidFill>
                  <a:schemeClr val="tx1">
                    <a:lumMod val="65000"/>
                    <a:lumOff val="35000"/>
                  </a:schemeClr>
                </a:solidFill>
              </a:rPr>
              <a:t>各种版本的</a:t>
            </a:r>
            <a:r>
              <a:rPr lang="en-US" altLang="zh-CN" sz="2000" dirty="0">
                <a:solidFill>
                  <a:schemeClr val="tx1">
                    <a:lumMod val="65000"/>
                    <a:lumOff val="35000"/>
                  </a:schemeClr>
                </a:solidFill>
              </a:rPr>
              <a:t>Linux</a:t>
            </a:r>
            <a:r>
              <a:rPr lang="zh-CN" altLang="en-US" sz="2000" dirty="0">
                <a:solidFill>
                  <a:schemeClr val="tx1">
                    <a:lumMod val="65000"/>
                    <a:lumOff val="35000"/>
                  </a:schemeClr>
                </a:solidFill>
              </a:rPr>
              <a:t>、</a:t>
            </a:r>
            <a:r>
              <a:rPr lang="en-US" altLang="zh-CN" sz="2000" dirty="0">
                <a:solidFill>
                  <a:schemeClr val="tx1">
                    <a:lumMod val="65000"/>
                    <a:lumOff val="35000"/>
                  </a:schemeClr>
                </a:solidFill>
              </a:rPr>
              <a:t>FreeBSD</a:t>
            </a:r>
            <a:r>
              <a:rPr lang="zh-CN" altLang="en-US" sz="2000" dirty="0">
                <a:solidFill>
                  <a:schemeClr val="tx1">
                    <a:lumMod val="65000"/>
                    <a:lumOff val="35000"/>
                  </a:schemeClr>
                </a:solidFill>
              </a:rPr>
              <a:t>、</a:t>
            </a:r>
            <a:r>
              <a:rPr lang="en-US" altLang="zh-CN" sz="2000" dirty="0">
                <a:solidFill>
                  <a:schemeClr val="tx1">
                    <a:lumMod val="65000"/>
                    <a:lumOff val="35000"/>
                  </a:schemeClr>
                </a:solidFill>
              </a:rPr>
              <a:t>Solaris</a:t>
            </a:r>
            <a:r>
              <a:rPr lang="zh-CN" altLang="en-US" sz="2000" dirty="0">
                <a:solidFill>
                  <a:schemeClr val="tx1">
                    <a:lumMod val="65000"/>
                    <a:lumOff val="35000"/>
                  </a:schemeClr>
                </a:solidFill>
              </a:rPr>
              <a:t>、</a:t>
            </a:r>
            <a:r>
              <a:rPr lang="en-US" altLang="zh-CN" sz="2000" dirty="0">
                <a:solidFill>
                  <a:schemeClr val="tx1">
                    <a:lumMod val="65000"/>
                    <a:lumOff val="35000"/>
                  </a:schemeClr>
                </a:solidFill>
              </a:rPr>
              <a:t>Windows</a:t>
            </a:r>
            <a:r>
              <a:rPr lang="zh-CN" altLang="en-US" sz="2000" dirty="0">
                <a:solidFill>
                  <a:schemeClr val="tx1">
                    <a:lumMod val="65000"/>
                    <a:lumOff val="35000"/>
                  </a:schemeClr>
                </a:solidFill>
              </a:rPr>
              <a:t>、</a:t>
            </a:r>
            <a:r>
              <a:rPr lang="en-US" altLang="zh-CN" sz="2000" dirty="0">
                <a:solidFill>
                  <a:schemeClr val="tx1">
                    <a:lumMod val="65000"/>
                    <a:lumOff val="35000"/>
                  </a:schemeClr>
                </a:solidFill>
              </a:rPr>
              <a:t>Mac OS</a:t>
            </a:r>
            <a:r>
              <a:rPr lang="zh-CN" altLang="en-US" sz="2000" dirty="0">
                <a:solidFill>
                  <a:schemeClr val="tx1">
                    <a:lumMod val="65000"/>
                    <a:lumOff val="35000"/>
                  </a:schemeClr>
                </a:solidFill>
              </a:rPr>
              <a:t>、</a:t>
            </a:r>
            <a:r>
              <a:rPr lang="en-US" altLang="zh-CN" sz="2000" dirty="0">
                <a:solidFill>
                  <a:schemeClr val="tx1">
                    <a:lumMod val="65000"/>
                    <a:lumOff val="35000"/>
                  </a:schemeClr>
                </a:solidFill>
              </a:rPr>
              <a:t>Haiku</a:t>
            </a:r>
            <a:r>
              <a:rPr lang="zh-CN" altLang="en-US" sz="2000" dirty="0">
                <a:solidFill>
                  <a:schemeClr val="tx1">
                    <a:lumMod val="65000"/>
                    <a:lumOff val="35000"/>
                  </a:schemeClr>
                </a:solidFill>
              </a:rPr>
              <a:t>、</a:t>
            </a:r>
            <a:r>
              <a:rPr lang="en-US" altLang="zh-CN" sz="2000" dirty="0" err="1">
                <a:solidFill>
                  <a:schemeClr val="tx1">
                    <a:lumMod val="65000"/>
                    <a:lumOff val="35000"/>
                  </a:schemeClr>
                </a:solidFill>
              </a:rPr>
              <a:t>ReactOS</a:t>
            </a:r>
            <a:r>
              <a:rPr lang="zh-CN" altLang="en-US" sz="2000" dirty="0">
                <a:solidFill>
                  <a:schemeClr val="tx1">
                    <a:lumMod val="65000"/>
                    <a:lumOff val="35000"/>
                  </a:schemeClr>
                </a:solidFill>
              </a:rPr>
              <a:t>、</a:t>
            </a:r>
            <a:r>
              <a:rPr lang="en-US" altLang="zh-CN" sz="2000" dirty="0">
                <a:solidFill>
                  <a:schemeClr val="tx1">
                    <a:lumMod val="65000"/>
                    <a:lumOff val="35000"/>
                  </a:schemeClr>
                </a:solidFill>
              </a:rPr>
              <a:t>Plan 9</a:t>
            </a:r>
            <a:r>
              <a:rPr lang="zh-CN" altLang="en-US" sz="2000" dirty="0">
                <a:solidFill>
                  <a:schemeClr val="tx1">
                    <a:lumMod val="65000"/>
                    <a:lumOff val="35000"/>
                  </a:schemeClr>
                </a:solidFill>
              </a:rPr>
              <a:t>、</a:t>
            </a:r>
            <a:r>
              <a:rPr lang="en-US" altLang="zh-CN" sz="2000" dirty="0">
                <a:solidFill>
                  <a:schemeClr val="tx1">
                    <a:lumMod val="65000"/>
                    <a:lumOff val="35000"/>
                  </a:schemeClr>
                </a:solidFill>
              </a:rPr>
              <a:t>AROS Research OS</a:t>
            </a:r>
            <a:r>
              <a:rPr lang="zh-CN" altLang="en-US" sz="2000" dirty="0">
                <a:solidFill>
                  <a:schemeClr val="tx1">
                    <a:lumMod val="65000"/>
                    <a:lumOff val="35000"/>
                  </a:schemeClr>
                </a:solidFill>
              </a:rPr>
              <a:t>等。</a:t>
            </a:r>
            <a:endParaRPr lang="zh-CN" altLang="en-US" sz="20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endParaRPr lang="zh-CN" altLang="en-US" sz="2200" dirty="0">
              <a:solidFill>
                <a:schemeClr val="tx1">
                  <a:lumMod val="65000"/>
                  <a:lumOff val="35000"/>
                </a:schemeClr>
              </a:solidFill>
            </a:endParaRPr>
          </a:p>
        </p:txBody>
      </p:sp>
      <p:sp>
        <p:nvSpPr>
          <p:cNvPr id="5" name="islîḋe"/>
          <p:cNvSpPr/>
          <p:nvPr/>
        </p:nvSpPr>
        <p:spPr>
          <a:xfrm>
            <a:off x="652170" y="1118045"/>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6" name="îŝlîďe"/>
          <p:cNvSpPr/>
          <p:nvPr/>
        </p:nvSpPr>
        <p:spPr>
          <a:xfrm>
            <a:off x="789373" y="1302916"/>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7" name="ïṡľïde"/>
          <p:cNvSpPr/>
          <p:nvPr/>
        </p:nvSpPr>
        <p:spPr>
          <a:xfrm>
            <a:off x="669925" y="2870197"/>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8" name="ïšliḍe"/>
          <p:cNvSpPr/>
          <p:nvPr/>
        </p:nvSpPr>
        <p:spPr>
          <a:xfrm>
            <a:off x="816006" y="3081702"/>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任意多边形: 形状 10"/>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sp>
        <p:nvSpPr>
          <p:cNvPr id="20" name="矩形 19"/>
          <p:cNvSpPr/>
          <p:nvPr/>
        </p:nvSpPr>
        <p:spPr>
          <a:xfrm>
            <a:off x="771525" y="257830"/>
            <a:ext cx="4535216" cy="523220"/>
          </a:xfrm>
          <a:prstGeom prst="rect">
            <a:avLst/>
          </a:prstGeom>
        </p:spPr>
        <p:txBody>
          <a:bodyPr wrap="none">
            <a:spAutoFit/>
          </a:bodyPr>
          <a:lstStyle/>
          <a:p>
            <a:r>
              <a:rPr lang="zh-CN" altLang="en-US" sz="2800" b="1" dirty="0">
                <a:solidFill>
                  <a:schemeClr val="bg1"/>
                </a:solidFill>
                <a:cs typeface="+mn-ea"/>
                <a:sym typeface="+mn-lt"/>
              </a:rPr>
              <a:t>学而时习之（第</a:t>
            </a:r>
            <a:r>
              <a:rPr lang="en-US" altLang="zh-CN" sz="2800" b="1" dirty="0">
                <a:solidFill>
                  <a:schemeClr val="bg1"/>
                </a:solidFill>
                <a:cs typeface="+mn-ea"/>
                <a:sym typeface="+mn-lt"/>
              </a:rPr>
              <a:t>11</a:t>
            </a:r>
            <a:r>
              <a:rPr lang="zh-CN" altLang="en-US" sz="2800" b="1" dirty="0">
                <a:solidFill>
                  <a:schemeClr val="bg1"/>
                </a:solidFill>
                <a:cs typeface="+mn-ea"/>
                <a:sym typeface="+mn-lt"/>
              </a:rPr>
              <a:t>章总结）</a:t>
            </a:r>
            <a:endParaRPr lang="zh-CN" altLang="en-US" sz="2800" b="1" dirty="0">
              <a:solidFill>
                <a:schemeClr val="bg1"/>
              </a:solidFill>
              <a:cs typeface="+mn-ea"/>
              <a:sym typeface="+mn-lt"/>
            </a:endParaRPr>
          </a:p>
        </p:txBody>
      </p:sp>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graphicFrame>
        <p:nvGraphicFramePr>
          <p:cNvPr id="9" name="表格 8"/>
          <p:cNvGraphicFramePr/>
          <p:nvPr>
            <p:custDataLst>
              <p:tags r:id="rId2"/>
            </p:custDataLst>
          </p:nvPr>
        </p:nvGraphicFramePr>
        <p:xfrm>
          <a:off x="462431" y="1634204"/>
          <a:ext cx="4173963" cy="4789452"/>
        </p:xfrm>
        <a:graphic>
          <a:graphicData uri="http://schemas.openxmlformats.org/drawingml/2006/table">
            <a:tbl>
              <a:tblPr firstRow="1" bandRow="1">
                <a:tableStyleId>{72833802-FEF1-4C79-8D5D-14CF1EAF98D9}</a:tableStyleId>
              </a:tblPr>
              <a:tblGrid>
                <a:gridCol w="1221039"/>
                <a:gridCol w="2952924"/>
              </a:tblGrid>
              <a:tr h="399121">
                <a:tc>
                  <a:txBody>
                    <a:bodyPr/>
                    <a:lstStyle/>
                    <a:p>
                      <a:pPr marL="71755" indent="0" algn="ctr">
                        <a:lnSpc>
                          <a:spcPct val="100000"/>
                        </a:lnSpc>
                        <a:spcBef>
                          <a:spcPts val="300"/>
                        </a:spcBef>
                        <a:spcAft>
                          <a:spcPts val="300"/>
                        </a:spcAft>
                        <a:buNone/>
                      </a:pPr>
                      <a:r>
                        <a:rPr lang="en-US" sz="2000" b="0" dirty="0">
                          <a:solidFill>
                            <a:schemeClr val="tx1"/>
                          </a:solidFill>
                          <a:latin typeface="+mn-lt"/>
                          <a:ea typeface="+mn-ea"/>
                          <a:cs typeface="+mn-ea"/>
                          <a:sym typeface="+mn-lt"/>
                        </a:rPr>
                        <a:t>第1章</a:t>
                      </a:r>
                      <a:endParaRPr lang="en-US" altLang="en-US" sz="2000" b="0" dirty="0">
                        <a:solidFill>
                          <a:schemeClr val="tx1"/>
                        </a:solidFill>
                        <a:latin typeface="+mn-lt"/>
                        <a:ea typeface="+mn-ea"/>
                        <a:cs typeface="+mn-ea"/>
                        <a:sym typeface="+mn-lt"/>
                      </a:endParaRPr>
                    </a:p>
                  </a:txBody>
                  <a:tcPr marL="98738" marR="98738" marT="0" marB="0" anchor="ctr">
                    <a:noFill/>
                  </a:tcPr>
                </a:tc>
                <a:tc>
                  <a:txBody>
                    <a:bodyPr/>
                    <a:lstStyle/>
                    <a:p>
                      <a:pPr marL="71755" indent="0" algn="l">
                        <a:lnSpc>
                          <a:spcPct val="100000"/>
                        </a:lnSpc>
                        <a:spcBef>
                          <a:spcPts val="300"/>
                        </a:spcBef>
                        <a:spcAft>
                          <a:spcPts val="300"/>
                        </a:spcAft>
                        <a:buNone/>
                      </a:pPr>
                      <a:r>
                        <a:rPr lang="en-US" sz="2000" b="0" dirty="0" err="1">
                          <a:solidFill>
                            <a:schemeClr val="tx1"/>
                          </a:solidFill>
                          <a:latin typeface="+mn-lt"/>
                          <a:ea typeface="+mn-ea"/>
                          <a:cs typeface="+mn-ea"/>
                          <a:sym typeface="+mn-lt"/>
                        </a:rPr>
                        <a:t>操作系统引论</a:t>
                      </a:r>
                      <a:endParaRPr lang="en-US" altLang="en-US" sz="2000" b="0" dirty="0">
                        <a:solidFill>
                          <a:schemeClr val="tx1"/>
                        </a:solidFill>
                        <a:latin typeface="+mn-lt"/>
                        <a:ea typeface="+mn-ea"/>
                        <a:cs typeface="+mn-ea"/>
                        <a:sym typeface="+mn-lt"/>
                      </a:endParaRPr>
                    </a:p>
                  </a:txBody>
                  <a:tcPr marL="98738" marR="98738" marT="0" marB="0" anchor="ctr">
                    <a:noFill/>
                  </a:tcP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第2章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进程的描述与控制</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mn-lt"/>
                          <a:ea typeface="+mn-ea"/>
                          <a:cs typeface="+mn-ea"/>
                          <a:sym typeface="+mn-lt"/>
                        </a:rPr>
                        <a:t>第3章</a:t>
                      </a:r>
                      <a:endParaRPr lang="en-US" altLang="en-US" sz="2000" b="0" dirty="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处理机调度与死锁</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mn-lt"/>
                          <a:ea typeface="+mn-ea"/>
                          <a:cs typeface="+mn-ea"/>
                          <a:sym typeface="+mn-lt"/>
                        </a:rPr>
                        <a:t>第4章</a:t>
                      </a:r>
                      <a:endParaRPr lang="en-US" altLang="en-US" sz="2000" b="0" dirty="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进程同步</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第5章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存储器管理</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mn-lt"/>
                          <a:ea typeface="+mn-ea"/>
                          <a:cs typeface="+mn-ea"/>
                          <a:sym typeface="+mn-lt"/>
                        </a:rPr>
                        <a:t>第6章</a:t>
                      </a:r>
                      <a:endParaRPr lang="en-US" altLang="en-US" sz="2000" b="0" dirty="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虚拟存储器</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第7章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输入</a:t>
                      </a:r>
                      <a:r>
                        <a:rPr lang="en-US" sz="2000" dirty="0">
                          <a:latin typeface="+mn-lt"/>
                          <a:ea typeface="+mn-ea"/>
                          <a:cs typeface="+mn-ea"/>
                          <a:sym typeface="+mn-lt"/>
                        </a:rPr>
                        <a:t>/</a:t>
                      </a:r>
                      <a:r>
                        <a:rPr lang="en-US" sz="2000" dirty="0" err="1">
                          <a:latin typeface="+mn-lt"/>
                          <a:ea typeface="+mn-ea"/>
                          <a:cs typeface="+mn-ea"/>
                          <a:sym typeface="+mn-lt"/>
                        </a:rPr>
                        <a:t>输出系统</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第8章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文件管理</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第9章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磁盘存储器管理</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l" defTabSz="914400" rtl="0" eaLnBrk="1" latinLnBrk="0" hangingPunct="1">
                        <a:lnSpc>
                          <a:spcPct val="100000"/>
                        </a:lnSpc>
                        <a:spcBef>
                          <a:spcPts val="300"/>
                        </a:spcBef>
                        <a:spcAft>
                          <a:spcPts val="300"/>
                        </a:spcAft>
                        <a:buNone/>
                      </a:pPr>
                      <a:r>
                        <a:rPr lang="en-US" sz="2000" kern="1200" dirty="0">
                          <a:solidFill>
                            <a:schemeClr val="tx1"/>
                          </a:solidFill>
                          <a:latin typeface="+mn-lt"/>
                          <a:ea typeface="+mn-ea"/>
                          <a:cs typeface="+mn-ea"/>
                          <a:sym typeface="+mn-lt"/>
                        </a:rPr>
                        <a:t>第10章</a:t>
                      </a:r>
                      <a:endParaRPr lang="en-US" altLang="en-US" sz="2000" kern="1200" dirty="0">
                        <a:solidFill>
                          <a:schemeClr val="tx1"/>
                        </a:solidFill>
                        <a:latin typeface="+mn-lt"/>
                        <a:ea typeface="+mn-ea"/>
                        <a:cs typeface="+mn-ea"/>
                        <a:sym typeface="+mn-lt"/>
                      </a:endParaRPr>
                    </a:p>
                  </a:txBody>
                  <a:tcPr marL="98738" marR="98738" marT="0" marB="0" anchor="ctr">
                    <a:noFill/>
                  </a:tcPr>
                </a:tc>
                <a:tc>
                  <a:txBody>
                    <a:bodyPr/>
                    <a:lstStyle/>
                    <a:p>
                      <a:pPr marL="71755" indent="0" algn="l" defTabSz="914400" rtl="0" eaLnBrk="1" latinLnBrk="0" hangingPunct="1">
                        <a:lnSpc>
                          <a:spcPct val="100000"/>
                        </a:lnSpc>
                        <a:spcBef>
                          <a:spcPts val="300"/>
                        </a:spcBef>
                        <a:spcAft>
                          <a:spcPts val="300"/>
                        </a:spcAft>
                        <a:buNone/>
                      </a:pPr>
                      <a:r>
                        <a:rPr lang="en-US" sz="2000" kern="1200" dirty="0" err="1">
                          <a:solidFill>
                            <a:schemeClr val="tx1"/>
                          </a:solidFill>
                          <a:latin typeface="+mn-lt"/>
                          <a:ea typeface="+mn-ea"/>
                          <a:cs typeface="+mn-ea"/>
                          <a:sym typeface="+mn-lt"/>
                        </a:rPr>
                        <a:t>多处理机操作系统</a:t>
                      </a:r>
                      <a:endParaRPr lang="en-US" altLang="en-US" sz="2000" kern="1200" dirty="0">
                        <a:solidFill>
                          <a:schemeClr val="tx1"/>
                        </a:solidFill>
                        <a:latin typeface="+mn-lt"/>
                        <a:ea typeface="+mn-ea"/>
                        <a:cs typeface="+mn-ea"/>
                        <a:sym typeface="+mn-lt"/>
                      </a:endParaRPr>
                    </a:p>
                  </a:txBody>
                  <a:tcPr marL="98738" marR="98738" marT="0" marB="0" anchor="ctr">
                    <a:noFill/>
                  </a:tcPr>
                </a:tc>
              </a:tr>
              <a:tr h="399121">
                <a:tc>
                  <a:txBody>
                    <a:bodyPr/>
                    <a:lstStyle/>
                    <a:p>
                      <a:pPr marL="71755" indent="0" algn="l" defTabSz="914400" rtl="0" eaLnBrk="1" latinLnBrk="0" hangingPunct="1">
                        <a:lnSpc>
                          <a:spcPct val="100000"/>
                        </a:lnSpc>
                        <a:spcBef>
                          <a:spcPts val="300"/>
                        </a:spcBef>
                        <a:spcAft>
                          <a:spcPts val="300"/>
                        </a:spcAft>
                        <a:buNone/>
                      </a:pPr>
                      <a:r>
                        <a:rPr lang="en-US" sz="2000" b="1" kern="1200" dirty="0">
                          <a:solidFill>
                            <a:schemeClr val="bg1"/>
                          </a:solidFill>
                          <a:latin typeface="+mn-lt"/>
                          <a:ea typeface="+mn-ea"/>
                          <a:cs typeface="+mn-ea"/>
                          <a:sym typeface="+mn-lt"/>
                        </a:rPr>
                        <a:t>第11章</a:t>
                      </a:r>
                      <a:endParaRPr lang="en-US" altLang="en-US" sz="2000" b="1" kern="1200" dirty="0">
                        <a:solidFill>
                          <a:schemeClr val="bg1"/>
                        </a:solidFill>
                        <a:latin typeface="+mn-lt"/>
                        <a:ea typeface="+mn-ea"/>
                        <a:cs typeface="+mn-ea"/>
                        <a:sym typeface="+mn-lt"/>
                      </a:endParaRPr>
                    </a:p>
                  </a:txBody>
                  <a:tcPr marL="98738" marR="98738" marT="0" marB="0" anchor="ctr">
                    <a:solidFill>
                      <a:srgbClr val="FFC000"/>
                    </a:solidFill>
                  </a:tcPr>
                </a:tc>
                <a:tc>
                  <a:txBody>
                    <a:bodyPr/>
                    <a:lstStyle/>
                    <a:p>
                      <a:pPr marL="71755" indent="0" algn="l" defTabSz="914400" rtl="0" eaLnBrk="1" latinLnBrk="0" hangingPunct="1">
                        <a:lnSpc>
                          <a:spcPct val="100000"/>
                        </a:lnSpc>
                        <a:spcBef>
                          <a:spcPts val="300"/>
                        </a:spcBef>
                        <a:spcAft>
                          <a:spcPts val="300"/>
                        </a:spcAft>
                        <a:buNone/>
                      </a:pPr>
                      <a:r>
                        <a:rPr lang="en-US" sz="2000" b="1" kern="1200" dirty="0" err="1">
                          <a:solidFill>
                            <a:schemeClr val="bg1"/>
                          </a:solidFill>
                          <a:latin typeface="+mn-lt"/>
                          <a:ea typeface="+mn-ea"/>
                          <a:cs typeface="+mn-ea"/>
                          <a:sym typeface="+mn-lt"/>
                        </a:rPr>
                        <a:t>虚拟化和云计算</a:t>
                      </a:r>
                      <a:endParaRPr lang="en-US" altLang="en-US" sz="2000" b="1" kern="1200" dirty="0">
                        <a:solidFill>
                          <a:schemeClr val="bg1"/>
                        </a:solidFill>
                        <a:latin typeface="+mn-lt"/>
                        <a:ea typeface="+mn-ea"/>
                        <a:cs typeface="+mn-ea"/>
                        <a:sym typeface="+mn-lt"/>
                      </a:endParaRPr>
                    </a:p>
                  </a:txBody>
                  <a:tcPr marL="98738" marR="98738" marT="0" marB="0" anchor="ctr">
                    <a:solidFill>
                      <a:srgbClr val="FFC000"/>
                    </a:solidFill>
                  </a:tcP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第12章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保护和安全</a:t>
                      </a:r>
                      <a:endParaRPr lang="en-US" altLang="en-US" sz="2000" b="0" dirty="0">
                        <a:solidFill>
                          <a:srgbClr val="000000"/>
                        </a:solidFill>
                        <a:latin typeface="+mn-lt"/>
                        <a:ea typeface="+mn-ea"/>
                        <a:cs typeface="+mn-ea"/>
                        <a:sym typeface="+mn-lt"/>
                      </a:endParaRPr>
                    </a:p>
                  </a:txBody>
                  <a:tcPr marL="98738" marR="98738" marT="0" marB="0" anchor="ctr"/>
                </a:tc>
              </a:tr>
            </a:tbl>
          </a:graphicData>
        </a:graphic>
      </p:graphicFrame>
      <p:pic>
        <p:nvPicPr>
          <p:cNvPr id="2" name="图片 1" descr="第11章 知识导图"/>
          <p:cNvPicPr>
            <a:picLocks noChangeAspect="1"/>
          </p:cNvPicPr>
          <p:nvPr/>
        </p:nvPicPr>
        <p:blipFill>
          <a:blip r:embed="rId3"/>
          <a:stretch>
            <a:fillRect/>
          </a:stretch>
        </p:blipFill>
        <p:spPr>
          <a:xfrm>
            <a:off x="4725035" y="1624965"/>
            <a:ext cx="7250430" cy="4526280"/>
          </a:xfrm>
          <a:prstGeom prst="rect">
            <a:avLst/>
          </a:prstGeom>
        </p:spPr>
      </p:pic>
      <p:sp>
        <p:nvSpPr>
          <p:cNvPr id="3" name="前凸带形 3"/>
          <p:cNvSpPr/>
          <p:nvPr/>
        </p:nvSpPr>
        <p:spPr>
          <a:xfrm>
            <a:off x="10178415" y="6330315"/>
            <a:ext cx="1756410" cy="337185"/>
          </a:xfrm>
          <a:prstGeom prst="ribbon">
            <a:avLst>
              <a:gd name="adj1" fmla="val 16667"/>
              <a:gd name="adj2" fmla="val 67555"/>
            </a:avLst>
          </a:prstGeom>
          <a:solidFill>
            <a:srgbClr val="00005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dirty="0">
                <a:solidFill>
                  <a:schemeClr val="bg1"/>
                </a:solidFill>
                <a:latin typeface="+mn-ea"/>
              </a:rPr>
              <a:t>本章学习结束</a:t>
            </a:r>
            <a:endParaRPr lang="zh-CN" altLang="en-US" sz="1200" b="1" dirty="0">
              <a:solidFill>
                <a:schemeClr val="bg1"/>
              </a:solidFill>
              <a:latin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第一次作业</a:t>
            </a:r>
            <a:endParaRPr lang="zh-CN" altLang="en-US" sz="2800" b="1" dirty="0">
              <a:solidFill>
                <a:schemeClr val="bg1"/>
              </a:solidFill>
              <a:cs typeface="+mn-ea"/>
              <a:sym typeface="+mn-lt"/>
            </a:endParaRPr>
          </a:p>
        </p:txBody>
      </p:sp>
      <p:sp>
        <p:nvSpPr>
          <p:cNvPr id="7" name="流程图: 预定义过程 6"/>
          <p:cNvSpPr/>
          <p:nvPr/>
        </p:nvSpPr>
        <p:spPr>
          <a:xfrm>
            <a:off x="1825001" y="2491751"/>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a:t>
            </a:r>
            <a:endParaRPr lang="en-US" altLang="zh-CN" sz="2800">
              <a:solidFill>
                <a:schemeClr val="tx1"/>
              </a:solidFill>
              <a:cs typeface="+mn-ea"/>
              <a:sym typeface="+mn-lt"/>
            </a:endParaRPr>
          </a:p>
        </p:txBody>
      </p:sp>
      <p:sp>
        <p:nvSpPr>
          <p:cNvPr id="10" name="矩形 9"/>
          <p:cNvSpPr/>
          <p:nvPr/>
        </p:nvSpPr>
        <p:spPr>
          <a:xfrm>
            <a:off x="1393201" y="2248546"/>
            <a:ext cx="9288780" cy="2520315"/>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p:cNvSpPr txBox="1"/>
          <p:nvPr/>
        </p:nvSpPr>
        <p:spPr>
          <a:xfrm>
            <a:off x="608370" y="2980731"/>
            <a:ext cx="553998" cy="1015663"/>
          </a:xfrm>
          <a:prstGeom prst="rect">
            <a:avLst/>
          </a:prstGeom>
          <a:noFill/>
        </p:spPr>
        <p:txBody>
          <a:bodyPr vert="eaVert" wrap="none" rtlCol="0">
            <a:spAutoFit/>
          </a:bodyPr>
          <a:lstStyle/>
          <a:p>
            <a:r>
              <a:rPr lang="zh-CN" altLang="en-US" sz="2400" dirty="0">
                <a:solidFill>
                  <a:schemeClr val="tx1"/>
                </a:solidFill>
                <a:cs typeface="+mn-ea"/>
                <a:sym typeface="+mn-lt"/>
              </a:rPr>
              <a:t>简答题</a:t>
            </a:r>
            <a:endParaRPr lang="zh-CN" altLang="en-US" sz="2400" dirty="0">
              <a:solidFill>
                <a:schemeClr val="tx1"/>
              </a:solidFill>
              <a:cs typeface="+mn-ea"/>
              <a:sym typeface="+mn-lt"/>
            </a:endParaRPr>
          </a:p>
        </p:txBody>
      </p:sp>
      <p:sp>
        <p:nvSpPr>
          <p:cNvPr id="19" name="流程图: 预定义过程 18"/>
          <p:cNvSpPr/>
          <p:nvPr/>
        </p:nvSpPr>
        <p:spPr>
          <a:xfrm>
            <a:off x="2926726" y="2491751"/>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2</a:t>
            </a:r>
            <a:endParaRPr lang="en-US" altLang="zh-CN" sz="2800">
              <a:solidFill>
                <a:schemeClr val="tx1"/>
              </a:solidFill>
              <a:cs typeface="+mn-ea"/>
              <a:sym typeface="+mn-lt"/>
            </a:endParaRPr>
          </a:p>
        </p:txBody>
      </p:sp>
      <p:sp>
        <p:nvSpPr>
          <p:cNvPr id="21" name="流程图: 预定义过程 20"/>
          <p:cNvSpPr/>
          <p:nvPr/>
        </p:nvSpPr>
        <p:spPr>
          <a:xfrm>
            <a:off x="4028451" y="249175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3</a:t>
            </a:r>
            <a:endParaRPr lang="en-US" altLang="zh-CN" sz="2800">
              <a:solidFill>
                <a:schemeClr val="tx1"/>
              </a:solidFill>
              <a:cs typeface="+mn-ea"/>
              <a:sym typeface="+mn-lt"/>
            </a:endParaRPr>
          </a:p>
        </p:txBody>
      </p:sp>
      <p:sp>
        <p:nvSpPr>
          <p:cNvPr id="22" name="流程图: 预定义过程 21"/>
          <p:cNvSpPr/>
          <p:nvPr/>
        </p:nvSpPr>
        <p:spPr>
          <a:xfrm>
            <a:off x="5130176" y="249175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4</a:t>
            </a:r>
            <a:endParaRPr lang="en-US" altLang="zh-CN" sz="2800">
              <a:solidFill>
                <a:schemeClr val="tx1"/>
              </a:solidFill>
              <a:cs typeface="+mn-ea"/>
              <a:sym typeface="+mn-lt"/>
            </a:endParaRPr>
          </a:p>
        </p:txBody>
      </p:sp>
      <p:sp>
        <p:nvSpPr>
          <p:cNvPr id="23" name="流程图: 预定义过程 22"/>
          <p:cNvSpPr/>
          <p:nvPr/>
        </p:nvSpPr>
        <p:spPr>
          <a:xfrm>
            <a:off x="6231901" y="249175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5</a:t>
            </a:r>
            <a:endParaRPr lang="en-US" altLang="zh-CN" sz="2800">
              <a:solidFill>
                <a:schemeClr val="tx1"/>
              </a:solidFill>
              <a:cs typeface="+mn-ea"/>
              <a:sym typeface="+mn-lt"/>
            </a:endParaRPr>
          </a:p>
        </p:txBody>
      </p:sp>
      <p:sp>
        <p:nvSpPr>
          <p:cNvPr id="24" name="流程图: 预定义过程 23"/>
          <p:cNvSpPr/>
          <p:nvPr/>
        </p:nvSpPr>
        <p:spPr>
          <a:xfrm>
            <a:off x="7333626" y="249175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6</a:t>
            </a:r>
            <a:endParaRPr lang="en-US" altLang="zh-CN" sz="2800">
              <a:solidFill>
                <a:schemeClr val="tx1"/>
              </a:solidFill>
              <a:cs typeface="+mn-ea"/>
              <a:sym typeface="+mn-lt"/>
            </a:endParaRPr>
          </a:p>
        </p:txBody>
      </p:sp>
      <p:sp>
        <p:nvSpPr>
          <p:cNvPr id="25" name="流程图: 预定义过程 24"/>
          <p:cNvSpPr/>
          <p:nvPr/>
        </p:nvSpPr>
        <p:spPr>
          <a:xfrm>
            <a:off x="8435351" y="249175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7</a:t>
            </a:r>
            <a:endParaRPr lang="en-US" altLang="zh-CN" sz="2800">
              <a:solidFill>
                <a:schemeClr val="tx1"/>
              </a:solidFill>
              <a:cs typeface="+mn-ea"/>
              <a:sym typeface="+mn-lt"/>
            </a:endParaRPr>
          </a:p>
        </p:txBody>
      </p:sp>
      <p:sp>
        <p:nvSpPr>
          <p:cNvPr id="26" name="流程图: 预定义过程 25"/>
          <p:cNvSpPr/>
          <p:nvPr/>
        </p:nvSpPr>
        <p:spPr>
          <a:xfrm>
            <a:off x="9537076" y="249175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8</a:t>
            </a:r>
            <a:endParaRPr lang="en-US" altLang="zh-CN" sz="2800">
              <a:solidFill>
                <a:schemeClr val="tx1"/>
              </a:solidFill>
              <a:cs typeface="+mn-ea"/>
              <a:sym typeface="+mn-lt"/>
            </a:endParaRPr>
          </a:p>
        </p:txBody>
      </p:sp>
      <p:sp>
        <p:nvSpPr>
          <p:cNvPr id="27" name="流程图: 预定义过程 26"/>
          <p:cNvSpPr/>
          <p:nvPr/>
        </p:nvSpPr>
        <p:spPr>
          <a:xfrm>
            <a:off x="1825001" y="325311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9</a:t>
            </a:r>
            <a:endParaRPr lang="en-US" altLang="zh-CN" sz="2800">
              <a:solidFill>
                <a:schemeClr val="tx1"/>
              </a:solidFill>
              <a:cs typeface="+mn-ea"/>
              <a:sym typeface="+mn-lt"/>
            </a:endParaRPr>
          </a:p>
        </p:txBody>
      </p:sp>
      <p:sp>
        <p:nvSpPr>
          <p:cNvPr id="28" name="流程图: 预定义过程 27"/>
          <p:cNvSpPr/>
          <p:nvPr/>
        </p:nvSpPr>
        <p:spPr>
          <a:xfrm>
            <a:off x="2926726" y="325311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10</a:t>
            </a:r>
            <a:endParaRPr lang="en-US" altLang="zh-CN" sz="2800">
              <a:solidFill>
                <a:schemeClr val="tx1"/>
              </a:solidFill>
              <a:cs typeface="+mn-ea"/>
              <a:sym typeface="+mn-lt"/>
            </a:endParaRPr>
          </a:p>
        </p:txBody>
      </p:sp>
      <p:sp>
        <p:nvSpPr>
          <p:cNvPr id="29" name="流程图: 预定义过程 28"/>
          <p:cNvSpPr/>
          <p:nvPr/>
        </p:nvSpPr>
        <p:spPr>
          <a:xfrm>
            <a:off x="4028451" y="325311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11</a:t>
            </a:r>
            <a:endParaRPr lang="en-US" altLang="zh-CN" sz="2800">
              <a:solidFill>
                <a:schemeClr val="tx1"/>
              </a:solidFill>
              <a:cs typeface="+mn-ea"/>
              <a:sym typeface="+mn-lt"/>
            </a:endParaRPr>
          </a:p>
        </p:txBody>
      </p:sp>
      <p:sp>
        <p:nvSpPr>
          <p:cNvPr id="30" name="流程图: 预定义过程 29"/>
          <p:cNvSpPr/>
          <p:nvPr/>
        </p:nvSpPr>
        <p:spPr>
          <a:xfrm>
            <a:off x="5130176" y="325311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12</a:t>
            </a:r>
            <a:endParaRPr lang="en-US" altLang="zh-CN" sz="2800">
              <a:solidFill>
                <a:schemeClr val="tx1"/>
              </a:solidFill>
              <a:cs typeface="+mn-ea"/>
              <a:sym typeface="+mn-lt"/>
            </a:endParaRPr>
          </a:p>
        </p:txBody>
      </p:sp>
      <p:sp>
        <p:nvSpPr>
          <p:cNvPr id="31" name="流程图: 预定义过程 30"/>
          <p:cNvSpPr/>
          <p:nvPr/>
        </p:nvSpPr>
        <p:spPr>
          <a:xfrm>
            <a:off x="6231901" y="325311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13</a:t>
            </a:r>
            <a:endParaRPr lang="en-US" altLang="zh-CN" sz="2800">
              <a:solidFill>
                <a:schemeClr val="tx1"/>
              </a:solidFill>
              <a:cs typeface="+mn-ea"/>
              <a:sym typeface="+mn-lt"/>
            </a:endParaRPr>
          </a:p>
        </p:txBody>
      </p:sp>
      <p:sp>
        <p:nvSpPr>
          <p:cNvPr id="32" name="流程图: 预定义过程 31"/>
          <p:cNvSpPr/>
          <p:nvPr/>
        </p:nvSpPr>
        <p:spPr>
          <a:xfrm>
            <a:off x="7333626" y="325311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14</a:t>
            </a:r>
            <a:endParaRPr lang="en-US" altLang="zh-CN" sz="2800">
              <a:solidFill>
                <a:schemeClr val="tx1"/>
              </a:solidFill>
              <a:cs typeface="+mn-ea"/>
              <a:sym typeface="+mn-lt"/>
            </a:endParaRPr>
          </a:p>
        </p:txBody>
      </p:sp>
      <p:sp>
        <p:nvSpPr>
          <p:cNvPr id="33" name="流程图: 预定义过程 32"/>
          <p:cNvSpPr/>
          <p:nvPr/>
        </p:nvSpPr>
        <p:spPr>
          <a:xfrm>
            <a:off x="8435351" y="325311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15</a:t>
            </a:r>
            <a:endParaRPr lang="en-US" altLang="zh-CN" sz="2800">
              <a:solidFill>
                <a:schemeClr val="tx1"/>
              </a:solidFill>
              <a:cs typeface="+mn-ea"/>
              <a:sym typeface="+mn-lt"/>
            </a:endParaRPr>
          </a:p>
        </p:txBody>
      </p:sp>
      <p:sp>
        <p:nvSpPr>
          <p:cNvPr id="34" name="流程图: 预定义过程 33"/>
          <p:cNvSpPr/>
          <p:nvPr/>
        </p:nvSpPr>
        <p:spPr>
          <a:xfrm>
            <a:off x="9537076" y="325311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16</a:t>
            </a:r>
            <a:endParaRPr lang="en-US" altLang="zh-CN" sz="2800">
              <a:solidFill>
                <a:schemeClr val="tx1"/>
              </a:solidFill>
              <a:cs typeface="+mn-ea"/>
              <a:sym typeface="+mn-lt"/>
            </a:endParaRPr>
          </a:p>
        </p:txBody>
      </p:sp>
      <p:sp>
        <p:nvSpPr>
          <p:cNvPr id="35" name="流程图: 预定义过程 34"/>
          <p:cNvSpPr/>
          <p:nvPr/>
        </p:nvSpPr>
        <p:spPr>
          <a:xfrm>
            <a:off x="1825001" y="400813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17</a:t>
            </a:r>
            <a:endParaRPr lang="en-US" altLang="zh-CN" sz="2800">
              <a:solidFill>
                <a:schemeClr val="tx1"/>
              </a:solidFill>
              <a:cs typeface="+mn-ea"/>
              <a:sym typeface="+mn-lt"/>
            </a:endParaRPr>
          </a:p>
        </p:txBody>
      </p:sp>
      <p:sp>
        <p:nvSpPr>
          <p:cNvPr id="36" name="流程图: 预定义过程 35"/>
          <p:cNvSpPr/>
          <p:nvPr/>
        </p:nvSpPr>
        <p:spPr>
          <a:xfrm>
            <a:off x="2926726" y="400813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18</a:t>
            </a:r>
            <a:endParaRPr lang="en-US" altLang="zh-CN" sz="2800">
              <a:solidFill>
                <a:schemeClr val="tx1"/>
              </a:solidFill>
              <a:cs typeface="+mn-ea"/>
              <a:sym typeface="+mn-lt"/>
            </a:endParaRPr>
          </a:p>
        </p:txBody>
      </p:sp>
      <p:sp>
        <p:nvSpPr>
          <p:cNvPr id="37" name="流程图: 预定义过程 36"/>
          <p:cNvSpPr/>
          <p:nvPr/>
        </p:nvSpPr>
        <p:spPr>
          <a:xfrm>
            <a:off x="4028451" y="400813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19</a:t>
            </a:r>
            <a:endParaRPr lang="en-US" altLang="zh-CN" sz="2800">
              <a:solidFill>
                <a:schemeClr val="tx1"/>
              </a:solidFill>
              <a:cs typeface="+mn-ea"/>
              <a:sym typeface="+mn-lt"/>
            </a:endParaRPr>
          </a:p>
        </p:txBody>
      </p:sp>
      <p:sp>
        <p:nvSpPr>
          <p:cNvPr id="38" name="流程图: 预定义过程 37"/>
          <p:cNvSpPr/>
          <p:nvPr/>
        </p:nvSpPr>
        <p:spPr>
          <a:xfrm>
            <a:off x="5130176" y="400813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20</a:t>
            </a:r>
            <a:endParaRPr lang="en-US" altLang="zh-CN" sz="2800">
              <a:solidFill>
                <a:schemeClr val="tx1"/>
              </a:solidFill>
              <a:cs typeface="+mn-ea"/>
              <a:sym typeface="+mn-lt"/>
            </a:endParaRPr>
          </a:p>
        </p:txBody>
      </p:sp>
      <p:sp>
        <p:nvSpPr>
          <p:cNvPr id="39" name="流程图: 预定义过程 38"/>
          <p:cNvSpPr/>
          <p:nvPr/>
        </p:nvSpPr>
        <p:spPr>
          <a:xfrm>
            <a:off x="6231901" y="400813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21</a:t>
            </a:r>
            <a:endParaRPr lang="en-US" altLang="zh-CN" sz="2800">
              <a:solidFill>
                <a:schemeClr val="tx1"/>
              </a:solidFill>
              <a:cs typeface="+mn-ea"/>
              <a:sym typeface="+mn-lt"/>
            </a:endParaRPr>
          </a:p>
        </p:txBody>
      </p:sp>
      <p:sp>
        <p:nvSpPr>
          <p:cNvPr id="40" name="流程图: 预定义过程 39"/>
          <p:cNvSpPr/>
          <p:nvPr/>
        </p:nvSpPr>
        <p:spPr>
          <a:xfrm>
            <a:off x="7333626" y="400813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22</a:t>
            </a:r>
            <a:endParaRPr lang="en-US" altLang="zh-CN" sz="2800">
              <a:solidFill>
                <a:schemeClr val="tx1"/>
              </a:solidFill>
              <a:cs typeface="+mn-ea"/>
              <a:sym typeface="+mn-lt"/>
            </a:endParaRPr>
          </a:p>
        </p:txBody>
      </p:sp>
      <p:sp>
        <p:nvSpPr>
          <p:cNvPr id="43" name="文本框 42"/>
          <p:cNvSpPr txBox="1"/>
          <p:nvPr/>
        </p:nvSpPr>
        <p:spPr>
          <a:xfrm>
            <a:off x="11064240" y="2214316"/>
            <a:ext cx="553998" cy="2554545"/>
          </a:xfrm>
          <a:prstGeom prst="rect">
            <a:avLst/>
          </a:prstGeom>
          <a:noFill/>
        </p:spPr>
        <p:txBody>
          <a:bodyPr vert="eaVert" wrap="none" rtlCol="0">
            <a:spAutoFit/>
          </a:bodyPr>
          <a:lstStyle/>
          <a:p>
            <a:r>
              <a:rPr lang="zh-CN" altLang="en-US" sz="2400" b="1" dirty="0">
                <a:cs typeface="+mn-ea"/>
                <a:sym typeface="+mn-lt"/>
              </a:rPr>
              <a:t>标黄色为本次作业</a:t>
            </a:r>
            <a:endParaRPr lang="zh-CN" altLang="en-US" sz="2400" b="1" dirty="0">
              <a:cs typeface="+mn-ea"/>
              <a:sym typeface="+mn-l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第二次作业</a:t>
            </a:r>
            <a:endParaRPr lang="zh-CN" altLang="en-US" sz="2800" b="1" dirty="0">
              <a:solidFill>
                <a:schemeClr val="bg1"/>
              </a:solidFill>
              <a:cs typeface="+mn-ea"/>
              <a:sym typeface="+mn-lt"/>
            </a:endParaRPr>
          </a:p>
        </p:txBody>
      </p:sp>
      <p:sp>
        <p:nvSpPr>
          <p:cNvPr id="7" name="流程图: 预定义过程 6"/>
          <p:cNvSpPr/>
          <p:nvPr/>
        </p:nvSpPr>
        <p:spPr>
          <a:xfrm>
            <a:off x="1825001" y="2633793"/>
            <a:ext cx="741045" cy="512445"/>
          </a:xfrm>
          <a:prstGeom prst="flowChartPredefined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a:t>
            </a:r>
            <a:endParaRPr lang="en-US" altLang="zh-CN" sz="2800">
              <a:solidFill>
                <a:schemeClr val="tx1"/>
              </a:solidFill>
              <a:cs typeface="+mn-ea"/>
              <a:sym typeface="+mn-lt"/>
            </a:endParaRPr>
          </a:p>
        </p:txBody>
      </p:sp>
      <p:sp>
        <p:nvSpPr>
          <p:cNvPr id="10" name="矩形 9"/>
          <p:cNvSpPr/>
          <p:nvPr/>
        </p:nvSpPr>
        <p:spPr>
          <a:xfrm>
            <a:off x="1393201" y="2390588"/>
            <a:ext cx="9288780" cy="2520315"/>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p:cNvSpPr txBox="1"/>
          <p:nvPr/>
        </p:nvSpPr>
        <p:spPr>
          <a:xfrm>
            <a:off x="608370" y="3122773"/>
            <a:ext cx="553998" cy="1015663"/>
          </a:xfrm>
          <a:prstGeom prst="rect">
            <a:avLst/>
          </a:prstGeom>
          <a:noFill/>
        </p:spPr>
        <p:txBody>
          <a:bodyPr vert="eaVert" wrap="none" rtlCol="0">
            <a:spAutoFit/>
          </a:bodyPr>
          <a:lstStyle/>
          <a:p>
            <a:r>
              <a:rPr lang="zh-CN" altLang="en-US" sz="2400" dirty="0">
                <a:solidFill>
                  <a:schemeClr val="tx1"/>
                </a:solidFill>
                <a:cs typeface="+mn-ea"/>
                <a:sym typeface="+mn-lt"/>
              </a:rPr>
              <a:t>简答题</a:t>
            </a:r>
            <a:endParaRPr lang="zh-CN" altLang="en-US" sz="2400" dirty="0">
              <a:solidFill>
                <a:schemeClr val="tx1"/>
              </a:solidFill>
              <a:cs typeface="+mn-ea"/>
              <a:sym typeface="+mn-lt"/>
            </a:endParaRPr>
          </a:p>
        </p:txBody>
      </p:sp>
      <p:sp>
        <p:nvSpPr>
          <p:cNvPr id="19" name="流程图: 预定义过程 18"/>
          <p:cNvSpPr/>
          <p:nvPr/>
        </p:nvSpPr>
        <p:spPr>
          <a:xfrm>
            <a:off x="2926726" y="2633793"/>
            <a:ext cx="741045" cy="512445"/>
          </a:xfrm>
          <a:prstGeom prst="flowChartPredefined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cs typeface="+mn-ea"/>
                <a:sym typeface="+mn-lt"/>
              </a:rPr>
              <a:t>2</a:t>
            </a:r>
            <a:endParaRPr lang="en-US" altLang="zh-CN" sz="2800" dirty="0">
              <a:solidFill>
                <a:schemeClr val="tx1"/>
              </a:solidFill>
              <a:cs typeface="+mn-ea"/>
              <a:sym typeface="+mn-lt"/>
            </a:endParaRPr>
          </a:p>
        </p:txBody>
      </p:sp>
      <p:sp>
        <p:nvSpPr>
          <p:cNvPr id="21" name="流程图: 预定义过程 20"/>
          <p:cNvSpPr/>
          <p:nvPr/>
        </p:nvSpPr>
        <p:spPr>
          <a:xfrm>
            <a:off x="4028451" y="2633793"/>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3</a:t>
            </a:r>
            <a:endParaRPr lang="en-US" altLang="zh-CN" sz="2800">
              <a:solidFill>
                <a:schemeClr val="tx1"/>
              </a:solidFill>
              <a:cs typeface="+mn-ea"/>
              <a:sym typeface="+mn-lt"/>
            </a:endParaRPr>
          </a:p>
        </p:txBody>
      </p:sp>
      <p:sp>
        <p:nvSpPr>
          <p:cNvPr id="22" name="流程图: 预定义过程 21"/>
          <p:cNvSpPr/>
          <p:nvPr/>
        </p:nvSpPr>
        <p:spPr>
          <a:xfrm>
            <a:off x="5130176" y="2633793"/>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4</a:t>
            </a:r>
            <a:endParaRPr lang="en-US" altLang="zh-CN" sz="2800">
              <a:solidFill>
                <a:schemeClr val="tx1"/>
              </a:solidFill>
              <a:cs typeface="+mn-ea"/>
              <a:sym typeface="+mn-lt"/>
            </a:endParaRPr>
          </a:p>
        </p:txBody>
      </p:sp>
      <p:sp>
        <p:nvSpPr>
          <p:cNvPr id="23" name="流程图: 预定义过程 22"/>
          <p:cNvSpPr/>
          <p:nvPr/>
        </p:nvSpPr>
        <p:spPr>
          <a:xfrm>
            <a:off x="6231901" y="2633793"/>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5</a:t>
            </a:r>
            <a:endParaRPr lang="en-US" altLang="zh-CN" sz="2800">
              <a:solidFill>
                <a:schemeClr val="tx1"/>
              </a:solidFill>
              <a:cs typeface="+mn-ea"/>
              <a:sym typeface="+mn-lt"/>
            </a:endParaRPr>
          </a:p>
        </p:txBody>
      </p:sp>
      <p:sp>
        <p:nvSpPr>
          <p:cNvPr id="24" name="流程图: 预定义过程 23"/>
          <p:cNvSpPr/>
          <p:nvPr/>
        </p:nvSpPr>
        <p:spPr>
          <a:xfrm>
            <a:off x="7333626" y="2633793"/>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6</a:t>
            </a:r>
            <a:endParaRPr lang="en-US" altLang="zh-CN" sz="2800">
              <a:solidFill>
                <a:schemeClr val="tx1"/>
              </a:solidFill>
              <a:cs typeface="+mn-ea"/>
              <a:sym typeface="+mn-lt"/>
            </a:endParaRPr>
          </a:p>
        </p:txBody>
      </p:sp>
      <p:sp>
        <p:nvSpPr>
          <p:cNvPr id="25" name="流程图: 预定义过程 24"/>
          <p:cNvSpPr/>
          <p:nvPr/>
        </p:nvSpPr>
        <p:spPr>
          <a:xfrm>
            <a:off x="8435351" y="263379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7</a:t>
            </a:r>
            <a:endParaRPr lang="en-US" altLang="zh-CN" sz="2800">
              <a:solidFill>
                <a:schemeClr val="tx1"/>
              </a:solidFill>
              <a:cs typeface="+mn-ea"/>
              <a:sym typeface="+mn-lt"/>
            </a:endParaRPr>
          </a:p>
        </p:txBody>
      </p:sp>
      <p:sp>
        <p:nvSpPr>
          <p:cNvPr id="26" name="流程图: 预定义过程 25"/>
          <p:cNvSpPr/>
          <p:nvPr/>
        </p:nvSpPr>
        <p:spPr>
          <a:xfrm>
            <a:off x="9537076" y="263379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8</a:t>
            </a:r>
            <a:endParaRPr lang="en-US" altLang="zh-CN" sz="2800">
              <a:solidFill>
                <a:schemeClr val="tx1"/>
              </a:solidFill>
              <a:cs typeface="+mn-ea"/>
              <a:sym typeface="+mn-lt"/>
            </a:endParaRPr>
          </a:p>
        </p:txBody>
      </p:sp>
      <p:sp>
        <p:nvSpPr>
          <p:cNvPr id="27" name="流程图: 预定义过程 26"/>
          <p:cNvSpPr/>
          <p:nvPr/>
        </p:nvSpPr>
        <p:spPr>
          <a:xfrm>
            <a:off x="1825001" y="3395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9</a:t>
            </a:r>
            <a:endParaRPr lang="en-US" altLang="zh-CN" sz="2800">
              <a:solidFill>
                <a:schemeClr val="tx1"/>
              </a:solidFill>
              <a:cs typeface="+mn-ea"/>
              <a:sym typeface="+mn-lt"/>
            </a:endParaRPr>
          </a:p>
        </p:txBody>
      </p:sp>
      <p:sp>
        <p:nvSpPr>
          <p:cNvPr id="28" name="流程图: 预定义过程 27"/>
          <p:cNvSpPr/>
          <p:nvPr/>
        </p:nvSpPr>
        <p:spPr>
          <a:xfrm>
            <a:off x="2926726" y="3395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10</a:t>
            </a:r>
            <a:endParaRPr lang="en-US" altLang="zh-CN" sz="2800">
              <a:solidFill>
                <a:schemeClr val="tx1"/>
              </a:solidFill>
              <a:cs typeface="+mn-ea"/>
              <a:sym typeface="+mn-lt"/>
            </a:endParaRPr>
          </a:p>
        </p:txBody>
      </p:sp>
      <p:sp>
        <p:nvSpPr>
          <p:cNvPr id="29" name="流程图: 预定义过程 28"/>
          <p:cNvSpPr/>
          <p:nvPr/>
        </p:nvSpPr>
        <p:spPr>
          <a:xfrm>
            <a:off x="4028451" y="3395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11</a:t>
            </a:r>
            <a:endParaRPr lang="en-US" altLang="zh-CN" sz="2800">
              <a:solidFill>
                <a:schemeClr val="tx1"/>
              </a:solidFill>
              <a:cs typeface="+mn-ea"/>
              <a:sym typeface="+mn-lt"/>
            </a:endParaRPr>
          </a:p>
        </p:txBody>
      </p:sp>
      <p:sp>
        <p:nvSpPr>
          <p:cNvPr id="30" name="流程图: 预定义过程 29"/>
          <p:cNvSpPr/>
          <p:nvPr/>
        </p:nvSpPr>
        <p:spPr>
          <a:xfrm>
            <a:off x="5130176" y="3395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12</a:t>
            </a:r>
            <a:endParaRPr lang="en-US" altLang="zh-CN" sz="2800">
              <a:solidFill>
                <a:schemeClr val="tx1"/>
              </a:solidFill>
              <a:cs typeface="+mn-ea"/>
              <a:sym typeface="+mn-lt"/>
            </a:endParaRPr>
          </a:p>
        </p:txBody>
      </p:sp>
      <p:sp>
        <p:nvSpPr>
          <p:cNvPr id="31" name="流程图: 预定义过程 30"/>
          <p:cNvSpPr/>
          <p:nvPr/>
        </p:nvSpPr>
        <p:spPr>
          <a:xfrm>
            <a:off x="6231901" y="3395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13</a:t>
            </a:r>
            <a:endParaRPr lang="en-US" altLang="zh-CN" sz="2800">
              <a:solidFill>
                <a:schemeClr val="tx1"/>
              </a:solidFill>
              <a:cs typeface="+mn-ea"/>
              <a:sym typeface="+mn-lt"/>
            </a:endParaRPr>
          </a:p>
        </p:txBody>
      </p:sp>
      <p:sp>
        <p:nvSpPr>
          <p:cNvPr id="32" name="流程图: 预定义过程 31"/>
          <p:cNvSpPr/>
          <p:nvPr/>
        </p:nvSpPr>
        <p:spPr>
          <a:xfrm>
            <a:off x="7333626" y="3395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14</a:t>
            </a:r>
            <a:endParaRPr lang="en-US" altLang="zh-CN" sz="2800">
              <a:solidFill>
                <a:schemeClr val="tx1"/>
              </a:solidFill>
              <a:cs typeface="+mn-ea"/>
              <a:sym typeface="+mn-lt"/>
            </a:endParaRPr>
          </a:p>
        </p:txBody>
      </p:sp>
      <p:sp>
        <p:nvSpPr>
          <p:cNvPr id="33" name="流程图: 预定义过程 32"/>
          <p:cNvSpPr/>
          <p:nvPr/>
        </p:nvSpPr>
        <p:spPr>
          <a:xfrm>
            <a:off x="8435351" y="3395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15</a:t>
            </a:r>
            <a:endParaRPr lang="en-US" altLang="zh-CN" sz="2800">
              <a:solidFill>
                <a:schemeClr val="tx1"/>
              </a:solidFill>
              <a:cs typeface="+mn-ea"/>
              <a:sym typeface="+mn-lt"/>
            </a:endParaRPr>
          </a:p>
        </p:txBody>
      </p:sp>
      <p:sp>
        <p:nvSpPr>
          <p:cNvPr id="34" name="流程图: 预定义过程 33"/>
          <p:cNvSpPr/>
          <p:nvPr/>
        </p:nvSpPr>
        <p:spPr>
          <a:xfrm>
            <a:off x="9537076" y="3395158"/>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16</a:t>
            </a:r>
            <a:endParaRPr lang="en-US" altLang="zh-CN" sz="2800">
              <a:solidFill>
                <a:schemeClr val="tx1"/>
              </a:solidFill>
              <a:cs typeface="+mn-ea"/>
              <a:sym typeface="+mn-lt"/>
            </a:endParaRPr>
          </a:p>
        </p:txBody>
      </p:sp>
      <p:sp>
        <p:nvSpPr>
          <p:cNvPr id="35" name="流程图: 预定义过程 34"/>
          <p:cNvSpPr/>
          <p:nvPr/>
        </p:nvSpPr>
        <p:spPr>
          <a:xfrm>
            <a:off x="1825001" y="415017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17</a:t>
            </a:r>
            <a:endParaRPr lang="en-US" altLang="zh-CN" sz="2800">
              <a:solidFill>
                <a:schemeClr val="tx1"/>
              </a:solidFill>
              <a:cs typeface="+mn-ea"/>
              <a:sym typeface="+mn-lt"/>
            </a:endParaRPr>
          </a:p>
        </p:txBody>
      </p:sp>
      <p:sp>
        <p:nvSpPr>
          <p:cNvPr id="36" name="流程图: 预定义过程 35"/>
          <p:cNvSpPr/>
          <p:nvPr/>
        </p:nvSpPr>
        <p:spPr>
          <a:xfrm>
            <a:off x="2926726" y="415017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18</a:t>
            </a:r>
            <a:endParaRPr lang="en-US" altLang="zh-CN" sz="2800">
              <a:solidFill>
                <a:schemeClr val="tx1"/>
              </a:solidFill>
              <a:cs typeface="+mn-ea"/>
              <a:sym typeface="+mn-lt"/>
            </a:endParaRPr>
          </a:p>
        </p:txBody>
      </p:sp>
      <p:sp>
        <p:nvSpPr>
          <p:cNvPr id="37" name="流程图: 预定义过程 36"/>
          <p:cNvSpPr/>
          <p:nvPr/>
        </p:nvSpPr>
        <p:spPr>
          <a:xfrm>
            <a:off x="4028451" y="415017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19</a:t>
            </a:r>
            <a:endParaRPr lang="en-US" altLang="zh-CN" sz="2800">
              <a:solidFill>
                <a:schemeClr val="tx1"/>
              </a:solidFill>
              <a:cs typeface="+mn-ea"/>
              <a:sym typeface="+mn-lt"/>
            </a:endParaRPr>
          </a:p>
        </p:txBody>
      </p:sp>
      <p:sp>
        <p:nvSpPr>
          <p:cNvPr id="38" name="流程图: 预定义过程 37"/>
          <p:cNvSpPr/>
          <p:nvPr/>
        </p:nvSpPr>
        <p:spPr>
          <a:xfrm>
            <a:off x="5130176" y="415017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20</a:t>
            </a:r>
            <a:endParaRPr lang="en-US" altLang="zh-CN" sz="2800">
              <a:solidFill>
                <a:schemeClr val="tx1"/>
              </a:solidFill>
              <a:cs typeface="+mn-ea"/>
              <a:sym typeface="+mn-lt"/>
            </a:endParaRPr>
          </a:p>
        </p:txBody>
      </p:sp>
      <p:sp>
        <p:nvSpPr>
          <p:cNvPr id="39" name="流程图: 预定义过程 38"/>
          <p:cNvSpPr/>
          <p:nvPr/>
        </p:nvSpPr>
        <p:spPr>
          <a:xfrm>
            <a:off x="6231901" y="415017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21</a:t>
            </a:r>
            <a:endParaRPr lang="en-US" altLang="zh-CN" sz="2800">
              <a:solidFill>
                <a:schemeClr val="tx1"/>
              </a:solidFill>
              <a:cs typeface="+mn-ea"/>
              <a:sym typeface="+mn-lt"/>
            </a:endParaRPr>
          </a:p>
        </p:txBody>
      </p:sp>
      <p:sp>
        <p:nvSpPr>
          <p:cNvPr id="40" name="流程图: 预定义过程 39"/>
          <p:cNvSpPr/>
          <p:nvPr/>
        </p:nvSpPr>
        <p:spPr>
          <a:xfrm>
            <a:off x="7333626" y="4150173"/>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22</a:t>
            </a:r>
            <a:endParaRPr lang="en-US" altLang="zh-CN" sz="2800">
              <a:solidFill>
                <a:schemeClr val="tx1"/>
              </a:solidFill>
              <a:cs typeface="+mn-ea"/>
              <a:sym typeface="+mn-lt"/>
            </a:endParaRPr>
          </a:p>
        </p:txBody>
      </p:sp>
      <p:sp>
        <p:nvSpPr>
          <p:cNvPr id="43" name="文本框 42"/>
          <p:cNvSpPr txBox="1"/>
          <p:nvPr/>
        </p:nvSpPr>
        <p:spPr>
          <a:xfrm>
            <a:off x="11064240" y="2356358"/>
            <a:ext cx="553998" cy="2554545"/>
          </a:xfrm>
          <a:prstGeom prst="rect">
            <a:avLst/>
          </a:prstGeom>
          <a:noFill/>
        </p:spPr>
        <p:txBody>
          <a:bodyPr vert="eaVert" wrap="none" rtlCol="0">
            <a:spAutoFit/>
          </a:bodyPr>
          <a:lstStyle/>
          <a:p>
            <a:r>
              <a:rPr lang="zh-CN" altLang="en-US" sz="2400" b="1" dirty="0">
                <a:cs typeface="+mn-ea"/>
                <a:sym typeface="+mn-lt"/>
              </a:rPr>
              <a:t>标黄色为本次作业</a:t>
            </a:r>
            <a:endParaRPr lang="zh-CN" altLang="en-US" sz="2400" b="1" dirty="0">
              <a:cs typeface="+mn-ea"/>
              <a:sym typeface="+mn-l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课程思政小讲堂</a:t>
            </a:r>
            <a:endParaRPr lang="zh-CN" altLang="en-US" sz="2800" b="1" dirty="0">
              <a:solidFill>
                <a:schemeClr val="bg1"/>
              </a:solidFill>
              <a:cs typeface="+mn-ea"/>
              <a:sym typeface="+mn-lt"/>
            </a:endParaRPr>
          </a:p>
        </p:txBody>
      </p:sp>
      <p:sp>
        <p:nvSpPr>
          <p:cNvPr id="52" name="内容占位符 3"/>
          <p:cNvSpPr txBox="1"/>
          <p:nvPr/>
        </p:nvSpPr>
        <p:spPr>
          <a:xfrm>
            <a:off x="962317" y="1144956"/>
            <a:ext cx="10267365"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cs typeface="+mn-ea"/>
                <a:sym typeface="+mn-lt"/>
              </a:rPr>
              <a:t>真实的华为鸿蒙系统，是否就是你心目中的国产操作系统？</a:t>
            </a:r>
            <a:endParaRPr lang="zh-CN" altLang="en-US" sz="2400" dirty="0">
              <a:solidFill>
                <a:srgbClr val="0000FF"/>
              </a:solidFill>
              <a:cs typeface="+mn-ea"/>
              <a:sym typeface="+mn-lt"/>
            </a:endParaRPr>
          </a:p>
          <a:p>
            <a:pPr marL="0" indent="457200" algn="just">
              <a:lnSpc>
                <a:spcPct val="125000"/>
              </a:lnSpc>
              <a:spcBef>
                <a:spcPts val="300"/>
              </a:spcBef>
              <a:spcAft>
                <a:spcPts val="300"/>
              </a:spcAft>
              <a:buFont typeface="Arial" panose="020B0604020202020204" pitchFamily="34" charset="0"/>
              <a:buNone/>
            </a:pPr>
            <a:r>
              <a:rPr lang="zh-CN" altLang="en-US" sz="2400" dirty="0">
                <a:cs typeface="+mn-ea"/>
                <a:sym typeface="+mn-lt"/>
              </a:rPr>
              <a:t> </a:t>
            </a:r>
            <a:r>
              <a:rPr lang="zh-CN" altLang="en-US" sz="2300" dirty="0">
                <a:cs typeface="+mn-ea"/>
                <a:sym typeface="+mn-lt"/>
              </a:rPr>
              <a:t>自</a:t>
            </a:r>
            <a:r>
              <a:rPr lang="en-US" altLang="zh-CN" sz="2300" dirty="0">
                <a:cs typeface="+mn-ea"/>
                <a:sym typeface="+mn-lt"/>
              </a:rPr>
              <a:t>2019</a:t>
            </a:r>
            <a:r>
              <a:rPr lang="zh-CN" altLang="en-US" sz="2300" dirty="0">
                <a:cs typeface="+mn-ea"/>
                <a:sym typeface="+mn-lt"/>
              </a:rPr>
              <a:t>年谷歌公司停止与华为的部分合作以来，华为鸿蒙系统便走上了历史发展的车道，并一直备受操作系统领域相关人士的高度关注。那么，华为鸿蒙系统究竟是怎样一个系统呢？它和你心目中的国产操作系统究竟相差几何？</a:t>
            </a:r>
            <a:endParaRPr lang="zh-CN" altLang="en-US" sz="2300" dirty="0">
              <a:cs typeface="+mn-ea"/>
              <a:sym typeface="+mn-lt"/>
            </a:endParaRPr>
          </a:p>
          <a:p>
            <a:pPr marL="0" indent="457200" algn="just">
              <a:lnSpc>
                <a:spcPct val="125000"/>
              </a:lnSpc>
              <a:spcBef>
                <a:spcPts val="300"/>
              </a:spcBef>
              <a:spcAft>
                <a:spcPts val="300"/>
              </a:spcAft>
              <a:buFont typeface="Arial" panose="020B0604020202020204" pitchFamily="34" charset="0"/>
              <a:buNone/>
            </a:pPr>
            <a:r>
              <a:rPr lang="zh-CN" altLang="en-US" sz="2300" dirty="0">
                <a:cs typeface="+mn-ea"/>
                <a:sym typeface="+mn-lt"/>
              </a:rPr>
              <a:t>鸿蒙系统</a:t>
            </a:r>
            <a:r>
              <a:rPr lang="en-US" altLang="zh-CN" sz="2300" dirty="0">
                <a:cs typeface="+mn-ea"/>
                <a:sym typeface="+mn-lt"/>
              </a:rPr>
              <a:t>OS 1.0</a:t>
            </a:r>
            <a:r>
              <a:rPr lang="zh-CN" altLang="en-US" sz="2300" dirty="0">
                <a:cs typeface="+mn-ea"/>
                <a:sym typeface="+mn-lt"/>
              </a:rPr>
              <a:t>：</a:t>
            </a:r>
            <a:r>
              <a:rPr lang="en-US" altLang="zh-CN" sz="2300" dirty="0">
                <a:cs typeface="+mn-ea"/>
                <a:sym typeface="+mn-lt"/>
              </a:rPr>
              <a:t>2019</a:t>
            </a:r>
            <a:r>
              <a:rPr lang="zh-CN" altLang="en-US" sz="2300" dirty="0">
                <a:cs typeface="+mn-ea"/>
                <a:sym typeface="+mn-lt"/>
              </a:rPr>
              <a:t>年</a:t>
            </a:r>
            <a:r>
              <a:rPr lang="en-US" altLang="zh-CN" sz="2300" dirty="0">
                <a:cs typeface="+mn-ea"/>
                <a:sym typeface="+mn-lt"/>
              </a:rPr>
              <a:t>8</a:t>
            </a:r>
            <a:r>
              <a:rPr lang="zh-CN" altLang="en-US" sz="2300" dirty="0">
                <a:cs typeface="+mn-ea"/>
                <a:sym typeface="+mn-lt"/>
              </a:rPr>
              <a:t>月</a:t>
            </a:r>
            <a:r>
              <a:rPr lang="en-US" altLang="zh-CN" sz="2300" dirty="0">
                <a:cs typeface="+mn-ea"/>
                <a:sym typeface="+mn-lt"/>
              </a:rPr>
              <a:t>9</a:t>
            </a:r>
            <a:r>
              <a:rPr lang="zh-CN" altLang="en-US" sz="2300" dirty="0">
                <a:cs typeface="+mn-ea"/>
                <a:sym typeface="+mn-lt"/>
              </a:rPr>
              <a:t>日，华为在广东东莞举行了华为开发者大会，正式发布了鸿蒙系统</a:t>
            </a:r>
            <a:r>
              <a:rPr lang="en-US" altLang="zh-CN" sz="2300" dirty="0">
                <a:cs typeface="+mn-ea"/>
                <a:sym typeface="+mn-lt"/>
              </a:rPr>
              <a:t>OS 1.0</a:t>
            </a:r>
            <a:r>
              <a:rPr lang="zh-CN" altLang="en-US" sz="2300" dirty="0">
                <a:cs typeface="+mn-ea"/>
                <a:sym typeface="+mn-lt"/>
              </a:rPr>
              <a:t>，并宣布实行开源。鸿蒙系统</a:t>
            </a:r>
            <a:r>
              <a:rPr lang="en-US" altLang="zh-CN" sz="2300" dirty="0">
                <a:cs typeface="+mn-ea"/>
                <a:sym typeface="+mn-lt"/>
              </a:rPr>
              <a:t>OS 1.0</a:t>
            </a:r>
            <a:r>
              <a:rPr lang="zh-CN" altLang="en-US" sz="2300" dirty="0">
                <a:cs typeface="+mn-ea"/>
                <a:sym typeface="+mn-lt"/>
              </a:rPr>
              <a:t>是一款“面向未来”的全场景分布式国产操作系统，可以按需扩展，实现更广泛的系统安全，主要用于智能手机、智慧屏、智能手表等物联网设备，特点是低时延。鸿蒙系统</a:t>
            </a:r>
            <a:r>
              <a:rPr lang="en-US" altLang="zh-CN" sz="2300" dirty="0">
                <a:cs typeface="+mn-ea"/>
                <a:sym typeface="+mn-lt"/>
              </a:rPr>
              <a:t>OS 1.0</a:t>
            </a:r>
            <a:r>
              <a:rPr lang="zh-CN" altLang="en-US" sz="2300" dirty="0">
                <a:cs typeface="+mn-ea"/>
                <a:sym typeface="+mn-lt"/>
              </a:rPr>
              <a:t>实现了模块化耦合，对于不同设备可进行弹性部署，设有三层架构：第一层是内核，第二层是基础服务，第三层是程序框架。</a:t>
            </a:r>
            <a:r>
              <a:rPr lang="en-US" altLang="zh-CN" sz="2300" dirty="0">
                <a:cs typeface="+mn-ea"/>
                <a:sym typeface="+mn-lt"/>
              </a:rPr>
              <a:t>2019</a:t>
            </a:r>
            <a:r>
              <a:rPr lang="zh-CN" altLang="en-US" sz="2300" dirty="0">
                <a:cs typeface="+mn-ea"/>
                <a:sym typeface="+mn-lt"/>
              </a:rPr>
              <a:t>年</a:t>
            </a:r>
            <a:r>
              <a:rPr lang="en-US" altLang="zh-CN" sz="2300" dirty="0">
                <a:cs typeface="+mn-ea"/>
                <a:sym typeface="+mn-lt"/>
              </a:rPr>
              <a:t>8</a:t>
            </a:r>
            <a:r>
              <a:rPr lang="zh-CN" altLang="en-US" sz="2300" dirty="0">
                <a:cs typeface="+mn-ea"/>
                <a:sym typeface="+mn-lt"/>
              </a:rPr>
              <a:t>月</a:t>
            </a:r>
            <a:r>
              <a:rPr lang="en-US" altLang="zh-CN" sz="2300" dirty="0">
                <a:cs typeface="+mn-ea"/>
                <a:sym typeface="+mn-lt"/>
              </a:rPr>
              <a:t>10</a:t>
            </a:r>
            <a:r>
              <a:rPr lang="zh-CN" altLang="en-US" sz="2300" dirty="0">
                <a:cs typeface="+mn-ea"/>
                <a:sym typeface="+mn-lt"/>
              </a:rPr>
              <a:t>日发布的荣耀智慧屏等设备，均搭载有鸿蒙系统</a:t>
            </a:r>
            <a:r>
              <a:rPr lang="en-US" altLang="zh-CN" sz="2300" dirty="0">
                <a:cs typeface="+mn-ea"/>
                <a:sym typeface="+mn-lt"/>
              </a:rPr>
              <a:t>OS 1.0</a:t>
            </a:r>
            <a:r>
              <a:rPr lang="zh-CN" altLang="en-US" sz="2300" dirty="0">
                <a:cs typeface="+mn-ea"/>
                <a:sym typeface="+mn-lt"/>
              </a:rPr>
              <a:t>。</a:t>
            </a:r>
            <a:endParaRPr lang="zh-CN" altLang="en-US" sz="2300" dirty="0">
              <a:cs typeface="+mn-ea"/>
              <a:sym typeface="+mn-l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课程思政小讲堂</a:t>
            </a:r>
            <a:endParaRPr lang="zh-CN" altLang="en-US" sz="2800" b="1" dirty="0">
              <a:solidFill>
                <a:schemeClr val="bg1"/>
              </a:solidFill>
              <a:cs typeface="+mn-ea"/>
              <a:sym typeface="+mn-lt"/>
            </a:endParaRPr>
          </a:p>
        </p:txBody>
      </p:sp>
      <p:sp>
        <p:nvSpPr>
          <p:cNvPr id="52" name="内容占位符 3"/>
          <p:cNvSpPr txBox="1"/>
          <p:nvPr/>
        </p:nvSpPr>
        <p:spPr>
          <a:xfrm>
            <a:off x="1069419" y="1109446"/>
            <a:ext cx="10267365"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cs typeface="+mn-ea"/>
                <a:sym typeface="+mn-lt"/>
              </a:rPr>
              <a:t>真实的华为鸿蒙系统，是否就是你心目中的国产操作系统？</a:t>
            </a:r>
            <a:endParaRPr lang="zh-CN" altLang="en-US" sz="2400" dirty="0">
              <a:solidFill>
                <a:srgbClr val="0000FF"/>
              </a:solidFill>
              <a:cs typeface="+mn-ea"/>
              <a:sym typeface="+mn-lt"/>
            </a:endParaRPr>
          </a:p>
          <a:p>
            <a:pPr marL="0" indent="457200" algn="just">
              <a:lnSpc>
                <a:spcPct val="125000"/>
              </a:lnSpc>
              <a:spcBef>
                <a:spcPts val="300"/>
              </a:spcBef>
              <a:spcAft>
                <a:spcPts val="300"/>
              </a:spcAft>
              <a:buFont typeface="Arial" panose="020B0604020202020204" pitchFamily="34" charset="0"/>
              <a:buNone/>
            </a:pPr>
            <a:r>
              <a:rPr lang="zh-CN" altLang="en-US" sz="2300" dirty="0">
                <a:cs typeface="+mn-ea"/>
                <a:sym typeface="+mn-lt"/>
              </a:rPr>
              <a:t> 鸿蒙系统</a:t>
            </a:r>
            <a:r>
              <a:rPr lang="en-US" altLang="zh-CN" sz="2300" dirty="0">
                <a:cs typeface="+mn-ea"/>
                <a:sym typeface="+mn-lt"/>
              </a:rPr>
              <a:t>OS 2.0</a:t>
            </a:r>
            <a:r>
              <a:rPr lang="zh-CN" altLang="en-US" sz="2300" dirty="0">
                <a:cs typeface="+mn-ea"/>
                <a:sym typeface="+mn-lt"/>
              </a:rPr>
              <a:t>：</a:t>
            </a:r>
            <a:r>
              <a:rPr lang="en-US" altLang="zh-CN" sz="2300" dirty="0">
                <a:cs typeface="+mn-ea"/>
                <a:sym typeface="+mn-lt"/>
              </a:rPr>
              <a:t>2020</a:t>
            </a:r>
            <a:r>
              <a:rPr lang="zh-CN" altLang="en-US" sz="2300" dirty="0">
                <a:cs typeface="+mn-ea"/>
                <a:sym typeface="+mn-lt"/>
              </a:rPr>
              <a:t>年</a:t>
            </a:r>
            <a:r>
              <a:rPr lang="en-US" altLang="zh-CN" sz="2300" dirty="0">
                <a:cs typeface="+mn-ea"/>
                <a:sym typeface="+mn-lt"/>
              </a:rPr>
              <a:t>9</a:t>
            </a:r>
            <a:r>
              <a:rPr lang="zh-CN" altLang="en-US" sz="2300" dirty="0">
                <a:cs typeface="+mn-ea"/>
                <a:sym typeface="+mn-lt"/>
              </a:rPr>
              <a:t>月</a:t>
            </a:r>
            <a:r>
              <a:rPr lang="en-US" altLang="zh-CN" sz="2300" dirty="0">
                <a:cs typeface="+mn-ea"/>
                <a:sym typeface="+mn-lt"/>
              </a:rPr>
              <a:t>10</a:t>
            </a:r>
            <a:r>
              <a:rPr lang="zh-CN" altLang="en-US" sz="2300" dirty="0">
                <a:cs typeface="+mn-ea"/>
                <a:sym typeface="+mn-lt"/>
              </a:rPr>
              <a:t>日，鸿蒙系统</a:t>
            </a:r>
            <a:r>
              <a:rPr lang="en-US" altLang="zh-CN" sz="2300" dirty="0">
                <a:cs typeface="+mn-ea"/>
                <a:sym typeface="+mn-lt"/>
              </a:rPr>
              <a:t>OS 1.0</a:t>
            </a:r>
            <a:r>
              <a:rPr lang="zh-CN" altLang="en-US" sz="2300" dirty="0">
                <a:cs typeface="+mn-ea"/>
                <a:sym typeface="+mn-lt"/>
              </a:rPr>
              <a:t>升级至鸿蒙系统</a:t>
            </a:r>
            <a:r>
              <a:rPr lang="en-US" altLang="zh-CN" sz="2300" dirty="0">
                <a:cs typeface="+mn-ea"/>
                <a:sym typeface="+mn-lt"/>
              </a:rPr>
              <a:t>OS 2.0</a:t>
            </a:r>
            <a:r>
              <a:rPr lang="zh-CN" altLang="en-US" sz="2300" dirty="0">
                <a:cs typeface="+mn-ea"/>
                <a:sym typeface="+mn-lt"/>
              </a:rPr>
              <a:t>，在关键的分布式软总线、分布式数据管理、分布式安全等分布式能力上进行了全面升级，为开发者提供了完整的分布式设备与应用开发生态。目前，华为已与美的集团、九阳股份有限公司等家电厂商建立了合作关系，这些厂商将发布搭载鸿蒙系统</a:t>
            </a:r>
            <a:r>
              <a:rPr lang="en-US" altLang="zh-CN" sz="2300" dirty="0">
                <a:cs typeface="+mn-ea"/>
                <a:sym typeface="+mn-lt"/>
              </a:rPr>
              <a:t>OS 2.0</a:t>
            </a:r>
            <a:r>
              <a:rPr lang="zh-CN" altLang="en-US" sz="2300" dirty="0">
                <a:cs typeface="+mn-ea"/>
                <a:sym typeface="+mn-lt"/>
              </a:rPr>
              <a:t>的全新家电产品。此外，在</a:t>
            </a:r>
            <a:r>
              <a:rPr lang="en-US" altLang="zh-CN" sz="2300" dirty="0">
                <a:cs typeface="+mn-ea"/>
                <a:sym typeface="+mn-lt"/>
              </a:rPr>
              <a:t>2021</a:t>
            </a:r>
            <a:r>
              <a:rPr lang="zh-CN" altLang="en-US" sz="2300" dirty="0">
                <a:cs typeface="+mn-ea"/>
                <a:sym typeface="+mn-lt"/>
              </a:rPr>
              <a:t>年初，华为面向旗下部分型号的手机提供了升级渠道；目前，</a:t>
            </a:r>
            <a:r>
              <a:rPr lang="en-US" altLang="zh-CN" sz="2300" dirty="0">
                <a:cs typeface="+mn-ea"/>
                <a:sym typeface="+mn-lt"/>
              </a:rPr>
              <a:t>90</a:t>
            </a:r>
            <a:r>
              <a:rPr lang="zh-CN" altLang="en-US" sz="2300" dirty="0">
                <a:cs typeface="+mn-ea"/>
                <a:sym typeface="+mn-lt"/>
              </a:rPr>
              <a:t>％以上的华为手机均可升级至鸿蒙系统</a:t>
            </a:r>
            <a:r>
              <a:rPr lang="en-US" altLang="zh-CN" sz="2300" dirty="0">
                <a:cs typeface="+mn-ea"/>
                <a:sym typeface="+mn-lt"/>
              </a:rPr>
              <a:t>OS 2.0</a:t>
            </a:r>
            <a:r>
              <a:rPr lang="zh-CN" altLang="en-US" sz="2300" dirty="0">
                <a:cs typeface="+mn-ea"/>
                <a:sym typeface="+mn-lt"/>
              </a:rPr>
              <a:t>。这些都会极大程度地促进华为快速构建鸿蒙系统的应用生态。</a:t>
            </a:r>
            <a:endParaRPr lang="zh-CN" altLang="en-US" sz="2300" dirty="0">
              <a:cs typeface="+mn-ea"/>
              <a:sym typeface="+mn-lt"/>
            </a:endParaRPr>
          </a:p>
          <a:p>
            <a:pPr marL="0" indent="457200" algn="just">
              <a:lnSpc>
                <a:spcPct val="125000"/>
              </a:lnSpc>
              <a:spcBef>
                <a:spcPts val="300"/>
              </a:spcBef>
              <a:spcAft>
                <a:spcPts val="300"/>
              </a:spcAft>
              <a:buFont typeface="Arial" panose="020B0604020202020204" pitchFamily="34" charset="0"/>
              <a:buNone/>
            </a:pPr>
            <a:r>
              <a:rPr lang="zh-CN" altLang="en-US" sz="2300" dirty="0">
                <a:cs typeface="+mn-ea"/>
                <a:sym typeface="+mn-lt"/>
              </a:rPr>
              <a:t>综上所述可知，华为鸿蒙系统的诞生，已然拉开了永久性改变全球操作系统格局的序幕，</a:t>
            </a:r>
            <a:r>
              <a:rPr lang="zh-CN" altLang="en-US" sz="2300" u="sng" dirty="0">
                <a:cs typeface="+mn-ea"/>
                <a:sym typeface="+mn-lt"/>
              </a:rPr>
              <a:t>坚信在此背景下，自主可控的国产操作系统一定可以早日在世界操作系统领域发挥核心引领作用。</a:t>
            </a:r>
            <a:endParaRPr lang="zh-CN" altLang="en-US" sz="2300" u="sng" dirty="0">
              <a:cs typeface="+mn-ea"/>
              <a:sym typeface="+mn-lt"/>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THINKCELLSHAPEDONOTDELETE" val="thinkcellActiveDocDoNotDelete"/>
</p:tagLst>
</file>

<file path=ppt/tags/tag7.xml><?xml version="1.0" encoding="utf-8"?>
<p:tagLst xmlns:p="http://schemas.openxmlformats.org/presentationml/2006/main">
  <p:tag name="THINKCELLSHAPEDONOTDELETE" val="tA6S0wzOvQ8a50SA42PUNRg"/>
</p:tagLst>
</file>

<file path=ppt/tags/tag8.xml><?xml version="1.0" encoding="utf-8"?>
<p:tagLst xmlns:p="http://schemas.openxmlformats.org/presentationml/2006/main">
  <p:tag name="KSO_WM_UNIT_TABLE_BEAUTIFY" val="smartTable{58a06314-7e72-4d48-85a8-7253ed818c17}"/>
</p:tagLst>
</file>

<file path=ppt/tags/tag9.xml><?xml version="1.0" encoding="utf-8"?>
<p:tagLst xmlns:p="http://schemas.openxmlformats.org/presentationml/2006/main">
  <p:tag name="ISLIDE.DIAGRAM" val="217641"/>
</p:tagLst>
</file>

<file path=ppt/tags/tag10.xml><?xml version="1.0" encoding="utf-8"?>
<p:tagLst xmlns:p="http://schemas.openxmlformats.org/presentationml/2006/main">
  <p:tag name="ISLIDE.DIAGRAM" val="272399"/>
</p:tagLst>
</file>

<file path=ppt/tags/tag11.xml><?xml version="1.0" encoding="utf-8"?>
<p:tagLst xmlns:p="http://schemas.openxmlformats.org/presentationml/2006/main">
  <p:tag name="ISLIDE.DIAGRAM" val="217641"/>
</p:tagLst>
</file>

<file path=ppt/tags/tag12.xml><?xml version="1.0" encoding="utf-8"?>
<p:tagLst xmlns:p="http://schemas.openxmlformats.org/presentationml/2006/main">
  <p:tag name="KSO_WM_UNIT_TABLE_BEAUTIFY" val="smartTable{58a06314-7e72-4d48-85a8-7253ed818c17}"/>
</p:tagLst>
</file>

<file path=ppt/tags/tag13.xml><?xml version="1.0" encoding="utf-8"?>
<p:tagLst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074baa65-1bcf-453b-aed6-4412331b316e"/>
  <p:tag name="commondata" val="eyJoZGlkIjoiMzEwNTM5NzYwMDRjMzkwZTVkZjY2ODkwMGIxNGU0OTUifQ=="/>
</p:tagLst>
</file>

<file path=ppt/theme/theme1.xml><?xml version="1.0" encoding="utf-8"?>
<a:theme xmlns:a="http://schemas.openxmlformats.org/drawingml/2006/main" name="主题5">
  <a:themeElements>
    <a:clrScheme name="自定义 15">
      <a:dk1>
        <a:srgbClr val="000000"/>
      </a:dk1>
      <a:lt1>
        <a:srgbClr val="FFFFFF"/>
      </a:lt1>
      <a:dk2>
        <a:srgbClr val="768394"/>
      </a:dk2>
      <a:lt2>
        <a:srgbClr val="F0F0F0"/>
      </a:lt2>
      <a:accent1>
        <a:srgbClr val="07416B"/>
      </a:accent1>
      <a:accent2>
        <a:srgbClr val="FFC000"/>
      </a:accent2>
      <a:accent3>
        <a:srgbClr val="00002E"/>
      </a:accent3>
      <a:accent4>
        <a:srgbClr val="031684"/>
      </a:accent4>
      <a:accent5>
        <a:srgbClr val="969696"/>
      </a:accent5>
      <a:accent6>
        <a:srgbClr val="B2B2B2"/>
      </a:accent6>
      <a:hlink>
        <a:srgbClr val="4472C4"/>
      </a:hlink>
      <a:folHlink>
        <a:srgbClr val="BFBFBF"/>
      </a:folHlink>
    </a:clrScheme>
    <a:fontScheme name="3at4k55a">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0</TotalTime>
  <Words>7524</Words>
  <Application>WPS 演示</Application>
  <PresentationFormat>宽屏</PresentationFormat>
  <Paragraphs>621</Paragraphs>
  <Slides>38</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38</vt:i4>
      </vt:variant>
    </vt:vector>
  </HeadingPairs>
  <TitlesOfParts>
    <vt:vector size="48" baseType="lpstr">
      <vt:lpstr>Arial</vt:lpstr>
      <vt:lpstr>宋体</vt:lpstr>
      <vt:lpstr>Wingdings</vt:lpstr>
      <vt:lpstr>Times New Roman</vt:lpstr>
      <vt:lpstr>微软雅黑</vt:lpstr>
      <vt:lpstr>Impact</vt:lpstr>
      <vt:lpstr>Arial Unicode MS</vt:lpstr>
      <vt:lpstr>Calibri</vt:lpstr>
      <vt:lpstr>主题5</vt:lpstr>
      <vt:lpstr>TCLayout.ActiveDocument.1</vt:lpstr>
      <vt:lpstr>第11章 虚拟化和云计算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iSlide</Company>
  <LinksUpToDate>false</LinksUpToDate>
  <SharedDoc>false</SharedDoc>
  <HyperlinksChanged>false</HyperlinksChanged>
  <AppVersion>14.0000</AppVersion>
  <Manager>iSlide</Manager>
  <HyperlinkBase>https://www.islide.cc</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wp</cp:lastModifiedBy>
  <cp:revision>147</cp:revision>
  <cp:lastPrinted>2019-04-18T16:00:00Z</cp:lastPrinted>
  <dcterms:created xsi:type="dcterms:W3CDTF">2019-04-18T16:00:00Z</dcterms:created>
  <dcterms:modified xsi:type="dcterms:W3CDTF">2024-03-05T15:59:38Z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F4CDD377802A40B9B087EE5ED411A593</vt:lpwstr>
  </property>
  <property fmtid="{D5CDD505-2E9C-101B-9397-08002B2CF9AE}" pid="4" name="KSOProductBuildVer">
    <vt:lpwstr>2052-12.1.0.16250</vt:lpwstr>
  </property>
</Properties>
</file>