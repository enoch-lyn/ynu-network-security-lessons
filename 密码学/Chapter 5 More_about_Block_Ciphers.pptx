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1.xml" ContentType="application/inkml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939" r:id="rId2"/>
  </p:sldMasterIdLst>
  <p:notesMasterIdLst>
    <p:notesMasterId r:id="rId52"/>
  </p:notesMasterIdLst>
  <p:handoutMasterIdLst>
    <p:handoutMasterId r:id="rId53"/>
  </p:handoutMasterIdLst>
  <p:sldIdLst>
    <p:sldId id="368" r:id="rId3"/>
    <p:sldId id="443" r:id="rId4"/>
    <p:sldId id="446" r:id="rId5"/>
    <p:sldId id="444" r:id="rId6"/>
    <p:sldId id="445" r:id="rId7"/>
    <p:sldId id="447" r:id="rId8"/>
    <p:sldId id="449" r:id="rId9"/>
    <p:sldId id="1443" r:id="rId10"/>
    <p:sldId id="450" r:id="rId11"/>
    <p:sldId id="451" r:id="rId12"/>
    <p:sldId id="452" r:id="rId13"/>
    <p:sldId id="453" r:id="rId14"/>
    <p:sldId id="454" r:id="rId15"/>
    <p:sldId id="455" r:id="rId16"/>
    <p:sldId id="1445" r:id="rId17"/>
    <p:sldId id="456" r:id="rId18"/>
    <p:sldId id="458" r:id="rId19"/>
    <p:sldId id="457" r:id="rId20"/>
    <p:sldId id="1449" r:id="rId21"/>
    <p:sldId id="1450" r:id="rId22"/>
    <p:sldId id="459" r:id="rId23"/>
    <p:sldId id="448" r:id="rId24"/>
    <p:sldId id="1447" r:id="rId25"/>
    <p:sldId id="1476" r:id="rId26"/>
    <p:sldId id="462" r:id="rId27"/>
    <p:sldId id="461" r:id="rId28"/>
    <p:sldId id="1451" r:id="rId29"/>
    <p:sldId id="1452" r:id="rId30"/>
    <p:sldId id="463" r:id="rId31"/>
    <p:sldId id="1455" r:id="rId32"/>
    <p:sldId id="1456" r:id="rId33"/>
    <p:sldId id="1457" r:id="rId34"/>
    <p:sldId id="1458" r:id="rId35"/>
    <p:sldId id="1459" r:id="rId36"/>
    <p:sldId id="1480" r:id="rId37"/>
    <p:sldId id="1460" r:id="rId38"/>
    <p:sldId id="467" r:id="rId39"/>
    <p:sldId id="468" r:id="rId40"/>
    <p:sldId id="469" r:id="rId41"/>
    <p:sldId id="470" r:id="rId42"/>
    <p:sldId id="460" r:id="rId43"/>
    <p:sldId id="471" r:id="rId44"/>
    <p:sldId id="473" r:id="rId45"/>
    <p:sldId id="474" r:id="rId46"/>
    <p:sldId id="475" r:id="rId47"/>
    <p:sldId id="476" r:id="rId48"/>
    <p:sldId id="477" r:id="rId49"/>
    <p:sldId id="478" r:id="rId50"/>
    <p:sldId id="441" r:id="rId51"/>
  </p:sldIdLst>
  <p:sldSz cx="9144000" cy="6858000" type="screen4x3"/>
  <p:notesSz cx="7099300" cy="10234613"/>
  <p:custDataLst>
    <p:tags r:id="rId54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96" autoAdjust="0"/>
    <p:restoredTop sz="81135" autoAdjust="0"/>
  </p:normalViewPr>
  <p:slideViewPr>
    <p:cSldViewPr>
      <p:cViewPr varScale="1">
        <p:scale>
          <a:sx n="131" d="100"/>
          <a:sy n="131" d="100"/>
        </p:scale>
        <p:origin x="1384" y="184"/>
      </p:cViewPr>
      <p:guideLst>
        <p:guide orient="horz" pos="4110"/>
        <p:guide pos="288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493B83D-6698-FCC2-A68C-3602F4BF4A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25FA026-D1B4-562F-A2E9-422FBDA7409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87800" y="0"/>
            <a:ext cx="31115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D36EEFE7-01AA-B966-F89B-F28D05351EE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428621CB-65FB-6157-45A5-A7DF2977563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9756775"/>
            <a:ext cx="3111500" cy="471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1291E90D-482C-3F41-93F4-0CFB8F50F846}" type="slidenum">
              <a:rPr lang="de-DE" altLang="zh-CN"/>
              <a:pPr/>
              <a:t>‹#›</a:t>
            </a:fld>
            <a:endParaRPr lang="de-DE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1-07T08:07:30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2225 3628 24575,'0'26'0,"0"16"0,0 18 0,0-24 0,0 1 0,0 1 0,0 0 0,0-2 0,0 0 0,0 0 0,0 0 0,0 0 0,0 0 0,0 0 0,0 0 0,0 29 0,0-15 0,0-20 0,-1-15 0,0-9 0,0-5 0</inkml:trace>
  <inkml:trace contextRef="#ctx0" brushRef="#br0" timeOffset="2034">2419 3615 24575,'6'40'0,"11"4"0,9 7 0,5-3 0,-4-6 0,-5-5 0,-1-1 0,0-2 0,-2 0 0,-1-3 0,-4-5 0,-2-5 0,-1-3 0,-2 1 0,1 1 0,1 1 0,-2-4 0,-3-5 0,-2-4 0,-2-6 0,-1-4 0,-1-4 0,0-5 0,0-2 0,0-3 0,0-5 0,0-3 0,0-7 0,1-14 0,6-16 0,-1 23 0,0-3 0,2 0 0,0-1 0,-1 7 0,0 1 0,3-15 0,-4 24 0,-2 13 0,-2 7 0,-1 1 0,-1 0 0,0-4 0,2-5 0,0-5 0,1-5 0,0 1 0,-1 5 0,1 6 0,0 7 0,-1 3 0,1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7T08:30:38.1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6244 7618 24575,'36'-5'0,"7"-4"0,14-4 0,5-3 0,-1 1 0,-11 1 0,-12 6 0,-13 3 0,-7 2 0,0 1 0,-1-1 0,4-1 0,0 0 0,1 1 0,-1 1 0,-4-2 0,-2 3 0,-7-1 0,-5 0 0,-13 8 0,-4 1 0,-9 3 0,-2-1 0,-8-1 0,-8 0 0,-7 0 0,-1 0 0,0 1 0,5-1 0,7 0 0,6 0 0,2 0 0,1-1 0,-1-1 0,3-3 0,3-1 0,4-1 0,5-1 0,5 0 0,3 0 0,-1 0 0,-1 0 0,-4 0 0,1 0 0,2 0 0,2 0 0,2 0 0,-2 0 0,-1 0 0,0 0 0,5 0 0,11-2 0,1-1 0,9-2 0,3-4 0,22-4 0,22 1 0,-23 5 0,3 1 0,5 1 0,0 0 0,-1 1 0,-2 0 0,-2 0 0,-2-1 0,26-1 0,-23 1 0,-17 3 0,-12 2 0,-8 0 0,-4 0 0,-3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79169B9-B0AE-B5B0-0C0C-86AD2E3003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B505C6F-C760-862F-AD8F-88C414C78B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03F90C68-11AE-7DA9-70D3-D9A12480958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9688" cy="38401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03971977-263E-2745-F42D-454A9180394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9BE61E76-3EF2-1EEF-C9B3-FDFA9BC5C96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defTabSz="949325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3C1F0702-0957-CD7B-5877-FFC4253347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18" tIns="47459" rIns="94918" bIns="47459" numCol="1" anchor="b" anchorCtr="0" compatLnSpc="1">
            <a:prstTxWarp prst="textNoShape">
              <a:avLst/>
            </a:prstTxWarp>
          </a:bodyPr>
          <a:lstStyle>
            <a:lvl1pPr algn="r" defTabSz="949325">
              <a:defRPr sz="1300">
                <a:latin typeface="Times New Roman" panose="02020603050405020304" pitchFamily="18" charset="0"/>
              </a:defRPr>
            </a:lvl1pPr>
          </a:lstStyle>
          <a:p>
            <a:fld id="{BB790F95-ACF4-D94A-8735-804D35159E10}" type="slidenum">
              <a:rPr lang="de-DE" altLang="zh-CN"/>
              <a:pPr/>
              <a:t>‹#›</a:t>
            </a:fld>
            <a:endParaRPr lang="de-DE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8ED86123-B16C-88AD-B8D4-5DA97D936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3AED156-37DB-9F43-B81F-F0677DCB0E76}" type="slidenum">
              <a:rPr lang="de-DE" altLang="zh-CN">
                <a:latin typeface="Times New Roman" panose="02020603050405020304" pitchFamily="18" charset="0"/>
              </a:rPr>
              <a:pPr/>
              <a:t>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3AB7931E-EB44-43F3-9896-A4877CEA36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FBF3F570-B3B6-ED56-605C-4EF30C365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F0C2B34-6642-6975-726E-D0E25FE3AD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827F70-450A-224B-AFC9-E6476DAF48FC}" type="slidenum">
              <a:rPr lang="de-DE" altLang="zh-CN">
                <a:latin typeface="Times New Roman" panose="02020603050405020304" pitchFamily="18" charset="0"/>
              </a:rPr>
              <a:pPr/>
              <a:t>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89DEF075-6B1D-7A0F-B4C0-FBF4650FB1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B46673D8-2785-85F1-355E-391A53831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29A17394-CBEB-926D-FA48-B14B130C29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D82D98-DD71-6744-A7A9-0BECA024E723}" type="slidenum">
              <a:rPr lang="de-DE" altLang="zh-CN">
                <a:latin typeface="Times New Roman" panose="02020603050405020304" pitchFamily="18" charset="0"/>
              </a:rPr>
              <a:pPr/>
              <a:t>4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0628202-E177-8094-2258-A5D78D42F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89B77FCA-6B7C-DBD4-FB29-D5854710F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78F4351D-6ACC-D544-8D14-9794A1AF2C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8B13A4-8D21-EF4B-A325-65A0BB7E296B}" type="slidenum">
              <a:rPr lang="de-DE" altLang="zh-CN">
                <a:latin typeface="Times New Roman" panose="02020603050405020304" pitchFamily="18" charset="0"/>
              </a:rPr>
              <a:pPr/>
              <a:t>6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EA355DFC-EA4C-77D8-0AD5-3302B4E2A2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DD3F6693-0A9C-D09A-E2BF-D3F70D9648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simplest mode is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electronic codebook  (ECB )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mode, in which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handled one block at a time and each block of plaintext is encrypted using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same key (Figure 7.3). The term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codebook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used because, for a given key, there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unique ciphertext for every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 of plaintext. Therefore, we can imagine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gigantic codebook in which there is an entry for every possible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plaintext pattern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showing its corresponding ciphertext.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For a message longer than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 procedure is simply to break the message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into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blocks, padding the last block if necessary. Decryption is performed one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at a time, always using the same key. In Figure 7.3, the plaintext (padded as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necessary) consists of a sequence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blocks,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. . . , 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; the corresponding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sequence of ciphertext blocks is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2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. . . , 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. We can define ECB mode as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follows.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ECB </a:t>
            </a:r>
            <a:r>
              <a:rPr lang="en-US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baseline="-25000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E(K, </a:t>
            </a:r>
            <a:r>
              <a:rPr lang="en-US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Pj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j = 1, . . . , N </a:t>
            </a:r>
            <a:r>
              <a:rPr lang="en-US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baseline="-25000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j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= D(K, </a:t>
            </a:r>
            <a:r>
              <a:rPr lang="en-US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Cj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j = 1, . . . , N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The ECB mode should be used only to secure messages shorter than a single block of underlying cipher (i.e., 64 bits for 3DES and 128 bits for AES), such as to encrypt a secret key. Because in most of the cases messages are longer than the encryption block mode, this mode has a minimum practical value. </a:t>
            </a:r>
            <a:endParaRPr lang="en-US" dirty="0"/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most significant characteristic of ECB is that if the same b -bit block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plaintext appears more than once in the message, it always produces the same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lengthy messages, the ECB mode may not be secure. If the message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highly structured, it may be possible for a cryptanalyst to exploit these regularities.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example, if it is known that the message always starts out with certain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predefined fields, then the cryptanalyst may have a number of known plaintext–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pairs to work with. If the message has repetitive elements with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period of repetition a multiple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 then these elements can be identified by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analyst. This may help in the analysis or may provide an opportunity for substituting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or rearranging blocks.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AU" dirty="0">
              <a:latin typeface="Arial" pitchFamily="-84" charset="0"/>
              <a:ea typeface="Arial" pitchFamily="-84" charset="0"/>
              <a:cs typeface="Arial" pitchFamily="-8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185E6065-8478-3131-9F42-B15D1438E2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1E61AED-05CC-054E-8616-D0ADA21584FF}" type="slidenum">
              <a:rPr lang="de-DE" altLang="zh-CN">
                <a:latin typeface="Times New Roman" panose="02020603050405020304" pitchFamily="18" charset="0"/>
              </a:rPr>
              <a:pPr/>
              <a:t>12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40C19B3-941D-7F31-B4C0-9FAB2B45B0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5505ECA0-665F-A12E-3D1F-41176BA61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overcome the security deficiencies of ECB, we would like a technique in which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same plaintext block, if repeated, produces different ciphertext blocks.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simple way to satisfy this requirement is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block chaining  (CBC</a:t>
            </a:r>
            <a:r>
              <a:rPr lang="en-US" b="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)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(Figure 7.4). In this scheme, the input to the encryption algorithm is the XOR of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current plaintext block and the preceding ciphertext block; the same key is used for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each block. In effect, we have chained together the processing of the sequence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plaintext blocks. The input to the encryption function for each plaintext block bears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 fixed relationship to the plaintext block. Therefore, repeating patterns of b  bits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not exposed. As with the ECB mode, the CBC mode requires that the last block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 padded to a full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if it is a partial block.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decryption, each cipher block is passed through the decryption algorithm.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result is XORed with the preceding ciphertext block to produce the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To produce the first block of ciphertext, an initialization vector (IV) is XORed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with the first block of plaintext. On decryption, the IV is XORed with the output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decryption algorithm to recover the first block of plaintext. The IV is a data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that is the same size as the cipher block.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IV must be known to both the sender and receiver but be unpredictable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a third party. In particular, for any given plaintext, it must not be possible to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predict the IV that will be associated to the plaintext in advance of the generation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IV. For maximum security, the IV should be protected against unauthorized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changes. This could be done by sending the IV using ECB encryption. One reason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protecting the IV is as follows: If an opponent is able to fool the receiver into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a different value for IV, then the opponent is able to invert selected bits in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block of plaintext.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So long as it is unpredictable, the specific choice of IV is unimportant.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SP800-38A recommends two possible methods: The first method is to apply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encryption function, under the same key that is used for the encryption of the plaintext,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a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nonce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 The nonce must be a data block that is unique to each execution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encryption operation. For example, the nonce may be a counter, a timestamp, or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 message number. The second method is to generate a random data block using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random number generator.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conclusion, because of the chaining mechanism of CBC, it is an appropriate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 for encrypting messages of length greater than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addition to its use to achieve confidentiality, the CBC mode can be used for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authentication. This use is described in Chapter 12.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F58B9AA0-774E-D84B-7614-E8B90B777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A9EBCF-06E6-AF49-BBDE-EB6139DE397C}" type="slidenum">
              <a:rPr lang="de-DE" altLang="zh-CN">
                <a:latin typeface="Times New Roman" panose="02020603050405020304" pitchFamily="18" charset="0"/>
              </a:rPr>
              <a:pPr/>
              <a:t>17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64C26C1E-98DE-FA46-64F0-6BE0B9755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088CA0B-47A1-E580-8383-34928C3E8E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output feedback  (OFB) mode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similar in structure to that of CFB. For OFB,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is fed back to become the input for encrypting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next block of plaintext (Figure 7.6). In CFB, the output of the XOR unit is fed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back to become input for encrypting the next block. The other difference is that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mode operates on full blocks of plaintext and ciphertext, whereas CFB operates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an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subset.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CBC and CFB, the OFB mode requires an initialization vector. In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case of OFB, the IV must be a nonce; that is, the IV must be unique to each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execution of the encryption operation. The reason for this is that the sequence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encryption output blocks,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depends only on the key and the IV and does not depend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the plaintext. Therefore, for a given key and IV, the stream of output bits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used to XOR with the stream of plaintext bits is fixed. If two different messages had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identical block of plaintext in the identical position, then an attacker would be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able to determine that portion of the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stream.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advantage of the OFB method is that bit errors in transmission do not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propagate. For example, if a bit error occurs in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only the recovered value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affected; subsequent plaintext units are not corrupted. With CFB,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also serves as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input to the shift register and therefore causes additional corruption downstream.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disadvantage of OFB is that it is more vulnerable to a message stream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modification attack than is CFB. Consider that complementing a bit in the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complements the corresponding bit in the recovered plaintext. Thus, controlled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changes to the recovered plaintext can be made. This may make it possible for an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opponent, by making the necessary changes to the checksum portion of the message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well as to the data portion, to alter the ciphertext in such a way that it is not detected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an error-correcting code. For a further discussion, see [VOYD83].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has the structure of a typical stream cipher, because the cipher generates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stream of bits as a function of an initial value and a key, and that stream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is XORed with the plaintext bits (see Figure 4.1). The generated stream that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 with the plaintext is itself independent of the plaintext; this is highlighted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dashed boxes in Figure 7.6. One distinction from the stream ciphers we discuss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Chapter 8 is that OFB encrypts plaintext a full block at a time, where typically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is 64 or 128 bits. Many stream ciphers encrypt one byte at a time.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output feedback  (OFB) mode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 similar in structure to that of CFB. For OFB,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is fed back to become the input for encrypting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next block of plaintext (Figure 7.6). In CFB, the output of the XOR unit is fed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back to become input for encrypting the next block. The other difference is that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mode operates on full blocks of plaintext and ciphertext, whereas CFB operates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an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-bit subset.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CBC and CFB, the OFB mode requires an initialization vector. In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case of OFB, the IV must be a nonce; that is, the IV must be unique to each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execution of the encryption operation. The reason for this is that the sequence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encryption output blocks,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, depends only on the key and the IV and does not depend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 the plaintext. Therefore, for a given key and IV, the stream of output bits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used to XOR with the stream of plaintext bits is fixed. If two different messages had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 identical block of plaintext in the identical position, then an attacker would be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able to determine that portion of the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stream.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One advantage of the OFB method is that bit errors in transmission do not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propagate. For example, if a bit error occurs in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only the recovered value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affected; subsequent plaintext units are not corrupted. With CFB,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also serves as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input to the shift register and therefore causes additional corruption downstream.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disadvantage of OFB is that it is more vulnerable to a message stream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modification attack than is CFB. Consider that complementing a bit in the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complements the corresponding bit in the recovered plaintext. Thus, controlled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changes to the recovered plaintext can be made. This may make it possible for an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opponent, by making the necessary changes to the checksum portion of the message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as well as to the data portion, to alter the ciphertext in such a way that it is not detected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an error-correcting code. For a further discussion, see [VOYD83].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OFB has the structure of a typical stream cipher, because the cipher generates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stream of bits as a function of an initial value and a key, and that stream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is XORed with the plaintext bits (see Figure 4.1). The generated stream that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 with the plaintext is itself independent of the plaintext; this is highlighted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dashed boxes in Figure 7.6. One distinction from the stream ciphers we discuss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Chapter 8 is that OFB encrypts plaintext a full block at a time, where typically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is 64 or 128 bits. Many stream ciphers encrypt one byte at a time.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38B8A9D-ABEB-53B3-C455-719BA2BAA6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0F155E-4A4D-164F-8F1A-9608A71B8D16}" type="slidenum">
              <a:rPr lang="de-DE" altLang="zh-CN">
                <a:latin typeface="Times New Roman" panose="02020603050405020304" pitchFamily="18" charset="0"/>
              </a:rPr>
              <a:pPr/>
              <a:t>21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19C75A07-FAE1-6097-F5E9-29B8D7E058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051DB948-194F-4D81-6596-11947E876A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7.5 depicts the CFB scheme. In the figure, it is assumed that the unit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transmission is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bits; a common value is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8. As with CBC, the units of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chained together, so that the ciphertext of any plaintext unit is a function of all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preceding plaintext. In this case, rather than blocks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bits, the plaintext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divided into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segments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bits.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First, consider encryption. The input to the encryption function is a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-bit shift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register that is initially set to some initialization vector (IV). The leftmost (most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significant)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output of the encryption function are XORed with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segment of plaintext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to produce the first unit of ciphertext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which is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transmitted. In addition, the contents of the shift register are shifted left by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placed in the rightmost (least significant)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shift register. This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process continues until all plaintext units have been encrypted.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decryption, the same scheme is used, except that the received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 is XORed with the output of the encryption function to produce the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unit. Note that it is the encryption function that is used, not the decryption function.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CFB can be viewed as a stream cipher, it does not conform to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typical construction of a stream cipher. In a typical stream cipher, the cipher takes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input some initial value and a key and generates a stream of bits, which is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 with the plaintext bits (see Figure 4.1). In the case of CFB, the stream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that is XORed with the plaintext also depends on the plaintext.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CFB encryption, like CBC encryption, the input block to each forward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 (except the first) depends on the result of the previous forward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function; therefore, multiple forward cipher operations cannot be performed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parallel. In CFB decryption, the required forward cipher operations can be performed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 if the input blocks are first constructed (in series) from the IV and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ciphertext.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7.5 depicts the CFB scheme. In the figure, it is assumed that the unit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transmission is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bits; a common value is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=  8. As with CBC, the units of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are chained together, so that the ciphertext of any plaintext unit is a function of all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preceding plaintext. In this case, rather than blocks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bits, the plaintext 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divided into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segments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of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bits.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First, consider encryption. The input to the encryption function is a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-bit shift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register that is initially set to some initialization vector (IV). The leftmost (most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significant)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output of the encryption function are XORed with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first segment of plaintext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to produce the first unit of ciphertext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which is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transmitted. In addition, the contents of the shift register are shifted left by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and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placed in the rightmost (least significant)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bits of the shift register. This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process continues until all plaintext units have been encrypted.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For decryption, the same scheme is used, except that the received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 is XORed with the output of the encryption function to produce the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unit. Note that it is the encryption function that is used, not the decryption function.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CFB can be viewed as a stream cipher, it does not conform to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typical construction of a stream cipher. In a typical stream cipher, the cipher takes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input some initial value and a key and generates a stream of bits, which is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XORed with the plaintext bits (see Figure 4.1). In the case of CFB, the stream of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bits that is XORed with the plaintext also depends on the plaintext.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CFB encryption, like CBC encryption, the input block to each forward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 (except the first) depends on the result of the previous forward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 function; therefore, multiple forward cipher operations cannot be performed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parallel. In CFB decryption, the required forward cipher operations can be performed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in parallel if the input blocks are first constructed (in series) from the IV and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ciphertext.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6501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1B190BA5-EDB6-19C7-11DD-19C05050D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5BDBC1-BB43-2741-8BCA-22DC346E8F8D}" type="slidenum">
              <a:rPr lang="de-DE" altLang="zh-CN">
                <a:latin typeface="Times New Roman" panose="02020603050405020304" pitchFamily="18" charset="0"/>
              </a:rPr>
              <a:pPr/>
              <a:t>25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40F172C-9406-5C2B-1BC3-C1F05F3F8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3E1ED59F-8CB5-6ABC-D091-49C1B810D7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interest in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(CTR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mode has increased recently with applications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ATM (asynchronous transfer mode) network security and IP sec (IP security),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mode was proposed in 1979 (e.g., [DIFF79]).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7.7 depicts the CTR mode. A counter equal to the plaintext block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size is used. The only requirement stated in SP 800-38A is that the counter value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must be different for each plaintext block that is encrypted. Typically, the counter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initialized to some value and then incremented by 1 for each subsequent block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(modulo 2</a:t>
            </a:r>
            <a:r>
              <a:rPr lang="en-US" baseline="30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where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the block size). For encryption, the counter is encrypted and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then XORed with the plaintext block to produce the ciphertext block; there is no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chaining. For decryption, the same sequence of counter values is used, with each encrypted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XORed with a ciphertext block to recover the corresponding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block. Thus, the initial counter value must be made available for decryption.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the OFB mode, the initial counter value must be a nonce; that is,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must be different for all of the messages encrypted using the same key. Further,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all </a:t>
            </a:r>
            <a:r>
              <a:rPr lang="en-US" i="1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baseline="-25000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values across all messages must be unique. If, contrary to this requirement,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value is used multiple times, then the confidentiality of all of the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 corresponding to that counter value may be compromised. In particular, if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any plaintext block that is encrypted using a given counter value is known,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can be determined easily from the associated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block. This output allows any other plaintext blocks that are encrypted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the same counter value to be easily recovered from their associated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way to ensure the uniqueness of counter values is to continue to increment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counter value by 1 across messages. That is, the first counter value of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each message is one more than the last counter value of the preceding message.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Although interest in the </a:t>
            </a:r>
            <a:r>
              <a:rPr lang="en-US" b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(CTR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) mode has increased recently with applications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to ATM (asynchronous transfer mode) network security and IP sec (IP security),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mode was proposed in 1979 (e.g., [DIFF79]).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Figure 7.7 depicts the CTR mode. A counter equal to the plaintext block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size is used. The only requirement stated in SP 800-38A is that the counter value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must be different for each plaintext block that is encrypted. Typically, the counter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is initialized to some value and then incremented by 1 for each subsequent block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(modulo 2</a:t>
            </a:r>
            <a:r>
              <a:rPr lang="en-US" baseline="30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where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 is the block size). For encryption, the counter is encrypted and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then XORed with the plaintext block to produce the ciphertext block; there is no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chaining. For decryption, the same sequence of counter values is used, with each encrypted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XORed with a ciphertext block to recover the corresponding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block. Thus, the initial counter value must be made available for decryption.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As with the OFB mode, the initial counter value must be a nonce; that is,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1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must be different for all of the messages encrypted using the same key. Further,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all </a:t>
            </a:r>
            <a:r>
              <a:rPr lang="en-US" i="1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i="1" baseline="-25000" dirty="0" err="1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i</a:t>
            </a:r>
            <a:r>
              <a:rPr lang="en-US" baseline="-25000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values across all messages must be unique. If, contrary to this requirement, a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counter value is used multiple times, then the confidentiality of all of the plaintext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 corresponding to that counter value may be compromised. In particular, if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any plaintext block that is encrypted using a given counter value is known, then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output of the encryption function can be determined easily from the associated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ciphertext block. This output allows any other plaintext blocks that are encrypted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using the same counter value to be easily recovered from their associated ciphertext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blocks.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One way to ensure the uniqueness of counter values is to continue to increment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counter value by 1 across messages. That is, the first counter value of the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each message is one more than the last counter value of the preceding message.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3D6722-9B4D-4E29-B226-C325925A811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FB92DF14-0EF2-C777-5E47-3534BAA051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A7D30A9-4571-DF48-9820-5606EDAA74FE}" type="slidenum">
              <a:rPr lang="de-DE" altLang="zh-CN">
                <a:latin typeface="Times New Roman" panose="02020603050405020304" pitchFamily="18" charset="0"/>
              </a:rPr>
              <a:pPr/>
              <a:t>29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9A988E5A-1461-ABA4-D694-166C33E8CF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705C3FE-9F0D-224F-56E5-D18B5BAEE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In 2010, NIST approved an additional block cipher mode of operation, XTS-AES.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This mode is also an IEEE standard, IEEE Std 1619-2007, which was developed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by the IEEE Security in Storage Working Group (P1619). The standard describes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method of encryption for data stored in sector-based devices where the threat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model includes possible access to stored data by the adversary. The standard has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received widespread industry support.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2289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The XTS-AES mode is based on the concept of a </a:t>
            </a:r>
            <a:r>
              <a:rPr lang="en-US" sz="1200" b="1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tweakable block cipher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, introduced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in [LISK02], The form of this concept used in XTS-AES was first described in [ROGA04].</a:t>
            </a:r>
          </a:p>
          <a:p>
            <a:endParaRPr lang="en-US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Before examining XTS-AES, let us consider the general structure of a tweakable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block cipher. A tweakable block cipher is one that has three inputs: a plaintext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P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a symmetric key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K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, and a tweak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; and produces a ciphertext output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. We can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write this as </a:t>
            </a:r>
            <a:r>
              <a:rPr lang="en-US" i="1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C =  E(K , T , P ). </a:t>
            </a:r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The tweak need not be kept secret. Whereas the purpose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of the key is to provide security, the purpose of the tweak is to provide variability.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is, the use of different tweaks with the same plaintext and same key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produces different outputs.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2289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The basic structure of several tweakable clock ciphers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that have been implemented is shown in Figure 7.9.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requirements for encrypting stored data, also referred to as “data at rest” differ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somewhat from those for transmitted data. The P1619 standard was designed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have the following characteristics: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1.  The ciphertext is freely available for an attacker. Among the circumstances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lead to this situation: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a.  A group of users has authorized access to a database. Some of the records in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database are encrypted so that only specific users can successfully read/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 write them. Other users can retrieve an encrypted record but are unable to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read it without the key.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b.  An unauthorized user manages to gain access to encrypted records.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c.  A data disk or laptop is stolen, giving the adversary access to the encrypted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data.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2.  The data layout is not changed on the storage medium and in transit. The encrypted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data must be the same size as the plaintext data.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3.  Data are accessed in fixed sized blocks, independently from each other. That is,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 authorized user may access one or more blocks in any order.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4.  Encryption is performed in 16-byte blocks, independently from other blocks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(except the last two plaintext blocks of a sector, if its size is not a multiple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16 bytes).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5.  There are no other metadata used, except the location of the data blocks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within the whole data set.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6.  The same plaintext is encrypted to different ciphertexts at different locations,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but always to the same ciphertext when written to the same location again.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7.  A standard conformant device can be constructed for decryption of data encrypted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another standard conformant device.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The P1619 group considered some of the existing modes of operation for use with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stored data. For CTR mode, an adversary with write access to the encrypted media can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flip any bit of the plaintext simply by flipping the corresponding ciphertext bit.</a:t>
            </a:r>
          </a:p>
          <a:p>
            <a:endParaRPr lang="en-US" sz="1200" kern="1200" baseline="0" dirty="0">
              <a:solidFill>
                <a:schemeClr val="tx1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Next, consider requirement 6 and the use of CBC. To enforce the requirement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that the same plaintext encrypts to different ciphertext in different locations, the IV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could be derived from the sector number. Each sector contains multiple blocks. An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adversary with read/write access to the encrypted disk can copy a ciphertext sector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from one position to another, and an application reading the sector off the new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location will still get the same plaintext sector (except perhaps the first 128 bits).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For example, this means that an adversary that is allowed to read a sector from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second position but not the first can find the content of the sector in the first position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by manipulating the ciphertext. Another weakness is that an adversary can flip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any bit of the plaintext by flipping the corresponding ciphertext bit of the previous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-128"/>
                <a:cs typeface="ＭＳ Ｐゴシック" charset="-128"/>
              </a:rPr>
              <a:t>block, with the side-effect of “randomizing” the previous block.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2289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 7.10 shows the encryption and decryption of a single block. The operation involves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two instances of the AES algorithm with two keys.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 Figure 7.10 shows the encryption and decryption of a single block. The operation involves</a:t>
            </a:r>
          </a:p>
          <a:p>
            <a:r>
              <a:rPr lang="en-US" dirty="0">
                <a:latin typeface="Arial" pitchFamily="-84" charset="0"/>
                <a:ea typeface="ＭＳ Ｐゴシック" pitchFamily="-84" charset="-128"/>
                <a:cs typeface="ＭＳ Ｐゴシック" pitchFamily="-84" charset="-128"/>
              </a:rPr>
              <a:t>two instances of the AES algorithm with two keys.</a:t>
            </a:r>
            <a:endParaRPr lang="en-AU" dirty="0">
              <a:latin typeface="Arial" pitchFamily="-84" charset="0"/>
              <a:ea typeface="ＭＳ Ｐゴシック" pitchFamily="-84" charset="-128"/>
              <a:cs typeface="ＭＳ Ｐゴシック" pitchFamily="-84" charset="-128"/>
            </a:endParaRP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plaintext of a sector or data unit is organized into blocks of 128 bits. Blocks are</a:t>
            </a:r>
          </a:p>
          <a:p>
            <a:pPr>
              <a:defRPr/>
            </a:pPr>
            <a:r>
              <a:rPr lang="en-US" i="0" dirty="0"/>
              <a:t>labeled</a:t>
            </a:r>
            <a:r>
              <a:rPr lang="en-US" i="1" dirty="0"/>
              <a:t> P</a:t>
            </a:r>
            <a:r>
              <a:rPr lang="en-US" i="1" baseline="-25000" dirty="0"/>
              <a:t>0</a:t>
            </a:r>
            <a:r>
              <a:rPr lang="en-US" i="1" dirty="0"/>
              <a:t> , P</a:t>
            </a:r>
            <a:r>
              <a:rPr lang="en-US" i="1" baseline="-25000" dirty="0"/>
              <a:t>1 </a:t>
            </a:r>
            <a:r>
              <a:rPr lang="en-US" i="1" dirty="0"/>
              <a:t>, . . .  , P</a:t>
            </a:r>
            <a:r>
              <a:rPr lang="en-US" i="1" baseline="-25000" dirty="0"/>
              <a:t>m</a:t>
            </a:r>
            <a:r>
              <a:rPr lang="en-US" i="1" dirty="0"/>
              <a:t> </a:t>
            </a:r>
            <a:r>
              <a:rPr lang="en-US" dirty="0"/>
              <a:t>. The last block my be null or may contain from 1 to 127 bits.</a:t>
            </a:r>
          </a:p>
          <a:p>
            <a:pPr>
              <a:defRPr/>
            </a:pPr>
            <a:r>
              <a:rPr lang="en-US" dirty="0"/>
              <a:t>In other words, the input to the XTS-AES algorithm consists of m  128-bit blocks</a:t>
            </a:r>
          </a:p>
          <a:p>
            <a:pPr>
              <a:defRPr/>
            </a:pPr>
            <a:r>
              <a:rPr lang="en-US" dirty="0"/>
              <a:t>and possibly a final partial block.</a:t>
            </a:r>
          </a:p>
          <a:p>
            <a:pPr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As can be seen, XTS-AES mode, like CTR mode, is suitable for parallel operation. Because there is no chaining, multiple blocks can be encrypted or decrypted simultaneously. Unlike CTR mode, XTS-AES mode includes a nonce (the parameter </a:t>
            </a:r>
            <a:r>
              <a:rPr lang="en-US" sz="1200" i="1" kern="1200" dirty="0" err="1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) as well as a counter (parameter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j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Arial" charset="0"/>
                <a:ea typeface="ＭＳ Ｐゴシック" charset="-128"/>
                <a:cs typeface="ＭＳ Ｐゴシック" charset="-128"/>
              </a:rPr>
              <a:t>). </a:t>
            </a: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For encryption and decryption, each block is treated independently and</a:t>
            </a:r>
          </a:p>
          <a:p>
            <a:pPr>
              <a:defRPr/>
            </a:pPr>
            <a:r>
              <a:rPr lang="en-US" dirty="0"/>
              <a:t>encrypted/decrypted as shown in Figure 7.10. The only exception occurs when</a:t>
            </a:r>
          </a:p>
          <a:p>
            <a:pPr>
              <a:defRPr/>
            </a:pPr>
            <a:r>
              <a:rPr lang="en-US" dirty="0"/>
              <a:t>the last block has less than 128 bits. In that case, the last two blocks are encrypted/</a:t>
            </a:r>
          </a:p>
          <a:p>
            <a:pPr>
              <a:defRPr/>
            </a:pPr>
            <a:r>
              <a:rPr lang="en-US" dirty="0"/>
              <a:t>decrypted using a </a:t>
            </a:r>
            <a:r>
              <a:rPr lang="en-US" b="1" dirty="0"/>
              <a:t>ciphertext-stealing</a:t>
            </a:r>
            <a:r>
              <a:rPr lang="en-US" dirty="0"/>
              <a:t>  technique instead of padding.</a:t>
            </a:r>
          </a:p>
          <a:p>
            <a:pPr>
              <a:defRPr/>
            </a:pPr>
            <a:r>
              <a:rPr lang="en-US" dirty="0"/>
              <a:t>Figure 7.11 shows the scheme.</a:t>
            </a:r>
          </a:p>
          <a:p>
            <a:endParaRPr lang="en-US" dirty="0">
              <a:latin typeface="Arial" pitchFamily="-1" charset="0"/>
              <a:ea typeface="ＭＳ Ｐゴシック" pitchFamily="-1" charset="-128"/>
              <a:cs typeface="ＭＳ Ｐゴシック" pitchFamily="-1" charset="-12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3D6722-9B4D-4E29-B226-C325925A811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84218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EB8DF065-4AA2-EF1C-D641-92193B87FE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F3FE40-BCA1-7A42-A90E-84C1ED6E20A4}" type="slidenum">
              <a:rPr lang="de-DE" altLang="zh-CN">
                <a:latin typeface="Times New Roman" panose="02020603050405020304" pitchFamily="18" charset="0"/>
              </a:rPr>
              <a:pPr/>
              <a:t>37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197225D-6661-ABF4-66E9-FE3A4E35E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B3A0A5A-4CE5-5BE5-D394-0B131DAC5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57425FF9-CA9F-91A6-F598-F826B06D4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5483C3-31C0-AE40-9174-CDE1788F730F}" type="slidenum">
              <a:rPr lang="de-DE" altLang="zh-CN">
                <a:latin typeface="Times New Roman" panose="02020603050405020304" pitchFamily="18" charset="0"/>
              </a:rPr>
              <a:pPr/>
              <a:t>40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225C0332-F4B5-F56D-1E80-6D8CA8C3EA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DED720F9-36C8-C6FB-C77B-64FA4BBD1A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5236C927-8B8D-2B59-923A-1FB64EEF5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1078C9-827C-A14A-AFA5-C68854BAF6BB}" type="slidenum">
              <a:rPr lang="de-DE" altLang="zh-CN">
                <a:latin typeface="Times New Roman" panose="02020603050405020304" pitchFamily="18" charset="0"/>
              </a:rPr>
              <a:pPr/>
              <a:t>42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3B98026-DD2E-58B4-146E-2A0D7FC981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C742C2BB-44CE-08BA-AA61-71C0AEBD6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8DB4EDCD-7BCE-6DD7-F192-B12A900807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F387BDE-6F0B-964D-A887-F7E14EE4583A}" type="slidenum">
              <a:rPr lang="de-DE" altLang="zh-CN">
                <a:latin typeface="Times New Roman" panose="02020603050405020304" pitchFamily="18" charset="0"/>
              </a:rPr>
              <a:pPr/>
              <a:t>45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63848028-8E75-DC93-8264-4B7C29602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B57947E0-2177-E340-BBBA-6AFBB8B9A2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7C2C8042-2AD8-DE6B-8E6A-5BD01A63D6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D3508A1-D878-6344-82F5-9FE52137F89F}" type="slidenum">
              <a:rPr lang="de-DE" altLang="zh-CN">
                <a:latin typeface="Times New Roman" panose="02020603050405020304" pitchFamily="18" charset="0"/>
              </a:rPr>
              <a:pPr/>
              <a:t>47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7506A222-FF0B-0DAD-4BBD-2B283BEFC7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5235FE61-AC07-7C32-2384-6608C4B999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9FB18268-DC21-76BC-FD79-4534EEFCE1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4932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493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ECFBFF-266D-454E-B1C2-0CC2D55AC06F}" type="slidenum">
              <a:rPr lang="de-DE" altLang="zh-CN">
                <a:latin typeface="Times New Roman" panose="02020603050405020304" pitchFamily="18" charset="0"/>
              </a:rPr>
              <a:pPr/>
              <a:t>49</a:t>
            </a:fld>
            <a:endParaRPr lang="de-DE" altLang="zh-CN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818B37DF-683B-3641-AD03-19E6064FE1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7CC2D4E-96D4-43A6-EE96-37E84EE31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de-DE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73075" y="322263"/>
            <a:ext cx="6769100" cy="744537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Klicken Sie, um das Titelformat zu bearbeiten</a:t>
            </a:r>
          </a:p>
        </p:txBody>
      </p:sp>
      <p:sp>
        <p:nvSpPr>
          <p:cNvPr id="2242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58838" y="1108075"/>
            <a:ext cx="6303962" cy="658514"/>
          </a:xfrm>
        </p:spPr>
        <p:txBody>
          <a:bodyPr/>
          <a:lstStyle>
            <a:lvl1pPr marL="0" indent="0">
              <a:buFontTx/>
              <a:buNone/>
              <a:defRPr sz="1800"/>
            </a:lvl1pPr>
          </a:lstStyle>
          <a:p>
            <a:r>
              <a:rPr lang="en-US" noProof="0"/>
              <a:t>Klicken Sie, um das Format des Untertitelmasters zu bearbeiten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5657717-F00E-B91D-E70B-276FDE92F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8101013" y="6453188"/>
            <a:ext cx="812800" cy="215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800">
                <a:solidFill>
                  <a:schemeClr val="bg2"/>
                </a:solidFill>
                <a:latin typeface="Arial" charset="0"/>
              </a:defRPr>
            </a:lvl1pPr>
          </a:lstStyle>
          <a:p>
            <a:pPr>
              <a:defRPr/>
            </a:pPr>
            <a:fld id="{2991B9F8-D8E9-9744-9A3C-16F03E61F52B}" type="datetime1">
              <a:rPr lang="en-US"/>
              <a:pPr>
                <a:defRPr/>
              </a:pPr>
              <a:t>10/20/24</a:t>
            </a:fld>
            <a:endParaRPr lang="en-US"/>
          </a:p>
          <a:p>
            <a:pPr>
              <a:defRPr/>
            </a:pPr>
            <a:r>
              <a:rPr lang="en-US"/>
              <a:t>6. Sept. 2005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1027D91-7D87-A152-70CF-29EA76F8407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34925" y="6623050"/>
            <a:ext cx="720725" cy="33496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8E44705-00E2-3245-90F9-9CA1D910D6C1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4" name="Rectangle 550">
            <a:extLst>
              <a:ext uri="{FF2B5EF4-FFF2-40B4-BE49-F238E27FC236}">
                <a16:creationId xmlns:a16="http://schemas.microsoft.com/office/drawing/2014/main" id="{DEF82752-A739-0510-1CEB-7663D0502338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405096424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6F5F076-DC40-D9A6-A70E-D4C2D5886E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02B3E39-6C10-9240-BA8A-E300CFCE3F32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FE02715A-F203-46E8-5172-9D59E943FD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89625819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346954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7815FEC-6F48-0EC5-F8D2-EB66FC2102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B562A5-2C80-3248-A360-888EDCBB5CF8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55ED9DAB-8F66-B5B3-713E-A75FA68A20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801946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9313" y="1130300"/>
            <a:ext cx="2965450" cy="28898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67163" y="1130300"/>
            <a:ext cx="2967037" cy="288989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DF517CD-F1B7-735D-D529-C17D114A36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B828F8-C775-1F4B-A8AB-917E30F48D26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19F75105-95B7-3A4D-A0DF-258DFDABA0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53991359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8779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25088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87793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25088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5A00E00-48EE-5D4E-22AD-6C9CD948E79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6EA7266-7FB3-194B-B8CC-766CC12D3A3D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8" name="Rectangle 550">
            <a:extLst>
              <a:ext uri="{FF2B5EF4-FFF2-40B4-BE49-F238E27FC236}">
                <a16:creationId xmlns:a16="http://schemas.microsoft.com/office/drawing/2014/main" id="{CA00E0C7-34F7-A355-6DBB-CDA6673AF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451807724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C7B6430B-E17F-0014-4237-95964FA9727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C330A80-A860-BC45-B4F0-91D26A18D5BB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4" name="Rectangle 550">
            <a:extLst>
              <a:ext uri="{FF2B5EF4-FFF2-40B4-BE49-F238E27FC236}">
                <a16:creationId xmlns:a16="http://schemas.microsoft.com/office/drawing/2014/main" id="{0C7B85AC-18D9-A93D-A57E-058DE7BC1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517733174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53F5096-AF16-3452-659E-19544C38ABF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A68DEC5-BA15-F147-9669-945F863B4596}" type="slidenum">
              <a:rPr lang="de-DE" altLang="zh-CN"/>
              <a:pPr/>
              <a:t>‹#›</a:t>
            </a:fld>
            <a:r>
              <a:rPr lang="de-DE" altLang="zh-CN"/>
              <a:t>/38</a:t>
            </a:r>
          </a:p>
        </p:txBody>
      </p:sp>
      <p:sp>
        <p:nvSpPr>
          <p:cNvPr id="3" name="Rectangle 550">
            <a:extLst>
              <a:ext uri="{FF2B5EF4-FFF2-40B4-BE49-F238E27FC236}">
                <a16:creationId xmlns:a16="http://schemas.microsoft.com/office/drawing/2014/main" id="{7706C626-5D1F-6555-52FD-58E10B2481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Chapter 5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i="1"/>
              <a:t>Understanding </a:t>
            </a:r>
            <a:r>
              <a:rPr lang="de-DE" i="1" err="1"/>
              <a:t>Cryptography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Christof Paar </a:t>
            </a:r>
            <a:r>
              <a:rPr lang="de-DE" err="1"/>
              <a:t>and</a:t>
            </a:r>
            <a:r>
              <a:rPr lang="de-DE"/>
              <a:t> Jan </a:t>
            </a:r>
            <a:r>
              <a:rPr lang="de-DE" err="1"/>
              <a:t>Pelzl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387878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33169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24282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6A1AB14-4CF7-8D2D-85F8-DA080E118E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C38E2F-D863-CE4B-AE14-DE0DFD2233A9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28940C0B-D4F2-7F22-A16A-2276F54B78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51407418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615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24282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D1A93BA-4C76-3B8D-05BD-0DAFDAE74E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DE102A7-B71F-3A4F-9CDC-D3C363DCD014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6" name="Rectangle 550">
            <a:extLst>
              <a:ext uri="{FF2B5EF4-FFF2-40B4-BE49-F238E27FC236}">
                <a16:creationId xmlns:a16="http://schemas.microsoft.com/office/drawing/2014/main" id="{58FA9324-C321-0C49-B91B-BF7C2C924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7255931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0489" y="1130300"/>
            <a:ext cx="6063711" cy="1779588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611BAE-DDC7-7872-A5FF-CE991BEB78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9F06E8-AC09-8044-BF3B-45C2677320C0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6D6CB235-4301-AE79-2E6B-03CC5690FA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269478264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9713" y="322263"/>
            <a:ext cx="1614487" cy="25876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4698" y="322263"/>
            <a:ext cx="2062616" cy="2587625"/>
          </a:xfrm>
        </p:spPr>
        <p:txBody>
          <a:bodyPr vert="eaVert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AF1B6E6-335A-30EA-E9FE-80F7E54621F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49A575-9C9A-2A4C-B0E3-7EA4B9621B73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04DFCB86-43FD-D3D3-3EB3-C9FEF0E1D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1817800445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322263"/>
            <a:ext cx="6462712" cy="515937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849313" y="1130300"/>
            <a:ext cx="6084887" cy="307777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33C271E-761E-590C-AD5C-50E671FE4B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32C68C7-93F0-F445-9934-CA97828BDBE4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5" name="Rectangle 550">
            <a:extLst>
              <a:ext uri="{FF2B5EF4-FFF2-40B4-BE49-F238E27FC236}">
                <a16:creationId xmlns:a16="http://schemas.microsoft.com/office/drawing/2014/main" id="{5E28538B-8E0C-F963-35EE-266B06582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  <p:extLst>
      <p:ext uri="{BB962C8B-B14F-4D97-AF65-F5344CB8AC3E}">
        <p14:creationId xmlns:p14="http://schemas.microsoft.com/office/powerpoint/2010/main" val="3527580371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57200" y="4800600"/>
            <a:ext cx="82296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70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white">
          <a:xfrm>
            <a:off x="0" y="0"/>
            <a:ext cx="9144000" cy="3886200"/>
          </a:xfrm>
          <a:prstGeom prst="rect">
            <a:avLst/>
          </a:prstGeom>
          <a:solidFill>
            <a:srgbClr val="007FA3"/>
          </a:solidFill>
          <a:ln>
            <a:solidFill>
              <a:srgbClr val="007F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28384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4687" y="3962400"/>
            <a:ext cx="7794626" cy="17526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2110703" y="6374626"/>
            <a:ext cx="66808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 Pearson Education, Inc. All Rights Reserved</a:t>
            </a:r>
          </a:p>
        </p:txBody>
      </p:sp>
      <p:pic>
        <p:nvPicPr>
          <p:cNvPr id="11" name="Picture 10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13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Ope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18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Learning Objectiv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Learning Objectives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027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Click to add Learning Objective(s)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/>
          </p:nvPr>
        </p:nvSpPr>
        <p:spPr>
          <a:xfrm>
            <a:off x="457200" y="1600200"/>
            <a:ext cx="8229600" cy="452596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744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7FA3"/>
              </a:buClr>
              <a:buSzPct val="100000"/>
              <a:defRPr/>
            </a:lvl1pPr>
            <a:lvl2pPr>
              <a:buClr>
                <a:srgbClr val="007FA3"/>
              </a:buClr>
              <a:defRPr/>
            </a:lvl2pPr>
            <a:lvl3pPr>
              <a:buClr>
                <a:srgbClr val="007FA3"/>
              </a:buClr>
              <a:defRPr/>
            </a:lvl3pPr>
            <a:lvl4pPr>
              <a:buClr>
                <a:srgbClr val="007FA3"/>
              </a:buClr>
              <a:defRPr/>
            </a:lvl4pPr>
            <a:lvl5pPr>
              <a:buClr>
                <a:srgbClr val="007FA3"/>
              </a:buClr>
              <a:defRPr/>
            </a:lvl5pPr>
            <a:lvl6pPr>
              <a:buClr>
                <a:srgbClr val="007FA3"/>
              </a:buClr>
              <a:defRPr/>
            </a:lvl6pPr>
            <a:lvl7pPr>
              <a:buClr>
                <a:srgbClr val="007FA3"/>
              </a:buClr>
              <a:defRPr/>
            </a:lvl7pPr>
            <a:lvl8pPr>
              <a:buClr>
                <a:srgbClr val="007FA3"/>
              </a:buClr>
              <a:defRPr/>
            </a:lvl8pPr>
            <a:lvl9pPr>
              <a:buClr>
                <a:srgbClr val="007FA3"/>
              </a:buCl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6335713" y="113072"/>
            <a:ext cx="2133600" cy="182880"/>
          </a:xfrm>
        </p:spPr>
        <p:txBody>
          <a:bodyPr/>
          <a:lstStyle/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69312" y="113072"/>
            <a:ext cx="551783" cy="182880"/>
          </a:xfrm>
        </p:spPr>
        <p:txBody>
          <a:bodyPr/>
          <a:lstStyle/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7859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18872" indent="-118872">
              <a:buClr>
                <a:srgbClr val="007FA3"/>
              </a:buClr>
              <a:buSzPct val="25000"/>
              <a:defRPr sz="1600"/>
            </a:lvl1pPr>
            <a:lvl2pPr marL="569913" indent="-285750">
              <a:buClr>
                <a:srgbClr val="007FA3"/>
              </a:buClr>
              <a:defRPr sz="1600"/>
            </a:lvl2pPr>
            <a:lvl3pPr>
              <a:buClr>
                <a:srgbClr val="007FA3"/>
              </a:buClr>
              <a:defRPr sz="1600"/>
            </a:lvl3pPr>
            <a:lvl4pPr>
              <a:buClr>
                <a:srgbClr val="007FA3"/>
              </a:buClr>
              <a:defRPr sz="1600"/>
            </a:lvl4pPr>
            <a:lvl5pPr>
              <a:buClr>
                <a:srgbClr val="007FA3"/>
              </a:buClr>
              <a:defRPr sz="1600"/>
            </a:lvl5pPr>
            <a:lvl6pPr>
              <a:buClr>
                <a:srgbClr val="007FA3"/>
              </a:buClr>
              <a:defRPr sz="1600"/>
            </a:lvl6pPr>
            <a:lvl7pPr>
              <a:buClr>
                <a:srgbClr val="007FA3"/>
              </a:buClr>
              <a:defRPr sz="1600"/>
            </a:lvl7pPr>
            <a:lvl8pPr>
              <a:buClr>
                <a:srgbClr val="007FA3"/>
              </a:buClr>
              <a:defRPr sz="1600"/>
            </a:lvl8pPr>
            <a:lvl9pPr>
              <a:buClr>
                <a:srgbClr val="007FA3"/>
              </a:buCl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045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gure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457200" y="228600"/>
            <a:ext cx="8229600" cy="1066800"/>
          </a:xfrm>
        </p:spPr>
        <p:txBody>
          <a:bodyPr anchor="t"/>
          <a:lstStyle>
            <a:lvl1pPr>
              <a:defRPr sz="340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add figure number and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368160"/>
            <a:ext cx="8229600" cy="916856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800"/>
            </a:lvl1pPr>
            <a:lvl2pPr marL="0" indent="0">
              <a:spcBef>
                <a:spcPts val="0"/>
              </a:spcBef>
              <a:buNone/>
              <a:defRPr sz="1600"/>
            </a:lvl2pPr>
            <a:lvl3pPr marL="0" indent="0">
              <a:spcBef>
                <a:spcPts val="0"/>
              </a:spcBef>
              <a:buNone/>
              <a:defRPr sz="1600"/>
            </a:lvl3pPr>
            <a:lvl4pPr marL="0" indent="0">
              <a:spcBef>
                <a:spcPts val="0"/>
              </a:spcBef>
              <a:buNone/>
              <a:defRPr sz="1600"/>
            </a:lvl4pPr>
            <a:lvl5pPr marL="0" indent="0">
              <a:spcBef>
                <a:spcPts val="0"/>
              </a:spcBef>
              <a:buNone/>
              <a:defRPr sz="1600"/>
            </a:lvl5pPr>
            <a:lvl6pPr marL="0" indent="0">
              <a:spcBef>
                <a:spcPts val="0"/>
              </a:spcBef>
              <a:buNone/>
              <a:defRPr sz="1600"/>
            </a:lvl6pPr>
            <a:lvl7pPr marL="0" indent="0">
              <a:spcBef>
                <a:spcPts val="0"/>
              </a:spcBef>
              <a:buNone/>
              <a:defRPr sz="1600"/>
            </a:lvl7pPr>
            <a:lvl8pPr marL="0" indent="0">
              <a:spcBef>
                <a:spcPts val="0"/>
              </a:spcBef>
              <a:buNone/>
              <a:defRPr sz="1600"/>
            </a:lvl8pPr>
            <a:lvl9pPr marL="0" indent="0">
              <a:spcBef>
                <a:spcPts val="0"/>
              </a:spcBef>
              <a:buNone/>
              <a:defRPr sz="1600"/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 userDrawn="1"/>
        </p:nvSpPr>
        <p:spPr>
          <a:xfrm>
            <a:off x="1619250" y="6374626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2020 Pearson Education, Inc. All Rights Reserved</a:t>
            </a:r>
          </a:p>
        </p:txBody>
      </p:sp>
      <p:pic>
        <p:nvPicPr>
          <p:cNvPr id="13" name="Picture 12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25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98085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6096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2362201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457200" y="3048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457200" y="3810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457200" y="4648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7"/>
          </p:nvPr>
        </p:nvSpPr>
        <p:spPr>
          <a:xfrm>
            <a:off x="609600" y="4800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8"/>
          </p:nvPr>
        </p:nvSpPr>
        <p:spPr>
          <a:xfrm>
            <a:off x="762000" y="4953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9"/>
          </p:nvPr>
        </p:nvSpPr>
        <p:spPr>
          <a:xfrm>
            <a:off x="914400" y="51054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20"/>
          </p:nvPr>
        </p:nvSpPr>
        <p:spPr>
          <a:xfrm>
            <a:off x="1066800" y="52578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21"/>
          </p:nvPr>
        </p:nvSpPr>
        <p:spPr>
          <a:xfrm>
            <a:off x="1219200" y="54102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22"/>
          </p:nvPr>
        </p:nvSpPr>
        <p:spPr>
          <a:xfrm>
            <a:off x="1371600" y="55626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3"/>
          </p:nvPr>
        </p:nvSpPr>
        <p:spPr>
          <a:xfrm>
            <a:off x="1524000" y="5715000"/>
            <a:ext cx="8229600" cy="5334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39431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6200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57200" y="4800600"/>
            <a:ext cx="8229600" cy="9906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53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57200" y="39624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4114800"/>
            <a:ext cx="8229600" cy="2163763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08679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47800"/>
            <a:ext cx="7772400" cy="2152651"/>
          </a:xfrm>
        </p:spPr>
        <p:txBody>
          <a:bodyPr anchor="b">
            <a:noAutofit/>
          </a:bodyPr>
          <a:lstStyle>
            <a:lvl1pPr algn="l">
              <a:defRPr sz="3400" b="1" cap="none" baseline="0">
                <a:solidFill>
                  <a:srgbClr val="007FA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4687" y="3962400"/>
            <a:ext cx="7794627" cy="175260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rgbClr val="007FA3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348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F6EFB-3F44-496C-A842-1E0B3D3B975A}" type="datetimeFigureOut">
              <a:rPr lang="en-US" smtClean="0"/>
              <a:t>10/20/24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2237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3969" y="6172200"/>
            <a:ext cx="8595360" cy="2354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1619250" y="6374626"/>
            <a:ext cx="716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buClrTx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</a:t>
            </a:r>
            <a:r>
              <a:rPr lang="en-I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2020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Pearson Education, Inc. All Rights Reserved</a:t>
            </a:r>
            <a:endParaRPr lang="en-US" altLang="en-US" sz="1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Picture 10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6860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>
            <a:lvl1pPr>
              <a:defRPr sz="3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81200"/>
            <a:ext cx="2971800" cy="4114800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457200" y="1447800"/>
            <a:ext cx="3200400" cy="381000"/>
          </a:xfrm>
        </p:spPr>
        <p:txBody>
          <a:bodyPr/>
          <a:lstStyle>
            <a:lvl1pPr algn="ctr">
              <a:buNone/>
              <a:defRPr sz="1500" b="0" i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3810000" y="1524000"/>
            <a:ext cx="4343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5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algn="l">
              <a:buSzTx/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3B9C43FB-8E13-4032-B5FB-47B8DE62B1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08297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93038" cy="14620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algn="l">
              <a:buSzTx/>
              <a:defRPr sz="1400" smtClean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4BE79C1A-C35C-4D80-AA81-007920C47E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51022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62282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16430"/>
            <a:ext cx="8229600" cy="47897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rgbClr val="007FA3"/>
                </a:solidFill>
              </a:defRPr>
            </a:lvl1pPr>
            <a:lvl2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5pPr>
            <a:lvl6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6pPr>
            <a:lvl7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7pPr>
            <a:lvl8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8pPr>
            <a:lvl9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Add edition here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5029200" y="1600201"/>
            <a:ext cx="3657600" cy="1600199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3000" baseline="0"/>
            </a:lvl1pPr>
            <a:lvl2pPr marL="0" indent="0">
              <a:spcBef>
                <a:spcPts val="0"/>
              </a:spcBef>
              <a:buNone/>
              <a:defRPr sz="4400"/>
            </a:lvl2pPr>
            <a:lvl3pPr marL="0" indent="0">
              <a:spcBef>
                <a:spcPts val="0"/>
              </a:spcBef>
              <a:buNone/>
              <a:defRPr sz="4400"/>
            </a:lvl3pPr>
            <a:lvl4pPr marL="0" indent="0">
              <a:spcBef>
                <a:spcPts val="0"/>
              </a:spcBef>
              <a:buNone/>
              <a:defRPr sz="4400"/>
            </a:lvl4pPr>
            <a:lvl5pPr marL="0" indent="0">
              <a:spcBef>
                <a:spcPts val="0"/>
              </a:spcBef>
              <a:buNone/>
              <a:defRPr sz="4400"/>
            </a:lvl5pPr>
            <a:lvl6pPr marL="0" indent="0">
              <a:spcBef>
                <a:spcPts val="0"/>
              </a:spcBef>
              <a:buNone/>
              <a:defRPr sz="4400"/>
            </a:lvl6pPr>
            <a:lvl7pPr marL="0" indent="0">
              <a:spcBef>
                <a:spcPts val="0"/>
              </a:spcBef>
              <a:buNone/>
              <a:defRPr sz="4400"/>
            </a:lvl7pPr>
            <a:lvl8pPr marL="0" indent="0">
              <a:spcBef>
                <a:spcPts val="0"/>
              </a:spcBef>
              <a:buNone/>
              <a:defRPr sz="4400"/>
            </a:lvl8pPr>
            <a:lvl9pPr marL="0" indent="0">
              <a:spcBef>
                <a:spcPts val="0"/>
              </a:spcBef>
              <a:buNone/>
              <a:defRPr sz="4400"/>
            </a:lvl9pPr>
          </a:lstStyle>
          <a:p>
            <a:pPr lvl="0"/>
            <a:r>
              <a:rPr lang="en-US" dirty="0"/>
              <a:t>Chapter ##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5029200" y="3200400"/>
            <a:ext cx="3657600" cy="29257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200"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93969" y="6165337"/>
            <a:ext cx="8595360" cy="235463"/>
          </a:xfrm>
        </p:spPr>
        <p:txBody>
          <a:bodyPr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A9DF6EFB-3F44-496C-A842-1E0B3D3B975A}" type="datetimeFigureOut">
              <a:rPr lang="en-US" smtClean="0">
                <a:solidFill>
                  <a:prstClr val="white"/>
                </a:solidFill>
              </a:rPr>
              <a:pPr/>
              <a:t>10/20/24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0B2350-5261-4F5C-9DF5-EF0D264FC8D2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2" name="Picture 11" descr="Pearson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  <p:sp>
        <p:nvSpPr>
          <p:cNvPr id="14" name="Content Placeholder 16"/>
          <p:cNvSpPr>
            <a:spLocks noGrp="1"/>
          </p:cNvSpPr>
          <p:nvPr>
            <p:ph sz="quarter" idx="19" hasCustomPrompt="1"/>
          </p:nvPr>
        </p:nvSpPr>
        <p:spPr>
          <a:xfrm>
            <a:off x="2817757" y="6426000"/>
            <a:ext cx="5878568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eaLnBrk="1" fontAlgn="auto" hangingPunct="1">
              <a:spcBef>
                <a:spcPts val="0"/>
              </a:spcBef>
              <a:spcAft>
                <a:spcPts val="0"/>
              </a:spcAft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>
              <a:buNone/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eaLnBrk="1" hangingPunct="1"/>
            <a:r>
              <a:rPr lang="en-US" altLang="en-US" dirty="0">
                <a:latin typeface="Verdana" panose="020B0604030504040204" pitchFamily="34" charset="0"/>
                <a:cs typeface="Arial" panose="020B0604020202020204" pitchFamily="34" charset="0"/>
              </a:rPr>
              <a:t>Copyright © 2018, 2016, 2014 Pearson Education, Inc. All Rights Reserved.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0"/>
          </p:nvPr>
        </p:nvSpPr>
        <p:spPr>
          <a:xfrm>
            <a:off x="609600" y="2209800"/>
            <a:ext cx="2895600" cy="2667000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00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19E2A6-2061-D07E-2465-A3ACF58E6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1488" y="322263"/>
            <a:ext cx="64627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Mastertitelformat bearbeiten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E007AF-701D-9303-A03C-04B5DDFF80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49313" y="1130300"/>
            <a:ext cx="6084887" cy="177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Mastertextformat bearbeiten</a:t>
            </a:r>
          </a:p>
          <a:p>
            <a:pPr lvl="1"/>
            <a:r>
              <a:rPr lang="en-US" altLang="zh-CN"/>
              <a:t>Zweite Ebene</a:t>
            </a:r>
          </a:p>
          <a:p>
            <a:pPr lvl="2"/>
            <a:r>
              <a:rPr lang="en-US" altLang="zh-CN"/>
              <a:t>Dritte Ebene</a:t>
            </a:r>
          </a:p>
          <a:p>
            <a:pPr lvl="3"/>
            <a:r>
              <a:rPr lang="en-US" altLang="zh-CN"/>
              <a:t>Vierte Ebene</a:t>
            </a:r>
          </a:p>
          <a:p>
            <a:pPr lvl="4"/>
            <a:r>
              <a:rPr lang="en-US" altLang="zh-CN"/>
              <a:t>Fünfte Ebene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7C43CD5-5F08-310A-89DC-6BFD7C3B82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79388" y="6597650"/>
            <a:ext cx="5048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defRPr sz="900">
                <a:solidFill>
                  <a:srgbClr val="394073"/>
                </a:solidFill>
                <a:ea typeface="宋体" panose="02010600030101010101" pitchFamily="2" charset="-122"/>
              </a:defRPr>
            </a:lvl1pPr>
          </a:lstStyle>
          <a:p>
            <a:fld id="{CEBFF6EB-80D4-EA48-B643-C99352A1B563}" type="slidenum">
              <a:rPr lang="en-US" altLang="zh-CN"/>
              <a:pPr/>
              <a:t>‹#›</a:t>
            </a:fld>
            <a:r>
              <a:rPr lang="en-US" altLang="zh-CN"/>
              <a:t>/38</a:t>
            </a:r>
          </a:p>
        </p:txBody>
      </p:sp>
      <p:sp>
        <p:nvSpPr>
          <p:cNvPr id="1574" name="Rectangle 550">
            <a:extLst>
              <a:ext uri="{FF2B5EF4-FFF2-40B4-BE49-F238E27FC236}">
                <a16:creationId xmlns:a16="http://schemas.microsoft.com/office/drawing/2014/main" id="{51562E3C-3552-53CA-1EA5-5BC3DA58CF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11413" y="6524625"/>
            <a:ext cx="43211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20000"/>
              </a:lnSpc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Chapter 5 of </a:t>
            </a:r>
            <a:r>
              <a:rPr lang="en-US" i="1"/>
              <a:t>Understanding Cryptography</a:t>
            </a:r>
            <a:r>
              <a:rPr lang="en-US"/>
              <a:t> by Christof Paar and Jan Pelzl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  <p:sldLayoutId id="2147483927" r:id="rId2"/>
    <p:sldLayoutId id="2147483928" r:id="rId3"/>
    <p:sldLayoutId id="2147483929" r:id="rId4"/>
    <p:sldLayoutId id="2147483930" r:id="rId5"/>
    <p:sldLayoutId id="2147483931" r:id="rId6"/>
    <p:sldLayoutId id="2147483932" r:id="rId7"/>
    <p:sldLayoutId id="2147483933" r:id="rId8"/>
    <p:sldLayoutId id="2147483934" r:id="rId9"/>
    <p:sldLayoutId id="2147483935" r:id="rId10"/>
    <p:sldLayoutId id="2147483936" r:id="rId11"/>
    <p:sldLayoutId id="2147483937" r:id="rId12"/>
    <p:sldLayoutId id="2147483938" r:id="rId13"/>
  </p:sldLayoutIdLst>
  <p:transition spd="slow"/>
  <p:hf hdr="0" dt="0"/>
  <p:txStyles>
    <p:titleStyle>
      <a:lvl1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+mj-lt"/>
          <a:ea typeface="+mj-ea"/>
          <a:cs typeface="+mj-cs"/>
        </a:defRPr>
      </a:lvl1pPr>
      <a:lvl2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2pPr>
      <a:lvl3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3pPr>
      <a:lvl4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4pPr>
      <a:lvl5pPr marL="3810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2" charset="2"/>
        <a:buChar char="&lt;"/>
        <a:defRPr sz="1900" b="1">
          <a:solidFill>
            <a:schemeClr val="tx2"/>
          </a:solidFill>
          <a:latin typeface="Arial" charset="0"/>
        </a:defRPr>
      </a:lvl5pPr>
      <a:lvl6pPr marL="8382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6pPr>
      <a:lvl7pPr marL="12954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7pPr>
      <a:lvl8pPr marL="17526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8pPr>
      <a:lvl9pPr marL="2209800" indent="-381000" algn="l" rtl="0" eaLnBrk="0" fontAlgn="base" hangingPunct="0">
        <a:spcBef>
          <a:spcPct val="20000"/>
        </a:spcBef>
        <a:spcAft>
          <a:spcPct val="0"/>
        </a:spcAft>
        <a:buClr>
          <a:srgbClr val="007AC2"/>
        </a:buClr>
        <a:buSzPct val="120000"/>
        <a:buFont typeface="Webdings" pitchFamily="18" charset="2"/>
        <a:buChar char="&lt;"/>
        <a:defRPr sz="1900" b="1">
          <a:solidFill>
            <a:schemeClr val="tx2"/>
          </a:solidFill>
          <a:latin typeface="Arial" charset="0"/>
        </a:defRPr>
      </a:lvl9pPr>
    </p:titleStyle>
    <p:bodyStyle>
      <a:lvl1pPr marL="195263" indent="-1952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8891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2pPr>
      <a:lvl3pPr marL="952500" indent="-187325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3pPr>
      <a:lvl4pPr marL="1325563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4pPr>
      <a:lvl5pPr marL="16986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5pPr>
      <a:lvl6pPr marL="21558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6pPr>
      <a:lvl7pPr marL="26130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7pPr>
      <a:lvl8pPr marL="30702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8pPr>
      <a:lvl9pPr marL="3527425" indent="-182563" algn="l" rtl="0" eaLnBrk="0" fontAlgn="base" hangingPunct="0">
        <a:lnSpc>
          <a:spcPct val="125000"/>
        </a:lnSpc>
        <a:spcBef>
          <a:spcPct val="25000"/>
        </a:spcBef>
        <a:spcAft>
          <a:spcPct val="0"/>
        </a:spcAft>
        <a:buClr>
          <a:srgbClr val="007AC2"/>
        </a:buClr>
        <a:buSzPct val="12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15372"/>
            <a:ext cx="8229600" cy="109728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</a:t>
            </a:r>
          </a:p>
          <a:p>
            <a:pPr lvl="6"/>
            <a:r>
              <a:rPr lang="en-US" dirty="0"/>
              <a:t>Seventh</a:t>
            </a:r>
          </a:p>
          <a:p>
            <a:pPr lvl="7"/>
            <a:r>
              <a:rPr lang="en-US" dirty="0"/>
              <a:t>Eighth</a:t>
            </a:r>
          </a:p>
          <a:p>
            <a:pPr lvl="8"/>
            <a:r>
              <a:rPr lang="en-US" dirty="0"/>
              <a:t>Ninth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3969" y="6172200"/>
            <a:ext cx="8595360" cy="235463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35713" y="113072"/>
            <a:ext cx="213360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A9DF6EFB-3F44-496C-A842-1E0B3D3B975A}" type="datetimeFigureOut">
              <a:rPr lang="en-US" smtClean="0"/>
              <a:pPr/>
              <a:t>10/20/24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312" y="113072"/>
            <a:ext cx="551783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200B2350-5261-4F5C-9DF5-EF0D264FC8D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3727450" y="6378267"/>
            <a:ext cx="5130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1200" dirty="0">
                <a:latin typeface="Verdana" panose="020B0604030504040204" pitchFamily="34" charset="0"/>
                <a:cs typeface="Arial" panose="020B0604020202020204" pitchFamily="34" charset="0"/>
              </a:rPr>
              <a:t>Copyright © 2020 Pearson Education, Inc. All Rights Reserved.</a:t>
            </a:r>
          </a:p>
        </p:txBody>
      </p:sp>
      <p:pic>
        <p:nvPicPr>
          <p:cNvPr id="10" name="Picture 9" descr="Pearson Logo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76789"/>
            <a:ext cx="918000" cy="27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70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  <p:sldLayoutId id="2147483951" r:id="rId12"/>
    <p:sldLayoutId id="2147483952" r:id="rId13"/>
    <p:sldLayoutId id="2147483953" r:id="rId14"/>
    <p:sldLayoutId id="2147483954" r:id="rId15"/>
    <p:sldLayoutId id="2147483955" r:id="rId1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400" b="1" kern="1200">
          <a:solidFill>
            <a:srgbClr val="007FA3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56032" indent="-256032" algn="l" defTabSz="914400" rtl="0" eaLnBrk="1" latinLnBrk="0" hangingPunct="1">
        <a:spcBef>
          <a:spcPts val="15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ts val="600"/>
        </a:spcBef>
        <a:buClr>
          <a:srgbClr val="007FA3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ts val="6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ts val="300"/>
        </a:spcBef>
        <a:buClr>
          <a:srgbClr val="007FA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0.png"/><Relationship Id="rId4" Type="http://schemas.openxmlformats.org/officeDocument/2006/relationships/customXml" Target="../ink/ink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4">
            <a:extLst>
              <a:ext uri="{FF2B5EF4-FFF2-40B4-BE49-F238E27FC236}">
                <a16:creationId xmlns:a16="http://schemas.microsoft.com/office/drawing/2014/main" id="{FE4122C1-B8F4-9A36-B23C-B9E2A60E771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404813"/>
            <a:ext cx="9144000" cy="2808287"/>
          </a:xfrm>
        </p:spPr>
        <p:txBody>
          <a:bodyPr/>
          <a:lstStyle/>
          <a:p>
            <a:pPr algn="ctr">
              <a:buFont typeface="Webdings" pitchFamily="2" charset="2"/>
              <a:buNone/>
            </a:pPr>
            <a:r>
              <a:rPr lang="en-US" altLang="zh-CN" sz="2800" dirty="0">
                <a:ea typeface="宋体" panose="02010600030101010101" pitchFamily="2" charset="-122"/>
              </a:rPr>
              <a:t>  </a:t>
            </a:r>
            <a:br>
              <a:rPr lang="en-US" altLang="zh-CN" sz="1400" dirty="0">
                <a:ea typeface="宋体" panose="02010600030101010101" pitchFamily="2" charset="-122"/>
              </a:rPr>
            </a:br>
            <a:br>
              <a:rPr lang="en-US" altLang="zh-CN" sz="1400" dirty="0">
                <a:ea typeface="宋体" panose="02010600030101010101" pitchFamily="2" charset="-122"/>
              </a:rPr>
            </a:br>
            <a:r>
              <a:rPr lang="en-US" altLang="zh-CN" sz="2800" dirty="0">
                <a:ea typeface="宋体" panose="02010600030101010101" pitchFamily="2" charset="-122"/>
              </a:rPr>
              <a:t>Chapter 5 – More About Block Ciphers</a:t>
            </a:r>
            <a:br>
              <a:rPr lang="en-US" altLang="zh-CN" sz="2800" dirty="0">
                <a:ea typeface="宋体" panose="02010600030101010101" pitchFamily="2" charset="-122"/>
              </a:rPr>
            </a:br>
            <a:endParaRPr lang="en-US" altLang="zh-CN" sz="16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F1D8E46D-3CB1-BD63-C1E0-0F2B496F2E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8255400-676E-C543-9366-C8037C9E45B3}" type="slidenum">
              <a:rPr lang="en-US" altLang="zh-CN">
                <a:solidFill>
                  <a:srgbClr val="394073"/>
                </a:solidFill>
              </a:rPr>
              <a:pPr/>
              <a:t>2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AFDFB306-2139-2380-006B-092D74D0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6388" name="Rectangle 2">
            <a:extLst>
              <a:ext uri="{FF2B5EF4-FFF2-40B4-BE49-F238E27FC236}">
                <a16:creationId xmlns:a16="http://schemas.microsoft.com/office/drawing/2014/main" id="{0853E1B2-EDEF-EE1E-44A1-E40CF1654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B8CD696D-FF3B-DB3D-9E89-11E3E3994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87227A4-84BA-3160-1E33-B9464B0C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Block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9E739-7A33-C72A-0ADA-24229B503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437437" cy="4894160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A block cipher is much more than just an encryption algorithm, it can be used ...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build different types of block-based encryption schemes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realize stream ciphers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construct hash functions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make message authentication codes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build key establishment protocols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to make a pseudo-random number generator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...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sz="2000" dirty="0"/>
              <a:t>The security of block ciphers also can be increased by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key whitening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multiple encryption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9864F2DC-CABB-67AA-2642-5852F6849F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B920E13-6B54-8E47-943F-C062B2E964E4}" type="slidenum">
              <a:rPr lang="de-DE" altLang="zh-CN">
                <a:solidFill>
                  <a:srgbClr val="394073"/>
                </a:solidFill>
              </a:rPr>
              <a:pPr/>
              <a:t>3</a:t>
            </a:fld>
            <a:r>
              <a:rPr lang="de-DE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17413" name="Footer Placeholder 4">
            <a:extLst>
              <a:ext uri="{FF2B5EF4-FFF2-40B4-BE49-F238E27FC236}">
                <a16:creationId xmlns:a16="http://schemas.microsoft.com/office/drawing/2014/main" id="{E932E709-086C-D16F-FBF7-5E4DDB7E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5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A19959BF-BE86-C68A-2539-D7DC7E6C5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80CB47-2AE1-AA4B-B174-03DFD30AA35A}" type="slidenum">
              <a:rPr lang="en-US" altLang="zh-CN">
                <a:solidFill>
                  <a:srgbClr val="394073"/>
                </a:solidFill>
              </a:rPr>
              <a:pPr/>
              <a:t>4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A1D0EA4A-3F87-C21F-81BE-96591BB22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8E64F7B0-8B0A-CAC6-8D8C-191AF38284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C4CFC89D-CD13-C996-DB48-D0F70D1FF7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277B397D-8F8D-BD90-460C-A5E33564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Encryption with Block Ciphers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3ABBE9-0C14-2C79-8906-2A6BB4E3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223125" cy="4800600"/>
          </a:xfrm>
        </p:spPr>
        <p:txBody>
          <a:bodyPr/>
          <a:lstStyle/>
          <a:p>
            <a:pPr>
              <a:defRPr/>
            </a:pPr>
            <a:r>
              <a:rPr lang="en-US" sz="1800" dirty="0"/>
              <a:t>There are several ways of encrypting long plaintexts, e.g., an e-mail or a computer file, with a block cipher (“modes of operation”)</a:t>
            </a:r>
          </a:p>
          <a:p>
            <a:pPr marL="722312" lvl="1" indent="-342900">
              <a:defRPr/>
            </a:pPr>
            <a:r>
              <a:rPr lang="en-US" dirty="0"/>
              <a:t>Electronic Code Book mode (ECB)</a:t>
            </a:r>
          </a:p>
          <a:p>
            <a:pPr marL="722312" lvl="1" indent="-342900">
              <a:defRPr/>
            </a:pPr>
            <a:r>
              <a:rPr lang="en-US" dirty="0"/>
              <a:t>Cipher Block Chaining mode (CBC)</a:t>
            </a:r>
          </a:p>
          <a:p>
            <a:pPr marL="722312" lvl="1" indent="-342900">
              <a:defRPr/>
            </a:pPr>
            <a:r>
              <a:rPr lang="en-US" dirty="0"/>
              <a:t>Output Feedback mode (OFB)</a:t>
            </a:r>
          </a:p>
          <a:p>
            <a:pPr marL="722312" lvl="1" indent="-342900">
              <a:defRPr/>
            </a:pPr>
            <a:r>
              <a:rPr lang="en-US" dirty="0"/>
              <a:t>Cipher Feedback mode (CFB)</a:t>
            </a:r>
          </a:p>
          <a:p>
            <a:pPr marL="722312" lvl="1" indent="-342900">
              <a:defRPr/>
            </a:pPr>
            <a:r>
              <a:rPr lang="en-US" dirty="0"/>
              <a:t>Counter mode (CTR)</a:t>
            </a:r>
          </a:p>
          <a:p>
            <a:pPr marL="722312" lvl="1" indent="-342900">
              <a:defRPr/>
            </a:pPr>
            <a:r>
              <a:rPr lang="en-US" dirty="0"/>
              <a:t>XTS-AES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sz="1800" dirty="0"/>
              <a:t>All of the 6 modes have one goal: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In addition to confidentiality, they provide authenticity and integrity:</a:t>
            </a:r>
          </a:p>
          <a:p>
            <a:pPr lvl="2">
              <a:defRPr/>
            </a:pPr>
            <a:r>
              <a:rPr lang="en-US" dirty="0">
                <a:ea typeface="+mn-ea"/>
                <a:cs typeface="+mn-cs"/>
              </a:rPr>
              <a:t>Is the message really coming from the original sender? (authenticity)</a:t>
            </a:r>
          </a:p>
          <a:p>
            <a:pPr lvl="2">
              <a:defRPr/>
            </a:pPr>
            <a:r>
              <a:rPr lang="en-US" dirty="0">
                <a:ea typeface="+mn-ea"/>
                <a:cs typeface="+mn-cs"/>
              </a:rPr>
              <a:t>Was the </a:t>
            </a:r>
            <a:r>
              <a:rPr lang="en-US" dirty="0" err="1">
                <a:ea typeface="+mn-ea"/>
                <a:cs typeface="+mn-cs"/>
              </a:rPr>
              <a:t>ciphertext</a:t>
            </a:r>
            <a:r>
              <a:rPr lang="en-US" dirty="0">
                <a:ea typeface="+mn-ea"/>
                <a:cs typeface="+mn-cs"/>
              </a:rPr>
              <a:t> altered during transmission? (integrity)</a:t>
            </a:r>
            <a:endParaRPr lang="en-US" dirty="0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F51BE408-F442-0DB2-4E09-75FB3E573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FE2A6A-9F49-BF4A-AD5E-C2F0D0A6A897}" type="slidenum">
              <a:rPr lang="de-DE" altLang="zh-CN">
                <a:solidFill>
                  <a:srgbClr val="394073"/>
                </a:solidFill>
              </a:rPr>
              <a:pPr/>
              <a:t>5</a:t>
            </a:fld>
            <a:r>
              <a:rPr lang="de-DE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15155EF7-5134-2C2E-5F25-C232C0199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581A8FB1-7564-7D30-30BE-FE5FA06C6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C910CA3-C067-654E-834C-FA4668E9C811}" type="slidenum">
              <a:rPr lang="en-US" altLang="zh-CN">
                <a:solidFill>
                  <a:srgbClr val="394073"/>
                </a:solidFill>
              </a:rPr>
              <a:pPr/>
              <a:t>6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0483" name="Footer Placeholder 4">
            <a:extLst>
              <a:ext uri="{FF2B5EF4-FFF2-40B4-BE49-F238E27FC236}">
                <a16:creationId xmlns:a16="http://schemas.microsoft.com/office/drawing/2014/main" id="{269F3297-F038-C607-FDCC-FD5CBF8E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4B336647-74B6-C165-9B3C-9FB71CA2F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5167556A-AC39-C07C-0EC7-CFFE9EF12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B51D92AC-5C82-47E6-F5EC-388CD31CC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Electronic Code Book mode (ECB)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556B6ACD-1CD5-C3A4-7846-F0878572C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084887" cy="1784350"/>
          </a:xfrm>
        </p:spPr>
        <p:txBody>
          <a:bodyPr/>
          <a:lstStyle/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 denote the encryption of a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-bit plaintext block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with key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  <a:p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>
                <a:ea typeface="宋体" panose="02010600030101010101" pitchFamily="2" charset="-122"/>
              </a:rPr>
              <a:t> denote the decryption of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-bit ciphertext block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with key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  <a:p>
            <a:r>
              <a:rPr lang="en-US" altLang="zh-CN">
                <a:ea typeface="宋体" panose="02010600030101010101" pitchFamily="2" charset="-122"/>
              </a:rPr>
              <a:t>Messages which exceed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bits are partitioned into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-bit blocks</a:t>
            </a:r>
          </a:p>
          <a:p>
            <a:r>
              <a:rPr lang="en-US" altLang="zh-CN" b="1">
                <a:ea typeface="宋体" panose="02010600030101010101" pitchFamily="2" charset="-122"/>
              </a:rPr>
              <a:t>Each Block is encrypted separately</a:t>
            </a:r>
          </a:p>
          <a:p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B3C3738-55B4-7FAE-BE5A-330118763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7459F78-C0D8-E244-91D8-873E6F409231}" type="slidenum">
              <a:rPr lang="en-US" altLang="zh-CN">
                <a:solidFill>
                  <a:srgbClr val="394073"/>
                </a:solidFill>
              </a:rPr>
              <a:pPr/>
              <a:t>7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1509" name="Footer Placeholder 4">
            <a:extLst>
              <a:ext uri="{FF2B5EF4-FFF2-40B4-BE49-F238E27FC236}">
                <a16:creationId xmlns:a16="http://schemas.microsoft.com/office/drawing/2014/main" id="{4FE3254C-2101-5D7F-D9A4-9777A9D4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21510" name="Picture 3" descr="C:\Documents and Settings\Amir\Desktop\book\grundlagen_krypto\graphics\ecb.png">
            <a:extLst>
              <a:ext uri="{FF2B5EF4-FFF2-40B4-BE49-F238E27FC236}">
                <a16:creationId xmlns:a16="http://schemas.microsoft.com/office/drawing/2014/main" id="{74CEDBA2-5C64-5756-DA85-38A7AD743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3000375"/>
            <a:ext cx="63801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Rectangle 7">
            <a:extLst>
              <a:ext uri="{FF2B5EF4-FFF2-40B4-BE49-F238E27FC236}">
                <a16:creationId xmlns:a16="http://schemas.microsoft.com/office/drawing/2014/main" id="{0FE45D09-3938-2DFB-FC4B-A56C07A8E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4500563"/>
            <a:ext cx="4929188" cy="1000125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182880" rIns="182880" bIns="18288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i="1">
                <a:ea typeface="宋体" panose="02010600030101010101" pitchFamily="2" charset="-122"/>
              </a:rPr>
              <a:t>Encryption</a:t>
            </a:r>
            <a:r>
              <a:rPr lang="en-US" altLang="zh-CN" sz="1600" i="1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</a:t>
            </a:r>
            <a:r>
              <a:rPr lang="en-US" altLang="zh-CN" sz="1600" i="1">
                <a:ea typeface="宋体" panose="02010600030101010101" pitchFamily="2" charset="-122"/>
              </a:rPr>
              <a:t>:  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)),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 1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276976" cy="515937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3600" dirty="0">
                <a:latin typeface="+mj-lt"/>
                <a:ea typeface="ヒラギノ角ゴ Pro W3" charset="-128"/>
              </a:rPr>
              <a:t>Electronic Codebook (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E C </a:t>
            </a:r>
            <a:r>
              <a:rPr lang="en-IN" altLang="en-US" sz="3600" dirty="0">
                <a:latin typeface="+mj-lt"/>
                <a:ea typeface="ヒラギノ角ゴ Pro W3" charset="-128"/>
              </a:rPr>
              <a:t>B) Mode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3" descr="a. Encryption is illustrated as a series of processes each from input P through Encryption to output C, with input K at Encryption.&#10;b. Decryption is illustrated as a series of processes each from input C through Decryption to output P, with input K at Decryption.&#10;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640" y="908720"/>
            <a:ext cx="6192688" cy="593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987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2DF459E-76DC-9845-5DA4-E3FB3635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ECB: advantages/disadvantages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DC45D9AC-727B-84A5-2883-3CED53AF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865937" cy="4956175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Advantages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no block synchronization </a:t>
            </a:r>
            <a:r>
              <a:rPr lang="en-US" altLang="zh-CN" dirty="0">
                <a:ea typeface="宋体" panose="02010600030101010101" pitchFamily="2" charset="-122"/>
              </a:rPr>
              <a:t>between sender and receiver is required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bit errors </a:t>
            </a:r>
            <a:r>
              <a:rPr lang="en-US" altLang="zh-CN" dirty="0">
                <a:ea typeface="宋体" panose="02010600030101010101" pitchFamily="2" charset="-122"/>
              </a:rPr>
              <a:t>caused by noisy channels only affect the corresponding block but not succeeding blocks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Block cipher operating can be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parallelized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advantage for high-speed implementations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Disadvantages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ECB encrypts highly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deterministically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identical plaintexts result in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identical ciphertexts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an attacker recognizes if the same message has been sent twice</a:t>
            </a:r>
          </a:p>
          <a:p>
            <a:pPr lvl="2"/>
            <a:r>
              <a:rPr lang="en-US" altLang="zh-CN" dirty="0">
                <a:ea typeface="宋体" panose="02010600030101010101" pitchFamily="2" charset="-122"/>
              </a:rPr>
              <a:t>plaintext blocks are encrypted independently of previous blocks</a:t>
            </a:r>
          </a:p>
          <a:p>
            <a:pPr lvl="3"/>
            <a:r>
              <a:rPr lang="en-US" altLang="zh-CN" dirty="0">
                <a:ea typeface="宋体" panose="02010600030101010101" pitchFamily="2" charset="-122"/>
              </a:rPr>
              <a:t>an attacker may reorder ciphertext blocks which results in valid plaintext</a:t>
            </a: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8D4EF523-86A2-D0A2-72A3-FC6E3766E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02E54A-C18E-0B4B-A31B-C3358409889A}" type="slidenum">
              <a:rPr lang="en-US" altLang="zh-CN">
                <a:solidFill>
                  <a:srgbClr val="394073"/>
                </a:solidFill>
              </a:rPr>
              <a:pPr/>
              <a:t>9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2533" name="Footer Placeholder 4">
            <a:extLst>
              <a:ext uri="{FF2B5EF4-FFF2-40B4-BE49-F238E27FC236}">
                <a16:creationId xmlns:a16="http://schemas.microsoft.com/office/drawing/2014/main" id="{75A1FE89-E172-7609-3C6B-DB6D82DA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49ADC250-5DEE-69A0-F464-E3C59B4A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Substitution Attack on ECB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8FFA-6524-E75E-8A91-A3FE42B52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437312" cy="50546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Once a particular plaintext to ciphertext block mapping </a:t>
            </a:r>
            <a:r>
              <a:rPr lang="en-US" altLang="zh-CN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ea typeface="宋体" panose="02010600030101010101" pitchFamily="2" charset="-122"/>
              </a:rPr>
              <a:t> → </a:t>
            </a:r>
            <a:r>
              <a:rPr lang="en-US" altLang="zh-CN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ea typeface="宋体" panose="02010600030101010101" pitchFamily="2" charset="-122"/>
              </a:rPr>
              <a:t> is known, a sequence of ciphertext blocks can easily be manipulated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Suppose an </a:t>
            </a:r>
            <a:r>
              <a:rPr lang="en-US" altLang="zh-CN" i="1" dirty="0">
                <a:ea typeface="宋体" panose="02010600030101010101" pitchFamily="2" charset="-122"/>
              </a:rPr>
              <a:t>electronic bank transfer</a:t>
            </a: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dirty="0">
              <a:ea typeface="宋体" panose="02010600030101010101" pitchFamily="2" charset="-122"/>
            </a:endParaRPr>
          </a:p>
          <a:p>
            <a:pPr lvl="1"/>
            <a:endParaRPr lang="en-US" altLang="zh-CN" sz="500" dirty="0">
              <a:ea typeface="宋体" panose="02010600030101010101" pitchFamily="2" charset="-122"/>
            </a:endParaRP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encryption key between the two banks does not change too frequently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The attacker sends $1.00 transfers from his account at bank A to his account at bank B repeatedly</a:t>
            </a:r>
          </a:p>
          <a:p>
            <a:pPr lvl="2"/>
            <a:r>
              <a:rPr lang="en-US" altLang="zh-CN" sz="1400" dirty="0">
                <a:ea typeface="宋体" panose="02010600030101010101" pitchFamily="2" charset="-122"/>
              </a:rPr>
              <a:t>He can check for ciphertext blocks that repeat, and he stores blocks 1,3 and 4 of these transfers</a:t>
            </a:r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He now simply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replaces block 4 of other transfers </a:t>
            </a:r>
            <a:r>
              <a:rPr lang="en-US" altLang="zh-CN" dirty="0">
                <a:ea typeface="宋体" panose="02010600030101010101" pitchFamily="2" charset="-122"/>
              </a:rPr>
              <a:t>with the block 4 that he stored before</a:t>
            </a:r>
          </a:p>
          <a:p>
            <a:pPr lvl="2"/>
            <a:r>
              <a:rPr lang="en-US" altLang="zh-CN" sz="1400" i="1" dirty="0">
                <a:ea typeface="宋体" panose="02010600030101010101" pitchFamily="2" charset="-122"/>
              </a:rPr>
              <a:t>all transfers </a:t>
            </a:r>
            <a:r>
              <a:rPr lang="en-US" altLang="zh-CN" sz="1400" dirty="0">
                <a:ea typeface="宋体" panose="02010600030101010101" pitchFamily="2" charset="-122"/>
              </a:rPr>
              <a:t>from some account of bank A to some account of bank B are redirected to go into the attacker’s B account!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EFA77BF8-0179-0AED-F7DC-06987276C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3170CF-F12C-AD44-8F92-A2A26BC49AD6}" type="slidenum">
              <a:rPr lang="en-US" altLang="zh-CN">
                <a:solidFill>
                  <a:srgbClr val="394073"/>
                </a:solidFill>
              </a:rPr>
              <a:pPr/>
              <a:t>10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DDDD8705-1235-2906-1C36-0BB01B202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23558" name="Picture 2" descr="C:\Documents and Settings\Amir\Desktop\book\grundlagen_krypto\graphics\ecb_ex.png">
            <a:extLst>
              <a:ext uri="{FF2B5EF4-FFF2-40B4-BE49-F238E27FC236}">
                <a16:creationId xmlns:a16="http://schemas.microsoft.com/office/drawing/2014/main" id="{DA469696-ED02-8201-3EA5-D4BDD0B33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214563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697A9332-11C7-2909-90EB-AA3CD912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of encrypting bitmaps in ECB mode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2926682D-9EE7-DAFF-A637-238BF6EA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275" y="809180"/>
            <a:ext cx="6365875" cy="581749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Identical plaintexts are mapped to identical ciphertexts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>
                <a:ea typeface="宋体" panose="02010600030101010101" pitchFamily="2" charset="-122"/>
              </a:rPr>
              <a:t>Statistical properties in the plaintext are preserved in the ciphertext</a:t>
            </a: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D4657377-3C80-2703-680B-DE386A742B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841118-A796-6C47-986B-F6AB27BE5C81}" type="slidenum">
              <a:rPr lang="en-US" altLang="zh-CN">
                <a:solidFill>
                  <a:srgbClr val="394073"/>
                </a:solidFill>
              </a:rPr>
              <a:pPr/>
              <a:t>11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4581" name="Footer Placeholder 4">
            <a:extLst>
              <a:ext uri="{FF2B5EF4-FFF2-40B4-BE49-F238E27FC236}">
                <a16:creationId xmlns:a16="http://schemas.microsoft.com/office/drawing/2014/main" id="{78040A9C-7EFF-92F1-FC22-BC64B0073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60876A7-C637-7744-70F3-C44319B8EC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690881"/>
            <a:ext cx="2489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B92981B-7244-C3DC-CA36-246FACE4D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787" y="1690881"/>
            <a:ext cx="2489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634E7F6E-23CD-52C0-61A7-7C37F32E2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619" y="1688352"/>
            <a:ext cx="2489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F661965-70FD-93DB-EC5A-59B2D62023F6}"/>
              </a:ext>
            </a:extLst>
          </p:cNvPr>
          <p:cNvSpPr txBox="1"/>
          <p:nvPr/>
        </p:nvSpPr>
        <p:spPr>
          <a:xfrm>
            <a:off x="3294743" y="4598682"/>
            <a:ext cx="2521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Encrypted using ECB mode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5E9D89-B21E-76DF-A36E-81CBA55719D5}"/>
              </a:ext>
            </a:extLst>
          </p:cNvPr>
          <p:cNvSpPr txBox="1"/>
          <p:nvPr/>
        </p:nvSpPr>
        <p:spPr>
          <a:xfrm>
            <a:off x="6172200" y="4612974"/>
            <a:ext cx="2641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Modes other than ECB result in pseudo-randomness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>
            <a:extLst>
              <a:ext uri="{FF2B5EF4-FFF2-40B4-BE49-F238E27FC236}">
                <a16:creationId xmlns:a16="http://schemas.microsoft.com/office/drawing/2014/main" id="{29E79B78-044E-918C-5C88-E5E1DC21D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EA0EEB-F46C-A04A-95AA-10399E63C4CA}" type="slidenum">
              <a:rPr lang="en-US" altLang="zh-CN">
                <a:solidFill>
                  <a:srgbClr val="394073"/>
                </a:solidFill>
              </a:rPr>
              <a:pPr/>
              <a:t>12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5603" name="Footer Placeholder 4">
            <a:extLst>
              <a:ext uri="{FF2B5EF4-FFF2-40B4-BE49-F238E27FC236}">
                <a16:creationId xmlns:a16="http://schemas.microsoft.com/office/drawing/2014/main" id="{D0B73A34-F6DD-F2A1-5DC5-BE3CCCF03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7D236030-503B-1191-B8DD-631F035B2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82B4A87-D269-B569-7C04-EF157BE8C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ABCEC5C-68E0-40BC-963F-2488CB201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Cipher Block Chaining mode (CBC)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E4010-7D5B-D813-58DC-1EB949B9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080250" cy="2462213"/>
          </a:xfrm>
        </p:spPr>
        <p:txBody>
          <a:bodyPr/>
          <a:lstStyle/>
          <a:p>
            <a:pPr>
              <a:defRPr/>
            </a:pPr>
            <a:r>
              <a:rPr lang="en-US" dirty="0"/>
              <a:t>There are two main ideas behind the CBC mode:</a:t>
            </a:r>
          </a:p>
          <a:p>
            <a:pPr lvl="1">
              <a:defRPr/>
            </a:pPr>
            <a:r>
              <a:rPr lang="en-US" dirty="0"/>
              <a:t>The encryption of all blocks are “chained together”</a:t>
            </a:r>
          </a:p>
          <a:p>
            <a:pPr lvl="2">
              <a:defRPr/>
            </a:pPr>
            <a:r>
              <a:rPr lang="en-US" dirty="0" err="1"/>
              <a:t>ciphertext</a:t>
            </a:r>
            <a:r>
              <a:rPr lang="en-US" dirty="0"/>
              <a:t> </a:t>
            </a:r>
            <a:r>
              <a:rPr lang="en-US" sz="1800" i="1" dirty="0" err="1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8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 depends not only on block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i="1" baseline="-25000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 but </a:t>
            </a:r>
            <a:r>
              <a:rPr lang="en-US" dirty="0">
                <a:solidFill>
                  <a:srgbClr val="FF0000"/>
                </a:solidFill>
              </a:rPr>
              <a:t>on all previous plaintext blocks</a:t>
            </a:r>
            <a:r>
              <a:rPr lang="en-US" dirty="0"/>
              <a:t> as well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 encryption is </a:t>
            </a:r>
            <a:r>
              <a:rPr lang="en-US" dirty="0">
                <a:solidFill>
                  <a:srgbClr val="FF0000"/>
                </a:solidFill>
                <a:ea typeface="+mn-ea"/>
                <a:cs typeface="+mn-cs"/>
              </a:rPr>
              <a:t>randomized</a:t>
            </a:r>
            <a:r>
              <a:rPr lang="en-US" dirty="0">
                <a:ea typeface="+mn-ea"/>
                <a:cs typeface="+mn-cs"/>
              </a:rPr>
              <a:t> by using an initialization vector (IV)</a:t>
            </a: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>
              <a:buFontTx/>
              <a:buNone/>
              <a:defRPr/>
            </a:pPr>
            <a:endParaRPr lang="en-US" sz="1400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DB68E4F-59F6-AEC6-69E4-E06D42AF9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535EDF-5346-0245-B861-86A43C4068F9}" type="slidenum">
              <a:rPr lang="en-US" altLang="zh-CN">
                <a:solidFill>
                  <a:srgbClr val="394073"/>
                </a:solidFill>
              </a:rPr>
              <a:pPr/>
              <a:t>13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6629" name="Footer Placeholder 4">
            <a:extLst>
              <a:ext uri="{FF2B5EF4-FFF2-40B4-BE49-F238E27FC236}">
                <a16:creationId xmlns:a16="http://schemas.microsoft.com/office/drawing/2014/main" id="{CC8764BE-6F62-21F5-6920-BB89DEB05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26630" name="Rectangle 7">
            <a:extLst>
              <a:ext uri="{FF2B5EF4-FFF2-40B4-BE49-F238E27FC236}">
                <a16:creationId xmlns:a16="http://schemas.microsoft.com/office/drawing/2014/main" id="{B4A03659-38B3-C5FC-0898-1A503415F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1625" y="3929063"/>
            <a:ext cx="5715000" cy="14287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182880" rIns="182880" bIns="18288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i="1">
                <a:ea typeface="宋体" panose="02010600030101010101" pitchFamily="2" charset="-122"/>
              </a:rPr>
              <a:t>Encryption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first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IV)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Encryption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general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 </a:t>
            </a:r>
            <a:r>
              <a:rPr lang="en-US" altLang="zh-CN">
                <a:ea typeface="宋体" panose="02010600030101010101" pitchFamily="2" charset="-12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i−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first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</a:t>
            </a:r>
            <a:r>
              <a:rPr lang="en-US" altLang="zh-CN" sz="1600" i="1">
                <a:ea typeface="宋体" panose="02010600030101010101" pitchFamily="2" charset="-122"/>
              </a:rPr>
              <a:t>  </a:t>
            </a:r>
            <a:r>
              <a:rPr lang="en-US" altLang="zh-CN" i="1">
                <a:ea typeface="宋体" panose="02010600030101010101" pitchFamily="2" charset="-122"/>
              </a:rPr>
              <a:t>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⊕ IV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general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 :</a:t>
            </a:r>
            <a:r>
              <a:rPr lang="en-US" altLang="zh-CN" i="1">
                <a:ea typeface="宋体" panose="02010600030101010101" pitchFamily="2" charset="-12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nn-NO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n-NO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n-NO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n-NO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nn-NO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n-NO" altLang="zh-CN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i−</a:t>
            </a:r>
            <a:r>
              <a:rPr lang="nn-NO" altLang="zh-CN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nn-NO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,  i </a:t>
            </a:r>
            <a:r>
              <a:rPr lang="nn-NO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nn-NO" altLang="zh-CN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41F5951E-27C1-E71D-09FE-1C91F577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Cipher Block Chaining mode (CBC)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114F1-28A3-B5BB-E973-431BC1B73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651750" cy="2592388"/>
          </a:xfrm>
        </p:spPr>
        <p:txBody>
          <a:bodyPr/>
          <a:lstStyle/>
          <a:p>
            <a:pPr>
              <a:defRPr/>
            </a:pPr>
            <a:r>
              <a:rPr lang="en-US" dirty="0"/>
              <a:t>For the first plaintext block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/>
              <a:t>there is no previous </a:t>
            </a:r>
            <a:r>
              <a:rPr lang="en-US" dirty="0" err="1"/>
              <a:t>ciphertext</a:t>
            </a:r>
            <a:endParaRPr lang="en-US" dirty="0"/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an IV is added to the first plaintext to make each CBC encryption nondeterministic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 first </a:t>
            </a:r>
            <a:r>
              <a:rPr lang="en-US" dirty="0" err="1">
                <a:ea typeface="+mn-ea"/>
                <a:cs typeface="+mn-cs"/>
              </a:rPr>
              <a:t>ciphertext</a:t>
            </a:r>
            <a:r>
              <a:rPr lang="en-US" dirty="0">
                <a:ea typeface="+mn-ea"/>
                <a:cs typeface="+mn-cs"/>
              </a:rPr>
              <a:t>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i="1" dirty="0">
                <a:ea typeface="+mn-ea"/>
                <a:cs typeface="+mn-cs"/>
              </a:rPr>
              <a:t> </a:t>
            </a:r>
            <a:r>
              <a:rPr lang="en-US" dirty="0">
                <a:ea typeface="+mn-ea"/>
                <a:cs typeface="+mn-cs"/>
              </a:rPr>
              <a:t>depends on plaintext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ea typeface="+mn-ea"/>
                <a:cs typeface="+mn-cs"/>
              </a:rPr>
              <a:t> and the IV</a:t>
            </a:r>
          </a:p>
          <a:p>
            <a:pPr>
              <a:defRPr/>
            </a:pPr>
            <a:r>
              <a:rPr lang="en-US" dirty="0"/>
              <a:t>The second </a:t>
            </a:r>
            <a:r>
              <a:rPr lang="en-US" dirty="0" err="1"/>
              <a:t>ciphertext</a:t>
            </a:r>
            <a:r>
              <a:rPr lang="en-US" dirty="0"/>
              <a:t>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depends on the IV,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i="1" dirty="0"/>
              <a:t> and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1800" i="1" baseline="-25000" dirty="0"/>
          </a:p>
          <a:p>
            <a:pPr>
              <a:defRPr/>
            </a:pPr>
            <a:r>
              <a:rPr lang="en-US" dirty="0"/>
              <a:t>The third </a:t>
            </a:r>
            <a:r>
              <a:rPr lang="en-US" dirty="0" err="1"/>
              <a:t>ciphertext</a:t>
            </a:r>
            <a:r>
              <a:rPr lang="en-US" dirty="0"/>
              <a:t>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depends on the IV and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i="1" dirty="0"/>
              <a:t>,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/>
              <a:t> and 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/>
              <a:t>, and so on</a:t>
            </a:r>
          </a:p>
          <a:p>
            <a:pPr>
              <a:buFontTx/>
              <a:buNone/>
              <a:defRPr/>
            </a:pPr>
            <a:endParaRPr lang="en-US" sz="1400" dirty="0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5A2DEFCA-6555-33F3-02A5-72277B979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DDCF2D9-2372-714B-B0C9-815B69E9BB58}" type="slidenum">
              <a:rPr lang="en-US" altLang="zh-CN">
                <a:solidFill>
                  <a:srgbClr val="394073"/>
                </a:solidFill>
              </a:rPr>
              <a:pPr/>
              <a:t>14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7653" name="Footer Placeholder 4">
            <a:extLst>
              <a:ext uri="{FF2B5EF4-FFF2-40B4-BE49-F238E27FC236}">
                <a16:creationId xmlns:a16="http://schemas.microsoft.com/office/drawing/2014/main" id="{F4C39FDD-BEAA-9852-11C7-D225C82F4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27654" name="Picture 2" descr="C:\Documents and Settings\Amir\Desktop\book\grundlagen_krypto\graphics\cbc.png">
            <a:extLst>
              <a:ext uri="{FF2B5EF4-FFF2-40B4-BE49-F238E27FC236}">
                <a16:creationId xmlns:a16="http://schemas.microsoft.com/office/drawing/2014/main" id="{E19665BB-7095-1319-F81E-F661301FD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3929063"/>
            <a:ext cx="5857875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548680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2800" dirty="0">
                <a:latin typeface="+mj-lt"/>
                <a:ea typeface="ヒラギノ角ゴ Pro W3" charset="-128"/>
              </a:rPr>
              <a:t>Cipher Block Chaining     (</a:t>
            </a:r>
            <a:r>
              <a:rPr lang="en-IN" altLang="en-US" sz="2800" spc="-400" dirty="0">
                <a:latin typeface="+mj-lt"/>
                <a:ea typeface="ヒラギノ角ゴ Pro W3" charset="-128"/>
              </a:rPr>
              <a:t>C B </a:t>
            </a:r>
            <a:r>
              <a:rPr lang="en-IN" altLang="en-US" sz="2800" dirty="0">
                <a:latin typeface="+mj-lt"/>
                <a:ea typeface="ヒラギノ角ゴ Pro W3" charset="-128"/>
              </a:rPr>
              <a:t>C) Mode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2" descr="a. Encryption is illustrated as a series of processes each from input P through Encryption to output C, with input K at Encryption. The first process has P sub 1 passing through X O R operation, with input I V. The second process has input P sub 1 passing through X O R with input C sub 1 (output of previous process). The last process has P sub N passing through X O R operation with input C sub (N minus 1), the output from the previous process.&#10;b. Decryption is illustrated as a series of processes each from input C through Decryption to output P, with input K at Encryption. The first has flow from decryption passing through X O R operation, with input I V. The second has flow from decryption passing through X O R with input C sub 1 (input from previous process). The last has flow from decryption passing through X O R operation with input C sub (N minus 1), the input from the previous process.&#10;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5616" y="593303"/>
            <a:ext cx="6480720" cy="610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0465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369A196-9191-8E54-125A-EDB5E07A0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Substitution Attack on CBC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FB371713-F932-634E-53DD-3CDB81B97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084887" cy="4432300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Suppose the last example (</a:t>
            </a:r>
            <a:r>
              <a:rPr lang="en-US" altLang="zh-CN" i="1" dirty="0">
                <a:ea typeface="宋体" panose="02010600030101010101" pitchFamily="2" charset="-122"/>
              </a:rPr>
              <a:t>electronic bank transfer</a:t>
            </a:r>
            <a:r>
              <a:rPr lang="en-US" altLang="zh-CN" dirty="0">
                <a:ea typeface="宋体" panose="02010600030101010101" pitchFamily="2" charset="-122"/>
              </a:rPr>
              <a:t>)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If the IV is properly chosen for every wire transfer, the attack will not work at all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If the IV is kept the same for several transfers, the attacker would recognize the transfers from his account at bank A to back B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If we choose a new IV every time we encrypt, the CBC mode becomes a 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probabilistic encryption scheme</a:t>
            </a:r>
            <a:r>
              <a:rPr lang="en-US" altLang="zh-CN" dirty="0">
                <a:ea typeface="宋体" panose="02010600030101010101" pitchFamily="2" charset="-122"/>
              </a:rPr>
              <a:t>, i.e., two encryptions of the same plaintext look entirely different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It is not needed to keep the IV </a:t>
            </a:r>
            <a:r>
              <a:rPr lang="en-US" altLang="zh-CN" i="1" dirty="0">
                <a:ea typeface="宋体" panose="02010600030101010101" pitchFamily="2" charset="-122"/>
              </a:rPr>
              <a:t>secret</a:t>
            </a:r>
            <a:r>
              <a:rPr lang="en-US" altLang="zh-CN" dirty="0">
                <a:ea typeface="宋体" panose="02010600030101010101" pitchFamily="2" charset="-122"/>
              </a:rPr>
              <a:t>!</a:t>
            </a:r>
          </a:p>
          <a:p>
            <a:r>
              <a:rPr lang="en-US" altLang="zh-CN" dirty="0">
                <a:ea typeface="宋体" panose="02010600030101010101" pitchFamily="2" charset="-122"/>
              </a:rPr>
              <a:t>Typically, the IV should be a non-secret nonce (value used only once)</a:t>
            </a: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1B571DC9-139A-64DA-367E-39B639A0D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EE3968-4656-CF49-B8ED-4ACB62D8DC7E}" type="slidenum">
              <a:rPr lang="en-US" altLang="zh-CN">
                <a:solidFill>
                  <a:srgbClr val="394073"/>
                </a:solidFill>
              </a:rPr>
              <a:pPr/>
              <a:t>16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8677" name="Footer Placeholder 4">
            <a:extLst>
              <a:ext uri="{FF2B5EF4-FFF2-40B4-BE49-F238E27FC236}">
                <a16:creationId xmlns:a16="http://schemas.microsoft.com/office/drawing/2014/main" id="{81D2226F-105D-58CA-A68F-045613144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>
            <a:extLst>
              <a:ext uri="{FF2B5EF4-FFF2-40B4-BE49-F238E27FC236}">
                <a16:creationId xmlns:a16="http://schemas.microsoft.com/office/drawing/2014/main" id="{842A693B-292A-CCE9-6289-4662E16FAE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EE7311-738D-C444-951A-ABC7D57BB438}" type="slidenum">
              <a:rPr lang="en-US" altLang="zh-CN">
                <a:solidFill>
                  <a:srgbClr val="394073"/>
                </a:solidFill>
              </a:rPr>
              <a:pPr/>
              <a:t>17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29699" name="Footer Placeholder 4">
            <a:extLst>
              <a:ext uri="{FF2B5EF4-FFF2-40B4-BE49-F238E27FC236}">
                <a16:creationId xmlns:a16="http://schemas.microsoft.com/office/drawing/2014/main" id="{C7C4C6CB-00FC-FE15-D447-05FD24BD2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94FE405B-59AC-DD76-8387-3B352618B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86A63395-6ADF-4342-07D6-29AB54B8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327B392-CB6A-E67C-B9D5-A3750409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Output Feedback mode (OFB)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E03B484E-A7FC-A4AA-AF6C-BC8BA9DA2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508875" cy="13541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It is used to build a </a:t>
            </a:r>
            <a:r>
              <a:rPr lang="en-US" altLang="zh-CN" i="1">
                <a:ea typeface="宋体" panose="02010600030101010101" pitchFamily="2" charset="-122"/>
              </a:rPr>
              <a:t>synchronous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ea typeface="宋体" panose="02010600030101010101" pitchFamily="2" charset="-122"/>
              </a:rPr>
              <a:t>stream cipher </a:t>
            </a:r>
            <a:r>
              <a:rPr lang="en-US" altLang="zh-CN">
                <a:ea typeface="宋体" panose="02010600030101010101" pitchFamily="2" charset="-122"/>
              </a:rPr>
              <a:t>from a block cipher</a:t>
            </a:r>
          </a:p>
          <a:p>
            <a:r>
              <a:rPr lang="en-US" altLang="zh-CN">
                <a:ea typeface="宋体" panose="02010600030101010101" pitchFamily="2" charset="-122"/>
              </a:rPr>
              <a:t>The key stream is not generated bitwise but instead in a blockwise fashion</a:t>
            </a:r>
          </a:p>
          <a:p>
            <a:r>
              <a:rPr lang="en-US" altLang="zh-CN">
                <a:ea typeface="宋体" panose="02010600030101010101" pitchFamily="2" charset="-122"/>
              </a:rPr>
              <a:t>The output of the cipher gives us key stream bits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with which we can encrypt plaintext bits using the XOR operation</a:t>
            </a: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A95E221-F1E6-F1DA-BB34-0B8E8358B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52B2FA-3C28-7540-AF2E-6B6199C9B02C}" type="slidenum">
              <a:rPr lang="en-US" altLang="zh-CN">
                <a:solidFill>
                  <a:srgbClr val="394073"/>
                </a:solidFill>
              </a:rPr>
              <a:pPr/>
              <a:t>18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0725" name="Footer Placeholder 4">
            <a:extLst>
              <a:ext uri="{FF2B5EF4-FFF2-40B4-BE49-F238E27FC236}">
                <a16:creationId xmlns:a16="http://schemas.microsoft.com/office/drawing/2014/main" id="{38834CEE-2C82-0200-1E6A-2C701ACF3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30726" name="Picture 2" descr="C:\Documents and Settings\Amir\Desktop\book\grundlagen_krypto\graphics\ofb.png">
            <a:extLst>
              <a:ext uri="{FF2B5EF4-FFF2-40B4-BE49-F238E27FC236}">
                <a16:creationId xmlns:a16="http://schemas.microsoft.com/office/drawing/2014/main" id="{02F65E8C-F38E-0D9F-FC7D-F425CE0E22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2643188"/>
            <a:ext cx="5786438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7" name="Rectangle 6">
            <a:extLst>
              <a:ext uri="{FF2B5EF4-FFF2-40B4-BE49-F238E27FC236}">
                <a16:creationId xmlns:a16="http://schemas.microsoft.com/office/drawing/2014/main" id="{85118BF6-59F4-0E5B-6504-0B5D6AA68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929188"/>
            <a:ext cx="6715125" cy="14287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182880" rIns="182880" bIns="18288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i="1">
                <a:ea typeface="宋体" panose="02010600030101010101" pitchFamily="2" charset="-122"/>
              </a:rPr>
              <a:t>Encryption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first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</a:t>
            </a:r>
            <a:r>
              <a:rPr lang="en-US" altLang="zh-CN" i="1">
                <a:ea typeface="宋体" panose="02010600030101010101" pitchFamily="2" charset="-122"/>
              </a:rPr>
              <a:t>  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(IV)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Encryption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general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 </a:t>
            </a:r>
            <a:r>
              <a:rPr lang="en-US" altLang="zh-CN">
                <a:ea typeface="宋体" panose="02010600030101010101" pitchFamily="2" charset="-12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i−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 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first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:</a:t>
            </a:r>
            <a:r>
              <a:rPr lang="en-US" altLang="zh-CN" sz="1600" i="1">
                <a:ea typeface="宋体" panose="02010600030101010101" pitchFamily="2" charset="-122"/>
              </a:rPr>
              <a:t>  </a:t>
            </a:r>
            <a:r>
              <a:rPr lang="en-US" altLang="zh-CN" i="1">
                <a:ea typeface="宋体" panose="02010600030101010101" pitchFamily="2" charset="-122"/>
              </a:rPr>
              <a:t>    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(IV)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 </a:t>
            </a:r>
            <a:r>
              <a:rPr lang="en-US" altLang="zh-CN" sz="1600" b="1">
                <a:ea typeface="宋体" panose="02010600030101010101" pitchFamily="2" charset="-122"/>
              </a:rPr>
              <a:t>(</a:t>
            </a:r>
            <a:r>
              <a:rPr lang="en-US" altLang="zh-CN" sz="1600" b="1" i="1">
                <a:ea typeface="宋体" panose="02010600030101010101" pitchFamily="2" charset="-122"/>
              </a:rPr>
              <a:t>general block</a:t>
            </a:r>
            <a:r>
              <a:rPr lang="en-US" altLang="zh-CN" sz="1600" b="1">
                <a:ea typeface="宋体" panose="02010600030101010101" pitchFamily="2" charset="-122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 :</a:t>
            </a:r>
            <a:r>
              <a:rPr lang="en-US" altLang="zh-CN" i="1">
                <a:ea typeface="宋体" panose="02010600030101010101" pitchFamily="2" charset="-122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i−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and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 i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nn-NO" altLang="zh-C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6"/>
            <a:ext cx="8229600" cy="46808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2800" dirty="0">
                <a:latin typeface="+mj-lt"/>
                <a:ea typeface="ヒラギノ角ゴ Pro W3" charset="-128"/>
              </a:rPr>
              <a:t>Output Feedback (</a:t>
            </a:r>
            <a:r>
              <a:rPr lang="en-IN" altLang="en-US" sz="2800" spc="-400" dirty="0">
                <a:latin typeface="+mj-lt"/>
                <a:ea typeface="ヒラギノ角ゴ Pro W3" charset="-128"/>
              </a:rPr>
              <a:t>O F </a:t>
            </a:r>
            <a:r>
              <a:rPr lang="en-IN" altLang="en-US" sz="2800" dirty="0">
                <a:latin typeface="+mj-lt"/>
                <a:ea typeface="ヒラギノ角ゴ Pro W3" charset="-128"/>
              </a:rPr>
              <a:t>B) Mode (1 of 2)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2" descr="a.  Encryption is illustrated with a series of processes each with input I to encryption, with input K, with output O through X O R operation, with input P, producing output C. The first process has input I sub 1 from Nonce. The second process has input I sub 2 from the encryption of the previous process. The last process has input I sub N from the encryption of the previous process.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399" y="914400"/>
            <a:ext cx="8837265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64893F6D-BCED-4F00-B802-26EBF3E79C58}"/>
                  </a:ext>
                </a:extLst>
              </p14:cNvPr>
              <p14:cNvContentPartPr/>
              <p14:nvPr/>
            </p14:nvContentPartPr>
            <p14:xfrm>
              <a:off x="799920" y="1259640"/>
              <a:ext cx="212760" cy="31032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64893F6D-BCED-4F00-B802-26EBF3E79C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0560" y="1250280"/>
                <a:ext cx="231480" cy="32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02910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2800" dirty="0">
                <a:latin typeface="+mj-lt"/>
                <a:ea typeface="ヒラギノ角ゴ Pro W3" charset="-128"/>
              </a:rPr>
              <a:t>Output Feedback (</a:t>
            </a:r>
            <a:r>
              <a:rPr lang="en-IN" altLang="en-US" sz="2800" spc="-400" dirty="0">
                <a:latin typeface="+mj-lt"/>
                <a:ea typeface="ヒラギノ角ゴ Pro W3" charset="-128"/>
              </a:rPr>
              <a:t>O F </a:t>
            </a:r>
            <a:r>
              <a:rPr lang="en-IN" altLang="en-US" sz="2800" dirty="0">
                <a:latin typeface="+mj-lt"/>
                <a:ea typeface="ヒラギノ角ゴ Pro W3" charset="-128"/>
              </a:rPr>
              <a:t>B) Mode (2 of 2)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2" descr="b.  Decryption is illustrated with a series of processes each with input I to encryption, with input K, with output O through X O R operation, with input C, producing output P. The first process has input I sub 1 from Nonce. The second process has input I sub 2 from the encryption of the previous process. The last process has input I sub N from the encryption of the previous process.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66" y="1066800"/>
            <a:ext cx="9063234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236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CD925794-6294-0E26-C83E-3980DD0354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3E43BA-920D-684A-B57C-866EAABBC6FC}" type="slidenum">
              <a:rPr lang="en-US" altLang="zh-CN">
                <a:solidFill>
                  <a:srgbClr val="394073"/>
                </a:solidFill>
              </a:rPr>
              <a:pPr/>
              <a:t>21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1747" name="Footer Placeholder 4">
            <a:extLst>
              <a:ext uri="{FF2B5EF4-FFF2-40B4-BE49-F238E27FC236}">
                <a16:creationId xmlns:a16="http://schemas.microsoft.com/office/drawing/2014/main" id="{A428F451-A1CA-F7AC-43C7-D42AB5B68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1E4D47BF-CC99-C8A8-4F76-D9BF353678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65B81E29-0981-497D-D0D5-ED1D9FBFC6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52224468-B6D2-6505-3624-87D2D3AD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Cipher Feedback mode (CFB)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AE5596ED-6B0F-80EB-1EE0-8EB35BA94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294562" cy="53546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It uses a block cipher as a building block for an asynchronous </a:t>
            </a:r>
            <a:r>
              <a:rPr lang="en-US" altLang="zh-CN" b="1">
                <a:ea typeface="宋体" panose="02010600030101010101" pitchFamily="2" charset="-122"/>
              </a:rPr>
              <a:t>stream cipher </a:t>
            </a:r>
            <a:r>
              <a:rPr lang="en-US" altLang="zh-CN">
                <a:ea typeface="宋体" panose="02010600030101010101" pitchFamily="2" charset="-122"/>
              </a:rPr>
              <a:t>(similar to the OFB mode), more accurate name: “Ciphertext Feedback Mode”</a:t>
            </a:r>
          </a:p>
          <a:p>
            <a:r>
              <a:rPr lang="en-US" altLang="zh-CN">
                <a:ea typeface="宋体" panose="02010600030101010101" pitchFamily="2" charset="-122"/>
              </a:rPr>
              <a:t>The key stream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 is generated in a blockwise fashion and is also a function of the ciphertext</a:t>
            </a:r>
          </a:p>
          <a:p>
            <a:r>
              <a:rPr lang="en-US" altLang="zh-CN">
                <a:ea typeface="宋体" panose="02010600030101010101" pitchFamily="2" charset="-122"/>
              </a:rPr>
              <a:t>As a result of the use of an IV, the CFB encryption is also nondeterministic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It can be used in situations where short plaintext blocks are to be encrypted</a:t>
            </a: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A7F5CD70-9431-943F-AAF6-412734A288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6A956B-C01D-C747-B293-5F636230D9FE}" type="slidenum">
              <a:rPr lang="en-US" altLang="zh-CN">
                <a:solidFill>
                  <a:srgbClr val="394073"/>
                </a:solidFill>
              </a:rPr>
              <a:pPr/>
              <a:t>22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2773" name="Footer Placeholder 4">
            <a:extLst>
              <a:ext uri="{FF2B5EF4-FFF2-40B4-BE49-F238E27FC236}">
                <a16:creationId xmlns:a16="http://schemas.microsoft.com/office/drawing/2014/main" id="{2C8B04FF-BB74-A496-C49A-1226DDE50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32774" name="Picture 3" descr="C:\Documents and Settings\Amir\Desktop\book\grundlagen_krypto\graphics\cfb_simple.png">
            <a:extLst>
              <a:ext uri="{FF2B5EF4-FFF2-40B4-BE49-F238E27FC236}">
                <a16:creationId xmlns:a16="http://schemas.microsoft.com/office/drawing/2014/main" id="{0AE31FB3-77F2-7D92-477B-0A80B4954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857500"/>
            <a:ext cx="600710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5" name="Rectangle 7">
            <a:extLst>
              <a:ext uri="{FF2B5EF4-FFF2-40B4-BE49-F238E27FC236}">
                <a16:creationId xmlns:a16="http://schemas.microsoft.com/office/drawing/2014/main" id="{13829C4F-4233-3E54-6172-3AFA7FE14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63" y="4929188"/>
            <a:ext cx="4929187" cy="11430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91440" bIns="9144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500" b="1" i="1">
                <a:ea typeface="宋体" panose="02010600030101010101" pitchFamily="2" charset="-122"/>
              </a:rPr>
              <a:t>Encryption </a:t>
            </a:r>
            <a:r>
              <a:rPr lang="en-US" altLang="zh-CN" sz="1500" b="1">
                <a:ea typeface="宋体" panose="02010600030101010101" pitchFamily="2" charset="-122"/>
              </a:rPr>
              <a:t>(</a:t>
            </a:r>
            <a:r>
              <a:rPr lang="en-US" altLang="zh-CN" sz="1500" b="1" i="1">
                <a:ea typeface="宋体" panose="02010600030101010101" pitchFamily="2" charset="-122"/>
              </a:rPr>
              <a:t>first block</a:t>
            </a:r>
            <a:r>
              <a:rPr lang="en-US" altLang="zh-CN" sz="1500" b="1">
                <a:ea typeface="宋体" panose="02010600030101010101" pitchFamily="2" charset="-122"/>
              </a:rPr>
              <a:t>)</a:t>
            </a:r>
            <a:r>
              <a:rPr lang="en-US" altLang="zh-CN" sz="1500">
                <a:ea typeface="宋体" panose="02010600030101010101" pitchFamily="2" charset="-122"/>
              </a:rPr>
              <a:t>:</a:t>
            </a:r>
            <a:r>
              <a:rPr lang="en-US" altLang="zh-CN" sz="1500" i="1">
                <a:ea typeface="宋体" panose="02010600030101010101" pitchFamily="2" charset="-122"/>
              </a:rPr>
              <a:t>       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5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(IV) ⊕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5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5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b="1" i="1">
                <a:ea typeface="宋体" panose="02010600030101010101" pitchFamily="2" charset="-122"/>
              </a:rPr>
              <a:t>Encryption </a:t>
            </a:r>
            <a:r>
              <a:rPr lang="en-US" altLang="zh-CN" sz="1500" b="1">
                <a:ea typeface="宋体" panose="02010600030101010101" pitchFamily="2" charset="-122"/>
              </a:rPr>
              <a:t>(</a:t>
            </a:r>
            <a:r>
              <a:rPr lang="en-US" altLang="zh-CN" sz="1500" b="1" i="1">
                <a:ea typeface="宋体" panose="02010600030101010101" pitchFamily="2" charset="-122"/>
              </a:rPr>
              <a:t>general block</a:t>
            </a:r>
            <a:r>
              <a:rPr lang="en-US" altLang="zh-CN" sz="1500" b="1">
                <a:ea typeface="宋体" panose="02010600030101010101" pitchFamily="2" charset="-122"/>
              </a:rPr>
              <a:t>)</a:t>
            </a:r>
            <a:r>
              <a:rPr lang="en-US" altLang="zh-CN" sz="1500">
                <a:ea typeface="宋体" panose="02010600030101010101" pitchFamily="2" charset="-122"/>
              </a:rPr>
              <a:t>:  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i−</a:t>
            </a:r>
            <a:r>
              <a:rPr lang="en-US" altLang="zh-CN" sz="15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⊕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  i 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r>
              <a:rPr lang="en-US" altLang="zh-CN" sz="1500" b="1" i="1">
                <a:ea typeface="宋体" panose="02010600030101010101" pitchFamily="2" charset="-122"/>
              </a:rPr>
              <a:t>Decryption </a:t>
            </a:r>
            <a:r>
              <a:rPr lang="en-US" altLang="zh-CN" sz="1500" b="1">
                <a:ea typeface="宋体" panose="02010600030101010101" pitchFamily="2" charset="-122"/>
              </a:rPr>
              <a:t>(</a:t>
            </a:r>
            <a:r>
              <a:rPr lang="en-US" altLang="zh-CN" sz="1500" b="1" i="1">
                <a:ea typeface="宋体" panose="02010600030101010101" pitchFamily="2" charset="-122"/>
              </a:rPr>
              <a:t>first block</a:t>
            </a:r>
            <a:r>
              <a:rPr lang="en-US" altLang="zh-CN" sz="1500" b="1">
                <a:ea typeface="宋体" panose="02010600030101010101" pitchFamily="2" charset="-122"/>
              </a:rPr>
              <a:t>)</a:t>
            </a:r>
            <a:r>
              <a:rPr lang="en-US" altLang="zh-CN" sz="1500">
                <a:ea typeface="宋体" panose="02010600030101010101" pitchFamily="2" charset="-122"/>
              </a:rPr>
              <a:t>:</a:t>
            </a:r>
            <a:r>
              <a:rPr lang="en-US" altLang="zh-CN" sz="1500" i="1">
                <a:ea typeface="宋体" panose="02010600030101010101" pitchFamily="2" charset="-122"/>
              </a:rPr>
              <a:t>       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5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5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5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(IV) ⊕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y</a:t>
            </a:r>
            <a:r>
              <a:rPr lang="en-US" altLang="zh-CN" sz="15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en-US" altLang="zh-CN" sz="15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500" b="1" i="1">
                <a:ea typeface="宋体" panose="02010600030101010101" pitchFamily="2" charset="-122"/>
              </a:rPr>
              <a:t>Decryption </a:t>
            </a:r>
            <a:r>
              <a:rPr lang="en-US" altLang="zh-CN" sz="1500" b="1">
                <a:ea typeface="宋体" panose="02010600030101010101" pitchFamily="2" charset="-122"/>
              </a:rPr>
              <a:t>(</a:t>
            </a:r>
            <a:r>
              <a:rPr lang="en-US" altLang="zh-CN" sz="1500" b="1" i="1">
                <a:ea typeface="宋体" panose="02010600030101010101" pitchFamily="2" charset="-122"/>
              </a:rPr>
              <a:t>general block</a:t>
            </a:r>
            <a:r>
              <a:rPr lang="en-US" altLang="zh-CN" sz="1500" b="1">
                <a:ea typeface="宋体" panose="02010600030101010101" pitchFamily="2" charset="-122"/>
              </a:rPr>
              <a:t>)</a:t>
            </a:r>
            <a:r>
              <a:rPr lang="en-US" altLang="zh-CN" sz="1500">
                <a:ea typeface="宋体" panose="02010600030101010101" pitchFamily="2" charset="-122"/>
              </a:rPr>
              <a:t> :</a:t>
            </a:r>
            <a:r>
              <a:rPr lang="en-US" altLang="zh-CN" sz="1500" i="1">
                <a:ea typeface="宋体" panose="02010600030101010101" pitchFamily="2" charset="-122"/>
              </a:rPr>
              <a:t>  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5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5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5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nn-NO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nn-NO" altLang="zh-CN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n-NO" altLang="zh-CN" sz="15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i−</a:t>
            </a:r>
            <a:r>
              <a:rPr lang="nn-NO" altLang="zh-CN" sz="15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nn-NO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nn-NO" altLang="zh-CN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n-NO" altLang="zh-CN" sz="15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nn-NO" altLang="zh-CN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,    i </a:t>
            </a:r>
            <a:r>
              <a:rPr lang="nn-NO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nn-NO" altLang="zh-CN" sz="15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en-US" altLang="zh-CN" sz="15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5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56"/>
            <a:ext cx="8229600" cy="53574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2400" dirty="0">
                <a:latin typeface="+mj-lt"/>
                <a:ea typeface="ヒラギノ角ゴ Pro W3" charset="-128"/>
              </a:rPr>
              <a:t>Cipher Feedback</a:t>
            </a:r>
            <a:r>
              <a:rPr lang="zh-CN" altLang="en-US" sz="2400" dirty="0">
                <a:latin typeface="+mj-lt"/>
                <a:ea typeface="ヒラギノ角ゴ Pro W3" charset="-128"/>
              </a:rPr>
              <a:t> </a:t>
            </a:r>
            <a:r>
              <a:rPr lang="en-IN" altLang="en-US" sz="2400" dirty="0">
                <a:latin typeface="+mj-lt"/>
                <a:ea typeface="ヒラギノ角ゴ Pro W3" charset="-128"/>
              </a:rPr>
              <a:t>(</a:t>
            </a:r>
            <a:r>
              <a:rPr lang="en-IN" altLang="en-US" sz="2400" spc="-400" dirty="0">
                <a:latin typeface="+mj-lt"/>
                <a:ea typeface="ヒラギノ角ゴ Pro W3" charset="-128"/>
              </a:rPr>
              <a:t>C F </a:t>
            </a:r>
            <a:r>
              <a:rPr lang="en-IN" altLang="en-US" sz="2400" dirty="0">
                <a:latin typeface="+mj-lt"/>
                <a:ea typeface="ヒラギノ角ゴ Pro W3" charset="-128"/>
              </a:rPr>
              <a:t>B) Mode (1 of 2)</a:t>
            </a:r>
            <a:endParaRPr lang="en-US" sz="2400" dirty="0"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0F11C-CD6D-D422-B653-58479C0A6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3" y="1052736"/>
            <a:ext cx="9136014" cy="352839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54032DB3-AB03-28A5-1E58-EAA401A74EB2}"/>
                  </a:ext>
                </a:extLst>
              </p14:cNvPr>
              <p14:cNvContentPartPr/>
              <p14:nvPr/>
            </p14:nvContentPartPr>
            <p14:xfrm>
              <a:off x="2205000" y="2701080"/>
              <a:ext cx="256680" cy="4500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54032DB3-AB03-28A5-1E58-EAA401A74EB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95640" y="2691720"/>
                <a:ext cx="275400" cy="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4032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056"/>
            <a:ext cx="8229600" cy="459544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2400" dirty="0">
                <a:latin typeface="+mj-lt"/>
                <a:ea typeface="ヒラギノ角ゴ Pro W3" charset="-128"/>
              </a:rPr>
              <a:t>Cipher Feedback</a:t>
            </a:r>
            <a:r>
              <a:rPr lang="zh-CN" altLang="en-US" sz="2400" dirty="0">
                <a:latin typeface="+mj-lt"/>
                <a:ea typeface="ヒラギノ角ゴ Pro W3" charset="-128"/>
              </a:rPr>
              <a:t> </a:t>
            </a:r>
            <a:r>
              <a:rPr lang="en-IN" altLang="en-US" sz="2400" dirty="0">
                <a:latin typeface="+mj-lt"/>
                <a:ea typeface="ヒラギノ角ゴ Pro W3" charset="-128"/>
              </a:rPr>
              <a:t>(</a:t>
            </a:r>
            <a:r>
              <a:rPr lang="en-IN" altLang="en-US" sz="2400" spc="-400" dirty="0">
                <a:latin typeface="+mj-lt"/>
                <a:ea typeface="ヒラギノ角ゴ Pro W3" charset="-128"/>
              </a:rPr>
              <a:t>C F </a:t>
            </a:r>
            <a:r>
              <a:rPr lang="en-IN" altLang="en-US" sz="2400" dirty="0">
                <a:latin typeface="+mj-lt"/>
                <a:ea typeface="ヒラギノ角ゴ Pro W3" charset="-128"/>
              </a:rPr>
              <a:t>B) Mode (2 of 2)</a:t>
            </a:r>
            <a:endParaRPr lang="en-US" sz="2400" dirty="0">
              <a:latin typeface="+mj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F9122B-323B-45C9-B14E-133A5C08E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8" y="1124744"/>
            <a:ext cx="8896409" cy="327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826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>
            <a:extLst>
              <a:ext uri="{FF2B5EF4-FFF2-40B4-BE49-F238E27FC236}">
                <a16:creationId xmlns:a16="http://schemas.microsoft.com/office/drawing/2014/main" id="{9CD46B90-EB01-B5C6-9B2F-E1EEE3CB7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C998A4-541B-FC45-895C-530FD5A691D4}" type="slidenum">
              <a:rPr lang="en-US" altLang="zh-CN">
                <a:solidFill>
                  <a:srgbClr val="394073"/>
                </a:solidFill>
              </a:rPr>
              <a:pPr/>
              <a:t>25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3795" name="Footer Placeholder 4">
            <a:extLst>
              <a:ext uri="{FF2B5EF4-FFF2-40B4-BE49-F238E27FC236}">
                <a16:creationId xmlns:a16="http://schemas.microsoft.com/office/drawing/2014/main" id="{461B746C-1793-6D88-7C41-B10935E6E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0191D382-4549-0669-865E-70DF496670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EC71EBB6-8B38-D753-2B11-7C4C597096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6BA72EA1-4196-4FEA-6B45-4C305A3E3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Counter mode (CTR)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819" name="Content Placeholder 2">
            <a:extLst>
              <a:ext uri="{FF2B5EF4-FFF2-40B4-BE49-F238E27FC236}">
                <a16:creationId xmlns:a16="http://schemas.microsoft.com/office/drawing/2014/main" id="{8A0108C0-1D60-9977-2D27-C5D0CA2E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294562" cy="498633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It uses a block cipher as a </a:t>
            </a:r>
            <a:r>
              <a:rPr lang="en-US" altLang="zh-CN" b="1">
                <a:ea typeface="宋体" panose="02010600030101010101" pitchFamily="2" charset="-122"/>
              </a:rPr>
              <a:t>stream cipher </a:t>
            </a:r>
            <a:r>
              <a:rPr lang="en-US" altLang="zh-CN">
                <a:ea typeface="宋体" panose="02010600030101010101" pitchFamily="2" charset="-122"/>
              </a:rPr>
              <a:t>(like the OFB and CFB modes)</a:t>
            </a:r>
          </a:p>
          <a:p>
            <a:r>
              <a:rPr lang="en-US" altLang="zh-CN">
                <a:ea typeface="宋体" panose="02010600030101010101" pitchFamily="2" charset="-122"/>
              </a:rPr>
              <a:t>The key stream is computed in a blockwise fashion</a:t>
            </a:r>
          </a:p>
          <a:p>
            <a:r>
              <a:rPr lang="en-US" altLang="zh-CN">
                <a:ea typeface="宋体" panose="02010600030101010101" pitchFamily="2" charset="-122"/>
              </a:rPr>
              <a:t>The input to the block cipher is a counter which assumes a different value every time the block cipher computes a new key stream block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 sz="14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Unlike CFB and OFB modes, the CTR mode can be parallelized since the 2</a:t>
            </a:r>
            <a:r>
              <a:rPr lang="en-US" altLang="zh-CN" baseline="30000">
                <a:ea typeface="宋体" panose="02010600030101010101" pitchFamily="2" charset="-122"/>
              </a:rPr>
              <a:t>nd</a:t>
            </a:r>
            <a:r>
              <a:rPr lang="en-US" altLang="zh-CN">
                <a:ea typeface="宋体" panose="02010600030101010101" pitchFamily="2" charset="-122"/>
              </a:rPr>
              <a:t> encryption can begin before the 1</a:t>
            </a:r>
            <a:r>
              <a:rPr lang="en-US" altLang="zh-CN" baseline="30000">
                <a:ea typeface="宋体" panose="02010600030101010101" pitchFamily="2" charset="-122"/>
              </a:rPr>
              <a:t>st</a:t>
            </a:r>
            <a:r>
              <a:rPr lang="en-US" altLang="zh-CN">
                <a:ea typeface="宋体" panose="02010600030101010101" pitchFamily="2" charset="-122"/>
              </a:rPr>
              <a:t> one has finished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Desirable for high-speed implementations, e.g., in network routers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F81CA761-7391-12CD-7338-D1499DF246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5F9D2A-0212-7B4F-9709-A4F597E79C71}" type="slidenum">
              <a:rPr lang="en-US" altLang="zh-CN">
                <a:solidFill>
                  <a:srgbClr val="394073"/>
                </a:solidFill>
              </a:rPr>
              <a:pPr/>
              <a:t>26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4821" name="Footer Placeholder 4">
            <a:extLst>
              <a:ext uri="{FF2B5EF4-FFF2-40B4-BE49-F238E27FC236}">
                <a16:creationId xmlns:a16="http://schemas.microsoft.com/office/drawing/2014/main" id="{283548C4-051F-7586-3C8A-4C0A3B089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34822" name="Picture 3" descr="C:\Documents and Settings\Amir\Desktop\book\grundlagen_krypto\graphics\ctrmode.png">
            <a:extLst>
              <a:ext uri="{FF2B5EF4-FFF2-40B4-BE49-F238E27FC236}">
                <a16:creationId xmlns:a16="http://schemas.microsoft.com/office/drawing/2014/main" id="{F683C462-6A89-83E0-05D1-2CFBDC6E5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2571750"/>
            <a:ext cx="3571875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3" name="Rectangle 7">
            <a:extLst>
              <a:ext uri="{FF2B5EF4-FFF2-40B4-BE49-F238E27FC236}">
                <a16:creationId xmlns:a16="http://schemas.microsoft.com/office/drawing/2014/main" id="{85C093F1-601C-4519-0437-701E9744A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5715000"/>
            <a:ext cx="4286250" cy="714375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91440" bIns="9144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 b="1" i="1">
                <a:ea typeface="宋体" panose="02010600030101010101" pitchFamily="2" charset="-122"/>
              </a:rPr>
              <a:t>Encryption</a:t>
            </a:r>
            <a:r>
              <a:rPr lang="en-US" altLang="zh-CN" sz="1600">
                <a:ea typeface="宋体" panose="02010600030101010101" pitchFamily="2" charset="-122"/>
              </a:rPr>
              <a:t>:   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(IV </a:t>
            </a:r>
            <a:r>
              <a:rPr lang="en-US" altLang="zh-CN" sz="1600">
                <a:ea typeface="宋体" panose="02010600030101010101" pitchFamily="2" charset="-122"/>
              </a:rPr>
              <a:t>||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CTR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⊕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    i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CN" sz="1600" b="1" i="1">
                <a:ea typeface="宋体" panose="02010600030101010101" pitchFamily="2" charset="-122"/>
              </a:rPr>
              <a:t>Decryption </a:t>
            </a:r>
            <a:r>
              <a:rPr lang="en-US" altLang="zh-CN" sz="1600">
                <a:ea typeface="宋体" panose="02010600030101010101" pitchFamily="2" charset="-122"/>
              </a:rPr>
              <a:t>:</a:t>
            </a:r>
            <a:r>
              <a:rPr lang="en-US" altLang="zh-CN" sz="1600" i="1">
                <a:ea typeface="宋体" panose="02010600030101010101" pitchFamily="2" charset="-122"/>
              </a:rPr>
              <a:t>   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6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e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6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nn-NO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IV </a:t>
            </a:r>
            <a:r>
              <a:rPr lang="en-US" altLang="zh-CN" sz="1600">
                <a:ea typeface="宋体" panose="02010600030101010101" pitchFamily="2" charset="-122"/>
              </a:rPr>
              <a:t>||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CTR</a:t>
            </a:r>
            <a:r>
              <a:rPr lang="en-US" altLang="zh-CN" sz="16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nn-NO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nn-NO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nn-NO" altLang="zh-CN" sz="1600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nn-NO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,     i </a:t>
            </a:r>
            <a:r>
              <a:rPr lang="nn-NO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≥</a:t>
            </a:r>
            <a:r>
              <a:rPr lang="nn-NO" altLang="zh-CN" sz="16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n-NO" altLang="zh-CN" sz="16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6828"/>
            <a:ext cx="8229600" cy="496223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altLang="en-US" sz="3600" dirty="0">
                <a:latin typeface="+mj-lt"/>
                <a:ea typeface="ヒラギノ角ゴ Pro W3" charset="-128"/>
              </a:rPr>
              <a:t>Counter (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C T </a:t>
            </a:r>
            <a:r>
              <a:rPr lang="en-IN" altLang="en-US" sz="3600" dirty="0">
                <a:latin typeface="+mj-lt"/>
                <a:ea typeface="ヒラギノ角ゴ Pro W3" charset="-128"/>
              </a:rPr>
              <a:t>R) Mode </a:t>
            </a:r>
            <a:r>
              <a:rPr lang="en-IN" altLang="en-US" sz="2800" dirty="0">
                <a:latin typeface="+mj-lt"/>
                <a:ea typeface="ヒラギノ角ゴ Pro W3" charset="-128"/>
              </a:rPr>
              <a:t>(1 of 2)</a:t>
            </a:r>
            <a:endParaRPr lang="en-US" sz="2000" dirty="0">
              <a:latin typeface="+mj-lt"/>
            </a:endParaRPr>
          </a:p>
        </p:txBody>
      </p:sp>
      <p:pic>
        <p:nvPicPr>
          <p:cNvPr id="7" name="Picture 2" descr="a. Encryption is illustrated with a series of processes each with input from Counter to encryption, with input K, with output through X O R operation, with input P, producing output C.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31" y="838200"/>
            <a:ext cx="9043812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627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4"/>
            <a:ext cx="8229600" cy="553998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altLang="en-US" sz="3600" dirty="0">
                <a:latin typeface="+mj-lt"/>
                <a:ea typeface="ヒラギノ角ゴ Pro W3" charset="-128"/>
              </a:rPr>
              <a:t>Counter (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C T </a:t>
            </a:r>
            <a:r>
              <a:rPr lang="en-IN" altLang="en-US" sz="3600" dirty="0">
                <a:latin typeface="+mj-lt"/>
                <a:ea typeface="ヒラギノ角ゴ Pro W3" charset="-128"/>
              </a:rPr>
              <a:t>R) Mode </a:t>
            </a:r>
            <a:r>
              <a:rPr lang="en-IN" altLang="en-US" sz="2800" dirty="0">
                <a:latin typeface="+mj-lt"/>
                <a:ea typeface="ヒラギノ角ゴ Pro W3" charset="-128"/>
              </a:rPr>
              <a:t>(2 of 2)</a:t>
            </a:r>
            <a:endParaRPr lang="en-US" sz="2000" dirty="0">
              <a:latin typeface="+mj-lt"/>
            </a:endParaRPr>
          </a:p>
        </p:txBody>
      </p:sp>
      <p:pic>
        <p:nvPicPr>
          <p:cNvPr id="7" name="Picture 2" descr="b. Decryption is illustrated with a series of processes each with input from Counter to encryption, with input K, with output through X O R operation, with input C, producing output P.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818" y="764704"/>
            <a:ext cx="9056781" cy="4320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5059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05652E19-665C-D068-B8C5-C12C454C8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C752AD-7893-9844-9EFB-DF790663F2B8}" type="slidenum">
              <a:rPr lang="en-US" altLang="zh-CN">
                <a:solidFill>
                  <a:srgbClr val="394073"/>
                </a:solidFill>
              </a:rPr>
              <a:pPr/>
              <a:t>29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5843" name="Footer Placeholder 4">
            <a:extLst>
              <a:ext uri="{FF2B5EF4-FFF2-40B4-BE49-F238E27FC236}">
                <a16:creationId xmlns:a16="http://schemas.microsoft.com/office/drawing/2014/main" id="{841DF8EF-C5C4-E187-F2EE-2FD9ADAB6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B497D6F0-C56B-2BE3-0FCE-CBBC46086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938F1C1C-AEEF-10F6-2780-9A862C8B42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3800475"/>
          </a:xfrm>
          <a:noFill/>
        </p:spPr>
        <p:txBody>
          <a:bodyPr/>
          <a:lstStyle/>
          <a:p>
            <a:pPr marL="342900" indent="-342900"/>
            <a:r>
              <a:rPr lang="en-US" altLang="zh-CN" sz="2000" b="1" dirty="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Electronic Code Book mode (ECB)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Block Chaining mode (CBC)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Output Feedback mode (OFB)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Cipher Feedback mode (CFB)</a:t>
            </a:r>
          </a:p>
          <a:p>
            <a:pPr marL="720725" lvl="1" indent="-342900"/>
            <a:r>
              <a:rPr lang="en-US" altLang="zh-CN" sz="1800" dirty="0">
                <a:ea typeface="宋体" panose="02010600030101010101" pitchFamily="2" charset="-122"/>
              </a:rPr>
              <a:t>Counter mode (CTR)</a:t>
            </a:r>
          </a:p>
          <a:p>
            <a:pPr marL="720725" lvl="1" indent="-342900"/>
            <a:r>
              <a:rPr lang="en-US" altLang="zh-CN" sz="1800" b="1" dirty="0">
                <a:ea typeface="宋体" panose="02010600030101010101" pitchFamily="2" charset="-122"/>
              </a:rPr>
              <a:t>XTS-AES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dirty="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852"/>
            <a:ext cx="8229600" cy="1107996"/>
          </a:xfrm>
        </p:spPr>
        <p:txBody>
          <a:bodyPr wrap="square">
            <a:noAutofit/>
          </a:bodyPr>
          <a:lstStyle/>
          <a:p>
            <a:r>
              <a:rPr lang="en-IN" altLang="en-US" sz="3600" spc="-400" dirty="0">
                <a:latin typeface="+mj-lt"/>
                <a:ea typeface="ヒラギノ角ゴ Pro W3" charset="-128"/>
              </a:rPr>
              <a:t>X T </a:t>
            </a:r>
            <a:r>
              <a:rPr lang="en-IN" altLang="en-US" sz="3600" dirty="0">
                <a:latin typeface="+mj-lt"/>
                <a:ea typeface="ヒラギノ角ゴ Pro W3" charset="-128"/>
              </a:rPr>
              <a:t>S-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A E </a:t>
            </a:r>
            <a:r>
              <a:rPr lang="en-IN" altLang="en-US" sz="3600" dirty="0">
                <a:latin typeface="+mj-lt"/>
                <a:ea typeface="ヒラギノ角ゴ Pro W3" charset="-128"/>
              </a:rPr>
              <a:t>S Mode for Block-Oriented Storage Devices</a:t>
            </a:r>
            <a:endParaRPr lang="en-US" sz="3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599"/>
            <a:ext cx="8229600" cy="3300904"/>
          </a:xfrm>
        </p:spPr>
        <p:txBody>
          <a:bodyPr wrap="square">
            <a:noAutofit/>
          </a:bodyPr>
          <a:lstStyle/>
          <a:p>
            <a:pPr>
              <a:defRPr/>
            </a:pPr>
            <a:r>
              <a:rPr lang="en-IN" sz="2400" dirty="0"/>
              <a:t>Approved as an additional block cipher mode of operation by </a:t>
            </a:r>
            <a:r>
              <a:rPr lang="en-IN" sz="2400" spc="-300" dirty="0"/>
              <a:t>N I S </a:t>
            </a:r>
            <a:r>
              <a:rPr lang="en-IN" sz="2400" dirty="0"/>
              <a:t>T in 2010</a:t>
            </a:r>
          </a:p>
          <a:p>
            <a:pPr>
              <a:defRPr/>
            </a:pPr>
            <a:r>
              <a:rPr lang="en-IN" sz="2400" dirty="0"/>
              <a:t>Mode is also an </a:t>
            </a:r>
            <a:r>
              <a:rPr lang="en-IN" sz="2400" spc="-300" dirty="0"/>
              <a:t>I E </a:t>
            </a:r>
            <a:r>
              <a:rPr lang="en-IN" sz="2400" spc="-300" dirty="0" err="1"/>
              <a:t>E</a:t>
            </a:r>
            <a:r>
              <a:rPr lang="en-IN" sz="2400" spc="-300" dirty="0"/>
              <a:t> </a:t>
            </a:r>
            <a:r>
              <a:rPr lang="en-IN" sz="2400" dirty="0" err="1"/>
              <a:t>E</a:t>
            </a:r>
            <a:r>
              <a:rPr lang="en-IN" sz="2400" dirty="0"/>
              <a:t> Standard, </a:t>
            </a:r>
            <a:r>
              <a:rPr lang="en-IN" sz="2400" spc="-300" dirty="0"/>
              <a:t>I E </a:t>
            </a:r>
            <a:r>
              <a:rPr lang="en-IN" sz="2400" spc="-300" dirty="0" err="1"/>
              <a:t>E</a:t>
            </a:r>
            <a:r>
              <a:rPr lang="en-IN" sz="2400" spc="-300" dirty="0"/>
              <a:t> </a:t>
            </a:r>
            <a:r>
              <a:rPr lang="en-IN" sz="2400" dirty="0" err="1"/>
              <a:t>E</a:t>
            </a:r>
            <a:r>
              <a:rPr lang="en-IN" sz="2400" dirty="0"/>
              <a:t> </a:t>
            </a:r>
            <a:r>
              <a:rPr lang="en-IN" sz="2400" dirty="0" err="1"/>
              <a:t>Std</a:t>
            </a:r>
            <a:r>
              <a:rPr lang="en-IN" sz="2400" dirty="0"/>
              <a:t> 1619-2007</a:t>
            </a:r>
          </a:p>
          <a:p>
            <a:pPr lvl="1">
              <a:defRPr/>
            </a:pPr>
            <a:r>
              <a:rPr lang="en-IN" sz="2400" dirty="0"/>
              <a:t>Standard describes a method of encryption for data stored in sector-based devices where the threat model includes possible access to stored data by the adversary</a:t>
            </a:r>
          </a:p>
          <a:p>
            <a:pPr lvl="1">
              <a:defRPr/>
            </a:pPr>
            <a:r>
              <a:rPr lang="en-IN" sz="2400" dirty="0"/>
              <a:t>Has received widespread industry support</a:t>
            </a:r>
          </a:p>
        </p:txBody>
      </p:sp>
    </p:spTree>
    <p:extLst>
      <p:ext uri="{BB962C8B-B14F-4D97-AF65-F5344CB8AC3E}">
        <p14:creationId xmlns:p14="http://schemas.microsoft.com/office/powerpoint/2010/main" val="3246158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568577"/>
          </a:xfrm>
        </p:spPr>
        <p:txBody>
          <a:bodyPr wrap="square">
            <a:noAutofit/>
          </a:bodyPr>
          <a:lstStyle/>
          <a:p>
            <a:r>
              <a:rPr lang="en-IN" altLang="en-US" sz="3600" dirty="0">
                <a:latin typeface="+mj-lt"/>
                <a:ea typeface="ヒラギノ角ゴ Pro W3" charset="-128"/>
              </a:rPr>
              <a:t>Tweakable Block Ciphers</a:t>
            </a:r>
            <a:endParaRPr lang="en-US" sz="3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4714875"/>
          </a:xfrm>
        </p:spPr>
        <p:txBody>
          <a:bodyPr wrap="square">
            <a:noAutofit/>
          </a:bodyPr>
          <a:lstStyle/>
          <a:p>
            <a:pPr>
              <a:defRPr/>
            </a:pPr>
            <a:r>
              <a:rPr lang="en-IN" sz="2400" spc="-300" dirty="0"/>
              <a:t>X T </a:t>
            </a:r>
            <a:r>
              <a:rPr lang="en-IN" sz="2400" dirty="0"/>
              <a:t>S-</a:t>
            </a:r>
            <a:r>
              <a:rPr lang="en-IN" sz="2400" spc="-300" dirty="0"/>
              <a:t>A E </a:t>
            </a:r>
            <a:r>
              <a:rPr lang="en-IN" sz="2400" dirty="0"/>
              <a:t>S mode is based on the concept of a </a:t>
            </a:r>
            <a:r>
              <a:rPr lang="en-IN" sz="2400" i="1" dirty="0" err="1">
                <a:solidFill>
                  <a:srgbClr val="FF0000"/>
                </a:solidFill>
              </a:rPr>
              <a:t>tweakable</a:t>
            </a:r>
            <a:r>
              <a:rPr lang="en-IN" sz="2400" i="1" dirty="0">
                <a:solidFill>
                  <a:srgbClr val="FF0000"/>
                </a:solidFill>
              </a:rPr>
              <a:t> block cipher</a:t>
            </a:r>
          </a:p>
          <a:p>
            <a:pPr>
              <a:defRPr/>
            </a:pPr>
            <a:r>
              <a:rPr lang="en-IN" sz="2400" dirty="0"/>
              <a:t>General structure:</a:t>
            </a:r>
          </a:p>
          <a:p>
            <a:pPr lvl="1">
              <a:defRPr/>
            </a:pPr>
            <a:r>
              <a:rPr lang="en-IN" sz="2400" dirty="0"/>
              <a:t>Has three inputs:</a:t>
            </a:r>
          </a:p>
          <a:p>
            <a:pPr lvl="2">
              <a:defRPr/>
            </a:pPr>
            <a:r>
              <a:rPr lang="en-IN" sz="2400" dirty="0"/>
              <a:t>A plaintext P</a:t>
            </a:r>
          </a:p>
          <a:p>
            <a:pPr lvl="2">
              <a:defRPr/>
            </a:pPr>
            <a:r>
              <a:rPr lang="en-IN" sz="2400" dirty="0"/>
              <a:t>A symmetric key K</a:t>
            </a:r>
          </a:p>
          <a:p>
            <a:pPr lvl="2">
              <a:defRPr/>
            </a:pPr>
            <a:r>
              <a:rPr lang="en-IN" sz="2400" dirty="0"/>
              <a:t>A tweak T</a:t>
            </a:r>
          </a:p>
          <a:p>
            <a:pPr>
              <a:defRPr/>
            </a:pPr>
            <a:r>
              <a:rPr lang="en-IN" sz="2400" dirty="0"/>
              <a:t>Produces  a </a:t>
            </a:r>
            <a:r>
              <a:rPr lang="en-IN" sz="2400" dirty="0" err="1"/>
              <a:t>ciphertext</a:t>
            </a:r>
            <a:r>
              <a:rPr lang="en-IN" sz="2400" dirty="0"/>
              <a:t> output  C</a:t>
            </a:r>
          </a:p>
          <a:p>
            <a:pPr>
              <a:defRPr/>
            </a:pPr>
            <a:r>
              <a:rPr lang="en-IN" sz="2400" dirty="0"/>
              <a:t>Tweak need not be kept secret</a:t>
            </a:r>
          </a:p>
          <a:p>
            <a:pPr lvl="1">
              <a:defRPr/>
            </a:pPr>
            <a:r>
              <a:rPr lang="en-IN" sz="2400" dirty="0"/>
              <a:t>Purpose is to provide </a:t>
            </a:r>
            <a:r>
              <a:rPr lang="en-IN" sz="2400" dirty="0">
                <a:solidFill>
                  <a:srgbClr val="FF0000"/>
                </a:solidFill>
              </a:rPr>
              <a:t>variability</a:t>
            </a:r>
          </a:p>
        </p:txBody>
      </p:sp>
    </p:spTree>
    <p:extLst>
      <p:ext uri="{BB962C8B-B14F-4D97-AF65-F5344CB8AC3E}">
        <p14:creationId xmlns:p14="http://schemas.microsoft.com/office/powerpoint/2010/main" val="1796189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4"/>
            <a:ext cx="8229600" cy="553998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latin typeface="+mj-lt"/>
                <a:ea typeface="ヒラギノ角ゴ Pro W3" charset="-128"/>
              </a:rPr>
              <a:t>Figure 7.9 Tweakable Block Cipher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2" descr="a. Encryption process has flow from P sub j through X O R operation, encryption (with key input), and through a second X O R operation, producing C sub j. Both X O R operations receive input H(T sub j) from Hash function, which receives input T sub j.&#10;b. Decryption process has flow from C sub j through X O R operation, decryption (with key input), and through a second X O R operation, producing P sub j. Both X O R operations receive input from Hash function, which receives input T sub j.&#10;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2316" y="1066800"/>
            <a:ext cx="8157972" cy="4348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7994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975"/>
            <a:ext cx="8229600" cy="516888"/>
          </a:xfrm>
        </p:spPr>
        <p:txBody>
          <a:bodyPr wrap="square">
            <a:noAutofit/>
          </a:bodyPr>
          <a:lstStyle/>
          <a:p>
            <a:r>
              <a:rPr lang="en-IN" altLang="en-US" sz="3600" dirty="0">
                <a:latin typeface="+mj-lt"/>
                <a:ea typeface="ヒラギノ角ゴ Pro W3" charset="-128"/>
              </a:rPr>
              <a:t>Storage Encryption Requirements</a:t>
            </a:r>
            <a:endParaRPr lang="en-US" sz="36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799"/>
            <a:ext cx="8229600" cy="4638675"/>
          </a:xfrm>
        </p:spPr>
        <p:txBody>
          <a:bodyPr wrap="square">
            <a:noAutofit/>
          </a:bodyPr>
          <a:lstStyle/>
          <a:p>
            <a:pPr>
              <a:defRPr/>
            </a:pPr>
            <a:r>
              <a:rPr lang="en-IN" sz="1800" dirty="0"/>
              <a:t>The requirements for encrypting stored data, also referred to as “data at rest”, differ somewhat from those for transmitted data</a:t>
            </a:r>
          </a:p>
          <a:p>
            <a:pPr>
              <a:defRPr/>
            </a:pPr>
            <a:r>
              <a:rPr lang="en-IN" sz="1800" dirty="0"/>
              <a:t>The P1619 standard was designed to have the following characteristics:</a:t>
            </a:r>
          </a:p>
          <a:p>
            <a:pPr lvl="1">
              <a:defRPr/>
            </a:pPr>
            <a:r>
              <a:rPr lang="en-IN" sz="1800" dirty="0"/>
              <a:t>The </a:t>
            </a:r>
            <a:r>
              <a:rPr lang="en-IN" sz="1800" dirty="0" err="1"/>
              <a:t>ciphertext</a:t>
            </a:r>
            <a:r>
              <a:rPr lang="en-IN" sz="1800" dirty="0"/>
              <a:t> is freely available for an attacker</a:t>
            </a:r>
          </a:p>
          <a:p>
            <a:pPr lvl="1">
              <a:defRPr/>
            </a:pPr>
            <a:r>
              <a:rPr lang="en-IN" sz="1800" dirty="0"/>
              <a:t>The data layout is not changed on the storage medium and in transit</a:t>
            </a:r>
          </a:p>
          <a:p>
            <a:pPr lvl="1">
              <a:defRPr/>
            </a:pPr>
            <a:r>
              <a:rPr lang="en-IN" sz="1800" dirty="0"/>
              <a:t>Data are accessed in fixed sized blocks, independently from each other</a:t>
            </a:r>
          </a:p>
          <a:p>
            <a:pPr lvl="1">
              <a:defRPr/>
            </a:pPr>
            <a:r>
              <a:rPr lang="en-IN" sz="1800" dirty="0"/>
              <a:t>Encryption is performed in 16-byte blocks, independently from each other</a:t>
            </a:r>
          </a:p>
          <a:p>
            <a:pPr lvl="1">
              <a:defRPr/>
            </a:pPr>
            <a:r>
              <a:rPr lang="en-IN" sz="1800" dirty="0"/>
              <a:t>There are no other metadata used, except the location of the data blocks within the whole data set</a:t>
            </a:r>
          </a:p>
          <a:p>
            <a:pPr lvl="1">
              <a:defRPr/>
            </a:pPr>
            <a:r>
              <a:rPr lang="en-IN" sz="1800" dirty="0"/>
              <a:t>The same plaintext is encrypted to different </a:t>
            </a:r>
            <a:r>
              <a:rPr lang="en-IN" sz="1800" dirty="0" err="1"/>
              <a:t>ciphertexts</a:t>
            </a:r>
            <a:r>
              <a:rPr lang="en-IN" sz="1800" dirty="0"/>
              <a:t> at different locations, but always to the same </a:t>
            </a:r>
            <a:r>
              <a:rPr lang="en-IN" sz="1800" dirty="0" err="1"/>
              <a:t>ciphertext</a:t>
            </a:r>
            <a:r>
              <a:rPr lang="en-IN" sz="1800" dirty="0"/>
              <a:t> when written to the same location again</a:t>
            </a:r>
          </a:p>
          <a:p>
            <a:pPr lvl="1">
              <a:defRPr/>
            </a:pPr>
            <a:r>
              <a:rPr lang="en-IN" sz="1800" dirty="0"/>
              <a:t>A standard conformant device can be constructed for decryption of data encrypted by another standard conformant device</a:t>
            </a:r>
          </a:p>
        </p:txBody>
      </p:sp>
    </p:spTree>
    <p:extLst>
      <p:ext uri="{BB962C8B-B14F-4D97-AF65-F5344CB8AC3E}">
        <p14:creationId xmlns:p14="http://schemas.microsoft.com/office/powerpoint/2010/main" val="29985549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172"/>
            <a:ext cx="8229600" cy="523220"/>
          </a:xfrm>
        </p:spPr>
        <p:txBody>
          <a:bodyPr wrap="square">
            <a:spAutoFit/>
          </a:bodyPr>
          <a:lstStyle/>
          <a:p>
            <a:r>
              <a:rPr lang="en-IN" altLang="en-US" spc="-400" dirty="0">
                <a:latin typeface="+mj-lt"/>
                <a:ea typeface="ヒラギノ角ゴ Pro W3" charset="-128"/>
              </a:rPr>
              <a:t>X T </a:t>
            </a:r>
            <a:r>
              <a:rPr lang="en-IN" altLang="en-US" dirty="0">
                <a:latin typeface="+mj-lt"/>
                <a:ea typeface="ヒラギノ角ゴ Pro W3" charset="-128"/>
              </a:rPr>
              <a:t>S-</a:t>
            </a:r>
            <a:r>
              <a:rPr lang="en-IN" altLang="en-US" spc="-400" dirty="0">
                <a:latin typeface="+mj-lt"/>
                <a:ea typeface="ヒラギノ角ゴ Pro W3" charset="-128"/>
              </a:rPr>
              <a:t>A E </a:t>
            </a:r>
            <a:r>
              <a:rPr lang="en-IN" altLang="en-US" dirty="0">
                <a:latin typeface="+mj-lt"/>
                <a:ea typeface="ヒラギノ角ゴ Pro W3" charset="-128"/>
              </a:rPr>
              <a:t>S Operation on Single Block</a:t>
            </a:r>
            <a:endParaRPr lang="en-US"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1382"/>
            <a:ext cx="8229600" cy="369332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IN" sz="2400" dirty="0"/>
              <a:t>Figure 7.10 </a:t>
            </a:r>
            <a:r>
              <a:rPr lang="en-IN" sz="2400" spc="-300" dirty="0"/>
              <a:t>X T </a:t>
            </a:r>
            <a:r>
              <a:rPr lang="en-IN" sz="2400" dirty="0"/>
              <a:t>S-</a:t>
            </a:r>
            <a:r>
              <a:rPr lang="en-IN" sz="2400" spc="-300" dirty="0"/>
              <a:t>A E </a:t>
            </a:r>
            <a:r>
              <a:rPr lang="en-IN" sz="2400" dirty="0"/>
              <a:t>S Operation on Single Block</a:t>
            </a:r>
          </a:p>
        </p:txBody>
      </p:sp>
      <p:pic>
        <p:nvPicPr>
          <p:cNvPr id="5" name="Picture Placeholder 4" descr="a. Encryption process has flow from P sub j through X O R operation, producing output P P flowing to A E S encryption (with input Key sub 1), producing output C C flowing to a second X O R operation, producing output C sub j. Both X O R operations receive input T from a third X O R operation, which receives input alpha to the j and input from A E S encryption, which receives inputs i and Key sub 2.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885" y="1578949"/>
            <a:ext cx="6781016" cy="47371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603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4172"/>
            <a:ext cx="8229600" cy="523220"/>
          </a:xfrm>
        </p:spPr>
        <p:txBody>
          <a:bodyPr wrap="square">
            <a:spAutoFit/>
          </a:bodyPr>
          <a:lstStyle/>
          <a:p>
            <a:r>
              <a:rPr lang="en-IN" altLang="en-US" spc="-400" dirty="0">
                <a:latin typeface="+mj-lt"/>
                <a:ea typeface="ヒラギノ角ゴ Pro W3" charset="-128"/>
              </a:rPr>
              <a:t>X T </a:t>
            </a:r>
            <a:r>
              <a:rPr lang="en-IN" altLang="en-US" dirty="0">
                <a:latin typeface="+mj-lt"/>
                <a:ea typeface="ヒラギノ角ゴ Pro W3" charset="-128"/>
              </a:rPr>
              <a:t>S-</a:t>
            </a:r>
            <a:r>
              <a:rPr lang="en-IN" altLang="en-US" spc="-400" dirty="0">
                <a:latin typeface="+mj-lt"/>
                <a:ea typeface="ヒラギノ角ゴ Pro W3" charset="-128"/>
              </a:rPr>
              <a:t>A E </a:t>
            </a:r>
            <a:r>
              <a:rPr lang="en-IN" altLang="en-US" dirty="0">
                <a:latin typeface="+mj-lt"/>
                <a:ea typeface="ヒラギノ角ゴ Pro W3" charset="-128"/>
              </a:rPr>
              <a:t>S Operation on Single Block</a:t>
            </a:r>
            <a:endParaRPr lang="en-US" sz="2800" dirty="0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1382"/>
            <a:ext cx="8229600" cy="369332"/>
          </a:xfr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IN" sz="2400" dirty="0"/>
              <a:t>Figure 7.10 </a:t>
            </a:r>
            <a:r>
              <a:rPr lang="en-IN" sz="2400" spc="-300" dirty="0"/>
              <a:t>X T </a:t>
            </a:r>
            <a:r>
              <a:rPr lang="en-IN" sz="2400" dirty="0"/>
              <a:t>S-</a:t>
            </a:r>
            <a:r>
              <a:rPr lang="en-IN" sz="2400" spc="-300" dirty="0"/>
              <a:t>A E </a:t>
            </a:r>
            <a:r>
              <a:rPr lang="en-IN" sz="2400" dirty="0"/>
              <a:t>S Operation on Single Block</a:t>
            </a:r>
          </a:p>
        </p:txBody>
      </p:sp>
      <p:pic>
        <p:nvPicPr>
          <p:cNvPr id="5" name="Picture Placeholder 4" descr="b. Decryption process has flow from C sub j through X O R operation, producing output C C flowing to A E S decryption (with input Key sub 1), producing output P P flowing to a second X O R operation, producing output P sub j. Both X O R operations receive input T from a third X O R operation, which receives input alpha to the j and input from A E S encryption, which receives inputs i and Key sub 2.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13" y="1493018"/>
            <a:ext cx="6961909" cy="48231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77560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1514"/>
            <a:ext cx="8229600" cy="553998"/>
          </a:xfrm>
        </p:spPr>
        <p:txBody>
          <a:bodyPr wrap="square">
            <a:spAutoFit/>
          </a:bodyPr>
          <a:lstStyle/>
          <a:p>
            <a:r>
              <a:rPr lang="en-IN" altLang="en-US" sz="3600" dirty="0">
                <a:latin typeface="+mj-lt"/>
                <a:ea typeface="ヒラギノ角ゴ Pro W3" charset="-128"/>
              </a:rPr>
              <a:t>Figure 7.11 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X T </a:t>
            </a:r>
            <a:r>
              <a:rPr lang="en-IN" altLang="en-US" sz="3600" dirty="0">
                <a:latin typeface="+mj-lt"/>
                <a:ea typeface="ヒラギノ角ゴ Pro W3" charset="-128"/>
              </a:rPr>
              <a:t>S-</a:t>
            </a:r>
            <a:r>
              <a:rPr lang="en-IN" altLang="en-US" sz="3600" spc="-400" dirty="0">
                <a:latin typeface="+mj-lt"/>
                <a:ea typeface="ヒラギノ角ゴ Pro W3" charset="-128"/>
              </a:rPr>
              <a:t>A E </a:t>
            </a:r>
            <a:r>
              <a:rPr lang="en-IN" altLang="en-US" sz="3600" dirty="0">
                <a:latin typeface="+mj-lt"/>
                <a:ea typeface="ヒラギノ角ゴ Pro W3" charset="-128"/>
              </a:rPr>
              <a:t>S Mode</a:t>
            </a:r>
            <a:endParaRPr lang="en-US" sz="2800" dirty="0">
              <a:latin typeface="+mj-lt"/>
            </a:endParaRPr>
          </a:p>
        </p:txBody>
      </p:sp>
      <p:pic>
        <p:nvPicPr>
          <p:cNvPr id="7" name="Picture 2" descr="Diagrams illustrate (a) encryption and (b) decryption for X T S-A E S mode.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75557" y="695512"/>
            <a:ext cx="6402914" cy="5615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5333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>
            <a:extLst>
              <a:ext uri="{FF2B5EF4-FFF2-40B4-BE49-F238E27FC236}">
                <a16:creationId xmlns:a16="http://schemas.microsoft.com/office/drawing/2014/main" id="{E1ABF182-2000-EDD4-558D-8BECB2AAE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199B68-D928-1E47-AE3A-CE1A6904C7CE}" type="slidenum">
              <a:rPr lang="en-US" altLang="zh-CN">
                <a:solidFill>
                  <a:srgbClr val="394073"/>
                </a:solidFill>
              </a:rPr>
              <a:pPr/>
              <a:t>37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39939" name="Footer Placeholder 4">
            <a:extLst>
              <a:ext uri="{FF2B5EF4-FFF2-40B4-BE49-F238E27FC236}">
                <a16:creationId xmlns:a16="http://schemas.microsoft.com/office/drawing/2014/main" id="{FA1AB2C6-CE87-6EE0-AA28-E0685280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39940" name="Rectangle 2">
            <a:extLst>
              <a:ext uri="{FF2B5EF4-FFF2-40B4-BE49-F238E27FC236}">
                <a16:creationId xmlns:a16="http://schemas.microsoft.com/office/drawing/2014/main" id="{9B914B27-2CEE-5A3E-0AC3-033942434F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762B2D57-BE9E-3EE4-5DBF-FEF579B331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1308100"/>
          </a:xfrm>
          <a:noFill/>
        </p:spPr>
        <p:txBody>
          <a:bodyPr/>
          <a:lstStyle/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Increasing the Security of Block Ciphers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6A63CA23-5BD3-78A6-1128-D61202E54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Exhaustive Key Search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69691-D9E3-8230-C9E2-F44C296E3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223000" cy="5708650"/>
          </a:xfrm>
        </p:spPr>
        <p:txBody>
          <a:bodyPr/>
          <a:lstStyle/>
          <a:p>
            <a:pPr>
              <a:defRPr/>
            </a:pPr>
            <a:r>
              <a:rPr lang="en-US" dirty="0"/>
              <a:t>A simple exhaustive search for a DES key knowing one pair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):</a:t>
            </a:r>
          </a:p>
          <a:p>
            <a:pPr>
              <a:buFontTx/>
              <a:buNone/>
              <a:defRPr/>
            </a:pPr>
            <a:r>
              <a:rPr lang="en-US" i="1" dirty="0"/>
              <a:t>                   </a:t>
            </a:r>
            <a:r>
              <a:rPr lang="en-US" i="1" dirty="0" err="1">
                <a:latin typeface="Times New Roman" pitchFamily="18" charset="0"/>
                <a:cs typeface="Times New Roman" pitchFamily="18" charset="0"/>
              </a:rPr>
              <a:t>DES</a:t>
            </a:r>
            <a:r>
              <a:rPr lang="en-US" sz="1800" i="1" baseline="-25000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500" baseline="300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500" i="1" baseline="30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500" baseline="300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s-E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s-ES" i="1" dirty="0">
                <a:latin typeface="Times New Roman" pitchFamily="18" charset="0"/>
                <a:cs typeface="Times New Roman" pitchFamily="18" charset="0"/>
              </a:rPr>
              <a:t>,   i = 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0,1, . . . ,2</a:t>
            </a:r>
            <a:r>
              <a:rPr lang="es-ES" baseline="30000" dirty="0">
                <a:latin typeface="Times New Roman" pitchFamily="18" charset="0"/>
                <a:cs typeface="Times New Roman" pitchFamily="18" charset="0"/>
              </a:rPr>
              <a:t>56</a:t>
            </a:r>
            <a:r>
              <a:rPr lang="es-ES" dirty="0">
                <a:latin typeface="Times New Roman" pitchFamily="18" charset="0"/>
                <a:cs typeface="Times New Roman" pitchFamily="18" charset="0"/>
              </a:rPr>
              <a:t>−1</a:t>
            </a:r>
          </a:p>
          <a:p>
            <a:pPr>
              <a:defRPr/>
            </a:pPr>
            <a:r>
              <a:rPr lang="en-US" dirty="0"/>
              <a:t>However, for most other block ciphers a key search is somewhat more complicated</a:t>
            </a:r>
          </a:p>
          <a:p>
            <a:pPr>
              <a:defRPr/>
            </a:pPr>
            <a:r>
              <a:rPr lang="en-US" dirty="0"/>
              <a:t>A brute-force attack can produce </a:t>
            </a:r>
            <a:r>
              <a:rPr lang="en-US" i="1" dirty="0"/>
              <a:t>false positive</a:t>
            </a:r>
            <a:r>
              <a:rPr lang="en-US" dirty="0"/>
              <a:t> results</a:t>
            </a:r>
          </a:p>
          <a:p>
            <a:pPr lvl="1">
              <a:defRPr/>
            </a:pPr>
            <a:r>
              <a:rPr lang="en-US" dirty="0"/>
              <a:t>keys </a:t>
            </a:r>
            <a:r>
              <a:rPr lang="en-US" sz="1800" i="1" dirty="0" err="1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1800" i="1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/>
              <a:t> that are found are not the one used for the encryption</a:t>
            </a:r>
          </a:p>
          <a:p>
            <a:pPr lvl="1">
              <a:defRPr/>
            </a:pPr>
            <a:endParaRPr lang="en-US" sz="1000" dirty="0">
              <a:ea typeface="+mn-ea"/>
              <a:cs typeface="+mn-cs"/>
            </a:endParaRP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defRPr/>
            </a:pPr>
            <a:endParaRPr lang="en-US" dirty="0">
              <a:ea typeface="+mn-ea"/>
              <a:cs typeface="+mn-cs"/>
            </a:endParaRP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The likelihood of this is related to the relative size of the key space and the plaintext space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A brute-force attack is still </a:t>
            </a:r>
            <a:r>
              <a:rPr lang="en-US" i="1" dirty="0">
                <a:ea typeface="+mn-ea"/>
                <a:cs typeface="+mn-cs"/>
              </a:rPr>
              <a:t>possible</a:t>
            </a:r>
            <a:r>
              <a:rPr lang="en-US" dirty="0">
                <a:ea typeface="+mn-ea"/>
                <a:cs typeface="+mn-cs"/>
              </a:rPr>
              <a:t>, but several pairs of plaintext–</a:t>
            </a:r>
            <a:r>
              <a:rPr lang="en-US" dirty="0" err="1">
                <a:ea typeface="+mn-ea"/>
                <a:cs typeface="+mn-cs"/>
              </a:rPr>
              <a:t>ciphertext</a:t>
            </a:r>
            <a:r>
              <a:rPr lang="en-US" dirty="0">
                <a:ea typeface="+mn-ea"/>
                <a:cs typeface="+mn-cs"/>
              </a:rPr>
              <a:t> are needed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9027F586-A37E-4CC3-AA87-81ABF51FF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2EE7D69-E476-5748-A1B0-CC069E300B9F}" type="slidenum">
              <a:rPr lang="en-US" altLang="zh-CN">
                <a:solidFill>
                  <a:srgbClr val="394073"/>
                </a:solidFill>
              </a:rPr>
              <a:pPr/>
              <a:t>38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0965" name="Footer Placeholder 4">
            <a:extLst>
              <a:ext uri="{FF2B5EF4-FFF2-40B4-BE49-F238E27FC236}">
                <a16:creationId xmlns:a16="http://schemas.microsoft.com/office/drawing/2014/main" id="{6549F0A9-9A17-7CDA-3E4F-0B3C8A49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40966" name="Picture 2" descr="C:\Documents and Settings\Amir\Desktop\book\grundlagen_krypto\graphics\multiple_mappings.png">
            <a:extLst>
              <a:ext uri="{FF2B5EF4-FFF2-40B4-BE49-F238E27FC236}">
                <a16:creationId xmlns:a16="http://schemas.microsoft.com/office/drawing/2014/main" id="{4F853516-A281-679E-1D58-62AF2D22E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3286125"/>
            <a:ext cx="4143375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7" name="Rectangle 6">
            <a:extLst>
              <a:ext uri="{FF2B5EF4-FFF2-40B4-BE49-F238E27FC236}">
                <a16:creationId xmlns:a16="http://schemas.microsoft.com/office/drawing/2014/main" id="{626D883C-48F2-E74C-E025-C5E3544A66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1554163"/>
            <a:ext cx="214313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000"/>
              </a:lnSpc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 algn="ctr">
              <a:lnSpc>
                <a:spcPts val="1000"/>
              </a:lnSpc>
            </a:pP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DC60EEA5-A46E-63D7-0D30-FB949F961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An Exhaustive Key Search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F567F-754A-8247-1EE7-BF966E879E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937375" cy="53482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Assume a cipher with a block width of 64 bit and a key size of 80 bit</a:t>
            </a:r>
          </a:p>
          <a:p>
            <a:r>
              <a:rPr lang="en-US" altLang="zh-CN">
                <a:ea typeface="宋体" panose="02010600030101010101" pitchFamily="2" charset="-122"/>
              </a:rPr>
              <a:t>If we encrypt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under all possible 2</a:t>
            </a:r>
            <a:r>
              <a:rPr lang="en-US" altLang="zh-CN" baseline="30000">
                <a:ea typeface="宋体" panose="02010600030101010101" pitchFamily="2" charset="-122"/>
              </a:rPr>
              <a:t>80</a:t>
            </a:r>
            <a:r>
              <a:rPr lang="en-US" altLang="zh-CN">
                <a:ea typeface="宋体" panose="02010600030101010101" pitchFamily="2" charset="-122"/>
              </a:rPr>
              <a:t> keys, we obtain 2</a:t>
            </a:r>
            <a:r>
              <a:rPr lang="en-US" altLang="zh-CN" baseline="30000">
                <a:ea typeface="宋体" panose="02010600030101010101" pitchFamily="2" charset="-122"/>
              </a:rPr>
              <a:t>80</a:t>
            </a:r>
            <a:r>
              <a:rPr lang="en-US" altLang="zh-CN">
                <a:ea typeface="宋体" panose="02010600030101010101" pitchFamily="2" charset="-122"/>
              </a:rPr>
              <a:t> ciphertexts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However, there exist only 2</a:t>
            </a:r>
            <a:r>
              <a:rPr lang="en-US" altLang="zh-CN" baseline="30000">
                <a:ea typeface="宋体" panose="02010600030101010101" pitchFamily="2" charset="-122"/>
              </a:rPr>
              <a:t>64</a:t>
            </a:r>
            <a:r>
              <a:rPr lang="en-US" altLang="zh-CN">
                <a:ea typeface="宋体" panose="02010600030101010101" pitchFamily="2" charset="-122"/>
              </a:rPr>
              <a:t> different ones</a:t>
            </a:r>
          </a:p>
          <a:p>
            <a:r>
              <a:rPr lang="en-US" altLang="zh-CN">
                <a:ea typeface="宋体" panose="02010600030101010101" pitchFamily="2" charset="-122"/>
              </a:rPr>
              <a:t>If we run through all keys for a given plaintext–ciphertext pair, we find on average 2</a:t>
            </a:r>
            <a:r>
              <a:rPr lang="en-US" altLang="zh-CN" baseline="30000">
                <a:ea typeface="宋体" panose="02010600030101010101" pitchFamily="2" charset="-122"/>
              </a:rPr>
              <a:t>80</a:t>
            </a:r>
            <a:r>
              <a:rPr lang="en-US" altLang="zh-CN">
                <a:ea typeface="宋体" panose="02010600030101010101" pitchFamily="2" charset="-122"/>
              </a:rPr>
              <a:t>/2</a:t>
            </a:r>
            <a:r>
              <a:rPr lang="en-US" altLang="zh-CN" baseline="30000">
                <a:ea typeface="宋体" panose="02010600030101010101" pitchFamily="2" charset="-122"/>
              </a:rPr>
              <a:t>64</a:t>
            </a:r>
            <a:r>
              <a:rPr lang="en-US" altLang="zh-CN">
                <a:ea typeface="宋体" panose="02010600030101010101" pitchFamily="2" charset="-122"/>
              </a:rPr>
              <a:t> = 2</a:t>
            </a:r>
            <a:r>
              <a:rPr lang="en-US" altLang="zh-CN" baseline="30000">
                <a:ea typeface="宋体" panose="02010600030101010101" pitchFamily="2" charset="-122"/>
              </a:rPr>
              <a:t>16</a:t>
            </a:r>
            <a:r>
              <a:rPr lang="en-US" altLang="zh-CN">
                <a:ea typeface="宋体" panose="02010600030101010101" pitchFamily="2" charset="-122"/>
              </a:rPr>
              <a:t> keys that perform the mapping 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y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i="1">
              <a:ea typeface="宋体" panose="02010600030101010101" pitchFamily="2" charset="-122"/>
            </a:endParaRPr>
          </a:p>
          <a:p>
            <a:endParaRPr lang="en-US" altLang="zh-CN" sz="1000" i="1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In this example assuming two plaintext-ciphertext pairs, the likelihood is</a:t>
            </a:r>
          </a:p>
          <a:p>
            <a:pPr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                         2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−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64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−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48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for almost all practical purposes two plaintext-ciphertext pairs are sufficient</a:t>
            </a:r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8177DB16-E569-CDC0-F8DF-DE6A7705D9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13C06BD-E464-2C45-81B4-E8A3EBF809DB}" type="slidenum">
              <a:rPr lang="en-US" altLang="zh-CN">
                <a:solidFill>
                  <a:srgbClr val="394073"/>
                </a:solidFill>
              </a:rPr>
              <a:pPr/>
              <a:t>39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1989" name="Footer Placeholder 4">
            <a:extLst>
              <a:ext uri="{FF2B5EF4-FFF2-40B4-BE49-F238E27FC236}">
                <a16:creationId xmlns:a16="http://schemas.microsoft.com/office/drawing/2014/main" id="{ECD10A6D-89B1-E9B3-1AB1-0CDE41D6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FA926066-4B84-CE22-9DEC-1E08944F1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4438" y="3143250"/>
            <a:ext cx="6143625" cy="171450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182880" rIns="182880" bIns="18288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zh-CN" sz="1600">
                <a:ea typeface="宋体" panose="02010600030101010101" pitchFamily="2" charset="-122"/>
              </a:rPr>
              <a:t>Given a block cipher with a key length of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600">
                <a:ea typeface="宋体" panose="02010600030101010101" pitchFamily="2" charset="-122"/>
              </a:rPr>
              <a:t> bits and block size of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1600">
                <a:ea typeface="宋体" panose="02010600030101010101" pitchFamily="2" charset="-122"/>
              </a:rPr>
              <a:t> bits, as well as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1600">
                <a:ea typeface="宋体" panose="02010600030101010101" pitchFamily="2" charset="-122"/>
              </a:rPr>
              <a:t> plaintext–ciphertext pairs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... , 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600">
                <a:ea typeface="宋体" panose="02010600030101010101" pitchFamily="2" charset="-122"/>
              </a:rPr>
              <a:t>, the expected number of </a:t>
            </a:r>
            <a:r>
              <a:rPr lang="en-US" altLang="zh-CN" sz="1600" i="1">
                <a:ea typeface="宋体" panose="02010600030101010101" pitchFamily="2" charset="-122"/>
              </a:rPr>
              <a:t>false</a:t>
            </a:r>
            <a:r>
              <a:rPr lang="en-US" altLang="zh-CN" sz="1600">
                <a:ea typeface="宋体" panose="02010600030101010101" pitchFamily="2" charset="-122"/>
              </a:rPr>
              <a:t> keys which encrypt all plaintexts to the corresponding ciphertexts is:</a:t>
            </a:r>
          </a:p>
          <a:p>
            <a:pPr algn="just"/>
            <a:r>
              <a:rPr lang="en-US" altLang="zh-CN" sz="1600">
                <a:ea typeface="宋体" panose="02010600030101010101" pitchFamily="2" charset="-122"/>
              </a:rPr>
              <a:t>                                 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0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k−tn</a:t>
            </a:r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>
            <a:extLst>
              <a:ext uri="{FF2B5EF4-FFF2-40B4-BE49-F238E27FC236}">
                <a16:creationId xmlns:a16="http://schemas.microsoft.com/office/drawing/2014/main" id="{01D3DF40-38D2-BDE2-49C2-2BB2F262EC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AB56EC-365B-9448-9B65-8E494015A073}" type="slidenum">
              <a:rPr lang="en-US" altLang="zh-CN">
                <a:solidFill>
                  <a:srgbClr val="394073"/>
                </a:solidFill>
              </a:rPr>
              <a:pPr/>
              <a:t>40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3011" name="Footer Placeholder 4">
            <a:extLst>
              <a:ext uri="{FF2B5EF4-FFF2-40B4-BE49-F238E27FC236}">
                <a16:creationId xmlns:a16="http://schemas.microsoft.com/office/drawing/2014/main" id="{6EDE0449-7A09-7CA9-EAD1-48DDD7A9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ED6CBCEC-EF70-3640-C6E4-E1ADED5A87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EC51CE47-7A6D-4F40-058B-F005BE252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2600325"/>
          </a:xfrm>
          <a:noFill/>
        </p:spPr>
        <p:txBody>
          <a:bodyPr/>
          <a:lstStyle/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Increasing the Security of Block Ciphers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Double Encryption and Meet-in-the-Middle Attack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Triple Encryption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Key Whitening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6A0E4C4D-7120-4C88-E0FD-00329717F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Increasing the Security of Block Ciphers</a:t>
            </a:r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64CBFFBF-0507-81CC-8357-9F30BC9F1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3" y="1130300"/>
            <a:ext cx="8064896" cy="3755387"/>
          </a:xfrm>
        </p:spPr>
        <p:txBody>
          <a:bodyPr/>
          <a:lstStyle/>
          <a:p>
            <a:pPr>
              <a:defRPr/>
            </a:pPr>
            <a:r>
              <a:rPr lang="en-US" sz="2000" dirty="0"/>
              <a:t>In some situations we wish to increase the security of block ciphers, e.g., if a cipher such as DES is available in hardware or software for legacy reasons in a given application</a:t>
            </a:r>
          </a:p>
          <a:p>
            <a:pPr>
              <a:defRPr/>
            </a:pPr>
            <a:r>
              <a:rPr lang="en-US" sz="2000" dirty="0"/>
              <a:t>Two approaches are possible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Multiple encryption</a:t>
            </a:r>
          </a:p>
          <a:p>
            <a:pPr lvl="2">
              <a:defRPr/>
            </a:pPr>
            <a:r>
              <a:rPr lang="en-US" dirty="0">
                <a:ea typeface="+mn-ea"/>
                <a:cs typeface="+mn-cs"/>
              </a:rPr>
              <a:t>theoretically much more secure, but </a:t>
            </a:r>
            <a:r>
              <a:rPr lang="en-US" b="1" dirty="0">
                <a:ea typeface="+mn-ea"/>
                <a:cs typeface="+mn-cs"/>
              </a:rPr>
              <a:t>sometimes</a:t>
            </a:r>
            <a:r>
              <a:rPr lang="en-US" dirty="0">
                <a:ea typeface="+mn-ea"/>
                <a:cs typeface="+mn-cs"/>
              </a:rPr>
              <a:t> in practice increases the security very little</a:t>
            </a:r>
          </a:p>
          <a:p>
            <a:pPr lvl="1">
              <a:defRPr/>
            </a:pPr>
            <a:r>
              <a:rPr lang="en-US" dirty="0">
                <a:ea typeface="+mn-ea"/>
                <a:cs typeface="+mn-cs"/>
              </a:rPr>
              <a:t>Key whitening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B714F7BD-9D35-16AE-968A-FA9F2E11C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4F68D0-6FED-2844-A381-C5E7AA7DC1B1}" type="slidenum">
              <a:rPr lang="en-US" altLang="zh-CN">
                <a:solidFill>
                  <a:srgbClr val="394073"/>
                </a:solidFill>
              </a:rPr>
              <a:pPr/>
              <a:t>41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4037" name="Footer Placeholder 4">
            <a:extLst>
              <a:ext uri="{FF2B5EF4-FFF2-40B4-BE49-F238E27FC236}">
                <a16:creationId xmlns:a16="http://schemas.microsoft.com/office/drawing/2014/main" id="{9E871C4F-8972-639A-3531-8785F8E93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E11CD98E-86F3-5B3B-6098-3EA6257A46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E4CDF6-5553-FE4C-AC3F-7FAFC3EF0541}" type="slidenum">
              <a:rPr lang="en-US" altLang="zh-CN">
                <a:solidFill>
                  <a:srgbClr val="394073"/>
                </a:solidFill>
              </a:rPr>
              <a:pPr/>
              <a:t>42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5059" name="Footer Placeholder 4">
            <a:extLst>
              <a:ext uri="{FF2B5EF4-FFF2-40B4-BE49-F238E27FC236}">
                <a16:creationId xmlns:a16="http://schemas.microsoft.com/office/drawing/2014/main" id="{0EBDDC6F-7D4F-F951-2F91-6A54CD0D4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743DC54B-D089-DF1D-1B5B-78A007ECA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E7D79533-92D3-D3DA-DC2C-69A485253C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2600325"/>
          </a:xfrm>
          <a:noFill/>
        </p:spPr>
        <p:txBody>
          <a:bodyPr/>
          <a:lstStyle/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Increasing the Security of Block Ciphers</a:t>
            </a:r>
          </a:p>
          <a:p>
            <a:pPr marL="720725" lvl="1" indent="-342900"/>
            <a:r>
              <a:rPr lang="en-US" altLang="zh-CN" sz="1800" b="1">
                <a:ea typeface="宋体" panose="02010600030101010101" pitchFamily="2" charset="-122"/>
              </a:rPr>
              <a:t>Double Encryption and Meet-in-the-Middle Attack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Triple Encryption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Key Whitening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6AD6987B-AB95-70CF-84E0-BA7B0D581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Double Encryption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F7A7453C-A676-F8E2-8AE4-3ABB9DD9A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723062" cy="3440113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plaintext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>
                <a:ea typeface="宋体" panose="02010600030101010101" pitchFamily="2" charset="-122"/>
              </a:rPr>
              <a:t> is first encrypted with a key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>
                <a:ea typeface="宋体" panose="02010600030101010101" pitchFamily="2" charset="-122"/>
              </a:rPr>
              <a:t>, and the resulting ciphertext is encrypted again using a second key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 sz="600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Assuming a key length of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bits, an exhaustive key search would require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 encryptions or decryptions</a:t>
            </a:r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AEBC22D8-C6D0-0D23-6C28-6C3DA4C84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CAF141-7F29-484F-A6D5-2F66FF2C9549}" type="slidenum">
              <a:rPr lang="en-US" altLang="zh-CN">
                <a:solidFill>
                  <a:srgbClr val="394073"/>
                </a:solidFill>
              </a:rPr>
              <a:pPr/>
              <a:t>43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6085" name="Footer Placeholder 4">
            <a:extLst>
              <a:ext uri="{FF2B5EF4-FFF2-40B4-BE49-F238E27FC236}">
                <a16:creationId xmlns:a16="http://schemas.microsoft.com/office/drawing/2014/main" id="{273BF3B0-D70A-A5F4-CF30-9B0F7EC0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46086" name="Picture 2" descr="C:\Documents and Settings\Amir\Desktop\book\grundlagen_krypto\graphics\meet-in-the-middle.png">
            <a:extLst>
              <a:ext uri="{FF2B5EF4-FFF2-40B4-BE49-F238E27FC236}">
                <a16:creationId xmlns:a16="http://schemas.microsoft.com/office/drawing/2014/main" id="{917C7C5D-073D-3623-DCCC-434A8210F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42"/>
          <a:stretch>
            <a:fillRect/>
          </a:stretch>
        </p:blipFill>
        <p:spPr bwMode="auto">
          <a:xfrm>
            <a:off x="1857375" y="2143125"/>
            <a:ext cx="46736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21C793F1-A2CA-7CAA-A06C-8BCB98C5F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Meet-in-the-Middle Attack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D9CEF6C4-56CB-844B-C6EE-27AD5CCC3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6865937" cy="52085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Meet-in-the-Middle attack requires 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 </a:t>
            </a:r>
            <a:r>
              <a:rPr lang="en-US" altLang="zh-CN" sz="18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2</a:t>
            </a:r>
            <a:r>
              <a:rPr lang="en-US" altLang="zh-CN" sz="18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k+</a:t>
            </a:r>
            <a:r>
              <a:rPr lang="en-US" altLang="zh-CN" sz="18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operations!</a:t>
            </a:r>
          </a:p>
          <a:p>
            <a:endParaRPr lang="en-US" altLang="zh-CN" sz="1000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 sz="1400" b="1">
                <a:ea typeface="宋体" panose="02010600030101010101" pitchFamily="2" charset="-122"/>
              </a:rPr>
              <a:t>Phase I</a:t>
            </a:r>
            <a:r>
              <a:rPr lang="en-US" altLang="zh-CN" sz="1400">
                <a:ea typeface="宋体" panose="02010600030101010101" pitchFamily="2" charset="-122"/>
              </a:rPr>
              <a:t>:  for the given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1400">
                <a:ea typeface="宋体" panose="02010600030101010101" pitchFamily="2" charset="-122"/>
              </a:rPr>
              <a:t> the </a:t>
            </a:r>
            <a:r>
              <a:rPr lang="en-US" altLang="zh-CN" sz="1400" b="1">
                <a:ea typeface="宋体" panose="02010600030101010101" pitchFamily="2" charset="-122"/>
              </a:rPr>
              <a:t>left</a:t>
            </a:r>
            <a:r>
              <a:rPr lang="en-US" altLang="zh-CN" sz="1400">
                <a:ea typeface="宋体" panose="02010600030101010101" pitchFamily="2" charset="-122"/>
              </a:rPr>
              <a:t> encryption is brute-forced for all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L,i</a:t>
            </a:r>
            <a:r>
              <a:rPr lang="en-US" altLang="zh-CN" sz="1400">
                <a:ea typeface="宋体" panose="02010600030101010101" pitchFamily="2" charset="-122"/>
              </a:rPr>
              <a:t>,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=1,2, ..., 2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400">
                <a:ea typeface="宋体" panose="02010600030101010101" pitchFamily="2" charset="-122"/>
              </a:rPr>
              <a:t> and a lookup table with 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400">
                <a:ea typeface="宋体" panose="02010600030101010101" pitchFamily="2" charset="-122"/>
              </a:rPr>
              <a:t> entry (each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n+k</a:t>
            </a:r>
            <a:r>
              <a:rPr lang="en-US" altLang="zh-CN" sz="1400">
                <a:ea typeface="宋体" panose="02010600030101010101" pitchFamily="2" charset="-122"/>
              </a:rPr>
              <a:t> bits wide) is computed</a:t>
            </a:r>
          </a:p>
          <a:p>
            <a:pPr lvl="2"/>
            <a:r>
              <a:rPr lang="en-US" altLang="zh-CN" sz="1400">
                <a:ea typeface="宋体" panose="02010600030101010101" pitchFamily="2" charset="-122"/>
              </a:rPr>
              <a:t>the lookup table should be ordered by the result of the encryption 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L,i</a:t>
            </a:r>
            <a:r>
              <a:rPr lang="en-US" altLang="zh-CN" sz="1400">
                <a:ea typeface="宋体" panose="02010600030101010101" pitchFamily="2" charset="-122"/>
              </a:rPr>
              <a:t>)</a:t>
            </a:r>
          </a:p>
          <a:p>
            <a:pPr lvl="1"/>
            <a:r>
              <a:rPr lang="en-US" altLang="zh-CN" sz="1400" b="1">
                <a:ea typeface="宋体" panose="02010600030101010101" pitchFamily="2" charset="-122"/>
              </a:rPr>
              <a:t>Phase II</a:t>
            </a:r>
            <a:r>
              <a:rPr lang="en-US" altLang="zh-CN" sz="1400">
                <a:ea typeface="宋体" panose="02010600030101010101" pitchFamily="2" charset="-122"/>
              </a:rPr>
              <a:t>: the </a:t>
            </a:r>
            <a:r>
              <a:rPr lang="en-US" altLang="zh-CN" sz="1400" b="1">
                <a:ea typeface="宋体" panose="02010600030101010101" pitchFamily="2" charset="-122"/>
              </a:rPr>
              <a:t>right</a:t>
            </a:r>
            <a:r>
              <a:rPr lang="en-US" altLang="zh-CN" sz="1400">
                <a:ea typeface="宋体" panose="02010600030101010101" pitchFamily="2" charset="-122"/>
              </a:rPr>
              <a:t> encryption is brute-forced (using decryption) and for each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R,i</a:t>
            </a:r>
            <a:r>
              <a:rPr lang="en-US" altLang="zh-CN" sz="1400">
                <a:ea typeface="宋体" panose="02010600030101010101" pitchFamily="2" charset="-122"/>
              </a:rPr>
              <a:t> it is checked whether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R,i</a:t>
            </a:r>
            <a:r>
              <a:rPr lang="en-US" altLang="zh-CN" sz="1400">
                <a:ea typeface="宋体" panose="02010600030101010101" pitchFamily="2" charset="-122"/>
              </a:rPr>
              <a:t> is equal to any 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L,i</a:t>
            </a:r>
            <a:r>
              <a:rPr lang="en-US" altLang="zh-CN" sz="1400">
                <a:ea typeface="宋体" panose="02010600030101010101" pitchFamily="2" charset="-122"/>
              </a:rPr>
              <a:t> value in the table of the first phase</a:t>
            </a:r>
          </a:p>
          <a:p>
            <a:endParaRPr lang="en-US" altLang="zh-CN" sz="400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Computational Complexity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 sz="1000" b="1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Double encryption is not much more secure then single encryption!</a:t>
            </a:r>
            <a:endParaRPr lang="en-US" altLang="zh-CN" sz="1400">
              <a:ea typeface="宋体" panose="02010600030101010101" pitchFamily="2" charset="-122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B8BD9EB8-26BA-AEA3-A475-264752EE4B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2352BA-CC85-8147-A933-AC82E45BD600}" type="slidenum">
              <a:rPr lang="en-US" altLang="zh-CN">
                <a:solidFill>
                  <a:srgbClr val="394073"/>
                </a:solidFill>
              </a:rPr>
              <a:pPr/>
              <a:t>44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7109" name="Footer Placeholder 4">
            <a:extLst>
              <a:ext uri="{FF2B5EF4-FFF2-40B4-BE49-F238E27FC236}">
                <a16:creationId xmlns:a16="http://schemas.microsoft.com/office/drawing/2014/main" id="{CC34E758-05C2-FAAD-E5B9-419FBAB41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47110" name="Picture 2" descr="C:\Documents and Settings\Amir\Desktop\book\grundlagen_krypto\graphics\meet-in-the-middle.png">
            <a:extLst>
              <a:ext uri="{FF2B5EF4-FFF2-40B4-BE49-F238E27FC236}">
                <a16:creationId xmlns:a16="http://schemas.microsoft.com/office/drawing/2014/main" id="{0A15FEE8-EFE8-5837-5646-4F817C241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81"/>
          <a:stretch>
            <a:fillRect/>
          </a:stretch>
        </p:blipFill>
        <p:spPr bwMode="auto">
          <a:xfrm>
            <a:off x="1928813" y="1714500"/>
            <a:ext cx="4673600" cy="1039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11" name="Rectangle 6">
            <a:extLst>
              <a:ext uri="{FF2B5EF4-FFF2-40B4-BE49-F238E27FC236}">
                <a16:creationId xmlns:a16="http://schemas.microsoft.com/office/drawing/2014/main" id="{78863119-D303-3A1E-9E29-11325AE4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5072063"/>
            <a:ext cx="5072062" cy="714375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91440" bIns="9144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600">
                <a:ea typeface="宋体" panose="02010600030101010101" pitchFamily="2" charset="-122"/>
              </a:rPr>
              <a:t>number of encryptions and decryptions =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6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+2</a:t>
            </a:r>
            <a:r>
              <a:rPr lang="en-US" altLang="zh-CN" sz="16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2</a:t>
            </a:r>
            <a:r>
              <a:rPr lang="en-US" altLang="zh-CN" sz="16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600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</a:p>
          <a:p>
            <a:r>
              <a:rPr lang="en-US" altLang="zh-CN" sz="1600">
                <a:ea typeface="宋体" panose="02010600030101010101" pitchFamily="2" charset="-122"/>
              </a:rPr>
              <a:t>                  number of storage locations = 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1600" i="1" baseline="30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</a:p>
          <a:p>
            <a:pPr algn="just"/>
            <a:endParaRPr lang="en-US" altLang="zh-CN" sz="1600" i="1" baseline="30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3">
            <a:extLst>
              <a:ext uri="{FF2B5EF4-FFF2-40B4-BE49-F238E27FC236}">
                <a16:creationId xmlns:a16="http://schemas.microsoft.com/office/drawing/2014/main" id="{7DB03D14-A495-1F6C-9B88-6976F211EE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C82161-3E47-7544-B0C9-0C023FE915DF}" type="slidenum">
              <a:rPr lang="en-US" altLang="zh-CN">
                <a:solidFill>
                  <a:srgbClr val="394073"/>
                </a:solidFill>
              </a:rPr>
              <a:pPr/>
              <a:t>45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8131" name="Footer Placeholder 4">
            <a:extLst>
              <a:ext uri="{FF2B5EF4-FFF2-40B4-BE49-F238E27FC236}">
                <a16:creationId xmlns:a16="http://schemas.microsoft.com/office/drawing/2014/main" id="{A59E82A2-FB4E-0038-00CD-C3FD0CD5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F541AEB5-C1D8-D803-1E65-D6705C58E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ED836F37-FE31-C9E8-ADBF-2629A0AA1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2600325"/>
          </a:xfrm>
          <a:noFill/>
        </p:spPr>
        <p:txBody>
          <a:bodyPr/>
          <a:lstStyle/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Increasing the Security of Block Ciphers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Double Encryption and Meet-in-the-Middle Attack</a:t>
            </a:r>
          </a:p>
          <a:p>
            <a:pPr marL="720725" lvl="1" indent="-342900"/>
            <a:r>
              <a:rPr lang="en-US" altLang="zh-CN" sz="1800" b="1">
                <a:ea typeface="宋体" panose="02010600030101010101" pitchFamily="2" charset="-122"/>
              </a:rPr>
              <a:t>Triple Encryption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Key Whitening</a:t>
            </a:r>
          </a:p>
        </p:txBody>
      </p:sp>
    </p:spTree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C6F14AEF-A9A1-60DC-7AA1-620BAE40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Triple Encryption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9155" name="Content Placeholder 2">
            <a:extLst>
              <a:ext uri="{FF2B5EF4-FFF2-40B4-BE49-F238E27FC236}">
                <a16:creationId xmlns:a16="http://schemas.microsoft.com/office/drawing/2014/main" id="{E8BCD969-F051-024D-03E0-5AC0BE718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651750" cy="5124450"/>
          </a:xfrm>
        </p:spPr>
        <p:txBody>
          <a:bodyPr/>
          <a:lstStyle/>
          <a:p>
            <a:pPr>
              <a:defRPr/>
            </a:pPr>
            <a:r>
              <a:rPr lang="en-US" dirty="0"/>
              <a:t>The encryption of a block three times          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)))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dirty="0"/>
              <a:t>In practice a variant scheme is often used EDE (encryption-decryption-encryption)</a:t>
            </a:r>
          </a:p>
          <a:p>
            <a:pPr>
              <a:buFontTx/>
              <a:buNone/>
              <a:defRPr/>
            </a:pPr>
            <a:r>
              <a:rPr lang="en-US" dirty="0"/>
              <a:t>                                          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baseline="30000" dirty="0">
                <a:latin typeface="Times New Roman" pitchFamily="18" charset="0"/>
                <a:cs typeface="Times New Roman" pitchFamily="18" charset="0"/>
              </a:rPr>
              <a:t>-1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s-ES" sz="1800" i="1" baseline="-25000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s-ES" sz="18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s-ES" sz="18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s-ES" sz="1800" dirty="0">
                <a:latin typeface="Times New Roman" pitchFamily="18" charset="0"/>
                <a:cs typeface="Times New Roman" pitchFamily="18" charset="0"/>
              </a:rPr>
              <a:t>)))</a:t>
            </a:r>
            <a:endParaRPr lang="en-US" sz="1800" dirty="0"/>
          </a:p>
          <a:p>
            <a:pPr lvl="1">
              <a:defRPr/>
            </a:pPr>
            <a:r>
              <a:rPr lang="en-US" dirty="0"/>
              <a:t>Advantage: choosing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1=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2=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/>
              <a:t> performs single DES encryption</a:t>
            </a:r>
            <a:endParaRPr lang="en-US" dirty="0">
              <a:ea typeface="+mn-ea"/>
              <a:cs typeface="+mn-cs"/>
            </a:endParaRPr>
          </a:p>
          <a:p>
            <a:pPr>
              <a:defRPr/>
            </a:pPr>
            <a:r>
              <a:rPr lang="en-US" dirty="0"/>
              <a:t>Still we can perform a meet-in-the middle attack, and it reduces the </a:t>
            </a:r>
            <a:r>
              <a:rPr lang="en-US" i="1" dirty="0"/>
              <a:t>effective key length </a:t>
            </a:r>
            <a:r>
              <a:rPr lang="en-US" dirty="0"/>
              <a:t>of triple encryption from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/>
              <a:t> to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/>
              <a:t>!</a:t>
            </a:r>
          </a:p>
          <a:p>
            <a:pPr lvl="1">
              <a:defRPr/>
            </a:pPr>
            <a:r>
              <a:rPr lang="en-US" sz="1400" dirty="0"/>
              <a:t>The attacker must run 2</a:t>
            </a:r>
            <a:r>
              <a:rPr lang="en-US" sz="1400" baseline="30000" dirty="0"/>
              <a:t>112</a:t>
            </a:r>
            <a:r>
              <a:rPr lang="en-US" sz="1400" dirty="0"/>
              <a:t> tests in the case of 3DES</a:t>
            </a: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b="1" dirty="0">
                <a:cs typeface="Times New Roman" pitchFamily="18" charset="0"/>
              </a:rPr>
              <a:t>Triple encryption effectively doubles the key length</a:t>
            </a: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CA71428-86C3-071E-1955-21D425C52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60B405-8BCA-B842-932C-034FD571F9C5}" type="slidenum">
              <a:rPr lang="en-US" altLang="zh-CN">
                <a:solidFill>
                  <a:srgbClr val="394073"/>
                </a:solidFill>
              </a:rPr>
              <a:pPr/>
              <a:t>46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49157" name="Footer Placeholder 4">
            <a:extLst>
              <a:ext uri="{FF2B5EF4-FFF2-40B4-BE49-F238E27FC236}">
                <a16:creationId xmlns:a16="http://schemas.microsoft.com/office/drawing/2014/main" id="{190438DB-7399-7117-9E91-6623BBCB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49158" name="Picture 2" descr="C:\Documents and Settings\Amir\Desktop\book\grundlagen_krypto\graphics\trpenc.png">
            <a:extLst>
              <a:ext uri="{FF2B5EF4-FFF2-40B4-BE49-F238E27FC236}">
                <a16:creationId xmlns:a16="http://schemas.microsoft.com/office/drawing/2014/main" id="{6296F175-9815-57C9-724A-8C19DE724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3857625"/>
            <a:ext cx="4791075" cy="191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292A0A66-AF72-1B76-500A-AAEFE9462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DA18DC-1305-E54D-8A01-657FD310098E}" type="slidenum">
              <a:rPr lang="en-US" altLang="zh-CN">
                <a:solidFill>
                  <a:srgbClr val="394073"/>
                </a:solidFill>
              </a:rPr>
              <a:pPr/>
              <a:t>47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50179" name="Footer Placeholder 4">
            <a:extLst>
              <a:ext uri="{FF2B5EF4-FFF2-40B4-BE49-F238E27FC236}">
                <a16:creationId xmlns:a16="http://schemas.microsoft.com/office/drawing/2014/main" id="{B52014FE-D119-E48F-FEF8-517BCE380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9410353D-C160-ECB8-B54E-3A2CA7F60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1488" y="322263"/>
            <a:ext cx="8204200" cy="515937"/>
          </a:xfrm>
        </p:spPr>
        <p:txBody>
          <a:bodyPr/>
          <a:lstStyle/>
          <a:p>
            <a:pPr>
              <a:buFont typeface="Webdings" pitchFamily="2" charset="2"/>
              <a:buNone/>
            </a:pPr>
            <a:r>
              <a:rPr lang="en-US" altLang="zh-CN" sz="2800">
                <a:ea typeface="宋体" panose="02010600030101010101" pitchFamily="2" charset="-122"/>
              </a:rPr>
              <a:t>Content of this Chapter</a:t>
            </a:r>
          </a:p>
        </p:txBody>
      </p:sp>
      <p:sp>
        <p:nvSpPr>
          <p:cNvPr id="50181" name="Rectangle 5">
            <a:extLst>
              <a:ext uri="{FF2B5EF4-FFF2-40B4-BE49-F238E27FC236}">
                <a16:creationId xmlns:a16="http://schemas.microsoft.com/office/drawing/2014/main" id="{BDBA95E5-C7BA-BC09-A40C-49C5C658B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484313"/>
            <a:ext cx="6891337" cy="2600325"/>
          </a:xfrm>
          <a:noFill/>
        </p:spPr>
        <p:txBody>
          <a:bodyPr/>
          <a:lstStyle/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Encryption with Block Ciphers: Modes of Operation</a:t>
            </a:r>
          </a:p>
          <a:p>
            <a:pPr marL="342900" indent="-342900"/>
            <a:r>
              <a:rPr lang="en-US" altLang="zh-CN" sz="2000">
                <a:ea typeface="宋体" panose="02010600030101010101" pitchFamily="2" charset="-122"/>
              </a:rPr>
              <a:t>Exhaustive Key Search Revisited</a:t>
            </a:r>
          </a:p>
          <a:p>
            <a:pPr marL="342900" indent="-342900"/>
            <a:r>
              <a:rPr lang="en-US" altLang="zh-CN" sz="2000" b="1">
                <a:ea typeface="宋体" panose="02010600030101010101" pitchFamily="2" charset="-122"/>
              </a:rPr>
              <a:t>Increasing the Security of Block Ciphers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Double Encryption and Meet-in-the-Middle Attack</a:t>
            </a:r>
          </a:p>
          <a:p>
            <a:pPr marL="720725" lvl="1" indent="-342900"/>
            <a:r>
              <a:rPr lang="en-US" altLang="zh-CN" sz="1800">
                <a:ea typeface="宋体" panose="02010600030101010101" pitchFamily="2" charset="-122"/>
              </a:rPr>
              <a:t>Triple Encryption</a:t>
            </a:r>
          </a:p>
          <a:p>
            <a:pPr marL="720725" lvl="1" indent="-342900"/>
            <a:r>
              <a:rPr lang="en-US" altLang="zh-CN" sz="1800" b="1">
                <a:ea typeface="宋体" panose="02010600030101010101" pitchFamily="2" charset="-122"/>
              </a:rPr>
              <a:t>Key Whitening</a:t>
            </a: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4990767B-C95C-F807-FFB7-9A9824167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en-US" altLang="zh-CN">
                <a:solidFill>
                  <a:schemeClr val="tx1"/>
                </a:solidFill>
                <a:ea typeface="宋体" panose="02010600030101010101" pitchFamily="2" charset="-122"/>
              </a:rPr>
              <a:t>Key Whitening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51203" name="Content Placeholder 2">
            <a:extLst>
              <a:ext uri="{FF2B5EF4-FFF2-40B4-BE49-F238E27FC236}">
                <a16:creationId xmlns:a16="http://schemas.microsoft.com/office/drawing/2014/main" id="{B85EF60C-B1A8-CF1D-F19D-6A0817319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313" y="1130300"/>
            <a:ext cx="7008812" cy="5232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Makes block ciphers such as DES much more resistant against brute-force attacks</a:t>
            </a:r>
          </a:p>
          <a:p>
            <a:r>
              <a:rPr lang="en-US" altLang="zh-CN">
                <a:ea typeface="宋体" panose="02010600030101010101" pitchFamily="2" charset="-122"/>
              </a:rPr>
              <a:t>In addition to the regular cipher key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>
                <a:ea typeface="宋体" panose="02010600030101010101" pitchFamily="2" charset="-122"/>
              </a:rPr>
              <a:t>, two whitening keys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>
                <a:ea typeface="宋体" panose="02010600030101010101" pitchFamily="2" charset="-122"/>
              </a:rPr>
              <a:t> and </a:t>
            </a:r>
            <a:r>
              <a:rPr lang="en-US" altLang="zh-CN" sz="1800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1800" baseline="-25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>
                <a:ea typeface="宋体" panose="02010600030101010101" pitchFamily="2" charset="-122"/>
              </a:rPr>
              <a:t> are used to XOR-mask the plaintext and ciphertext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It does not strengthen block ciphers against most analytical attacks such as linear and differential cryptanalysis</a:t>
            </a:r>
          </a:p>
          <a:p>
            <a:r>
              <a:rPr lang="en-US" altLang="zh-CN">
                <a:ea typeface="宋体" panose="02010600030101010101" pitchFamily="2" charset="-122"/>
              </a:rPr>
              <a:t>It is not a “cure” for inherently weak ciphers</a:t>
            </a:r>
          </a:p>
          <a:p>
            <a:r>
              <a:rPr lang="en-US" altLang="zh-CN">
                <a:ea typeface="宋体" panose="02010600030101010101" pitchFamily="2" charset="-122"/>
              </a:rPr>
              <a:t>The additional computational load is negligible</a:t>
            </a:r>
          </a:p>
          <a:p>
            <a:r>
              <a:rPr lang="en-US" altLang="zh-CN">
                <a:ea typeface="宋体" panose="02010600030101010101" pitchFamily="2" charset="-122"/>
              </a:rPr>
              <a:t>Its main application is ciphers that are relatively strong against analytical attacks but possess too short a key space especially DES</a:t>
            </a:r>
          </a:p>
          <a:p>
            <a:pPr lvl="1"/>
            <a:r>
              <a:rPr lang="en-US" altLang="zh-CN" sz="1400">
                <a:ea typeface="宋体" panose="02010600030101010101" pitchFamily="2" charset="-122"/>
              </a:rPr>
              <a:t> a variant of DES which uses key whitening is called DESX</a:t>
            </a: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99290B3F-57C1-8D27-EC64-97A2CAF5C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ADABFC4-E8A1-0D4B-A172-40C6D8245613}" type="slidenum">
              <a:rPr lang="en-US" altLang="zh-CN">
                <a:solidFill>
                  <a:srgbClr val="394073"/>
                </a:solidFill>
              </a:rPr>
              <a:pPr/>
              <a:t>48</a:t>
            </a:fld>
            <a:r>
              <a:rPr lang="en-US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51205" name="Footer Placeholder 4">
            <a:extLst>
              <a:ext uri="{FF2B5EF4-FFF2-40B4-BE49-F238E27FC236}">
                <a16:creationId xmlns:a16="http://schemas.microsoft.com/office/drawing/2014/main" id="{E83C1DC1-D944-39D6-24DD-D156E4C44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Chapter 5 of </a:t>
            </a:r>
            <a:r>
              <a:rPr lang="en-US" altLang="zh-CN" i="1">
                <a:ea typeface="宋体" panose="02010600030101010101" pitchFamily="2" charset="-122"/>
              </a:rPr>
              <a:t>Understanding Cryptography</a:t>
            </a:r>
            <a:r>
              <a:rPr lang="en-US" altLang="zh-CN">
                <a:ea typeface="宋体" panose="02010600030101010101" pitchFamily="2" charset="-122"/>
              </a:rPr>
              <a:t> by Christof Paar and Jan Pelzl</a:t>
            </a:r>
          </a:p>
        </p:txBody>
      </p:sp>
      <p:pic>
        <p:nvPicPr>
          <p:cNvPr id="51206" name="Picture 2" descr="C:\Documents and Settings\Amir\Desktop\book\grundlagen_krypto\graphics\whtngn.png">
            <a:extLst>
              <a:ext uri="{FF2B5EF4-FFF2-40B4-BE49-F238E27FC236}">
                <a16:creationId xmlns:a16="http://schemas.microsoft.com/office/drawing/2014/main" id="{4E261256-4CFE-26D8-32B0-46101FBE2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3" y="2643188"/>
            <a:ext cx="3763962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305F5118-825C-29BB-F859-E030AD6EDF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6F3FBA-E334-DD40-904A-07D9FFC570C6}" type="slidenum">
              <a:rPr lang="de-DE" altLang="zh-CN">
                <a:solidFill>
                  <a:srgbClr val="394073"/>
                </a:solidFill>
              </a:rPr>
              <a:pPr/>
              <a:t>49</a:t>
            </a:fld>
            <a:r>
              <a:rPr lang="de-DE" altLang="zh-CN">
                <a:solidFill>
                  <a:srgbClr val="394073"/>
                </a:solidFill>
              </a:rPr>
              <a:t>/38</a:t>
            </a:r>
          </a:p>
        </p:txBody>
      </p:sp>
      <p:sp>
        <p:nvSpPr>
          <p:cNvPr id="52227" name="Footer Placeholder 4">
            <a:extLst>
              <a:ext uri="{FF2B5EF4-FFF2-40B4-BE49-F238E27FC236}">
                <a16:creationId xmlns:a16="http://schemas.microsoft.com/office/drawing/2014/main" id="{CCBADE08-4700-2216-DBFC-006B78233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de-DE" altLang="zh-CN"/>
              <a:t>Chapter 5 of </a:t>
            </a:r>
            <a:r>
              <a:rPr lang="de-DE" altLang="zh-CN" i="1"/>
              <a:t>Understanding Cryptography</a:t>
            </a:r>
            <a:r>
              <a:rPr lang="de-DE" altLang="zh-CN"/>
              <a:t> by Christof Paar and Jan Pelzl</a:t>
            </a:r>
          </a:p>
        </p:txBody>
      </p:sp>
      <p:sp>
        <p:nvSpPr>
          <p:cNvPr id="52228" name="Rectangle 2">
            <a:extLst>
              <a:ext uri="{FF2B5EF4-FFF2-40B4-BE49-F238E27FC236}">
                <a16:creationId xmlns:a16="http://schemas.microsoft.com/office/drawing/2014/main" id="{2C3891CA-DCB3-E34D-FEC3-0A2660F7C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/>
              <a:t>Lessons Learned</a:t>
            </a:r>
          </a:p>
        </p:txBody>
      </p:sp>
      <p:sp>
        <p:nvSpPr>
          <p:cNvPr id="52229" name="Rectangle 3">
            <a:extLst>
              <a:ext uri="{FF2B5EF4-FFF2-40B4-BE49-F238E27FC236}">
                <a16:creationId xmlns:a16="http://schemas.microsoft.com/office/drawing/2014/main" id="{66E1B09D-8391-C3BE-29C1-98107FA82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820738"/>
            <a:ext cx="8497888" cy="520223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There are many different ways to encrypt with a block cipher. Each mode of operation has some advantages and disadvantages</a:t>
            </a:r>
          </a:p>
          <a:p>
            <a:r>
              <a:rPr lang="en-US" altLang="zh-CN">
                <a:ea typeface="宋体" panose="02010600030101010101" pitchFamily="2" charset="-122"/>
              </a:rPr>
              <a:t>Several modes turn a block cipher into a stream cipher</a:t>
            </a:r>
          </a:p>
          <a:p>
            <a:r>
              <a:rPr lang="en-US" altLang="zh-CN">
                <a:ea typeface="宋体" panose="02010600030101010101" pitchFamily="2" charset="-122"/>
              </a:rPr>
              <a:t>There are modes that perform encryption together together with authentication, i.e., a cryptographic checksum protects against message manipulation</a:t>
            </a:r>
          </a:p>
          <a:p>
            <a:r>
              <a:rPr lang="en-US" altLang="zh-CN">
                <a:ea typeface="宋体" panose="02010600030101010101" pitchFamily="2" charset="-122"/>
              </a:rPr>
              <a:t>The straightforward ECB mode has security weaknesses, independent of the underlying block cipher</a:t>
            </a:r>
          </a:p>
          <a:p>
            <a:r>
              <a:rPr lang="en-US" altLang="zh-CN">
                <a:ea typeface="宋体" panose="02010600030101010101" pitchFamily="2" charset="-122"/>
              </a:rPr>
              <a:t>The counter mode allows parallelization of encryption and is thus suited for high speed implementations</a:t>
            </a:r>
          </a:p>
          <a:p>
            <a:r>
              <a:rPr lang="en-US" altLang="zh-CN">
                <a:ea typeface="宋体" panose="02010600030101010101" pitchFamily="2" charset="-122"/>
              </a:rPr>
              <a:t>Double encryption with a given block cipher only marginally improves the resistance against brute-force attacks</a:t>
            </a:r>
          </a:p>
          <a:p>
            <a:r>
              <a:rPr lang="en-US" altLang="zh-CN">
                <a:ea typeface="宋体" panose="02010600030101010101" pitchFamily="2" charset="-122"/>
              </a:rPr>
              <a:t>Triple encryption with a given block cipher roughly </a:t>
            </a:r>
            <a:r>
              <a:rPr lang="en-US" altLang="zh-CN" i="1">
                <a:ea typeface="宋体" panose="02010600030101010101" pitchFamily="2" charset="-122"/>
              </a:rPr>
              <a:t>doubles</a:t>
            </a:r>
            <a:r>
              <a:rPr lang="en-US" altLang="zh-CN">
                <a:ea typeface="宋体" panose="02010600030101010101" pitchFamily="2" charset="-122"/>
              </a:rPr>
              <a:t> the key length</a:t>
            </a:r>
          </a:p>
          <a:p>
            <a:r>
              <a:rPr lang="en-US" altLang="zh-CN">
                <a:ea typeface="宋体" panose="02010600030101010101" pitchFamily="2" charset="-122"/>
              </a:rPr>
              <a:t>Triple DES (3DES) has an effective key length of 112 bits</a:t>
            </a:r>
          </a:p>
          <a:p>
            <a:r>
              <a:rPr lang="en-US" altLang="zh-CN">
                <a:ea typeface="宋体" panose="02010600030101010101" pitchFamily="2" charset="-122"/>
              </a:rPr>
              <a:t>Key whitening enlarges the DES key length without much computational overhead.</a:t>
            </a:r>
          </a:p>
          <a:p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4"/>
  <p:tag name="DEFAULTHEIGHT" val="319"/>
</p:tagLst>
</file>

<file path=ppt/theme/theme1.xml><?xml version="1.0" encoding="utf-8"?>
<a:theme xmlns:a="http://schemas.openxmlformats.org/drawingml/2006/main" name="Folienvorlage2">
  <a:themeElements>
    <a:clrScheme name="Folienvorlage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Folienvorlage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olienvorlage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olienvorlage2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olienvorlage2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08 Lecture">
  <a:themeElements>
    <a:clrScheme name="Custom 7">
      <a:dk1>
        <a:sysClr val="windowText" lastClr="000000"/>
      </a:dk1>
      <a:lt1>
        <a:sysClr val="window" lastClr="FFFFFF"/>
      </a:lt1>
      <a:dk2>
        <a:srgbClr val="000000"/>
      </a:dk2>
      <a:lt2>
        <a:srgbClr val="007FA3"/>
      </a:lt2>
      <a:accent1>
        <a:srgbClr val="3C1581"/>
      </a:accent1>
      <a:accent2>
        <a:srgbClr val="1A6C7C"/>
      </a:accent2>
      <a:accent3>
        <a:srgbClr val="CC730D"/>
      </a:accent3>
      <a:accent4>
        <a:srgbClr val="B2AA00"/>
      </a:accent4>
      <a:accent5>
        <a:srgbClr val="1B9332"/>
      </a:accent5>
      <a:accent6>
        <a:srgbClr val="7F7F7F"/>
      </a:accent6>
      <a:hlink>
        <a:srgbClr val="3C1581"/>
      </a:hlink>
      <a:folHlink>
        <a:srgbClr val="7F7F7F"/>
      </a:folHlink>
    </a:clrScheme>
    <a:fontScheme name="Office Classic 2">
      <a:maj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Arial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200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Folienvorlage2</Template>
  <TotalTime>1330</TotalTime>
  <Words>8005</Words>
  <Application>Microsoft Macintosh PowerPoint</Application>
  <PresentationFormat>全屏显示(4:3)</PresentationFormat>
  <Paragraphs>831</Paragraphs>
  <Slides>49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49</vt:i4>
      </vt:variant>
    </vt:vector>
  </HeadingPairs>
  <TitlesOfParts>
    <vt:vector size="57" baseType="lpstr">
      <vt:lpstr>宋体</vt:lpstr>
      <vt:lpstr>Arial</vt:lpstr>
      <vt:lpstr>Times New Roman</vt:lpstr>
      <vt:lpstr>Verdana</vt:lpstr>
      <vt:lpstr>Webdings</vt:lpstr>
      <vt:lpstr>Wingdings</vt:lpstr>
      <vt:lpstr>Folienvorlage2</vt:lpstr>
      <vt:lpstr>508 Lecture</vt:lpstr>
      <vt:lpstr>    Chapter 5 – More About Block Ciphers </vt:lpstr>
      <vt:lpstr>Content of this Chapter</vt:lpstr>
      <vt:lpstr>Block Ciphers</vt:lpstr>
      <vt:lpstr>Content of this Chapter</vt:lpstr>
      <vt:lpstr>Encryption with Block Ciphers</vt:lpstr>
      <vt:lpstr>Content of this Chapter</vt:lpstr>
      <vt:lpstr>Electronic Code Book mode (ECB)</vt:lpstr>
      <vt:lpstr>Electronic Codebook (E C B) Mode</vt:lpstr>
      <vt:lpstr>ECB: advantages/disadvantages</vt:lpstr>
      <vt:lpstr>Substitution Attack on ECB</vt:lpstr>
      <vt:lpstr>Example of encrypting bitmaps in ECB mode</vt:lpstr>
      <vt:lpstr>Content of this Chapter</vt:lpstr>
      <vt:lpstr>Cipher Block Chaining mode (CBC)</vt:lpstr>
      <vt:lpstr>Cipher Block Chaining mode (CBC)</vt:lpstr>
      <vt:lpstr>Cipher Block Chaining     (C B C) Mode</vt:lpstr>
      <vt:lpstr>Substitution Attack on CBC</vt:lpstr>
      <vt:lpstr>Content of this Chapter</vt:lpstr>
      <vt:lpstr>Output Feedback mode (OFB)</vt:lpstr>
      <vt:lpstr>Output Feedback (O F B) Mode (1 of 2)</vt:lpstr>
      <vt:lpstr>Output Feedback (O F B) Mode (2 of 2)</vt:lpstr>
      <vt:lpstr>Content of this Chapter</vt:lpstr>
      <vt:lpstr>Cipher Feedback mode (CFB)</vt:lpstr>
      <vt:lpstr>Cipher Feedback (C F B) Mode (1 of 2)</vt:lpstr>
      <vt:lpstr>Cipher Feedback (C F B) Mode (2 of 2)</vt:lpstr>
      <vt:lpstr>Content of this Chapter</vt:lpstr>
      <vt:lpstr>Counter mode (CTR)</vt:lpstr>
      <vt:lpstr>Counter (C T R) Mode (1 of 2)</vt:lpstr>
      <vt:lpstr>Counter (C T R) Mode (2 of 2)</vt:lpstr>
      <vt:lpstr>Content of this Chapter</vt:lpstr>
      <vt:lpstr>X T S-A E S Mode for Block-Oriented Storage Devices</vt:lpstr>
      <vt:lpstr>Tweakable Block Ciphers</vt:lpstr>
      <vt:lpstr>Figure 7.9 Tweakable Block Cipher</vt:lpstr>
      <vt:lpstr>Storage Encryption Requirements</vt:lpstr>
      <vt:lpstr>X T S-A E S Operation on Single Block</vt:lpstr>
      <vt:lpstr>X T S-A E S Operation on Single Block</vt:lpstr>
      <vt:lpstr>Figure 7.11 X T S-A E S Mode</vt:lpstr>
      <vt:lpstr>Content of this Chapter</vt:lpstr>
      <vt:lpstr>Exhaustive Key Search Revisited</vt:lpstr>
      <vt:lpstr>An Exhaustive Key Search Example</vt:lpstr>
      <vt:lpstr>Content of this Chapter</vt:lpstr>
      <vt:lpstr>Increasing the Security of Block Ciphers</vt:lpstr>
      <vt:lpstr>Content of this Chapter</vt:lpstr>
      <vt:lpstr>Double Encryption</vt:lpstr>
      <vt:lpstr>Meet-in-the-Middle Attack</vt:lpstr>
      <vt:lpstr>Content of this Chapter</vt:lpstr>
      <vt:lpstr>Triple Encryption</vt:lpstr>
      <vt:lpstr>Content of this Chapter</vt:lpstr>
      <vt:lpstr>Key Whitening</vt:lpstr>
      <vt:lpstr>Lessons Learned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About Block Ciphers</dc:title>
  <dc:subject/>
  <dc:creator>Amir Moradi</dc:creator>
  <cp:lastModifiedBy>Jing Liu</cp:lastModifiedBy>
  <cp:revision>761</cp:revision>
  <cp:lastPrinted>2003-07-29T11:52:19Z</cp:lastPrinted>
  <dcterms:created xsi:type="dcterms:W3CDTF">2004-07-26T14:24:04Z</dcterms:created>
  <dcterms:modified xsi:type="dcterms:W3CDTF">2024-10-20T10:07:00Z</dcterms:modified>
</cp:coreProperties>
</file>