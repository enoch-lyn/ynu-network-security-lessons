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68" r:id="rId2"/>
    <p:sldId id="443" r:id="rId3"/>
    <p:sldId id="446" r:id="rId4"/>
    <p:sldId id="447" r:id="rId5"/>
    <p:sldId id="451" r:id="rId6"/>
    <p:sldId id="452" r:id="rId7"/>
    <p:sldId id="454" r:id="rId8"/>
    <p:sldId id="455" r:id="rId9"/>
    <p:sldId id="456" r:id="rId10"/>
    <p:sldId id="457" r:id="rId11"/>
    <p:sldId id="458" r:id="rId12"/>
    <p:sldId id="449" r:id="rId13"/>
    <p:sldId id="463" r:id="rId14"/>
    <p:sldId id="444" r:id="rId15"/>
    <p:sldId id="460" r:id="rId16"/>
    <p:sldId id="461" r:id="rId17"/>
    <p:sldId id="459" r:id="rId18"/>
    <p:sldId id="462" r:id="rId19"/>
    <p:sldId id="453" r:id="rId20"/>
  </p:sldIdLst>
  <p:sldSz cx="9144000" cy="6858000" type="screen4x3"/>
  <p:notesSz cx="7099300" cy="10234613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80" autoAdjust="0"/>
    <p:restoredTop sz="96405" autoAdjust="0"/>
  </p:normalViewPr>
  <p:slideViewPr>
    <p:cSldViewPr>
      <p:cViewPr varScale="1">
        <p:scale>
          <a:sx n="163" d="100"/>
          <a:sy n="163" d="100"/>
        </p:scale>
        <p:origin x="464" y="184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24FC15C-AAC1-5F5C-F087-3B24A7A5BF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0E53A8B-8536-5692-5035-C40B5050A24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E654FC13-6218-D069-61FF-91CAE469EE8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0E080677-BF2A-0E54-6C5E-6F44869BB02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6691FF6A-2580-A64A-AD8C-0E7D9561D121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C078757-CA72-49D0-EBF1-A5F24971FC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E9BA4E5-5B2B-CFE1-F962-EB0809F41A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83EC2F35-50E9-1450-FCAA-F9D03B41F2A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B5CE081-AFCC-F517-07F4-9DD5D85512D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EA695C6-156F-7C0A-2D58-46E638AFB9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1251142-1DCB-0146-1C70-59EE99127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34D1D0BF-E7D4-4045-AA08-754E553FBA89}" type="slidenum">
              <a:rPr lang="de-DE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CC63D89-1A5F-9CD5-E5BF-B8215E822D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E2D325-4807-C14A-9A88-CACC6A6BA7A4}" type="slidenum">
              <a:rPr lang="de-DE" altLang="zh-CN">
                <a:latin typeface="Times New Roman" panose="02020603050405020304" pitchFamily="18" charset="0"/>
              </a:rPr>
              <a:pPr/>
              <a:t>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2ADFCFF-B719-C3CB-B929-5B2BFEE2D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73A90B6-4DF9-3B9C-4CE9-184A802C2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lienbildplatzhalter 1">
            <a:extLst>
              <a:ext uri="{FF2B5EF4-FFF2-40B4-BE49-F238E27FC236}">
                <a16:creationId xmlns:a16="http://schemas.microsoft.com/office/drawing/2014/main" id="{E2E36FFC-870C-ED12-501E-30FB15AF68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izenplatzhalter 2">
            <a:extLst>
              <a:ext uri="{FF2B5EF4-FFF2-40B4-BE49-F238E27FC236}">
                <a16:creationId xmlns:a16="http://schemas.microsoft.com/office/drawing/2014/main" id="{31C597CB-5E55-2DE9-D2FE-73FB96DF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27652" name="Foliennummernplatzhalter 3">
            <a:extLst>
              <a:ext uri="{FF2B5EF4-FFF2-40B4-BE49-F238E27FC236}">
                <a16:creationId xmlns:a16="http://schemas.microsoft.com/office/drawing/2014/main" id="{08F87CC8-A93E-1456-FDAD-DDD55C058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172403-9CC1-514C-84C7-2C5FD49CC91E}" type="slidenum">
              <a:rPr lang="de-DE" altLang="zh-CN">
                <a:latin typeface="Times New Roman" panose="02020603050405020304" pitchFamily="18" charset="0"/>
              </a:rPr>
              <a:pPr/>
              <a:t>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55F59EF-7FA9-47C3-AF01-A61D403D81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B34AFB-CA39-EF49-A180-D22266AA2B9A}" type="slidenum">
              <a:rPr lang="de-DE" altLang="zh-CN">
                <a:latin typeface="Times New Roman" panose="02020603050405020304" pitchFamily="18" charset="0"/>
              </a:rPr>
              <a:pPr/>
              <a:t>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9138B11-97FC-06D2-55E1-8AB1F0A6C0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CA9FD2F-F76C-CB85-4316-27ECCE279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90BF071-40A3-3854-1FFE-308769C16B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DB554E-4408-1D48-8879-2668A559A732}" type="slidenum">
              <a:rPr lang="de-DE" altLang="zh-CN">
                <a:latin typeface="Times New Roman" panose="02020603050405020304" pitchFamily="18" charset="0"/>
              </a:rPr>
              <a:pPr/>
              <a:t>4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20F0591-590D-61A7-3F26-B57EE350B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2F607DB-B41C-695B-B1E5-78BB15197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E990AF7-652F-1C7E-FD9F-6B2FDCCC3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04F402-2967-CD4D-8F5C-85CC617DF878}" type="slidenum">
              <a:rPr lang="de-DE" altLang="zh-CN">
                <a:latin typeface="Times New Roman" panose="02020603050405020304" pitchFamily="18" charset="0"/>
              </a:rPr>
              <a:pPr/>
              <a:t>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DBF68F3-D9E1-CD4E-D0C9-7C29D12D1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D4BB2BAD-5DC8-A720-9CFC-10DDE8C14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5A143E9-BA21-9369-CDB8-D8AC7F964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7AE8D3-489A-2245-A185-090526A61373}" type="slidenum">
              <a:rPr lang="de-DE" altLang="zh-CN">
                <a:latin typeface="Times New Roman" panose="02020603050405020304" pitchFamily="18" charset="0"/>
              </a:rPr>
              <a:pPr/>
              <a:t>6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33EE82A-00E2-BFA4-9F72-B185416A6C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7C5414-D52B-831A-6C9C-C7543D6B1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bildplatzhalter 1">
            <a:extLst>
              <a:ext uri="{FF2B5EF4-FFF2-40B4-BE49-F238E27FC236}">
                <a16:creationId xmlns:a16="http://schemas.microsoft.com/office/drawing/2014/main" id="{0A523F6B-0D3A-640F-8886-DA435058C2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izenplatzhalter 2">
            <a:extLst>
              <a:ext uri="{FF2B5EF4-FFF2-40B4-BE49-F238E27FC236}">
                <a16:creationId xmlns:a16="http://schemas.microsoft.com/office/drawing/2014/main" id="{46574E1C-B9C5-DDA7-F6EB-C1AFB3762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2772" name="Foliennummernplatzhalter 3">
            <a:extLst>
              <a:ext uri="{FF2B5EF4-FFF2-40B4-BE49-F238E27FC236}">
                <a16:creationId xmlns:a16="http://schemas.microsoft.com/office/drawing/2014/main" id="{F5C2958A-30FB-FF90-751C-B08BAE2A4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8102E7-E079-AF4D-B975-1D2164177285}" type="slidenum">
              <a:rPr lang="de-DE" altLang="zh-CN">
                <a:latin typeface="Times New Roman" panose="02020603050405020304" pitchFamily="18" charset="0"/>
              </a:rPr>
              <a:pPr/>
              <a:t>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bildplatzhalter 1">
            <a:extLst>
              <a:ext uri="{FF2B5EF4-FFF2-40B4-BE49-F238E27FC236}">
                <a16:creationId xmlns:a16="http://schemas.microsoft.com/office/drawing/2014/main" id="{C4EE8795-0CBC-04CF-4C44-8266ACC1D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izenplatzhalter 2">
            <a:extLst>
              <a:ext uri="{FF2B5EF4-FFF2-40B4-BE49-F238E27FC236}">
                <a16:creationId xmlns:a16="http://schemas.microsoft.com/office/drawing/2014/main" id="{74C52DBB-A371-B513-532A-EDB77A772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3796" name="Foliennummernplatzhalter 3">
            <a:extLst>
              <a:ext uri="{FF2B5EF4-FFF2-40B4-BE49-F238E27FC236}">
                <a16:creationId xmlns:a16="http://schemas.microsoft.com/office/drawing/2014/main" id="{7B5E9F3A-D9D1-0F04-1302-41D2C07C9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0D591F-191D-6D4D-95E1-43A4B7CE9A43}" type="slidenum">
              <a:rPr lang="de-DE" altLang="zh-CN">
                <a:latin typeface="Times New Roman" panose="02020603050405020304" pitchFamily="18" charset="0"/>
              </a:rPr>
              <a:pPr/>
              <a:t>8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bildplatzhalter 1">
            <a:extLst>
              <a:ext uri="{FF2B5EF4-FFF2-40B4-BE49-F238E27FC236}">
                <a16:creationId xmlns:a16="http://schemas.microsoft.com/office/drawing/2014/main" id="{0BCEDF45-6966-4088-A91C-2FD8DD4F00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izenplatzhalter 2">
            <a:extLst>
              <a:ext uri="{FF2B5EF4-FFF2-40B4-BE49-F238E27FC236}">
                <a16:creationId xmlns:a16="http://schemas.microsoft.com/office/drawing/2014/main" id="{F23A9D89-21C1-12B7-D2CD-7B723D0A2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4820" name="Foliennummernplatzhalter 3">
            <a:extLst>
              <a:ext uri="{FF2B5EF4-FFF2-40B4-BE49-F238E27FC236}">
                <a16:creationId xmlns:a16="http://schemas.microsoft.com/office/drawing/2014/main" id="{01EFC9B1-987D-2119-347D-DDC2590EF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756154-A966-9A45-9206-9A2DDDD5D268}" type="slidenum">
              <a:rPr lang="de-DE" altLang="zh-CN">
                <a:latin typeface="Times New Roman" panose="02020603050405020304" pitchFamily="18" charset="0"/>
              </a:rPr>
              <a:pPr/>
              <a:t>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lienbildplatzhalter 1">
            <a:extLst>
              <a:ext uri="{FF2B5EF4-FFF2-40B4-BE49-F238E27FC236}">
                <a16:creationId xmlns:a16="http://schemas.microsoft.com/office/drawing/2014/main" id="{154E8072-53F1-6EC8-E3B4-BD31937209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izenplatzhalter 2">
            <a:extLst>
              <a:ext uri="{FF2B5EF4-FFF2-40B4-BE49-F238E27FC236}">
                <a16:creationId xmlns:a16="http://schemas.microsoft.com/office/drawing/2014/main" id="{08A6DE8D-86E1-1B1F-5872-D4604601D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5844" name="Foliennummernplatzhalter 3">
            <a:extLst>
              <a:ext uri="{FF2B5EF4-FFF2-40B4-BE49-F238E27FC236}">
                <a16:creationId xmlns:a16="http://schemas.microsoft.com/office/drawing/2014/main" id="{A11941B9-B754-609E-C469-B6D4FE431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E925BA-A7D1-6E4F-B804-47C3A4589F92}" type="slidenum">
              <a:rPr lang="de-DE" altLang="zh-CN">
                <a:latin typeface="Times New Roman" panose="02020603050405020304" pitchFamily="18" charset="0"/>
              </a:rPr>
              <a:pPr/>
              <a:t>10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lienbildplatzhalter 1">
            <a:extLst>
              <a:ext uri="{FF2B5EF4-FFF2-40B4-BE49-F238E27FC236}">
                <a16:creationId xmlns:a16="http://schemas.microsoft.com/office/drawing/2014/main" id="{7696AEDC-E4AE-6F3B-13FC-C6AE1D92AF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izenplatzhalter 2">
            <a:extLst>
              <a:ext uri="{FF2B5EF4-FFF2-40B4-BE49-F238E27FC236}">
                <a16:creationId xmlns:a16="http://schemas.microsoft.com/office/drawing/2014/main" id="{F74BD8DC-B4F6-4D0B-024B-BD62012DB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6868" name="Foliennummernplatzhalter 3">
            <a:extLst>
              <a:ext uri="{FF2B5EF4-FFF2-40B4-BE49-F238E27FC236}">
                <a16:creationId xmlns:a16="http://schemas.microsoft.com/office/drawing/2014/main" id="{EBE388B5-1024-29D5-4940-19730FFC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484B4A-426B-1C48-9377-D5FACE029757}" type="slidenum">
              <a:rPr lang="de-DE" altLang="zh-CN">
                <a:latin typeface="Times New Roman" panose="02020603050405020304" pitchFamily="18" charset="0"/>
              </a:rPr>
              <a:pPr/>
              <a:t>11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616B118-E35B-C7AB-320A-F9BD0F0ED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C5FD99-457B-3E44-9C87-27D46C63BAFC}" type="slidenum">
              <a:rPr lang="de-DE" altLang="zh-CN">
                <a:latin typeface="Times New Roman" panose="02020603050405020304" pitchFamily="18" charset="0"/>
              </a:rPr>
              <a:pPr/>
              <a:t>12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BC8B982-EF3F-AB30-B0FA-0A8FDAC1E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5450429-6E17-2810-76DA-8F7691CBF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AFEC-2C46-E961-973D-09CFB993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41BFB9AD-3446-D2B2-E8B4-16512B4746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C5FD99-457B-3E44-9C87-27D46C63BAFC}" type="slidenum">
              <a:rPr lang="de-DE" altLang="zh-CN">
                <a:latin typeface="Times New Roman" panose="02020603050405020304" pitchFamily="18" charset="0"/>
              </a:rPr>
              <a:pPr/>
              <a:t>13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4DB14FE-5CFD-BB1D-771E-A7B39437C0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E7BADB1-7946-93C3-8778-16713F05F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754415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bildplatzhalter 1">
            <a:extLst>
              <a:ext uri="{FF2B5EF4-FFF2-40B4-BE49-F238E27FC236}">
                <a16:creationId xmlns:a16="http://schemas.microsoft.com/office/drawing/2014/main" id="{36B85456-89B1-1439-D694-639F4B3E41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izenplatzhalter 2">
            <a:extLst>
              <a:ext uri="{FF2B5EF4-FFF2-40B4-BE49-F238E27FC236}">
                <a16:creationId xmlns:a16="http://schemas.microsoft.com/office/drawing/2014/main" id="{33EF7E65-DC9C-D306-EC86-296F7D998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8916" name="Foliennummernplatzhalter 3">
            <a:extLst>
              <a:ext uri="{FF2B5EF4-FFF2-40B4-BE49-F238E27FC236}">
                <a16:creationId xmlns:a16="http://schemas.microsoft.com/office/drawing/2014/main" id="{2DA4643F-364B-F8B5-41E6-C6BC064B3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EF74E0-14D2-F14A-8073-5E8048F3686E}" type="slidenum">
              <a:rPr lang="de-DE" altLang="zh-CN">
                <a:latin typeface="Times New Roman" panose="02020603050405020304" pitchFamily="18" charset="0"/>
              </a:rPr>
              <a:pPr/>
              <a:t>14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lienbildplatzhalter 1">
            <a:extLst>
              <a:ext uri="{FF2B5EF4-FFF2-40B4-BE49-F238E27FC236}">
                <a16:creationId xmlns:a16="http://schemas.microsoft.com/office/drawing/2014/main" id="{00925616-E4AD-05D6-DF48-6106A77E4D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izenplatzhalter 2">
            <a:extLst>
              <a:ext uri="{FF2B5EF4-FFF2-40B4-BE49-F238E27FC236}">
                <a16:creationId xmlns:a16="http://schemas.microsoft.com/office/drawing/2014/main" id="{111EBD91-2A6F-D0AD-2DDD-16207BAC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39940" name="Foliennummernplatzhalter 3">
            <a:extLst>
              <a:ext uri="{FF2B5EF4-FFF2-40B4-BE49-F238E27FC236}">
                <a16:creationId xmlns:a16="http://schemas.microsoft.com/office/drawing/2014/main" id="{5A6A3D8B-0CF2-A555-C04D-E0528B294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A41934-8C17-0348-A8D4-A49D2882398A}" type="slidenum">
              <a:rPr lang="de-DE" altLang="zh-CN">
                <a:latin typeface="Times New Roman" panose="02020603050405020304" pitchFamily="18" charset="0"/>
              </a:rPr>
              <a:pPr/>
              <a:t>15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lienbildplatzhalter 1">
            <a:extLst>
              <a:ext uri="{FF2B5EF4-FFF2-40B4-BE49-F238E27FC236}">
                <a16:creationId xmlns:a16="http://schemas.microsoft.com/office/drawing/2014/main" id="{ABDC3A7F-4657-52C4-F9A9-ECCD900B22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izenplatzhalter 2">
            <a:extLst>
              <a:ext uri="{FF2B5EF4-FFF2-40B4-BE49-F238E27FC236}">
                <a16:creationId xmlns:a16="http://schemas.microsoft.com/office/drawing/2014/main" id="{0A74F6ED-5179-2A69-D1E9-DFDEBE716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0964" name="Foliennummernplatzhalter 3">
            <a:extLst>
              <a:ext uri="{FF2B5EF4-FFF2-40B4-BE49-F238E27FC236}">
                <a16:creationId xmlns:a16="http://schemas.microsoft.com/office/drawing/2014/main" id="{3586036E-65A7-36AB-A0E0-07FAAF328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F4B125-5E8A-9F41-8946-7A573B31F9AB}" type="slidenum">
              <a:rPr lang="de-DE" altLang="zh-CN">
                <a:latin typeface="Times New Roman" panose="02020603050405020304" pitchFamily="18" charset="0"/>
              </a:rPr>
              <a:pPr/>
              <a:t>16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lienbildplatzhalter 1">
            <a:extLst>
              <a:ext uri="{FF2B5EF4-FFF2-40B4-BE49-F238E27FC236}">
                <a16:creationId xmlns:a16="http://schemas.microsoft.com/office/drawing/2014/main" id="{1F8B98C2-B940-7B44-477F-B1744B8560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izenplatzhalter 2">
            <a:extLst>
              <a:ext uri="{FF2B5EF4-FFF2-40B4-BE49-F238E27FC236}">
                <a16:creationId xmlns:a16="http://schemas.microsoft.com/office/drawing/2014/main" id="{46A76109-569D-A51B-C99C-5A290109A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1988" name="Foliennummernplatzhalter 3">
            <a:extLst>
              <a:ext uri="{FF2B5EF4-FFF2-40B4-BE49-F238E27FC236}">
                <a16:creationId xmlns:a16="http://schemas.microsoft.com/office/drawing/2014/main" id="{73CA8AB8-47F2-6299-D1DC-C9BCF8F5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3C0E88-2BE1-CD40-A8A2-78DBE05A859A}" type="slidenum">
              <a:rPr lang="de-DE" altLang="zh-CN">
                <a:latin typeface="Times New Roman" panose="02020603050405020304" pitchFamily="18" charset="0"/>
              </a:rPr>
              <a:pPr/>
              <a:t>17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lienbildplatzhalter 1">
            <a:extLst>
              <a:ext uri="{FF2B5EF4-FFF2-40B4-BE49-F238E27FC236}">
                <a16:creationId xmlns:a16="http://schemas.microsoft.com/office/drawing/2014/main" id="{D3693681-B054-BE76-C2A1-569194761A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izenplatzhalter 2">
            <a:extLst>
              <a:ext uri="{FF2B5EF4-FFF2-40B4-BE49-F238E27FC236}">
                <a16:creationId xmlns:a16="http://schemas.microsoft.com/office/drawing/2014/main" id="{F550DFBC-057F-9029-F47E-06ABC8CFD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3012" name="Foliennummernplatzhalter 3">
            <a:extLst>
              <a:ext uri="{FF2B5EF4-FFF2-40B4-BE49-F238E27FC236}">
                <a16:creationId xmlns:a16="http://schemas.microsoft.com/office/drawing/2014/main" id="{71079310-1BEB-F14F-F98A-6B41ABF3A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1946BE-0E8A-5C4A-B812-6DE51739E964}" type="slidenum">
              <a:rPr lang="de-DE" altLang="zh-CN">
                <a:latin typeface="Times New Roman" panose="02020603050405020304" pitchFamily="18" charset="0"/>
              </a:rPr>
              <a:pPr/>
              <a:t>18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lienbildplatzhalter 1">
            <a:extLst>
              <a:ext uri="{FF2B5EF4-FFF2-40B4-BE49-F238E27FC236}">
                <a16:creationId xmlns:a16="http://schemas.microsoft.com/office/drawing/2014/main" id="{D24AADF7-D89D-7B18-77C1-88B7568DEB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izenplatzhalter 2">
            <a:extLst>
              <a:ext uri="{FF2B5EF4-FFF2-40B4-BE49-F238E27FC236}">
                <a16:creationId xmlns:a16="http://schemas.microsoft.com/office/drawing/2014/main" id="{48605549-E29A-C92D-2408-147D0E74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4036" name="Foliennummernplatzhalter 3">
            <a:extLst>
              <a:ext uri="{FF2B5EF4-FFF2-40B4-BE49-F238E27FC236}">
                <a16:creationId xmlns:a16="http://schemas.microsoft.com/office/drawing/2014/main" id="{BD785567-E4C7-A01D-E658-B69622377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EF3B51-460A-9E4D-833F-45AE41C94405}" type="slidenum">
              <a:rPr lang="de-DE" altLang="zh-CN">
                <a:latin typeface="Times New Roman" panose="02020603050405020304" pitchFamily="18" charset="0"/>
              </a:rPr>
              <a:pPr/>
              <a:t>19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Paar_Pelz_only Titlepage">
            <a:extLst>
              <a:ext uri="{FF2B5EF4-FFF2-40B4-BE49-F238E27FC236}">
                <a16:creationId xmlns:a16="http://schemas.microsoft.com/office/drawing/2014/main" id="{03FF4519-A7E9-BF3E-97BC-8C4783D52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0000">
            <a:off x="1116013" y="1700213"/>
            <a:ext cx="25415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0034" y="3214686"/>
            <a:ext cx="8215370" cy="1231106"/>
          </a:xfrm>
        </p:spPr>
        <p:txBody>
          <a:bodyPr/>
          <a:lstStyle>
            <a:lvl1pPr marL="0" indent="0" algn="ctr">
              <a:buFontTx/>
              <a:buNone/>
              <a:defRPr kumimoji="0" lang="de-DE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Klicken Sie, um das Format des Untertitelmasters zu bearbeiten</a:t>
            </a:r>
          </a:p>
        </p:txBody>
      </p:sp>
    </p:spTree>
    <p:extLst>
      <p:ext uri="{BB962C8B-B14F-4D97-AF65-F5344CB8AC3E}">
        <p14:creationId xmlns:p14="http://schemas.microsoft.com/office/powerpoint/2010/main" val="214668704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0034" y="1071546"/>
            <a:ext cx="8215370" cy="1677382"/>
          </a:xfr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3pPr>
              <a:buFont typeface="Symbol" pitchFamily="18" charset="2"/>
              <a:buChar char="-"/>
              <a:defRPr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AEE09624-89F9-C6D6-B5A2-4408D1B7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79388" y="6570663"/>
            <a:ext cx="504825" cy="215900"/>
          </a:xfrm>
        </p:spPr>
        <p:txBody>
          <a:bodyPr/>
          <a:lstStyle>
            <a:lvl1pPr>
              <a:defRPr/>
            </a:lvl1pPr>
          </a:lstStyle>
          <a:p>
            <a:fld id="{45760EBE-941A-CE43-8962-601867DCE61A}" type="slidenum">
              <a:rPr lang="de-DE" altLang="zh-CN"/>
              <a:pPr/>
              <a:t>‹#›</a:t>
            </a:fld>
            <a:r>
              <a:rPr lang="de-DE" altLang="zh-CN"/>
              <a:t>/20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3CD3C447-AE1B-D8B5-04F0-E51B5C23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413" y="6572250"/>
            <a:ext cx="4321175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8 of </a:t>
            </a:r>
            <a:r>
              <a:rPr lang="en-US" i="1"/>
              <a:t>Understanding Cryptography</a:t>
            </a:r>
            <a:r>
              <a:rPr lang="en-US"/>
              <a:t> by </a:t>
            </a:r>
            <a:r>
              <a:rPr lang="en-US" err="1"/>
              <a:t>Christof</a:t>
            </a:r>
            <a:r>
              <a:rPr lang="en-US"/>
              <a:t> </a:t>
            </a:r>
            <a:r>
              <a:rPr lang="en-US" err="1"/>
              <a:t>Paar</a:t>
            </a:r>
            <a:r>
              <a:rPr lang="en-US"/>
              <a:t> and Jan Pelzl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1073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el und Diagramm oder Organi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488" y="322263"/>
            <a:ext cx="8243916" cy="60640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SmartArt-Platzhalter 2"/>
          <p:cNvSpPr>
            <a:spLocks noGrp="1"/>
          </p:cNvSpPr>
          <p:nvPr>
            <p:ph type="dgm" idx="1"/>
          </p:nvPr>
        </p:nvSpPr>
        <p:spPr>
          <a:xfrm>
            <a:off x="849313" y="1130300"/>
            <a:ext cx="6084887" cy="1779588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137609-17AB-9503-4D30-F0E7F0026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3EAA5C-DEEA-BE41-8563-7B00B60F2FE5}" type="slidenum">
              <a:rPr lang="de-DE" altLang="zh-CN"/>
              <a:pPr/>
              <a:t>‹#›</a:t>
            </a:fld>
            <a:r>
              <a:rPr lang="de-DE" altLang="zh-CN"/>
              <a:t>/20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AAE442-1637-EF43-D522-9B2AFDD90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8 of </a:t>
            </a:r>
            <a:r>
              <a:rPr lang="en-US" i="1"/>
              <a:t>Understanding Cryptography</a:t>
            </a:r>
            <a:r>
              <a:rPr lang="en-US"/>
              <a:t> by </a:t>
            </a:r>
            <a:r>
              <a:rPr lang="en-US" err="1"/>
              <a:t>Christof</a:t>
            </a:r>
            <a:r>
              <a:rPr lang="en-US"/>
              <a:t> </a:t>
            </a:r>
            <a:r>
              <a:rPr lang="en-US" err="1"/>
              <a:t>Paar</a:t>
            </a:r>
            <a:r>
              <a:rPr lang="en-US"/>
              <a:t> and Jan Pelzl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06359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F5E99A-B674-FFA0-B741-68552CD4E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8243887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Mastertitelformat bearbeiten</a:t>
            </a:r>
            <a:br>
              <a:rPr lang="de-DE" altLang="zh-CN"/>
            </a:br>
            <a:endParaRPr lang="de-DE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A0CB8-374C-F3D4-3EEC-F5E836D7F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0063" y="1071563"/>
            <a:ext cx="821531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zh-CN"/>
              <a:t>Mastertextformat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94A9A9-63FB-CBBD-3788-91CA058530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</a:defRPr>
            </a:lvl1pPr>
          </a:lstStyle>
          <a:p>
            <a:fld id="{AB163872-A825-8B48-8340-E95043ABF6B2}" type="slidenum">
              <a:rPr lang="de-DE" altLang="zh-CN"/>
              <a:pPr/>
              <a:t>‹#›</a:t>
            </a:fld>
            <a:r>
              <a:rPr lang="de-DE" altLang="zh-CN"/>
              <a:t>/20</a:t>
            </a:r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65A54D99-7AC4-2531-2928-C15BA1E6B3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97650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Chapter 8 of </a:t>
            </a:r>
            <a:r>
              <a:rPr lang="en-US" i="1"/>
              <a:t>Understanding Cryptography </a:t>
            </a:r>
            <a:r>
              <a:rPr lang="en-US"/>
              <a:t>by </a:t>
            </a:r>
            <a:r>
              <a:rPr lang="en-US" err="1"/>
              <a:t>Christof</a:t>
            </a:r>
            <a:r>
              <a:rPr lang="en-US"/>
              <a:t> </a:t>
            </a:r>
            <a:r>
              <a:rPr lang="en-US" err="1"/>
              <a:t>Paar</a:t>
            </a:r>
            <a:r>
              <a:rPr lang="en-US"/>
              <a:t> and Jan Pelzl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78811650-F70D-5C51-5F0F-852C1D7091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4344" y="764704"/>
            <a:ext cx="8215312" cy="1024319"/>
          </a:xfrm>
        </p:spPr>
        <p:txBody>
          <a:bodyPr/>
          <a:lstStyle/>
          <a:p>
            <a:pPr>
              <a:defRPr/>
            </a:pPr>
            <a:r>
              <a:rPr sz="2800" dirty="0">
                <a:solidFill>
                  <a:schemeClr val="tx1"/>
                </a:solidFill>
              </a:rPr>
              <a:t>Chapter 8 – </a:t>
            </a:r>
            <a:r>
              <a:rPr lang="en-US" sz="2800" dirty="0"/>
              <a:t>Public-Key Cryptosystems Based on the Discrete Logarithm Problem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Inhaltsplatzhalter 1">
            <a:extLst>
              <a:ext uri="{FF2B5EF4-FFF2-40B4-BE49-F238E27FC236}">
                <a16:creationId xmlns:a16="http://schemas.microsoft.com/office/drawing/2014/main" id="{D8E0CDDD-C9C9-9863-006C-8578998E1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1592262"/>
          </a:xfrm>
        </p:spPr>
        <p:txBody>
          <a:bodyPr/>
          <a:lstStyle/>
          <a:p>
            <a:r>
              <a:rPr lang="de-DE" altLang="zh-CN"/>
              <a:t>Diffie–Hellman Key Exchange</a:t>
            </a:r>
          </a:p>
          <a:p>
            <a:r>
              <a:rPr lang="de-DE" altLang="zh-CN"/>
              <a:t>The Discrete Logarithm Problem </a:t>
            </a:r>
          </a:p>
          <a:p>
            <a:r>
              <a:rPr lang="en-US" altLang="zh-CN">
                <a:ea typeface="宋体" panose="02010600030101010101" pitchFamily="2" charset="-122"/>
              </a:rPr>
              <a:t>Security of the Diffie–Hellman Key Exchange </a:t>
            </a:r>
          </a:p>
          <a:p>
            <a:r>
              <a:rPr lang="en-US" altLang="zh-CN">
                <a:ea typeface="宋体" panose="02010600030101010101" pitchFamily="2" charset="-122"/>
              </a:rPr>
              <a:t>The Elgamal Encryption Scheme </a:t>
            </a:r>
          </a:p>
        </p:txBody>
      </p:sp>
      <p:sp>
        <p:nvSpPr>
          <p:cNvPr id="7171" name="Titel 4">
            <a:extLst>
              <a:ext uri="{FF2B5EF4-FFF2-40B4-BE49-F238E27FC236}">
                <a16:creationId xmlns:a16="http://schemas.microsoft.com/office/drawing/2014/main" id="{F552179B-B5B9-76E6-88CF-230E3987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sz="1800"/>
              <a:t>Content of this Chapter</a:t>
            </a:r>
            <a:endParaRPr lang="de-DE" altLang="zh-CN"/>
          </a:p>
        </p:txBody>
      </p:sp>
      <p:sp>
        <p:nvSpPr>
          <p:cNvPr id="7172" name="Foliennummernplatzhalter 5">
            <a:extLst>
              <a:ext uri="{FF2B5EF4-FFF2-40B4-BE49-F238E27FC236}">
                <a16:creationId xmlns:a16="http://schemas.microsoft.com/office/drawing/2014/main" id="{BCFDF56D-D777-0EA2-64C9-EC6975D82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D44852-2BB6-FE4F-993E-D9E49D42CFE5}" type="slidenum">
              <a:rPr lang="de-DE" altLang="zh-CN">
                <a:solidFill>
                  <a:srgbClr val="394073"/>
                </a:solidFill>
              </a:rPr>
              <a:pPr/>
              <a:t>2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7173" name="Fußzeilenplatzhalter 6">
            <a:extLst>
              <a:ext uri="{FF2B5EF4-FFF2-40B4-BE49-F238E27FC236}">
                <a16:creationId xmlns:a16="http://schemas.microsoft.com/office/drawing/2014/main" id="{7D78B50B-6123-280C-A2B4-4547277F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19DBF1D2-3932-6BA7-9AF0-2433D5687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071563"/>
            <a:ext cx="8215312" cy="2943755"/>
          </a:xfrm>
        </p:spPr>
        <p:txBody>
          <a:bodyPr/>
          <a:lstStyle/>
          <a:p>
            <a:r>
              <a:rPr lang="de-DE" altLang="zh-CN" dirty="0" err="1"/>
              <a:t>Proposed</a:t>
            </a:r>
            <a:r>
              <a:rPr lang="de-DE" altLang="zh-CN" dirty="0"/>
              <a:t> in 1976 </a:t>
            </a:r>
            <a:r>
              <a:rPr lang="de-DE" altLang="zh-CN" dirty="0" err="1"/>
              <a:t>by</a:t>
            </a:r>
            <a:r>
              <a:rPr lang="de-DE" altLang="zh-CN" dirty="0"/>
              <a:t> </a:t>
            </a:r>
            <a:r>
              <a:rPr lang="de-DE" altLang="zh-CN" b="1" dirty="0"/>
              <a:t>Whitfield Diffie and Martin Hellman</a:t>
            </a:r>
            <a:br>
              <a:rPr lang="de-DE" altLang="zh-CN" dirty="0"/>
            </a:br>
            <a:endParaRPr lang="de-DE" altLang="zh-CN" dirty="0"/>
          </a:p>
          <a:p>
            <a:r>
              <a:rPr lang="de-DE" altLang="zh-CN" dirty="0"/>
              <a:t>The Diffie–Hellman Key Exchange (DHKE) </a:t>
            </a:r>
            <a:r>
              <a:rPr lang="de-DE" altLang="zh-CN" dirty="0" err="1"/>
              <a:t>is</a:t>
            </a:r>
            <a:r>
              <a:rPr lang="de-DE" altLang="zh-CN" dirty="0"/>
              <a:t> a </a:t>
            </a:r>
            <a:r>
              <a:rPr lang="de-DE" altLang="zh-CN" dirty="0" err="1"/>
              <a:t>key</a:t>
            </a:r>
            <a:r>
              <a:rPr lang="de-DE" altLang="zh-CN" dirty="0"/>
              <a:t> </a:t>
            </a:r>
            <a:r>
              <a:rPr lang="de-DE" altLang="zh-CN" dirty="0" err="1"/>
              <a:t>exchange</a:t>
            </a:r>
            <a:r>
              <a:rPr lang="de-DE" altLang="zh-CN" dirty="0"/>
              <a:t> </a:t>
            </a:r>
            <a:r>
              <a:rPr lang="de-DE" altLang="zh-CN" dirty="0" err="1"/>
              <a:t>protocol</a:t>
            </a:r>
            <a:r>
              <a:rPr lang="de-DE" altLang="zh-CN" dirty="0"/>
              <a:t> and </a:t>
            </a:r>
            <a:r>
              <a:rPr lang="de-DE" altLang="zh-CN" b="1" dirty="0"/>
              <a:t>not </a:t>
            </a:r>
            <a:r>
              <a:rPr lang="de-DE" altLang="zh-CN" dirty="0" err="1"/>
              <a:t>used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encryption</a:t>
            </a:r>
            <a:endParaRPr lang="de-DE" altLang="zh-CN" dirty="0"/>
          </a:p>
          <a:p>
            <a:pPr>
              <a:buFontTx/>
              <a:buNone/>
            </a:pPr>
            <a:r>
              <a:rPr lang="de-DE" altLang="zh-CN" dirty="0"/>
              <a:t>	(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purpose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encryption</a:t>
            </a:r>
            <a:r>
              <a:rPr lang="de-DE" altLang="zh-CN" dirty="0"/>
              <a:t> </a:t>
            </a:r>
            <a:r>
              <a:rPr lang="de-DE" altLang="zh-CN" dirty="0" err="1"/>
              <a:t>based</a:t>
            </a:r>
            <a:r>
              <a:rPr lang="de-DE" altLang="zh-CN" dirty="0"/>
              <a:t> on </a:t>
            </a:r>
            <a:r>
              <a:rPr lang="de-DE" altLang="zh-CN" dirty="0" err="1"/>
              <a:t>the</a:t>
            </a:r>
            <a:r>
              <a:rPr lang="de-DE" altLang="zh-CN" dirty="0"/>
              <a:t> DHKE, </a:t>
            </a:r>
            <a:r>
              <a:rPr lang="de-DE" altLang="zh-CN" dirty="0" err="1"/>
              <a:t>ElGamal</a:t>
            </a:r>
            <a:r>
              <a:rPr lang="de-DE" altLang="zh-CN" dirty="0"/>
              <a:t> </a:t>
            </a:r>
            <a:r>
              <a:rPr lang="de-DE" altLang="zh-CN" dirty="0" err="1"/>
              <a:t>can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used</a:t>
            </a:r>
            <a:r>
              <a:rPr lang="de-DE" altLang="zh-CN" dirty="0"/>
              <a:t>.)</a:t>
            </a:r>
            <a:br>
              <a:rPr lang="de-DE" altLang="zh-CN" dirty="0"/>
            </a:br>
            <a:endParaRPr lang="de-DE" altLang="zh-CN" dirty="0"/>
          </a:p>
          <a:p>
            <a:r>
              <a:rPr lang="de-DE" altLang="zh-CN" b="1" dirty="0" err="1"/>
              <a:t>Widely</a:t>
            </a:r>
            <a:r>
              <a:rPr lang="de-DE" altLang="zh-CN" b="1" dirty="0"/>
              <a:t> </a:t>
            </a:r>
            <a:r>
              <a:rPr lang="de-DE" altLang="zh-CN" b="1" dirty="0" err="1"/>
              <a:t>used</a:t>
            </a:r>
            <a:r>
              <a:rPr lang="de-DE" altLang="zh-CN" dirty="0"/>
              <a:t>, e.g. in </a:t>
            </a:r>
            <a:r>
              <a:rPr lang="en-US" altLang="zh-CN" dirty="0"/>
              <a:t>Secure Shell (SSH), Transport Layer Security (TLS), and Internet Protocol Security </a:t>
            </a:r>
            <a:r>
              <a:rPr lang="de-DE" altLang="zh-CN" dirty="0"/>
              <a:t>(IPSec)</a:t>
            </a: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5575CF6E-E43A-1B7C-9EA2-924C8B990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Diffie–Hellman Key Exchange: Overview</a:t>
            </a:r>
          </a:p>
        </p:txBody>
      </p:sp>
      <p:sp>
        <p:nvSpPr>
          <p:cNvPr id="8196" name="Foliennummernplatzhalter 5">
            <a:extLst>
              <a:ext uri="{FF2B5EF4-FFF2-40B4-BE49-F238E27FC236}">
                <a16:creationId xmlns:a16="http://schemas.microsoft.com/office/drawing/2014/main" id="{1218F108-82BC-4022-8BCC-A34EEDED6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1DE1B6-1ADE-184E-94B9-3535242FCD69}" type="slidenum">
              <a:rPr lang="de-DE" altLang="zh-CN">
                <a:solidFill>
                  <a:srgbClr val="394073"/>
                </a:solidFill>
              </a:rPr>
              <a:pPr/>
              <a:t>3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8197" name="Fußzeilenplatzhalter 6">
            <a:extLst>
              <a:ext uri="{FF2B5EF4-FFF2-40B4-BE49-F238E27FC236}">
                <a16:creationId xmlns:a16="http://schemas.microsoft.com/office/drawing/2014/main" id="{73A44D15-7DB3-64BB-7861-2DC878C5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25D5D62-EE8D-6288-6701-6C9A5F4E4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de-DE" altLang="zh-CN"/>
              <a:t>Diffie–Hellman Key Exchange: Set-up</a:t>
            </a:r>
          </a:p>
        </p:txBody>
      </p:sp>
      <p:sp>
        <p:nvSpPr>
          <p:cNvPr id="9219" name="Inhaltsplatzhalter 22">
            <a:extLst>
              <a:ext uri="{FF2B5EF4-FFF2-40B4-BE49-F238E27FC236}">
                <a16:creationId xmlns:a16="http://schemas.microsoft.com/office/drawing/2014/main" id="{80467441-0260-A553-DF4E-4B2F294D7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001000" cy="1177925"/>
          </a:xfrm>
        </p:spPr>
        <p:txBody>
          <a:bodyPr/>
          <a:lstStyle/>
          <a:p>
            <a:pPr marL="342900" indent="-3429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Choose a large prime </a:t>
            </a:r>
            <a:r>
              <a:rPr lang="en-US" altLang="zh-CN" i="1" dirty="0">
                <a:ea typeface="宋体" panose="02010600030101010101" pitchFamily="2" charset="-122"/>
              </a:rPr>
              <a:t>p </a:t>
            </a:r>
            <a:r>
              <a:rPr lang="en-US" altLang="zh-CN" dirty="0">
                <a:ea typeface="宋体" panose="02010600030101010101" pitchFamily="2" charset="-122"/>
              </a:rPr>
              <a:t>(for example, 2048 bit)</a:t>
            </a:r>
            <a:r>
              <a:rPr lang="en-US" altLang="zh-CN" i="1" dirty="0">
                <a:ea typeface="宋体" panose="02010600030101010101" pitchFamily="2" charset="-122"/>
              </a:rPr>
              <a:t>.</a:t>
            </a:r>
          </a:p>
          <a:p>
            <a:pPr marL="342900" indent="-3429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Choose an integer </a:t>
            </a:r>
            <a:r>
              <a:rPr lang="el-GR" altLang="zh-CN" i="1" dirty="0"/>
              <a:t>α</a:t>
            </a:r>
            <a:r>
              <a:rPr lang="en-US" altLang="zh-CN" dirty="0">
                <a:ea typeface="宋体" panose="02010600030101010101" pitchFamily="2" charset="-122"/>
              </a:rPr>
              <a:t> ∈ {2,3, . . . , </a:t>
            </a:r>
            <a:r>
              <a:rPr lang="en-US" altLang="zh-CN" i="1" dirty="0">
                <a:ea typeface="宋体" panose="02010600030101010101" pitchFamily="2" charset="-122"/>
              </a:rPr>
              <a:t>p−2}.</a:t>
            </a:r>
          </a:p>
          <a:p>
            <a:pPr marL="342900" indent="-3429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Publish </a:t>
            </a:r>
            <a:r>
              <a:rPr lang="en-US" altLang="zh-CN" i="1" dirty="0">
                <a:ea typeface="宋体" panose="02010600030101010101" pitchFamily="2" charset="-122"/>
              </a:rPr>
              <a:t>p and </a:t>
            </a:r>
            <a:r>
              <a:rPr lang="el-GR" altLang="zh-CN" i="1" dirty="0"/>
              <a:t>α</a:t>
            </a:r>
            <a:r>
              <a:rPr lang="en-US" altLang="zh-CN" i="1" dirty="0">
                <a:ea typeface="宋体" panose="02010600030101010101" pitchFamily="2" charset="-122"/>
              </a:rPr>
              <a:t>.</a:t>
            </a:r>
            <a:endParaRPr lang="de-DE" altLang="zh-CN" dirty="0"/>
          </a:p>
        </p:txBody>
      </p:sp>
      <p:sp>
        <p:nvSpPr>
          <p:cNvPr id="9220" name="Foliennummernplatzhalter 5">
            <a:extLst>
              <a:ext uri="{FF2B5EF4-FFF2-40B4-BE49-F238E27FC236}">
                <a16:creationId xmlns:a16="http://schemas.microsoft.com/office/drawing/2014/main" id="{B019E9D7-D3D8-73ED-34FB-1D7F38AD57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25DC5B-C570-9A40-AE60-426F99FD7EEF}" type="slidenum">
              <a:rPr lang="de-DE" altLang="zh-CN">
                <a:solidFill>
                  <a:srgbClr val="394073"/>
                </a:solidFill>
              </a:rPr>
              <a:pPr/>
              <a:t>4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9221" name="Fußzeilenplatzhalter 6">
            <a:extLst>
              <a:ext uri="{FF2B5EF4-FFF2-40B4-BE49-F238E27FC236}">
                <a16:creationId xmlns:a16="http://schemas.microsoft.com/office/drawing/2014/main" id="{A5F69B9A-E71D-921F-EB43-C50E8FAC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EAC1C741-25E6-FE4D-0DB7-310DAAE872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750" y="944563"/>
            <a:ext cx="4286250" cy="642937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400">
                <a:solidFill>
                  <a:schemeClr val="tx2"/>
                </a:solidFill>
              </a:rPr>
              <a:t>Alice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68198EA-BF25-2737-7E55-B4CC9CF53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de-DE" altLang="zh-CN"/>
              <a:t>Diffie–Hellman Key Exchange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E01EFCC-120A-6514-23E6-3DF0A3500EA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14875" y="928688"/>
            <a:ext cx="4429125" cy="328612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400">
                <a:solidFill>
                  <a:schemeClr val="tx2"/>
                </a:solidFill>
              </a:rPr>
              <a:t>Bob</a:t>
            </a:r>
          </a:p>
        </p:txBody>
      </p:sp>
      <p:sp>
        <p:nvSpPr>
          <p:cNvPr id="661516" name="Line 12">
            <a:extLst>
              <a:ext uri="{FF2B5EF4-FFF2-40B4-BE49-F238E27FC236}">
                <a16:creationId xmlns:a16="http://schemas.microsoft.com/office/drawing/2014/main" id="{360B5434-ACB0-B47D-87F6-082A3DCD9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87655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17" name="Line 13">
            <a:extLst>
              <a:ext uri="{FF2B5EF4-FFF2-40B4-BE49-F238E27FC236}">
                <a16:creationId xmlns:a16="http://schemas.microsoft.com/office/drawing/2014/main" id="{F7959B28-AFF9-C1E3-810F-ED20EAF746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48615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20" name="Line 16">
            <a:extLst>
              <a:ext uri="{FF2B5EF4-FFF2-40B4-BE49-F238E27FC236}">
                <a16:creationId xmlns:a16="http://schemas.microsoft.com/office/drawing/2014/main" id="{B84A4D5A-D4AB-66B9-87AF-5E0D0D0F3F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750" y="4857750"/>
            <a:ext cx="8429625" cy="254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23" name="Line 19">
            <a:extLst>
              <a:ext uri="{FF2B5EF4-FFF2-40B4-BE49-F238E27FC236}">
                <a16:creationId xmlns:a16="http://schemas.microsoft.com/office/drawing/2014/main" id="{C84A4C2E-90F5-73AF-90A7-E112521D3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04520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26" name="Text Box 22">
            <a:extLst>
              <a:ext uri="{FF2B5EF4-FFF2-40B4-BE49-F238E27FC236}">
                <a16:creationId xmlns:a16="http://schemas.microsoft.com/office/drawing/2014/main" id="{D241280F-D080-FFB2-5C27-7D26CF622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04950"/>
            <a:ext cx="33131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random private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prA</a:t>
            </a:r>
            <a:r>
              <a:rPr lang="de-DE" altLang="zh-CN" sz="1600" i="1"/>
              <a:t>=a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{1,2,…,</a:t>
            </a:r>
            <a:r>
              <a:rPr lang="de-DE" altLang="zh-CN" sz="1600" i="1"/>
              <a:t>p</a:t>
            </a:r>
            <a:r>
              <a:rPr lang="de-DE" altLang="zh-CN" sz="1600"/>
              <a:t>-1}</a:t>
            </a:r>
          </a:p>
        </p:txBody>
      </p:sp>
      <p:sp>
        <p:nvSpPr>
          <p:cNvPr id="661527" name="Text Box 23">
            <a:extLst>
              <a:ext uri="{FF2B5EF4-FFF2-40B4-BE49-F238E27FC236}">
                <a16:creationId xmlns:a16="http://schemas.microsoft.com/office/drawing/2014/main" id="{5BFAEEA3-9004-7F55-4D9D-84B71A100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504950"/>
            <a:ext cx="33131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random private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prB</a:t>
            </a:r>
            <a:r>
              <a:rPr lang="de-DE" altLang="zh-CN" sz="1600" i="1"/>
              <a:t>=b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 {1,2,…,</a:t>
            </a:r>
            <a:r>
              <a:rPr lang="de-DE" altLang="zh-CN" sz="1600" i="1"/>
              <a:t>p</a:t>
            </a:r>
            <a:r>
              <a:rPr lang="de-DE" altLang="zh-CN" sz="1600"/>
              <a:t>-1}</a:t>
            </a:r>
          </a:p>
        </p:txBody>
      </p:sp>
      <p:sp>
        <p:nvSpPr>
          <p:cNvPr id="661528" name="Text Box 24">
            <a:extLst>
              <a:ext uri="{FF2B5EF4-FFF2-40B4-BE49-F238E27FC236}">
                <a16:creationId xmlns:a16="http://schemas.microsoft.com/office/drawing/2014/main" id="{A52C8898-3BC3-E6AC-CEB9-6250AF22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39988"/>
            <a:ext cx="324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 dirty="0" err="1"/>
              <a:t>Compute</a:t>
            </a:r>
            <a:r>
              <a:rPr lang="de-DE" altLang="zh-CN" sz="1600" dirty="0"/>
              <a:t> </a:t>
            </a:r>
            <a:r>
              <a:rPr lang="de-DE" altLang="zh-CN" sz="1600" dirty="0" err="1"/>
              <a:t>corresponding</a:t>
            </a:r>
            <a:r>
              <a:rPr lang="de-DE" altLang="zh-CN" sz="1600" dirty="0"/>
              <a:t> </a:t>
            </a:r>
            <a:r>
              <a:rPr lang="de-DE" altLang="zh-CN" sz="1600" dirty="0" err="1"/>
              <a:t>public</a:t>
            </a:r>
            <a:r>
              <a:rPr lang="de-DE" altLang="zh-CN" sz="1600" dirty="0"/>
              <a:t> </a:t>
            </a:r>
            <a:r>
              <a:rPr lang="de-DE" altLang="zh-CN" sz="1600" dirty="0" err="1"/>
              <a:t>key</a:t>
            </a:r>
            <a:br>
              <a:rPr lang="de-DE" altLang="zh-CN" sz="1600" dirty="0"/>
            </a:b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pubA</a:t>
            </a:r>
            <a:r>
              <a:rPr lang="de-DE" altLang="zh-CN" sz="1600" i="1" dirty="0"/>
              <a:t>= A = α</a:t>
            </a:r>
            <a:r>
              <a:rPr lang="de-DE" altLang="zh-CN" sz="1600" i="1" baseline="30000" dirty="0"/>
              <a:t>a</a:t>
            </a:r>
            <a:r>
              <a:rPr lang="de-DE" altLang="zh-CN" dirty="0"/>
              <a:t> </a:t>
            </a:r>
            <a:r>
              <a:rPr lang="de-DE" altLang="zh-CN" sz="1600" dirty="0" err="1"/>
              <a:t>mod</a:t>
            </a:r>
            <a:r>
              <a:rPr lang="de-DE" altLang="zh-CN" sz="1600" dirty="0"/>
              <a:t> </a:t>
            </a:r>
            <a:r>
              <a:rPr lang="de-DE" altLang="zh-CN" sz="1600" i="1" dirty="0"/>
              <a:t>p</a:t>
            </a:r>
          </a:p>
        </p:txBody>
      </p:sp>
      <p:sp>
        <p:nvSpPr>
          <p:cNvPr id="661529" name="Text Box 25">
            <a:extLst>
              <a:ext uri="{FF2B5EF4-FFF2-40B4-BE49-F238E27FC236}">
                <a16:creationId xmlns:a16="http://schemas.microsoft.com/office/drawing/2014/main" id="{9E9B98EA-C071-6462-CFF7-FCDB193C2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016250"/>
            <a:ext cx="302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correspondig public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pubB</a:t>
            </a:r>
            <a:r>
              <a:rPr lang="de-DE" altLang="zh-CN" sz="1600" i="1"/>
              <a:t>= B = α</a:t>
            </a:r>
            <a:r>
              <a:rPr lang="de-DE" altLang="zh-CN" sz="1600" i="1" baseline="30000"/>
              <a:t>b</a:t>
            </a:r>
            <a:r>
              <a:rPr lang="de-DE" altLang="zh-CN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661530" name="Text Box 26">
            <a:extLst>
              <a:ext uri="{FF2B5EF4-FFF2-40B4-BE49-F238E27FC236}">
                <a16:creationId xmlns:a16="http://schemas.microsoft.com/office/drawing/2014/main" id="{D0C43890-6910-180E-739D-41F2924D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81438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 dirty="0" err="1"/>
              <a:t>Compute</a:t>
            </a:r>
            <a:r>
              <a:rPr lang="de-DE" altLang="zh-CN" sz="1600" dirty="0"/>
              <a:t> </a:t>
            </a:r>
            <a:r>
              <a:rPr lang="de-DE" altLang="zh-CN" sz="1600" dirty="0" err="1"/>
              <a:t>common</a:t>
            </a:r>
            <a:r>
              <a:rPr lang="de-DE" altLang="zh-CN" sz="1600" dirty="0"/>
              <a:t> </a:t>
            </a:r>
            <a:r>
              <a:rPr lang="de-DE" altLang="zh-CN" sz="1600" dirty="0" err="1"/>
              <a:t>secret</a:t>
            </a:r>
            <a:br>
              <a:rPr lang="de-DE" altLang="zh-CN" sz="1600" dirty="0"/>
            </a:b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AB</a:t>
            </a:r>
            <a:r>
              <a:rPr lang="de-DE" altLang="zh-CN" sz="1600" i="1" dirty="0"/>
              <a:t> = B</a:t>
            </a:r>
            <a:r>
              <a:rPr lang="de-DE" altLang="zh-CN" sz="1600" i="1" baseline="30000" dirty="0"/>
              <a:t>a</a:t>
            </a:r>
            <a:r>
              <a:rPr lang="de-DE" altLang="zh-CN" dirty="0"/>
              <a:t> =</a:t>
            </a:r>
            <a:r>
              <a:rPr lang="de-DE" altLang="zh-CN" sz="1600" dirty="0"/>
              <a:t> (</a:t>
            </a:r>
            <a:r>
              <a:rPr lang="de-DE" altLang="zh-CN" sz="1600" i="1" dirty="0"/>
              <a:t>α</a:t>
            </a:r>
            <a:r>
              <a:rPr lang="de-DE" altLang="zh-CN" sz="1600" i="1" baseline="30000" dirty="0"/>
              <a:t>b</a:t>
            </a:r>
            <a:r>
              <a:rPr lang="de-DE" altLang="zh-CN" sz="1600" dirty="0"/>
              <a:t>)</a:t>
            </a:r>
            <a:r>
              <a:rPr lang="de-DE" altLang="zh-CN" sz="1600" baseline="30000" dirty="0"/>
              <a:t>a</a:t>
            </a:r>
            <a:r>
              <a:rPr lang="de-DE" altLang="zh-CN" sz="1600" baseline="12000" dirty="0"/>
              <a:t> </a:t>
            </a:r>
            <a:r>
              <a:rPr lang="de-DE" altLang="zh-CN" sz="1600" dirty="0" err="1"/>
              <a:t>mod</a:t>
            </a:r>
            <a:r>
              <a:rPr lang="de-DE" altLang="zh-CN" sz="1600" dirty="0"/>
              <a:t> </a:t>
            </a:r>
            <a:r>
              <a:rPr lang="de-DE" altLang="zh-CN" sz="1600" i="1" dirty="0"/>
              <a:t>p</a:t>
            </a:r>
          </a:p>
        </p:txBody>
      </p:sp>
      <p:sp>
        <p:nvSpPr>
          <p:cNvPr id="661531" name="Text Box 27">
            <a:extLst>
              <a:ext uri="{FF2B5EF4-FFF2-40B4-BE49-F238E27FC236}">
                <a16:creationId xmlns:a16="http://schemas.microsoft.com/office/drawing/2014/main" id="{E49F30DF-3DDA-B4D8-8C18-F976EA6A4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881438"/>
            <a:ext cx="32400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 dirty="0" err="1"/>
              <a:t>Compute</a:t>
            </a:r>
            <a:r>
              <a:rPr lang="de-DE" altLang="zh-CN" sz="1600" dirty="0"/>
              <a:t> </a:t>
            </a:r>
            <a:r>
              <a:rPr lang="de-DE" altLang="zh-CN" sz="1600" dirty="0" err="1"/>
              <a:t>common</a:t>
            </a:r>
            <a:r>
              <a:rPr lang="de-DE" altLang="zh-CN" sz="1600" dirty="0"/>
              <a:t> </a:t>
            </a:r>
            <a:r>
              <a:rPr lang="de-DE" altLang="zh-CN" sz="1600" dirty="0" err="1"/>
              <a:t>secret</a:t>
            </a:r>
            <a:br>
              <a:rPr lang="de-DE" altLang="zh-CN" sz="1600" dirty="0"/>
            </a:br>
            <a:r>
              <a:rPr lang="de-DE" altLang="zh-CN" sz="1600" i="1" dirty="0"/>
              <a:t> </a:t>
            </a: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AB</a:t>
            </a:r>
            <a:r>
              <a:rPr lang="de-DE" altLang="zh-CN" sz="1600" i="1" dirty="0"/>
              <a:t> = A</a:t>
            </a:r>
            <a:r>
              <a:rPr lang="de-DE" altLang="zh-CN" sz="1600" i="1" baseline="30000" dirty="0"/>
              <a:t>b</a:t>
            </a:r>
            <a:r>
              <a:rPr lang="de-DE" altLang="zh-CN" sz="1600" dirty="0"/>
              <a:t> = (</a:t>
            </a:r>
            <a:r>
              <a:rPr lang="de-DE" altLang="zh-CN" sz="1600" i="1" dirty="0"/>
              <a:t>α</a:t>
            </a:r>
            <a:r>
              <a:rPr lang="de-DE" altLang="zh-CN" sz="1600" i="1" baseline="30000" dirty="0"/>
              <a:t>a</a:t>
            </a:r>
            <a:r>
              <a:rPr lang="de-DE" altLang="zh-CN" sz="1600" dirty="0"/>
              <a:t>)</a:t>
            </a:r>
            <a:r>
              <a:rPr lang="de-DE" altLang="zh-CN" sz="1600" baseline="30000" dirty="0"/>
              <a:t>b</a:t>
            </a:r>
            <a:r>
              <a:rPr lang="de-DE" altLang="zh-CN" sz="1600" baseline="12000" dirty="0"/>
              <a:t> </a:t>
            </a:r>
            <a:r>
              <a:rPr lang="de-DE" altLang="zh-CN" sz="1600" dirty="0" err="1"/>
              <a:t>mod</a:t>
            </a:r>
            <a:r>
              <a:rPr lang="de-DE" altLang="zh-CN" sz="1600" dirty="0"/>
              <a:t> </a:t>
            </a:r>
            <a:r>
              <a:rPr lang="de-DE" altLang="zh-CN" sz="1600" i="1" dirty="0"/>
              <a:t>p</a:t>
            </a:r>
          </a:p>
        </p:txBody>
      </p:sp>
      <p:sp>
        <p:nvSpPr>
          <p:cNvPr id="661532" name="Text Box 28">
            <a:extLst>
              <a:ext uri="{FF2B5EF4-FFF2-40B4-BE49-F238E27FC236}">
                <a16:creationId xmlns:a16="http://schemas.microsoft.com/office/drawing/2014/main" id="{90D93BE8-37F2-943A-47F5-78B7808BB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513013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A</a:t>
            </a:r>
          </a:p>
        </p:txBody>
      </p:sp>
      <p:sp>
        <p:nvSpPr>
          <p:cNvPr id="661533" name="Text Box 29">
            <a:extLst>
              <a:ext uri="{FF2B5EF4-FFF2-40B4-BE49-F238E27FC236}">
                <a16:creationId xmlns:a16="http://schemas.microsoft.com/office/drawing/2014/main" id="{037C9206-EEC5-C054-014E-6250712DB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60713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B</a:t>
            </a:r>
          </a:p>
        </p:txBody>
      </p:sp>
      <p:sp>
        <p:nvSpPr>
          <p:cNvPr id="661534" name="Text Box 30">
            <a:extLst>
              <a:ext uri="{FF2B5EF4-FFF2-40B4-BE49-F238E27FC236}">
                <a16:creationId xmlns:a16="http://schemas.microsoft.com/office/drawing/2014/main" id="{9B3F655E-E6DD-CF11-89FD-B9AE906CD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695950"/>
            <a:ext cx="180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y</a:t>
            </a:r>
          </a:p>
        </p:txBody>
      </p:sp>
      <p:sp>
        <p:nvSpPr>
          <p:cNvPr id="661535" name="Text Box 31">
            <a:extLst>
              <a:ext uri="{FF2B5EF4-FFF2-40B4-BE49-F238E27FC236}">
                <a16:creationId xmlns:a16="http://schemas.microsoft.com/office/drawing/2014/main" id="{F941DD34-05A2-39FA-F756-479A5A40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838825"/>
            <a:ext cx="165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y = AES</a:t>
            </a:r>
            <a:r>
              <a:rPr lang="de-DE" altLang="zh-CN" sz="2000" i="1" baseline="-25000"/>
              <a:t>kAB</a:t>
            </a:r>
            <a:r>
              <a:rPr lang="de-DE" altLang="zh-CN" sz="2000" i="1"/>
              <a:t>(x)</a:t>
            </a:r>
          </a:p>
        </p:txBody>
      </p:sp>
      <p:sp>
        <p:nvSpPr>
          <p:cNvPr id="661536" name="Text Box 32">
            <a:extLst>
              <a:ext uri="{FF2B5EF4-FFF2-40B4-BE49-F238E27FC236}">
                <a16:creationId xmlns:a16="http://schemas.microsoft.com/office/drawing/2014/main" id="{B80BD10E-F85E-1533-33C9-3A5A4EF92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838825"/>
            <a:ext cx="227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x = AES</a:t>
            </a:r>
            <a:r>
              <a:rPr lang="de-DE" altLang="zh-CN" sz="2000" i="1" baseline="30000"/>
              <a:t>-1</a:t>
            </a:r>
            <a:r>
              <a:rPr lang="de-DE" altLang="zh-CN" sz="2000" i="1" baseline="-25000"/>
              <a:t>kAB</a:t>
            </a:r>
            <a:r>
              <a:rPr lang="de-DE" altLang="zh-CN" sz="2000" i="1"/>
              <a:t>(y)</a:t>
            </a:r>
          </a:p>
        </p:txBody>
      </p:sp>
      <p:sp>
        <p:nvSpPr>
          <p:cNvPr id="10260" name="Foliennummernplatzhalter 21">
            <a:extLst>
              <a:ext uri="{FF2B5EF4-FFF2-40B4-BE49-F238E27FC236}">
                <a16:creationId xmlns:a16="http://schemas.microsoft.com/office/drawing/2014/main" id="{EDE92607-5CD9-658B-A296-AD9DE9C4CD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9A53E1-AD26-B44D-A262-336CA6B83C7E}" type="slidenum">
              <a:rPr lang="de-DE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0261" name="Fußzeilenplatzhalter 22">
            <a:extLst>
              <a:ext uri="{FF2B5EF4-FFF2-40B4-BE49-F238E27FC236}">
                <a16:creationId xmlns:a16="http://schemas.microsoft.com/office/drawing/2014/main" id="{38702CC7-0C7C-7F54-0F3B-AB8C0685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  <p:sp>
        <p:nvSpPr>
          <p:cNvPr id="22" name="Text Box 26">
            <a:extLst>
              <a:ext uri="{FF2B5EF4-FFF2-40B4-BE49-F238E27FC236}">
                <a16:creationId xmlns:a16="http://schemas.microsoft.com/office/drawing/2014/main" id="{64C7E8CA-3ABB-11EC-A895-FB13F94B6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240338"/>
            <a:ext cx="3240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We can now use the joint key k</a:t>
            </a:r>
            <a:r>
              <a:rPr lang="de-DE" altLang="zh-CN" sz="1600" baseline="-25000"/>
              <a:t>AB</a:t>
            </a:r>
            <a:r>
              <a:rPr lang="de-DE" altLang="zh-CN" sz="1600"/>
              <a:t> for encryption, e.g., with AES</a:t>
            </a:r>
            <a:endParaRPr lang="de-DE" altLang="zh-CN" sz="1600" i="1" baseline="-250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6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6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6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6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6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6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6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6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6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6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26" grpId="0"/>
      <p:bldP spid="661527" grpId="0"/>
      <p:bldP spid="661528" grpId="0"/>
      <p:bldP spid="661529" grpId="0"/>
      <p:bldP spid="661530" grpId="0"/>
      <p:bldP spid="661531" grpId="0"/>
      <p:bldP spid="661532" grpId="0"/>
      <p:bldP spid="661533" grpId="0"/>
      <p:bldP spid="661534" grpId="0"/>
      <p:bldP spid="661535" grpId="0"/>
      <p:bldP spid="661536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97AD5F4-11E5-A721-FA8F-74D8E9944D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750" y="1230313"/>
            <a:ext cx="4286250" cy="642937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400">
                <a:solidFill>
                  <a:schemeClr val="tx2"/>
                </a:solidFill>
              </a:rPr>
              <a:t>Alice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426DE7C-A642-B3C0-0E18-76822F41C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de-DE" altLang="zh-CN"/>
              <a:t>Diffie–Hellman Key Exchange: Example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02FBF50C-5438-983C-E867-7E2CF8EDAFA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14875" y="1214438"/>
            <a:ext cx="4429125" cy="328612"/>
          </a:xfrm>
        </p:spPr>
        <p:txBody>
          <a:bodyPr/>
          <a:lstStyle/>
          <a:p>
            <a:pPr marL="342900" indent="-342900" algn="ctr">
              <a:lnSpc>
                <a:spcPct val="90000"/>
              </a:lnSpc>
              <a:buFontTx/>
              <a:buNone/>
            </a:pPr>
            <a:r>
              <a:rPr lang="de-DE" altLang="zh-CN" sz="2400">
                <a:solidFill>
                  <a:schemeClr val="tx2"/>
                </a:solidFill>
              </a:rPr>
              <a:t>Bob</a:t>
            </a:r>
          </a:p>
        </p:txBody>
      </p:sp>
      <p:sp>
        <p:nvSpPr>
          <p:cNvPr id="661516" name="Line 12">
            <a:extLst>
              <a:ext uri="{FF2B5EF4-FFF2-40B4-BE49-F238E27FC236}">
                <a16:creationId xmlns:a16="http://schemas.microsoft.com/office/drawing/2014/main" id="{007B079B-8FE8-2E3E-6687-41BF4F557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16230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17" name="Line 13">
            <a:extLst>
              <a:ext uri="{FF2B5EF4-FFF2-40B4-BE49-F238E27FC236}">
                <a16:creationId xmlns:a16="http://schemas.microsoft.com/office/drawing/2014/main" id="{10383EA7-F8D5-6B6B-7511-578F07F5B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771900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1526" name="Text Box 22">
            <a:extLst>
              <a:ext uri="{FF2B5EF4-FFF2-40B4-BE49-F238E27FC236}">
                <a16:creationId xmlns:a16="http://schemas.microsoft.com/office/drawing/2014/main" id="{0A052AF5-A7C6-6CC5-AAF0-A25C60EB1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90700"/>
            <a:ext cx="33131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random private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prA</a:t>
            </a:r>
            <a:r>
              <a:rPr lang="de-DE" altLang="zh-CN" sz="1600" i="1"/>
              <a:t>= a = 5</a:t>
            </a:r>
            <a:endParaRPr lang="de-DE" altLang="zh-CN" sz="1600"/>
          </a:p>
        </p:txBody>
      </p:sp>
      <p:sp>
        <p:nvSpPr>
          <p:cNvPr id="661527" name="Text Box 23">
            <a:extLst>
              <a:ext uri="{FF2B5EF4-FFF2-40B4-BE49-F238E27FC236}">
                <a16:creationId xmlns:a16="http://schemas.microsoft.com/office/drawing/2014/main" id="{052F4EAA-6ED9-C5AE-2274-98FBEB220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790700"/>
            <a:ext cx="33131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random private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prB</a:t>
            </a:r>
            <a:r>
              <a:rPr lang="de-DE" altLang="zh-CN" sz="1600" i="1"/>
              <a:t>=b =</a:t>
            </a:r>
            <a:r>
              <a:rPr lang="de-DE" altLang="zh-CN" sz="1600"/>
              <a:t> 12</a:t>
            </a:r>
          </a:p>
        </p:txBody>
      </p:sp>
      <p:sp>
        <p:nvSpPr>
          <p:cNvPr id="661528" name="Text Box 24">
            <a:extLst>
              <a:ext uri="{FF2B5EF4-FFF2-40B4-BE49-F238E27FC236}">
                <a16:creationId xmlns:a16="http://schemas.microsoft.com/office/drawing/2014/main" id="{7609CA8F-9A34-F285-CFD8-18BDF10EC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725738"/>
            <a:ext cx="324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corresponding public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pubA</a:t>
            </a:r>
            <a:r>
              <a:rPr lang="de-DE" altLang="zh-CN" sz="1600" i="1"/>
              <a:t>= A = 2</a:t>
            </a:r>
            <a:r>
              <a:rPr lang="de-DE" altLang="zh-CN" sz="1600" i="1" baseline="30000"/>
              <a:t>5</a:t>
            </a:r>
            <a:r>
              <a:rPr lang="de-DE" altLang="zh-CN"/>
              <a:t> </a:t>
            </a:r>
            <a:r>
              <a:rPr lang="de-DE" altLang="zh-CN" sz="1600"/>
              <a:t>= 3 mod </a:t>
            </a:r>
            <a:r>
              <a:rPr lang="de-DE" altLang="zh-CN" sz="1600" i="1"/>
              <a:t>29</a:t>
            </a:r>
          </a:p>
        </p:txBody>
      </p:sp>
      <p:sp>
        <p:nvSpPr>
          <p:cNvPr id="661529" name="Text Box 25">
            <a:extLst>
              <a:ext uri="{FF2B5EF4-FFF2-40B4-BE49-F238E27FC236}">
                <a16:creationId xmlns:a16="http://schemas.microsoft.com/office/drawing/2014/main" id="{93366CA5-BF9C-E62D-F66C-53F64C4DB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302000"/>
            <a:ext cx="302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correspondig public key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pubB</a:t>
            </a:r>
            <a:r>
              <a:rPr lang="de-DE" altLang="zh-CN" sz="1600" i="1"/>
              <a:t>= B = 2</a:t>
            </a:r>
            <a:r>
              <a:rPr lang="de-DE" altLang="zh-CN" sz="1600" i="1" baseline="30000"/>
              <a:t>12</a:t>
            </a:r>
            <a:r>
              <a:rPr lang="de-DE" altLang="zh-CN"/>
              <a:t> </a:t>
            </a:r>
            <a:r>
              <a:rPr lang="de-DE" altLang="zh-CN" sz="1600"/>
              <a:t>= 7 mod 29</a:t>
            </a:r>
            <a:endParaRPr lang="de-DE" altLang="zh-CN" sz="1600" i="1"/>
          </a:p>
        </p:txBody>
      </p:sp>
      <p:sp>
        <p:nvSpPr>
          <p:cNvPr id="661530" name="Text Box 26">
            <a:extLst>
              <a:ext uri="{FF2B5EF4-FFF2-40B4-BE49-F238E27FC236}">
                <a16:creationId xmlns:a16="http://schemas.microsoft.com/office/drawing/2014/main" id="{C8E90B51-41EA-718A-1875-5F61A6D00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167188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common secret</a:t>
            </a:r>
            <a:br>
              <a:rPr lang="de-DE" altLang="zh-CN" sz="1600"/>
            </a:br>
            <a:r>
              <a:rPr lang="de-DE" altLang="zh-CN" sz="1600" i="1"/>
              <a:t>k</a:t>
            </a:r>
            <a:r>
              <a:rPr lang="de-DE" altLang="zh-CN" sz="1600" i="1" baseline="-25000"/>
              <a:t>AB</a:t>
            </a:r>
            <a:r>
              <a:rPr lang="de-DE" altLang="zh-CN" sz="1600" i="1"/>
              <a:t> = B</a:t>
            </a:r>
            <a:r>
              <a:rPr lang="de-DE" altLang="zh-CN" sz="1600" i="1" baseline="30000"/>
              <a:t>a</a:t>
            </a:r>
            <a:r>
              <a:rPr lang="de-DE" altLang="zh-CN"/>
              <a:t> </a:t>
            </a:r>
            <a:r>
              <a:rPr lang="de-DE" altLang="zh-CN" sz="1600"/>
              <a:t>= 7</a:t>
            </a:r>
            <a:r>
              <a:rPr lang="de-DE" altLang="zh-CN" sz="1600" i="1" baseline="30000"/>
              <a:t>5</a:t>
            </a:r>
            <a:r>
              <a:rPr lang="de-DE" altLang="zh-CN" sz="1600" baseline="12000"/>
              <a:t> </a:t>
            </a:r>
            <a:r>
              <a:rPr lang="de-DE" altLang="zh-CN" sz="1600"/>
              <a:t> = 16 mod </a:t>
            </a:r>
            <a:r>
              <a:rPr lang="de-DE" altLang="zh-CN" sz="1600" i="1"/>
              <a:t>29</a:t>
            </a:r>
          </a:p>
        </p:txBody>
      </p:sp>
      <p:sp>
        <p:nvSpPr>
          <p:cNvPr id="661531" name="Text Box 27">
            <a:extLst>
              <a:ext uri="{FF2B5EF4-FFF2-40B4-BE49-F238E27FC236}">
                <a16:creationId xmlns:a16="http://schemas.microsoft.com/office/drawing/2014/main" id="{E9E7EEE5-03A1-4CEC-A61F-D68047C30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167188"/>
            <a:ext cx="32400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common secret</a:t>
            </a:r>
            <a:br>
              <a:rPr lang="de-DE" altLang="zh-CN" sz="1600"/>
            </a:br>
            <a:r>
              <a:rPr lang="de-DE" altLang="zh-CN" sz="1600" i="1"/>
              <a:t> k</a:t>
            </a:r>
            <a:r>
              <a:rPr lang="de-DE" altLang="zh-CN" sz="1600" i="1" baseline="-25000"/>
              <a:t>AB</a:t>
            </a:r>
            <a:r>
              <a:rPr lang="de-DE" altLang="zh-CN" sz="1600" i="1"/>
              <a:t> = A</a:t>
            </a:r>
            <a:r>
              <a:rPr lang="de-DE" altLang="zh-CN" sz="1600" i="1" baseline="30000"/>
              <a:t>b</a:t>
            </a:r>
            <a:r>
              <a:rPr lang="de-DE" altLang="zh-CN" sz="1600"/>
              <a:t> = 3</a:t>
            </a:r>
            <a:r>
              <a:rPr lang="de-DE" altLang="zh-CN" sz="1600" i="1" baseline="30000"/>
              <a:t>12</a:t>
            </a:r>
            <a:r>
              <a:rPr lang="de-DE" altLang="zh-CN" sz="1600" baseline="12000"/>
              <a:t> </a:t>
            </a:r>
            <a:r>
              <a:rPr lang="de-DE" altLang="zh-CN" sz="1600"/>
              <a:t>= 16 mod 29</a:t>
            </a:r>
            <a:endParaRPr lang="de-DE" altLang="zh-CN" sz="1600" i="1"/>
          </a:p>
        </p:txBody>
      </p:sp>
      <p:sp>
        <p:nvSpPr>
          <p:cNvPr id="661532" name="Text Box 28">
            <a:extLst>
              <a:ext uri="{FF2B5EF4-FFF2-40B4-BE49-F238E27FC236}">
                <a16:creationId xmlns:a16="http://schemas.microsoft.com/office/drawing/2014/main" id="{C50EBA6A-25EE-2C1A-1C0D-D434B4367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798763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A</a:t>
            </a:r>
          </a:p>
        </p:txBody>
      </p:sp>
      <p:sp>
        <p:nvSpPr>
          <p:cNvPr id="661533" name="Text Box 29">
            <a:extLst>
              <a:ext uri="{FF2B5EF4-FFF2-40B4-BE49-F238E27FC236}">
                <a16:creationId xmlns:a16="http://schemas.microsoft.com/office/drawing/2014/main" id="{20108BCA-C14E-E463-AC3C-1B16DB90F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446463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B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4A6EFB66-5375-FA7D-49F4-D3E68C0AD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85813"/>
            <a:ext cx="84296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1600"/>
              <a:t>Domain parameters </a:t>
            </a:r>
            <a:r>
              <a:rPr lang="de-DE" altLang="zh-CN" sz="1600" i="1"/>
              <a:t>p</a:t>
            </a:r>
            <a:r>
              <a:rPr lang="de-DE" altLang="zh-CN" sz="1600"/>
              <a:t>=29, </a:t>
            </a:r>
            <a:r>
              <a:rPr lang="de-DE" altLang="zh-CN" sz="1600" i="1"/>
              <a:t>α</a:t>
            </a:r>
            <a:r>
              <a:rPr lang="de-DE" altLang="zh-CN" sz="1600"/>
              <a:t>=2</a:t>
            </a:r>
          </a:p>
        </p:txBody>
      </p:sp>
      <p:sp>
        <p:nvSpPr>
          <p:cNvPr id="11280" name="Foliennummernplatzhalter 17">
            <a:extLst>
              <a:ext uri="{FF2B5EF4-FFF2-40B4-BE49-F238E27FC236}">
                <a16:creationId xmlns:a16="http://schemas.microsoft.com/office/drawing/2014/main" id="{338F47A8-AF4D-60C6-642B-0DBA0A626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FB0CE9-E044-8D44-85A5-78D4985612DA}" type="slidenum">
              <a:rPr lang="de-DE" altLang="zh-CN">
                <a:solidFill>
                  <a:srgbClr val="394073"/>
                </a:solidFill>
              </a:rPr>
              <a:pPr/>
              <a:t>6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1281" name="Fußzeilenplatzhalter 18">
            <a:extLst>
              <a:ext uri="{FF2B5EF4-FFF2-40B4-BE49-F238E27FC236}">
                <a16:creationId xmlns:a16="http://schemas.microsoft.com/office/drawing/2014/main" id="{4650279E-66E6-77E4-8E96-ED0F7012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5C4E15BB-F6DE-1BC5-E5EA-DF6C2F35A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72063"/>
            <a:ext cx="435768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Proof of correctness:</a:t>
            </a:r>
          </a:p>
          <a:p>
            <a:pPr>
              <a:spcBef>
                <a:spcPct val="50000"/>
              </a:spcBef>
            </a:pPr>
            <a:r>
              <a:rPr lang="de-DE" altLang="zh-CN" sz="1600" i="1"/>
              <a:t>Alice computes: B</a:t>
            </a:r>
            <a:r>
              <a:rPr lang="de-DE" altLang="zh-CN" sz="1600" i="1" baseline="30000"/>
              <a:t>a</a:t>
            </a:r>
            <a:r>
              <a:rPr lang="de-DE" altLang="zh-CN" sz="1600"/>
              <a:t> = (</a:t>
            </a:r>
            <a:r>
              <a:rPr lang="de-DE" altLang="zh-CN" sz="1600" i="1"/>
              <a:t>α</a:t>
            </a:r>
            <a:r>
              <a:rPr lang="de-DE" altLang="zh-CN" sz="1600" i="1" baseline="30000"/>
              <a:t>b</a:t>
            </a:r>
            <a:r>
              <a:rPr lang="de-DE" altLang="zh-CN" sz="1600"/>
              <a:t>)</a:t>
            </a:r>
            <a:r>
              <a:rPr lang="de-DE" altLang="zh-CN" sz="1600" i="1" baseline="30000"/>
              <a:t>a </a:t>
            </a:r>
            <a:r>
              <a:rPr lang="de-DE" altLang="zh-CN" sz="1600" i="1"/>
              <a:t> mod p</a:t>
            </a:r>
            <a:br>
              <a:rPr lang="de-DE" altLang="zh-CN" sz="1600" i="1"/>
            </a:br>
            <a:r>
              <a:rPr lang="de-DE" altLang="zh-CN" sz="1600" i="1"/>
              <a:t>Bob computes:  A</a:t>
            </a:r>
            <a:r>
              <a:rPr lang="de-DE" altLang="zh-CN" sz="1600" i="1" baseline="30000"/>
              <a:t>b</a:t>
            </a:r>
            <a:r>
              <a:rPr lang="de-DE" altLang="zh-CN" sz="1600"/>
              <a:t> = (</a:t>
            </a:r>
            <a:r>
              <a:rPr lang="de-DE" altLang="zh-CN" sz="1600" i="1"/>
              <a:t>α</a:t>
            </a:r>
            <a:r>
              <a:rPr lang="de-DE" altLang="zh-CN" sz="1600" i="1" baseline="30000"/>
              <a:t>a</a:t>
            </a:r>
            <a:r>
              <a:rPr lang="de-DE" altLang="zh-CN" sz="1600"/>
              <a:t>)</a:t>
            </a:r>
            <a:r>
              <a:rPr lang="de-DE" altLang="zh-CN" sz="1600" i="1" baseline="30000"/>
              <a:t>b </a:t>
            </a:r>
            <a:r>
              <a:rPr lang="de-DE" altLang="zh-CN" sz="1600" i="1"/>
              <a:t>  mod p </a:t>
            </a:r>
          </a:p>
          <a:p>
            <a:pPr>
              <a:spcBef>
                <a:spcPct val="50000"/>
              </a:spcBef>
            </a:pPr>
            <a:r>
              <a:rPr lang="de-DE" altLang="zh-CN" sz="1600" i="1"/>
              <a:t>i.e., Alice and Bob compute the same key k</a:t>
            </a:r>
            <a:r>
              <a:rPr lang="de-DE" altLang="zh-CN" sz="1600" i="1" baseline="-25000"/>
              <a:t>AB</a:t>
            </a:r>
            <a:r>
              <a:rPr lang="de-DE" altLang="zh-CN" sz="1600" baseline="-25000"/>
              <a:t> </a:t>
            </a:r>
            <a:r>
              <a:rPr lang="de-DE" altLang="zh-CN" sz="1600"/>
              <a:t>! </a:t>
            </a:r>
          </a:p>
          <a:p>
            <a:pPr>
              <a:spcBef>
                <a:spcPct val="50000"/>
              </a:spcBef>
            </a:pPr>
            <a:r>
              <a:rPr lang="de-DE" altLang="zh-CN" sz="1600" i="1"/>
              <a:t> </a:t>
            </a:r>
            <a:r>
              <a:rPr lang="de-DE" altLang="zh-CN" sz="1600"/>
              <a:t> </a:t>
            </a:r>
            <a:endParaRPr lang="de-DE" altLang="zh-CN" sz="1600" i="1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6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6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6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6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6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6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26" grpId="0"/>
      <p:bldP spid="661527" grpId="0"/>
      <p:bldP spid="661528" grpId="0"/>
      <p:bldP spid="661529" grpId="0"/>
      <p:bldP spid="661530" grpId="0"/>
      <p:bldP spid="661531" grpId="0"/>
      <p:bldP spid="661532" grpId="0"/>
      <p:bldP spid="661533" grpId="0"/>
      <p:bldP spid="23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Inhaltsplatzhalter 1">
            <a:extLst>
              <a:ext uri="{FF2B5EF4-FFF2-40B4-BE49-F238E27FC236}">
                <a16:creationId xmlns:a16="http://schemas.microsoft.com/office/drawing/2014/main" id="{7D3F1FA1-88A1-1833-1F86-AAC3D0F8C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5054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de-DE" altLang="zh-CN"/>
              <a:t>Discrete Logarithm Problem (DLP) in Z</a:t>
            </a:r>
            <a:r>
              <a:rPr lang="de-DE" altLang="zh-CN" i="1" baseline="-25000"/>
              <a:t>p</a:t>
            </a:r>
            <a:r>
              <a:rPr lang="de-DE" altLang="zh-CN" i="1"/>
              <a:t>*</a:t>
            </a:r>
          </a:p>
          <a:p>
            <a:r>
              <a:rPr lang="en-US" altLang="zh-CN">
                <a:ea typeface="宋体" panose="02010600030101010101" pitchFamily="2" charset="-122"/>
              </a:rPr>
              <a:t>Given is the finite cyclic group </a:t>
            </a:r>
            <a:r>
              <a:rPr lang="de-DE" altLang="zh-CN"/>
              <a:t>Z</a:t>
            </a:r>
            <a:r>
              <a:rPr lang="de-DE" altLang="zh-CN" i="1" baseline="-25000"/>
              <a:t>p</a:t>
            </a:r>
            <a:r>
              <a:rPr lang="de-DE" altLang="zh-CN" i="1"/>
              <a:t>*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of order </a:t>
            </a:r>
            <a:r>
              <a:rPr lang="en-US" altLang="zh-CN" i="1">
                <a:ea typeface="宋体" panose="02010600030101010101" pitchFamily="2" charset="-122"/>
              </a:rPr>
              <a:t>p−1 </a:t>
            </a:r>
            <a:r>
              <a:rPr lang="en-US" altLang="zh-CN">
                <a:ea typeface="宋体" panose="02010600030101010101" pitchFamily="2" charset="-122"/>
              </a:rPr>
              <a:t>and a primitive element </a:t>
            </a:r>
            <a:r>
              <a:rPr lang="de-DE" altLang="zh-CN" i="1"/>
              <a:t>α</a:t>
            </a:r>
            <a:r>
              <a:rPr lang="en-US" altLang="zh-CN">
                <a:ea typeface="宋体" panose="02010600030101010101" pitchFamily="2" charset="-122"/>
              </a:rPr>
              <a:t> ∈ </a:t>
            </a:r>
            <a:r>
              <a:rPr lang="de-DE" altLang="zh-CN"/>
              <a:t>Z</a:t>
            </a:r>
            <a:r>
              <a:rPr lang="de-DE" altLang="zh-CN" i="1" baseline="-25000"/>
              <a:t>p</a:t>
            </a:r>
            <a:r>
              <a:rPr lang="de-DE" altLang="zh-CN" i="1"/>
              <a:t>*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and another element </a:t>
            </a:r>
            <a:r>
              <a:rPr lang="el-GR" altLang="zh-CN" i="1"/>
              <a:t>β</a:t>
            </a:r>
            <a:r>
              <a:rPr lang="en-US" altLang="zh-CN" i="1">
                <a:ea typeface="宋体" panose="02010600030101010101" pitchFamily="2" charset="-122"/>
              </a:rPr>
              <a:t> ∈ </a:t>
            </a:r>
            <a:r>
              <a:rPr lang="de-DE" altLang="zh-CN"/>
              <a:t>Z</a:t>
            </a:r>
            <a:r>
              <a:rPr lang="de-DE" altLang="zh-CN" i="1" baseline="-25000"/>
              <a:t>p</a:t>
            </a:r>
            <a:r>
              <a:rPr lang="de-DE" altLang="zh-CN" i="1"/>
              <a:t>*</a:t>
            </a:r>
            <a:r>
              <a:rPr lang="en-US" altLang="zh-CN" i="1">
                <a:ea typeface="宋体" panose="02010600030101010101" pitchFamily="2" charset="-122"/>
              </a:rPr>
              <a:t>. </a:t>
            </a:r>
          </a:p>
          <a:p>
            <a:r>
              <a:rPr lang="en-US" altLang="zh-CN">
                <a:ea typeface="宋体" panose="02010600030101010101" pitchFamily="2" charset="-122"/>
              </a:rPr>
              <a:t>The DLP is the problem of determining the integer </a:t>
            </a:r>
            <a:r>
              <a:rPr lang="en-US" altLang="zh-CN" i="1">
                <a:ea typeface="宋体" panose="02010600030101010101" pitchFamily="2" charset="-122"/>
              </a:rPr>
              <a:t>1 ≤ x ≤ p−1 </a:t>
            </a:r>
            <a:r>
              <a:rPr lang="en-US" altLang="zh-CN">
                <a:ea typeface="宋体" panose="02010600030101010101" pitchFamily="2" charset="-122"/>
              </a:rPr>
              <a:t>such that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de-DE" altLang="zh-CN" i="1"/>
              <a:t>α</a:t>
            </a:r>
            <a:r>
              <a:rPr lang="de-DE" altLang="zh-CN" i="1" baseline="30000"/>
              <a:t>x</a:t>
            </a:r>
            <a:r>
              <a:rPr lang="de-DE" altLang="zh-CN" i="1"/>
              <a:t> ≡ </a:t>
            </a:r>
            <a:r>
              <a:rPr lang="el-GR" altLang="zh-CN" i="1"/>
              <a:t>β</a:t>
            </a:r>
            <a:r>
              <a:rPr lang="de-DE" altLang="zh-CN" i="1"/>
              <a:t> </a:t>
            </a:r>
            <a:r>
              <a:rPr lang="de-DE" altLang="zh-CN"/>
              <a:t>mod</a:t>
            </a:r>
            <a:r>
              <a:rPr lang="de-DE" altLang="zh-CN" i="1"/>
              <a:t> p</a:t>
            </a:r>
          </a:p>
          <a:p>
            <a:r>
              <a:rPr lang="de-DE" altLang="zh-CN"/>
              <a:t>This computation is called the </a:t>
            </a:r>
            <a:r>
              <a:rPr lang="de-DE" altLang="zh-CN" b="1">
                <a:solidFill>
                  <a:srgbClr val="FF0000"/>
                </a:solidFill>
              </a:rPr>
              <a:t>discrete logarithm problem (DLP)</a:t>
            </a:r>
            <a:br>
              <a:rPr lang="de-DE" altLang="zh-CN" i="1"/>
            </a:br>
            <a:endParaRPr lang="de-DE" altLang="zh-CN" i="1"/>
          </a:p>
          <a:p>
            <a:pPr algn="ctr">
              <a:buFont typeface="Wingdings" pitchFamily="2" charset="2"/>
              <a:buNone/>
            </a:pPr>
            <a:r>
              <a:rPr lang="de-DE" altLang="zh-CN" i="1"/>
              <a:t>x = log</a:t>
            </a:r>
            <a:r>
              <a:rPr lang="de-DE" altLang="zh-CN" i="1" baseline="-25000"/>
              <a:t>α </a:t>
            </a:r>
            <a:r>
              <a:rPr lang="el-GR" altLang="zh-CN" i="1"/>
              <a:t>β</a:t>
            </a:r>
            <a:r>
              <a:rPr lang="de-DE" altLang="zh-CN" i="1"/>
              <a:t> </a:t>
            </a:r>
            <a:r>
              <a:rPr lang="de-DE" altLang="zh-CN"/>
              <a:t>mod </a:t>
            </a:r>
            <a:r>
              <a:rPr lang="de-DE" altLang="zh-CN" i="1"/>
              <a:t>p </a:t>
            </a:r>
          </a:p>
          <a:p>
            <a:endParaRPr lang="de-DE" altLang="zh-CN" i="1"/>
          </a:p>
          <a:p>
            <a:r>
              <a:rPr lang="de-DE" altLang="zh-CN"/>
              <a:t>Example: Compute </a:t>
            </a:r>
            <a:r>
              <a:rPr lang="de-DE" altLang="zh-CN" i="1"/>
              <a:t>x  </a:t>
            </a:r>
            <a:r>
              <a:rPr lang="de-DE" altLang="zh-CN"/>
              <a:t>for </a:t>
            </a:r>
            <a:r>
              <a:rPr lang="de-DE" altLang="zh-CN" i="1"/>
              <a:t> </a:t>
            </a:r>
            <a:r>
              <a:rPr lang="de-DE" altLang="zh-CN"/>
              <a:t>5</a:t>
            </a:r>
            <a:r>
              <a:rPr lang="de-DE" altLang="zh-CN" i="1" baseline="30000"/>
              <a:t>x</a:t>
            </a:r>
            <a:r>
              <a:rPr lang="de-DE" altLang="zh-CN" i="1"/>
              <a:t> ≡ 41 </a:t>
            </a:r>
            <a:r>
              <a:rPr lang="de-DE" altLang="zh-CN"/>
              <a:t>mod </a:t>
            </a:r>
            <a:r>
              <a:rPr lang="de-DE" altLang="zh-CN" i="1"/>
              <a:t>47</a:t>
            </a:r>
          </a:p>
          <a:p>
            <a:endParaRPr lang="de-DE" altLang="zh-CN" i="1"/>
          </a:p>
          <a:p>
            <a:pPr>
              <a:buFont typeface="Wingdings" pitchFamily="2" charset="2"/>
              <a:buNone/>
            </a:pPr>
            <a:r>
              <a:rPr lang="de-DE" altLang="zh-CN"/>
              <a:t>Remark: For the coverage of groups and cylcic groups, we refer to Chapter 8 of </a:t>
            </a:r>
            <a:r>
              <a:rPr lang="de-DE" altLang="zh-CN" i="1"/>
              <a:t>Understanding Cryptography</a:t>
            </a:r>
          </a:p>
        </p:txBody>
      </p:sp>
      <p:sp>
        <p:nvSpPr>
          <p:cNvPr id="12291" name="Titel 2">
            <a:extLst>
              <a:ext uri="{FF2B5EF4-FFF2-40B4-BE49-F238E27FC236}">
                <a16:creationId xmlns:a16="http://schemas.microsoft.com/office/drawing/2014/main" id="{4D164891-6ECE-AA47-1072-0DBCD5CF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Discrete Logarithm Problem</a:t>
            </a:r>
          </a:p>
        </p:txBody>
      </p:sp>
      <p:sp>
        <p:nvSpPr>
          <p:cNvPr id="12292" name="Foliennummernplatzhalter 5">
            <a:extLst>
              <a:ext uri="{FF2B5EF4-FFF2-40B4-BE49-F238E27FC236}">
                <a16:creationId xmlns:a16="http://schemas.microsoft.com/office/drawing/2014/main" id="{C79CBF1F-27AD-437B-2994-5D7A6FAD9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A95663-CD1D-1040-813C-DADAD9E08F3E}" type="slidenum">
              <a:rPr lang="de-DE" altLang="zh-CN">
                <a:solidFill>
                  <a:srgbClr val="394073"/>
                </a:solidFill>
              </a:rPr>
              <a:pPr/>
              <a:t>7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2293" name="Fußzeilenplatzhalter 6">
            <a:extLst>
              <a:ext uri="{FF2B5EF4-FFF2-40B4-BE49-F238E27FC236}">
                <a16:creationId xmlns:a16="http://schemas.microsoft.com/office/drawing/2014/main" id="{7DCF257F-0696-6A0A-FCE9-066568AE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Inhaltsplatzhalter 1">
            <a:extLst>
              <a:ext uri="{FF2B5EF4-FFF2-40B4-BE49-F238E27FC236}">
                <a16:creationId xmlns:a16="http://schemas.microsoft.com/office/drawing/2014/main" id="{6927CDB4-7FBA-5DC0-47E7-7B32DD629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143000"/>
            <a:ext cx="8429625" cy="34623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Given is a finite cyclic group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 with the group operation ◦ and cardinality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We consider a primitive element </a:t>
            </a:r>
            <a:r>
              <a:rPr lang="de-DE" altLang="zh-CN" i="1"/>
              <a:t>α</a:t>
            </a:r>
            <a:r>
              <a:rPr lang="en-US" altLang="zh-CN" i="1">
                <a:ea typeface="宋体" panose="02010600030101010101" pitchFamily="2" charset="-122"/>
              </a:rPr>
              <a:t> ∈ G </a:t>
            </a:r>
            <a:r>
              <a:rPr lang="en-US" altLang="zh-CN">
                <a:ea typeface="宋体" panose="02010600030101010101" pitchFamily="2" charset="-122"/>
              </a:rPr>
              <a:t>and another element </a:t>
            </a:r>
            <a:r>
              <a:rPr lang="el-GR" altLang="zh-CN" i="1"/>
              <a:t>β</a:t>
            </a:r>
            <a:r>
              <a:rPr lang="en-US" altLang="zh-CN" i="1">
                <a:ea typeface="宋体" panose="02010600030101010101" pitchFamily="2" charset="-122"/>
              </a:rPr>
              <a:t> ∈ G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The discrete logarithm problem is finding the integer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, where </a:t>
            </a:r>
            <a:r>
              <a:rPr lang="en-US" altLang="zh-CN" i="1">
                <a:ea typeface="宋体" panose="02010600030101010101" pitchFamily="2" charset="-122"/>
              </a:rPr>
              <a:t>1 ≤ x ≤ n</a:t>
            </a:r>
            <a:r>
              <a:rPr lang="en-US" altLang="zh-CN">
                <a:ea typeface="宋体" panose="02010600030101010101" pitchFamily="2" charset="-122"/>
              </a:rPr>
              <a:t>, such that: </a:t>
            </a:r>
          </a:p>
          <a:p>
            <a:endParaRPr lang="en-US" altLang="zh-CN" i="1">
              <a:ea typeface="宋体" panose="02010600030101010101" pitchFamily="2" charset="-122"/>
            </a:endParaRPr>
          </a:p>
          <a:p>
            <a:pPr algn="ctr">
              <a:buFont typeface="Wingdings" pitchFamily="2" charset="2"/>
              <a:buNone/>
            </a:pPr>
            <a:r>
              <a:rPr lang="el-GR" altLang="zh-CN" i="1"/>
              <a:t>β</a:t>
            </a:r>
            <a:r>
              <a:rPr lang="de-DE" altLang="zh-CN" i="1"/>
              <a:t> = α ◦ α ◦ α ◦. . .◦ α = α</a:t>
            </a:r>
            <a:r>
              <a:rPr lang="de-DE" altLang="zh-CN" i="1" baseline="30000"/>
              <a:t>x</a:t>
            </a:r>
          </a:p>
          <a:p>
            <a:endParaRPr lang="de-DE" altLang="zh-CN" baseline="30000"/>
          </a:p>
        </p:txBody>
      </p:sp>
      <p:sp>
        <p:nvSpPr>
          <p:cNvPr id="13315" name="Titel 2">
            <a:extLst>
              <a:ext uri="{FF2B5EF4-FFF2-40B4-BE49-F238E27FC236}">
                <a16:creationId xmlns:a16="http://schemas.microsoft.com/office/drawing/2014/main" id="{B2735457-05E1-5452-FB1C-CCCB163A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Generalized Discrete Logarithm Problem</a:t>
            </a:r>
          </a:p>
        </p:txBody>
      </p:sp>
      <p:sp>
        <p:nvSpPr>
          <p:cNvPr id="13316" name="Geschweifte Klammer links 5">
            <a:extLst>
              <a:ext uri="{FF2B5EF4-FFF2-40B4-BE49-F238E27FC236}">
                <a16:creationId xmlns:a16="http://schemas.microsoft.com/office/drawing/2014/main" id="{3EDB8E32-DC1A-DF12-30EB-64DA53BF07C7}"/>
              </a:ext>
            </a:extLst>
          </p:cNvPr>
          <p:cNvSpPr>
            <a:spLocks/>
          </p:cNvSpPr>
          <p:nvPr/>
        </p:nvSpPr>
        <p:spPr bwMode="auto">
          <a:xfrm>
            <a:off x="3643313" y="4572000"/>
            <a:ext cx="1571625" cy="214313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13317" name="Geschweifte Klammer links 6">
            <a:extLst>
              <a:ext uri="{FF2B5EF4-FFF2-40B4-BE49-F238E27FC236}">
                <a16:creationId xmlns:a16="http://schemas.microsoft.com/office/drawing/2014/main" id="{123122AD-1C0B-2D1E-6591-8E3177938CB0}"/>
              </a:ext>
            </a:extLst>
          </p:cNvPr>
          <p:cNvSpPr>
            <a:spLocks/>
          </p:cNvSpPr>
          <p:nvPr/>
        </p:nvSpPr>
        <p:spPr bwMode="auto">
          <a:xfrm rot="-5400000">
            <a:off x="4214812" y="3643313"/>
            <a:ext cx="214313" cy="1500188"/>
          </a:xfrm>
          <a:prstGeom prst="leftBrace">
            <a:avLst>
              <a:gd name="adj1" fmla="val 8329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13318" name="Textfeld 7">
            <a:extLst>
              <a:ext uri="{FF2B5EF4-FFF2-40B4-BE49-F238E27FC236}">
                <a16:creationId xmlns:a16="http://schemas.microsoft.com/office/drawing/2014/main" id="{7850CE9E-9779-E0E6-5A0F-D7F4E89C7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4429125"/>
            <a:ext cx="9286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 sz="1200" i="1"/>
              <a:t>x</a:t>
            </a:r>
            <a:r>
              <a:rPr lang="de-DE" altLang="zh-CN" sz="1200"/>
              <a:t> times</a:t>
            </a:r>
          </a:p>
        </p:txBody>
      </p:sp>
      <p:sp>
        <p:nvSpPr>
          <p:cNvPr id="13319" name="Foliennummernplatzhalter 8">
            <a:extLst>
              <a:ext uri="{FF2B5EF4-FFF2-40B4-BE49-F238E27FC236}">
                <a16:creationId xmlns:a16="http://schemas.microsoft.com/office/drawing/2014/main" id="{6910FC2B-35F2-1F8E-679E-FF7207394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0FD545-43C2-6049-A90C-6637F942E1AE}" type="slidenum">
              <a:rPr lang="de-DE" altLang="zh-CN">
                <a:solidFill>
                  <a:srgbClr val="394073"/>
                </a:solidFill>
              </a:rPr>
              <a:pPr/>
              <a:t>8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3320" name="Fußzeilenplatzhalter 9">
            <a:extLst>
              <a:ext uri="{FF2B5EF4-FFF2-40B4-BE49-F238E27FC236}">
                <a16:creationId xmlns:a16="http://schemas.microsoft.com/office/drawing/2014/main" id="{5BA74265-8373-9CAE-D308-37E77574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Inhaltsplatzhalter 1">
            <a:extLst>
              <a:ext uri="{FF2B5EF4-FFF2-40B4-BE49-F238E27FC236}">
                <a16:creationId xmlns:a16="http://schemas.microsoft.com/office/drawing/2014/main" id="{BF15A68E-3E7A-5373-8037-BEF44B1A7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49863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de-DE" altLang="zh-CN" dirty="0"/>
              <a:t>The </a:t>
            </a:r>
            <a:r>
              <a:rPr lang="de-DE" altLang="zh-CN" dirty="0" err="1"/>
              <a:t>following</a:t>
            </a:r>
            <a:r>
              <a:rPr lang="de-DE" altLang="zh-CN" dirty="0"/>
              <a:t> </a:t>
            </a:r>
            <a:r>
              <a:rPr lang="de-DE" altLang="zh-CN" dirty="0" err="1"/>
              <a:t>discrete</a:t>
            </a:r>
            <a:r>
              <a:rPr lang="de-DE" altLang="zh-CN" dirty="0"/>
              <a:t> </a:t>
            </a:r>
            <a:r>
              <a:rPr lang="de-DE" altLang="zh-CN" dirty="0" err="1"/>
              <a:t>logarithm</a:t>
            </a:r>
            <a:r>
              <a:rPr lang="de-DE" altLang="zh-CN" dirty="0"/>
              <a:t> </a:t>
            </a:r>
            <a:r>
              <a:rPr lang="de-DE" altLang="zh-CN" dirty="0" err="1"/>
              <a:t>problems</a:t>
            </a:r>
            <a:r>
              <a:rPr lang="de-DE" altLang="zh-CN" dirty="0"/>
              <a:t> </a:t>
            </a:r>
            <a:r>
              <a:rPr lang="de-DE" altLang="zh-CN" dirty="0" err="1"/>
              <a:t>have</a:t>
            </a:r>
            <a:r>
              <a:rPr lang="de-DE" altLang="zh-CN" dirty="0"/>
              <a:t> </a:t>
            </a:r>
            <a:r>
              <a:rPr lang="de-DE" altLang="zh-CN" dirty="0" err="1"/>
              <a:t>been</a:t>
            </a:r>
            <a:r>
              <a:rPr lang="de-DE" altLang="zh-CN" dirty="0"/>
              <a:t> </a:t>
            </a:r>
            <a:r>
              <a:rPr lang="de-DE" altLang="zh-CN" dirty="0" err="1"/>
              <a:t>proposed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use</a:t>
            </a:r>
            <a:r>
              <a:rPr lang="de-DE" altLang="zh-CN" dirty="0"/>
              <a:t> in </a:t>
            </a:r>
            <a:r>
              <a:rPr lang="de-DE" altLang="zh-CN" dirty="0" err="1"/>
              <a:t>cryptography</a:t>
            </a:r>
            <a:endParaRPr lang="de-DE" altLang="zh-CN" dirty="0"/>
          </a:p>
          <a:p>
            <a:pPr marL="357188" lvl="1" indent="-357188">
              <a:buFontTx/>
              <a:buAutoNum type="arabicPeriod"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357188" lvl="1" indent="-357188">
              <a:buFontTx/>
              <a:buAutoNum type="arabicPeriod"/>
            </a:pPr>
            <a:r>
              <a:rPr lang="en-US" altLang="zh-CN" sz="1800" dirty="0">
                <a:ea typeface="宋体" panose="02010600030101010101" pitchFamily="2" charset="-122"/>
              </a:rPr>
              <a:t>The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multiplicative group</a:t>
            </a:r>
            <a:r>
              <a:rPr lang="en-US" altLang="zh-CN" sz="1800" dirty="0">
                <a:ea typeface="宋体" panose="02010600030101010101" pitchFamily="2" charset="-122"/>
              </a:rPr>
              <a:t> of the prime field </a:t>
            </a:r>
            <a:r>
              <a:rPr lang="en-US" altLang="zh-CN" sz="1800" dirty="0" err="1">
                <a:ea typeface="宋体" panose="02010600030101010101" pitchFamily="2" charset="-122"/>
              </a:rPr>
              <a:t>Z</a:t>
            </a:r>
            <a:r>
              <a:rPr lang="en-US" altLang="zh-CN" sz="1800" i="1" baseline="-25000" dirty="0" err="1">
                <a:ea typeface="宋体" panose="02010600030101010101" pitchFamily="2" charset="-122"/>
              </a:rPr>
              <a:t>p</a:t>
            </a:r>
            <a:r>
              <a:rPr lang="en-US" altLang="zh-CN" sz="700" i="1" dirty="0">
                <a:ea typeface="宋体" panose="02010600030101010101" pitchFamily="2" charset="-122"/>
              </a:rPr>
              <a:t> </a:t>
            </a:r>
            <a:r>
              <a:rPr lang="en-US" altLang="zh-CN" sz="1800" i="1" dirty="0">
                <a:ea typeface="宋体" panose="02010600030101010101" pitchFamily="2" charset="-122"/>
              </a:rPr>
              <a:t> or a subgroup of it. For instance, </a:t>
            </a:r>
            <a:r>
              <a:rPr lang="en-US" altLang="zh-CN" sz="1800" dirty="0">
                <a:ea typeface="宋体" panose="02010600030101010101" pitchFamily="2" charset="-122"/>
              </a:rPr>
              <a:t>the classical DHKE uses this group (cf. previous slides), but also </a:t>
            </a:r>
            <a:r>
              <a:rPr lang="en-US" altLang="zh-CN" sz="1800" dirty="0" err="1">
                <a:ea typeface="宋体" panose="02010600030101010101" pitchFamily="2" charset="-122"/>
              </a:rPr>
              <a:t>Elgamal</a:t>
            </a:r>
            <a:r>
              <a:rPr lang="en-US" altLang="zh-CN" sz="1800" dirty="0">
                <a:ea typeface="宋体" panose="02010600030101010101" pitchFamily="2" charset="-122"/>
              </a:rPr>
              <a:t> encryption or the Digital Signature Algorithm (DSA). </a:t>
            </a:r>
          </a:p>
          <a:p>
            <a:pPr marL="357188" lvl="1" indent="-357188">
              <a:buFontTx/>
              <a:buAutoNum type="arabicPeriod"/>
            </a:pPr>
            <a:r>
              <a:rPr lang="en-US" altLang="zh-CN" sz="1800" dirty="0">
                <a:ea typeface="宋体" panose="02010600030101010101" pitchFamily="2" charset="-122"/>
              </a:rPr>
              <a:t>The cyclic group formed by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an elliptic curve </a:t>
            </a:r>
            <a:r>
              <a:rPr lang="en-US" altLang="zh-CN" sz="1800" dirty="0">
                <a:ea typeface="宋体" panose="02010600030101010101" pitchFamily="2" charset="-122"/>
              </a:rPr>
              <a:t>(see Chapter 9)</a:t>
            </a:r>
          </a:p>
          <a:p>
            <a:pPr marL="357188" lvl="1" indent="-357188">
              <a:buFontTx/>
              <a:buAutoNum type="arabicPeriod"/>
            </a:pPr>
            <a:r>
              <a:rPr lang="en-US" altLang="zh-CN" sz="1800" dirty="0">
                <a:ea typeface="宋体" panose="02010600030101010101" pitchFamily="2" charset="-122"/>
              </a:rPr>
              <a:t>The multiplicative group of a Galois field </a:t>
            </a:r>
            <a:r>
              <a:rPr lang="en-US" altLang="zh-CN" sz="1800" i="1" dirty="0">
                <a:ea typeface="宋体" panose="02010600030101010101" pitchFamily="2" charset="-122"/>
              </a:rPr>
              <a:t>GF(2</a:t>
            </a:r>
            <a:r>
              <a:rPr lang="en-US" altLang="zh-CN" sz="1800" i="1" baseline="30000" dirty="0"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ea typeface="宋体" panose="02010600030101010101" pitchFamily="2" charset="-122"/>
              </a:rPr>
              <a:t>) or a subgroup of it. </a:t>
            </a:r>
            <a:r>
              <a:rPr lang="en-US" altLang="zh-CN" sz="1800" i="1" dirty="0">
                <a:ea typeface="宋体" panose="02010600030101010101" pitchFamily="2" charset="-122"/>
              </a:rPr>
              <a:t>S</a:t>
            </a:r>
            <a:r>
              <a:rPr lang="en-US" altLang="zh-CN" sz="1800" dirty="0">
                <a:ea typeface="宋体" panose="02010600030101010101" pitchFamily="2" charset="-122"/>
              </a:rPr>
              <a:t>chemes such as the DHKE can be realized with them. </a:t>
            </a:r>
          </a:p>
          <a:p>
            <a:pPr marL="357188" lvl="1" indent="-357188">
              <a:buFontTx/>
              <a:buAutoNum type="arabicPeriod"/>
            </a:pPr>
            <a:r>
              <a:rPr lang="en-US" altLang="zh-CN" sz="1800" dirty="0">
                <a:ea typeface="宋体" panose="02010600030101010101" pitchFamily="2" charset="-122"/>
              </a:rPr>
              <a:t>Hyperelliptic curves or algebraic varieties, which can be viewed as generalization of elliptic curves. </a:t>
            </a:r>
          </a:p>
          <a:p>
            <a:pPr marL="357188" lvl="1" indent="-357188">
              <a:buFontTx/>
              <a:buAutoNum type="arabicPeriod"/>
            </a:pPr>
            <a:endParaRPr lang="en-US" altLang="zh-CN" sz="1800" i="1" dirty="0">
              <a:ea typeface="宋体" panose="02010600030101010101" pitchFamily="2" charset="-122"/>
            </a:endParaRPr>
          </a:p>
          <a:p>
            <a:pPr marL="357188" lvl="1" indent="-357188">
              <a:buFontTx/>
              <a:buNone/>
            </a:pPr>
            <a:r>
              <a:rPr lang="en-US" altLang="zh-CN" sz="1800" i="1" dirty="0">
                <a:ea typeface="宋体" panose="02010600030101010101" pitchFamily="2" charset="-122"/>
              </a:rPr>
              <a:t>Remark: The groups 1. and 2. are most often used in practice.</a:t>
            </a:r>
            <a:endParaRPr lang="de-DE" altLang="zh-CN" sz="1800" i="1" dirty="0"/>
          </a:p>
        </p:txBody>
      </p:sp>
      <p:sp>
        <p:nvSpPr>
          <p:cNvPr id="14339" name="Titel 2">
            <a:extLst>
              <a:ext uri="{FF2B5EF4-FFF2-40B4-BE49-F238E27FC236}">
                <a16:creationId xmlns:a16="http://schemas.microsoft.com/office/drawing/2014/main" id="{FA4432FE-8521-4248-A646-C97BC2B0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Generalized Discrete Logarithm Problem</a:t>
            </a:r>
          </a:p>
        </p:txBody>
      </p:sp>
      <p:sp>
        <p:nvSpPr>
          <p:cNvPr id="14340" name="Foliennummernplatzhalter 5">
            <a:extLst>
              <a:ext uri="{FF2B5EF4-FFF2-40B4-BE49-F238E27FC236}">
                <a16:creationId xmlns:a16="http://schemas.microsoft.com/office/drawing/2014/main" id="{60213A3D-6AF9-2CBF-AE4A-78506FF52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04EEDA-F8AF-3942-B180-00670F45F58B}" type="slidenum">
              <a:rPr lang="de-DE" altLang="zh-CN">
                <a:solidFill>
                  <a:srgbClr val="394073"/>
                </a:solidFill>
              </a:rPr>
              <a:pPr/>
              <a:t>9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4341" name="Fußzeilenplatzhalter 6">
            <a:extLst>
              <a:ext uri="{FF2B5EF4-FFF2-40B4-BE49-F238E27FC236}">
                <a16:creationId xmlns:a16="http://schemas.microsoft.com/office/drawing/2014/main" id="{302E0BEE-9F85-08AC-1230-14E5E3B0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Inhaltsplatzhalter 1">
            <a:extLst>
              <a:ext uri="{FF2B5EF4-FFF2-40B4-BE49-F238E27FC236}">
                <a16:creationId xmlns:a16="http://schemas.microsoft.com/office/drawing/2014/main" id="{353F6A64-54E0-D47F-5188-34D622F4C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714375"/>
            <a:ext cx="8215312" cy="5540375"/>
          </a:xfrm>
        </p:spPr>
        <p:txBody>
          <a:bodyPr/>
          <a:lstStyle/>
          <a:p>
            <a:r>
              <a:rPr lang="de-DE" altLang="zh-CN" dirty="0"/>
              <a:t>Security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many</a:t>
            </a:r>
            <a:r>
              <a:rPr lang="de-DE" altLang="zh-CN" dirty="0"/>
              <a:t> </a:t>
            </a:r>
            <a:r>
              <a:rPr lang="de-DE" altLang="zh-CN" dirty="0" err="1"/>
              <a:t>asymmetric</a:t>
            </a:r>
            <a:r>
              <a:rPr lang="de-DE" altLang="zh-CN" dirty="0"/>
              <a:t> primitives </a:t>
            </a:r>
            <a:r>
              <a:rPr lang="de-DE" altLang="zh-CN" dirty="0" err="1"/>
              <a:t>is</a:t>
            </a:r>
            <a:r>
              <a:rPr lang="de-DE" altLang="zh-CN" dirty="0"/>
              <a:t> </a:t>
            </a:r>
            <a:r>
              <a:rPr lang="de-DE" altLang="zh-CN" dirty="0" err="1"/>
              <a:t>based</a:t>
            </a:r>
            <a:r>
              <a:rPr lang="de-DE" altLang="zh-CN" dirty="0"/>
              <a:t> on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difficulty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computing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DLP in </a:t>
            </a:r>
            <a:r>
              <a:rPr lang="de-DE" altLang="zh-CN" dirty="0" err="1"/>
              <a:t>cyclic</a:t>
            </a:r>
            <a:r>
              <a:rPr lang="de-DE" altLang="zh-CN" dirty="0"/>
              <a:t> </a:t>
            </a:r>
            <a:r>
              <a:rPr lang="de-DE" altLang="zh-CN" dirty="0" err="1"/>
              <a:t>groups</a:t>
            </a:r>
            <a:r>
              <a:rPr lang="de-DE" altLang="zh-CN" dirty="0"/>
              <a:t>, i.e.,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Compute </a:t>
            </a:r>
            <a:r>
              <a:rPr lang="en-US" altLang="zh-CN" i="1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for a given </a:t>
            </a:r>
            <a:r>
              <a:rPr lang="de-DE" altLang="zh-CN" i="1" dirty="0"/>
              <a:t>α </a:t>
            </a:r>
            <a:r>
              <a:rPr lang="en-US" altLang="zh-CN" dirty="0">
                <a:ea typeface="宋体" panose="02010600030101010101" pitchFamily="2" charset="-122"/>
              </a:rPr>
              <a:t>and </a:t>
            </a:r>
            <a:r>
              <a:rPr lang="el-GR" altLang="zh-CN" i="1" dirty="0"/>
              <a:t>β</a:t>
            </a:r>
            <a:r>
              <a:rPr lang="de-DE" altLang="zh-CN" i="1" dirty="0"/>
              <a:t> </a:t>
            </a:r>
            <a:r>
              <a:rPr lang="de-DE" altLang="zh-CN" dirty="0"/>
              <a:t>such </a:t>
            </a:r>
            <a:r>
              <a:rPr lang="de-DE" altLang="zh-CN" dirty="0" err="1"/>
              <a:t>that</a:t>
            </a:r>
            <a:r>
              <a:rPr lang="de-DE" altLang="zh-CN" dirty="0"/>
              <a:t> </a:t>
            </a:r>
            <a:r>
              <a:rPr lang="el-GR" altLang="zh-CN" i="1" dirty="0"/>
              <a:t>β</a:t>
            </a:r>
            <a:r>
              <a:rPr lang="de-DE" altLang="zh-CN" i="1" dirty="0"/>
              <a:t> = α ◦ α ◦ α ◦. . .◦ α = α</a:t>
            </a:r>
            <a:r>
              <a:rPr lang="de-DE" altLang="zh-CN" i="1" baseline="30000" dirty="0"/>
              <a:t>x</a:t>
            </a:r>
            <a:endParaRPr lang="de-DE" altLang="zh-CN" dirty="0"/>
          </a:p>
          <a:p>
            <a:r>
              <a:rPr lang="de-DE" altLang="zh-CN" dirty="0"/>
              <a:t>The </a:t>
            </a:r>
            <a:r>
              <a:rPr lang="de-DE" altLang="zh-CN" dirty="0" err="1"/>
              <a:t>following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computing</a:t>
            </a:r>
            <a:r>
              <a:rPr lang="de-DE" altLang="zh-CN" dirty="0"/>
              <a:t> </a:t>
            </a:r>
            <a:r>
              <a:rPr lang="de-DE" altLang="zh-CN" dirty="0" err="1"/>
              <a:t>discrete</a:t>
            </a:r>
            <a:r>
              <a:rPr lang="de-DE" altLang="zh-CN" dirty="0"/>
              <a:t> </a:t>
            </a:r>
            <a:r>
              <a:rPr lang="de-DE" altLang="zh-CN" dirty="0" err="1"/>
              <a:t>logarithms</a:t>
            </a:r>
            <a:r>
              <a:rPr lang="de-DE" altLang="zh-CN" dirty="0"/>
              <a:t> </a:t>
            </a:r>
            <a:r>
              <a:rPr lang="de-DE" altLang="zh-CN" dirty="0" err="1"/>
              <a:t>exist</a:t>
            </a:r>
            <a:endParaRPr lang="de-DE" altLang="zh-CN" dirty="0"/>
          </a:p>
          <a:p>
            <a:pPr lvl="1"/>
            <a:r>
              <a:rPr lang="de-DE" altLang="zh-CN" sz="1800" dirty="0" err="1"/>
              <a:t>Generic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algorithms</a:t>
            </a:r>
            <a:r>
              <a:rPr lang="de-DE" altLang="zh-CN" sz="1800" dirty="0"/>
              <a:t>: Work in </a:t>
            </a:r>
            <a:r>
              <a:rPr lang="de-DE" altLang="zh-CN" sz="1800" dirty="0" err="1"/>
              <a:t>any</a:t>
            </a:r>
            <a:r>
              <a:rPr lang="de-DE" altLang="zh-CN" sz="1800" dirty="0"/>
              <a:t> </a:t>
            </a:r>
            <a:r>
              <a:rPr lang="de-DE" altLang="zh-CN" sz="1800" dirty="0" err="1"/>
              <a:t>cyclic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group</a:t>
            </a:r>
            <a:endParaRPr lang="de-DE" altLang="zh-CN" sz="1800" dirty="0"/>
          </a:p>
          <a:p>
            <a:pPr lvl="2">
              <a:buFont typeface="Symbol" pitchFamily="2" charset="2"/>
              <a:buChar char="-"/>
            </a:pPr>
            <a:r>
              <a:rPr lang="de-DE" altLang="zh-CN" sz="1800" dirty="0"/>
              <a:t>Brute-Force Search</a:t>
            </a:r>
          </a:p>
          <a:p>
            <a:pPr lvl="2">
              <a:buFont typeface="Symbol" pitchFamily="2" charset="2"/>
              <a:buChar char="-"/>
            </a:pPr>
            <a:r>
              <a:rPr lang="de-DE" altLang="zh-CN" sz="1800" dirty="0"/>
              <a:t>Shanks‘ Baby-</a:t>
            </a:r>
            <a:r>
              <a:rPr lang="de-DE" altLang="zh-CN" sz="1800" dirty="0" err="1"/>
              <a:t>Step</a:t>
            </a:r>
            <a:r>
              <a:rPr lang="de-DE" altLang="zh-CN" sz="1800" dirty="0"/>
              <a:t>-Giant-</a:t>
            </a:r>
            <a:r>
              <a:rPr lang="de-DE" altLang="zh-CN" sz="1800" dirty="0" err="1"/>
              <a:t>Step</a:t>
            </a:r>
            <a:r>
              <a:rPr lang="de-DE" altLang="zh-CN" sz="1800" dirty="0"/>
              <a:t> Method</a:t>
            </a:r>
          </a:p>
          <a:p>
            <a:pPr lvl="2">
              <a:buFont typeface="Symbol" pitchFamily="2" charset="2"/>
              <a:buChar char="-"/>
            </a:pPr>
            <a:r>
              <a:rPr lang="de-DE" altLang="zh-CN" sz="1800" dirty="0" err="1"/>
              <a:t>Pollard‘s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Rho</a:t>
            </a:r>
            <a:r>
              <a:rPr lang="de-DE" altLang="zh-CN" sz="1800" dirty="0"/>
              <a:t> Method</a:t>
            </a:r>
          </a:p>
          <a:p>
            <a:pPr lvl="2">
              <a:buFont typeface="Symbol" pitchFamily="2" charset="2"/>
              <a:buChar char="-"/>
            </a:pPr>
            <a:r>
              <a:rPr lang="de-DE" altLang="zh-CN" sz="1800" dirty="0"/>
              <a:t>Pohlig-Hellman Method</a:t>
            </a:r>
          </a:p>
          <a:p>
            <a:pPr lvl="1"/>
            <a:r>
              <a:rPr lang="de-DE" altLang="zh-CN" sz="1800" dirty="0"/>
              <a:t>Non-</a:t>
            </a:r>
            <a:r>
              <a:rPr lang="de-DE" altLang="zh-CN" sz="1800" dirty="0" err="1"/>
              <a:t>generic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Algorithms</a:t>
            </a:r>
            <a:r>
              <a:rPr lang="de-DE" altLang="zh-CN" sz="1800" dirty="0"/>
              <a:t>: Work </a:t>
            </a:r>
            <a:r>
              <a:rPr lang="de-DE" altLang="zh-CN" sz="1800" dirty="0" err="1"/>
              <a:t>only</a:t>
            </a:r>
            <a:r>
              <a:rPr lang="de-DE" altLang="zh-CN" sz="1800" dirty="0"/>
              <a:t> in </a:t>
            </a:r>
            <a:r>
              <a:rPr lang="de-DE" altLang="zh-CN" sz="1800" dirty="0" err="1"/>
              <a:t>specific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groups</a:t>
            </a:r>
            <a:r>
              <a:rPr lang="de-DE" altLang="zh-CN" sz="1800" dirty="0"/>
              <a:t>, in </a:t>
            </a:r>
            <a:r>
              <a:rPr lang="de-DE" altLang="zh-CN" sz="1800" dirty="0" err="1"/>
              <a:t>particular</a:t>
            </a:r>
            <a:r>
              <a:rPr lang="de-DE" altLang="zh-CN" sz="1800" dirty="0"/>
              <a:t> in </a:t>
            </a:r>
            <a:r>
              <a:rPr lang="en-US" altLang="zh-CN" sz="1800" dirty="0" err="1">
                <a:ea typeface="宋体" panose="02010600030101010101" pitchFamily="2" charset="-122"/>
              </a:rPr>
              <a:t>Z</a:t>
            </a:r>
            <a:r>
              <a:rPr lang="en-US" altLang="zh-CN" sz="1800" i="1" baseline="-25000" dirty="0" err="1">
                <a:ea typeface="宋体" panose="02010600030101010101" pitchFamily="2" charset="-122"/>
              </a:rPr>
              <a:t>p</a:t>
            </a:r>
            <a:r>
              <a:rPr lang="en-US" altLang="zh-CN" sz="700" i="1" dirty="0">
                <a:ea typeface="宋体" panose="02010600030101010101" pitchFamily="2" charset="-122"/>
              </a:rPr>
              <a:t> </a:t>
            </a:r>
            <a:endParaRPr lang="de-DE" altLang="zh-CN" sz="1800" dirty="0"/>
          </a:p>
          <a:p>
            <a:pPr lvl="2">
              <a:buFont typeface="Symbol" pitchFamily="2" charset="2"/>
              <a:buChar char="-"/>
            </a:pPr>
            <a:r>
              <a:rPr lang="de-DE" altLang="zh-CN" sz="1800" dirty="0"/>
              <a:t>The Index </a:t>
            </a:r>
            <a:r>
              <a:rPr lang="de-DE" altLang="zh-CN" sz="1800" dirty="0" err="1"/>
              <a:t>Calculus</a:t>
            </a:r>
            <a:r>
              <a:rPr lang="de-DE" altLang="zh-CN" sz="1800" dirty="0"/>
              <a:t> Method</a:t>
            </a:r>
          </a:p>
          <a:p>
            <a:r>
              <a:rPr lang="de-DE" altLang="zh-CN" dirty="0"/>
              <a:t>Remark: </a:t>
            </a:r>
            <a:r>
              <a:rPr lang="de-DE" altLang="zh-CN" dirty="0" err="1"/>
              <a:t>Elliptic</a:t>
            </a:r>
            <a:r>
              <a:rPr lang="de-DE" altLang="zh-CN" dirty="0"/>
              <a:t> </a:t>
            </a:r>
            <a:r>
              <a:rPr lang="de-DE" altLang="zh-CN" dirty="0" err="1"/>
              <a:t>curves</a:t>
            </a:r>
            <a:r>
              <a:rPr lang="de-DE" altLang="zh-CN" dirty="0"/>
              <a:t> </a:t>
            </a:r>
            <a:r>
              <a:rPr lang="de-DE" altLang="zh-CN" dirty="0" err="1"/>
              <a:t>can</a:t>
            </a:r>
            <a:r>
              <a:rPr lang="de-DE" altLang="zh-CN" dirty="0"/>
              <a:t> </a:t>
            </a:r>
            <a:r>
              <a:rPr lang="de-DE" altLang="zh-CN" dirty="0" err="1"/>
              <a:t>only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attacked</a:t>
            </a:r>
            <a:r>
              <a:rPr lang="de-DE" altLang="zh-CN" dirty="0"/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with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generic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algorithms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/>
              <a:t>which</a:t>
            </a:r>
            <a:r>
              <a:rPr lang="de-DE" altLang="zh-CN" dirty="0"/>
              <a:t>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weaker</a:t>
            </a:r>
            <a:r>
              <a:rPr lang="de-DE" altLang="zh-CN" dirty="0"/>
              <a:t> </a:t>
            </a:r>
            <a:r>
              <a:rPr lang="de-DE" altLang="zh-CN" dirty="0" err="1"/>
              <a:t>than</a:t>
            </a:r>
            <a:r>
              <a:rPr lang="de-DE" altLang="zh-CN" dirty="0"/>
              <a:t> non-</a:t>
            </a:r>
            <a:r>
              <a:rPr lang="de-DE" altLang="zh-CN" dirty="0" err="1"/>
              <a:t>generic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r>
              <a:rPr lang="de-DE" altLang="zh-CN" dirty="0"/>
              <a:t>. </a:t>
            </a:r>
            <a:r>
              <a:rPr lang="de-DE" altLang="zh-CN" dirty="0" err="1"/>
              <a:t>Hence</a:t>
            </a:r>
            <a:r>
              <a:rPr lang="de-DE" altLang="zh-CN" dirty="0"/>
              <a:t>, </a:t>
            </a:r>
            <a:r>
              <a:rPr lang="de-DE" altLang="zh-CN" dirty="0" err="1"/>
              <a:t>elliptic</a:t>
            </a:r>
            <a:r>
              <a:rPr lang="de-DE" altLang="zh-CN" dirty="0"/>
              <a:t> </a:t>
            </a:r>
            <a:r>
              <a:rPr lang="de-DE" altLang="zh-CN" dirty="0" err="1"/>
              <a:t>curves</a:t>
            </a:r>
            <a:r>
              <a:rPr lang="de-DE" altLang="zh-CN" dirty="0"/>
              <a:t> </a:t>
            </a:r>
            <a:r>
              <a:rPr lang="de-DE" altLang="zh-CN" dirty="0" err="1"/>
              <a:t>are</a:t>
            </a:r>
            <a:r>
              <a:rPr lang="de-DE" altLang="zh-CN" dirty="0"/>
              <a:t> </a:t>
            </a:r>
            <a:r>
              <a:rPr lang="de-DE" altLang="zh-CN" dirty="0" err="1"/>
              <a:t>secure</a:t>
            </a:r>
            <a:r>
              <a:rPr lang="de-DE" altLang="zh-CN" dirty="0"/>
              <a:t> </a:t>
            </a:r>
            <a:r>
              <a:rPr lang="de-DE" altLang="zh-CN" dirty="0" err="1"/>
              <a:t>with</a:t>
            </a:r>
            <a:r>
              <a:rPr lang="de-DE" altLang="zh-CN" dirty="0"/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shorter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key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>
                <a:solidFill>
                  <a:srgbClr val="FF0000"/>
                </a:solidFill>
              </a:rPr>
              <a:t>lengths</a:t>
            </a:r>
            <a:r>
              <a:rPr lang="de-DE" altLang="zh-CN" dirty="0">
                <a:solidFill>
                  <a:srgbClr val="FF0000"/>
                </a:solidFill>
              </a:rPr>
              <a:t> </a:t>
            </a:r>
            <a:r>
              <a:rPr lang="de-DE" altLang="zh-CN" dirty="0" err="1"/>
              <a:t>than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DLP in prime </a:t>
            </a:r>
            <a:r>
              <a:rPr lang="de-DE" altLang="zh-CN" dirty="0" err="1"/>
              <a:t>fields</a:t>
            </a:r>
            <a:r>
              <a:rPr lang="de-DE" altLang="zh-CN" dirty="0"/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Z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p</a:t>
            </a:r>
            <a:r>
              <a:rPr lang="en-US" altLang="zh-CN" sz="700" i="1" dirty="0">
                <a:ea typeface="宋体" panose="02010600030101010101" pitchFamily="2" charset="-122"/>
              </a:rPr>
              <a:t> </a:t>
            </a:r>
            <a:endParaRPr lang="de-DE" altLang="zh-CN" dirty="0"/>
          </a:p>
        </p:txBody>
      </p:sp>
      <p:sp>
        <p:nvSpPr>
          <p:cNvPr id="15363" name="Titel 2">
            <a:extLst>
              <a:ext uri="{FF2B5EF4-FFF2-40B4-BE49-F238E27FC236}">
                <a16:creationId xmlns:a16="http://schemas.microsoft.com/office/drawing/2014/main" id="{30155955-FD0D-A871-D613-7A052D57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Attacks against the Discrete Logarithm Problem</a:t>
            </a:r>
          </a:p>
        </p:txBody>
      </p:sp>
      <p:sp>
        <p:nvSpPr>
          <p:cNvPr id="15364" name="Foliennummernplatzhalter 5">
            <a:extLst>
              <a:ext uri="{FF2B5EF4-FFF2-40B4-BE49-F238E27FC236}">
                <a16:creationId xmlns:a16="http://schemas.microsoft.com/office/drawing/2014/main" id="{EBC0F2DC-5024-146C-555F-EDC15DC4D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C93628-9B50-4041-AA76-4F364BC14525}" type="slidenum">
              <a:rPr lang="de-DE" altLang="zh-CN">
                <a:solidFill>
                  <a:srgbClr val="394073"/>
                </a:solidFill>
              </a:rPr>
              <a:pPr/>
              <a:t>10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5365" name="Fußzeilenplatzhalter 6">
            <a:extLst>
              <a:ext uri="{FF2B5EF4-FFF2-40B4-BE49-F238E27FC236}">
                <a16:creationId xmlns:a16="http://schemas.microsoft.com/office/drawing/2014/main" id="{CEFA51F3-3465-9F2D-67FA-2FB88E9E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Inhaltsplatzhalter 1">
            <a:extLst>
              <a:ext uri="{FF2B5EF4-FFF2-40B4-BE49-F238E27FC236}">
                <a16:creationId xmlns:a16="http://schemas.microsoft.com/office/drawing/2014/main" id="{C378784F-91A5-85C3-A1BB-6F91A5475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928688"/>
            <a:ext cx="8215312" cy="15922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de-DE" altLang="zh-CN" dirty="0"/>
              <a:t>Summary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records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computing</a:t>
            </a:r>
            <a:r>
              <a:rPr lang="de-DE" altLang="zh-CN" dirty="0"/>
              <a:t> </a:t>
            </a:r>
            <a:r>
              <a:rPr lang="de-DE" altLang="zh-CN" dirty="0" err="1"/>
              <a:t>discrete</a:t>
            </a:r>
            <a:r>
              <a:rPr lang="de-DE" altLang="zh-CN" dirty="0"/>
              <a:t> </a:t>
            </a:r>
            <a:r>
              <a:rPr lang="de-DE" altLang="zh-CN" dirty="0" err="1"/>
              <a:t>logarithms</a:t>
            </a:r>
            <a:r>
              <a:rPr lang="de-DE" altLang="zh-CN" dirty="0"/>
              <a:t> in </a:t>
            </a:r>
            <a:r>
              <a:rPr lang="de-DE" altLang="zh-CN" dirty="0" err="1"/>
              <a:t>Z</a:t>
            </a:r>
            <a:r>
              <a:rPr lang="de-DE" altLang="zh-CN" i="1" baseline="-25000" dirty="0" err="1"/>
              <a:t>p</a:t>
            </a:r>
            <a:r>
              <a:rPr lang="de-DE" altLang="zh-CN" i="1" dirty="0"/>
              <a:t>*</a:t>
            </a:r>
          </a:p>
          <a:p>
            <a:pPr>
              <a:buFont typeface="Wingdings" pitchFamily="2" charset="2"/>
              <a:buNone/>
            </a:pPr>
            <a:endParaRPr lang="de-DE" altLang="zh-CN" i="1" dirty="0"/>
          </a:p>
          <a:p>
            <a:pPr>
              <a:buFont typeface="Wingdings" pitchFamily="2" charset="2"/>
              <a:buNone/>
            </a:pPr>
            <a:endParaRPr lang="de-DE" altLang="zh-CN" dirty="0"/>
          </a:p>
          <a:p>
            <a:pPr>
              <a:buFont typeface="Wingdings" pitchFamily="2" charset="2"/>
              <a:buNone/>
            </a:pPr>
            <a:endParaRPr lang="de-DE" altLang="zh-CN" dirty="0"/>
          </a:p>
        </p:txBody>
      </p:sp>
      <p:sp>
        <p:nvSpPr>
          <p:cNvPr id="16387" name="Titel 2">
            <a:extLst>
              <a:ext uri="{FF2B5EF4-FFF2-40B4-BE49-F238E27FC236}">
                <a16:creationId xmlns:a16="http://schemas.microsoft.com/office/drawing/2014/main" id="{478B292A-6A2B-782C-D76F-DF073EF6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Attacks against the Discrete Logarithm Problem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CB93C38-7CB4-243E-8362-B90E9EE44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241370"/>
              </p:ext>
            </p:extLst>
          </p:nvPr>
        </p:nvGraphicFramePr>
        <p:xfrm>
          <a:off x="1547664" y="1412776"/>
          <a:ext cx="5447928" cy="36881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5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5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 err="1"/>
                        <a:t>Decimal</a:t>
                      </a:r>
                      <a:r>
                        <a:rPr lang="de-DE" sz="1600" dirty="0"/>
                        <a:t> </a:t>
                      </a:r>
                      <a:r>
                        <a:rPr lang="de-DE" sz="1600" dirty="0" err="1"/>
                        <a:t>digits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Bit </a:t>
                      </a:r>
                      <a:r>
                        <a:rPr lang="de-DE" sz="1600" dirty="0" err="1"/>
                        <a:t>length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Date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58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193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1991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68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216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1996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282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1998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100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332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1999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399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2001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135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448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2006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160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532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2007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180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596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2014</a:t>
                      </a:r>
                      <a:endParaRPr lang="de-DE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382482870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232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768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2016</a:t>
                      </a:r>
                      <a:endParaRPr lang="de-DE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4262103258"/>
                  </a:ext>
                </a:extLst>
              </a:tr>
              <a:tr h="3119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240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795</a:t>
                      </a:r>
                      <a:endParaRPr lang="de-DE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2019</a:t>
                      </a:r>
                      <a:endParaRPr lang="de-DE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529449961"/>
                  </a:ext>
                </a:extLst>
              </a:tr>
            </a:tbl>
          </a:graphicData>
        </a:graphic>
      </p:graphicFrame>
      <p:sp>
        <p:nvSpPr>
          <p:cNvPr id="16426" name="Foliennummernplatzhalter 6">
            <a:extLst>
              <a:ext uri="{FF2B5EF4-FFF2-40B4-BE49-F238E27FC236}">
                <a16:creationId xmlns:a16="http://schemas.microsoft.com/office/drawing/2014/main" id="{1D8561C2-8015-AE5E-198B-228ECC37AB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83C213-9018-3143-A623-7F3600CDAC7B}" type="slidenum">
              <a:rPr lang="de-DE" altLang="zh-CN">
                <a:solidFill>
                  <a:srgbClr val="394073"/>
                </a:solidFill>
              </a:rPr>
              <a:pPr/>
              <a:t>11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6427" name="Fußzeilenplatzhalter 7">
            <a:extLst>
              <a:ext uri="{FF2B5EF4-FFF2-40B4-BE49-F238E27FC236}">
                <a16:creationId xmlns:a16="http://schemas.microsoft.com/office/drawing/2014/main" id="{21B7847B-A07F-D55A-FDC6-5EDF7C63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DFA332AE-41A8-8F91-8DAC-C1B5C644E4D3}"/>
              </a:ext>
            </a:extLst>
          </p:cNvPr>
          <p:cNvSpPr txBox="1">
            <a:spLocks/>
          </p:cNvSpPr>
          <p:nvPr/>
        </p:nvSpPr>
        <p:spPr bwMode="auto">
          <a:xfrm>
            <a:off x="500063" y="5408613"/>
            <a:ext cx="86439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  <a:defRPr/>
            </a:pPr>
            <a:r>
              <a:rPr lang="de-DE" kern="0" dirty="0">
                <a:latin typeface="+mn-lt"/>
              </a:rPr>
              <a:t>In order </a:t>
            </a:r>
            <a:r>
              <a:rPr lang="de-DE" kern="0" dirty="0" err="1">
                <a:latin typeface="+mn-lt"/>
              </a:rPr>
              <a:t>to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prevent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attacks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that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compute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the</a:t>
            </a:r>
            <a:r>
              <a:rPr lang="de-DE" kern="0" dirty="0">
                <a:latin typeface="+mn-lt"/>
              </a:rPr>
              <a:t> DLP, </a:t>
            </a:r>
            <a:r>
              <a:rPr lang="de-DE" kern="0" dirty="0" err="1">
                <a:latin typeface="+mn-lt"/>
              </a:rPr>
              <a:t>it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is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recommended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to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use</a:t>
            </a:r>
            <a:r>
              <a:rPr lang="de-DE" kern="0" dirty="0">
                <a:latin typeface="+mn-lt"/>
              </a:rPr>
              <a:t> primes </a:t>
            </a:r>
            <a:r>
              <a:rPr lang="de-DE" kern="0" dirty="0" err="1">
                <a:latin typeface="+mn-lt"/>
              </a:rPr>
              <a:t>with</a:t>
            </a:r>
            <a:r>
              <a:rPr lang="de-DE" kern="0" dirty="0">
                <a:latin typeface="+mn-lt"/>
              </a:rPr>
              <a:t> a </a:t>
            </a:r>
            <a:r>
              <a:rPr lang="de-DE" kern="0" dirty="0" err="1">
                <a:latin typeface="+mn-lt"/>
              </a:rPr>
              <a:t>length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of</a:t>
            </a:r>
            <a:r>
              <a:rPr lang="de-DE" kern="0" dirty="0">
                <a:latin typeface="+mn-lt"/>
              </a:rPr>
              <a:t> at least 2048 </a:t>
            </a:r>
            <a:r>
              <a:rPr lang="de-DE" kern="0" dirty="0" err="1">
                <a:latin typeface="+mn-lt"/>
              </a:rPr>
              <a:t>bits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for</a:t>
            </a:r>
            <a:r>
              <a:rPr lang="de-DE" kern="0" dirty="0">
                <a:latin typeface="+mn-lt"/>
              </a:rPr>
              <a:t> </a:t>
            </a:r>
            <a:r>
              <a:rPr lang="de-DE" kern="0" dirty="0" err="1">
                <a:latin typeface="+mn-lt"/>
              </a:rPr>
              <a:t>schemes</a:t>
            </a:r>
            <a:r>
              <a:rPr lang="de-DE" kern="0" dirty="0">
                <a:latin typeface="+mn-lt"/>
              </a:rPr>
              <a:t> such </a:t>
            </a:r>
            <a:r>
              <a:rPr lang="de-DE" kern="0" dirty="0" err="1">
                <a:latin typeface="+mn-lt"/>
              </a:rPr>
              <a:t>as</a:t>
            </a:r>
            <a:r>
              <a:rPr lang="de-DE" kern="0" dirty="0">
                <a:latin typeface="+mn-lt"/>
              </a:rPr>
              <a:t> Diffie-Hellman in </a:t>
            </a:r>
            <a:r>
              <a:rPr lang="de-DE" kern="0" dirty="0" err="1">
                <a:latin typeface="+mn-lt"/>
              </a:rPr>
              <a:t>Z</a:t>
            </a:r>
            <a:r>
              <a:rPr lang="de-DE" i="1" kern="0" baseline="-25000" dirty="0" err="1">
                <a:latin typeface="+mn-lt"/>
              </a:rPr>
              <a:t>p</a:t>
            </a:r>
            <a:r>
              <a:rPr lang="de-DE" i="1" kern="0" dirty="0">
                <a:latin typeface="+mn-lt"/>
              </a:rPr>
              <a:t>*</a:t>
            </a: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  <a:defRPr/>
            </a:pPr>
            <a:endParaRPr lang="de-DE" i="1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  <a:defRPr/>
            </a:pPr>
            <a:endParaRPr lang="de-DE" kern="0" dirty="0">
              <a:latin typeface="+mn-lt"/>
            </a:endParaRPr>
          </a:p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Wingdings" pitchFamily="2" charset="2"/>
              <a:buNone/>
              <a:defRPr/>
            </a:pPr>
            <a:endParaRPr lang="de-DE" kern="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4F60A30-4F0F-D85F-AD74-26C579260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857250"/>
            <a:ext cx="8215312" cy="5608638"/>
          </a:xfrm>
        </p:spPr>
        <p:txBody>
          <a:bodyPr/>
          <a:lstStyle/>
          <a:p>
            <a:r>
              <a:rPr lang="de-DE" altLang="zh-CN" dirty="0" err="1"/>
              <a:t>Which</a:t>
            </a:r>
            <a:r>
              <a:rPr lang="de-DE" altLang="zh-CN" dirty="0"/>
              <a:t> </a:t>
            </a:r>
            <a:r>
              <a:rPr lang="de-DE" altLang="zh-CN" dirty="0" err="1"/>
              <a:t>information</a:t>
            </a:r>
            <a:r>
              <a:rPr lang="de-DE" altLang="zh-CN" dirty="0"/>
              <a:t> </a:t>
            </a:r>
            <a:r>
              <a:rPr lang="de-DE" altLang="zh-CN" dirty="0" err="1"/>
              <a:t>does</a:t>
            </a:r>
            <a:r>
              <a:rPr lang="de-DE" altLang="zh-CN" dirty="0"/>
              <a:t> Oscar </a:t>
            </a:r>
            <a:r>
              <a:rPr lang="de-DE" altLang="zh-CN" dirty="0" err="1"/>
              <a:t>have</a:t>
            </a:r>
            <a:r>
              <a:rPr lang="de-DE" altLang="zh-CN" dirty="0"/>
              <a:t>?</a:t>
            </a:r>
          </a:p>
          <a:p>
            <a:pPr lvl="1"/>
            <a:r>
              <a:rPr lang="de-DE" altLang="zh-CN" sz="1800" i="1" dirty="0"/>
              <a:t>α</a:t>
            </a:r>
            <a:r>
              <a:rPr lang="de-DE" altLang="zh-CN" sz="1800" dirty="0"/>
              <a:t>, </a:t>
            </a:r>
            <a:r>
              <a:rPr lang="de-DE" altLang="zh-CN" sz="1800" i="1" dirty="0"/>
              <a:t>p</a:t>
            </a:r>
          </a:p>
          <a:p>
            <a:pPr lvl="1"/>
            <a:r>
              <a:rPr lang="de-DE" altLang="zh-CN" sz="1800" i="1" dirty="0" err="1"/>
              <a:t>k</a:t>
            </a:r>
            <a:r>
              <a:rPr lang="de-DE" altLang="zh-CN" sz="1800" i="1" baseline="-25000" dirty="0" err="1"/>
              <a:t>pubA</a:t>
            </a:r>
            <a:r>
              <a:rPr lang="de-DE" altLang="zh-CN" sz="1800" i="1" baseline="-25000" dirty="0"/>
              <a:t> </a:t>
            </a:r>
            <a:r>
              <a:rPr lang="de-DE" altLang="zh-CN" sz="1800" i="1" dirty="0"/>
              <a:t>= A = α</a:t>
            </a:r>
            <a:r>
              <a:rPr lang="de-DE" altLang="zh-CN" sz="1800" i="1" baseline="30000" dirty="0"/>
              <a:t>a</a:t>
            </a:r>
            <a:r>
              <a:rPr lang="de-DE" altLang="zh-CN" sz="1800" dirty="0"/>
              <a:t> </a:t>
            </a:r>
            <a:r>
              <a:rPr lang="de-DE" altLang="zh-CN" sz="1800" dirty="0" err="1"/>
              <a:t>mod</a:t>
            </a:r>
            <a:r>
              <a:rPr lang="de-DE" altLang="zh-CN" sz="1800" dirty="0"/>
              <a:t> </a:t>
            </a:r>
            <a:r>
              <a:rPr lang="de-DE" altLang="zh-CN" sz="1800" i="1" dirty="0"/>
              <a:t>p</a:t>
            </a:r>
          </a:p>
          <a:p>
            <a:pPr lvl="1"/>
            <a:r>
              <a:rPr lang="de-DE" altLang="zh-CN" sz="1800" i="1" dirty="0" err="1"/>
              <a:t>k</a:t>
            </a:r>
            <a:r>
              <a:rPr lang="de-DE" altLang="zh-CN" sz="1800" i="1" baseline="-25000" dirty="0" err="1"/>
              <a:t>pubB</a:t>
            </a:r>
            <a:r>
              <a:rPr lang="de-DE" altLang="zh-CN" sz="1800" i="1" baseline="-25000" dirty="0"/>
              <a:t> </a:t>
            </a:r>
            <a:r>
              <a:rPr lang="de-DE" altLang="zh-CN" sz="1800" i="1" dirty="0"/>
              <a:t>= B = α</a:t>
            </a:r>
            <a:r>
              <a:rPr lang="de-DE" altLang="zh-CN" sz="1800" i="1" baseline="30000" dirty="0"/>
              <a:t>b</a:t>
            </a:r>
            <a:r>
              <a:rPr lang="de-DE" altLang="zh-CN" sz="1800" dirty="0"/>
              <a:t> </a:t>
            </a:r>
            <a:r>
              <a:rPr lang="de-DE" altLang="zh-CN" sz="1800" dirty="0" err="1"/>
              <a:t>mod</a:t>
            </a:r>
            <a:r>
              <a:rPr lang="de-DE" altLang="zh-CN" sz="1800" dirty="0"/>
              <a:t> </a:t>
            </a:r>
            <a:r>
              <a:rPr lang="de-DE" altLang="zh-CN" sz="1800" i="1" dirty="0"/>
              <a:t>p</a:t>
            </a:r>
            <a:endParaRPr lang="de-DE" altLang="zh-CN" sz="1800" dirty="0"/>
          </a:p>
          <a:p>
            <a:r>
              <a:rPr lang="de-DE" altLang="zh-CN" dirty="0" err="1"/>
              <a:t>Which</a:t>
            </a:r>
            <a:r>
              <a:rPr lang="de-DE" altLang="zh-CN" dirty="0"/>
              <a:t> </a:t>
            </a:r>
            <a:r>
              <a:rPr lang="de-DE" altLang="zh-CN" dirty="0" err="1"/>
              <a:t>information</a:t>
            </a:r>
            <a:r>
              <a:rPr lang="de-DE" altLang="zh-CN" dirty="0"/>
              <a:t> </a:t>
            </a:r>
            <a:r>
              <a:rPr lang="de-DE" altLang="zh-CN" dirty="0" err="1"/>
              <a:t>does</a:t>
            </a:r>
            <a:r>
              <a:rPr lang="de-DE" altLang="zh-CN" dirty="0"/>
              <a:t> Oscar </a:t>
            </a:r>
            <a:r>
              <a:rPr lang="de-DE" altLang="zh-CN" dirty="0" err="1"/>
              <a:t>want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have</a:t>
            </a:r>
            <a:r>
              <a:rPr lang="de-DE" altLang="zh-CN" dirty="0"/>
              <a:t>?</a:t>
            </a:r>
          </a:p>
          <a:p>
            <a:pPr lvl="1"/>
            <a:r>
              <a:rPr lang="de-DE" altLang="zh-CN" sz="1800" i="1" dirty="0" err="1"/>
              <a:t>k</a:t>
            </a:r>
            <a:r>
              <a:rPr lang="de-DE" altLang="zh-CN" sz="1800" i="1" baseline="-25000" dirty="0" err="1"/>
              <a:t>AB</a:t>
            </a:r>
            <a:r>
              <a:rPr lang="de-DE" altLang="zh-CN" sz="1800" i="1" baseline="-25000" dirty="0"/>
              <a:t> </a:t>
            </a:r>
            <a:r>
              <a:rPr lang="de-DE" altLang="zh-CN" sz="1800" i="1" dirty="0"/>
              <a:t>= α</a:t>
            </a:r>
            <a:r>
              <a:rPr lang="de-DE" altLang="zh-CN" sz="1800" i="1" baseline="30000" dirty="0" err="1"/>
              <a:t>ba</a:t>
            </a:r>
            <a:r>
              <a:rPr lang="de-DE" altLang="zh-CN" sz="1800" dirty="0"/>
              <a:t> =</a:t>
            </a:r>
            <a:r>
              <a:rPr lang="de-DE" altLang="zh-CN" sz="1800" i="1" dirty="0"/>
              <a:t> α</a:t>
            </a:r>
            <a:r>
              <a:rPr lang="de-DE" altLang="zh-CN" sz="1800" i="1" baseline="30000" dirty="0"/>
              <a:t>ab</a:t>
            </a:r>
            <a:r>
              <a:rPr lang="de-DE" altLang="zh-CN" sz="1800" dirty="0"/>
              <a:t> = </a:t>
            </a:r>
            <a:r>
              <a:rPr lang="de-DE" altLang="zh-CN" sz="1800" dirty="0" err="1"/>
              <a:t>mod</a:t>
            </a:r>
            <a:r>
              <a:rPr lang="de-DE" altLang="zh-CN" sz="1800" dirty="0"/>
              <a:t> </a:t>
            </a:r>
            <a:r>
              <a:rPr lang="de-DE" altLang="zh-CN" sz="1800" i="1" dirty="0"/>
              <a:t>p</a:t>
            </a:r>
          </a:p>
          <a:p>
            <a:pPr lvl="1"/>
            <a:r>
              <a:rPr lang="de-DE" altLang="zh-CN" sz="1800" dirty="0"/>
              <a:t>This </a:t>
            </a:r>
            <a:r>
              <a:rPr lang="de-DE" altLang="zh-CN" sz="1800" dirty="0" err="1"/>
              <a:t>is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kown</a:t>
            </a:r>
            <a:r>
              <a:rPr lang="de-DE" altLang="zh-CN" sz="1800" dirty="0"/>
              <a:t> </a:t>
            </a:r>
            <a:r>
              <a:rPr lang="de-DE" altLang="zh-CN" sz="1800" dirty="0" err="1"/>
              <a:t>as</a:t>
            </a:r>
            <a:r>
              <a:rPr lang="de-DE" altLang="zh-CN" sz="1800" dirty="0"/>
              <a:t> </a:t>
            </a:r>
            <a:r>
              <a:rPr lang="de-DE" altLang="zh-CN" sz="1800" dirty="0">
                <a:solidFill>
                  <a:srgbClr val="FF0000"/>
                </a:solidFill>
              </a:rPr>
              <a:t>Diffie-Hellman Problem (DHP)</a:t>
            </a:r>
          </a:p>
          <a:p>
            <a:r>
              <a:rPr lang="de-DE" altLang="zh-CN" dirty="0"/>
              <a:t>The </a:t>
            </a:r>
            <a:r>
              <a:rPr lang="de-DE" altLang="zh-CN" dirty="0" err="1"/>
              <a:t>only</a:t>
            </a:r>
            <a:r>
              <a:rPr lang="de-DE" altLang="zh-CN" dirty="0"/>
              <a:t> </a:t>
            </a:r>
            <a:r>
              <a:rPr lang="de-DE" altLang="zh-CN" dirty="0" err="1"/>
              <a:t>known</a:t>
            </a:r>
            <a:r>
              <a:rPr lang="de-DE" altLang="zh-CN" dirty="0"/>
              <a:t> </a:t>
            </a:r>
            <a:r>
              <a:rPr lang="de-DE" altLang="zh-CN" dirty="0" err="1"/>
              <a:t>way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solve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DHP </a:t>
            </a:r>
            <a:r>
              <a:rPr lang="de-DE" altLang="zh-CN" dirty="0" err="1"/>
              <a:t>is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solve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DLP, i.e.</a:t>
            </a:r>
          </a:p>
          <a:p>
            <a:pPr lvl="1">
              <a:buFontTx/>
              <a:buAutoNum type="arabicPeriod"/>
            </a:pPr>
            <a:r>
              <a:rPr lang="de-DE" altLang="zh-CN" sz="1800" dirty="0" err="1"/>
              <a:t>Compute</a:t>
            </a:r>
            <a:r>
              <a:rPr lang="de-DE" altLang="zh-CN" sz="1800" dirty="0"/>
              <a:t> </a:t>
            </a:r>
            <a:r>
              <a:rPr lang="de-DE" altLang="zh-CN" sz="1800" i="1" dirty="0"/>
              <a:t>a = log</a:t>
            </a:r>
            <a:r>
              <a:rPr lang="de-DE" altLang="zh-CN" sz="1800" i="1" baseline="-25000" dirty="0"/>
              <a:t>α </a:t>
            </a:r>
            <a:r>
              <a:rPr lang="de-DE" altLang="zh-CN" sz="1800" i="1" dirty="0"/>
              <a:t>A</a:t>
            </a:r>
            <a:r>
              <a:rPr lang="de-DE" altLang="zh-CN" sz="1800" dirty="0"/>
              <a:t> </a:t>
            </a:r>
            <a:r>
              <a:rPr lang="de-DE" altLang="zh-CN" sz="1800" dirty="0" err="1"/>
              <a:t>mod</a:t>
            </a:r>
            <a:r>
              <a:rPr lang="de-DE" altLang="zh-CN" sz="1800" dirty="0"/>
              <a:t> </a:t>
            </a:r>
            <a:r>
              <a:rPr lang="de-DE" altLang="zh-CN" sz="1800" i="1" dirty="0"/>
              <a:t>p</a:t>
            </a:r>
          </a:p>
          <a:p>
            <a:pPr lvl="1">
              <a:buFontTx/>
              <a:buAutoNum type="arabicPeriod"/>
            </a:pPr>
            <a:r>
              <a:rPr lang="de-DE" altLang="zh-CN" sz="1800" i="1" dirty="0" err="1"/>
              <a:t>Compute</a:t>
            </a:r>
            <a:r>
              <a:rPr lang="de-DE" altLang="zh-CN" sz="1800" i="1" dirty="0"/>
              <a:t> </a:t>
            </a:r>
            <a:r>
              <a:rPr lang="de-DE" altLang="zh-CN" sz="1800" i="1" dirty="0" err="1"/>
              <a:t>k</a:t>
            </a:r>
            <a:r>
              <a:rPr lang="de-DE" altLang="zh-CN" sz="1800" i="1" baseline="-25000" dirty="0" err="1"/>
              <a:t>AB</a:t>
            </a:r>
            <a:r>
              <a:rPr lang="de-DE" altLang="zh-CN" sz="1800" i="1" baseline="-25000" dirty="0"/>
              <a:t> </a:t>
            </a:r>
            <a:r>
              <a:rPr lang="de-DE" altLang="zh-CN" sz="1800" i="1" dirty="0"/>
              <a:t>= B</a:t>
            </a:r>
            <a:r>
              <a:rPr lang="de-DE" altLang="zh-CN" sz="1800" i="1" baseline="30000" dirty="0"/>
              <a:t>a</a:t>
            </a:r>
            <a:r>
              <a:rPr lang="de-DE" altLang="zh-CN" sz="1800" i="1" dirty="0"/>
              <a:t> </a:t>
            </a:r>
            <a:r>
              <a:rPr lang="de-DE" altLang="zh-CN" sz="1800" dirty="0"/>
              <a:t>=</a:t>
            </a:r>
            <a:r>
              <a:rPr lang="de-DE" altLang="zh-CN" sz="1800" i="1" dirty="0"/>
              <a:t> α</a:t>
            </a:r>
            <a:r>
              <a:rPr lang="de-DE" altLang="zh-CN" sz="1800" i="1" baseline="30000" dirty="0" err="1"/>
              <a:t>ba</a:t>
            </a:r>
            <a:r>
              <a:rPr lang="de-DE" altLang="zh-CN" sz="1800" dirty="0"/>
              <a:t> = </a:t>
            </a:r>
            <a:r>
              <a:rPr lang="de-DE" altLang="zh-CN" sz="1800" dirty="0" err="1"/>
              <a:t>mod</a:t>
            </a:r>
            <a:r>
              <a:rPr lang="de-DE" altLang="zh-CN" sz="1800" dirty="0"/>
              <a:t> </a:t>
            </a:r>
            <a:r>
              <a:rPr lang="de-DE" altLang="zh-CN" sz="1800" i="1" dirty="0"/>
              <a:t>p</a:t>
            </a:r>
          </a:p>
          <a:p>
            <a:pPr lvl="1">
              <a:buFontTx/>
              <a:buNone/>
            </a:pPr>
            <a:r>
              <a:rPr lang="de-DE" altLang="zh-CN" sz="1800" dirty="0" err="1"/>
              <a:t>It</a:t>
            </a:r>
            <a:r>
              <a:rPr lang="de-DE" altLang="zh-CN" sz="1800" dirty="0"/>
              <a:t> </a:t>
            </a:r>
            <a:r>
              <a:rPr lang="de-DE" altLang="zh-CN" sz="1800" dirty="0" err="1"/>
              <a:t>is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conjectured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that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DHP and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DLP </a:t>
            </a:r>
            <a:r>
              <a:rPr lang="de-DE" altLang="zh-CN" sz="1800" dirty="0" err="1"/>
              <a:t>are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equivalent</a:t>
            </a:r>
            <a:r>
              <a:rPr lang="de-DE" altLang="zh-CN" sz="1800" dirty="0"/>
              <a:t>, i.e., </a:t>
            </a:r>
            <a:r>
              <a:rPr lang="de-DE" altLang="zh-CN" sz="1800" dirty="0" err="1"/>
              <a:t>solving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DHP </a:t>
            </a:r>
            <a:r>
              <a:rPr lang="de-DE" altLang="zh-CN" sz="1800" dirty="0" err="1"/>
              <a:t>implies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solving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DLP.</a:t>
            </a:r>
            <a:endParaRPr lang="de-DE" altLang="zh-CN" dirty="0"/>
          </a:p>
          <a:p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prevent</a:t>
            </a:r>
            <a:r>
              <a:rPr lang="de-DE" altLang="zh-CN" dirty="0"/>
              <a:t> </a:t>
            </a:r>
            <a:r>
              <a:rPr lang="de-DE" altLang="zh-CN" dirty="0" err="1"/>
              <a:t>attacks</a:t>
            </a:r>
            <a:r>
              <a:rPr lang="de-DE" altLang="zh-CN" dirty="0"/>
              <a:t>, i.e.,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prevent</a:t>
            </a:r>
            <a:r>
              <a:rPr lang="de-DE" altLang="zh-CN" dirty="0"/>
              <a:t> </a:t>
            </a:r>
            <a:r>
              <a:rPr lang="de-DE" altLang="zh-CN" dirty="0" err="1"/>
              <a:t>that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DLP </a:t>
            </a:r>
            <a:r>
              <a:rPr lang="de-DE" altLang="zh-CN" dirty="0" err="1"/>
              <a:t>can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solved</a:t>
            </a:r>
            <a:r>
              <a:rPr lang="de-DE" altLang="zh-CN" dirty="0"/>
              <a:t>, </a:t>
            </a:r>
            <a:r>
              <a:rPr lang="de-DE" altLang="zh-CN" dirty="0" err="1"/>
              <a:t>choose</a:t>
            </a:r>
            <a:br>
              <a:rPr lang="de-DE" altLang="zh-CN" dirty="0"/>
            </a:br>
            <a:r>
              <a:rPr lang="de-DE" altLang="zh-CN" dirty="0"/>
              <a:t> </a:t>
            </a:r>
            <a:r>
              <a:rPr lang="de-DE" altLang="zh-CN" i="1" dirty="0"/>
              <a:t>p </a:t>
            </a:r>
            <a:r>
              <a:rPr lang="de-DE" altLang="zh-CN" i="1" dirty="0">
                <a:sym typeface="Symbol" pitchFamily="2" charset="2"/>
              </a:rPr>
              <a:t>&gt;</a:t>
            </a:r>
            <a:r>
              <a:rPr lang="de-DE" altLang="zh-CN" i="1" dirty="0"/>
              <a:t> 2</a:t>
            </a:r>
            <a:r>
              <a:rPr lang="de-DE" altLang="zh-CN" i="1" baseline="30000" dirty="0"/>
              <a:t>2048</a:t>
            </a:r>
          </a:p>
        </p:txBody>
      </p:sp>
      <p:sp>
        <p:nvSpPr>
          <p:cNvPr id="17411" name="Rectangle 6">
            <a:extLst>
              <a:ext uri="{FF2B5EF4-FFF2-40B4-BE49-F238E27FC236}">
                <a16:creationId xmlns:a16="http://schemas.microsoft.com/office/drawing/2014/main" id="{C68BAC45-A73D-29D2-594F-2AE0E90B7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Security of the classical Diffie–Hellman Key Exchange </a:t>
            </a:r>
          </a:p>
        </p:txBody>
      </p:sp>
      <p:sp>
        <p:nvSpPr>
          <p:cNvPr id="17412" name="Foliennummernplatzhalter 5">
            <a:extLst>
              <a:ext uri="{FF2B5EF4-FFF2-40B4-BE49-F238E27FC236}">
                <a16:creationId xmlns:a16="http://schemas.microsoft.com/office/drawing/2014/main" id="{61C4ABF9-525D-02F9-9120-EB6C66CF1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94AD0-29E4-6643-A9D3-AEB6F0A0BAB8}" type="slidenum">
              <a:rPr lang="de-DE" altLang="zh-CN">
                <a:solidFill>
                  <a:srgbClr val="394073"/>
                </a:solidFill>
              </a:rPr>
              <a:pPr/>
              <a:t>12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7413" name="Fußzeilenplatzhalter 6">
            <a:extLst>
              <a:ext uri="{FF2B5EF4-FFF2-40B4-BE49-F238E27FC236}">
                <a16:creationId xmlns:a16="http://schemas.microsoft.com/office/drawing/2014/main" id="{842B1B82-93F9-0A8E-AF30-9295E2C2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E557-47E9-72B0-440F-387A62C6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>
            <a:extLst>
              <a:ext uri="{FF2B5EF4-FFF2-40B4-BE49-F238E27FC236}">
                <a16:creationId xmlns:a16="http://schemas.microsoft.com/office/drawing/2014/main" id="{D9027A26-0526-3C63-58F5-EE2D5E102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Bit lengths of public-key algorithms for different security levels</a:t>
            </a:r>
            <a:r>
              <a:rPr lang="de-DE" altLang="zh-CN" dirty="0"/>
              <a:t> </a:t>
            </a:r>
          </a:p>
        </p:txBody>
      </p:sp>
      <p:sp>
        <p:nvSpPr>
          <p:cNvPr id="17412" name="Foliennummernplatzhalter 5">
            <a:extLst>
              <a:ext uri="{FF2B5EF4-FFF2-40B4-BE49-F238E27FC236}">
                <a16:creationId xmlns:a16="http://schemas.microsoft.com/office/drawing/2014/main" id="{C318F577-C972-6B68-2AE6-E07D6DA70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94AD0-29E4-6643-A9D3-AEB6F0A0BAB8}" type="slidenum">
              <a:rPr lang="de-DE" altLang="zh-CN">
                <a:solidFill>
                  <a:srgbClr val="394073"/>
                </a:solidFill>
              </a:rPr>
              <a:pPr/>
              <a:t>13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7413" name="Fußzeilenplatzhalter 6">
            <a:extLst>
              <a:ext uri="{FF2B5EF4-FFF2-40B4-BE49-F238E27FC236}">
                <a16:creationId xmlns:a16="http://schemas.microsoft.com/office/drawing/2014/main" id="{F0988B56-8AE7-2527-7064-C713C807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744BB4-F06B-6C94-9B50-A556361E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05" y="1412776"/>
            <a:ext cx="855699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12929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Inhaltsplatzhalter 1">
            <a:extLst>
              <a:ext uri="{FF2B5EF4-FFF2-40B4-BE49-F238E27FC236}">
                <a16:creationId xmlns:a16="http://schemas.microsoft.com/office/drawing/2014/main" id="{D89C8008-C9BE-5767-42A5-FBE5D3235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1524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Proposed by Taher </a:t>
            </a:r>
            <a:r>
              <a:rPr lang="en-US" altLang="zh-CN" dirty="0" err="1">
                <a:ea typeface="宋体" panose="02010600030101010101" pitchFamily="2" charset="-122"/>
              </a:rPr>
              <a:t>Elgamal</a:t>
            </a:r>
            <a:r>
              <a:rPr lang="en-US" altLang="zh-CN" dirty="0">
                <a:ea typeface="宋体" panose="02010600030101010101" pitchFamily="2" charset="-122"/>
              </a:rPr>
              <a:t> in 1985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Can be viewed as an extension of the </a:t>
            </a:r>
            <a:r>
              <a:rPr lang="de-DE" altLang="zh-CN" dirty="0"/>
              <a:t>DHKE </a:t>
            </a:r>
            <a:r>
              <a:rPr lang="de-DE" altLang="zh-CN" dirty="0" err="1"/>
              <a:t>protocol</a:t>
            </a:r>
            <a:endParaRPr lang="de-DE" altLang="zh-CN" dirty="0"/>
          </a:p>
          <a:p>
            <a:r>
              <a:rPr lang="en-US" altLang="zh-CN" dirty="0">
                <a:ea typeface="宋体" panose="02010600030101010101" pitchFamily="2" charset="-122"/>
              </a:rPr>
              <a:t>Based on the intractability of the discrete logarithm problem and the Diffie–Hellman problem</a:t>
            </a:r>
            <a:endParaRPr lang="de-DE" altLang="zh-CN" dirty="0"/>
          </a:p>
        </p:txBody>
      </p:sp>
      <p:sp>
        <p:nvSpPr>
          <p:cNvPr id="18435" name="Titel 4">
            <a:extLst>
              <a:ext uri="{FF2B5EF4-FFF2-40B4-BE49-F238E27FC236}">
                <a16:creationId xmlns:a16="http://schemas.microsoft.com/office/drawing/2014/main" id="{544C9542-9716-B748-28E1-7795552E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Elgamal Encryption Scheme: Overview</a:t>
            </a:r>
          </a:p>
        </p:txBody>
      </p:sp>
      <p:sp>
        <p:nvSpPr>
          <p:cNvPr id="18436" name="Foliennummernplatzhalter 5">
            <a:extLst>
              <a:ext uri="{FF2B5EF4-FFF2-40B4-BE49-F238E27FC236}">
                <a16:creationId xmlns:a16="http://schemas.microsoft.com/office/drawing/2014/main" id="{81507DF4-7B32-F5D4-568F-1589D04DA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4F10BA-3F4B-F746-AD4A-8A7E38A42D28}" type="slidenum">
              <a:rPr lang="de-DE" altLang="zh-CN">
                <a:solidFill>
                  <a:srgbClr val="394073"/>
                </a:solidFill>
              </a:rPr>
              <a:pPr/>
              <a:t>14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8437" name="Fußzeilenplatzhalter 6">
            <a:extLst>
              <a:ext uri="{FF2B5EF4-FFF2-40B4-BE49-F238E27FC236}">
                <a16:creationId xmlns:a16="http://schemas.microsoft.com/office/drawing/2014/main" id="{070A9680-DD1D-C789-FB38-70AB98DA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4">
            <a:extLst>
              <a:ext uri="{FF2B5EF4-FFF2-40B4-BE49-F238E27FC236}">
                <a16:creationId xmlns:a16="http://schemas.microsoft.com/office/drawing/2014/main" id="{D813DA58-C6B2-97A8-A4EE-CDD18AA1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Elgamal Encryption Scheme: Principle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055DF3-40CE-414D-B4FE-3798CAE9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944563"/>
            <a:ext cx="428625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2400" kern="0">
                <a:solidFill>
                  <a:schemeClr val="tx2"/>
                </a:solidFill>
                <a:latin typeface="+mn-lt"/>
              </a:rPr>
              <a:t>Alice</a:t>
            </a:r>
            <a:endParaRPr lang="de-DE" sz="2400" kern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D7EEA2C-E13F-7715-D28E-E951E7641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928688"/>
            <a:ext cx="4429125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2400" kern="0">
                <a:solidFill>
                  <a:schemeClr val="tx2"/>
                </a:solidFill>
                <a:latin typeface="+mn-lt"/>
              </a:rPr>
              <a:t>Bob</a:t>
            </a:r>
            <a:endParaRPr lang="de-DE" sz="2400" kern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9369F39F-7929-822D-501E-E408A7EC8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186113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8A6F8EDF-455A-DDEC-233E-6D2C35EF2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492625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82C5590F-EAD3-733A-47B1-9BC9E3D87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504950"/>
            <a:ext cx="331311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</a:t>
            </a:r>
            <a:r>
              <a:rPr lang="de-DE" altLang="zh-CN" sz="1600" i="1"/>
              <a:t>d</a:t>
            </a:r>
            <a:r>
              <a:rPr lang="de-DE" altLang="zh-CN" sz="1600"/>
              <a:t>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prB</a:t>
            </a:r>
            <a:r>
              <a:rPr lang="de-DE" altLang="zh-CN" sz="1600" i="1"/>
              <a:t>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 {2,…,</a:t>
            </a:r>
            <a:r>
              <a:rPr lang="de-DE" altLang="zh-CN" sz="1600" i="1"/>
              <a:t>p</a:t>
            </a:r>
            <a:r>
              <a:rPr lang="de-DE" altLang="zh-CN" sz="1600"/>
              <a:t>-2}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compute </a:t>
            </a:r>
            <a:r>
              <a:rPr lang="el-GR" altLang="zh-CN" sz="1600" i="1"/>
              <a:t>β</a:t>
            </a:r>
            <a:r>
              <a:rPr lang="de-DE" altLang="zh-CN" sz="1600"/>
              <a:t>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pubB</a:t>
            </a:r>
            <a:r>
              <a:rPr lang="de-DE" altLang="zh-CN" sz="1600" i="1"/>
              <a:t>= α</a:t>
            </a:r>
            <a:r>
              <a:rPr lang="de-DE" altLang="zh-CN" sz="1600" i="1" baseline="30000"/>
              <a:t>d</a:t>
            </a:r>
            <a:r>
              <a:rPr lang="de-DE" altLang="zh-CN" sz="1600"/>
              <a:t> mod </a:t>
            </a:r>
            <a:r>
              <a:rPr lang="de-DE" altLang="zh-CN" sz="1600" i="1"/>
              <a:t>p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842A3175-23EE-D41A-D140-B59957C83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84425"/>
            <a:ext cx="324961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 dirty="0" err="1"/>
              <a:t>choose</a:t>
            </a:r>
            <a:r>
              <a:rPr lang="de-DE" altLang="zh-CN" sz="1600" dirty="0"/>
              <a:t> </a:t>
            </a:r>
            <a:r>
              <a:rPr lang="de-DE" altLang="zh-CN" sz="1600" i="1" dirty="0"/>
              <a:t>i</a:t>
            </a:r>
            <a:r>
              <a:rPr lang="de-DE" altLang="zh-CN" sz="1600" dirty="0"/>
              <a:t> = </a:t>
            </a: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prA</a:t>
            </a:r>
            <a:r>
              <a:rPr lang="de-DE" altLang="zh-CN" sz="1600" i="1" dirty="0"/>
              <a:t> </a:t>
            </a:r>
            <a:r>
              <a:rPr lang="en-US" altLang="zh-CN" sz="1600" dirty="0">
                <a:ea typeface="宋体" panose="02010600030101010101" pitchFamily="2" charset="-122"/>
              </a:rPr>
              <a:t>∈</a:t>
            </a:r>
            <a:r>
              <a:rPr lang="de-DE" altLang="zh-CN" sz="1600" dirty="0"/>
              <a:t> {2,…,</a:t>
            </a:r>
            <a:r>
              <a:rPr lang="de-DE" altLang="zh-CN" sz="1600" i="1" dirty="0"/>
              <a:t>p</a:t>
            </a:r>
            <a:r>
              <a:rPr lang="de-DE" altLang="zh-CN" sz="1600" dirty="0"/>
              <a:t>-2}</a:t>
            </a:r>
          </a:p>
          <a:p>
            <a:pPr>
              <a:spcBef>
                <a:spcPct val="50000"/>
              </a:spcBef>
            </a:pPr>
            <a:r>
              <a:rPr lang="de-DE" altLang="zh-CN" sz="1600" dirty="0" err="1"/>
              <a:t>compute</a:t>
            </a:r>
            <a:r>
              <a:rPr lang="de-DE" altLang="zh-CN" sz="1600" dirty="0"/>
              <a:t> </a:t>
            </a:r>
            <a:r>
              <a:rPr lang="de-DE" altLang="zh-CN" sz="1600" dirty="0" err="1"/>
              <a:t>ephemeral</a:t>
            </a:r>
            <a:r>
              <a:rPr lang="de-DE" altLang="zh-CN" sz="1600" dirty="0"/>
              <a:t> </a:t>
            </a:r>
            <a:r>
              <a:rPr lang="de-DE" altLang="zh-CN" sz="1600" dirty="0" err="1"/>
              <a:t>key</a:t>
            </a:r>
            <a:br>
              <a:rPr lang="de-DE" altLang="zh-CN" sz="1600" dirty="0"/>
            </a:br>
            <a:r>
              <a:rPr lang="de-DE" altLang="zh-CN" sz="1600" dirty="0"/>
              <a:t> </a:t>
            </a: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E</a:t>
            </a:r>
            <a:r>
              <a:rPr lang="de-DE" altLang="zh-CN" sz="1600" dirty="0"/>
              <a:t> = </a:t>
            </a:r>
            <a:r>
              <a:rPr lang="de-DE" altLang="zh-CN" sz="1600" i="1" dirty="0" err="1"/>
              <a:t>k</a:t>
            </a:r>
            <a:r>
              <a:rPr lang="de-DE" altLang="zh-CN" sz="1600" i="1" baseline="-25000" dirty="0" err="1"/>
              <a:t>pubA</a:t>
            </a:r>
            <a:r>
              <a:rPr lang="de-DE" altLang="zh-CN" sz="1600" i="1" dirty="0"/>
              <a:t>= α</a:t>
            </a:r>
            <a:r>
              <a:rPr lang="de-DE" altLang="zh-CN" sz="1600" i="1" baseline="30000" dirty="0"/>
              <a:t>i</a:t>
            </a:r>
            <a:r>
              <a:rPr lang="de-DE" altLang="zh-CN" sz="1600" dirty="0"/>
              <a:t> </a:t>
            </a:r>
            <a:r>
              <a:rPr lang="de-DE" altLang="zh-CN" sz="1600" dirty="0" err="1"/>
              <a:t>mod</a:t>
            </a:r>
            <a:r>
              <a:rPr lang="de-DE" altLang="zh-CN" sz="1600" dirty="0"/>
              <a:t> </a:t>
            </a:r>
            <a:r>
              <a:rPr lang="de-DE" altLang="zh-CN" sz="1600" i="1" dirty="0"/>
              <a:t>p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1304A032-22EE-B9D5-C6F8-0844618DA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3325813"/>
            <a:ext cx="30257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= k</a:t>
            </a:r>
            <a:r>
              <a:rPr lang="de-DE" altLang="zh-CN" sz="1600" i="1" baseline="-25000"/>
              <a:t>E</a:t>
            </a:r>
            <a:r>
              <a:rPr lang="de-DE" altLang="zh-CN" sz="1600" i="1" baseline="30000"/>
              <a:t>d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1B2676DF-6F84-947B-8BCC-ABB8C0ED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495675"/>
            <a:ext cx="3240088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= </a:t>
            </a:r>
            <a:r>
              <a:rPr lang="el-GR" altLang="zh-CN" sz="1600" i="1"/>
              <a:t>β</a:t>
            </a:r>
            <a:r>
              <a:rPr lang="de-DE" altLang="zh-CN" sz="1600" i="1" baseline="30000"/>
              <a:t>i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encrypt message </a:t>
            </a:r>
            <a:r>
              <a:rPr lang="de-DE" altLang="zh-CN" sz="1600" i="1"/>
              <a:t>x</a:t>
            </a:r>
            <a:r>
              <a:rPr lang="de-DE" altLang="zh-CN" sz="1600"/>
              <a:t> </a:t>
            </a:r>
            <a:r>
              <a:rPr lang="en-US" altLang="zh-CN" sz="1600">
                <a:ea typeface="宋体" panose="02010600030101010101" pitchFamily="2" charset="-122"/>
              </a:rPr>
              <a:t>∈ </a:t>
            </a:r>
            <a:r>
              <a:rPr lang="de-DE" altLang="zh-CN" sz="1600"/>
              <a:t>Z</a:t>
            </a:r>
            <a:r>
              <a:rPr lang="de-DE" altLang="zh-CN" sz="1600" i="1" baseline="-25000"/>
              <a:t>p</a:t>
            </a:r>
            <a:r>
              <a:rPr lang="de-DE" altLang="zh-CN" sz="1600" i="1"/>
              <a:t>*:</a:t>
            </a:r>
            <a:br>
              <a:rPr lang="de-DE" altLang="zh-CN" sz="1600" i="1"/>
            </a:br>
            <a:r>
              <a:rPr lang="de-DE" altLang="zh-CN" sz="1600" i="1"/>
              <a:t>y = x·k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19" name="Text Box 28">
            <a:extLst>
              <a:ext uri="{FF2B5EF4-FFF2-40B4-BE49-F238E27FC236}">
                <a16:creationId xmlns:a16="http://schemas.microsoft.com/office/drawing/2014/main" id="{3F5A61D1-BC71-3BF1-E07A-2B34128E2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513" y="2822575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k</a:t>
            </a:r>
            <a:r>
              <a:rPr lang="de-DE" altLang="zh-CN" sz="2000" i="1" baseline="-25000"/>
              <a:t>E</a:t>
            </a:r>
            <a:endParaRPr lang="de-DE" altLang="zh-CN" sz="2000" i="1"/>
          </a:p>
        </p:txBody>
      </p:sp>
      <p:sp>
        <p:nvSpPr>
          <p:cNvPr id="21" name="Text Box 30">
            <a:extLst>
              <a:ext uri="{FF2B5EF4-FFF2-40B4-BE49-F238E27FC236}">
                <a16:creationId xmlns:a16="http://schemas.microsoft.com/office/drawing/2014/main" id="{800B7E38-CECF-43A4-F603-E76FD76B7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4143375"/>
            <a:ext cx="180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y</a:t>
            </a:r>
          </a:p>
        </p:txBody>
      </p:sp>
      <p:sp>
        <p:nvSpPr>
          <p:cNvPr id="24" name="Line 13">
            <a:extLst>
              <a:ext uri="{FF2B5EF4-FFF2-40B4-BE49-F238E27FC236}">
                <a16:creationId xmlns:a16="http://schemas.microsoft.com/office/drawing/2014/main" id="{C641ACEA-192E-0FB0-3783-87CB7BDAD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7563" y="2214563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C9A6DC54-9E6B-84E5-BA8C-B3B784B57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038" y="1857375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l-GR" altLang="zh-CN" sz="2000" i="1"/>
              <a:t>β</a:t>
            </a:r>
            <a:endParaRPr lang="de-DE" altLang="zh-CN" sz="2000" i="1"/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EB7BF6F0-8A94-F4E5-0931-1B1CFA952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513" y="4567238"/>
            <a:ext cx="3240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decrypt </a:t>
            </a:r>
            <a:r>
              <a:rPr lang="de-DE" altLang="zh-CN" sz="1600" i="1"/>
              <a:t>x = y·k</a:t>
            </a:r>
            <a:r>
              <a:rPr lang="de-DE" altLang="zh-CN" sz="1600" i="1" baseline="-25000"/>
              <a:t>M</a:t>
            </a:r>
            <a:r>
              <a:rPr lang="de-DE" altLang="zh-CN" sz="1600" i="1" baseline="30000"/>
              <a:t>-1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19472" name="Foliennummernplatzhalter 17">
            <a:extLst>
              <a:ext uri="{FF2B5EF4-FFF2-40B4-BE49-F238E27FC236}">
                <a16:creationId xmlns:a16="http://schemas.microsoft.com/office/drawing/2014/main" id="{98C93410-B590-66E2-FD6D-C17EDC92B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C99EDE-398E-7C49-9A9D-6D1324581092}" type="slidenum">
              <a:rPr lang="de-DE" altLang="zh-CN">
                <a:solidFill>
                  <a:srgbClr val="394073"/>
                </a:solidFill>
              </a:rPr>
              <a:pPr/>
              <a:t>15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19473" name="Fußzeilenplatzhalter 19">
            <a:extLst>
              <a:ext uri="{FF2B5EF4-FFF2-40B4-BE49-F238E27FC236}">
                <a16:creationId xmlns:a16="http://schemas.microsoft.com/office/drawing/2014/main" id="{C442CB2B-D2DA-3500-FCB2-378710934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475AA7FF-BCB8-48C9-C8EF-35E89BDCF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357813"/>
            <a:ext cx="764381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de-DE" altLang="zh-CN"/>
              <a:t>This looks very similar to the DHKE! The actual Elgamal protocol re-orders the computations which helps to save one communication (cf. next slide)</a:t>
            </a:r>
            <a:endParaRPr lang="de-DE" altLang="zh-CN" i="1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9" grpId="0"/>
      <p:bldP spid="21" grpId="0"/>
      <p:bldP spid="25" grpId="0"/>
      <p:bldP spid="26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4">
            <a:extLst>
              <a:ext uri="{FF2B5EF4-FFF2-40B4-BE49-F238E27FC236}">
                <a16:creationId xmlns:a16="http://schemas.microsoft.com/office/drawing/2014/main" id="{456FFA3C-B43D-B5A9-FC69-E97BD044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The Elgamal Encryption Protocol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7C90D9-C9AB-0065-97B3-40B21F17A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944563"/>
            <a:ext cx="428625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2400" kern="0">
                <a:solidFill>
                  <a:schemeClr val="tx2"/>
                </a:solidFill>
                <a:latin typeface="+mn-lt"/>
              </a:rPr>
              <a:t>Alice</a:t>
            </a:r>
            <a:endParaRPr lang="de-DE" sz="2400" kern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14010F9-CC49-9C11-78A5-668856BB8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928688"/>
            <a:ext cx="4429125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de-DE" sz="2400" kern="0">
                <a:solidFill>
                  <a:schemeClr val="tx2"/>
                </a:solidFill>
                <a:latin typeface="+mn-lt"/>
              </a:rPr>
              <a:t>Bob</a:t>
            </a:r>
            <a:endParaRPr lang="de-DE" sz="2400" kern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5C87734-8351-F66A-C925-A461668A8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49813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ED37993C-21A8-5BB9-A435-A5D3B1187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1357313"/>
            <a:ext cx="331311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large prime </a:t>
            </a:r>
            <a:r>
              <a:rPr lang="de-DE" altLang="zh-CN" sz="1600" i="1"/>
              <a:t>p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choose primitive element  </a:t>
            </a:r>
            <a:r>
              <a:rPr lang="de-DE" altLang="zh-CN" sz="1600" i="1"/>
              <a:t>α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 Z</a:t>
            </a:r>
            <a:r>
              <a:rPr lang="de-DE" altLang="zh-CN" sz="1600" i="1" baseline="-25000"/>
              <a:t>p</a:t>
            </a:r>
            <a:r>
              <a:rPr lang="de-DE" altLang="zh-CN" sz="1600" i="1"/>
              <a:t>*</a:t>
            </a:r>
            <a:br>
              <a:rPr lang="de-DE" altLang="zh-CN" sz="1600" i="1"/>
            </a:br>
            <a:r>
              <a:rPr lang="de-DE" altLang="zh-CN" sz="1600" i="1"/>
              <a:t>  </a:t>
            </a:r>
            <a:r>
              <a:rPr lang="de-DE" altLang="zh-CN" sz="1600"/>
              <a:t>or in a subgroup of Z</a:t>
            </a:r>
            <a:r>
              <a:rPr lang="de-DE" altLang="zh-CN" sz="1600" i="1" baseline="-25000"/>
              <a:t>p</a:t>
            </a:r>
            <a:r>
              <a:rPr lang="de-DE" altLang="zh-CN" sz="1600" i="1"/>
              <a:t>*</a:t>
            </a:r>
            <a:endParaRPr lang="de-DE" altLang="zh-CN" sz="1600"/>
          </a:p>
          <a:p>
            <a:pPr>
              <a:spcBef>
                <a:spcPct val="50000"/>
              </a:spcBef>
            </a:pPr>
            <a:r>
              <a:rPr lang="de-DE" altLang="zh-CN" sz="1600"/>
              <a:t>choose </a:t>
            </a:r>
            <a:r>
              <a:rPr lang="de-DE" altLang="zh-CN" sz="1600" i="1"/>
              <a:t>d</a:t>
            </a:r>
            <a:r>
              <a:rPr lang="de-DE" altLang="zh-CN" sz="1600"/>
              <a:t>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prB</a:t>
            </a:r>
            <a:r>
              <a:rPr lang="de-DE" altLang="zh-CN" sz="1600" i="1"/>
              <a:t>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 {2,…,</a:t>
            </a:r>
            <a:r>
              <a:rPr lang="de-DE" altLang="zh-CN" sz="1600" i="1"/>
              <a:t>p</a:t>
            </a:r>
            <a:r>
              <a:rPr lang="de-DE" altLang="zh-CN" sz="1600"/>
              <a:t>-2}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compute </a:t>
            </a:r>
            <a:r>
              <a:rPr lang="el-GR" altLang="zh-CN" sz="1600" i="1"/>
              <a:t>β</a:t>
            </a:r>
            <a:r>
              <a:rPr lang="de-DE" altLang="zh-CN" sz="1600"/>
              <a:t>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pubB</a:t>
            </a:r>
            <a:r>
              <a:rPr lang="de-DE" altLang="zh-CN" sz="1600" i="1"/>
              <a:t>= α</a:t>
            </a:r>
            <a:r>
              <a:rPr lang="de-DE" altLang="zh-CN" sz="1600" i="1" baseline="30000"/>
              <a:t>d</a:t>
            </a:r>
            <a:r>
              <a:rPr lang="de-DE" altLang="zh-CN" sz="1600"/>
              <a:t> mod </a:t>
            </a:r>
            <a:r>
              <a:rPr lang="de-DE" altLang="zh-CN" sz="1600" i="1"/>
              <a:t>p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1D079170-8205-9B62-759C-357D192C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143250"/>
            <a:ext cx="3286125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choose i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prA</a:t>
            </a:r>
            <a:r>
              <a:rPr lang="de-DE" altLang="zh-CN" sz="1600" i="1"/>
              <a:t> </a:t>
            </a:r>
            <a:r>
              <a:rPr lang="en-US" altLang="zh-CN" sz="1600">
                <a:ea typeface="宋体" panose="02010600030101010101" pitchFamily="2" charset="-122"/>
              </a:rPr>
              <a:t>∈</a:t>
            </a:r>
            <a:r>
              <a:rPr lang="de-DE" altLang="zh-CN" sz="1600"/>
              <a:t> {2,…,</a:t>
            </a:r>
            <a:r>
              <a:rPr lang="de-DE" altLang="zh-CN" sz="1600" i="1"/>
              <a:t>p</a:t>
            </a:r>
            <a:r>
              <a:rPr lang="de-DE" altLang="zh-CN" sz="1600"/>
              <a:t>-2}</a:t>
            </a:r>
          </a:p>
          <a:p>
            <a:pPr>
              <a:spcBef>
                <a:spcPct val="50000"/>
              </a:spcBef>
            </a:pPr>
            <a:r>
              <a:rPr lang="de-DE" altLang="zh-CN" sz="1600"/>
              <a:t>compute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E</a:t>
            </a:r>
            <a:r>
              <a:rPr lang="de-DE" altLang="zh-CN" sz="1600"/>
              <a:t> =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pubA</a:t>
            </a:r>
            <a:r>
              <a:rPr lang="de-DE" altLang="zh-CN" sz="1600" i="1"/>
              <a:t>= α</a:t>
            </a:r>
            <a:r>
              <a:rPr lang="de-DE" altLang="zh-CN" sz="1600" i="1" baseline="30000"/>
              <a:t>i</a:t>
            </a:r>
            <a:r>
              <a:rPr lang="de-DE" altLang="zh-CN" sz="1600"/>
              <a:t> mod </a:t>
            </a:r>
            <a:r>
              <a:rPr lang="de-DE" altLang="zh-CN" sz="1600" i="1"/>
              <a:t>p</a:t>
            </a:r>
            <a:endParaRPr lang="de-DE" altLang="zh-CN" sz="1600"/>
          </a:p>
          <a:p>
            <a:pPr>
              <a:spcBef>
                <a:spcPct val="50000"/>
              </a:spcBef>
            </a:pPr>
            <a:r>
              <a:rPr lang="de-DE" altLang="zh-CN" sz="1600"/>
              <a:t>compute masking key 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= </a:t>
            </a:r>
            <a:r>
              <a:rPr lang="el-GR" altLang="zh-CN" sz="1600" i="1"/>
              <a:t>β</a:t>
            </a:r>
            <a:r>
              <a:rPr lang="de-DE" altLang="zh-CN" sz="1600" i="1" baseline="30000"/>
              <a:t>i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  <a:endParaRPr lang="de-DE" altLang="zh-CN" sz="1600"/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79B2F173-B7B8-9FF8-8509-2B5139051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000625"/>
            <a:ext cx="35004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compute masking key </a:t>
            </a:r>
            <a:r>
              <a:rPr lang="de-DE" altLang="zh-CN" sz="1600" i="1"/>
              <a:t>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= k</a:t>
            </a:r>
            <a:r>
              <a:rPr lang="de-DE" altLang="zh-CN" sz="1600" i="1" baseline="-25000"/>
              <a:t>E</a:t>
            </a:r>
            <a:r>
              <a:rPr lang="de-DE" altLang="zh-CN" sz="1600" i="1" baseline="30000"/>
              <a:t>d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E4510872-7752-7924-92C5-C5CBF1EB5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222750"/>
            <a:ext cx="32400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encrypt message </a:t>
            </a:r>
            <a:r>
              <a:rPr lang="de-DE" altLang="zh-CN" sz="1600" i="1"/>
              <a:t>x</a:t>
            </a:r>
            <a:r>
              <a:rPr lang="de-DE" altLang="zh-CN" sz="1600"/>
              <a:t> </a:t>
            </a:r>
            <a:r>
              <a:rPr lang="en-US" altLang="zh-CN" sz="1600">
                <a:ea typeface="宋体" panose="02010600030101010101" pitchFamily="2" charset="-122"/>
              </a:rPr>
              <a:t>∈ </a:t>
            </a:r>
            <a:r>
              <a:rPr lang="de-DE" altLang="zh-CN" sz="1600"/>
              <a:t>Z</a:t>
            </a:r>
            <a:r>
              <a:rPr lang="de-DE" altLang="zh-CN" sz="1600" i="1" baseline="-25000"/>
              <a:t>p</a:t>
            </a:r>
            <a:r>
              <a:rPr lang="de-DE" altLang="zh-CN" sz="1600" i="1"/>
              <a:t>*:</a:t>
            </a:r>
            <a:br>
              <a:rPr lang="de-DE" altLang="zh-CN" sz="1600" i="1"/>
            </a:br>
            <a:r>
              <a:rPr lang="de-DE" altLang="zh-CN" sz="1600" i="1"/>
              <a:t>y = x·k</a:t>
            </a:r>
            <a:r>
              <a:rPr lang="de-DE" altLang="zh-CN" sz="1600" i="1" baseline="-25000"/>
              <a:t>M 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21" name="Text Box 30">
            <a:extLst>
              <a:ext uri="{FF2B5EF4-FFF2-40B4-BE49-F238E27FC236}">
                <a16:creationId xmlns:a16="http://schemas.microsoft.com/office/drawing/2014/main" id="{E446FCD9-B9ED-8CAA-2E59-F5FDFAE3F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500563"/>
            <a:ext cx="1214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zh-CN" sz="2000" i="1"/>
              <a:t>(k</a:t>
            </a:r>
            <a:r>
              <a:rPr lang="de-DE" altLang="zh-CN" sz="2000" i="1" baseline="-25000"/>
              <a:t>E</a:t>
            </a:r>
            <a:r>
              <a:rPr lang="de-DE" altLang="zh-CN" sz="2000" i="1"/>
              <a:t>, y)</a:t>
            </a:r>
          </a:p>
        </p:txBody>
      </p:sp>
      <p:sp>
        <p:nvSpPr>
          <p:cNvPr id="24" name="Line 13">
            <a:extLst>
              <a:ext uri="{FF2B5EF4-FFF2-40B4-BE49-F238E27FC236}">
                <a16:creationId xmlns:a16="http://schemas.microsoft.com/office/drawing/2014/main" id="{299FCF3E-B8FF-72B5-445E-00483B390B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7563" y="3071813"/>
            <a:ext cx="2133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CDA1206F-6804-C4CB-E5FC-08D949DA5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2714625"/>
            <a:ext cx="2000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2000" i="1"/>
              <a:t>k</a:t>
            </a:r>
            <a:r>
              <a:rPr lang="de-DE" altLang="zh-CN" sz="2000" i="1" baseline="-25000"/>
              <a:t>pubB </a:t>
            </a:r>
            <a:r>
              <a:rPr lang="de-DE" altLang="zh-CN" sz="2000" i="1"/>
              <a:t>= (p, α, </a:t>
            </a:r>
            <a:r>
              <a:rPr lang="el-GR" altLang="zh-CN" sz="2000" i="1"/>
              <a:t>β</a:t>
            </a:r>
            <a:r>
              <a:rPr lang="de-DE" altLang="zh-CN" sz="2000" i="1"/>
              <a:t>)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AA9A46CC-AE08-62B0-92A7-C0FC60149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326063"/>
            <a:ext cx="32400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zh-CN" sz="1600"/>
              <a:t>decrypt </a:t>
            </a:r>
            <a:r>
              <a:rPr lang="de-DE" altLang="zh-CN" sz="1600" i="1"/>
              <a:t>x = y·k</a:t>
            </a:r>
            <a:r>
              <a:rPr lang="de-DE" altLang="zh-CN" sz="1600" i="1" baseline="-25000"/>
              <a:t>M</a:t>
            </a:r>
            <a:r>
              <a:rPr lang="de-DE" altLang="zh-CN" sz="1600" i="1" baseline="30000"/>
              <a:t>-1</a:t>
            </a:r>
            <a:r>
              <a:rPr lang="de-DE" altLang="zh-CN" sz="1600" i="1"/>
              <a:t> </a:t>
            </a:r>
            <a:r>
              <a:rPr lang="de-DE" altLang="zh-CN" sz="1600"/>
              <a:t>mod </a:t>
            </a:r>
            <a:r>
              <a:rPr lang="de-DE" altLang="zh-CN" sz="1600" i="1"/>
              <a:t>p</a:t>
            </a:r>
          </a:p>
        </p:txBody>
      </p:sp>
      <p:sp>
        <p:nvSpPr>
          <p:cNvPr id="20494" name="Foliennummernplatzhalter 17">
            <a:extLst>
              <a:ext uri="{FF2B5EF4-FFF2-40B4-BE49-F238E27FC236}">
                <a16:creationId xmlns:a16="http://schemas.microsoft.com/office/drawing/2014/main" id="{AE72365F-502D-C95A-7B81-4152FAFA0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3209AD-7ABA-E649-87F2-471FE0BD2A19}" type="slidenum">
              <a:rPr lang="de-DE" altLang="zh-CN">
                <a:solidFill>
                  <a:srgbClr val="394073"/>
                </a:solidFill>
              </a:rPr>
              <a:pPr/>
              <a:t>16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20495" name="Fußzeilenplatzhalter 18">
            <a:extLst>
              <a:ext uri="{FF2B5EF4-FFF2-40B4-BE49-F238E27FC236}">
                <a16:creationId xmlns:a16="http://schemas.microsoft.com/office/drawing/2014/main" id="{E80C6A44-05D4-FF64-F0A5-9669BF1A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Inhaltsplatzhalter 1">
            <a:extLst>
              <a:ext uri="{FF2B5EF4-FFF2-40B4-BE49-F238E27FC236}">
                <a16:creationId xmlns:a16="http://schemas.microsoft.com/office/drawing/2014/main" id="{505A62E7-5D08-2C05-CC3C-FF816C330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5532437"/>
          </a:xfrm>
        </p:spPr>
        <p:txBody>
          <a:bodyPr/>
          <a:lstStyle/>
          <a:p>
            <a:r>
              <a:rPr lang="de-DE" altLang="zh-CN" dirty="0"/>
              <a:t>Key Generation</a:t>
            </a:r>
          </a:p>
          <a:p>
            <a:pPr lvl="1"/>
            <a:r>
              <a:rPr lang="de-DE" altLang="zh-CN" dirty="0"/>
              <a:t>Generation </a:t>
            </a:r>
            <a:r>
              <a:rPr lang="de-DE" altLang="zh-CN" dirty="0" err="1"/>
              <a:t>of</a:t>
            </a:r>
            <a:r>
              <a:rPr lang="de-DE" altLang="zh-CN" dirty="0"/>
              <a:t> prime </a:t>
            </a:r>
            <a:r>
              <a:rPr lang="de-DE" altLang="zh-CN" i="1" dirty="0"/>
              <a:t>p </a:t>
            </a:r>
          </a:p>
          <a:p>
            <a:pPr lvl="1"/>
            <a:r>
              <a:rPr lang="de-DE" altLang="zh-CN" i="1" dirty="0"/>
              <a:t>p</a:t>
            </a:r>
            <a:r>
              <a:rPr lang="de-DE" altLang="zh-CN" dirty="0"/>
              <a:t> </a:t>
            </a:r>
            <a:r>
              <a:rPr lang="de-DE" altLang="zh-CN" dirty="0" err="1"/>
              <a:t>has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</a:t>
            </a:r>
            <a:r>
              <a:rPr lang="de-DE" altLang="zh-CN" dirty="0" err="1"/>
              <a:t>size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at least 2048 </a:t>
            </a:r>
            <a:r>
              <a:rPr lang="de-DE" altLang="zh-CN" dirty="0" err="1"/>
              <a:t>bits</a:t>
            </a:r>
            <a:endParaRPr lang="de-DE" altLang="zh-CN" dirty="0"/>
          </a:p>
          <a:p>
            <a:pPr lvl="1"/>
            <a:r>
              <a:rPr lang="de-DE" altLang="zh-CN" dirty="0"/>
              <a:t>cf. </a:t>
            </a:r>
            <a:r>
              <a:rPr lang="de-DE" altLang="zh-CN" dirty="0" err="1"/>
              <a:t>Section</a:t>
            </a:r>
            <a:r>
              <a:rPr lang="de-DE" altLang="zh-CN" dirty="0"/>
              <a:t> 7.6 in </a:t>
            </a:r>
            <a:r>
              <a:rPr lang="de-DE" altLang="zh-CN" i="1" dirty="0"/>
              <a:t>Understanding </a:t>
            </a:r>
            <a:r>
              <a:rPr lang="de-DE" altLang="zh-CN" i="1" dirty="0" err="1"/>
              <a:t>Cryptography</a:t>
            </a:r>
            <a:r>
              <a:rPr lang="de-DE" altLang="zh-CN" i="1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prime-</a:t>
            </a:r>
            <a:r>
              <a:rPr lang="de-DE" altLang="zh-CN" dirty="0" err="1"/>
              <a:t>finding</a:t>
            </a:r>
            <a:r>
              <a:rPr lang="de-DE" altLang="zh-CN" dirty="0"/>
              <a:t> </a:t>
            </a:r>
            <a:r>
              <a:rPr lang="de-DE" altLang="zh-CN" dirty="0" err="1"/>
              <a:t>algorithms</a:t>
            </a:r>
            <a:endParaRPr lang="de-DE" altLang="zh-CN" dirty="0"/>
          </a:p>
          <a:p>
            <a:r>
              <a:rPr lang="de-DE" altLang="zh-CN" dirty="0"/>
              <a:t>Encryption</a:t>
            </a:r>
          </a:p>
          <a:p>
            <a:pPr lvl="1"/>
            <a:r>
              <a:rPr lang="de-DE" altLang="zh-CN" dirty="0" err="1"/>
              <a:t>Requires</a:t>
            </a:r>
            <a:r>
              <a:rPr lang="de-DE" altLang="zh-CN" dirty="0"/>
              <a:t> </a:t>
            </a:r>
            <a:r>
              <a:rPr lang="de-DE" altLang="zh-CN" dirty="0" err="1"/>
              <a:t>two</a:t>
            </a:r>
            <a:r>
              <a:rPr lang="de-DE" altLang="zh-CN" dirty="0"/>
              <a:t> modular </a:t>
            </a:r>
            <a:r>
              <a:rPr lang="de-DE" altLang="zh-CN" dirty="0" err="1"/>
              <a:t>exponentiations</a:t>
            </a:r>
            <a:r>
              <a:rPr lang="de-DE" altLang="zh-CN" dirty="0"/>
              <a:t> and a modular </a:t>
            </a:r>
            <a:r>
              <a:rPr lang="de-DE" altLang="zh-CN" dirty="0" err="1"/>
              <a:t>multiplictation</a:t>
            </a:r>
            <a:endParaRPr lang="de-DE" altLang="zh-CN" dirty="0"/>
          </a:p>
          <a:p>
            <a:pPr lvl="1"/>
            <a:r>
              <a:rPr lang="de-DE" altLang="zh-CN" dirty="0"/>
              <a:t>All </a:t>
            </a:r>
            <a:r>
              <a:rPr lang="de-DE" altLang="zh-CN" dirty="0" err="1"/>
              <a:t>operands</a:t>
            </a:r>
            <a:r>
              <a:rPr lang="de-DE" altLang="zh-CN" dirty="0"/>
              <a:t> </a:t>
            </a:r>
            <a:r>
              <a:rPr lang="de-DE" altLang="zh-CN" dirty="0" err="1"/>
              <a:t>have</a:t>
            </a:r>
            <a:r>
              <a:rPr lang="de-DE" altLang="zh-CN" dirty="0"/>
              <a:t> a </a:t>
            </a:r>
            <a:r>
              <a:rPr lang="de-DE" altLang="zh-CN" dirty="0" err="1"/>
              <a:t>bitlength</a:t>
            </a:r>
            <a:r>
              <a:rPr lang="de-DE" altLang="zh-CN" dirty="0"/>
              <a:t> </a:t>
            </a:r>
            <a:r>
              <a:rPr lang="de-DE" altLang="zh-CN" dirty="0" err="1"/>
              <a:t>of</a:t>
            </a:r>
            <a:r>
              <a:rPr lang="de-DE" altLang="zh-CN" dirty="0"/>
              <a:t>  log</a:t>
            </a:r>
            <a:r>
              <a:rPr lang="de-DE" altLang="zh-CN" i="1" baseline="-25000" dirty="0"/>
              <a:t>2</a:t>
            </a:r>
            <a:r>
              <a:rPr lang="de-DE" altLang="zh-CN" i="1" dirty="0"/>
              <a:t>p</a:t>
            </a:r>
          </a:p>
          <a:p>
            <a:pPr lvl="1"/>
            <a:r>
              <a:rPr lang="de-DE" altLang="zh-CN" dirty="0" err="1"/>
              <a:t>Efficient</a:t>
            </a:r>
            <a:r>
              <a:rPr lang="de-DE" altLang="zh-CN" dirty="0"/>
              <a:t> </a:t>
            </a:r>
            <a:r>
              <a:rPr lang="de-DE" altLang="zh-CN" dirty="0" err="1"/>
              <a:t>execution</a:t>
            </a:r>
            <a:r>
              <a:rPr lang="de-DE" altLang="zh-CN" dirty="0"/>
              <a:t> </a:t>
            </a:r>
            <a:r>
              <a:rPr lang="de-DE" altLang="zh-CN" dirty="0" err="1"/>
              <a:t>requires</a:t>
            </a:r>
            <a:r>
              <a:rPr lang="de-DE" altLang="zh-CN" dirty="0"/>
              <a:t> </a:t>
            </a:r>
            <a:r>
              <a:rPr lang="de-DE" altLang="zh-CN" dirty="0" err="1"/>
              <a:t>methods</a:t>
            </a:r>
            <a:r>
              <a:rPr lang="de-DE" altLang="zh-CN" dirty="0"/>
              <a:t> such </a:t>
            </a:r>
            <a:r>
              <a:rPr lang="de-DE" altLang="zh-CN" dirty="0" err="1"/>
              <a:t>as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square</a:t>
            </a:r>
            <a:r>
              <a:rPr lang="de-DE" altLang="zh-CN" dirty="0"/>
              <a:t>-and-</a:t>
            </a:r>
            <a:r>
              <a:rPr lang="de-DE" altLang="zh-CN" dirty="0" err="1"/>
              <a:t>multiply</a:t>
            </a:r>
            <a:r>
              <a:rPr lang="de-DE" altLang="zh-CN" dirty="0"/>
              <a:t> </a:t>
            </a:r>
            <a:r>
              <a:rPr lang="de-DE" altLang="zh-CN" dirty="0" err="1"/>
              <a:t>algorithm</a:t>
            </a:r>
            <a:r>
              <a:rPr lang="de-DE" altLang="zh-CN" dirty="0"/>
              <a:t> </a:t>
            </a:r>
            <a:br>
              <a:rPr lang="de-DE" altLang="zh-CN" dirty="0"/>
            </a:br>
            <a:r>
              <a:rPr lang="de-DE" altLang="zh-CN" dirty="0"/>
              <a:t>(cf. Chapter 7)</a:t>
            </a:r>
          </a:p>
          <a:p>
            <a:r>
              <a:rPr lang="de-DE" altLang="zh-CN" dirty="0" err="1"/>
              <a:t>Decryption</a:t>
            </a:r>
            <a:endParaRPr lang="de-DE" altLang="zh-CN" dirty="0"/>
          </a:p>
          <a:p>
            <a:pPr lvl="1"/>
            <a:r>
              <a:rPr lang="de-DE" altLang="zh-CN" dirty="0" err="1"/>
              <a:t>Requires</a:t>
            </a:r>
            <a:r>
              <a:rPr lang="de-DE" altLang="zh-CN" dirty="0"/>
              <a:t> </a:t>
            </a:r>
            <a:r>
              <a:rPr lang="de-DE" altLang="zh-CN" dirty="0" err="1"/>
              <a:t>one</a:t>
            </a:r>
            <a:r>
              <a:rPr lang="de-DE" altLang="zh-CN" dirty="0"/>
              <a:t> modular </a:t>
            </a:r>
            <a:r>
              <a:rPr lang="de-DE" altLang="zh-CN" dirty="0" err="1"/>
              <a:t>exponentiation</a:t>
            </a:r>
            <a:r>
              <a:rPr lang="de-DE" altLang="zh-CN" dirty="0"/>
              <a:t> and </a:t>
            </a:r>
            <a:r>
              <a:rPr lang="de-DE" altLang="zh-CN" dirty="0" err="1"/>
              <a:t>one</a:t>
            </a:r>
            <a:r>
              <a:rPr lang="de-DE" altLang="zh-CN" dirty="0"/>
              <a:t> modulare </a:t>
            </a:r>
            <a:r>
              <a:rPr lang="de-DE" altLang="zh-CN" dirty="0" err="1"/>
              <a:t>inversion</a:t>
            </a:r>
            <a:endParaRPr lang="de-DE" altLang="zh-CN" dirty="0"/>
          </a:p>
          <a:p>
            <a:pPr lvl="1"/>
            <a:r>
              <a:rPr lang="de-DE" altLang="zh-CN" dirty="0"/>
              <a:t>As </a:t>
            </a:r>
            <a:r>
              <a:rPr lang="de-DE" altLang="zh-CN" dirty="0" err="1"/>
              <a:t>shown</a:t>
            </a:r>
            <a:r>
              <a:rPr lang="de-DE" altLang="zh-CN" dirty="0"/>
              <a:t> </a:t>
            </a:r>
            <a:r>
              <a:rPr lang="de-DE" altLang="zh-CN" i="1" dirty="0"/>
              <a:t>in Understanding </a:t>
            </a:r>
            <a:r>
              <a:rPr lang="de-DE" altLang="zh-CN" i="1" dirty="0" err="1"/>
              <a:t>Cryptography</a:t>
            </a:r>
            <a:r>
              <a:rPr lang="de-DE" altLang="zh-CN" dirty="0"/>
              <a:t>,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inversion</a:t>
            </a:r>
            <a:r>
              <a:rPr lang="de-DE" altLang="zh-CN" dirty="0"/>
              <a:t> </a:t>
            </a:r>
            <a:r>
              <a:rPr lang="de-DE" altLang="zh-CN" dirty="0" err="1"/>
              <a:t>can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computed</a:t>
            </a:r>
            <a:r>
              <a:rPr lang="de-DE" altLang="zh-CN" dirty="0"/>
              <a:t> </a:t>
            </a:r>
            <a:r>
              <a:rPr lang="de-DE" altLang="zh-CN" dirty="0" err="1"/>
              <a:t>from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ephemeral</a:t>
            </a:r>
            <a:r>
              <a:rPr lang="de-DE" altLang="zh-CN" dirty="0"/>
              <a:t> </a:t>
            </a:r>
            <a:r>
              <a:rPr lang="de-DE" altLang="zh-CN" dirty="0" err="1"/>
              <a:t>key</a:t>
            </a:r>
            <a:endParaRPr lang="de-DE" altLang="zh-CN" dirty="0"/>
          </a:p>
          <a:p>
            <a:pPr lvl="1"/>
            <a:endParaRPr lang="de-DE" altLang="zh-CN" dirty="0"/>
          </a:p>
          <a:p>
            <a:endParaRPr lang="de-DE" altLang="zh-CN" dirty="0"/>
          </a:p>
        </p:txBody>
      </p:sp>
      <p:sp>
        <p:nvSpPr>
          <p:cNvPr id="21507" name="Titel 2">
            <a:extLst>
              <a:ext uri="{FF2B5EF4-FFF2-40B4-BE49-F238E27FC236}">
                <a16:creationId xmlns:a16="http://schemas.microsoft.com/office/drawing/2014/main" id="{20A9EA2F-661D-7363-7440-A177582B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Computational Aspects</a:t>
            </a:r>
          </a:p>
        </p:txBody>
      </p:sp>
      <p:sp>
        <p:nvSpPr>
          <p:cNvPr id="21508" name="Foliennummernplatzhalter 5">
            <a:extLst>
              <a:ext uri="{FF2B5EF4-FFF2-40B4-BE49-F238E27FC236}">
                <a16:creationId xmlns:a16="http://schemas.microsoft.com/office/drawing/2014/main" id="{E739740E-6091-C1AA-BAB8-D0060DFD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421FE5-5A6A-6C43-975C-F1F71C029095}" type="slidenum">
              <a:rPr lang="de-DE" altLang="zh-CN">
                <a:solidFill>
                  <a:srgbClr val="394073"/>
                </a:solidFill>
              </a:rPr>
              <a:pPr/>
              <a:t>17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21509" name="Fußzeilenplatzhalter 6">
            <a:extLst>
              <a:ext uri="{FF2B5EF4-FFF2-40B4-BE49-F238E27FC236}">
                <a16:creationId xmlns:a16="http://schemas.microsoft.com/office/drawing/2014/main" id="{BBEAADE0-C5A4-E7DF-131D-B6B2106D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Inhaltsplatzhalter 1">
            <a:extLst>
              <a:ext uri="{FF2B5EF4-FFF2-40B4-BE49-F238E27FC236}">
                <a16:creationId xmlns:a16="http://schemas.microsoft.com/office/drawing/2014/main" id="{5284AA96-316F-F8F3-3B47-5D0E8367F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071563"/>
            <a:ext cx="8215312" cy="3532187"/>
          </a:xfrm>
        </p:spPr>
        <p:txBody>
          <a:bodyPr/>
          <a:lstStyle/>
          <a:p>
            <a:r>
              <a:rPr lang="de-DE" altLang="zh-CN" dirty="0"/>
              <a:t>Passive </a:t>
            </a:r>
            <a:r>
              <a:rPr lang="de-DE" altLang="zh-CN" dirty="0" err="1"/>
              <a:t>attacks</a:t>
            </a:r>
            <a:endParaRPr lang="de-DE" altLang="zh-CN" dirty="0"/>
          </a:p>
          <a:p>
            <a:pPr lvl="1"/>
            <a:r>
              <a:rPr lang="de-DE" altLang="zh-CN" sz="1800" dirty="0" err="1"/>
              <a:t>Attacker</a:t>
            </a:r>
            <a:r>
              <a:rPr lang="de-DE" altLang="zh-CN" sz="1800" dirty="0"/>
              <a:t> </a:t>
            </a:r>
            <a:r>
              <a:rPr lang="de-DE" altLang="zh-CN" sz="1800" dirty="0" err="1"/>
              <a:t>eavesdrops</a:t>
            </a:r>
            <a:r>
              <a:rPr lang="de-DE" altLang="zh-CN" sz="1800" dirty="0"/>
              <a:t> </a:t>
            </a:r>
            <a:r>
              <a:rPr lang="de-DE" altLang="zh-CN" sz="1800" i="1" dirty="0"/>
              <a:t>p, α, </a:t>
            </a:r>
            <a:r>
              <a:rPr lang="el-GR" altLang="zh-CN" sz="1800" i="1" dirty="0"/>
              <a:t>β </a:t>
            </a:r>
            <a:r>
              <a:rPr lang="de-DE" altLang="zh-CN" sz="1800" i="1" dirty="0"/>
              <a:t>= α</a:t>
            </a:r>
            <a:r>
              <a:rPr lang="de-DE" altLang="zh-CN" sz="1800" i="1" baseline="30000" dirty="0"/>
              <a:t>d</a:t>
            </a:r>
            <a:r>
              <a:rPr lang="de-DE" altLang="zh-CN" sz="1800" i="1" dirty="0"/>
              <a:t> , </a:t>
            </a:r>
            <a:r>
              <a:rPr lang="de-DE" altLang="zh-CN" sz="1800" i="1" dirty="0" err="1"/>
              <a:t>k</a:t>
            </a:r>
            <a:r>
              <a:rPr lang="de-DE" altLang="zh-CN" sz="1800" i="1" baseline="-25000" dirty="0" err="1"/>
              <a:t>E</a:t>
            </a:r>
            <a:r>
              <a:rPr lang="de-DE" altLang="zh-CN" sz="1800" dirty="0"/>
              <a:t> = </a:t>
            </a:r>
            <a:r>
              <a:rPr lang="de-DE" altLang="zh-CN" sz="1800" i="1" dirty="0"/>
              <a:t>α</a:t>
            </a:r>
            <a:r>
              <a:rPr lang="de-DE" altLang="zh-CN" sz="1800" i="1" baseline="30000" dirty="0"/>
              <a:t>i</a:t>
            </a:r>
            <a:r>
              <a:rPr lang="de-DE" altLang="zh-CN" sz="1800" i="1" dirty="0"/>
              <a:t>, </a:t>
            </a:r>
            <a:r>
              <a:rPr lang="de-DE" altLang="zh-CN" sz="1800" i="1" dirty="0" err="1"/>
              <a:t>y</a:t>
            </a:r>
            <a:r>
              <a:rPr lang="de-DE" altLang="zh-CN" sz="1800" i="1" dirty="0"/>
              <a:t> = x·</a:t>
            </a:r>
            <a:r>
              <a:rPr lang="el-GR" altLang="zh-CN" sz="1800" i="1" dirty="0"/>
              <a:t> β</a:t>
            </a:r>
            <a:r>
              <a:rPr lang="de-DE" altLang="zh-CN" sz="1800" i="1" baseline="30000" dirty="0"/>
              <a:t>i</a:t>
            </a:r>
            <a:r>
              <a:rPr lang="de-DE" altLang="zh-CN" sz="1800" dirty="0"/>
              <a:t> and </a:t>
            </a:r>
            <a:r>
              <a:rPr lang="de-DE" altLang="zh-CN" sz="1800" dirty="0" err="1"/>
              <a:t>wants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to</a:t>
            </a:r>
            <a:r>
              <a:rPr lang="de-DE" altLang="zh-CN" sz="1800" dirty="0"/>
              <a:t> </a:t>
            </a:r>
            <a:r>
              <a:rPr lang="de-DE" altLang="zh-CN" sz="1800" dirty="0" err="1"/>
              <a:t>recover</a:t>
            </a:r>
            <a:r>
              <a:rPr lang="de-DE" altLang="zh-CN" sz="1800" dirty="0"/>
              <a:t> </a:t>
            </a:r>
            <a:r>
              <a:rPr lang="de-DE" altLang="zh-CN" sz="1800" i="1" dirty="0"/>
              <a:t>x</a:t>
            </a:r>
          </a:p>
          <a:p>
            <a:pPr lvl="1"/>
            <a:r>
              <a:rPr lang="de-DE" altLang="zh-CN" sz="1800" dirty="0"/>
              <a:t>Problem </a:t>
            </a:r>
            <a:r>
              <a:rPr lang="de-DE" altLang="zh-CN" sz="1800" dirty="0" err="1"/>
              <a:t>relies</a:t>
            </a:r>
            <a:r>
              <a:rPr lang="de-DE" altLang="zh-CN" sz="1800" dirty="0"/>
              <a:t> on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DLP</a:t>
            </a:r>
          </a:p>
          <a:p>
            <a:endParaRPr lang="de-DE" altLang="zh-CN" dirty="0"/>
          </a:p>
          <a:p>
            <a:r>
              <a:rPr lang="de-DE" altLang="zh-CN" dirty="0" err="1"/>
              <a:t>Active</a:t>
            </a:r>
            <a:r>
              <a:rPr lang="de-DE" altLang="zh-CN" dirty="0"/>
              <a:t> </a:t>
            </a:r>
            <a:r>
              <a:rPr lang="de-DE" altLang="zh-CN" dirty="0" err="1"/>
              <a:t>attacks</a:t>
            </a:r>
            <a:endParaRPr lang="de-DE" altLang="zh-CN" dirty="0"/>
          </a:p>
          <a:p>
            <a:pPr lvl="1"/>
            <a:r>
              <a:rPr lang="de-DE" altLang="zh-CN" sz="1800" dirty="0" err="1"/>
              <a:t>If</a:t>
            </a:r>
            <a:r>
              <a:rPr lang="de-DE" altLang="zh-CN" sz="1800" dirty="0"/>
              <a:t> 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public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keys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are</a:t>
            </a:r>
            <a:r>
              <a:rPr lang="de-DE" altLang="zh-CN" sz="1800" dirty="0"/>
              <a:t> not </a:t>
            </a:r>
            <a:r>
              <a:rPr lang="de-DE" altLang="zh-CN" sz="1800" dirty="0" err="1"/>
              <a:t>authentic</a:t>
            </a:r>
            <a:r>
              <a:rPr lang="de-DE" altLang="zh-CN" sz="1800" dirty="0"/>
              <a:t>, an </a:t>
            </a:r>
            <a:r>
              <a:rPr lang="de-DE" altLang="zh-CN" sz="1800" dirty="0" err="1"/>
              <a:t>attacker</a:t>
            </a:r>
            <a:r>
              <a:rPr lang="de-DE" altLang="zh-CN" sz="1800" dirty="0"/>
              <a:t> </a:t>
            </a:r>
            <a:r>
              <a:rPr lang="de-DE" altLang="zh-CN" sz="1800" dirty="0" err="1"/>
              <a:t>could</a:t>
            </a:r>
            <a:r>
              <a:rPr lang="de-DE" altLang="zh-CN" sz="1800" dirty="0"/>
              <a:t> send an </a:t>
            </a:r>
            <a:r>
              <a:rPr lang="de-DE" altLang="zh-CN" sz="1800" dirty="0" err="1"/>
              <a:t>incorrect</a:t>
            </a:r>
            <a:r>
              <a:rPr lang="de-DE" altLang="zh-CN" sz="1800" dirty="0"/>
              <a:t> </a:t>
            </a:r>
            <a:r>
              <a:rPr lang="de-DE" altLang="zh-CN" sz="1800" dirty="0" err="1"/>
              <a:t>public</a:t>
            </a:r>
            <a:r>
              <a:rPr lang="de-DE" altLang="zh-CN" sz="1800" dirty="0"/>
              <a:t> </a:t>
            </a:r>
            <a:r>
              <a:rPr lang="de-DE" altLang="zh-CN" sz="1800" dirty="0" err="1"/>
              <a:t>key</a:t>
            </a:r>
            <a:r>
              <a:rPr lang="de-DE" altLang="zh-CN" sz="1800" dirty="0"/>
              <a:t> (cf. Chapter 14)</a:t>
            </a:r>
          </a:p>
          <a:p>
            <a:pPr lvl="1"/>
            <a:r>
              <a:rPr lang="de-DE" altLang="zh-CN" sz="1800" dirty="0"/>
              <a:t>An </a:t>
            </a:r>
            <a:r>
              <a:rPr lang="de-DE" altLang="zh-CN" sz="1800" dirty="0" err="1"/>
              <a:t>attack</a:t>
            </a:r>
            <a:r>
              <a:rPr lang="de-DE" altLang="zh-CN" sz="1800" dirty="0"/>
              <a:t> </a:t>
            </a:r>
            <a:r>
              <a:rPr lang="de-DE" altLang="zh-CN" sz="1800" dirty="0" err="1"/>
              <a:t>is</a:t>
            </a:r>
            <a:r>
              <a:rPr lang="de-DE" altLang="zh-CN" sz="1800" dirty="0"/>
              <a:t> also possible </a:t>
            </a:r>
            <a:r>
              <a:rPr lang="de-DE" altLang="zh-CN" sz="1800" dirty="0" err="1"/>
              <a:t>if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secret</a:t>
            </a:r>
            <a:r>
              <a:rPr lang="de-DE" altLang="zh-CN" sz="1800" dirty="0"/>
              <a:t> </a:t>
            </a:r>
            <a:r>
              <a:rPr lang="de-DE" altLang="zh-CN" sz="1800" dirty="0" err="1"/>
              <a:t>exponent</a:t>
            </a:r>
            <a:r>
              <a:rPr lang="de-DE" altLang="zh-CN" sz="1800" dirty="0"/>
              <a:t> </a:t>
            </a:r>
            <a:r>
              <a:rPr lang="de-DE" altLang="zh-CN" sz="1800" i="1" dirty="0"/>
              <a:t>i</a:t>
            </a:r>
            <a:r>
              <a:rPr lang="de-DE" altLang="zh-CN" sz="1800" dirty="0"/>
              <a:t> </a:t>
            </a:r>
            <a:r>
              <a:rPr lang="de-DE" altLang="zh-CN" sz="1800" dirty="0" err="1"/>
              <a:t>is</a:t>
            </a:r>
            <a:r>
              <a:rPr lang="de-DE" altLang="zh-CN" sz="1800" dirty="0"/>
              <a:t> </a:t>
            </a:r>
            <a:r>
              <a:rPr lang="de-DE" altLang="zh-CN" sz="1800" dirty="0" err="1"/>
              <a:t>being</a:t>
            </a:r>
            <a:r>
              <a:rPr lang="de-DE" altLang="zh-CN" sz="1800" dirty="0"/>
              <a:t> </a:t>
            </a:r>
            <a:r>
              <a:rPr lang="de-DE" altLang="zh-CN" sz="1800" dirty="0" err="1"/>
              <a:t>used</a:t>
            </a:r>
            <a:r>
              <a:rPr lang="de-DE" altLang="zh-CN" sz="1800" dirty="0"/>
              <a:t> </a:t>
            </a:r>
            <a:r>
              <a:rPr lang="de-DE" altLang="zh-CN" sz="1800" dirty="0" err="1"/>
              <a:t>more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than</a:t>
            </a:r>
            <a:r>
              <a:rPr lang="de-DE" altLang="zh-CN" sz="1800" dirty="0"/>
              <a:t> </a:t>
            </a:r>
            <a:r>
              <a:rPr lang="de-DE" altLang="zh-CN" sz="1800" dirty="0" err="1"/>
              <a:t>once</a:t>
            </a:r>
            <a:r>
              <a:rPr lang="de-DE" altLang="zh-CN" sz="1800" dirty="0"/>
              <a:t> (cf. </a:t>
            </a:r>
            <a:r>
              <a:rPr lang="de-DE" altLang="zh-CN" sz="1800" i="1" dirty="0"/>
              <a:t>Understanding </a:t>
            </a:r>
            <a:r>
              <a:rPr lang="de-DE" altLang="zh-CN" sz="1800" i="1" dirty="0" err="1"/>
              <a:t>Cryptography</a:t>
            </a:r>
            <a:r>
              <a:rPr lang="de-DE" altLang="zh-CN" sz="1800" i="1" dirty="0"/>
              <a:t> </a:t>
            </a:r>
            <a:r>
              <a:rPr lang="de-DE" altLang="zh-CN" sz="1800" dirty="0" err="1"/>
              <a:t>for</a:t>
            </a:r>
            <a:r>
              <a:rPr lang="de-DE" altLang="zh-CN" sz="1800" dirty="0"/>
              <a:t> </a:t>
            </a:r>
            <a:r>
              <a:rPr lang="de-DE" altLang="zh-CN" sz="1800" dirty="0" err="1"/>
              <a:t>more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details</a:t>
            </a:r>
            <a:r>
              <a:rPr lang="de-DE" altLang="zh-CN" sz="1800" dirty="0"/>
              <a:t> on </a:t>
            </a:r>
            <a:r>
              <a:rPr lang="de-DE" altLang="zh-CN" sz="1800" dirty="0" err="1"/>
              <a:t>the</a:t>
            </a:r>
            <a:r>
              <a:rPr lang="de-DE" altLang="zh-CN" sz="1800" dirty="0"/>
              <a:t> </a:t>
            </a:r>
            <a:r>
              <a:rPr lang="de-DE" altLang="zh-CN" sz="1800" dirty="0" err="1"/>
              <a:t>attack</a:t>
            </a:r>
            <a:r>
              <a:rPr lang="de-DE" altLang="zh-CN" sz="1800" dirty="0"/>
              <a:t>)</a:t>
            </a:r>
          </a:p>
        </p:txBody>
      </p:sp>
      <p:sp>
        <p:nvSpPr>
          <p:cNvPr id="22531" name="Titel 2">
            <a:extLst>
              <a:ext uri="{FF2B5EF4-FFF2-40B4-BE49-F238E27FC236}">
                <a16:creationId xmlns:a16="http://schemas.microsoft.com/office/drawing/2014/main" id="{8ABE836A-2A96-BD5C-F815-6DF5F896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Security</a:t>
            </a:r>
          </a:p>
        </p:txBody>
      </p:sp>
      <p:sp>
        <p:nvSpPr>
          <p:cNvPr id="22532" name="Foliennummernplatzhalter 5">
            <a:extLst>
              <a:ext uri="{FF2B5EF4-FFF2-40B4-BE49-F238E27FC236}">
                <a16:creationId xmlns:a16="http://schemas.microsoft.com/office/drawing/2014/main" id="{3DB60735-08CA-E13F-83CB-A7BCFD796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B8A01F-4D78-E246-B89E-0B5239E7CA32}" type="slidenum">
              <a:rPr lang="de-DE" altLang="zh-CN">
                <a:solidFill>
                  <a:srgbClr val="394073"/>
                </a:solidFill>
              </a:rPr>
              <a:pPr/>
              <a:t>18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22533" name="Fußzeilenplatzhalter 6">
            <a:extLst>
              <a:ext uri="{FF2B5EF4-FFF2-40B4-BE49-F238E27FC236}">
                <a16:creationId xmlns:a16="http://schemas.microsoft.com/office/drawing/2014/main" id="{FDAD6E4E-D1E2-AA1E-F0D0-CDD9D40F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Inhaltsplatzhalter 1">
            <a:extLst>
              <a:ext uri="{FF2B5EF4-FFF2-40B4-BE49-F238E27FC236}">
                <a16:creationId xmlns:a16="http://schemas.microsoft.com/office/drawing/2014/main" id="{071061FB-60E6-ED82-5F81-F3EDC6B95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143000"/>
            <a:ext cx="8072437" cy="4572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Diffie–Hellman protocol is a widely used method for key exchange. It is </a:t>
            </a:r>
            <a:r>
              <a:rPr lang="de-DE" altLang="zh-CN" dirty="0" err="1"/>
              <a:t>based</a:t>
            </a:r>
            <a:r>
              <a:rPr lang="de-DE" altLang="zh-CN" dirty="0"/>
              <a:t> on </a:t>
            </a:r>
            <a:r>
              <a:rPr lang="de-DE" altLang="zh-CN" dirty="0" err="1"/>
              <a:t>cyclic</a:t>
            </a:r>
            <a:r>
              <a:rPr lang="de-DE" altLang="zh-CN" dirty="0"/>
              <a:t> </a:t>
            </a:r>
            <a:r>
              <a:rPr lang="de-DE" altLang="zh-CN" dirty="0" err="1"/>
              <a:t>groups</a:t>
            </a:r>
            <a:r>
              <a:rPr lang="de-DE" altLang="zh-CN" dirty="0"/>
              <a:t>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 discrete logarithm problem is one of the most important one-way functions in modern asymmetric cryptography. Many public-key algorithms are based on </a:t>
            </a:r>
            <a:r>
              <a:rPr lang="de-DE" altLang="zh-CN" dirty="0"/>
              <a:t>it.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For the Diffie–Hellman protocol in </a:t>
            </a:r>
            <a:r>
              <a:rPr lang="en-US" altLang="zh-CN" dirty="0" err="1">
                <a:ea typeface="宋体" panose="02010600030101010101" pitchFamily="2" charset="-122"/>
              </a:rPr>
              <a:t>Z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p</a:t>
            </a:r>
            <a:r>
              <a:rPr lang="en-US" altLang="zh-CN" i="1" dirty="0">
                <a:ea typeface="宋体" panose="02010600030101010101" pitchFamily="2" charset="-122"/>
              </a:rPr>
              <a:t>*, the prime p should be at least 1024 bits </a:t>
            </a:r>
            <a:r>
              <a:rPr lang="en-US" altLang="zh-CN" dirty="0">
                <a:ea typeface="宋体" panose="02010600030101010101" pitchFamily="2" charset="-122"/>
              </a:rPr>
              <a:t>long. This provides a security roughly equivalent to an 80-bit symmetric cipher.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For a better long-term security, a prime of length 2048 bits should be chosen.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 err="1">
                <a:ea typeface="宋体" panose="02010600030101010101" pitchFamily="2" charset="-122"/>
              </a:rPr>
              <a:t>Elgamal</a:t>
            </a:r>
            <a:r>
              <a:rPr lang="en-US" altLang="zh-CN" dirty="0">
                <a:ea typeface="宋体" panose="02010600030101010101" pitchFamily="2" charset="-122"/>
              </a:rPr>
              <a:t> scheme is an extension of the DHKE where the derived session key is used as a multiplicative masked to encrypt a message.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Elgamal</a:t>
            </a:r>
            <a:r>
              <a:rPr lang="en-US" altLang="zh-CN" dirty="0">
                <a:ea typeface="宋体" panose="02010600030101010101" pitchFamily="2" charset="-122"/>
              </a:rPr>
              <a:t> is a probabilistic encryption scheme, i.e., encrypting two identical messages does not yield two identical ciphertexts.</a:t>
            </a:r>
          </a:p>
        </p:txBody>
      </p:sp>
      <p:sp>
        <p:nvSpPr>
          <p:cNvPr id="23555" name="Titel 4">
            <a:extLst>
              <a:ext uri="{FF2B5EF4-FFF2-40B4-BE49-F238E27FC236}">
                <a16:creationId xmlns:a16="http://schemas.microsoft.com/office/drawing/2014/main" id="{6C876431-DB38-FDBF-2296-9C4A0105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Lessons Learned</a:t>
            </a:r>
          </a:p>
        </p:txBody>
      </p:sp>
      <p:sp>
        <p:nvSpPr>
          <p:cNvPr id="23556" name="Foliennummernplatzhalter 5">
            <a:extLst>
              <a:ext uri="{FF2B5EF4-FFF2-40B4-BE49-F238E27FC236}">
                <a16:creationId xmlns:a16="http://schemas.microsoft.com/office/drawing/2014/main" id="{B7CD12DB-7B36-C1FA-49F8-A94CFF39F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4D014A-B1C5-504C-83C0-64B9A15CEEA5}" type="slidenum">
              <a:rPr lang="de-DE" altLang="zh-CN">
                <a:solidFill>
                  <a:srgbClr val="394073"/>
                </a:solidFill>
              </a:rPr>
              <a:pPr/>
              <a:t>19</a:t>
            </a:fld>
            <a:r>
              <a:rPr lang="de-DE" altLang="zh-CN">
                <a:solidFill>
                  <a:srgbClr val="394073"/>
                </a:solidFill>
              </a:rPr>
              <a:t>/19</a:t>
            </a:r>
          </a:p>
        </p:txBody>
      </p:sp>
      <p:sp>
        <p:nvSpPr>
          <p:cNvPr id="23557" name="Fußzeilenplatzhalter 6">
            <a:extLst>
              <a:ext uri="{FF2B5EF4-FFF2-40B4-BE49-F238E27FC236}">
                <a16:creationId xmlns:a16="http://schemas.microsoft.com/office/drawing/2014/main" id="{5C97FC15-B810-B562-C9E0-91238135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8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  <a:endParaRPr lang="de-DE" altLang="zh-CN"/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549</TotalTime>
  <Words>1905</Words>
  <Application>Microsoft Macintosh PowerPoint</Application>
  <PresentationFormat>全屏显示(4:3)</PresentationFormat>
  <Paragraphs>254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宋体</vt:lpstr>
      <vt:lpstr>Arial</vt:lpstr>
      <vt:lpstr>Helvetica</vt:lpstr>
      <vt:lpstr>Symbol</vt:lpstr>
      <vt:lpstr>Times New Roman</vt:lpstr>
      <vt:lpstr>Webdings</vt:lpstr>
      <vt:lpstr>Wingdings</vt:lpstr>
      <vt:lpstr>Folienvorlage2</vt:lpstr>
      <vt:lpstr>PowerPoint 演示文稿</vt:lpstr>
      <vt:lpstr>Content of this Chapter</vt:lpstr>
      <vt:lpstr>Diffie–Hellman Key Exchange: Overview</vt:lpstr>
      <vt:lpstr>Diffie–Hellman Key Exchange: Set-up</vt:lpstr>
      <vt:lpstr>Diffie–Hellman Key Exchange</vt:lpstr>
      <vt:lpstr>Diffie–Hellman Key Exchange: Example</vt:lpstr>
      <vt:lpstr>The Discrete Logarithm Problem</vt:lpstr>
      <vt:lpstr>The Generalized Discrete Logarithm Problem</vt:lpstr>
      <vt:lpstr>The Generalized Discrete Logarithm Problem</vt:lpstr>
      <vt:lpstr>Attacks against the Discrete Logarithm Problem</vt:lpstr>
      <vt:lpstr>Attacks against the Discrete Logarithm Problem</vt:lpstr>
      <vt:lpstr>Security of the classical Diffie–Hellman Key Exchange </vt:lpstr>
      <vt:lpstr>Bit lengths of public-key algorithms for different security levels </vt:lpstr>
      <vt:lpstr>The Elgamal Encryption Scheme: Overview</vt:lpstr>
      <vt:lpstr>The Elgamal Encryption Scheme: Principle</vt:lpstr>
      <vt:lpstr>The Elgamal Encryption Protocol</vt:lpstr>
      <vt:lpstr>Computational Aspects</vt:lpstr>
      <vt:lpstr>Security</vt:lpstr>
      <vt:lpstr>Lessons Learned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>Auswertung</dc:subject>
  <dc:creator>Jan Pelzl</dc:creator>
  <cp:lastModifiedBy>Jing Liu</cp:lastModifiedBy>
  <cp:revision>582</cp:revision>
  <cp:lastPrinted>2003-07-29T11:52:19Z</cp:lastPrinted>
  <dcterms:created xsi:type="dcterms:W3CDTF">2004-07-26T14:24:04Z</dcterms:created>
  <dcterms:modified xsi:type="dcterms:W3CDTF">2024-11-25T01:40:47Z</dcterms:modified>
</cp:coreProperties>
</file>