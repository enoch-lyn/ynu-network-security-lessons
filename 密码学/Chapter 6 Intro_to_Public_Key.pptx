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2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68" r:id="rId2"/>
    <p:sldId id="455" r:id="rId3"/>
    <p:sldId id="459" r:id="rId4"/>
    <p:sldId id="443" r:id="rId5"/>
    <p:sldId id="458" r:id="rId6"/>
    <p:sldId id="444" r:id="rId7"/>
    <p:sldId id="460" r:id="rId8"/>
    <p:sldId id="445" r:id="rId9"/>
    <p:sldId id="446" r:id="rId10"/>
    <p:sldId id="461" r:id="rId11"/>
    <p:sldId id="462" r:id="rId12"/>
    <p:sldId id="447" r:id="rId13"/>
    <p:sldId id="448" r:id="rId14"/>
    <p:sldId id="449" r:id="rId15"/>
    <p:sldId id="450" r:id="rId16"/>
    <p:sldId id="463" r:id="rId17"/>
    <p:sldId id="451" r:id="rId18"/>
    <p:sldId id="452" r:id="rId19"/>
    <p:sldId id="464" r:id="rId20"/>
    <p:sldId id="465" r:id="rId21"/>
    <p:sldId id="467" r:id="rId22"/>
    <p:sldId id="472" r:id="rId23"/>
    <p:sldId id="473" r:id="rId24"/>
    <p:sldId id="474" r:id="rId25"/>
    <p:sldId id="466" r:id="rId26"/>
    <p:sldId id="468" r:id="rId27"/>
    <p:sldId id="469" r:id="rId28"/>
    <p:sldId id="470" r:id="rId29"/>
    <p:sldId id="471" r:id="rId30"/>
    <p:sldId id="453" r:id="rId31"/>
  </p:sldIdLst>
  <p:sldSz cx="9144000" cy="6858000" type="screen4x3"/>
  <p:notesSz cx="7099300" cy="10234613"/>
  <p:custDataLst>
    <p:tags r:id="rId3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1" autoAdjust="0"/>
    <p:restoredTop sz="86162" autoAdjust="0"/>
  </p:normalViewPr>
  <p:slideViewPr>
    <p:cSldViewPr>
      <p:cViewPr varScale="1">
        <p:scale>
          <a:sx n="140" d="100"/>
          <a:sy n="140" d="100"/>
        </p:scale>
        <p:origin x="1592" y="184"/>
      </p:cViewPr>
      <p:guideLst>
        <p:guide orient="horz" pos="4110"/>
        <p:guide pos="2880"/>
      </p:guideLst>
    </p:cSldViewPr>
  </p:slideViewPr>
  <p:outlineViewPr>
    <p:cViewPr>
      <p:scale>
        <a:sx n="33" d="100"/>
        <a:sy n="33" d="100"/>
      </p:scale>
      <p:origin x="48" y="40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05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62D28A4-FC8D-B45E-A23C-03A76B2C12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7CC53E8-A2A1-3BF0-F9AF-A422AE7E7C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7C655366-A32E-D6EF-94F9-545611B736D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510BEA2-52CB-9BEC-5D22-87BF4331082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5C08077D-D447-5E4A-A407-316D8F163805}" type="slidenum">
              <a:rPr lang="de-DE" altLang="zh-CN"/>
              <a:pPr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03:30:24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13023 8703 24575,'10'-2'0,"8"7"0,7 7 0,1 5 0,-1 3 0,-7-3 0,-4-1 0,-1 0 0,-2-3 0,-4 1 0,-2-1 0,0 1 0,-2-1 0,2 1 0,-1-2 0,-2-1 0,-1-3 0,-1 0 0,0 2 0,0 4 0,0 4 0,0 0 0,0-1 0,0-5 0,-4-2 0,-5-3 0,-5-1 0,-4 1 0,0-1 0,1-1 0,5-1 0,3-3 0,3-1 0,2-1 0,2-2 0,1-2 0,-1-3 0,-1-4 0,-3-4 0,-4-4 0,-3-3 0,-5 2 0,1 1 0,2 1 0,5 2 0,6 1 0,1-2 0,2-2 0,1-3 0,0-2 0,1-2 0,2 2 0,2 7 0,0 7 0,2 6 0,1 3 0,2 1 0,5 1 0,5 1 0,3 4 0,2 7 0,-3 4 0,-7 2 0,-7-3 0,-6-3 0,-2-1 0,0-3 0,-2-1 0,-4 0 0,-3-1 0,-1 2 0,3 1 0,3 0 0,1-1 0,1-2 0,1 1 0,-2 1 0,2-1 0,-2-1 0,-1 0 0,-2-1 0,0-1 0,1 0 0,3-3 0</inkml:trace>
  <inkml:trace contextRef="#ctx0" brushRef="#br0" timeOffset="2582">16135 8795 24575,'39'0'0,"4"0"0,9 0 0,-6 0 0,-11 0 0,-11 1 0,-9 2 0,-4 2 0,-4 2 0,-3 1 0,-2 2 0,-2 2 0,0 0 0,0 2 0,0-1 0,-2 1 0,-3 0 0,-4 1 0,-4 4 0,-3 1 0,-1 3 0,1-4 0,1-2 0,1-5 0,3-3 0,0-3 0,1-3 0,3-1 0,1-2 0,2-1 0,0-5 0,-3-7 0,-2-9 0,-6-7 0,-1-3 0,2 1 0,3 6 0,5 7 0,3 7 0,2 3 0,4 1 0,4 1 0,4 0 0,3 0 0,0 1 0,-1-1 0,0 0 0,-2 0 0,-4 2 0,-3 2 0</inkml:trace>
  <inkml:trace contextRef="#ctx0" brushRef="#br0" timeOffset="4516">11281 11668 24575,'12'-4'0,"6"2"0,7 2 0,6 1 0,-3 3 0,-5 7 0,-9 3 0,-6 2 0,-5-1 0,-2-1 0,-1-1 0,-4-1 0,-4 0 0,-6-1 0,-4-2 0,-2-2 0,3-4 0,3-3 0,7-2 0,5-5 0,1-5 0,1-1 0,1 0 0,2 4 0,-2 5 0,1 1 0</inkml:trace>
  <inkml:trace contextRef="#ctx0" brushRef="#br0" timeOffset="5982">11816 9103 24575,'11'-13'0,"-2"0"0,1 2 0,-4 3 0,-3 6 0,-2 1 0</inkml:trace>
  <inkml:trace contextRef="#ctx0" brushRef="#br0" timeOffset="8400">11856 9055 24575,'0'-5'0,"2"-3"0,4-3 0,3-4 0,4-3 0,0 2 0,-3 4 0,-4 2 0,-3 5 0,-3 0 0,0 0 0,1 0 0,1-3 0,-1 1 0,1 4 0,-2 8 0,-1 2 0,-2 7 0,-1-3 0,-3 0 0,1 1 0,-1 3 0,-1 8 0,0 14 0,-1 14 0,-1 9 0,3 5 0,2-5 0,3-9 0,2-9 0,0-11 0,0-7 0,0-5 0,0-7 0,1-4 0,3-6 0,4-9 0,3-9 0,-1-8 0,2-7 0,2-7 0,7-9 0,7-8 0,1 1 0,-3 7 0,-7 12 0,-4 9 0,-4 6 0,0 0 0,1 0 0,0 2 0,-2 0 0,-2 5 0,-1 1 0,0 1 0,2-3 0,1-2 0,-2 1 0,-3 3 0,-3 6 0,-2 6 0,-2 6 0,-1 3 0,-1 1 0,-2 0 0,0-1 0,0 0 0,1 0 0,-1 0 0,1 0 0,0 1 0,-1 0 0,3 1 0,2 4 0,0 3 0,1 4 0,0 1 0,0-1 0,0-2 0,0-2 0,2 2 0,4 1 0,4-2 0,2-2 0,-3-3 0,-2-5 0,-2-2 0,0 0 0,2 1 0,3 3 0,2 1 0,-1-1 0,-2-4 0,-5-4 0,-2-1 0</inkml:trace>
  <inkml:trace contextRef="#ctx0" brushRef="#br0" timeOffset="9701">12370 9160 24575,'0'11'0,"0"10"0,0 22 0,0 19 0,0-25 0,0 1 0,0 32 0,0-16 0,0-18 0,0-20 0,0-9 0</inkml:trace>
  <inkml:trace contextRef="#ctx0" brushRef="#br0" timeOffset="15550">9963 11894 24575,'12'-22'0,"4"-2"0,5-3 0,3 1 0,2-1 0,2-1 0,3-1 0,2-2 0,2 1 0,2 0 0,-4 0 0,-6 4 0,-8 3 0,-10 7 0,-4 7 0,-5 3 0,0 2 0,0 3 0,0 11 0,-4 6 0,-2 15 0,-3 18 0,2-14 0,0 3 0,0 11 0,-1 3 0,-2 8 0,0 1 0,1 1 0,0-1 0,1-5 0,0-3 0,3-11 0,0-3 0,-1 13 0,3-22 0,1-12 0,4-10 0,2-8 0,3-5 0,-1-4 0,1-8 0,1-11 0,5-16 0,6-15 0,4-7 0,1 4 0,-2 8 0,-3 8 0,-2 2 0,0 0 0,-4 4 0,-2 7 0,-5 10 0,-4 10 0,0 5 0,-2 2 0,0 2 0,0-1 0,0 1 0,1-2 0,1-1 0,2-1 0,-1 2 0,-1 2 0,-5 13 0,0 0 0,-3 7 0,0-4 0,0 0 0,0 2 0,0-1 0,2 4 0,0 5 0,3 6 0,1 8 0,0 3 0,0 1 0,0-6 0,0-5 0,0-5 0,0-3 0,0-3 0,0-3 0,0-2 0,0-1 0,3-4 0,0-4 0,5-2 0,2-1 0,1 3 0,3 2 0,0 0 0,-3-1 0,-4-1 0,-2-1 0,-3-1 0,1-2 0,3 2 0,-4-2 0,2 1 0</inkml:trace>
  <inkml:trace contextRef="#ctx0" brushRef="#br0" timeOffset="17783">10641 12061 24575,'8'0'0,"4"0"0,3 0 0,0 0 0,-2 0 0,-7 1 0,-2 1 0,-3 0 0,-1 2 0,0 1 0,0 1 0,0 0 0,0-1 0,0-1 0,0-1 0,0 1 0,0 1 0,-2 2 0,-1 3 0,-1 2 0,-2 2 0,-1 5 0,-3 4 0,-4 4 0,0 1 0,0-5 0,4-4 0,3-7 0,1-3 0,2-4 0,0-3 0,0 0 0,1-1 0,-1 1 0,1 0 0,-1 1 0,0 0 0,0 0 0,0 1 0,1-1 0,2-2 0,2 1 0,5-2 0,5 0 0,9-4 0,13-2 0,10-3 0,7 0 0,-3 5 0,-8 2 0,-10 2 0,-10 0 0,-10 0 0,-4 0 0</inkml:trace>
  <inkml:trace contextRef="#ctx0" brushRef="#br0" timeOffset="20933">11959 14888 24575,'14'0'0,"17"-3"0,17-6 0,8-5 0,-7-3 0,-20 1 0,-15 6 0,-11 2 0,-3 2 0,0-1 0,0-1 0,1-1 0,5-6 0,10-12 0,8-9 0,5-1 0,-6 5 0,-9 12 0,-9 9 0,-4 7 0,-1 6 0,0 4 0,0 4 0,0 3 0,-2 7 0,-2 11 0,-3 13 0,0 15 0,5-25 0,0 2 0,0 0 0,1 0 0,1 29 0,0-13 0,0-17 0,0-13 0,1-10 0,1-6 0,1-4 0,1-2 0,1 0 0,1-1 0,0-3 0,-1-4 0,-2-4 0,0-1 0,-1-1 0,2-4 0,4-9 0,1-8 0,3-5 0,0 6 0,-4 10 0,-3 10 0,-2 5 0,-2 2 0,1 1 0,1-6 0,2-6 0,3-8 0,3-6 0,2-2 0,-1 3 0,-1 4 0,-3 5 0,-3 4 0,-1 3 0,-2 4 0,-1 3 0,-1 5 0,0 11 0,0 0 0,0 8 0,0-4 0,0 5 0,0 7 0,0 10 0,0 9 0,0 7 0,0-2 0,0-8 0,1-8 0,2-8 0,5-2 0,3 0 0,2-1 0,-3-4 0,-1-2 0,-3-2 0,0-2 0,0 1 0,0-1 0,-1-1 0,0-2 0,-1-4 0,-1-3 0,-1-1 0</inkml:trace>
  <inkml:trace contextRef="#ctx0" brushRef="#br0" timeOffset="23450">12701 14992 24575,'5'-3'0,"2"0"0,2 3 0,3 0 0,-2 0 0,-1 1 0,-3 2 0,-2 3 0,-1 2 0,-1 1 0,0 1 0,-2 1 0,0 1 0,0 2 0,0-4 0,0-1 0,0-3 0,0-1 0,0 0 0,0 0 0,0 2 0,-1 0 0,-3 0 0,-1 2 0,-2 1 0,0 0 0,0-1 0,1-1 0,2-1 0,1-2 0,0-1 0,1 0 0,-1 0 0,0-1 0,0-1 0,0-2 0,2 2 0,0 1 0,1 1 0,-1 0 0,-1-1 0,2-2 0,2-3 0,6-4 0,6-5 0,7-2 0,6-1 0,5 2 0,1 4 0,-5 4 0,-6 3 0,-6 1 0,-4 0 0,-3 0 0,-4 3 0,-2 1 0,-1 3 0,0 0 0,-1 0 0,-1-1 0,0 0 0,0 0 0,0 3 0,0 2 0,0 1 0,-2 2 0,-4 1 0,-6 4 0,-6 4 0,-2 2 0,0-2 0,3-4 0,5-7 0,4-5 0,4-2 0,2-5 0,2 2 0</inkml:trace>
  <inkml:trace contextRef="#ctx0" brushRef="#br0" timeOffset="26549">16418 14833 24575,'21'-4'0,"1"-4"0,0 0 0,-4 0 0,-10 4 0,-4 4 0,-5 1 0,-2 4 0,-2 7 0,-2 2 0,-1 4 0,-1 2 0,0 1 0,2 9 0,3 11 0,2 14 0,2 8 0,0-2 0,0-8 0,0-14 0,0-12 0,0-11 0,1-7 0,2-6 0,2-2 0,2-1 0,3 0 0,0-5 0,2-4 0,-1-6 0,-2-5 0,2-5 0,1-10 0,3-5 0,1-2 0,0 6 0,0 5 0,2 5 0,3-2 0,0-1 0,-1 2 0,-4 5 0,-5 5 0,-5 4 0,-3-2 0,2-4 0,0-2 0,0 2 0,-1 6 0,-1 4 0,2 2 0,3-4 0,2-3 0,1 0 0,-3 4 0,-3 7 0,-3 5 0,0 6 0,-3 1 0,-3 2 0,-1 1 0,-2 0 0,-2 1 0,1 0 0,0 1 0,1 1 0,1 6 0,1 6 0,-1 7 0,1 3 0,0 0 0,1-1 0,2-3 0,1-2 0,1-5 0,0-7 0,0-4 0,1 1 0,3-1 0,4 3 0,6 0 0,8 1 0,7 0 0,5-1 0,-1-1 0,-8-5 0,-7-5 0,-6-4 0,-3-3 0,-4 0 0,-2 0 0</inkml:trace>
  <inkml:trace contextRef="#ctx0" brushRef="#br0" timeOffset="28115">17170 15161 24575,'-3'8'0,"0"3"0,3 6 0,0 2 0,-1 0 0,-1-4 0,0-5 0,2-4 0,3-3 0,8-2 0,13-3 0,23-1 0,-11 2 0,2 0 0,8 0 0,2 0 0,2 0 0,1 0 0,-6 0 0,-1-1 0,23 0 0,-21 0 0,-20 2 0,-11 0 0,-9 0 0,-4 0 0</inkml:trace>
  <inkml:trace contextRef="#ctx0" brushRef="#br0" timeOffset="29232">17396 15046 24575,'0'33'0,"0"6"0,0 9 0,0 1 0,0-11 0,0-13 0,0-8 0,0-8 0,0 1 0,0 3 0,0 0 0,0 1 0,0-3 0,0-3 0,0-4 0,0-2 0</inkml:trace>
  <inkml:trace contextRef="#ctx0" brushRef="#br0" timeOffset="30003">18240 12415 24575,'0'0'0</inkml:trace>
  <inkml:trace contextRef="#ctx0" brushRef="#br0" timeOffset="32600">18194 12339 24575,'0'-18'0,"1"-15"0,8-18 0,12-9 0,8 0 0,5 12 0,-1 10 0,-6 5 0,-2 6 0,-4 2 0,-6 5 0,-3 7 0,-5 8 0,-4 9 0,-2 13 0,-4 8 0,-4 5 0,-2 4 0,-2 9 0,-1 15 0,7-20 0,1 2 0,1 7 0,1 1 0,0 3 0,1-1 0,1-3 0,0-2 0,0-5 0,0-4 0,0 17 0,0-19 0,3-12 0,4-9 0,4-7 0,2-3 0,1-3 0,-1-2 0,1-7 0,-4-7 0,1-9 0,1-11 0,2-9 0,4-7 0,-4-3 0,-4 4 0,-5 6 0,-4 8 0,-1 5 0,0 5 0,0 5 0,0 7 0,0 4 0,0 5 0,0-1 0,0-7 0,0-9 0,2-10 0,0-4 0,2 3 0,0 9 0,0 10 0,-2 9 0,-2 9 0,-3 5 0,-2 4 0,-2 2 0,0-1 0,1 3 0,1 0 0,0 1 0,0 3 0,1 2 0,1 5 0,1 6 0,2 7 0,0 5 0,0-4 0,0-6 0,0-9 0,0-9 0,1-3 0,2-3 0,4 1 0,3 1 0,4 0 0,5 1 0,4 1 0,8 0 0,2 1 0,-4-2 0,-6-4 0,-8-4 0,-5-3 0,-2-3 0,0 0 0,13 4 0,-12-3 0,8 3 0</inkml:trace>
  <inkml:trace contextRef="#ctx0" brushRef="#br0" timeOffset="39534">18973 12465 24575,'0'11'0,"0"4"0,0 5 0,0 2 0,0 1 0,3-3 0,2-2 0,4-2 0,3 0 0,1 2 0,1 2 0,-1-1 0,-3-2 0,-2-4 0,-3-3 0,-1-1 0,0-1 0,0 0 0,-2-1 0,0 1 0,-2 1 0,0 1 0,0 3 0,-4 2 0,-7 2 0,-6-1 0,-8 1 0,-2-6 0,1-3 0,-1-5 0,12-3 0,3 0 0</inkml:trace>
  <inkml:trace contextRef="#ctx0" brushRef="#br0" timeOffset="41016">18934 12551 24575,'6'-3'0,"12"0"0,10 3 0,3 0 0,0 0 0,-14 0 0,-3 0 0,1 0 0,2 0 0,1 0 0,-5 0 0,-6 0 0,-2 0 0</inkml:trace>
  <inkml:trace contextRef="#ctx0" brushRef="#br0" timeOffset="42701">16975 8529 24575,'0'0'0</inkml:trace>
  <inkml:trace contextRef="#ctx0" brushRef="#br0" timeOffset="44484">16975 8529 24575,'56'-35'0,"-4"1"0,2-3 0,-15 11 0,-17 13 0,-12 14 0,-9 10 0,-8 9 0,-2 7 0,-2 4 0,-1 0 0,0 6 0,-1 10 0,1 12 0,6-24 0,0 1 0,0 1 0,2-1 0,-4 34 0,3-13 0,2-14 0,3-14 0,2-12 0,1-10 0,6-10 0,8-10 0,10-10 0,7-6 0,2-1 0,-4 1 0,-3-3 0,0-7 0,0-8 0,-2-10 0,-2-1 0,-5 6 0,-5 7 0,-3 12 0,-4 9 0,-2 7 0,-3 7 0,-1 7 0,-7 16 0,1-1 0,-3 14 0,2-7 0,2 2 0,-1 1 0,-2 2 0,2 6 0,0 8 0,3 14 0,1 9 0,0 4 0,0-6 0,0-16 0,0-13 0,0-12 0,0-6 0,3-3 0,2-3 0,4-3 0,-1-2 0,-1-1 0,-4 0 0,-2 0 0</inkml:trace>
  <inkml:trace contextRef="#ctx0" brushRef="#br0" timeOffset="46801">17772 8849 24575,'-31'42'0,"-2"5"0,-3 8 0,3-2 0,8-10 0,7-9 0,5-8 0,7-6 0,2-1 0,1 1 0,1 4 0,-1 3 0,1 1 0,0-2 0,0-5 0,1-5 0,1-1 0,0-2 0,0 0 0,0-1 0,3-1 0,3 1 0,7 1 0,5-1 0,0-1 0,0-4 0,-3-4 0,-2-2 0,-1-1 0,0 0 0,-1 0 0,1-3 0,2-2 0,-1-5 0,-1-1 0,-2 0 0,-5-1 0,-3 0 0,-2-1 0,0 0 0,0-1 0,0 1 0,0 0 0,0 1 0,0 2 0,-3 2 0,-3 1 0,-1 1 0,-1 1 0,-1 2 0,1 2 0,-1 1 0,0 0 0,0 0 0,-1 0 0,-1 0 0,-1 0 0,0 0 0,1 0 0,1 0 0,2 0 0,1 0 0,2 0 0,2 1 0,0 1 0,0-1 0,1 1 0,-1-2 0,1 1 0,1 2 0,0-1 0,1 0 0</inkml:trace>
  <inkml:trace contextRef="#ctx0" brushRef="#br0" timeOffset="180187">21242 9039 24575,'-4'-12'0,"-6"-1"0,-5-1 0,-4 4 0,1 6 0,-1 3 0,-2 1 0,-5 0 0,-1 0 0,0 0 0,2 0 0,2 0 0,2 1 0,3 4 0,4 2 0,1 3 0,-5 4 0,-6 3 0,-7 7 0,-4 4 0,1 3 0,0 4 0,2 3 0,1 1 0,3 2 0,2 1 0,3 0 0,5-3 0,4-1 0,5 0 0,2 1 0,2 0 0,2-1 0,1-6 0,2-5 0,0 0 0,2 0 0,4 2 0,6 2 0,10-2 0,12-1 0,12-4 0,7-5 0,1-5 0,-10-6 0,-11-5 0,-13-1 0,-7-2 0,-4 0 0,-2-1 0,-1 0 0,-1-3 0,1 0 0,2-2 0,8-2 0,9-4 0,8-2 0,-1 0 0,-9 3 0,-12 6 0,-7 2 0</inkml:trace>
  <inkml:trace contextRef="#ctx0" brushRef="#br0" timeOffset="182438">21511 9620 24575,'-11'1'0,"-5"5"0,-5 8 0,-3 7 0,0 4 0,2-1 0,2-1 0,3-1 0,2-2 0,3 0 0,1 0 0,2-2 0,-1 4 0,3 1 0,0 2 0,-1 4 0,0 3 0,0 1 0,2-2 0,2-5 0,3-7 0,1-3 0,0 1 0,0 2 0,3 5 0,5 0 0,5-3 0,3-4 0,-1-5 0,-1-5 0,1-4 0,3-1 0,2-2 0,0 0 0,0 0 0,3 0 0,5-1 0,10-6 0,1-5 0,-5-4 0,-9-1 0,-10 3 0,-7 1 0,-4 1 0,-3 1 0,-1 1 0,0-1 0,-4-4 0,-7-6 0,-6-5 0,-5-3 0,0 0 0,1 4 0,4 7 0,4 9 0,2 6 0,3 3 0,0 0 0,-3 0 0,-7 0 0,-9 0 0,-6 0 0,-3 0 0,3 0 0,7 0 0,9 0 0,8 1 0,5 1 0,3-1 0,1 0 0</inkml:trace>
  <inkml:trace contextRef="#ctx0" brushRef="#br0" timeOffset="184437">21473 8856 24575,'12'0'0,"4"0"0,7 0 0,0 0 0,-4 0 0,-7 0 0,-4 0 0,1 1 0,2 2 0,0 4 0,2 4 0,1 3 0,1 3 0,4 2 0,0-1 0,-4 0 0,-5-4 0,-6-4 0,-4-1 0,0-3 0,0 0 0,0 0 0,-3 2 0,-3 1 0,-7 4 0,-5 2 0,-5 5 0,-7 2 0,-5 4 0,-2-2 0,2-2 0,7-4 0,8-5 0,7-5 0,9-4 0,4-3 0,8-1 0,19-5 0,39-6 0,-7 1 0,8-2 0,-14 2 0,4-1 0,-1 0-154,4 0 1,0-1 0,-2 0 153,-7 1 0,-1 0 0,-5 0 0,3-1 0,-7 0 0,6-3 0,-33 9 0,-10 4 0</inkml:trace>
  <inkml:trace contextRef="#ctx0" brushRef="#br0" timeOffset="192271">21717 12096 24575,'-10'0'0,"-1"0"0,-2 0 0,2 0 0,-1 0 0,0 0 0,-1 0 0,-1 0 0,0 0 0,-2 0 0,-1 2 0,-6 2 0,-2 2 0,-1 2 0,4 0 0,5 1 0,4-1 0,3-1 0,-1 1 0,-4 0 0,-3 2 0,-4 2 0,-2 2 0,-2 2 0,-4 2 0,0 1 0,2 0 0,4 0 0,4 1 0,2 0 0,-1 7 0,-3 6 0,-5 9 0,-1 9 0,-2 8 0,16-26 0,1 1 0,0 2 0,2 0 0,-1 4 0,2 1 0,1-1 0,2 1 0,0-2 0,2-1 0,2-1 0,1-2 0,1 29 0,1-5 0,4 0 0,9 0 0,9-1 0,8-7 0,3-9 0,-1-6 0,5-3 0,6 0 0,2-4 0,0-7 0,-10-9 0,-7-8 0,-5-4 0,-3-5 0,-2-4 0,-1-4 0,2-6 0,2 0 0,1-1 0,-2 3 0,-7 4 0,-4 4 0,-5 3 0,-2 4 0,-1 1 0,1 1 0,-1 1 0</inkml:trace>
  <inkml:trace contextRef="#ctx0" brushRef="#br0" timeOffset="194488">21703 13299 24575,'0'7'0,"0"1"0,0 11 0,0 10 0,0 11 0,0 9 0,0 0 0,0-3 0,0-4 0,0-9 0,0-6 0,0-7 0,0-5 0,0-8 0,0-8 0,0-11 0,0-9 0,0-1 0,0 1 0,0 4 0,4-8 0,5-13 0,5-14 0,3-4 0,0 7 0,-4 15 0,-4 13 0,0 7 0,0-2 0,4-3 0,0-1 0,-2 2 0,-4 5 0,-2 4 0,0 4 0,1 2 0,0 1 0,3 2 0,-1 0 0,-1 0 0,-3 1 0,-2 2 0,-1 2 0,2 3 0,3 2 0,2 2 0,3 3 0,0 2 0,0 1 0,-3-1 0,-3-1 0,-3-1 0,-1-2 0,-1 3 0,0 0 0,0 0 0,0-1 0,0-1 0,0 5 0,0 6 0,0 3 0,0 1 0,0-7 0,0-6 0,0-5 0,2-3 0,2 5 0,5 11 0,4 10 0,3 3 0,-2-6 0,-3-13 0,-5-10 0,-3-6 0</inkml:trace>
  <inkml:trace contextRef="#ctx0" brushRef="#br0" timeOffset="197120">21932 11793 24575,'16'0'0,"5"0"0,7-2 0,1 1 0,-4 4 0,-3 5 0,-5 4 0,-1 2 0,-3-1 0,-1-1 0,-2-1 0,-2 1 0,0 0 0,0 1 0,0 1 0,-2-1 0,-3-2 0,-1-3 0,-2-1 0,0-2 0,0 1 0,0 2 0,0 2 0,0 2 0,-2 1 0,-3 3 0,-6 4 0,-7 8 0,-6 7 0,-7 5 0,-3-1 0,-3-2 0,0-4 0,4-6 0,2-4 0,9-6 0,6-5 0,7-3 0,5-4 0,2-1 0,1-1 0,-1-2 0,0 0 0,0-5 0,4-1 0,7-4 0,19-3 0,25-4 0,-14 7 0,4 1 0,5 0 0,0 2 0,-1 0 0,-2 1 0,-7 2 0,-3 0 0,11 0 0,-19 1 0,-15 1 0,-6 1 0,-2 0 0,0 0 0,2 0 0,3-2 0,4 0 0,3 1 0,-2-1 0,-5 0 0,-4 2 0,-4-2 0</inkml:trace>
  <inkml:trace contextRef="#ctx0" brushRef="#br0" timeOffset="209205">20856 14850 24575,'12'-4'0,"2"1"0,4 0 0,10 1 0,10-2 0,12-1 0,11-2 0,3-2 0,-4 2 0,-9 2 0,-16 3 0,-8 2 0,-5 0 0,1 0 0,5 0 0,7 0 0,6 0 0,0 0 0,-5 0 0,-11 0 0,-10 0 0,-8 0 0,-6 0 0,-3 0 0</inkml:trace>
  <inkml:trace contextRef="#ctx0" brushRef="#br0" timeOffset="210220">20896 15175 24575,'25'0'0,"16"0"0,21 0 0,-23 0 0,1 0 0,-2 0 0,-1 0 0,29 0 0,-19 0 0,-20 0 0,-15 0 0,-7 0 0</inkml:trace>
  <inkml:trace contextRef="#ctx0" brushRef="#br0" timeOffset="211322">22047 15080 24575,'25'-3'0,"7"1"0,8 1 0,24 1 0,8 0-1091,-9 0 0,4 0 1,3 0 1090,-11 0 0,1 0 0,1 0 0,0 0 0,0 0 0,1 0 0,-1 0 0,-2 0 0,-4 0 0,0 0 0,-2 0 0,0 0 94,10 0 1,0 0 0,-3 0-95,-7 0 0,-1 0 0,-1 0 0,-3 0 0,0 0 0,-1 0 0,23 0 0,-1 0 351,-8 1 1,-2 0-352,-6 0 0,-3 1 0,-10 1 0,-4 1 0,14 3 1655,-19-2-1655,-17-2 157,-8-2 1,-4 1-1,-2-1 1</inkml:trace>
  <inkml:trace contextRef="#ctx0" brushRef="#br0" timeOffset="212771">23176 15339 24575,'27'0'0,"0"0"0,-3 0 0,-10 3 0,-7 8 0,-8 11 0,-4 10 0,-4 4 0,-6-3 0,-1-4 0,-4-4 0,-9 0 0,-14 4 0,-16 3 0,26-14 0,1-2 0,-26 14 0,15-7 0,17-4 0,9-5 0,9-3 0,5-3 0,3-3 0,11-4 0,28-2 0,-2-3 0,6 0 0,15-3 0,4-1 0,-13 1 0,1 0 0,-1 0 0,-1 0 0,0 0 0,-3 0 0,12-2 0,-5 1 0,17-2 0,-37 5 0,-19 1 0,-9 3 0,-2 0 0</inkml:trace>
  <inkml:trace contextRef="#ctx0" brushRef="#br0" timeOffset="214668">22212 14361 24575,'0'30'0,"0"8"0,0 16 0,0 6 0,0 3 0,0-7 0,0-10 0,2-11 0,0-9 0,1-8 0,2-7 0,-2-6 0,0-7 0,-2-8 0,-1-8 0,0-7 0,0-3 0,0 2 0,0-3 0,1-9 0,3-15 0,6-7 0,4 2 0,1 14 0,-3 17 0,-2 13 0,-3 7 0,0 5 0,0 0 0,0 0 0,-1 2 0,0 0 0,3 2 0,10 3 0,11 5 0,8 3 0,-3-1 0,-10-1 0,-10-2 0,-8 0 0,-4 1 0,-3 0 0,0 1 0,0 3 0,0 3 0,1 6 0,3 8 0,2 5 0,2 1 0,0-4 0,-2-8 0,0-9 0,-4-9 0,-1-5 0</inkml:trace>
  <inkml:trace contextRef="#ctx0" brushRef="#br0" timeOffset="-213657.73">22959 14248 24575,'-1'43'0,"-6"8"0,-8 11 0,-3 4 0,-1-2 0,7-11 0,7-12 0,1-10 0,3-5 0,1 5 0,2 8 0,5 9 0,7 4 0,6-3 0,5-9 0,-1-12 0,-2-9 0,1-6 0,-3-4 0,-3-3 0,-3-5 0,-6-1 0,0 0 0,-6 0 0,1 0 0</inkml:trace>
  <inkml:trace contextRef="#ctx0" brushRef="#br0" timeOffset="-210992.73">23124 14428 24575,'3'12'0,"0"14"0,-3 16 0,4 9 0,2-6 0,0-11 0,0-13 0,-4-5 0,-2-1 0,0 4 0,1 1 0,1 0 0,0-2 0,-1-5 0,-1-4 0,0-7 0,0-13 0,0-1 0,0-8 0,0 5 0,0 1 0,0 2 0,0 1 0,1 2 0,1 0 0,0 1 0,-1 1 0,-1 0 0,0 1 0,2-1 0,3-7 0,4-7 0,3-6 0,0-1 0,-2 7 0,-4 9 0,-2 7 0,-1 3 0,0 2 0,0-1 0,1 0 0,1-1 0,2-1 0,2 0 0,2-1 0,2 1 0,-1 2 0,-1 1 0,-3 0 0,-3 0 0,-1 0 0,-1 0 0,0 0 0,3 0 0,3 2 0,5 3 0,2 3 0,0 1 0,-3 0 0,-5-2 0,-3-1 0,-4 0 0,-1-1 0,0 1 0,0 1 0,0-1 0,0 3 0,0 0 0,0 2 0,0 0 0,0 1 0,0 1 0,0-1 0,0-1 0,0-1 0,0 0 0,0 1 0,0 2 0,0 0 0,0-2 0,0-1 0,0 0 0,0 1 0,0 1 0,0 3 0,0 2 0,0 1 0,0 0 0,1-4 0,0-7 0,0-4 0</inkml:trace>
  <inkml:trace contextRef="#ctx0" brushRef="#br0" timeOffset="-209475.73">23602 14693 24575,'17'0'0,"9"0"0,9 0 0,4 0 0,-6 0 0,-9 0 0,-10 0 0,-8 0 0,-2 0 0</inkml:trace>
  <inkml:trace contextRef="#ctx0" brushRef="#br0" timeOffset="-208109.73">24044 14471 24575,'0'30'0,"0"4"0,0 6 0,0 2 0,0 2 0,0-2 0,0-3 0,0-8 0,0-7 0,0-7 0,0-8 0,0-2 0,0-2 0,2 1 0,1 5 0,3 7 0,1 5 0,-1-1 0,0-2 0,-4-11 0,-1-3 0</inkml:trace>
  <inkml:trace contextRef="#ctx0" brushRef="#br0" timeOffset="-205991.73">24009 14110 24575,'12'0'0,"3"0"0,4 0 0,4 0 0,2 1 0,0 7 0,-2 3 0,-2 6 0,-3 2 0,-3-3 0,-1 2 0,0-2 0,-2-1 0,-3 0 0,-2-1 0,-2-1 0,-1 1 0,1-1 0,3 4 0,2 3 0,1 2 0,1 2 0,-2-3 0,-2-2 0,-3-4 0,-3-1 0,1-1 0,-2 1 0,1-2 0,0 0 0,-2 0 0,0 1 0,0 5 0,2 8 0,0 4 0,1 3 0,0 1 0,-1-3 0,0 2 0,-1 2 0,-1 9 0,-6 12 0,-8 10 0,4-29 0,-2 1 0,-2-2 0,0-2 0,-11 24 0,4-17 0,6-18 0,5-11 0,4-7 0,3-5 0,1-2 0,2 0 0,0 1 0</inkml:trace>
  <inkml:trace contextRef="#ctx0" brushRef="#br0" timeOffset="-194174.73">20381 17052 24575,'-3'-10'0,"4"-3"0,8-4 0,2 2 0,0 6 0,-2 5 0,1 3 0,12 1 0,18-2 0,18-5 0,-23 2 0,1-2 0,1 0 0,1 0 0,29-7 0,-14 5 0,-17 5 0,-14 2 0,-4 2 0,3 0 0,9 0 0,11 0 0,10 0 0,3 0 0,-6 0 0,-10 0 0,-12 0 0,-10 2 0,-8 2 0,-4 2 0,-4 1 0,0 1 0,0 1 0,0 1 0,0 2 0,0 0 0,4 2 0,12 2 0,14 6 0,11 3 0,4 1 0,-9-5 0,-10-8 0,-8-6 0,-6-4 0,-4-3 0,-1 0 0,5 0 0,21 0 0,26-2 0,-19-1 0,2-1 0,3 0 0,0-2 0,-6 0 0,-3-1 0,17-4 0,-23 3 0,-16 1 0,-9 1 0,-3 0 0,-2-1 0,1 3 0,0 1 0,0 1 0</inkml:trace>
  <inkml:trace contextRef="#ctx0" brushRef="#br0" timeOffset="-192107.73">20595 17478 24575,'14'-3'0,"17"-2"0,25-3 0,-19 2 0,1 0 0,2-2 0,-1 0 0,-3 1 0,-2 0 0,20-1 0,-15 4 0,-10 2 0,-3 2 0,3 0 0,7 0 0,7 0 0,5 0 0,1 0 0,-4 0 0,-10 1 0,-11 2 0,-9 1 0,-8 2 0,-3-2 0,-4 1 0,0 0 0,0 1 0,2 2 0,3 2 0,6 4 0,8 4 0,7 3 0,6 1 0,0-1 0,-3-2 0,-4-4 0,-5-5 0,1-5 0,12-4 0,17-1 0,16 0 0,4 0 0,-12-2 0,-17-3 0,-18-2 0,-10-3 0,-6 0 0,-1 1 0,1 1 0,1 3 0,2 0 0,1 1 0,0-3 0,-3 0 0,-3 1 0,-2 2 0,-2 2 0,2 1 0</inkml:trace>
  <inkml:trace contextRef="#ctx0" brushRef="#br0" timeOffset="-190207.73">22699 16572 24575,'0'52'0,"0"-17"0,0 2 0,0 10 0,0 3 0,0 6 0,0 1 0,0 2 0,0 0 0,0-3 0,0-2 0,0-3 0,0-3 0,0-9 0,0-3 0,0 15 0,0-17 0,0-12 0,0-3 0,0-1 0,0-4 0,0-7 0,0-7 0,0-9 0,0-9 0,0-6 0,0-4 0,0-4 0,0-8 0,0-17 0,0 19 0,0-1 0,0-4 0,1 0 0,1 3 0,0 1 0,4-21 0,1 20 0,3 9 0,4-4 0,5-5 0,4 0 0,-1 10 0,-5 13 0,-3 10 0,1 5 0,11-3 0,11-4 0,8-4 0,-3 1 0,-11 5 0,-10 4 0,-9 2 0,-6 2 0,-4 1 0,-1 3 0,-1 2 0,0 4 0,0 1 0,0 6 0,0 9 0,0 11 0,2 13 0,1 5 0,1-3 0,0-7 0,-2-10 0,0-5 0,0-2 0,1 1 0,4 5 0,3 5 0,7 5 0,3 0 0,1-6 0,-2-11 0,-3-9 0,0-6 0,2-6 0,0-1 0,0-3 0,-5-1 0,-5 0 0,-4-2 0</inkml:trace>
  <inkml:trace contextRef="#ctx0" brushRef="#br0" timeOffset="-188108.73">23344 16462 24575,'9'-4'0,"7"2"0,8 2 0,4 0 0,-1 4 0,-6 2 0,-4 4 0,-4 1 0,1 2 0,0 3 0,2 4 0,2 2 0,2 2 0,-2-2 0,-4-4 0,-7-5 0,-3-5 0,-4-3 0,0-2 0,0 1 0,0 1 0,-3 3 0,-6 3 0,-4 1 0,-3 2 0,2 0 0,2-2 0,2-3 0,0-2 0,0-3 0,0 1 0,-3 3 0,-2 3 0,1 2 0,1-1 0,7-3 0,6-4 0,6-3 0,9-4 0,15-2 0,16-4 0,13-2 0,1-2 0,-10 2 0,-15 3 0,-11 3 0,-11 2 0,-6 2 0,-4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01:37:04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5961 4050 24575,'7'0'0,"-1"0"0,4 0 0,1 0 0,5-3 0,-1 2 0,5-2 0,-4 3 0,9 0 0,-9-4 0,15 3 0,-1-6 0,11 6 0,-5-3 0,-8 4 0,-6 0 0,-6 0 0,-1 0 0,5 0 0,-4 0 0,4 0 0,-5 0 0,0 0 0,5 0 0,-3 0 0,7 0 0,-3 0 0,0 0 0,4 0 0,3-3 0,6 2 0,7-2 0,0 3 0,-7-4 0,-1 3 0,-12-3 0,3 4 0,-3 0 0,0 0 0,4 0 0,-9 0 0,4 0 0,0-4 0,-4 3 0,9-2 0,-9 3 0,21 0 0,-7 0 0,21 0 0,-5 0 0,-10 0 0,0 0 0,-20 0 0,0 0 0,-2 0 0,-6 0 0,2 0 0,-3 0 0,-3 0 0,-1 0 0</inkml:trace>
  <inkml:trace contextRef="#ctx0" brushRef="#br0" timeOffset="1965">7846 4039 24575,'4'0'0,"2"0"0,19 0 0,-7 0 0,42 0 0,-26 0 0,27 0 0,-11 0 0,3 0 0,6 3 0,-2 2 0,-12 0 0,-6-1 0,-8 0 0,1-3 0,-5 2 0,4-3 0,1 5 0,-5-4 0,4 3 0,1-4 0,-5 4 0,4-3 0,-5 3 0,11-1 0,3 2 0,12 0 0,-17-1 0,1 0 0,-15-3 0,5 2 0,0-3 0,5 0 0,-4 0 0,10 0 0,-4 5 0,6-4 0,-1 3 0,0 0 0,1-3 0,-1 4 0,7-5 0,-5 0 0,11 0 0,19 0 0,-32 0 0,0 0 0,3 0 0,-1 0 0,30 0 0,0 0 0,-13 0 0,7 0 0,-19 0 0,-7 0 0,-5 0 0,-2 0 0,-5 0 0,-5 0 0,-1 0 0,-9 0 0,-1 0 0,-3 0 0,0 0 0,-1 0 0,1 0 0,-4 3 0,2-3 0,-4 6 0,2-6 0,-3 3 0</inkml:trace>
  <inkml:trace contextRef="#ctx0" brushRef="#br0" timeOffset="4313">10448 4046 24575,'24'0'0,"14"0"0,-1 0 0,12 0 0,-22 0 0,10 0 0,-10 0 0,4 0 0,-5 0 0,-5 0 0,4 0 0,-4 0 0,5 0 0,-1 0 0,1 0 0,0 0 0,5 0 0,8 0 0,12 0 0,2 0 0,-7 0 0,-9 0 0,-11 0 0,0 0 0,-1 0 0,7 0 0,1 0 0,11 0 0,-4 0 0,12 0 0,-6 0 0,7 0 0,-6 0 0,-2 0 0,-7 0 0,-5 0 0,-2 0 0,-3 0 0,-7 0 0,3 0 0,-13 0 0,3 0 0,-8 0 0,1 0 0,0 0 0,-1 0 0,1 0 0,-1 0 0,1 0 0,-1 0 0,0 0 0,0 0 0,0 0 0,0 0 0,0 0 0,0 0 0,0 0 0,1 0 0,-1 0 0,1 0 0,2 0 0,1 0 0,0 0 0,0 0 0,-3 0 0,-1 0 0,1 0 0,-1 0 0,1 0 0,0 0 0,-1 0 0,0 0 0,4 0 0,-4 0 0,6 0 0,-5 0 0,-3 0 0,-2 0 0,-4 0 0</inkml:trace>
  <inkml:trace contextRef="#ctx0" brushRef="#br0" timeOffset="20498">12332 4167 24575,'0'12'0,"0"11"0,0 10 0,0 1 0,0-6 0,0-8 0,0-5 0,0 0 0,0 0 0,0 1 0,0-1 0,0-4 0,0 3 0,0-6 0,0 2 0,0-3 0,0 2 0,0-2 0,2 0 0,2-4 0,2-3 0,3 0 0,18-4 0,13 3 0,7-7 0,3 7 0,-12-4 0,1 1 0,-7 3 0,0-3 0,-11 4 0,3 0 0,-7 0 0,3 0 0,-5 0 0,0 0 0,0 0 0,0 0 0,1 0 0,6 0 0,1 0 0,7 0 0,-6 0 0,3 0 0,-11 0 0,4 0 0,0 0 0,1 0 0,5 0 0,0 0 0,-1 0 0,7 0 0,-5 0 0,4 0 0,-5 0 0,0 0 0,0 0 0,6 0 0,-2 0 0,6 0 0,-6 0 0,-1 0 0,-6 0 0,-3 0 0,0 0 0,1 0 0,5 0 0,5 0 0,2 4 0,6-3 0,6 3 0,-5 1 0,4-4 0,-5 3 0,-1-4 0,0 4 0,12-3 0,-3 4 0,11-5 0,11 4 0,-25-3-207,-2 1 0,-1 0 207,4-2 0,-8 0 0,2 0 0,-3 0 0,-2 0 0,24 0 0,-21 0 0,0 0 0,19 0 0,14 0 0,-8 0 0,-2 0 0,-13 0 0,-2 0 0,-7 4 0,-5-3 0,5 4 0,-12-2 0,4 1 414,-15 1-414,-2-2 0,-6-3 0,0 3 0,3-2 0,1 1 0,1-2 0,2 4 0,-3-3 0,1 2 0,-2 0 0,-3-2 0,-1 2 0,1-3 0,-3-8 0,-2-8 0,-2 2 0,0-7 0,0 10 0,0-5 0,0 5 0,0-3 0,0 6 0,0-6 0,0 7 0,0-8 0,0 4 0,0 0 0,0-4 0,-3 4 0,2-4 0,-6-3 0,7-1 0,-7-3 0,7 7 0,-3-1 0,3 9 0,0-5 0,0 4 0,-3 2 0,2 0 0,-2 3 0,3-4 0,0 1 0,0 3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BEFE939-1DF9-4D2E-B56C-3C2586F43F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D7DE64C-1EFD-F335-64FA-CE55A2F1282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B5C1EA63-8F9E-6017-E8A9-F1FCCB3E185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8AD5411D-80BF-980C-B361-3D835183EF6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38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DF08735-165A-473C-CAFF-ACCF30EBC0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EB157A2-DEB9-A752-DD4B-7332D9CBDC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7B4E2A9B-A93A-244F-92C7-7EC7A643B28E}" type="slidenum">
              <a:rPr lang="de-DE" altLang="zh-CN"/>
              <a:pPr/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105B0026-5537-1DD8-5D00-C79973AE0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C3DA2C-4700-ED42-892C-42FD4E3EA9CF}" type="slidenum">
              <a:rPr lang="de-DE" altLang="zh-CN">
                <a:latin typeface="Times New Roman" panose="02020603050405020304" pitchFamily="18" charset="0"/>
              </a:rPr>
              <a:pPr/>
              <a:t>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93A1F0D-E02F-145C-67F3-77FB019978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6E3C2C8-0D25-0E08-5422-FAD3782C8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EE4B8DF-ABFD-85AF-A5C6-6B4CA3E4C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F80D95-4FC5-7742-96EC-361D60A64616}" type="slidenum">
              <a:rPr lang="de-DE" altLang="zh-CN">
                <a:latin typeface="Times New Roman" panose="02020603050405020304" pitchFamily="18" charset="0"/>
              </a:rPr>
              <a:pPr/>
              <a:t>2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2B34503-1F81-0BD9-CE9D-8C47FFF024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19D565C-9C8B-A7FD-8D76-74BD480E8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6AEED44D-FF43-1C1C-EB1E-203B72267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D2DBC4-083C-CA4A-9EEE-B32311BD9A49}" type="slidenum">
              <a:rPr lang="de-DE" altLang="zh-CN">
                <a:latin typeface="Times New Roman" panose="02020603050405020304" pitchFamily="18" charset="0"/>
              </a:rPr>
              <a:pPr/>
              <a:t>3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2C6DD0B-7419-9652-761E-85CD5831D4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03006B5-12E7-BD6D-9238-ECEF99586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E226E4FD-1DFD-F75A-F914-4BB40D023F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631BFD-6757-C742-A599-E51472553D6E}" type="slidenum">
              <a:rPr lang="de-DE" altLang="zh-CN">
                <a:latin typeface="Times New Roman" panose="02020603050405020304" pitchFamily="18" charset="0"/>
              </a:rPr>
              <a:pPr/>
              <a:t>4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8603E62-CBF7-28F1-8189-3FCEA6EC40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0755FB1-5441-E8B7-ABFA-465ECE6A5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FC1E623-A49D-A846-A49A-E204E661B1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DB18AF-A084-D144-BB77-7821FB6ADF74}" type="slidenum">
              <a:rPr lang="de-DE" altLang="zh-CN">
                <a:latin typeface="Times New Roman" panose="02020603050405020304" pitchFamily="18" charset="0"/>
              </a:rPr>
              <a:pPr/>
              <a:t>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38C74551-2F66-125E-6CB1-0995E31D92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4A246D1-2C93-B449-CF37-DF0BD6A72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38EBEFC3-E8B3-3C03-D32A-BC71842BD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F8271B-A044-EF46-B55F-4F5E67472F3E}" type="slidenum">
              <a:rPr lang="de-DE" altLang="zh-CN">
                <a:latin typeface="Times New Roman" panose="02020603050405020304" pitchFamily="18" charset="0"/>
              </a:rPr>
              <a:pPr/>
              <a:t>6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695A9F74-D26E-D3D0-1C58-0D870A1CB9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0C69B9F-7B63-5B55-418B-102240848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 altLang="zh-CN"/>
              <a:t>Analogy for symmetric-key algorithms: Symmetric-key schemes are analogous to a safe box with a strong lock.</a:t>
            </a:r>
          </a:p>
          <a:p>
            <a:r>
              <a:rPr lang="de-DE" altLang="zh-CN"/>
              <a:t>Everyone with the key can deposit messages in it and retrieve messages.</a:t>
            </a:r>
          </a:p>
          <a:p>
            <a:endParaRPr lang="de-DE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F94DE11-4B5E-939E-2D6D-40117240E8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1A1BA8-13A6-1A44-8E76-6F8FF2D4C5A8}" type="slidenum">
              <a:rPr lang="de-DE" altLang="zh-CN">
                <a:latin typeface="Times New Roman" panose="02020603050405020304" pitchFamily="18" charset="0"/>
              </a:rPr>
              <a:pPr/>
              <a:t>7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0D9596C-539E-C22F-3A06-137C556047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32EB87D-ACA7-6A5A-43BB-EF780C443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2FFFE537-1B6E-8D51-E501-122CBD4B85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B19F05-422F-934B-9021-F8A4B7FE526F}" type="slidenum">
              <a:rPr lang="de-DE" altLang="zh-CN">
                <a:latin typeface="Times New Roman" panose="02020603050405020304" pitchFamily="18" charset="0"/>
              </a:rPr>
              <a:pPr/>
              <a:t>8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B102F445-196D-5C0B-A4C3-8F59D48596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2FEA5221-090E-EA9F-3A74-FA5C4EF94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91160EE-F4A2-43D1-A426-38CF285933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E01580-55E1-5040-AE6D-57DB243210C7}" type="slidenum">
              <a:rPr lang="de-DE" altLang="zh-CN">
                <a:latin typeface="Times New Roman" panose="02020603050405020304" pitchFamily="18" charset="0"/>
              </a:rPr>
              <a:pPr/>
              <a:t>9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F008530-CF97-C39A-A1F4-8B4A73F37C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B7C7042-52CF-FA05-2CBB-52280F152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5D7B246D-98B7-7831-38EB-C4380A2439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F95E41-FA3B-B04C-8467-043A0342DF84}" type="slidenum">
              <a:rPr lang="de-DE" altLang="zh-CN">
                <a:latin typeface="Times New Roman" panose="02020603050405020304" pitchFamily="18" charset="0"/>
              </a:rPr>
              <a:pPr/>
              <a:t>10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68D954A-E26D-A597-0A4E-78324C5F84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6E3793F0-5076-8B5D-9AFA-C9F8F953E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5F35E7E1-F397-F875-6315-4A2C8D62FF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A0642B-C4D1-5B45-871C-AF2B60AC2A77}" type="slidenum">
              <a:rPr lang="de-DE" altLang="zh-CN">
                <a:latin typeface="Times New Roman" panose="02020603050405020304" pitchFamily="18" charset="0"/>
              </a:rPr>
              <a:pPr/>
              <a:t>11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B000840-C8B3-6851-3708-2EC84BD67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071E9D8-0575-C4C2-43EF-C6FAA0635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F34A52BA-94F0-7ABD-0AEC-4E721B2324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748B17-EB5A-EC4A-936A-78612225C84B}" type="slidenum">
              <a:rPr lang="de-DE" altLang="zh-CN">
                <a:latin typeface="Times New Roman" panose="02020603050405020304" pitchFamily="18" charset="0"/>
              </a:rPr>
              <a:pPr/>
              <a:t>12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EFD6483-0AAB-92B9-D5BB-56434392E9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7F489418-F0F4-B972-8611-A6AE4E7D8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C7670167-EC5C-3AAD-39D5-B4A5F46A6B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C277DC-59E8-CB4D-B4D5-9EA485F416CC}" type="slidenum">
              <a:rPr lang="de-DE" altLang="zh-CN">
                <a:latin typeface="Times New Roman" panose="02020603050405020304" pitchFamily="18" charset="0"/>
              </a:rPr>
              <a:pPr/>
              <a:t>13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858E45C-99D4-8FCA-1EE1-9A3492FAA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B2678D3-239A-FB2F-575A-B9F498789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 altLang="zh-CN"/>
              <a:t>It looks as though public-key schemes can provide all</a:t>
            </a:r>
          </a:p>
          <a:p>
            <a:r>
              <a:rPr lang="de-DE" altLang="zh-CN"/>
              <a:t>functionality needed in modern security protocols such as</a:t>
            </a:r>
          </a:p>
          <a:p>
            <a:r>
              <a:rPr lang="de-DE" altLang="zh-CN"/>
              <a:t>SSL/TLS. However, the major drawback in practice is that encryption of</a:t>
            </a:r>
          </a:p>
          <a:p>
            <a:r>
              <a:rPr lang="de-DE" altLang="zh-CN"/>
              <a:t>data is extremely computationally demanding with public-key</a:t>
            </a:r>
          </a:p>
          <a:p>
            <a:r>
              <a:rPr lang="de-DE" altLang="zh-CN"/>
              <a:t>algorithms. Many  block and stream ciphers can encrypt 1000 times</a:t>
            </a:r>
          </a:p>
          <a:p>
            <a:r>
              <a:rPr lang="de-DE" altLang="zh-CN"/>
              <a:t>faster in software than public-key algorithms. On the other hand,</a:t>
            </a:r>
          </a:p>
          <a:p>
            <a:r>
              <a:rPr lang="de-DE" altLang="zh-CN"/>
              <a:t>symmetric algorithms are poor at providing digital signatures and key</a:t>
            </a:r>
          </a:p>
          <a:p>
            <a:r>
              <a:rPr lang="de-DE" altLang="zh-CN"/>
              <a:t>establishment/transport functionality. Hence, most practical protocols</a:t>
            </a:r>
          </a:p>
          <a:p>
            <a:r>
              <a:rPr lang="de-DE" altLang="zh-CN"/>
              <a:t>are hybrid protocols which incorporate both symmetric and public-key</a:t>
            </a:r>
          </a:p>
          <a:p>
            <a:r>
              <a:rPr lang="de-DE" altLang="zh-CN"/>
              <a:t>algorithms.</a:t>
            </a:r>
          </a:p>
          <a:p>
            <a:endParaRPr lang="de-DE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03A56A65-DD11-F15A-DA72-47B8F606AE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EEB69A-7EA6-A14E-B8BA-C57B3167AB01}" type="slidenum">
              <a:rPr lang="de-DE" altLang="zh-CN">
                <a:latin typeface="Times New Roman" panose="02020603050405020304" pitchFamily="18" charset="0"/>
              </a:rPr>
              <a:pPr/>
              <a:t>14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26E91C72-D300-3EBA-605C-48316B1AC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726B6C93-8D48-31F9-8AF9-8E7BD6ECB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9D0F0A96-BCF1-719D-FE3D-37853B50E9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6C35E0-D11E-564E-95CC-4C75F782CEA4}" type="slidenum">
              <a:rPr lang="de-DE" altLang="zh-CN">
                <a:latin typeface="Times New Roman" panose="02020603050405020304" pitchFamily="18" charset="0"/>
              </a:rPr>
              <a:pPr/>
              <a:t>15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749C737D-CBCC-1466-C6D3-0F1B005C2C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802450F-D466-03AC-00A6-C3E5A0BEA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BF91128-7934-EDD2-D23B-DD21084BC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21D877-F6B9-3C4C-8C22-1E721A4F047D}" type="slidenum">
              <a:rPr lang="de-DE" altLang="zh-CN">
                <a:latin typeface="Times New Roman" panose="02020603050405020304" pitchFamily="18" charset="0"/>
              </a:rPr>
              <a:pPr/>
              <a:t>16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A0F40438-5CB8-84F5-A035-2EEBDBAD31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A6F780A-3A53-BCCA-0168-81FBD0B66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32B9337B-CE1B-6E25-F4F9-93F813D1B8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1A7C9F-A105-AC40-A179-FC55E56BCDD4}" type="slidenum">
              <a:rPr lang="de-DE" altLang="zh-CN">
                <a:latin typeface="Times New Roman" panose="02020603050405020304" pitchFamily="18" charset="0"/>
              </a:rPr>
              <a:pPr/>
              <a:t>17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1A2FBA83-B276-C3C7-458C-37FBBD3D88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7A6C4F20-C9B9-2D81-30FA-FAF160969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 altLang="zh-CN"/>
              <a:t>In addition, there are many other public-key schemes, such as NTRU or</a:t>
            </a:r>
          </a:p>
          <a:p>
            <a:r>
              <a:rPr lang="de-DE" altLang="zh-CN"/>
              <a:t>systems based on hidden field equations, which are not in wide spread</a:t>
            </a:r>
          </a:p>
          <a:p>
            <a:r>
              <a:rPr lang="de-DE" altLang="zh-CN"/>
              <a:t>use. Often, their security is not very well understood.</a:t>
            </a:r>
          </a:p>
          <a:p>
            <a:endParaRPr lang="de-DE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75C6171-1BA6-E9BC-6B0C-C0D28007DE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A55FBA-FB9C-DA4D-87C6-B57219274E92}" type="slidenum">
              <a:rPr lang="de-DE" altLang="zh-CN">
                <a:latin typeface="Times New Roman" panose="02020603050405020304" pitchFamily="18" charset="0"/>
              </a:rPr>
              <a:pPr/>
              <a:t>18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256B3C8-321D-BF41-62A6-085C2E5587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C46943D-2673-2423-0F4C-0A8BB7997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 altLang="zh-CN"/>
              <a:t>Remark: The long operands lead to a high computationally complexity of</a:t>
            </a:r>
          </a:p>
          <a:p>
            <a:r>
              <a:rPr lang="de-DE" altLang="zh-CN"/>
              <a:t>public-key algorithms. This </a:t>
            </a:r>
            <a:r>
              <a:rPr lang="de-DE" altLang="zh-CN" b="1"/>
              <a:t>can</a:t>
            </a:r>
            <a:r>
              <a:rPr lang="de-DE" altLang="zh-CN"/>
              <a:t> be</a:t>
            </a:r>
          </a:p>
          <a:p>
            <a:r>
              <a:rPr lang="de-DE" altLang="zh-CN"/>
              <a:t>a bottleneck in applications with constrained microprocessors</a:t>
            </a:r>
          </a:p>
          <a:p>
            <a:r>
              <a:rPr lang="de-DE" altLang="zh-CN"/>
              <a:t>(e.g., mobile applications) or on the server side of networks, where</a:t>
            </a:r>
          </a:p>
          <a:p>
            <a:r>
              <a:rPr lang="de-DE" altLang="zh-CN"/>
              <a:t>many public-key operations per time unit have to be executed.</a:t>
            </a:r>
          </a:p>
          <a:p>
            <a:endParaRPr lang="de-DE" altLang="zh-CN"/>
          </a:p>
          <a:p>
            <a:endParaRPr lang="de-DE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4EE9284-7D55-BF97-3DCC-87C18957D4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678567-3929-C344-948F-318A20179F49}" type="slidenum">
              <a:rPr lang="de-DE" altLang="zh-CN">
                <a:latin typeface="Times New Roman" panose="02020603050405020304" pitchFamily="18" charset="0"/>
              </a:rPr>
              <a:pPr/>
              <a:t>19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916A180-96E9-D857-15C9-9F12E2222D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1B8115BB-C780-DA9B-C616-580B24FA3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lienbildplatzhalter 1">
            <a:extLst>
              <a:ext uri="{FF2B5EF4-FFF2-40B4-BE49-F238E27FC236}">
                <a16:creationId xmlns:a16="http://schemas.microsoft.com/office/drawing/2014/main" id="{A3BACBB8-E1AE-7E83-3314-9AD104C887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izenplatzhalter 2">
            <a:extLst>
              <a:ext uri="{FF2B5EF4-FFF2-40B4-BE49-F238E27FC236}">
                <a16:creationId xmlns:a16="http://schemas.microsoft.com/office/drawing/2014/main" id="{31B6E761-2C1C-0538-5099-FFDAA284A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5300" name="Foliennummernplatzhalter 3">
            <a:extLst>
              <a:ext uri="{FF2B5EF4-FFF2-40B4-BE49-F238E27FC236}">
                <a16:creationId xmlns:a16="http://schemas.microsoft.com/office/drawing/2014/main" id="{F640AF89-A517-DC81-3671-152F52550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E74C09-F943-0441-BFDE-76BB307EB089}" type="slidenum">
              <a:rPr lang="de-DE" altLang="zh-CN">
                <a:latin typeface="Times New Roman" panose="02020603050405020304" pitchFamily="18" charset="0"/>
              </a:rPr>
              <a:pPr/>
              <a:t>20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lienbildplatzhalter 1">
            <a:extLst>
              <a:ext uri="{FF2B5EF4-FFF2-40B4-BE49-F238E27FC236}">
                <a16:creationId xmlns:a16="http://schemas.microsoft.com/office/drawing/2014/main" id="{1360BCDB-FEC3-2112-90C3-5EBBA341BD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izenplatzhalter 2">
            <a:extLst>
              <a:ext uri="{FF2B5EF4-FFF2-40B4-BE49-F238E27FC236}">
                <a16:creationId xmlns:a16="http://schemas.microsoft.com/office/drawing/2014/main" id="{C44123BB-8842-73F1-8D77-9AE51C337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6324" name="Foliennummernplatzhalter 3">
            <a:extLst>
              <a:ext uri="{FF2B5EF4-FFF2-40B4-BE49-F238E27FC236}">
                <a16:creationId xmlns:a16="http://schemas.microsoft.com/office/drawing/2014/main" id="{70FDDEE6-C331-A6C5-3287-641854364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C2AA9E-E900-9349-B5F8-BA9EBC9DF782}" type="slidenum">
              <a:rPr lang="de-DE" altLang="zh-CN">
                <a:latin typeface="Times New Roman" panose="02020603050405020304" pitchFamily="18" charset="0"/>
              </a:rPr>
              <a:pPr/>
              <a:t>21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lienbildplatzhalter 1">
            <a:extLst>
              <a:ext uri="{FF2B5EF4-FFF2-40B4-BE49-F238E27FC236}">
                <a16:creationId xmlns:a16="http://schemas.microsoft.com/office/drawing/2014/main" id="{FA8D3FC2-A2ED-D3F1-F91D-3861D1722B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izenplatzhalter 2">
            <a:extLst>
              <a:ext uri="{FF2B5EF4-FFF2-40B4-BE49-F238E27FC236}">
                <a16:creationId xmlns:a16="http://schemas.microsoft.com/office/drawing/2014/main" id="{14C0C06B-17C4-FD54-3B45-CF60481A5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7348" name="Foliennummernplatzhalter 3">
            <a:extLst>
              <a:ext uri="{FF2B5EF4-FFF2-40B4-BE49-F238E27FC236}">
                <a16:creationId xmlns:a16="http://schemas.microsoft.com/office/drawing/2014/main" id="{3DC6F90C-8C6C-0B6D-646B-6D9F3B929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B6C5AA-637F-4849-AFE2-AE830B3A7B7E}" type="slidenum">
              <a:rPr lang="de-DE" altLang="zh-CN">
                <a:latin typeface="Times New Roman" panose="02020603050405020304" pitchFamily="18" charset="0"/>
              </a:rPr>
              <a:pPr/>
              <a:t>22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DE26-36BE-AEB4-38CC-BA0736AF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lienbildplatzhalter 1">
            <a:extLst>
              <a:ext uri="{FF2B5EF4-FFF2-40B4-BE49-F238E27FC236}">
                <a16:creationId xmlns:a16="http://schemas.microsoft.com/office/drawing/2014/main" id="{44DEAD1B-900F-57DA-28B6-CBA66E5056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izenplatzhalter 2">
            <a:extLst>
              <a:ext uri="{FF2B5EF4-FFF2-40B4-BE49-F238E27FC236}">
                <a16:creationId xmlns:a16="http://schemas.microsoft.com/office/drawing/2014/main" id="{2463F9D4-8764-56F3-6ADF-7614B3EB9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7348" name="Foliennummernplatzhalter 3">
            <a:extLst>
              <a:ext uri="{FF2B5EF4-FFF2-40B4-BE49-F238E27FC236}">
                <a16:creationId xmlns:a16="http://schemas.microsoft.com/office/drawing/2014/main" id="{82265492-A0E9-D628-177B-DB37B3FA5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B6C5AA-637F-4849-AFE2-AE830B3A7B7E}" type="slidenum">
              <a:rPr lang="de-DE" altLang="zh-CN">
                <a:latin typeface="Times New Roman" panose="02020603050405020304" pitchFamily="18" charset="0"/>
              </a:rPr>
              <a:pPr/>
              <a:t>23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366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55DA-D279-3559-6233-DA4E69C4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lienbildplatzhalter 1">
            <a:extLst>
              <a:ext uri="{FF2B5EF4-FFF2-40B4-BE49-F238E27FC236}">
                <a16:creationId xmlns:a16="http://schemas.microsoft.com/office/drawing/2014/main" id="{FFEC9EEB-7BB9-1659-3C7B-FE491FEA2C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izenplatzhalter 2">
            <a:extLst>
              <a:ext uri="{FF2B5EF4-FFF2-40B4-BE49-F238E27FC236}">
                <a16:creationId xmlns:a16="http://schemas.microsoft.com/office/drawing/2014/main" id="{D0C1B24C-F1C0-A57C-099B-9BF6CE8E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7348" name="Foliennummernplatzhalter 3">
            <a:extLst>
              <a:ext uri="{FF2B5EF4-FFF2-40B4-BE49-F238E27FC236}">
                <a16:creationId xmlns:a16="http://schemas.microsoft.com/office/drawing/2014/main" id="{67316B57-EA9D-7881-0BCC-F9B9C842E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B6C5AA-637F-4849-AFE2-AE830B3A7B7E}" type="slidenum">
              <a:rPr lang="de-DE" altLang="zh-CN">
                <a:latin typeface="Times New Roman" panose="02020603050405020304" pitchFamily="18" charset="0"/>
              </a:rPr>
              <a:pPr/>
              <a:t>24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794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lienbildplatzhalter 1">
            <a:extLst>
              <a:ext uri="{FF2B5EF4-FFF2-40B4-BE49-F238E27FC236}">
                <a16:creationId xmlns:a16="http://schemas.microsoft.com/office/drawing/2014/main" id="{FD4E7B80-F5D4-1C7C-3BEE-F33E550477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izenplatzhalter 2">
            <a:extLst>
              <a:ext uri="{FF2B5EF4-FFF2-40B4-BE49-F238E27FC236}">
                <a16:creationId xmlns:a16="http://schemas.microsoft.com/office/drawing/2014/main" id="{9DBAB5F0-DB42-702E-80F8-C274FF1B7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8372" name="Foliennummernplatzhalter 3">
            <a:extLst>
              <a:ext uri="{FF2B5EF4-FFF2-40B4-BE49-F238E27FC236}">
                <a16:creationId xmlns:a16="http://schemas.microsoft.com/office/drawing/2014/main" id="{CF2DB391-B479-97B2-F51E-77F530EC3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E5A3FA-F194-3C4E-988F-3000159D0D82}" type="slidenum">
              <a:rPr lang="de-DE" altLang="zh-CN">
                <a:latin typeface="Times New Roman" panose="02020603050405020304" pitchFamily="18" charset="0"/>
              </a:rPr>
              <a:pPr/>
              <a:t>25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lienbildplatzhalter 1">
            <a:extLst>
              <a:ext uri="{FF2B5EF4-FFF2-40B4-BE49-F238E27FC236}">
                <a16:creationId xmlns:a16="http://schemas.microsoft.com/office/drawing/2014/main" id="{5F0AE7F8-D3C4-BBA3-4516-7314982467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izenplatzhalter 2">
            <a:extLst>
              <a:ext uri="{FF2B5EF4-FFF2-40B4-BE49-F238E27FC236}">
                <a16:creationId xmlns:a16="http://schemas.microsoft.com/office/drawing/2014/main" id="{DA2AC1CF-165D-4A2F-94B5-7EB5738D9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9396" name="Foliennummernplatzhalter 3">
            <a:extLst>
              <a:ext uri="{FF2B5EF4-FFF2-40B4-BE49-F238E27FC236}">
                <a16:creationId xmlns:a16="http://schemas.microsoft.com/office/drawing/2014/main" id="{25D54241-119E-F7BB-A5FA-80BB8CF4A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AAF481-FAA0-0844-B979-93FAA663BD0A}" type="slidenum">
              <a:rPr lang="de-DE" altLang="zh-CN">
                <a:latin typeface="Times New Roman" panose="02020603050405020304" pitchFamily="18" charset="0"/>
              </a:rPr>
              <a:pPr/>
              <a:t>26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A5D999FC-D1D6-E977-A140-FB689647B8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1F3E06B5-82F9-714F-E18C-24CBD37E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D154621A-94FE-B676-DA0F-2562A809F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4DC3F4-08E1-814D-B6AE-475CDA20919D}" type="slidenum">
              <a:rPr lang="de-DE" altLang="zh-CN">
                <a:latin typeface="Times New Roman" panose="02020603050405020304" pitchFamily="18" charset="0"/>
              </a:rPr>
              <a:pPr/>
              <a:t>27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lienbildplatzhalter 1">
            <a:extLst>
              <a:ext uri="{FF2B5EF4-FFF2-40B4-BE49-F238E27FC236}">
                <a16:creationId xmlns:a16="http://schemas.microsoft.com/office/drawing/2014/main" id="{042306AC-B11F-B913-3EAD-031E149D27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izenplatzhalter 2">
            <a:extLst>
              <a:ext uri="{FF2B5EF4-FFF2-40B4-BE49-F238E27FC236}">
                <a16:creationId xmlns:a16="http://schemas.microsoft.com/office/drawing/2014/main" id="{1F20AE2C-1467-E350-3440-CAF245577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1444" name="Foliennummernplatzhalter 3">
            <a:extLst>
              <a:ext uri="{FF2B5EF4-FFF2-40B4-BE49-F238E27FC236}">
                <a16:creationId xmlns:a16="http://schemas.microsoft.com/office/drawing/2014/main" id="{441A3022-3A9D-7D98-B426-29F7E52E7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ECBB1D-EA4A-BB4E-9723-C350854045BB}" type="slidenum">
              <a:rPr lang="de-DE" altLang="zh-CN">
                <a:latin typeface="Times New Roman" panose="02020603050405020304" pitchFamily="18" charset="0"/>
              </a:rPr>
              <a:pPr/>
              <a:t>28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lienbildplatzhalter 1">
            <a:extLst>
              <a:ext uri="{FF2B5EF4-FFF2-40B4-BE49-F238E27FC236}">
                <a16:creationId xmlns:a16="http://schemas.microsoft.com/office/drawing/2014/main" id="{E37EF3DB-48C3-F838-6B73-090C88C977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izenplatzhalter 2">
            <a:extLst>
              <a:ext uri="{FF2B5EF4-FFF2-40B4-BE49-F238E27FC236}">
                <a16:creationId xmlns:a16="http://schemas.microsoft.com/office/drawing/2014/main" id="{C6B58950-39EE-32AB-777E-9E9030072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2468" name="Foliennummernplatzhalter 3">
            <a:extLst>
              <a:ext uri="{FF2B5EF4-FFF2-40B4-BE49-F238E27FC236}">
                <a16:creationId xmlns:a16="http://schemas.microsoft.com/office/drawing/2014/main" id="{542C2C63-CACC-F581-F7E9-142244061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6D4BC4-7C18-A64A-9B71-50764EEBB7D9}" type="slidenum">
              <a:rPr lang="de-DE" altLang="zh-CN">
                <a:latin typeface="Times New Roman" panose="02020603050405020304" pitchFamily="18" charset="0"/>
              </a:rPr>
              <a:pPr/>
              <a:t>29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E860662F-E571-A744-B3C7-4F40CD2C26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42F0CE-A762-3C47-827C-45559804EC34}" type="slidenum">
              <a:rPr lang="de-DE" altLang="zh-CN">
                <a:latin typeface="Times New Roman" panose="02020603050405020304" pitchFamily="18" charset="0"/>
              </a:rPr>
              <a:pPr/>
              <a:t>30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4063F42-B0DD-07B5-5CE6-22875896E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ED67076-827D-4FEB-800C-74BB2C8A8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3075" y="322263"/>
            <a:ext cx="6769100" cy="744537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Klicken Sie, um das Titelformat zu bearbeiten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8838" y="1108075"/>
            <a:ext cx="6303962" cy="1752600"/>
          </a:xfrm>
        </p:spPr>
        <p:txBody>
          <a:bodyPr/>
          <a:lstStyle>
            <a:lvl1pPr marL="0" indent="0">
              <a:buFontTx/>
              <a:buNone/>
              <a:defRPr sz="1800"/>
            </a:lvl1pPr>
          </a:lstStyle>
          <a:p>
            <a:r>
              <a:rPr lang="de-DE"/>
              <a:t>Klicken Sie, um das Format des Untertitelmasters zu bearbeiten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6E36DF3-E8C2-6CDA-5024-64748C9039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101013" y="6453188"/>
            <a:ext cx="812800" cy="215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D1D4D956-BC76-9847-828D-EB58424ADB13}" type="datetime1">
              <a:rPr lang="de-DE"/>
              <a:pPr>
                <a:defRPr/>
              </a:pPr>
              <a:t>04.11.24</a:t>
            </a:fld>
            <a:endParaRPr lang="de-DE"/>
          </a:p>
          <a:p>
            <a:pPr>
              <a:defRPr/>
            </a:pPr>
            <a:r>
              <a:rPr lang="de-DE"/>
              <a:t>6. Sept. 2005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8F24F6C-7425-CCD6-BB9A-84A6E0C44D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34925" y="6623050"/>
            <a:ext cx="720725" cy="33496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AD1FEFE-7AFB-0140-8869-F20767E31D38}" type="slidenum">
              <a:rPr lang="de-DE" altLang="zh-CN"/>
              <a:pPr/>
              <a:t>‹#›</a:t>
            </a:fld>
            <a:r>
              <a:rPr lang="de-DE" altLang="zh-CN"/>
              <a:t>/29</a:t>
            </a:r>
          </a:p>
        </p:txBody>
      </p:sp>
    </p:spTree>
    <p:extLst>
      <p:ext uri="{BB962C8B-B14F-4D97-AF65-F5344CB8AC3E}">
        <p14:creationId xmlns:p14="http://schemas.microsoft.com/office/powerpoint/2010/main" val="257042890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3954BA4-909C-5ED6-9EE2-5CD74D139AD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9604D93-66DF-474C-8F4F-37BDFD54F4E2}" type="slidenum">
              <a:rPr lang="de-DE" altLang="zh-CN"/>
              <a:pPr/>
              <a:t>‹#›</a:t>
            </a:fld>
            <a:r>
              <a:rPr lang="de-DE" altLang="zh-CN"/>
              <a:t>/29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8142E309-A2CF-607C-5334-05AF026CC3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6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i="1"/>
              <a:t>Understanding </a:t>
            </a:r>
            <a:r>
              <a:rPr lang="de-DE" i="1" err="1"/>
              <a:t>Cryptography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Christof Paar </a:t>
            </a:r>
            <a:r>
              <a:rPr lang="de-DE" err="1"/>
              <a:t>and</a:t>
            </a:r>
            <a:r>
              <a:rPr lang="de-DE"/>
              <a:t> Jan Pelzl</a:t>
            </a:r>
          </a:p>
        </p:txBody>
      </p:sp>
    </p:spTree>
    <p:extLst>
      <p:ext uri="{BB962C8B-B14F-4D97-AF65-F5344CB8AC3E}">
        <p14:creationId xmlns:p14="http://schemas.microsoft.com/office/powerpoint/2010/main" val="4220126127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AC6DBE9-A8EC-9B98-3EEC-F579FB0C1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1488" y="322263"/>
            <a:ext cx="646271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/>
              <a:t>Mastertitelformat bearbeiten</a:t>
            </a:r>
            <a:br>
              <a:rPr lang="de-DE" altLang="zh-CN"/>
            </a:br>
            <a:endParaRPr lang="de-DE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0CF1235-785D-20DF-256B-D381812FF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9313" y="1130300"/>
            <a:ext cx="6084887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zh-CN"/>
              <a:t>Mastertextformat bearbeiten</a:t>
            </a:r>
          </a:p>
          <a:p>
            <a:pPr lvl="1"/>
            <a:r>
              <a:rPr lang="de-DE" altLang="zh-CN"/>
              <a:t>Zweite Ebene</a:t>
            </a:r>
          </a:p>
          <a:p>
            <a:pPr lvl="2"/>
            <a:r>
              <a:rPr lang="de-DE" altLang="zh-CN"/>
              <a:t>Dritte Ebene</a:t>
            </a:r>
          </a:p>
          <a:p>
            <a:pPr lvl="3"/>
            <a:r>
              <a:rPr lang="de-DE" altLang="zh-CN"/>
              <a:t>Vierte Ebene</a:t>
            </a:r>
          </a:p>
          <a:p>
            <a:pPr lvl="4"/>
            <a:r>
              <a:rPr lang="de-DE" altLang="zh-CN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0869BE7-233B-9AF8-F23C-967231122C7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388" y="6597650"/>
            <a:ext cx="5048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394073"/>
                </a:solidFill>
              </a:defRPr>
            </a:lvl1pPr>
          </a:lstStyle>
          <a:p>
            <a:fld id="{5D5FA5D4-9E1D-CA42-A238-707DDDEFFB08}" type="slidenum">
              <a:rPr lang="de-DE" altLang="zh-CN"/>
              <a:pPr/>
              <a:t>‹#›</a:t>
            </a:fld>
            <a:r>
              <a:rPr lang="de-DE" altLang="zh-CN"/>
              <a:t>/29</a:t>
            </a:r>
          </a:p>
        </p:txBody>
      </p:sp>
      <p:sp>
        <p:nvSpPr>
          <p:cNvPr id="1574" name="Rectangle 550">
            <a:extLst>
              <a:ext uri="{FF2B5EF4-FFF2-40B4-BE49-F238E27FC236}">
                <a16:creationId xmlns:a16="http://schemas.microsoft.com/office/drawing/2014/main" id="{B780A4E3-2F85-6203-908F-B0A34D6C1A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de-DE"/>
              <a:t>Chapter 6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i="1"/>
              <a:t>Understanding </a:t>
            </a:r>
            <a:r>
              <a:rPr lang="de-DE" i="1" err="1"/>
              <a:t>Cryptography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Christof Paar </a:t>
            </a:r>
            <a:r>
              <a:rPr lang="de-DE" err="1"/>
              <a:t>and</a:t>
            </a:r>
            <a:r>
              <a:rPr lang="de-DE"/>
              <a:t> Jan Pelzl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</p:sldLayoutIdLst>
  <p:transition spd="slow"/>
  <p:hf hdr="0" dt="0"/>
  <p:txStyles>
    <p:titleStyle>
      <a:lvl1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+mj-lt"/>
          <a:ea typeface="+mj-ea"/>
          <a:cs typeface="+mj-cs"/>
        </a:defRPr>
      </a:lvl1pPr>
      <a:lvl2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2pPr>
      <a:lvl3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3pPr>
      <a:lvl4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4pPr>
      <a:lvl5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5pPr>
      <a:lvl6pPr marL="8382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6pPr>
      <a:lvl7pPr marL="12954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7pPr>
      <a:lvl8pPr marL="17526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8pPr>
      <a:lvl9pPr marL="22098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9pPr>
    </p:titleStyle>
    <p:bodyStyle>
      <a:lvl1pPr marL="195263" indent="-1952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8891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2pPr>
      <a:lvl3pPr marL="952500" indent="-187325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3pPr>
      <a:lvl4pPr marL="1325563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4pPr>
      <a:lvl5pPr marL="16986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5pPr>
      <a:lvl6pPr marL="21558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6pPr>
      <a:lvl7pPr marL="26130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7pPr>
      <a:lvl8pPr marL="30702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8pPr>
      <a:lvl9pPr marL="35274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11" descr="Paar_Pelz_only Titlepage">
            <a:extLst>
              <a:ext uri="{FF2B5EF4-FFF2-40B4-BE49-F238E27FC236}">
                <a16:creationId xmlns:a16="http://schemas.microsoft.com/office/drawing/2014/main" id="{288C9DD4-D019-9801-6FE6-D733320E5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140024">
            <a:off x="1116013" y="1916113"/>
            <a:ext cx="25415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4">
            <a:extLst>
              <a:ext uri="{FF2B5EF4-FFF2-40B4-BE49-F238E27FC236}">
                <a16:creationId xmlns:a16="http://schemas.microsoft.com/office/drawing/2014/main" id="{A80844C3-0139-D6AE-8714-A75FEACD191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04813"/>
            <a:ext cx="9144000" cy="2808287"/>
          </a:xfrm>
        </p:spPr>
        <p:txBody>
          <a:bodyPr/>
          <a:lstStyle/>
          <a:p>
            <a:pPr algn="ctr">
              <a:buFont typeface="Webdings" pitchFamily="2" charset="2"/>
              <a:buNone/>
            </a:pPr>
            <a:r>
              <a:rPr lang="de-DE" altLang="zh-CN" sz="2800" dirty="0"/>
              <a:t>  </a:t>
            </a:r>
            <a:br>
              <a:rPr lang="de-DE" altLang="zh-CN" sz="1400" dirty="0"/>
            </a:br>
            <a:br>
              <a:rPr lang="de-DE" altLang="zh-CN" sz="1400" dirty="0"/>
            </a:br>
            <a:r>
              <a:rPr lang="de-DE" altLang="zh-CN" sz="2800" dirty="0"/>
              <a:t>Chapter 6 – </a:t>
            </a:r>
            <a:r>
              <a:rPr lang="de-DE" altLang="zh-CN" sz="2800" dirty="0" err="1"/>
              <a:t>Introduction</a:t>
            </a:r>
            <a:r>
              <a:rPr lang="de-DE" altLang="zh-CN" sz="2800" dirty="0"/>
              <a:t> </a:t>
            </a:r>
            <a:r>
              <a:rPr lang="de-DE" altLang="zh-CN" sz="2800" dirty="0" err="1"/>
              <a:t>to</a:t>
            </a:r>
            <a:br>
              <a:rPr lang="de-DE" altLang="zh-CN" sz="2800" dirty="0"/>
            </a:br>
            <a:r>
              <a:rPr lang="de-DE" altLang="zh-CN" sz="2800" dirty="0"/>
              <a:t>Public-Key </a:t>
            </a:r>
            <a:r>
              <a:rPr lang="de-DE" altLang="zh-CN" sz="2800" dirty="0" err="1"/>
              <a:t>Cryptography</a:t>
            </a:r>
            <a:br>
              <a:rPr lang="de-DE" altLang="zh-CN" sz="2800" dirty="0"/>
            </a:br>
            <a:br>
              <a:rPr lang="de-DE" altLang="zh-CN" sz="2800" dirty="0"/>
            </a:br>
            <a:endParaRPr lang="de-DE" altLang="zh-CN" sz="1600" b="0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nummernplatzhalter 3">
            <a:extLst>
              <a:ext uri="{FF2B5EF4-FFF2-40B4-BE49-F238E27FC236}">
                <a16:creationId xmlns:a16="http://schemas.microsoft.com/office/drawing/2014/main" id="{BFE9C3F8-BDB7-57CC-8FE0-674B15362E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E84C01-04ED-B94B-BBFB-6274F2160A94}" type="slidenum">
              <a:rPr lang="de-DE" altLang="zh-CN">
                <a:solidFill>
                  <a:srgbClr val="394073"/>
                </a:solidFill>
              </a:rPr>
              <a:pPr/>
              <a:t>2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2C9292E-B87E-FA05-20ED-A076C789B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1214438"/>
            <a:ext cx="5100638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271E18B5-B95B-0217-E7A6-591ABCFF4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563" y="2500313"/>
            <a:ext cx="6891337" cy="2232025"/>
          </a:xfrm>
          <a:noFill/>
        </p:spPr>
        <p:txBody>
          <a:bodyPr/>
          <a:lstStyle/>
          <a:p>
            <a:pPr marL="342900" indent="-342900"/>
            <a:r>
              <a:rPr lang="de-DE" altLang="zh-CN" sz="2000"/>
              <a:t>Symmetric Cryptography Revisited</a:t>
            </a:r>
          </a:p>
          <a:p>
            <a:pPr marL="342900" indent="-342900"/>
            <a:r>
              <a:rPr lang="de-DE" altLang="zh-CN" sz="2000"/>
              <a:t>Principles of Asymmetric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Practical Aspects of Public-Key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Important Public-Key Algorithms</a:t>
            </a:r>
            <a:endParaRPr lang="de-DE" altLang="zh-CN" sz="2000"/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Essential Number Theory for Public-Key Algorithms</a:t>
            </a:r>
          </a:p>
        </p:txBody>
      </p:sp>
      <p:sp>
        <p:nvSpPr>
          <p:cNvPr id="8197" name="Fußzeilenplatzhalter 4">
            <a:extLst>
              <a:ext uri="{FF2B5EF4-FFF2-40B4-BE49-F238E27FC236}">
                <a16:creationId xmlns:a16="http://schemas.microsoft.com/office/drawing/2014/main" id="{7DE7823A-D6A2-ECC5-D97D-CCB24FB7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liennummernplatzhalter 3">
            <a:extLst>
              <a:ext uri="{FF2B5EF4-FFF2-40B4-BE49-F238E27FC236}">
                <a16:creationId xmlns:a16="http://schemas.microsoft.com/office/drawing/2014/main" id="{BFE9DEF7-B69F-B5BE-29D4-2E0068298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7BD898-6994-294B-BC62-1C3E291CE902}" type="slidenum">
              <a:rPr lang="de-DE" altLang="zh-CN">
                <a:solidFill>
                  <a:srgbClr val="394073"/>
                </a:solidFill>
              </a:rPr>
              <a:pPr/>
              <a:t>3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18EB81D-D6A2-5FF2-E10E-B853FB8DC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1214438"/>
            <a:ext cx="5100638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4E476663-0D8E-5AD9-10F1-556F4D820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563" y="2500313"/>
            <a:ext cx="6891337" cy="2232025"/>
          </a:xfrm>
          <a:noFill/>
        </p:spPr>
        <p:txBody>
          <a:bodyPr/>
          <a:lstStyle/>
          <a:p>
            <a:pPr marL="342900" indent="-342900"/>
            <a:r>
              <a:rPr lang="de-DE" altLang="zh-CN" sz="2000" b="1"/>
              <a:t>Symmetric Cryptography Revisited</a:t>
            </a:r>
          </a:p>
          <a:p>
            <a:pPr marL="342900" indent="-342900"/>
            <a:r>
              <a:rPr lang="de-DE" altLang="zh-CN" sz="2000"/>
              <a:t>Principles of Asymmetric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Practical Aspects of Public-Key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Important Public-Key Algorithms</a:t>
            </a:r>
            <a:endParaRPr lang="de-DE" altLang="zh-CN" sz="2000"/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Essential Number Theory for Public-Key Algorithms</a:t>
            </a:r>
          </a:p>
        </p:txBody>
      </p:sp>
      <p:sp>
        <p:nvSpPr>
          <p:cNvPr id="9221" name="Fußzeilenplatzhalter 4">
            <a:extLst>
              <a:ext uri="{FF2B5EF4-FFF2-40B4-BE49-F238E27FC236}">
                <a16:creationId xmlns:a16="http://schemas.microsoft.com/office/drawing/2014/main" id="{FFB3792C-FE0E-C693-C68F-C139A44F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liennummernplatzhalter 3">
            <a:extLst>
              <a:ext uri="{FF2B5EF4-FFF2-40B4-BE49-F238E27FC236}">
                <a16:creationId xmlns:a16="http://schemas.microsoft.com/office/drawing/2014/main" id="{E8AE46F1-2ABE-A0BE-EBA0-7DD344439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3AB3B7-C1B8-784F-AC2B-EB34F2B4B982}" type="slidenum">
              <a:rPr lang="de-DE" altLang="zh-CN">
                <a:solidFill>
                  <a:srgbClr val="394073"/>
                </a:solidFill>
              </a:rPr>
              <a:pPr/>
              <a:t>4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546822" name="Rectangle 6">
            <a:extLst>
              <a:ext uri="{FF2B5EF4-FFF2-40B4-BE49-F238E27FC236}">
                <a16:creationId xmlns:a16="http://schemas.microsoft.com/office/drawing/2014/main" id="{C8F9CB4B-9B69-F168-9F42-11ACF9AA6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7625" y="1357313"/>
            <a:ext cx="7683500" cy="4000500"/>
          </a:xfrm>
        </p:spPr>
        <p:txBody>
          <a:bodyPr/>
          <a:lstStyle/>
          <a:p>
            <a:pPr>
              <a:buFontTx/>
              <a:buNone/>
            </a:pPr>
            <a:endParaRPr lang="de-DE" altLang="zh-CN"/>
          </a:p>
          <a:p>
            <a:pPr>
              <a:buFontTx/>
              <a:buNone/>
            </a:pPr>
            <a:endParaRPr lang="de-DE" altLang="zh-CN"/>
          </a:p>
          <a:p>
            <a:endParaRPr lang="de-DE" altLang="zh-CN"/>
          </a:p>
          <a:p>
            <a:pPr>
              <a:buFontTx/>
              <a:buNone/>
            </a:pPr>
            <a:endParaRPr lang="de-DE" altLang="zh-CN"/>
          </a:p>
          <a:p>
            <a:endParaRPr lang="de-DE" altLang="zh-CN"/>
          </a:p>
          <a:p>
            <a:endParaRPr lang="de-DE" altLang="zh-CN"/>
          </a:p>
          <a:p>
            <a:endParaRPr lang="de-DE" altLang="zh-CN"/>
          </a:p>
          <a:p>
            <a:endParaRPr lang="de-DE" altLang="zh-CN"/>
          </a:p>
          <a:p>
            <a:pPr>
              <a:buFontTx/>
              <a:buNone/>
            </a:pPr>
            <a:r>
              <a:rPr lang="de-DE" altLang="zh-CN"/>
              <a:t>Two properties of symmetric (secret-key) crypto-systems:</a:t>
            </a:r>
          </a:p>
          <a:p>
            <a:r>
              <a:rPr lang="de-DE" altLang="zh-CN"/>
              <a:t>The </a:t>
            </a:r>
            <a:r>
              <a:rPr lang="de-DE" altLang="zh-CN" b="1"/>
              <a:t>same secret key </a:t>
            </a:r>
            <a:r>
              <a:rPr lang="de-DE" altLang="zh-CN" b="1" i="1"/>
              <a:t>K</a:t>
            </a:r>
            <a:r>
              <a:rPr lang="de-DE" altLang="zh-CN" b="1"/>
              <a:t> </a:t>
            </a:r>
            <a:r>
              <a:rPr lang="de-DE" altLang="zh-CN"/>
              <a:t>is used for encryption and decryption</a:t>
            </a:r>
          </a:p>
          <a:p>
            <a:r>
              <a:rPr lang="de-DE" altLang="zh-CN"/>
              <a:t>Encryption and Decryption are very similar (or even identical) functions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C6C2F13D-581C-8F3C-5DC6-F87747E9F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Symmetric Cryptography revisited</a:t>
            </a:r>
          </a:p>
        </p:txBody>
      </p:sp>
      <p:grpSp>
        <p:nvGrpSpPr>
          <p:cNvPr id="10245" name="Group 25">
            <a:extLst>
              <a:ext uri="{FF2B5EF4-FFF2-40B4-BE49-F238E27FC236}">
                <a16:creationId xmlns:a16="http://schemas.microsoft.com/office/drawing/2014/main" id="{CC1460EF-45F5-87DE-E569-6693A8CE44EC}"/>
              </a:ext>
            </a:extLst>
          </p:cNvPr>
          <p:cNvGrpSpPr>
            <a:grpSpLocks/>
          </p:cNvGrpSpPr>
          <p:nvPr/>
        </p:nvGrpSpPr>
        <p:grpSpPr bwMode="auto">
          <a:xfrm>
            <a:off x="1404938" y="1989138"/>
            <a:ext cx="5616575" cy="1601787"/>
            <a:chOff x="885" y="1253"/>
            <a:chExt cx="3538" cy="1009"/>
          </a:xfrm>
        </p:grpSpPr>
        <p:sp>
          <p:nvSpPr>
            <p:cNvPr id="10251" name="Rectangle 7">
              <a:extLst>
                <a:ext uri="{FF2B5EF4-FFF2-40B4-BE49-F238E27FC236}">
                  <a16:creationId xmlns:a16="http://schemas.microsoft.com/office/drawing/2014/main" id="{885B1BBE-AA6A-6648-23C3-9E8A2BF1E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1253"/>
              <a:ext cx="771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zh-CN"/>
            </a:p>
          </p:txBody>
        </p:sp>
        <p:grpSp>
          <p:nvGrpSpPr>
            <p:cNvPr id="10252" name="Group 8">
              <a:extLst>
                <a:ext uri="{FF2B5EF4-FFF2-40B4-BE49-F238E27FC236}">
                  <a16:creationId xmlns:a16="http://schemas.microsoft.com/office/drawing/2014/main" id="{33DA9553-F59D-DA6C-3DA7-E796F4C8E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0" y="1344"/>
              <a:ext cx="545" cy="363"/>
              <a:chOff x="1474" y="2704"/>
              <a:chExt cx="952" cy="409"/>
            </a:xfrm>
          </p:grpSpPr>
          <p:sp>
            <p:nvSpPr>
              <p:cNvPr id="10266" name="Rectangle 9">
                <a:extLst>
                  <a:ext uri="{FF2B5EF4-FFF2-40B4-BE49-F238E27FC236}">
                    <a16:creationId xmlns:a16="http://schemas.microsoft.com/office/drawing/2014/main" id="{DB3589B2-0CF7-C4E7-07D5-F296E1299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" y="2704"/>
                <a:ext cx="952" cy="40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/>
              </a:p>
            </p:txBody>
          </p:sp>
          <p:sp>
            <p:nvSpPr>
              <p:cNvPr id="10267" name="Text Box 10">
                <a:extLst>
                  <a:ext uri="{FF2B5EF4-FFF2-40B4-BE49-F238E27FC236}">
                    <a16:creationId xmlns:a16="http://schemas.microsoft.com/office/drawing/2014/main" id="{D48F9F2F-1544-1240-6604-B17187D528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4" y="2795"/>
                <a:ext cx="952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 sz="2000" i="1"/>
                  <a:t>e</a:t>
                </a:r>
                <a:r>
                  <a:rPr lang="de-DE" altLang="zh-CN" sz="2000" i="1" baseline="-25000"/>
                  <a:t>K</a:t>
                </a:r>
                <a:r>
                  <a:rPr lang="de-DE" altLang="zh-CN" sz="2000" i="1"/>
                  <a:t>(x)</a:t>
                </a:r>
              </a:p>
            </p:txBody>
          </p:sp>
        </p:grpSp>
        <p:grpSp>
          <p:nvGrpSpPr>
            <p:cNvPr id="10253" name="Group 11">
              <a:extLst>
                <a:ext uri="{FF2B5EF4-FFF2-40B4-BE49-F238E27FC236}">
                  <a16:creationId xmlns:a16="http://schemas.microsoft.com/office/drawing/2014/main" id="{64F69B84-EA1F-6BEE-0BCE-B5578C06DB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1344"/>
              <a:ext cx="544" cy="363"/>
              <a:chOff x="1474" y="2704"/>
              <a:chExt cx="952" cy="409"/>
            </a:xfrm>
          </p:grpSpPr>
          <p:sp>
            <p:nvSpPr>
              <p:cNvPr id="10264" name="Rectangle 12">
                <a:extLst>
                  <a:ext uri="{FF2B5EF4-FFF2-40B4-BE49-F238E27FC236}">
                    <a16:creationId xmlns:a16="http://schemas.microsoft.com/office/drawing/2014/main" id="{DA304E4A-FFF4-8F3C-0B32-70A282CE7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" y="2704"/>
                <a:ext cx="952" cy="40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/>
              </a:p>
            </p:txBody>
          </p:sp>
          <p:sp>
            <p:nvSpPr>
              <p:cNvPr id="10265" name="Text Box 13">
                <a:extLst>
                  <a:ext uri="{FF2B5EF4-FFF2-40B4-BE49-F238E27FC236}">
                    <a16:creationId xmlns:a16="http://schemas.microsoft.com/office/drawing/2014/main" id="{3B136BCE-3A2B-BFDB-44F5-78191CE96B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4" y="2795"/>
                <a:ext cx="952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 sz="2000" i="1"/>
                  <a:t>d</a:t>
                </a:r>
                <a:r>
                  <a:rPr lang="de-DE" altLang="zh-CN" sz="2000" i="1" baseline="-25000"/>
                  <a:t>K</a:t>
                </a:r>
                <a:r>
                  <a:rPr lang="de-DE" altLang="zh-CN" sz="2000" i="1"/>
                  <a:t>(y)</a:t>
                </a:r>
              </a:p>
            </p:txBody>
          </p:sp>
        </p:grpSp>
        <p:sp>
          <p:nvSpPr>
            <p:cNvPr id="10254" name="Line 15">
              <a:extLst>
                <a:ext uri="{FF2B5EF4-FFF2-40B4-BE49-F238E27FC236}">
                  <a16:creationId xmlns:a16="http://schemas.microsoft.com/office/drawing/2014/main" id="{ECEABA78-72CD-0BD1-2984-F1FE9CF32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525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255" name="Line 16">
              <a:extLst>
                <a:ext uri="{FF2B5EF4-FFF2-40B4-BE49-F238E27FC236}">
                  <a16:creationId xmlns:a16="http://schemas.microsoft.com/office/drawing/2014/main" id="{986820A7-7D6A-F8D7-98DB-72BF34BAA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5" y="1525"/>
              <a:ext cx="10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256" name="Line 17">
              <a:extLst>
                <a:ext uri="{FF2B5EF4-FFF2-40B4-BE49-F238E27FC236}">
                  <a16:creationId xmlns:a16="http://schemas.microsoft.com/office/drawing/2014/main" id="{553C58C3-91CB-5E75-839E-35B7D3874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1525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257" name="Line 18">
              <a:extLst>
                <a:ext uri="{FF2B5EF4-FFF2-40B4-BE49-F238E27FC236}">
                  <a16:creationId xmlns:a16="http://schemas.microsoft.com/office/drawing/2014/main" id="{4AD005AB-21FF-A4F8-1D36-E285D5FCF8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3" y="170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258" name="Line 19">
              <a:extLst>
                <a:ext uri="{FF2B5EF4-FFF2-40B4-BE49-F238E27FC236}">
                  <a16:creationId xmlns:a16="http://schemas.microsoft.com/office/drawing/2014/main" id="{7A7790DA-1EBA-8F5E-7607-785D7E0E8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0" y="170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259" name="Text Box 20">
              <a:extLst>
                <a:ext uri="{FF2B5EF4-FFF2-40B4-BE49-F238E27FC236}">
                  <a16:creationId xmlns:a16="http://schemas.microsoft.com/office/drawing/2014/main" id="{F6A2AAB6-CB65-098F-34E3-95F9F01C9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1389"/>
              <a:ext cx="1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i="1"/>
                <a:t>x</a:t>
              </a:r>
            </a:p>
          </p:txBody>
        </p:sp>
        <p:sp>
          <p:nvSpPr>
            <p:cNvPr id="10260" name="Text Box 21">
              <a:extLst>
                <a:ext uri="{FF2B5EF4-FFF2-40B4-BE49-F238E27FC236}">
                  <a16:creationId xmlns:a16="http://schemas.microsoft.com/office/drawing/2014/main" id="{7E982830-7984-DE3A-F8D8-DE3BDC5CA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8" y="1480"/>
              <a:ext cx="1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i="1"/>
                <a:t>y</a:t>
              </a:r>
            </a:p>
          </p:txBody>
        </p:sp>
        <p:sp>
          <p:nvSpPr>
            <p:cNvPr id="10261" name="Text Box 22">
              <a:extLst>
                <a:ext uri="{FF2B5EF4-FFF2-40B4-BE49-F238E27FC236}">
                  <a16:creationId xmlns:a16="http://schemas.microsoft.com/office/drawing/2014/main" id="{75CEC9B6-E72F-87E6-4F16-2BAFD3C4F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1389"/>
              <a:ext cx="1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i="1"/>
                <a:t>x</a:t>
              </a:r>
            </a:p>
          </p:txBody>
        </p:sp>
        <p:sp>
          <p:nvSpPr>
            <p:cNvPr id="10262" name="Text Box 23">
              <a:extLst>
                <a:ext uri="{FF2B5EF4-FFF2-40B4-BE49-F238E27FC236}">
                  <a16:creationId xmlns:a16="http://schemas.microsoft.com/office/drawing/2014/main" id="{B3F39793-2515-E99E-F746-26C27000D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2070"/>
              <a:ext cx="1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i="1"/>
                <a:t>K</a:t>
              </a:r>
            </a:p>
          </p:txBody>
        </p:sp>
        <p:sp>
          <p:nvSpPr>
            <p:cNvPr id="10263" name="Text Box 24">
              <a:extLst>
                <a:ext uri="{FF2B5EF4-FFF2-40B4-BE49-F238E27FC236}">
                  <a16:creationId xmlns:a16="http://schemas.microsoft.com/office/drawing/2014/main" id="{21FF7DF6-F0E8-364C-A371-17BCC913F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2070"/>
              <a:ext cx="1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i="1"/>
                <a:t>K</a:t>
              </a:r>
            </a:p>
          </p:txBody>
        </p:sp>
      </p:grpSp>
      <p:sp>
        <p:nvSpPr>
          <p:cNvPr id="10246" name="Textfeld 22">
            <a:extLst>
              <a:ext uri="{FF2B5EF4-FFF2-40B4-BE49-F238E27FC236}">
                <a16:creationId xmlns:a16="http://schemas.microsoft.com/office/drawing/2014/main" id="{4C7D1460-8DF2-66AA-4E2B-BAEE7C7B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500188"/>
            <a:ext cx="857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 i="1"/>
              <a:t>Alice</a:t>
            </a:r>
          </a:p>
        </p:txBody>
      </p:sp>
      <p:sp>
        <p:nvSpPr>
          <p:cNvPr id="10247" name="Textfeld 23">
            <a:extLst>
              <a:ext uri="{FF2B5EF4-FFF2-40B4-BE49-F238E27FC236}">
                <a16:creationId xmlns:a16="http://schemas.microsoft.com/office/drawing/2014/main" id="{4791F5AA-3641-7B61-C089-8BC697EEF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487488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 i="1"/>
              <a:t>Bob</a:t>
            </a:r>
          </a:p>
        </p:txBody>
      </p:sp>
      <p:sp>
        <p:nvSpPr>
          <p:cNvPr id="10248" name="Fußzeilenplatzhalter 4">
            <a:extLst>
              <a:ext uri="{FF2B5EF4-FFF2-40B4-BE49-F238E27FC236}">
                <a16:creationId xmlns:a16="http://schemas.microsoft.com/office/drawing/2014/main" id="{AAE548C7-2EFD-1294-C8FC-27879DAA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815563A-1684-DDE8-80F2-387A3C867B16}"/>
              </a:ext>
            </a:extLst>
          </p:cNvPr>
          <p:cNvSpPr/>
          <p:nvPr/>
        </p:nvSpPr>
        <p:spPr>
          <a:xfrm>
            <a:off x="2857500" y="3214688"/>
            <a:ext cx="571500" cy="42862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2596447-6EF1-F5C8-518F-67AF6ACEB472}"/>
              </a:ext>
            </a:extLst>
          </p:cNvPr>
          <p:cNvSpPr/>
          <p:nvPr/>
        </p:nvSpPr>
        <p:spPr>
          <a:xfrm>
            <a:off x="5357813" y="3214688"/>
            <a:ext cx="571500" cy="42862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liennummernplatzhalter 3">
            <a:extLst>
              <a:ext uri="{FF2B5EF4-FFF2-40B4-BE49-F238E27FC236}">
                <a16:creationId xmlns:a16="http://schemas.microsoft.com/office/drawing/2014/main" id="{8EF06A4C-16A2-3A70-C5CC-15449D99F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E9C66A-7BFF-CB47-9C0E-1E7F30A21F45}" type="slidenum">
              <a:rPr lang="de-DE" altLang="zh-CN">
                <a:solidFill>
                  <a:srgbClr val="394073"/>
                </a:solidFill>
              </a:rPr>
              <a:pPr/>
              <a:t>5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1F9302FC-BD2B-37C1-2BC8-B67B5239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Symmetric Cryptography: Analogy</a:t>
            </a:r>
          </a:p>
        </p:txBody>
      </p:sp>
      <p:sp>
        <p:nvSpPr>
          <p:cNvPr id="11268" name="Fußzeilenplatzhalter 4">
            <a:extLst>
              <a:ext uri="{FF2B5EF4-FFF2-40B4-BE49-F238E27FC236}">
                <a16:creationId xmlns:a16="http://schemas.microsoft.com/office/drawing/2014/main" id="{B36D6974-3D54-B699-89EC-8265D7A1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pic>
        <p:nvPicPr>
          <p:cNvPr id="11269" name="Picture 2">
            <a:extLst>
              <a:ext uri="{FF2B5EF4-FFF2-40B4-BE49-F238E27FC236}">
                <a16:creationId xmlns:a16="http://schemas.microsoft.com/office/drawing/2014/main" id="{7CB6D7C2-9889-1221-AEBB-EC290ABA9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428750"/>
            <a:ext cx="697865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24">
            <a:extLst>
              <a:ext uri="{FF2B5EF4-FFF2-40B4-BE49-F238E27FC236}">
                <a16:creationId xmlns:a16="http://schemas.microsoft.com/office/drawing/2014/main" id="{381D7BB2-975A-CBD0-115C-548651A59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2500313"/>
            <a:ext cx="288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2000" i="1"/>
              <a:t>K</a:t>
            </a:r>
          </a:p>
        </p:txBody>
      </p:sp>
      <p:sp>
        <p:nvSpPr>
          <p:cNvPr id="11271" name="Text Box 24">
            <a:extLst>
              <a:ext uri="{FF2B5EF4-FFF2-40B4-BE49-F238E27FC236}">
                <a16:creationId xmlns:a16="http://schemas.microsoft.com/office/drawing/2014/main" id="{AC1E6ED2-BAF9-230E-52CE-536D57DE6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88" y="2500313"/>
            <a:ext cx="288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2000" i="1"/>
              <a:t>K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4DACB0C1-D6AE-FC72-49B2-7179EFBCD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25" y="1357313"/>
            <a:ext cx="76835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de-DE" sz="1600" kern="0" dirty="0">
                <a:latin typeface="+mn-lt"/>
              </a:rPr>
              <a:t>Safe </a:t>
            </a:r>
            <a:r>
              <a:rPr lang="de-DE" sz="1600" kern="0" dirty="0" err="1">
                <a:latin typeface="+mn-lt"/>
              </a:rPr>
              <a:t>with</a:t>
            </a:r>
            <a:r>
              <a:rPr lang="de-DE" sz="1600" kern="0" dirty="0">
                <a:latin typeface="+mn-lt"/>
              </a:rPr>
              <a:t> a strong lock, </a:t>
            </a:r>
            <a:r>
              <a:rPr lang="de-DE" sz="1600" kern="0" dirty="0" err="1">
                <a:latin typeface="+mn-lt"/>
              </a:rPr>
              <a:t>only</a:t>
            </a:r>
            <a:r>
              <a:rPr lang="de-DE" sz="1600" kern="0" dirty="0">
                <a:latin typeface="+mn-lt"/>
              </a:rPr>
              <a:t> Alice </a:t>
            </a:r>
            <a:r>
              <a:rPr lang="de-DE" sz="1600" kern="0" dirty="0" err="1">
                <a:latin typeface="+mn-lt"/>
              </a:rPr>
              <a:t>and</a:t>
            </a:r>
            <a:r>
              <a:rPr lang="de-DE" sz="1600" kern="0" dirty="0">
                <a:latin typeface="+mn-lt"/>
              </a:rPr>
              <a:t> Bob </a:t>
            </a:r>
            <a:r>
              <a:rPr lang="de-DE" sz="1600" kern="0" dirty="0" err="1">
                <a:latin typeface="+mn-lt"/>
              </a:rPr>
              <a:t>have</a:t>
            </a:r>
            <a:r>
              <a:rPr lang="de-DE" sz="1600" kern="0" dirty="0">
                <a:latin typeface="+mn-lt"/>
              </a:rPr>
              <a:t> a </a:t>
            </a:r>
            <a:r>
              <a:rPr lang="de-DE" sz="1600" kern="0" dirty="0" err="1">
                <a:latin typeface="+mn-lt"/>
              </a:rPr>
              <a:t>copy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of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the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key</a:t>
            </a: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de-DE" sz="1600" kern="0" dirty="0">
                <a:latin typeface="+mn-lt"/>
              </a:rPr>
              <a:t>Alice </a:t>
            </a:r>
            <a:r>
              <a:rPr lang="de-DE" sz="1600" kern="0" dirty="0" err="1">
                <a:latin typeface="+mn-lt"/>
              </a:rPr>
              <a:t>encrypts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>
                <a:latin typeface="+mn-lt"/>
                <a:sym typeface="Wingdings" pitchFamily="2" charset="2"/>
              </a:rPr>
              <a:t> </a:t>
            </a:r>
            <a:r>
              <a:rPr lang="de-DE" sz="1600" kern="0" dirty="0" err="1">
                <a:latin typeface="+mn-lt"/>
                <a:sym typeface="Wingdings" pitchFamily="2" charset="2"/>
              </a:rPr>
              <a:t>locks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message</a:t>
            </a:r>
            <a:r>
              <a:rPr lang="de-DE" sz="1600" kern="0" dirty="0">
                <a:latin typeface="+mn-lt"/>
                <a:sym typeface="Wingdings" pitchFamily="2" charset="2"/>
              </a:rPr>
              <a:t> in </a:t>
            </a:r>
            <a:r>
              <a:rPr lang="de-DE" sz="1600" kern="0" dirty="0" err="1">
                <a:latin typeface="+mn-lt"/>
                <a:sym typeface="Wingdings" pitchFamily="2" charset="2"/>
              </a:rPr>
              <a:t>the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safe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with</a:t>
            </a:r>
            <a:r>
              <a:rPr lang="de-DE" sz="1600" kern="0" dirty="0">
                <a:latin typeface="+mn-lt"/>
                <a:sym typeface="Wingdings" pitchFamily="2" charset="2"/>
              </a:rPr>
              <a:t> her </a:t>
            </a:r>
            <a:r>
              <a:rPr lang="de-DE" sz="1600" kern="0" dirty="0" err="1">
                <a:latin typeface="+mn-lt"/>
                <a:sym typeface="Wingdings" pitchFamily="2" charset="2"/>
              </a:rPr>
              <a:t>key</a:t>
            </a:r>
            <a:endParaRPr lang="de-DE" sz="1600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de-DE" sz="1600" kern="0" dirty="0">
                <a:latin typeface="+mn-lt"/>
              </a:rPr>
              <a:t>Bob </a:t>
            </a:r>
            <a:r>
              <a:rPr lang="de-DE" sz="1600" kern="0" dirty="0" err="1">
                <a:latin typeface="+mn-lt"/>
              </a:rPr>
              <a:t>decrypts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>
                <a:latin typeface="+mn-lt"/>
                <a:sym typeface="Wingdings" pitchFamily="2" charset="2"/>
              </a:rPr>
              <a:t> </a:t>
            </a:r>
            <a:r>
              <a:rPr lang="de-DE" sz="1600" kern="0" dirty="0" err="1">
                <a:latin typeface="+mn-lt"/>
                <a:sym typeface="Wingdings" pitchFamily="2" charset="2"/>
              </a:rPr>
              <a:t>uses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his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copy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of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the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key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to</a:t>
            </a:r>
            <a:r>
              <a:rPr lang="de-DE" sz="1600" kern="0" dirty="0">
                <a:latin typeface="+mn-lt"/>
                <a:sym typeface="Wingdings" pitchFamily="2" charset="2"/>
              </a:rPr>
              <a:t> open </a:t>
            </a:r>
            <a:r>
              <a:rPr lang="de-DE" sz="1600" kern="0" dirty="0" err="1">
                <a:latin typeface="+mn-lt"/>
                <a:sym typeface="Wingdings" pitchFamily="2" charset="2"/>
              </a:rPr>
              <a:t>the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safe</a:t>
            </a:r>
            <a:endParaRPr lang="de-DE" sz="1600" kern="0" dirty="0"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962" name="Picture 2">
            <a:extLst>
              <a:ext uri="{FF2B5EF4-FFF2-40B4-BE49-F238E27FC236}">
                <a16:creationId xmlns:a16="http://schemas.microsoft.com/office/drawing/2014/main" id="{A8760A43-A164-8752-AC6C-772F2BFB8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300" y="2447925"/>
            <a:ext cx="133032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7845" name="Rectangle 5">
            <a:extLst>
              <a:ext uri="{FF2B5EF4-FFF2-40B4-BE49-F238E27FC236}">
                <a16:creationId xmlns:a16="http://schemas.microsoft.com/office/drawing/2014/main" id="{152CAF7D-E210-89C3-9EBB-7D594C7851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857250"/>
            <a:ext cx="7866063" cy="5662613"/>
          </a:xfrm>
        </p:spPr>
        <p:txBody>
          <a:bodyPr/>
          <a:lstStyle/>
          <a:p>
            <a:r>
              <a:rPr lang="de-DE" altLang="zh-CN" dirty="0" err="1"/>
              <a:t>Symmetric</a:t>
            </a:r>
            <a:r>
              <a:rPr lang="de-DE" altLang="zh-CN" dirty="0"/>
              <a:t> </a:t>
            </a:r>
            <a:r>
              <a:rPr lang="de-DE" altLang="zh-CN" dirty="0" err="1"/>
              <a:t>algorithms</a:t>
            </a:r>
            <a:r>
              <a:rPr lang="de-DE" altLang="zh-CN" dirty="0"/>
              <a:t>, e.g., AES </a:t>
            </a:r>
            <a:r>
              <a:rPr lang="de-DE" altLang="zh-CN" dirty="0" err="1"/>
              <a:t>or</a:t>
            </a:r>
            <a:r>
              <a:rPr lang="de-DE" altLang="zh-CN" dirty="0"/>
              <a:t> 3DES, </a:t>
            </a:r>
            <a:r>
              <a:rPr lang="de-DE" altLang="zh-CN" dirty="0" err="1"/>
              <a:t>are</a:t>
            </a:r>
            <a:r>
              <a:rPr lang="de-DE" altLang="zh-CN" dirty="0"/>
              <a:t> </a:t>
            </a:r>
            <a:r>
              <a:rPr lang="de-DE" altLang="zh-CN" dirty="0" err="1"/>
              <a:t>very</a:t>
            </a:r>
            <a:r>
              <a:rPr lang="de-DE" altLang="zh-CN" dirty="0"/>
              <a:t> </a:t>
            </a:r>
            <a:r>
              <a:rPr lang="de-DE" altLang="zh-CN" dirty="0" err="1"/>
              <a:t>secure</a:t>
            </a:r>
            <a:r>
              <a:rPr lang="de-DE" altLang="zh-CN" dirty="0"/>
              <a:t>, fast &amp; </a:t>
            </a:r>
            <a:r>
              <a:rPr lang="de-DE" altLang="zh-CN" dirty="0" err="1"/>
              <a:t>widespread</a:t>
            </a:r>
            <a:r>
              <a:rPr lang="de-DE" altLang="zh-CN" dirty="0"/>
              <a:t> </a:t>
            </a:r>
            <a:r>
              <a:rPr lang="de-DE" altLang="zh-CN" b="1" dirty="0"/>
              <a:t>but</a:t>
            </a:r>
            <a:r>
              <a:rPr lang="de-DE" altLang="zh-CN" dirty="0"/>
              <a:t>:</a:t>
            </a:r>
          </a:p>
          <a:p>
            <a:endParaRPr lang="de-DE" altLang="zh-CN" dirty="0"/>
          </a:p>
          <a:p>
            <a:r>
              <a:rPr lang="de-DE" altLang="zh-CN" dirty="0">
                <a:solidFill>
                  <a:srgbClr val="FF0000"/>
                </a:solidFill>
              </a:rPr>
              <a:t>Key </a:t>
            </a:r>
            <a:r>
              <a:rPr lang="de-DE" altLang="zh-CN" dirty="0" err="1">
                <a:solidFill>
                  <a:srgbClr val="FF0000"/>
                </a:solidFill>
              </a:rPr>
              <a:t>distribution</a:t>
            </a:r>
            <a:r>
              <a:rPr lang="de-DE" altLang="zh-CN" dirty="0">
                <a:solidFill>
                  <a:srgbClr val="FF0000"/>
                </a:solidFill>
              </a:rPr>
              <a:t> </a:t>
            </a:r>
            <a:r>
              <a:rPr lang="de-DE" altLang="zh-CN" dirty="0" err="1">
                <a:solidFill>
                  <a:srgbClr val="FF0000"/>
                </a:solidFill>
              </a:rPr>
              <a:t>problem</a:t>
            </a:r>
            <a:r>
              <a:rPr lang="de-DE" altLang="zh-CN" dirty="0"/>
              <a:t>: The </a:t>
            </a:r>
            <a:r>
              <a:rPr lang="de-DE" altLang="zh-CN" dirty="0" err="1"/>
              <a:t>secret</a:t>
            </a:r>
            <a:r>
              <a:rPr lang="de-DE" altLang="zh-CN" dirty="0"/>
              <a:t> </a:t>
            </a:r>
            <a:r>
              <a:rPr lang="de-DE" altLang="zh-CN" dirty="0" err="1"/>
              <a:t>key</a:t>
            </a:r>
            <a:r>
              <a:rPr lang="de-DE" altLang="zh-CN" dirty="0"/>
              <a:t> </a:t>
            </a:r>
            <a:r>
              <a:rPr lang="de-DE" altLang="zh-CN" dirty="0" err="1"/>
              <a:t>must</a:t>
            </a:r>
            <a:r>
              <a:rPr lang="de-DE" altLang="zh-CN" dirty="0"/>
              <a:t> </a:t>
            </a:r>
            <a:r>
              <a:rPr lang="de-DE" altLang="zh-CN" dirty="0" err="1"/>
              <a:t>be</a:t>
            </a:r>
            <a:r>
              <a:rPr lang="de-DE" altLang="zh-CN" dirty="0"/>
              <a:t> </a:t>
            </a:r>
            <a:r>
              <a:rPr lang="de-DE" altLang="zh-CN" b="1" dirty="0" err="1"/>
              <a:t>transported</a:t>
            </a:r>
            <a:r>
              <a:rPr lang="de-DE" altLang="zh-CN" b="1" dirty="0"/>
              <a:t> </a:t>
            </a:r>
            <a:r>
              <a:rPr lang="de-DE" altLang="zh-CN" b="1" dirty="0" err="1"/>
              <a:t>securely</a:t>
            </a:r>
            <a:endParaRPr lang="de-DE" altLang="zh-CN" dirty="0"/>
          </a:p>
          <a:p>
            <a:r>
              <a:rPr lang="de-DE" altLang="zh-CN" dirty="0" err="1"/>
              <a:t>Number</a:t>
            </a:r>
            <a:r>
              <a:rPr lang="de-DE" altLang="zh-CN" dirty="0"/>
              <a:t>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keys</a:t>
            </a:r>
            <a:r>
              <a:rPr lang="de-DE" altLang="zh-CN" dirty="0"/>
              <a:t>: In a network, </a:t>
            </a:r>
            <a:r>
              <a:rPr lang="de-DE" altLang="zh-CN" dirty="0" err="1"/>
              <a:t>each</a:t>
            </a:r>
            <a:r>
              <a:rPr lang="de-DE" altLang="zh-CN" dirty="0"/>
              <a:t> pair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users</a:t>
            </a:r>
            <a:r>
              <a:rPr lang="de-DE" altLang="zh-CN" dirty="0"/>
              <a:t>  </a:t>
            </a:r>
            <a:r>
              <a:rPr lang="de-DE" altLang="zh-CN" dirty="0" err="1"/>
              <a:t>requires</a:t>
            </a:r>
            <a:r>
              <a:rPr lang="de-DE" altLang="zh-CN" dirty="0"/>
              <a:t> an individual </a:t>
            </a:r>
            <a:r>
              <a:rPr lang="de-DE" altLang="zh-CN" dirty="0" err="1"/>
              <a:t>key</a:t>
            </a:r>
            <a:br>
              <a:rPr lang="de-DE" altLang="zh-CN" dirty="0"/>
            </a:br>
            <a:r>
              <a:rPr lang="de-DE" altLang="zh-CN" dirty="0"/>
              <a:t> </a:t>
            </a:r>
          </a:p>
          <a:p>
            <a:pPr>
              <a:buFontTx/>
              <a:buNone/>
            </a:pPr>
            <a:r>
              <a:rPr lang="de-DE" altLang="zh-CN" dirty="0">
                <a:sym typeface="Wingdings" pitchFamily="2" charset="2"/>
              </a:rPr>
              <a:t>    </a:t>
            </a:r>
            <a:r>
              <a:rPr lang="de-DE" altLang="zh-CN" i="1" dirty="0" err="1">
                <a:sym typeface="Wingdings" pitchFamily="2" charset="2"/>
              </a:rPr>
              <a:t>n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users</a:t>
            </a:r>
            <a:r>
              <a:rPr lang="de-DE" altLang="zh-CN" dirty="0">
                <a:sym typeface="Wingdings" pitchFamily="2" charset="2"/>
              </a:rPr>
              <a:t> in </a:t>
            </a:r>
            <a:r>
              <a:rPr lang="de-DE" altLang="zh-CN" dirty="0" err="1">
                <a:sym typeface="Wingdings" pitchFamily="2" charset="2"/>
              </a:rPr>
              <a:t>the</a:t>
            </a:r>
            <a:r>
              <a:rPr lang="de-DE" altLang="zh-CN" dirty="0">
                <a:sym typeface="Wingdings" pitchFamily="2" charset="2"/>
              </a:rPr>
              <a:t> network </a:t>
            </a:r>
            <a:r>
              <a:rPr lang="de-DE" altLang="zh-CN" dirty="0" err="1">
                <a:sym typeface="Wingdings" pitchFamily="2" charset="2"/>
              </a:rPr>
              <a:t>require</a:t>
            </a:r>
            <a:r>
              <a:rPr lang="de-DE" altLang="zh-CN" dirty="0">
                <a:sym typeface="Wingdings" pitchFamily="2" charset="2"/>
              </a:rPr>
              <a:t>                       </a:t>
            </a:r>
            <a:r>
              <a:rPr lang="de-DE" altLang="zh-CN" dirty="0" err="1">
                <a:sym typeface="Wingdings" pitchFamily="2" charset="2"/>
              </a:rPr>
              <a:t>keys</a:t>
            </a:r>
            <a:r>
              <a:rPr lang="de-DE" altLang="zh-CN" dirty="0">
                <a:sym typeface="Wingdings" pitchFamily="2" charset="2"/>
              </a:rPr>
              <a:t>, </a:t>
            </a:r>
            <a:r>
              <a:rPr lang="de-DE" altLang="zh-CN" dirty="0" err="1">
                <a:sym typeface="Wingdings" pitchFamily="2" charset="2"/>
              </a:rPr>
              <a:t>each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user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stores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i="1" dirty="0">
                <a:sym typeface="Wingdings" pitchFamily="2" charset="2"/>
              </a:rPr>
              <a:t>(n-1) </a:t>
            </a:r>
            <a:r>
              <a:rPr lang="de-DE" altLang="zh-CN" dirty="0" err="1">
                <a:sym typeface="Wingdings" pitchFamily="2" charset="2"/>
              </a:rPr>
              <a:t>keys</a:t>
            </a:r>
            <a:endParaRPr lang="de-DE" altLang="zh-CN" dirty="0">
              <a:sym typeface="Wingdings" pitchFamily="2" charset="2"/>
            </a:endParaRPr>
          </a:p>
          <a:p>
            <a:pPr>
              <a:buFontTx/>
              <a:buNone/>
            </a:pPr>
            <a:endParaRPr lang="de-DE" altLang="zh-CN" dirty="0">
              <a:sym typeface="Wingdings" pitchFamily="2" charset="2"/>
            </a:endParaRPr>
          </a:p>
          <a:p>
            <a:pPr>
              <a:buFontTx/>
              <a:buNone/>
            </a:pPr>
            <a:endParaRPr lang="de-DE" altLang="zh-CN" dirty="0">
              <a:sym typeface="Wingdings" pitchFamily="2" charset="2"/>
            </a:endParaRPr>
          </a:p>
          <a:p>
            <a:pPr>
              <a:buFontTx/>
              <a:buNone/>
            </a:pPr>
            <a:endParaRPr lang="de-DE" altLang="zh-CN" dirty="0">
              <a:sym typeface="Wingdings" pitchFamily="2" charset="2"/>
            </a:endParaRPr>
          </a:p>
          <a:p>
            <a:pPr>
              <a:buFontTx/>
              <a:buNone/>
            </a:pPr>
            <a:endParaRPr lang="de-DE" altLang="zh-CN" dirty="0">
              <a:sym typeface="Wingdings" pitchFamily="2" charset="2"/>
            </a:endParaRPr>
          </a:p>
          <a:p>
            <a:pPr>
              <a:buFontTx/>
              <a:buNone/>
            </a:pPr>
            <a:endParaRPr lang="de-DE" altLang="zh-CN" dirty="0">
              <a:sym typeface="Wingdings" pitchFamily="2" charset="2"/>
            </a:endParaRPr>
          </a:p>
          <a:p>
            <a:pPr>
              <a:buFontTx/>
              <a:buNone/>
            </a:pPr>
            <a:endParaRPr lang="de-DE" altLang="zh-CN" dirty="0">
              <a:sym typeface="Wingdings" pitchFamily="2" charset="2"/>
            </a:endParaRPr>
          </a:p>
          <a:p>
            <a:pPr>
              <a:buFontTx/>
              <a:buNone/>
            </a:pPr>
            <a:endParaRPr lang="de-DE" altLang="zh-CN" dirty="0">
              <a:sym typeface="Wingdings" pitchFamily="2" charset="2"/>
            </a:endParaRPr>
          </a:p>
          <a:p>
            <a:r>
              <a:rPr lang="de-DE" altLang="zh-CN" dirty="0">
                <a:sym typeface="Wingdings" pitchFamily="2" charset="2"/>
              </a:rPr>
              <a:t>Alice </a:t>
            </a:r>
            <a:r>
              <a:rPr lang="de-DE" altLang="zh-CN" dirty="0" err="1">
                <a:sym typeface="Wingdings" pitchFamily="2" charset="2"/>
              </a:rPr>
              <a:t>or</a:t>
            </a:r>
            <a:r>
              <a:rPr lang="de-DE" altLang="zh-CN" dirty="0">
                <a:sym typeface="Wingdings" pitchFamily="2" charset="2"/>
              </a:rPr>
              <a:t> Bob </a:t>
            </a:r>
            <a:r>
              <a:rPr lang="de-DE" altLang="zh-CN" dirty="0" err="1">
                <a:sym typeface="Wingdings" pitchFamily="2" charset="2"/>
              </a:rPr>
              <a:t>can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b="1" dirty="0" err="1">
                <a:sym typeface="Wingdings" pitchFamily="2" charset="2"/>
              </a:rPr>
              <a:t>cheat</a:t>
            </a:r>
            <a:r>
              <a:rPr lang="de-DE" altLang="zh-CN" b="1" dirty="0">
                <a:sym typeface="Wingdings" pitchFamily="2" charset="2"/>
              </a:rPr>
              <a:t> </a:t>
            </a:r>
            <a:r>
              <a:rPr lang="de-DE" altLang="zh-CN" b="1" dirty="0" err="1">
                <a:sym typeface="Wingdings" pitchFamily="2" charset="2"/>
              </a:rPr>
              <a:t>each</a:t>
            </a:r>
            <a:r>
              <a:rPr lang="de-DE" altLang="zh-CN" b="1" dirty="0">
                <a:sym typeface="Wingdings" pitchFamily="2" charset="2"/>
              </a:rPr>
              <a:t> </a:t>
            </a:r>
            <a:r>
              <a:rPr lang="de-DE" altLang="zh-CN" b="1" dirty="0" err="1">
                <a:sym typeface="Wingdings" pitchFamily="2" charset="2"/>
              </a:rPr>
              <a:t>other</a:t>
            </a:r>
            <a:r>
              <a:rPr lang="de-DE" altLang="zh-CN" dirty="0">
                <a:sym typeface="Wingdings" pitchFamily="2" charset="2"/>
              </a:rPr>
              <a:t>, </a:t>
            </a:r>
            <a:r>
              <a:rPr lang="de-DE" altLang="zh-CN" dirty="0" err="1">
                <a:sym typeface="Wingdings" pitchFamily="2" charset="2"/>
              </a:rPr>
              <a:t>because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they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have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identical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keys</a:t>
            </a:r>
            <a:r>
              <a:rPr lang="de-DE" altLang="zh-CN" dirty="0">
                <a:sym typeface="Wingdings" pitchFamily="2" charset="2"/>
              </a:rPr>
              <a:t>.</a:t>
            </a:r>
            <a:br>
              <a:rPr lang="de-DE" altLang="zh-CN" dirty="0">
                <a:sym typeface="Wingdings" pitchFamily="2" charset="2"/>
              </a:rPr>
            </a:br>
            <a:r>
              <a:rPr lang="de-DE" altLang="zh-CN" b="1" dirty="0" err="1">
                <a:sym typeface="Wingdings" pitchFamily="2" charset="2"/>
              </a:rPr>
              <a:t>Example</a:t>
            </a:r>
            <a:r>
              <a:rPr lang="de-DE" altLang="zh-CN" dirty="0">
                <a:sym typeface="Wingdings" pitchFamily="2" charset="2"/>
              </a:rPr>
              <a:t>: Alice </a:t>
            </a:r>
            <a:r>
              <a:rPr lang="de-DE" altLang="zh-CN" dirty="0" err="1">
                <a:sym typeface="Wingdings" pitchFamily="2" charset="2"/>
              </a:rPr>
              <a:t>can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claim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that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she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never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ordered</a:t>
            </a:r>
            <a:r>
              <a:rPr lang="de-DE" altLang="zh-CN" dirty="0">
                <a:sym typeface="Wingdings" pitchFamily="2" charset="2"/>
              </a:rPr>
              <a:t> a TV on-line </a:t>
            </a:r>
            <a:r>
              <a:rPr lang="de-DE" altLang="zh-CN" dirty="0" err="1">
                <a:sym typeface="Wingdings" pitchFamily="2" charset="2"/>
              </a:rPr>
              <a:t>from</a:t>
            </a:r>
            <a:r>
              <a:rPr lang="de-DE" altLang="zh-CN" dirty="0">
                <a:sym typeface="Wingdings" pitchFamily="2" charset="2"/>
              </a:rPr>
              <a:t> Bob (he </a:t>
            </a:r>
            <a:r>
              <a:rPr lang="de-DE" altLang="zh-CN" dirty="0" err="1">
                <a:sym typeface="Wingdings" pitchFamily="2" charset="2"/>
              </a:rPr>
              <a:t>could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have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fabricated</a:t>
            </a:r>
            <a:r>
              <a:rPr lang="de-DE" altLang="zh-CN" dirty="0">
                <a:sym typeface="Wingdings" pitchFamily="2" charset="2"/>
              </a:rPr>
              <a:t> her </a:t>
            </a:r>
            <a:r>
              <a:rPr lang="de-DE" altLang="zh-CN" dirty="0" err="1">
                <a:sym typeface="Wingdings" pitchFamily="2" charset="2"/>
              </a:rPr>
              <a:t>order</a:t>
            </a:r>
            <a:r>
              <a:rPr lang="de-DE" altLang="zh-CN" dirty="0">
                <a:sym typeface="Wingdings" pitchFamily="2" charset="2"/>
              </a:rPr>
              <a:t>). </a:t>
            </a:r>
            <a:r>
              <a:rPr lang="de-DE" altLang="zh-CN" dirty="0" err="1">
                <a:sym typeface="Wingdings" pitchFamily="2" charset="2"/>
              </a:rPr>
              <a:t>To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prevent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this</a:t>
            </a:r>
            <a:r>
              <a:rPr lang="de-DE" altLang="zh-CN" dirty="0">
                <a:sym typeface="Wingdings" pitchFamily="2" charset="2"/>
              </a:rPr>
              <a:t>: „non-repudiation“</a:t>
            </a:r>
            <a:endParaRPr lang="de-DE" altLang="zh-CN" dirty="0"/>
          </a:p>
        </p:txBody>
      </p:sp>
      <p:sp>
        <p:nvSpPr>
          <p:cNvPr id="1029" name="Foliennummernplatzhalter 3">
            <a:extLst>
              <a:ext uri="{FF2B5EF4-FFF2-40B4-BE49-F238E27FC236}">
                <a16:creationId xmlns:a16="http://schemas.microsoft.com/office/drawing/2014/main" id="{FCA894A6-C46C-2A93-E4DB-CB84DA360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79388" y="6572250"/>
            <a:ext cx="504825" cy="215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E0F85B-A523-BC4E-819F-7EC8B62FCAB2}" type="slidenum">
              <a:rPr lang="de-DE" altLang="zh-CN">
                <a:solidFill>
                  <a:srgbClr val="394073"/>
                </a:solidFill>
              </a:rPr>
              <a:pPr/>
              <a:t>6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030" name="Rectangle 4">
            <a:extLst>
              <a:ext uri="{FF2B5EF4-FFF2-40B4-BE49-F238E27FC236}">
                <a16:creationId xmlns:a16="http://schemas.microsoft.com/office/drawing/2014/main" id="{93685EA9-B3D0-9923-2264-DDF8817FD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Symmetric Cryptography: Shortcomings</a:t>
            </a:r>
          </a:p>
        </p:txBody>
      </p:sp>
      <p:sp>
        <p:nvSpPr>
          <p:cNvPr id="547846" name="AutoShape 6">
            <a:extLst>
              <a:ext uri="{FF2B5EF4-FFF2-40B4-BE49-F238E27FC236}">
                <a16:creationId xmlns:a16="http://schemas.microsoft.com/office/drawing/2014/main" id="{9DB20593-818C-6972-9DB9-E9613CF2A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3162300"/>
            <a:ext cx="2303462" cy="2016125"/>
          </a:xfrm>
          <a:prstGeom prst="hexagon">
            <a:avLst>
              <a:gd name="adj" fmla="val 28563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47847" name="Line 7">
            <a:extLst>
              <a:ext uri="{FF2B5EF4-FFF2-40B4-BE49-F238E27FC236}">
                <a16:creationId xmlns:a16="http://schemas.microsoft.com/office/drawing/2014/main" id="{5FEFCDB8-5401-1860-F480-407605349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4875" y="3162300"/>
            <a:ext cx="1150938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48" name="Line 8">
            <a:extLst>
              <a:ext uri="{FF2B5EF4-FFF2-40B4-BE49-F238E27FC236}">
                <a16:creationId xmlns:a16="http://schemas.microsoft.com/office/drawing/2014/main" id="{A802DD31-5314-B847-566F-6920CD3A4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8613" y="4170363"/>
            <a:ext cx="2303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49" name="Line 9">
            <a:extLst>
              <a:ext uri="{FF2B5EF4-FFF2-40B4-BE49-F238E27FC236}">
                <a16:creationId xmlns:a16="http://schemas.microsoft.com/office/drawing/2014/main" id="{D139DE5C-0218-27AE-862A-647B2E886E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4875" y="3162300"/>
            <a:ext cx="1150938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50" name="Line 10">
            <a:extLst>
              <a:ext uri="{FF2B5EF4-FFF2-40B4-BE49-F238E27FC236}">
                <a16:creationId xmlns:a16="http://schemas.microsoft.com/office/drawing/2014/main" id="{996A5FAF-9394-784C-182E-76A14A0D7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4875" y="3162300"/>
            <a:ext cx="172720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51" name="Line 11">
            <a:extLst>
              <a:ext uri="{FF2B5EF4-FFF2-40B4-BE49-F238E27FC236}">
                <a16:creationId xmlns:a16="http://schemas.microsoft.com/office/drawing/2014/main" id="{B4931DA0-4CF5-521B-C5A3-A0659CA0A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8613" y="4170363"/>
            <a:ext cx="172720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52" name="Line 12">
            <a:extLst>
              <a:ext uri="{FF2B5EF4-FFF2-40B4-BE49-F238E27FC236}">
                <a16:creationId xmlns:a16="http://schemas.microsoft.com/office/drawing/2014/main" id="{3DC17064-2926-6033-CE47-59DF39C565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8613" y="3162300"/>
            <a:ext cx="172720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53" name="Line 13">
            <a:extLst>
              <a:ext uri="{FF2B5EF4-FFF2-40B4-BE49-F238E27FC236}">
                <a16:creationId xmlns:a16="http://schemas.microsoft.com/office/drawing/2014/main" id="{D684A319-687B-736C-6BC3-920D728398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4875" y="4170363"/>
            <a:ext cx="172720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54" name="Line 14">
            <a:extLst>
              <a:ext uri="{FF2B5EF4-FFF2-40B4-BE49-F238E27FC236}">
                <a16:creationId xmlns:a16="http://schemas.microsoft.com/office/drawing/2014/main" id="{94A666E0-DB6F-639B-B9BE-081085CB46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4875" y="3162300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55" name="Line 15">
            <a:extLst>
              <a:ext uri="{FF2B5EF4-FFF2-40B4-BE49-F238E27FC236}">
                <a16:creationId xmlns:a16="http://schemas.microsoft.com/office/drawing/2014/main" id="{2AAF71C2-EE38-E2A3-9C7A-39459357BB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5813" y="3162300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47856" name="Text Box 16">
            <a:extLst>
              <a:ext uri="{FF2B5EF4-FFF2-40B4-BE49-F238E27FC236}">
                <a16:creationId xmlns:a16="http://schemas.microsoft.com/office/drawing/2014/main" id="{9329CE86-9B36-3B81-B97B-9480C535F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3233738"/>
            <a:ext cx="3286125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 b="1"/>
              <a:t>Example:	</a:t>
            </a:r>
          </a:p>
          <a:p>
            <a:pPr>
              <a:spcBef>
                <a:spcPct val="50000"/>
              </a:spcBef>
            </a:pPr>
            <a:r>
              <a:rPr lang="de-DE" altLang="zh-CN" sz="1600" b="1"/>
              <a:t> </a:t>
            </a:r>
            <a:r>
              <a:rPr lang="de-DE" altLang="zh-CN" sz="1600"/>
              <a:t>6 users (nodes)</a:t>
            </a:r>
          </a:p>
          <a:p>
            <a:pPr>
              <a:spcBef>
                <a:spcPct val="50000"/>
              </a:spcBef>
            </a:pPr>
            <a:r>
              <a:rPr lang="de-DE" altLang="zh-CN" sz="1600"/>
              <a:t>	</a:t>
            </a:r>
          </a:p>
          <a:p>
            <a:pPr>
              <a:spcBef>
                <a:spcPct val="50000"/>
              </a:spcBef>
            </a:pPr>
            <a:r>
              <a:rPr lang="de-DE" altLang="zh-CN" sz="1600"/>
              <a:t>                keys (edges)</a:t>
            </a:r>
          </a:p>
        </p:txBody>
      </p:sp>
      <p:sp>
        <p:nvSpPr>
          <p:cNvPr id="1042" name="Fußzeilenplatzhalter 4">
            <a:extLst>
              <a:ext uri="{FF2B5EF4-FFF2-40B4-BE49-F238E27FC236}">
                <a16:creationId xmlns:a16="http://schemas.microsoft.com/office/drawing/2014/main" id="{C1946607-F3B2-CB23-86F2-11A66A2A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413" y="6526213"/>
            <a:ext cx="4321175" cy="260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9F4A4E42-6E30-DD41-F51E-E7E8A2A730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4146550"/>
          <a:ext cx="928688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4" imgW="13169900" imgH="9067800" progId="Equation.3">
                  <p:embed/>
                </p:oleObj>
              </mc:Choice>
              <mc:Fallback>
                <p:oleObj name="Formel" r:id="rId4" imgW="13169900" imgH="9067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146550"/>
                        <a:ext cx="928688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0207A10-8BC7-CAC4-2845-5F41EE066B20}"/>
                  </a:ext>
                </a:extLst>
              </p14:cNvPr>
              <p14:cNvContentPartPr/>
              <p14:nvPr/>
            </p14:nvContentPartPr>
            <p14:xfrm>
              <a:off x="3586680" y="3018240"/>
              <a:ext cx="5184720" cy="3319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0207A10-8BC7-CAC4-2845-5F41EE066B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77320" y="3008880"/>
                <a:ext cx="5203440" cy="333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6" grpId="0" animBg="1"/>
      <p:bldP spid="5478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liennummernplatzhalter 3">
            <a:extLst>
              <a:ext uri="{FF2B5EF4-FFF2-40B4-BE49-F238E27FC236}">
                <a16:creationId xmlns:a16="http://schemas.microsoft.com/office/drawing/2014/main" id="{142AA990-500C-C942-F5D7-9998C8E02A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16B838-7600-414A-B71B-6438B47EAC13}" type="slidenum">
              <a:rPr lang="de-DE" altLang="zh-CN">
                <a:solidFill>
                  <a:srgbClr val="394073"/>
                </a:solidFill>
              </a:rPr>
              <a:pPr/>
              <a:t>7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FBDEB772-159F-E393-79CD-2F57F60B4D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1214438"/>
            <a:ext cx="5100638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48E61865-581F-A1B3-67D8-114B8DBF0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563" y="2500313"/>
            <a:ext cx="6891337" cy="2232025"/>
          </a:xfrm>
          <a:noFill/>
        </p:spPr>
        <p:txBody>
          <a:bodyPr/>
          <a:lstStyle/>
          <a:p>
            <a:pPr marL="342900" indent="-342900"/>
            <a:r>
              <a:rPr lang="de-DE" altLang="zh-CN" sz="2000"/>
              <a:t>Symmetric Cryptography Revisited</a:t>
            </a:r>
          </a:p>
          <a:p>
            <a:pPr marL="342900" indent="-342900"/>
            <a:r>
              <a:rPr lang="de-DE" altLang="zh-CN" sz="2000" b="1"/>
              <a:t>Principles of Asymmetric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Practical Aspects of Public-Key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Important Public-Key Algorithms</a:t>
            </a:r>
            <a:endParaRPr lang="de-DE" altLang="zh-CN" sz="2000"/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Essential Number Theory for Public-Key Algorithms</a:t>
            </a:r>
          </a:p>
        </p:txBody>
      </p:sp>
      <p:sp>
        <p:nvSpPr>
          <p:cNvPr id="12293" name="Fußzeilenplatzhalter 4">
            <a:extLst>
              <a:ext uri="{FF2B5EF4-FFF2-40B4-BE49-F238E27FC236}">
                <a16:creationId xmlns:a16="http://schemas.microsoft.com/office/drawing/2014/main" id="{610DE4C2-F13A-5921-4105-66E7F044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699" name="Picture 3" descr="briefkasten-offen">
            <a:extLst>
              <a:ext uri="{FF2B5EF4-FFF2-40B4-BE49-F238E27FC236}">
                <a16:creationId xmlns:a16="http://schemas.microsoft.com/office/drawing/2014/main" id="{2CF70482-0787-F8F2-1B1B-B26421356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3286125"/>
            <a:ext cx="12573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7700" name="Rectangle 4">
            <a:extLst>
              <a:ext uri="{FF2B5EF4-FFF2-40B4-BE49-F238E27FC236}">
                <a16:creationId xmlns:a16="http://schemas.microsoft.com/office/drawing/2014/main" id="{F163930C-63E4-41A9-6C87-BC6CD7B98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341438"/>
            <a:ext cx="4343400" cy="373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de-DE" altLang="zh-CN" sz="1600" b="1" dirty="0"/>
              <a:t>New </a:t>
            </a:r>
            <a:r>
              <a:rPr lang="de-DE" altLang="zh-CN" sz="1600" b="1" dirty="0" err="1"/>
              <a:t>Idea</a:t>
            </a:r>
            <a:r>
              <a:rPr lang="de-DE" altLang="zh-CN" sz="1600" b="1" dirty="0"/>
              <a:t>: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br>
              <a:rPr lang="de-DE" altLang="zh-CN" sz="1600" dirty="0"/>
            </a:br>
            <a:r>
              <a:rPr lang="de-DE" altLang="zh-CN" sz="1600" dirty="0"/>
              <a:t>Use </a:t>
            </a:r>
            <a:r>
              <a:rPr lang="de-DE" altLang="zh-CN" sz="1600" dirty="0" err="1"/>
              <a:t>the</a:t>
            </a:r>
            <a:r>
              <a:rPr lang="de-DE" altLang="zh-CN" sz="1600" dirty="0"/>
              <a:t> </a:t>
            </a:r>
            <a:r>
              <a:rPr lang="zh-CN" altLang="en-US" sz="1600" dirty="0"/>
              <a:t>“</a:t>
            </a:r>
            <a:r>
              <a:rPr lang="de-DE" altLang="zh-CN" sz="1600" dirty="0" err="1"/>
              <a:t>good</a:t>
            </a:r>
            <a:r>
              <a:rPr lang="de-DE" altLang="zh-CN" sz="1600" dirty="0"/>
              <a:t> </a:t>
            </a:r>
            <a:r>
              <a:rPr lang="de-DE" altLang="zh-CN" sz="1600" dirty="0" err="1"/>
              <a:t>old</a:t>
            </a:r>
            <a:r>
              <a:rPr lang="de-DE" altLang="zh-CN" sz="1600" dirty="0"/>
              <a:t> </a:t>
            </a:r>
            <a:r>
              <a:rPr lang="de-DE" altLang="zh-CN" sz="1600" dirty="0" err="1"/>
              <a:t>mailbox</a:t>
            </a:r>
            <a:r>
              <a:rPr lang="zh-CN" altLang="en-US" sz="1600" dirty="0"/>
              <a:t>”</a:t>
            </a:r>
            <a:r>
              <a:rPr lang="de-DE" altLang="zh-CN" sz="1600" dirty="0"/>
              <a:t> </a:t>
            </a:r>
            <a:r>
              <a:rPr lang="de-DE" altLang="zh-CN" sz="1600" dirty="0" err="1"/>
              <a:t>principle</a:t>
            </a:r>
            <a:r>
              <a:rPr lang="de-DE" altLang="zh-CN" sz="1600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de-DE" altLang="zh-CN" sz="16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de-DE" altLang="zh-CN" sz="16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de-DE" altLang="zh-CN" sz="1600" dirty="0"/>
              <a:t>	</a:t>
            </a:r>
            <a:r>
              <a:rPr lang="de-DE" altLang="zh-CN" sz="1600" b="1" dirty="0" err="1"/>
              <a:t>Everyone</a:t>
            </a:r>
            <a:r>
              <a:rPr lang="de-DE" altLang="zh-CN" sz="1600" dirty="0"/>
              <a:t> </a:t>
            </a:r>
            <a:r>
              <a:rPr lang="de-DE" altLang="zh-CN" sz="1600" dirty="0" err="1"/>
              <a:t>can</a:t>
            </a:r>
            <a:r>
              <a:rPr lang="de-DE" altLang="zh-CN" sz="1600" dirty="0"/>
              <a:t> </a:t>
            </a:r>
            <a:r>
              <a:rPr lang="de-DE" altLang="zh-CN" sz="1600" dirty="0" err="1"/>
              <a:t>drop</a:t>
            </a:r>
            <a:r>
              <a:rPr lang="de-DE" altLang="zh-CN" sz="1600" dirty="0"/>
              <a:t> a </a:t>
            </a:r>
            <a:r>
              <a:rPr lang="de-DE" altLang="zh-CN" sz="1600" dirty="0" err="1"/>
              <a:t>letter</a:t>
            </a:r>
            <a:r>
              <a:rPr lang="de-DE" altLang="zh-CN" sz="1600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de-DE" altLang="zh-CN" sz="16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de-DE" altLang="zh-CN" sz="16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de-DE" altLang="zh-CN" sz="16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de-DE" altLang="zh-CN" sz="1600" b="1" dirty="0"/>
              <a:t>But: </a:t>
            </a:r>
            <a:r>
              <a:rPr lang="de-DE" altLang="zh-CN" sz="1600" b="1" dirty="0" err="1"/>
              <a:t>Only</a:t>
            </a:r>
            <a:r>
              <a:rPr lang="de-DE" altLang="zh-CN" sz="1600" dirty="0"/>
              <a:t> </a:t>
            </a:r>
            <a:r>
              <a:rPr lang="de-DE" altLang="zh-CN" sz="1600" b="1" dirty="0" err="1"/>
              <a:t>the</a:t>
            </a:r>
            <a:r>
              <a:rPr lang="de-DE" altLang="zh-CN" sz="1600" b="1" dirty="0"/>
              <a:t> </a:t>
            </a:r>
            <a:r>
              <a:rPr lang="de-DE" altLang="zh-CN" sz="1600" b="1" dirty="0" err="1"/>
              <a:t>owner</a:t>
            </a:r>
            <a:r>
              <a:rPr lang="de-DE" altLang="zh-CN" sz="1600" dirty="0"/>
              <a:t> </a:t>
            </a:r>
            <a:r>
              <a:rPr lang="de-DE" altLang="zh-CN" sz="1600" dirty="0" err="1"/>
              <a:t>has</a:t>
            </a:r>
            <a:r>
              <a:rPr lang="de-DE" altLang="zh-CN" sz="1600" dirty="0"/>
              <a:t> </a:t>
            </a:r>
            <a:r>
              <a:rPr lang="de-DE" altLang="zh-CN" sz="1600" dirty="0" err="1"/>
              <a:t>the</a:t>
            </a:r>
            <a:endParaRPr lang="de-DE" altLang="zh-CN" sz="16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de-DE" altLang="zh-CN" sz="1600" dirty="0" err="1"/>
              <a:t>correct</a:t>
            </a:r>
            <a:r>
              <a:rPr lang="de-DE" altLang="zh-CN" sz="1600" dirty="0"/>
              <a:t> </a:t>
            </a:r>
            <a:r>
              <a:rPr lang="de-DE" altLang="zh-CN" sz="1600" dirty="0" err="1"/>
              <a:t>key</a:t>
            </a:r>
            <a:r>
              <a:rPr lang="de-DE" altLang="zh-CN" sz="1600" dirty="0"/>
              <a:t> </a:t>
            </a:r>
            <a:r>
              <a:rPr lang="de-DE" altLang="zh-CN" sz="1600" dirty="0" err="1"/>
              <a:t>to</a:t>
            </a:r>
            <a:r>
              <a:rPr lang="de-DE" altLang="zh-CN" sz="1600" dirty="0"/>
              <a:t> open </a:t>
            </a:r>
            <a:r>
              <a:rPr lang="de-DE" altLang="zh-CN" sz="1600" dirty="0" err="1"/>
              <a:t>the</a:t>
            </a:r>
            <a:r>
              <a:rPr lang="de-DE" altLang="zh-CN" sz="1600" dirty="0"/>
              <a:t> box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br>
              <a:rPr lang="de-DE" altLang="zh-CN" sz="1600" dirty="0"/>
            </a:br>
            <a:endParaRPr lang="de-DE" altLang="zh-CN" sz="16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de-DE" altLang="zh-CN" sz="1600" dirty="0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B0A5E92A-6D37-F0DE-62B7-1992E1D1C8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B0A8C0-3716-924A-909E-6B6C343A02BB}" type="slidenum">
              <a:rPr lang="de-DE" altLang="zh-CN">
                <a:solidFill>
                  <a:srgbClr val="394073"/>
                </a:solidFill>
              </a:rPr>
              <a:pPr/>
              <a:t>8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pic>
        <p:nvPicPr>
          <p:cNvPr id="797698" name="Picture 2" descr="briefkasten">
            <a:extLst>
              <a:ext uri="{FF2B5EF4-FFF2-40B4-BE49-F238E27FC236}">
                <a16:creationId xmlns:a16="http://schemas.microsoft.com/office/drawing/2014/main" id="{8454CAF7-D7E1-9A19-CE62-CBAB71495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981075"/>
            <a:ext cx="474662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Rectangle 5">
            <a:extLst>
              <a:ext uri="{FF2B5EF4-FFF2-40B4-BE49-F238E27FC236}">
                <a16:creationId xmlns:a16="http://schemas.microsoft.com/office/drawing/2014/main" id="{80FBFCF2-FE5A-FAA6-59E8-A48BB02C8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Idea behind Asymmetric Cryptography</a:t>
            </a:r>
          </a:p>
        </p:txBody>
      </p:sp>
      <p:sp>
        <p:nvSpPr>
          <p:cNvPr id="13319" name="Fußzeilenplatzhalter 4">
            <a:extLst>
              <a:ext uri="{FF2B5EF4-FFF2-40B4-BE49-F238E27FC236}">
                <a16:creationId xmlns:a16="http://schemas.microsoft.com/office/drawing/2014/main" id="{5BA607DC-34EA-5A84-667F-240E2E23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5F26E0D-3B0F-EC2D-0E86-4B0DB234F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5357813"/>
            <a:ext cx="7929563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 sz="1600"/>
              <a:t>1976: first publication of such an algorithm by Whitfield Diffie and Martin Hellman,and also by Ralph Merkle.</a:t>
            </a:r>
          </a:p>
          <a:p>
            <a:endParaRPr lang="de-DE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00" grpId="0" build="allAtOnce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liennummernplatzhalter 3">
            <a:extLst>
              <a:ext uri="{FF2B5EF4-FFF2-40B4-BE49-F238E27FC236}">
                <a16:creationId xmlns:a16="http://schemas.microsoft.com/office/drawing/2014/main" id="{5A5E9775-3B96-B931-8D0D-2F2DFE387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5B97AD-2EE0-1340-8E95-92AE01903A17}" type="slidenum">
              <a:rPr lang="de-DE" altLang="zh-CN">
                <a:solidFill>
                  <a:srgbClr val="394073"/>
                </a:solidFill>
              </a:rPr>
              <a:pPr/>
              <a:t>9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4339" name="Rectangle 5">
            <a:extLst>
              <a:ext uri="{FF2B5EF4-FFF2-40B4-BE49-F238E27FC236}">
                <a16:creationId xmlns:a16="http://schemas.microsoft.com/office/drawing/2014/main" id="{2246CCCD-9351-4623-B11F-720359674D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Asymmetric (Public-Key) Cryptography</a:t>
            </a:r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4021B4D2-4E51-0176-E0EA-B215FEF91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130300"/>
            <a:ext cx="4294187" cy="307975"/>
          </a:xfrm>
        </p:spPr>
        <p:txBody>
          <a:bodyPr/>
          <a:lstStyle/>
          <a:p>
            <a:pPr>
              <a:buFontTx/>
              <a:buNone/>
            </a:pPr>
            <a:r>
              <a:rPr lang="de-DE" altLang="zh-CN"/>
              <a:t>Principle: “Split up” the key</a:t>
            </a:r>
          </a:p>
        </p:txBody>
      </p:sp>
      <p:sp>
        <p:nvSpPr>
          <p:cNvPr id="14341" name="Text Box 7">
            <a:extLst>
              <a:ext uri="{FF2B5EF4-FFF2-40B4-BE49-F238E27FC236}">
                <a16:creationId xmlns:a16="http://schemas.microsoft.com/office/drawing/2014/main" id="{DABBF277-51E9-1B66-42B9-51937AE39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133600"/>
            <a:ext cx="10795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2400"/>
              <a:t>K</a:t>
            </a:r>
          </a:p>
        </p:txBody>
      </p:sp>
      <p:sp>
        <p:nvSpPr>
          <p:cNvPr id="551945" name="Text Box 9">
            <a:extLst>
              <a:ext uri="{FF2B5EF4-FFF2-40B4-BE49-F238E27FC236}">
                <a16:creationId xmlns:a16="http://schemas.microsoft.com/office/drawing/2014/main" id="{9C113B69-0ADB-22CC-F54E-5D8568922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149725"/>
            <a:ext cx="316706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2400">
                <a:solidFill>
                  <a:srgbClr val="008000"/>
                </a:solidFill>
              </a:rPr>
              <a:t>Public Key (</a:t>
            </a:r>
            <a:r>
              <a:rPr lang="de-DE" altLang="zh-CN" sz="2400" i="1">
                <a:solidFill>
                  <a:srgbClr val="008000"/>
                </a:solidFill>
              </a:rPr>
              <a:t>K</a:t>
            </a:r>
            <a:r>
              <a:rPr lang="de-DE" altLang="zh-CN" sz="2400" i="1" baseline="-25000">
                <a:solidFill>
                  <a:srgbClr val="008000"/>
                </a:solidFill>
              </a:rPr>
              <a:t>pub</a:t>
            </a:r>
            <a:r>
              <a:rPr lang="de-DE" altLang="zh-CN" sz="2400">
                <a:solidFill>
                  <a:srgbClr val="008000"/>
                </a:solidFill>
              </a:rPr>
              <a:t>)</a:t>
            </a:r>
            <a:r>
              <a:rPr lang="de-DE" altLang="zh-CN" sz="2400"/>
              <a:t> (Encrypt)</a:t>
            </a:r>
          </a:p>
        </p:txBody>
      </p:sp>
      <p:sp>
        <p:nvSpPr>
          <p:cNvPr id="551946" name="Text Box 10">
            <a:extLst>
              <a:ext uri="{FF2B5EF4-FFF2-40B4-BE49-F238E27FC236}">
                <a16:creationId xmlns:a16="http://schemas.microsoft.com/office/drawing/2014/main" id="{7F1B39DB-746E-4C6A-384B-5C871D0C9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149725"/>
            <a:ext cx="2735263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2400">
                <a:solidFill>
                  <a:srgbClr val="CC0000"/>
                </a:solidFill>
              </a:rPr>
              <a:t>Secret Key (</a:t>
            </a:r>
            <a:r>
              <a:rPr lang="de-DE" altLang="zh-CN" sz="2400" i="1">
                <a:solidFill>
                  <a:srgbClr val="CC0000"/>
                </a:solidFill>
              </a:rPr>
              <a:t>K</a:t>
            </a:r>
            <a:r>
              <a:rPr lang="de-DE" altLang="zh-CN" sz="2400" i="1" baseline="-25000">
                <a:solidFill>
                  <a:srgbClr val="CC0000"/>
                </a:solidFill>
              </a:rPr>
              <a:t>pr</a:t>
            </a:r>
            <a:r>
              <a:rPr lang="de-DE" altLang="zh-CN" sz="2400">
                <a:solidFill>
                  <a:srgbClr val="CC0000"/>
                </a:solidFill>
              </a:rPr>
              <a:t>)</a:t>
            </a:r>
            <a:r>
              <a:rPr lang="de-DE" altLang="zh-CN" sz="2400"/>
              <a:t> (Decrypt)</a:t>
            </a:r>
          </a:p>
        </p:txBody>
      </p:sp>
      <p:sp>
        <p:nvSpPr>
          <p:cNvPr id="551949" name="Line 13">
            <a:extLst>
              <a:ext uri="{FF2B5EF4-FFF2-40B4-BE49-F238E27FC236}">
                <a16:creationId xmlns:a16="http://schemas.microsoft.com/office/drawing/2014/main" id="{CF5EC748-DE80-9482-2BFF-43548143C2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7313" y="2636838"/>
            <a:ext cx="1512887" cy="1152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51950" name="Line 14">
            <a:extLst>
              <a:ext uri="{FF2B5EF4-FFF2-40B4-BE49-F238E27FC236}">
                <a16:creationId xmlns:a16="http://schemas.microsoft.com/office/drawing/2014/main" id="{9FBFABFE-7353-62BE-FFF4-61D7AEC5D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2636838"/>
            <a:ext cx="1584325" cy="1223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4346" name="Fußzeilenplatzhalter 4">
            <a:extLst>
              <a:ext uri="{FF2B5EF4-FFF2-40B4-BE49-F238E27FC236}">
                <a16:creationId xmlns:a16="http://schemas.microsoft.com/office/drawing/2014/main" id="{1502C51F-2E91-17A9-B952-7B7D68254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02622106-F75F-6022-3DB4-CF2A1CC32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250" y="5549900"/>
            <a:ext cx="6223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de-DE" sz="1600" kern="0" dirty="0">
                <a:latin typeface="+mn-lt"/>
                <a:sym typeface="Wingdings" pitchFamily="2" charset="2"/>
              </a:rPr>
              <a:t> </a:t>
            </a:r>
            <a:r>
              <a:rPr lang="de-DE" sz="1600" kern="0" dirty="0" err="1">
                <a:latin typeface="+mn-lt"/>
                <a:sym typeface="Wingdings" pitchFamily="2" charset="2"/>
              </a:rPr>
              <a:t>During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the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key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generation</a:t>
            </a:r>
            <a:r>
              <a:rPr lang="de-DE" sz="1600" kern="0" dirty="0">
                <a:latin typeface="+mn-lt"/>
                <a:sym typeface="Wingdings" pitchFamily="2" charset="2"/>
              </a:rPr>
              <a:t>, a </a:t>
            </a:r>
            <a:r>
              <a:rPr lang="de-DE" sz="1600" kern="0" dirty="0" err="1">
                <a:latin typeface="+mn-lt"/>
                <a:sym typeface="Wingdings" pitchFamily="2" charset="2"/>
              </a:rPr>
              <a:t>key</a:t>
            </a:r>
            <a:r>
              <a:rPr lang="de-DE" sz="1600" kern="0" dirty="0">
                <a:latin typeface="+mn-lt"/>
                <a:sym typeface="Wingdings" pitchFamily="2" charset="2"/>
              </a:rPr>
              <a:t> pair </a:t>
            </a:r>
            <a:r>
              <a:rPr lang="de-DE" sz="1600" dirty="0" err="1">
                <a:solidFill>
                  <a:srgbClr val="008000"/>
                </a:solidFill>
                <a:latin typeface="Arial" charset="0"/>
              </a:rPr>
              <a:t>K</a:t>
            </a:r>
            <a:r>
              <a:rPr lang="de-DE" sz="1600" baseline="-25000" dirty="0" err="1">
                <a:solidFill>
                  <a:srgbClr val="008000"/>
                </a:solidFill>
                <a:latin typeface="Arial" charset="0"/>
              </a:rPr>
              <a:t>pub</a:t>
            </a:r>
            <a:r>
              <a:rPr lang="de-DE" sz="1600" kern="0" dirty="0">
                <a:latin typeface="+mn-lt"/>
                <a:sym typeface="Wingdings" pitchFamily="2" charset="2"/>
              </a:rPr>
              <a:t> and </a:t>
            </a:r>
            <a:r>
              <a:rPr lang="de-DE" sz="1600" dirty="0" err="1">
                <a:solidFill>
                  <a:srgbClr val="CC0000"/>
                </a:solidFill>
                <a:latin typeface="Arial" charset="0"/>
              </a:rPr>
              <a:t>K</a:t>
            </a:r>
            <a:r>
              <a:rPr lang="de-DE" sz="1600" baseline="-25000" dirty="0" err="1">
                <a:solidFill>
                  <a:srgbClr val="CC0000"/>
                </a:solidFill>
                <a:latin typeface="Arial" charset="0"/>
              </a:rPr>
              <a:t>pr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is</a:t>
            </a:r>
            <a:r>
              <a:rPr lang="de-DE" sz="1600" kern="0" dirty="0">
                <a:latin typeface="+mn-lt"/>
                <a:sym typeface="Wingdings" pitchFamily="2" charset="2"/>
              </a:rPr>
              <a:t> </a:t>
            </a:r>
            <a:r>
              <a:rPr lang="de-DE" sz="1600" kern="0" dirty="0" err="1">
                <a:latin typeface="+mn-lt"/>
                <a:sym typeface="Wingdings" pitchFamily="2" charset="2"/>
              </a:rPr>
              <a:t>computed</a:t>
            </a:r>
            <a:endParaRPr lang="de-DE" sz="1600" kern="0" dirty="0"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5" grpId="0"/>
      <p:bldP spid="5519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liennummernplatzhalter 3">
            <a:extLst>
              <a:ext uri="{FF2B5EF4-FFF2-40B4-BE49-F238E27FC236}">
                <a16:creationId xmlns:a16="http://schemas.microsoft.com/office/drawing/2014/main" id="{4BF909D8-6AB3-90EB-2DBA-FA3179492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FC8967-B091-CB4A-A32B-30B82195EF1F}" type="slidenum">
              <a:rPr lang="de-DE" altLang="zh-CN">
                <a:solidFill>
                  <a:srgbClr val="394073"/>
                </a:solidFill>
              </a:rPr>
              <a:pPr/>
              <a:t>10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E695F811-A50A-AC45-6FFC-62EE1277B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Asymmetric Cryptography: Analogy</a:t>
            </a:r>
          </a:p>
        </p:txBody>
      </p:sp>
      <p:sp>
        <p:nvSpPr>
          <p:cNvPr id="15364" name="Fußzeilenplatzhalter 4">
            <a:extLst>
              <a:ext uri="{FF2B5EF4-FFF2-40B4-BE49-F238E27FC236}">
                <a16:creationId xmlns:a16="http://schemas.microsoft.com/office/drawing/2014/main" id="{C492DCCF-767A-F628-7189-99C4C9A9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pic>
        <p:nvPicPr>
          <p:cNvPr id="15365" name="Picture 2">
            <a:extLst>
              <a:ext uri="{FF2B5EF4-FFF2-40B4-BE49-F238E27FC236}">
                <a16:creationId xmlns:a16="http://schemas.microsoft.com/office/drawing/2014/main" id="{66520880-C658-4CED-A088-F7C85DFF2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857375"/>
            <a:ext cx="828675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Textfeld 9">
            <a:extLst>
              <a:ext uri="{FF2B5EF4-FFF2-40B4-BE49-F238E27FC236}">
                <a16:creationId xmlns:a16="http://schemas.microsoft.com/office/drawing/2014/main" id="{74AAB8C3-0608-30B9-89B7-622E17160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130300"/>
            <a:ext cx="485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Safe with public lock and private lock: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1680564-7FD1-E770-46A5-F1CE3B59E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714875"/>
            <a:ext cx="8072438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de-DE" sz="1600" kern="0" dirty="0">
                <a:latin typeface="+mn-lt"/>
              </a:rPr>
              <a:t>Alice d</a:t>
            </a:r>
            <a:r>
              <a:rPr lang="de-DE" sz="1600" kern="0" dirty="0" err="1">
                <a:latin typeface="+mn-lt"/>
              </a:rPr>
              <a:t>eposits</a:t>
            </a:r>
            <a:r>
              <a:rPr lang="de-DE" sz="1600" kern="0" dirty="0">
                <a:latin typeface="+mn-lt"/>
              </a:rPr>
              <a:t> (</a:t>
            </a:r>
            <a:r>
              <a:rPr lang="de-DE" sz="1600" kern="0" dirty="0" err="1">
                <a:latin typeface="+mn-lt"/>
              </a:rPr>
              <a:t>encrypts</a:t>
            </a:r>
            <a:r>
              <a:rPr lang="de-DE" sz="1600" kern="0" dirty="0">
                <a:latin typeface="+mn-lt"/>
              </a:rPr>
              <a:t>) a </a:t>
            </a:r>
            <a:r>
              <a:rPr lang="de-DE" sz="1600" kern="0" dirty="0" err="1">
                <a:latin typeface="+mn-lt"/>
              </a:rPr>
              <a:t>message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with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the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>
                <a:latin typeface="Arial" charset="0"/>
              </a:rPr>
              <a:t>- </a:t>
            </a:r>
            <a:r>
              <a:rPr lang="de-DE" sz="1600" i="1" kern="0" dirty="0">
                <a:latin typeface="Arial" charset="0"/>
              </a:rPr>
              <a:t>not </a:t>
            </a:r>
            <a:r>
              <a:rPr lang="de-DE" sz="1600" i="1" kern="0" dirty="0" err="1">
                <a:latin typeface="Arial" charset="0"/>
              </a:rPr>
              <a:t>secret</a:t>
            </a:r>
            <a:r>
              <a:rPr lang="de-DE" sz="1600" i="1" kern="0" dirty="0">
                <a:latin typeface="Arial" charset="0"/>
              </a:rPr>
              <a:t> </a:t>
            </a:r>
            <a:r>
              <a:rPr lang="de-DE" sz="1600" kern="0" dirty="0">
                <a:latin typeface="Arial" charset="0"/>
              </a:rPr>
              <a:t>- </a:t>
            </a:r>
            <a:r>
              <a:rPr lang="de-DE" sz="1600" kern="0" dirty="0" err="1">
                <a:latin typeface="+mn-lt"/>
              </a:rPr>
              <a:t>public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key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i="1" dirty="0" err="1">
                <a:solidFill>
                  <a:srgbClr val="008000"/>
                </a:solidFill>
                <a:latin typeface="Arial" charset="0"/>
              </a:rPr>
              <a:t>K</a:t>
            </a:r>
            <a:r>
              <a:rPr lang="de-DE" sz="1600" i="1" baseline="-25000" dirty="0" err="1">
                <a:solidFill>
                  <a:srgbClr val="008000"/>
                </a:solidFill>
                <a:latin typeface="Arial" charset="0"/>
              </a:rPr>
              <a:t>pub</a:t>
            </a:r>
            <a:endParaRPr lang="de-DE" sz="1600" i="1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de-DE" sz="1600" kern="0" dirty="0" err="1">
                <a:latin typeface="+mn-lt"/>
              </a:rPr>
              <a:t>Only</a:t>
            </a:r>
            <a:r>
              <a:rPr lang="de-DE" sz="1600" kern="0" dirty="0">
                <a:latin typeface="+mn-lt"/>
              </a:rPr>
              <a:t> Bob </a:t>
            </a:r>
            <a:r>
              <a:rPr lang="de-DE" sz="1600" kern="0" dirty="0" err="1">
                <a:latin typeface="+mn-lt"/>
              </a:rPr>
              <a:t>has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the</a:t>
            </a:r>
            <a:r>
              <a:rPr lang="de-DE" sz="1600" kern="0" dirty="0">
                <a:latin typeface="+mn-lt"/>
              </a:rPr>
              <a:t> - </a:t>
            </a:r>
            <a:r>
              <a:rPr lang="de-DE" sz="1600" i="1" kern="0" dirty="0" err="1">
                <a:latin typeface="+mn-lt"/>
              </a:rPr>
              <a:t>secret</a:t>
            </a:r>
            <a:r>
              <a:rPr lang="de-DE" sz="1600" kern="0" dirty="0">
                <a:latin typeface="+mn-lt"/>
              </a:rPr>
              <a:t> - private </a:t>
            </a:r>
            <a:r>
              <a:rPr lang="de-DE" sz="1600" kern="0" dirty="0" err="1">
                <a:latin typeface="+mn-lt"/>
              </a:rPr>
              <a:t>key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i="1" dirty="0" err="1">
                <a:solidFill>
                  <a:srgbClr val="CC0000"/>
                </a:solidFill>
                <a:latin typeface="Arial" charset="0"/>
              </a:rPr>
              <a:t>K</a:t>
            </a:r>
            <a:r>
              <a:rPr lang="de-DE" sz="1600" i="1" baseline="-25000" dirty="0" err="1">
                <a:solidFill>
                  <a:srgbClr val="CC0000"/>
                </a:solidFill>
                <a:latin typeface="Arial" charset="0"/>
              </a:rPr>
              <a:t>pr</a:t>
            </a:r>
            <a:r>
              <a:rPr lang="de-DE" sz="1600" baseline="-25000" dirty="0">
                <a:solidFill>
                  <a:srgbClr val="CC0000"/>
                </a:solidFill>
                <a:latin typeface="Arial" charset="0"/>
              </a:rPr>
              <a:t> </a:t>
            </a:r>
            <a:r>
              <a:rPr lang="de-DE" sz="1600" kern="0" dirty="0" err="1">
                <a:latin typeface="+mn-lt"/>
              </a:rPr>
              <a:t>to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retrieve</a:t>
            </a:r>
            <a:r>
              <a:rPr lang="de-DE" sz="1600" kern="0" dirty="0">
                <a:latin typeface="+mn-lt"/>
              </a:rPr>
              <a:t> (</a:t>
            </a:r>
            <a:r>
              <a:rPr lang="de-DE" sz="1600" kern="0" dirty="0" err="1">
                <a:latin typeface="+mn-lt"/>
              </a:rPr>
              <a:t>decrypt</a:t>
            </a:r>
            <a:r>
              <a:rPr lang="de-DE" sz="1600" kern="0" dirty="0">
                <a:latin typeface="+mn-lt"/>
              </a:rPr>
              <a:t>) </a:t>
            </a:r>
            <a:r>
              <a:rPr lang="de-DE" sz="1600" kern="0" dirty="0" err="1">
                <a:latin typeface="+mn-lt"/>
              </a:rPr>
              <a:t>the</a:t>
            </a:r>
            <a:r>
              <a:rPr lang="de-DE" sz="1600" kern="0" dirty="0">
                <a:latin typeface="+mn-lt"/>
              </a:rPr>
              <a:t> </a:t>
            </a:r>
            <a:r>
              <a:rPr lang="de-DE" sz="1600" kern="0" dirty="0" err="1">
                <a:latin typeface="+mn-lt"/>
              </a:rPr>
              <a:t>message</a:t>
            </a:r>
            <a:endParaRPr lang="de-DE" sz="1600" kern="0" dirty="0">
              <a:latin typeface="+mn-lt"/>
            </a:endParaRPr>
          </a:p>
        </p:txBody>
      </p:sp>
      <p:sp>
        <p:nvSpPr>
          <p:cNvPr id="15368" name="Text Box 9">
            <a:extLst>
              <a:ext uri="{FF2B5EF4-FFF2-40B4-BE49-F238E27FC236}">
                <a16:creationId xmlns:a16="http://schemas.microsoft.com/office/drawing/2014/main" id="{F833892D-0D38-2F97-EA95-20E05B43F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290888"/>
            <a:ext cx="12144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2400">
                <a:solidFill>
                  <a:srgbClr val="008000"/>
                </a:solidFill>
              </a:rPr>
              <a:t>(</a:t>
            </a:r>
            <a:r>
              <a:rPr lang="de-DE" altLang="zh-CN" sz="2400" i="1">
                <a:solidFill>
                  <a:srgbClr val="008000"/>
                </a:solidFill>
              </a:rPr>
              <a:t>K</a:t>
            </a:r>
            <a:r>
              <a:rPr lang="de-DE" altLang="zh-CN" sz="2400" i="1" baseline="-25000">
                <a:solidFill>
                  <a:srgbClr val="008000"/>
                </a:solidFill>
              </a:rPr>
              <a:t>pub</a:t>
            </a:r>
            <a:r>
              <a:rPr lang="de-DE" altLang="zh-CN" sz="2400">
                <a:solidFill>
                  <a:srgbClr val="008000"/>
                </a:solidFill>
              </a:rPr>
              <a:t>)</a:t>
            </a:r>
          </a:p>
          <a:p>
            <a:pPr algn="ctr">
              <a:spcBef>
                <a:spcPct val="50000"/>
              </a:spcBef>
            </a:pPr>
            <a:endParaRPr lang="de-DE" altLang="zh-CN" sz="2400"/>
          </a:p>
        </p:txBody>
      </p:sp>
      <p:sp>
        <p:nvSpPr>
          <p:cNvPr id="15369" name="Text Box 10">
            <a:extLst>
              <a:ext uri="{FF2B5EF4-FFF2-40B4-BE49-F238E27FC236}">
                <a16:creationId xmlns:a16="http://schemas.microsoft.com/office/drawing/2014/main" id="{FA338C66-C8B9-CF25-9988-EC2131BBA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3273425"/>
            <a:ext cx="922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2400">
                <a:solidFill>
                  <a:srgbClr val="CC0000"/>
                </a:solidFill>
              </a:rPr>
              <a:t>(</a:t>
            </a:r>
            <a:r>
              <a:rPr lang="de-DE" altLang="zh-CN" sz="2400" i="1">
                <a:solidFill>
                  <a:srgbClr val="CC0000"/>
                </a:solidFill>
              </a:rPr>
              <a:t>K</a:t>
            </a:r>
            <a:r>
              <a:rPr lang="de-DE" altLang="zh-CN" sz="2400" i="1" baseline="-25000">
                <a:solidFill>
                  <a:srgbClr val="CC0000"/>
                </a:solidFill>
              </a:rPr>
              <a:t>pr</a:t>
            </a:r>
            <a:r>
              <a:rPr lang="de-DE" altLang="zh-CN" sz="2400">
                <a:solidFill>
                  <a:srgbClr val="CC0000"/>
                </a:solidFill>
              </a:rPr>
              <a:t>)</a:t>
            </a:r>
            <a:endParaRPr lang="de-DE" altLang="zh-CN" sz="2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3">
            <a:extLst>
              <a:ext uri="{FF2B5EF4-FFF2-40B4-BE49-F238E27FC236}">
                <a16:creationId xmlns:a16="http://schemas.microsoft.com/office/drawing/2014/main" id="{039957D9-9B20-045D-9632-7D4F7EDDB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7AD0D4-A929-C741-9F52-705CA6CAA1DF}" type="slidenum">
              <a:rPr lang="de-DE" altLang="zh-CN">
                <a:solidFill>
                  <a:srgbClr val="394073"/>
                </a:solidFill>
              </a:rPr>
              <a:pPr/>
              <a:t>11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2B8E112-48D0-C90A-1939-7353EF674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1214438"/>
            <a:ext cx="5100638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92F4436A-8D31-7133-8F44-4381A5ECD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563" y="2500313"/>
            <a:ext cx="6891337" cy="2232025"/>
          </a:xfrm>
          <a:noFill/>
        </p:spPr>
        <p:txBody>
          <a:bodyPr/>
          <a:lstStyle/>
          <a:p>
            <a:pPr marL="342900" indent="-342900"/>
            <a:r>
              <a:rPr lang="de-DE" altLang="zh-CN" sz="2000"/>
              <a:t>Symmetric Cryptography Revisited</a:t>
            </a:r>
          </a:p>
          <a:p>
            <a:pPr marL="342900" indent="-342900"/>
            <a:r>
              <a:rPr lang="de-DE" altLang="zh-CN" sz="2000"/>
              <a:t>Principles of Asymmetric Cryptography</a:t>
            </a:r>
          </a:p>
          <a:p>
            <a:pPr marL="342900" indent="-342900"/>
            <a:r>
              <a:rPr lang="en-US" altLang="zh-CN" sz="2000" b="1">
                <a:ea typeface="宋体" panose="02010600030101010101" pitchFamily="2" charset="-122"/>
              </a:rPr>
              <a:t>Practical Aspects of Public-Key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Important Public-Key Algorithms</a:t>
            </a:r>
            <a:endParaRPr lang="de-DE" altLang="zh-CN" sz="2000"/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Essential Number Theory for Public-Key Algorithms</a:t>
            </a:r>
          </a:p>
        </p:txBody>
      </p:sp>
      <p:sp>
        <p:nvSpPr>
          <p:cNvPr id="16389" name="Fußzeilenplatzhalter 4">
            <a:extLst>
              <a:ext uri="{FF2B5EF4-FFF2-40B4-BE49-F238E27FC236}">
                <a16:creationId xmlns:a16="http://schemas.microsoft.com/office/drawing/2014/main" id="{BF9151B5-3394-FD6B-862B-47848069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3A80303D-B7FA-51B9-3B68-DC5E83089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06ECAC-0120-CA4D-B211-C1C15BCE51D6}" type="slidenum">
              <a:rPr lang="de-DE" altLang="zh-CN">
                <a:solidFill>
                  <a:srgbClr val="394073"/>
                </a:solidFill>
              </a:rPr>
              <a:pPr/>
              <a:t>12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7411" name="Rectangle 18">
            <a:extLst>
              <a:ext uri="{FF2B5EF4-FFF2-40B4-BE49-F238E27FC236}">
                <a16:creationId xmlns:a16="http://schemas.microsoft.com/office/drawing/2014/main" id="{8BA202EB-0CB9-7668-F593-8C9FB4384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Basic Protocol for Public-Key Encryption</a:t>
            </a:r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16B65C9D-41B9-00B4-F8E1-7D2EF9B67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4438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 sz="3200"/>
              <a:t>Alice</a:t>
            </a:r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081DFAE6-B6B2-A3C8-E4BA-9455E2CA4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214438"/>
            <a:ext cx="99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de-DE" altLang="zh-CN" sz="3200"/>
              <a:t>Bob</a:t>
            </a:r>
            <a:endParaRPr lang="de-DE" altLang="zh-CN" sz="2400"/>
          </a:p>
        </p:txBody>
      </p:sp>
      <p:sp>
        <p:nvSpPr>
          <p:cNvPr id="552970" name="Text Box 10">
            <a:extLst>
              <a:ext uri="{FF2B5EF4-FFF2-40B4-BE49-F238E27FC236}">
                <a16:creationId xmlns:a16="http://schemas.microsoft.com/office/drawing/2014/main" id="{9DAF2A3B-8903-8DC6-57B9-B07CE04E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2654300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 sz="2000" i="1"/>
              <a:t>(</a:t>
            </a:r>
            <a:r>
              <a:rPr lang="de-DE" altLang="zh-CN" sz="2000" i="1">
                <a:solidFill>
                  <a:srgbClr val="008000"/>
                </a:solidFill>
              </a:rPr>
              <a:t>K</a:t>
            </a:r>
            <a:r>
              <a:rPr lang="de-DE" altLang="zh-CN" sz="2000" i="1" baseline="-25000">
                <a:solidFill>
                  <a:srgbClr val="008000"/>
                </a:solidFill>
              </a:rPr>
              <a:t>pubB</a:t>
            </a:r>
            <a:r>
              <a:rPr lang="de-DE" altLang="zh-CN" sz="2000" i="1"/>
              <a:t>,</a:t>
            </a:r>
            <a:r>
              <a:rPr lang="de-DE" altLang="zh-CN" sz="2000" i="1">
                <a:solidFill>
                  <a:srgbClr val="CC0000"/>
                </a:solidFill>
              </a:rPr>
              <a:t>K</a:t>
            </a:r>
            <a:r>
              <a:rPr lang="de-DE" altLang="zh-CN" sz="2000" i="1" baseline="-25000">
                <a:solidFill>
                  <a:srgbClr val="CC0000"/>
                </a:solidFill>
              </a:rPr>
              <a:t>prB</a:t>
            </a:r>
            <a:r>
              <a:rPr lang="de-DE" altLang="zh-CN" sz="2000" i="1"/>
              <a:t>) = K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97D57628-7E21-41C2-A194-848C7102AC95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2727325"/>
            <a:ext cx="5562600" cy="503238"/>
            <a:chOff x="1111" y="1888"/>
            <a:chExt cx="3504" cy="317"/>
          </a:xfrm>
        </p:grpSpPr>
        <p:sp>
          <p:nvSpPr>
            <p:cNvPr id="17424" name="Line 9">
              <a:extLst>
                <a:ext uri="{FF2B5EF4-FFF2-40B4-BE49-F238E27FC236}">
                  <a16:creationId xmlns:a16="http://schemas.microsoft.com/office/drawing/2014/main" id="{9D220D36-DD88-5FBD-8296-81D365BBDF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1" y="2205"/>
              <a:ext cx="3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5" name="Text Box 11">
              <a:extLst>
                <a:ext uri="{FF2B5EF4-FFF2-40B4-BE49-F238E27FC236}">
                  <a16:creationId xmlns:a16="http://schemas.microsoft.com/office/drawing/2014/main" id="{2F89740D-E682-E57D-649D-4C90503AB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18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de-DE" altLang="zh-CN" sz="2400" i="1">
                  <a:solidFill>
                    <a:srgbClr val="008000"/>
                  </a:solidFill>
                </a:rPr>
                <a:t>K</a:t>
              </a:r>
              <a:r>
                <a:rPr lang="de-DE" altLang="zh-CN" sz="2400" i="1" baseline="-25000">
                  <a:solidFill>
                    <a:srgbClr val="008000"/>
                  </a:solidFill>
                </a:rPr>
                <a:t>pubB</a:t>
              </a:r>
            </a:p>
          </p:txBody>
        </p:sp>
      </p:grpSp>
      <p:sp>
        <p:nvSpPr>
          <p:cNvPr id="552972" name="Text Box 12">
            <a:extLst>
              <a:ext uri="{FF2B5EF4-FFF2-40B4-BE49-F238E27FC236}">
                <a16:creationId xmlns:a16="http://schemas.microsoft.com/office/drawing/2014/main" id="{EF823CAC-F83C-D131-02C3-7C3A2F38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559175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 sz="2400" i="1"/>
              <a:t>x</a:t>
            </a:r>
          </a:p>
        </p:txBody>
      </p:sp>
      <p:sp>
        <p:nvSpPr>
          <p:cNvPr id="552973" name="Text Box 13">
            <a:extLst>
              <a:ext uri="{FF2B5EF4-FFF2-40B4-BE49-F238E27FC236}">
                <a16:creationId xmlns:a16="http://schemas.microsoft.com/office/drawing/2014/main" id="{812FF267-C427-2D38-D859-D50421C6D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4059238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 sz="2400" i="1"/>
              <a:t>y=e</a:t>
            </a:r>
            <a:r>
              <a:rPr lang="de-DE" altLang="zh-CN" sz="2400" i="1" baseline="-25000">
                <a:solidFill>
                  <a:srgbClr val="008000"/>
                </a:solidFill>
              </a:rPr>
              <a:t>K</a:t>
            </a:r>
            <a:r>
              <a:rPr lang="de-DE" altLang="zh-CN" sz="2400" i="1" baseline="-40000">
                <a:solidFill>
                  <a:srgbClr val="008000"/>
                </a:solidFill>
              </a:rPr>
              <a:t>pubB</a:t>
            </a:r>
            <a:r>
              <a:rPr lang="de-DE" altLang="zh-CN" sz="2400" i="1"/>
              <a:t>(x)</a:t>
            </a:r>
            <a:endParaRPr lang="de-DE" altLang="zh-CN" sz="2400" i="1" baseline="-25000"/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410B86AA-7090-BC7D-11DB-AA90AA31EE1D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4119563"/>
            <a:ext cx="5562600" cy="457200"/>
            <a:chOff x="960" y="2880"/>
            <a:chExt cx="3504" cy="288"/>
          </a:xfrm>
        </p:grpSpPr>
        <p:sp>
          <p:nvSpPr>
            <p:cNvPr id="17422" name="Line 15">
              <a:extLst>
                <a:ext uri="{FF2B5EF4-FFF2-40B4-BE49-F238E27FC236}">
                  <a16:creationId xmlns:a16="http://schemas.microsoft.com/office/drawing/2014/main" id="{BB7C98DB-728E-C7CC-1AE8-4602F113D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3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3" name="Text Box 16">
              <a:extLst>
                <a:ext uri="{FF2B5EF4-FFF2-40B4-BE49-F238E27FC236}">
                  <a16:creationId xmlns:a16="http://schemas.microsoft.com/office/drawing/2014/main" id="{ACBAB141-E38A-EB08-D986-4AFBCC7E7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880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de-DE" altLang="zh-CN" sz="2400" i="1"/>
                <a:t>y</a:t>
              </a:r>
            </a:p>
          </p:txBody>
        </p:sp>
      </p:grpSp>
      <p:sp>
        <p:nvSpPr>
          <p:cNvPr id="552977" name="Text Box 17">
            <a:extLst>
              <a:ext uri="{FF2B5EF4-FFF2-40B4-BE49-F238E27FC236}">
                <a16:creationId xmlns:a16="http://schemas.microsoft.com/office/drawing/2014/main" id="{C2593FD0-F55C-051F-C395-7B4AC51B4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773613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 sz="2400" i="1"/>
              <a:t>x=d</a:t>
            </a:r>
            <a:r>
              <a:rPr lang="de-DE" altLang="zh-CN" sz="2400" i="1" baseline="-25000">
                <a:solidFill>
                  <a:srgbClr val="CC0000"/>
                </a:solidFill>
              </a:rPr>
              <a:t>K</a:t>
            </a:r>
            <a:r>
              <a:rPr lang="de-DE" altLang="zh-CN" sz="2400" i="1" baseline="-40000">
                <a:solidFill>
                  <a:srgbClr val="CC0000"/>
                </a:solidFill>
              </a:rPr>
              <a:t>prB</a:t>
            </a:r>
            <a:r>
              <a:rPr lang="de-DE" altLang="zh-CN" sz="2400" i="1"/>
              <a:t>(y)</a:t>
            </a:r>
          </a:p>
        </p:txBody>
      </p:sp>
      <p:sp>
        <p:nvSpPr>
          <p:cNvPr id="17420" name="Fußzeilenplatzhalter 4">
            <a:extLst>
              <a:ext uri="{FF2B5EF4-FFF2-40B4-BE49-F238E27FC236}">
                <a16:creationId xmlns:a16="http://schemas.microsoft.com/office/drawing/2014/main" id="{4291A083-A96E-72FD-4FE8-61C395E74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D9047AC-70B9-226E-4311-AA2AA033D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72125"/>
            <a:ext cx="91440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>
                <a:sym typeface="Wingdings" pitchFamily="2" charset="2"/>
              </a:rPr>
              <a:t>                 Key Distribution Problem solved *</a:t>
            </a:r>
          </a:p>
          <a:p>
            <a:br>
              <a:rPr lang="de-DE" altLang="zh-CN">
                <a:sym typeface="Wingdings" pitchFamily="2" charset="2"/>
              </a:rPr>
            </a:br>
            <a:r>
              <a:rPr lang="de-DE" altLang="zh-CN" sz="1600">
                <a:sym typeface="Wingdings" pitchFamily="2" charset="2"/>
              </a:rPr>
              <a:t>*) at least for now; public keys need to be authenticated, cf.Chptr. 13 </a:t>
            </a:r>
            <a:r>
              <a:rPr lang="de-DE" altLang="zh-CN" sz="1600" i="1">
                <a:sym typeface="Wingdings" pitchFamily="2" charset="2"/>
              </a:rPr>
              <a:t>of Understanding Cryptogr</a:t>
            </a:r>
            <a:r>
              <a:rPr lang="de-DE" altLang="zh-CN" sz="1600">
                <a:sym typeface="Wingdings" pitchFamily="2" charset="2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5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70" grpId="0"/>
      <p:bldP spid="552972" grpId="0"/>
      <p:bldP spid="552973" grpId="0"/>
      <p:bldP spid="55297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liennummernplatzhalter 3">
            <a:extLst>
              <a:ext uri="{FF2B5EF4-FFF2-40B4-BE49-F238E27FC236}">
                <a16:creationId xmlns:a16="http://schemas.microsoft.com/office/drawing/2014/main" id="{366BB79D-ADB3-3849-D9C4-353D1C30F3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557E5C-3EC8-5F4F-AF72-616EF03AA30C}" type="slidenum">
              <a:rPr lang="de-DE" altLang="zh-CN">
                <a:solidFill>
                  <a:srgbClr val="394073"/>
                </a:solidFill>
              </a:rPr>
              <a:pPr/>
              <a:t>13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3F022230-A7F9-1FEF-6681-FBEF2ECE4A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Security Mechanisms of Public-Key Cryptography</a:t>
            </a:r>
          </a:p>
        </p:txBody>
      </p:sp>
      <p:sp>
        <p:nvSpPr>
          <p:cNvPr id="553989" name="Rectangle 5">
            <a:extLst>
              <a:ext uri="{FF2B5EF4-FFF2-40B4-BE49-F238E27FC236}">
                <a16:creationId xmlns:a16="http://schemas.microsoft.com/office/drawing/2014/main" id="{6E4BD456-226D-5DBC-0886-19D2CAAD68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130300"/>
            <a:ext cx="7223125" cy="5078826"/>
          </a:xfrm>
        </p:spPr>
        <p:txBody>
          <a:bodyPr/>
          <a:lstStyle/>
          <a:p>
            <a:pPr>
              <a:buFontTx/>
              <a:buNone/>
            </a:pPr>
            <a:r>
              <a:rPr lang="de-DE" altLang="zh-CN" dirty="0"/>
              <a:t>Here </a:t>
            </a:r>
            <a:r>
              <a:rPr lang="de-DE" altLang="zh-CN" dirty="0" err="1"/>
              <a:t>are</a:t>
            </a:r>
            <a:r>
              <a:rPr lang="de-DE" altLang="zh-CN" dirty="0"/>
              <a:t> </a:t>
            </a:r>
            <a:r>
              <a:rPr lang="de-DE" altLang="zh-CN" dirty="0" err="1"/>
              <a:t>main</a:t>
            </a:r>
            <a:r>
              <a:rPr lang="de-DE" altLang="zh-CN" dirty="0"/>
              <a:t> </a:t>
            </a:r>
            <a:r>
              <a:rPr lang="de-DE" altLang="zh-CN" dirty="0" err="1"/>
              <a:t>mechanisms</a:t>
            </a:r>
            <a:r>
              <a:rPr lang="de-DE" altLang="zh-CN" dirty="0"/>
              <a:t> </a:t>
            </a:r>
            <a:r>
              <a:rPr lang="de-DE" altLang="zh-CN" dirty="0" err="1"/>
              <a:t>that</a:t>
            </a:r>
            <a:r>
              <a:rPr lang="de-DE" altLang="zh-CN" dirty="0"/>
              <a:t> </a:t>
            </a:r>
            <a:r>
              <a:rPr lang="de-DE" altLang="zh-CN" dirty="0" err="1"/>
              <a:t>can</a:t>
            </a:r>
            <a:r>
              <a:rPr lang="de-DE" altLang="zh-CN" dirty="0"/>
              <a:t> </a:t>
            </a:r>
            <a:r>
              <a:rPr lang="de-DE" altLang="zh-CN" dirty="0" err="1"/>
              <a:t>be</a:t>
            </a:r>
            <a:r>
              <a:rPr lang="de-DE" altLang="zh-CN" dirty="0"/>
              <a:t> </a:t>
            </a:r>
            <a:r>
              <a:rPr lang="de-DE" altLang="zh-CN" dirty="0" err="1"/>
              <a:t>realized</a:t>
            </a:r>
            <a:r>
              <a:rPr lang="de-DE" altLang="zh-CN" dirty="0"/>
              <a:t> </a:t>
            </a:r>
            <a:r>
              <a:rPr lang="de-DE" altLang="zh-CN" dirty="0" err="1"/>
              <a:t>with</a:t>
            </a:r>
            <a:r>
              <a:rPr lang="de-DE" altLang="zh-CN" dirty="0"/>
              <a:t> </a:t>
            </a:r>
            <a:r>
              <a:rPr lang="de-DE" altLang="zh-CN" dirty="0" err="1"/>
              <a:t>asymmetric</a:t>
            </a:r>
            <a:r>
              <a:rPr lang="de-DE" altLang="zh-CN" dirty="0"/>
              <a:t> </a:t>
            </a:r>
            <a:r>
              <a:rPr lang="de-DE" altLang="zh-CN" dirty="0" err="1"/>
              <a:t>cryptography</a:t>
            </a:r>
            <a:r>
              <a:rPr lang="de-DE" altLang="zh-CN" dirty="0"/>
              <a:t>:</a:t>
            </a:r>
          </a:p>
          <a:p>
            <a:pPr>
              <a:buFontTx/>
              <a:buNone/>
            </a:pPr>
            <a:endParaRPr lang="de-DE" altLang="zh-CN" dirty="0"/>
          </a:p>
          <a:p>
            <a:r>
              <a:rPr lang="de-DE" altLang="zh-CN" b="1" dirty="0"/>
              <a:t>Key Distribution </a:t>
            </a:r>
            <a:r>
              <a:rPr lang="de-DE" altLang="zh-CN" dirty="0"/>
              <a:t>(e.g., Diffie-Hellman </a:t>
            </a:r>
            <a:r>
              <a:rPr lang="de-DE" altLang="zh-CN" dirty="0" err="1"/>
              <a:t>key</a:t>
            </a:r>
            <a:r>
              <a:rPr lang="de-DE" altLang="zh-CN" dirty="0"/>
              <a:t> </a:t>
            </a:r>
            <a:r>
              <a:rPr lang="de-DE" altLang="zh-CN" dirty="0" err="1"/>
              <a:t>exchange</a:t>
            </a:r>
            <a:r>
              <a:rPr lang="de-DE" altLang="zh-CN" dirty="0"/>
              <a:t>, RSA) </a:t>
            </a:r>
            <a:r>
              <a:rPr lang="de-DE" altLang="zh-CN" dirty="0" err="1"/>
              <a:t>without</a:t>
            </a:r>
            <a:r>
              <a:rPr lang="de-DE" altLang="zh-CN" dirty="0"/>
              <a:t> a </a:t>
            </a:r>
            <a:r>
              <a:rPr lang="de-DE" altLang="zh-CN" dirty="0" err="1"/>
              <a:t>pre-shared</a:t>
            </a:r>
            <a:r>
              <a:rPr lang="de-DE" altLang="zh-CN" dirty="0"/>
              <a:t> </a:t>
            </a:r>
            <a:r>
              <a:rPr lang="de-DE" altLang="zh-CN" dirty="0" err="1"/>
              <a:t>secret</a:t>
            </a:r>
            <a:r>
              <a:rPr lang="de-DE" altLang="zh-CN" dirty="0"/>
              <a:t> (</a:t>
            </a:r>
            <a:r>
              <a:rPr lang="de-DE" altLang="zh-CN" dirty="0" err="1"/>
              <a:t>key</a:t>
            </a:r>
            <a:r>
              <a:rPr lang="de-DE" altLang="zh-CN" dirty="0"/>
              <a:t>)</a:t>
            </a:r>
            <a:br>
              <a:rPr lang="de-DE" altLang="zh-CN" dirty="0"/>
            </a:br>
            <a:endParaRPr lang="de-DE" altLang="zh-CN" b="1" dirty="0"/>
          </a:p>
          <a:p>
            <a:r>
              <a:rPr lang="de-DE" altLang="zh-CN" b="1" dirty="0" err="1"/>
              <a:t>Nonrepudiation</a:t>
            </a:r>
            <a:r>
              <a:rPr lang="de-DE" altLang="zh-CN" dirty="0"/>
              <a:t> </a:t>
            </a:r>
            <a:r>
              <a:rPr lang="en-US" altLang="zh-CN" dirty="0"/>
              <a:t>an be realized with digital signature algorithms </a:t>
            </a:r>
            <a:r>
              <a:rPr lang="de-DE" altLang="zh-CN" dirty="0"/>
              <a:t>(e.g., RSA, DSA </a:t>
            </a:r>
            <a:r>
              <a:rPr lang="de-DE" altLang="zh-CN" dirty="0" err="1"/>
              <a:t>or</a:t>
            </a:r>
            <a:r>
              <a:rPr lang="de-DE" altLang="zh-CN" dirty="0"/>
              <a:t> ECDSA)</a:t>
            </a:r>
          </a:p>
          <a:p>
            <a:r>
              <a:rPr lang="de-DE" altLang="zh-CN" b="1" dirty="0"/>
              <a:t>Integrity </a:t>
            </a:r>
            <a:r>
              <a:rPr lang="de-DE" altLang="zh-CN" dirty="0"/>
              <a:t>Digital </a:t>
            </a:r>
            <a:r>
              <a:rPr lang="de-DE" altLang="zh-CN" dirty="0" err="1"/>
              <a:t>signature</a:t>
            </a:r>
            <a:r>
              <a:rPr lang="de-DE" altLang="zh-CN" dirty="0"/>
              <a:t> </a:t>
            </a:r>
            <a:r>
              <a:rPr lang="de-DE" altLang="zh-CN" dirty="0" err="1"/>
              <a:t>algorithms</a:t>
            </a:r>
            <a:r>
              <a:rPr lang="de-DE" altLang="zh-CN" dirty="0"/>
              <a:t> </a:t>
            </a:r>
            <a:r>
              <a:rPr lang="de-DE" altLang="zh-CN" dirty="0" err="1"/>
              <a:t>can</a:t>
            </a:r>
            <a:r>
              <a:rPr lang="de-DE" altLang="zh-CN" dirty="0"/>
              <a:t> also </a:t>
            </a:r>
            <a:r>
              <a:rPr lang="de-DE" altLang="zh-CN" dirty="0" err="1"/>
              <a:t>ensure</a:t>
            </a:r>
            <a:br>
              <a:rPr lang="de-DE" altLang="zh-CN" dirty="0"/>
            </a:br>
            <a:endParaRPr lang="de-DE" altLang="zh-CN" dirty="0"/>
          </a:p>
          <a:p>
            <a:r>
              <a:rPr lang="de-DE" altLang="zh-CN" b="1" dirty="0" err="1"/>
              <a:t>Identification</a:t>
            </a:r>
            <a:r>
              <a:rPr lang="de-DE" altLang="zh-CN" dirty="0"/>
              <a:t>, </a:t>
            </a:r>
            <a:r>
              <a:rPr lang="de-DE" altLang="zh-CN" dirty="0" err="1"/>
              <a:t>using</a:t>
            </a:r>
            <a:r>
              <a:rPr lang="de-DE" altLang="zh-CN" dirty="0"/>
              <a:t> challenge-response </a:t>
            </a:r>
            <a:r>
              <a:rPr lang="de-DE" altLang="zh-CN" dirty="0" err="1"/>
              <a:t>protocols</a:t>
            </a:r>
            <a:r>
              <a:rPr lang="de-DE" altLang="zh-CN" dirty="0"/>
              <a:t> </a:t>
            </a:r>
            <a:r>
              <a:rPr lang="de-DE" altLang="zh-CN" dirty="0" err="1"/>
              <a:t>with</a:t>
            </a:r>
            <a:r>
              <a:rPr lang="de-DE" altLang="zh-CN" dirty="0"/>
              <a:t> digital </a:t>
            </a:r>
            <a:r>
              <a:rPr lang="de-DE" altLang="zh-CN" dirty="0" err="1"/>
              <a:t>signatures</a:t>
            </a:r>
            <a:endParaRPr lang="de-DE" altLang="zh-CN" b="1" dirty="0"/>
          </a:p>
          <a:p>
            <a:endParaRPr lang="de-DE" altLang="zh-CN" b="1" dirty="0"/>
          </a:p>
          <a:p>
            <a:r>
              <a:rPr lang="de-DE" altLang="zh-CN" b="1" dirty="0"/>
              <a:t>Encryption</a:t>
            </a:r>
            <a:r>
              <a:rPr lang="de-DE" altLang="zh-CN" dirty="0"/>
              <a:t> (e.g., RSA / </a:t>
            </a:r>
            <a:r>
              <a:rPr lang="de-DE" altLang="zh-CN" dirty="0" err="1"/>
              <a:t>Elgamal</a:t>
            </a:r>
            <a:r>
              <a:rPr lang="de-DE" altLang="zh-CN" dirty="0"/>
              <a:t>)</a:t>
            </a:r>
          </a:p>
          <a:p>
            <a:pPr marL="0" indent="0">
              <a:buNone/>
            </a:pPr>
            <a:br>
              <a:rPr lang="de-DE" altLang="zh-CN" b="1" dirty="0"/>
            </a:br>
            <a:r>
              <a:rPr lang="de-DE" altLang="zh-CN" b="1" dirty="0" err="1"/>
              <a:t>Disadvantage</a:t>
            </a:r>
            <a:r>
              <a:rPr lang="de-DE" altLang="zh-CN" b="1" dirty="0"/>
              <a:t>: </a:t>
            </a:r>
            <a:r>
              <a:rPr lang="de-DE" altLang="zh-CN" dirty="0" err="1"/>
              <a:t>Computationally</a:t>
            </a:r>
            <a:r>
              <a:rPr lang="de-DE" altLang="zh-CN" dirty="0"/>
              <a:t> </a:t>
            </a:r>
            <a:r>
              <a:rPr lang="de-DE" altLang="zh-CN" dirty="0" err="1"/>
              <a:t>very</a:t>
            </a:r>
            <a:r>
              <a:rPr lang="de-DE" altLang="zh-CN" dirty="0"/>
              <a:t> intensive (1000 </a:t>
            </a:r>
            <a:r>
              <a:rPr lang="de-DE" altLang="zh-CN" dirty="0" err="1"/>
              <a:t>times</a:t>
            </a:r>
            <a:r>
              <a:rPr lang="de-DE" altLang="zh-CN" dirty="0"/>
              <a:t> </a:t>
            </a:r>
            <a:r>
              <a:rPr lang="de-DE" altLang="zh-CN" dirty="0" err="1"/>
              <a:t>slower</a:t>
            </a:r>
            <a:r>
              <a:rPr lang="de-DE" altLang="zh-CN" dirty="0"/>
              <a:t> </a:t>
            </a:r>
            <a:r>
              <a:rPr lang="de-DE" altLang="zh-CN" dirty="0" err="1"/>
              <a:t>than</a:t>
            </a:r>
            <a:r>
              <a:rPr lang="de-DE" altLang="zh-CN" dirty="0"/>
              <a:t> </a:t>
            </a:r>
            <a:r>
              <a:rPr lang="de-DE" altLang="zh-CN" dirty="0" err="1"/>
              <a:t>symmetric</a:t>
            </a:r>
            <a:r>
              <a:rPr lang="de-DE" altLang="zh-CN" dirty="0"/>
              <a:t> </a:t>
            </a:r>
            <a:r>
              <a:rPr lang="de-DE" altLang="zh-CN" dirty="0" err="1"/>
              <a:t>Algorithms</a:t>
            </a:r>
            <a:r>
              <a:rPr lang="de-DE" altLang="zh-CN" dirty="0"/>
              <a:t>!)</a:t>
            </a:r>
          </a:p>
        </p:txBody>
      </p:sp>
      <p:sp>
        <p:nvSpPr>
          <p:cNvPr id="18437" name="Fußzeilenplatzhalter 4">
            <a:extLst>
              <a:ext uri="{FF2B5EF4-FFF2-40B4-BE49-F238E27FC236}">
                <a16:creationId xmlns:a16="http://schemas.microsoft.com/office/drawing/2014/main" id="{1178359A-3A3E-8811-2867-3FD8224C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liennummernplatzhalter 3">
            <a:extLst>
              <a:ext uri="{FF2B5EF4-FFF2-40B4-BE49-F238E27FC236}">
                <a16:creationId xmlns:a16="http://schemas.microsoft.com/office/drawing/2014/main" id="{4EC49403-3C4B-7926-2496-6A52FA6500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659223-186D-6148-BB37-605EB5E1B523}" type="slidenum">
              <a:rPr lang="de-DE" altLang="zh-CN">
                <a:solidFill>
                  <a:srgbClr val="394073"/>
                </a:solidFill>
              </a:rPr>
              <a:pPr/>
              <a:t>14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19459" name="Rectangle 6">
            <a:extLst>
              <a:ext uri="{FF2B5EF4-FFF2-40B4-BE49-F238E27FC236}">
                <a16:creationId xmlns:a16="http://schemas.microsoft.com/office/drawing/2014/main" id="{DB939770-D731-4525-6DF7-D724AA317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Basic Key Transport Protocol 1/2</a:t>
            </a:r>
          </a:p>
        </p:txBody>
      </p:sp>
      <p:sp>
        <p:nvSpPr>
          <p:cNvPr id="556039" name="Rectangle 7">
            <a:extLst>
              <a:ext uri="{FF2B5EF4-FFF2-40B4-BE49-F238E27FC236}">
                <a16:creationId xmlns:a16="http://schemas.microsoft.com/office/drawing/2014/main" id="{63F3E866-DBA1-D13E-FB47-F87F66BA9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662113"/>
            <a:ext cx="7467600" cy="3076575"/>
          </a:xfrm>
        </p:spPr>
        <p:txBody>
          <a:bodyPr/>
          <a:lstStyle/>
          <a:p>
            <a:pPr>
              <a:buFontTx/>
              <a:buNone/>
            </a:pPr>
            <a:r>
              <a:rPr lang="de-DE" altLang="zh-CN"/>
              <a:t>In practice: </a:t>
            </a:r>
            <a:r>
              <a:rPr lang="de-DE" altLang="zh-CN" b="1"/>
              <a:t>Hybrid systems</a:t>
            </a:r>
            <a:r>
              <a:rPr lang="de-DE" altLang="zh-CN"/>
              <a:t>, incorporating asymmetric and symmetric algorithms </a:t>
            </a:r>
            <a:br>
              <a:rPr lang="de-DE" altLang="zh-CN"/>
            </a:br>
            <a:endParaRPr lang="de-DE" altLang="zh-CN"/>
          </a:p>
          <a:p>
            <a:pPr>
              <a:buFontTx/>
              <a:buNone/>
            </a:pPr>
            <a:endParaRPr lang="de-DE" altLang="zh-CN"/>
          </a:p>
          <a:p>
            <a:pPr>
              <a:buFontTx/>
              <a:buAutoNum type="arabicPeriod"/>
            </a:pPr>
            <a:r>
              <a:rPr lang="de-DE" altLang="zh-CN" b="1"/>
              <a:t> Key exchange</a:t>
            </a:r>
            <a:r>
              <a:rPr lang="de-DE" altLang="zh-CN"/>
              <a:t> (for symmetric schemes) and </a:t>
            </a:r>
            <a:r>
              <a:rPr lang="de-DE" altLang="zh-CN" b="1"/>
              <a:t>digital signatures</a:t>
            </a:r>
            <a:r>
              <a:rPr lang="de-DE" altLang="zh-CN"/>
              <a:t> are performed with (slow) </a:t>
            </a:r>
            <a:r>
              <a:rPr lang="de-DE" altLang="zh-CN" b="1"/>
              <a:t>asymmetric</a:t>
            </a:r>
            <a:r>
              <a:rPr lang="de-DE" altLang="zh-CN"/>
              <a:t> algorithms</a:t>
            </a:r>
          </a:p>
          <a:p>
            <a:pPr>
              <a:buFontTx/>
              <a:buAutoNum type="arabicPeriod"/>
            </a:pPr>
            <a:endParaRPr lang="de-DE" altLang="zh-CN"/>
          </a:p>
          <a:p>
            <a:pPr>
              <a:buFontTx/>
              <a:buAutoNum type="arabicPeriod"/>
            </a:pPr>
            <a:endParaRPr lang="de-DE" altLang="zh-CN"/>
          </a:p>
          <a:p>
            <a:pPr>
              <a:buFontTx/>
              <a:buAutoNum type="arabicPeriod"/>
            </a:pPr>
            <a:r>
              <a:rPr lang="de-DE" altLang="zh-CN" b="1"/>
              <a:t> Encryption</a:t>
            </a:r>
            <a:r>
              <a:rPr lang="de-DE" altLang="zh-CN"/>
              <a:t> of data is done using (fast) symmetric ciphers, e.g., </a:t>
            </a:r>
            <a:r>
              <a:rPr lang="de-DE" altLang="zh-CN" b="1"/>
              <a:t>block ciphers or stream ciphers</a:t>
            </a:r>
            <a:endParaRPr lang="de-DE" altLang="zh-CN"/>
          </a:p>
        </p:txBody>
      </p:sp>
      <p:sp>
        <p:nvSpPr>
          <p:cNvPr id="19461" name="Fußzeilenplatzhalter 4">
            <a:extLst>
              <a:ext uri="{FF2B5EF4-FFF2-40B4-BE49-F238E27FC236}">
                <a16:creationId xmlns:a16="http://schemas.microsoft.com/office/drawing/2014/main" id="{B7BA0867-B674-4A75-5B99-13DC71F5F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3">
            <a:extLst>
              <a:ext uri="{FF2B5EF4-FFF2-40B4-BE49-F238E27FC236}">
                <a16:creationId xmlns:a16="http://schemas.microsoft.com/office/drawing/2014/main" id="{18291648-3AEA-2B06-0181-9E7B94D17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322263"/>
            <a:ext cx="646271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2" charset="2"/>
              <a:buChar char="&lt;"/>
            </a:pPr>
            <a:r>
              <a:rPr lang="en-US" altLang="zh-CN" sz="1900" b="1">
                <a:solidFill>
                  <a:schemeClr val="tx2"/>
                </a:solidFill>
                <a:ea typeface="宋体" panose="02010600030101010101" pitchFamily="2" charset="-122"/>
              </a:rPr>
              <a:t> Basic Key Transport Protocol 2/2</a:t>
            </a:r>
            <a:endParaRPr lang="de-DE" altLang="zh-CN" sz="1900" b="1">
              <a:solidFill>
                <a:schemeClr val="tx2"/>
              </a:solidFill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89957EB-0F54-BFD7-8AEF-D9B698FD12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500063" y="1416050"/>
            <a:ext cx="3441701" cy="1012825"/>
          </a:xfrm>
        </p:spPr>
        <p:txBody>
          <a:bodyPr/>
          <a:lstStyle/>
          <a:p>
            <a:pPr marL="342900" indent="-342900" algn="ctr">
              <a:lnSpc>
                <a:spcPct val="90000"/>
              </a:lnSpc>
              <a:buFontTx/>
              <a:buNone/>
            </a:pPr>
            <a:r>
              <a:rPr lang="de-DE" altLang="zh-CN" sz="2600">
                <a:solidFill>
                  <a:schemeClr val="tx2"/>
                </a:solidFill>
              </a:rPr>
              <a:t>Alice</a:t>
            </a:r>
          </a:p>
        </p:txBody>
      </p:sp>
      <p:sp>
        <p:nvSpPr>
          <p:cNvPr id="20484" name="Foliennummernplatzhalter 4">
            <a:extLst>
              <a:ext uri="{FF2B5EF4-FFF2-40B4-BE49-F238E27FC236}">
                <a16:creationId xmlns:a16="http://schemas.microsoft.com/office/drawing/2014/main" id="{A83F0AB1-11FF-E3D8-C442-ECD467B29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9A77A5-80D4-6347-B0A1-C3719F680A10}" type="slidenum">
              <a:rPr lang="de-DE" altLang="zh-CN">
                <a:solidFill>
                  <a:srgbClr val="394073"/>
                </a:solidFill>
              </a:rPr>
              <a:pPr/>
              <a:t>15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0485" name="Fußzeilenplatzhalter 4">
            <a:extLst>
              <a:ext uri="{FF2B5EF4-FFF2-40B4-BE49-F238E27FC236}">
                <a16:creationId xmlns:a16="http://schemas.microsoft.com/office/drawing/2014/main" id="{F5A01CF7-15A8-29D8-571C-A580A361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0486" name="Rectangle 4">
            <a:extLst>
              <a:ext uri="{FF2B5EF4-FFF2-40B4-BE49-F238E27FC236}">
                <a16:creationId xmlns:a16="http://schemas.microsoft.com/office/drawing/2014/main" id="{8A1591EF-C01D-90C6-E728-200E30C851C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86313" y="1425575"/>
            <a:ext cx="2743200" cy="360363"/>
          </a:xfrm>
        </p:spPr>
        <p:txBody>
          <a:bodyPr/>
          <a:lstStyle/>
          <a:p>
            <a:pPr marL="342900" indent="-342900" algn="ctr">
              <a:lnSpc>
                <a:spcPct val="90000"/>
              </a:lnSpc>
              <a:buFontTx/>
              <a:buNone/>
            </a:pPr>
            <a:r>
              <a:rPr lang="de-DE" altLang="zh-CN" sz="2600">
                <a:solidFill>
                  <a:schemeClr val="tx2"/>
                </a:solidFill>
              </a:rPr>
              <a:t>Bob</a:t>
            </a:r>
          </a:p>
        </p:txBody>
      </p:sp>
      <p:sp>
        <p:nvSpPr>
          <p:cNvPr id="557061" name="Line 5">
            <a:extLst>
              <a:ext uri="{FF2B5EF4-FFF2-40B4-BE49-F238E27FC236}">
                <a16:creationId xmlns:a16="http://schemas.microsoft.com/office/drawing/2014/main" id="{5C23ED7E-C2FF-547E-0C3B-E2631F9F4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" y="4643438"/>
            <a:ext cx="67056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7063" name="Text Box 7">
            <a:extLst>
              <a:ext uri="{FF2B5EF4-FFF2-40B4-BE49-F238E27FC236}">
                <a16:creationId xmlns:a16="http://schemas.microsoft.com/office/drawing/2014/main" id="{E21DBFE7-1C13-E57F-FB45-F5751E901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605213"/>
            <a:ext cx="1862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de-DE" altLang="zh-CN" sz="2400" i="1">
                <a:solidFill>
                  <a:schemeClr val="tx2"/>
                </a:solidFill>
              </a:rPr>
              <a:t>y</a:t>
            </a:r>
            <a:r>
              <a:rPr lang="de-DE" altLang="zh-CN" sz="2400" i="1" baseline="-25000">
                <a:solidFill>
                  <a:schemeClr val="tx2"/>
                </a:solidFill>
              </a:rPr>
              <a:t>1</a:t>
            </a:r>
            <a:r>
              <a:rPr lang="de-DE" altLang="zh-CN" sz="2400" i="1">
                <a:solidFill>
                  <a:schemeClr val="tx2"/>
                </a:solidFill>
              </a:rPr>
              <a:t> = e</a:t>
            </a:r>
            <a:r>
              <a:rPr lang="de-DE" altLang="zh-CN" sz="2800" i="1" baseline="-25000">
                <a:solidFill>
                  <a:srgbClr val="00980B"/>
                </a:solidFill>
              </a:rPr>
              <a:t>K</a:t>
            </a:r>
            <a:r>
              <a:rPr lang="de-DE" altLang="zh-CN" sz="1600" i="1" baseline="-40000">
                <a:solidFill>
                  <a:srgbClr val="00980B"/>
                </a:solidFill>
              </a:rPr>
              <a:t>pubB</a:t>
            </a:r>
            <a:r>
              <a:rPr lang="de-DE" altLang="zh-CN" sz="2400" i="1">
                <a:solidFill>
                  <a:schemeClr val="tx2"/>
                </a:solidFill>
              </a:rPr>
              <a:t>(</a:t>
            </a:r>
            <a:r>
              <a:rPr lang="de-DE" altLang="zh-CN" sz="2400" i="1">
                <a:solidFill>
                  <a:srgbClr val="0000CC"/>
                </a:solidFill>
              </a:rPr>
              <a:t>K</a:t>
            </a:r>
            <a:r>
              <a:rPr lang="de-DE" altLang="zh-CN" sz="2400" i="1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557064" name="Line 8">
            <a:extLst>
              <a:ext uri="{FF2B5EF4-FFF2-40B4-BE49-F238E27FC236}">
                <a16:creationId xmlns:a16="http://schemas.microsoft.com/office/drawing/2014/main" id="{57661682-CA18-85D0-D6B8-AD1A80EB4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0213" y="4044950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7065" name="Text Box 9">
            <a:extLst>
              <a:ext uri="{FF2B5EF4-FFF2-40B4-BE49-F238E27FC236}">
                <a16:creationId xmlns:a16="http://schemas.microsoft.com/office/drawing/2014/main" id="{6BC5B9CB-4985-5951-A762-686443B7C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3532188"/>
            <a:ext cx="822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 sz="2400" i="1"/>
              <a:t>y</a:t>
            </a:r>
            <a:r>
              <a:rPr lang="de-DE" altLang="zh-CN" sz="2400" i="1" baseline="-25000"/>
              <a:t>1</a:t>
            </a:r>
          </a:p>
        </p:txBody>
      </p:sp>
      <p:sp>
        <p:nvSpPr>
          <p:cNvPr id="557066" name="Text Box 10">
            <a:extLst>
              <a:ext uri="{FF2B5EF4-FFF2-40B4-BE49-F238E27FC236}">
                <a16:creationId xmlns:a16="http://schemas.microsoft.com/office/drawing/2014/main" id="{E6839B48-1BCC-85BE-5DCB-C8D357005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4076700"/>
            <a:ext cx="1755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de-DE" altLang="zh-CN" sz="2400" i="1">
                <a:solidFill>
                  <a:srgbClr val="0000CC"/>
                </a:solidFill>
              </a:rPr>
              <a:t>K</a:t>
            </a:r>
            <a:r>
              <a:rPr lang="de-DE" altLang="zh-CN" sz="2400" i="1">
                <a:solidFill>
                  <a:schemeClr val="tx2"/>
                </a:solidFill>
              </a:rPr>
              <a:t> = d</a:t>
            </a:r>
            <a:r>
              <a:rPr lang="de-DE" altLang="zh-CN" sz="2800" i="1" baseline="-25000">
                <a:solidFill>
                  <a:srgbClr val="FF0000"/>
                </a:solidFill>
              </a:rPr>
              <a:t>K</a:t>
            </a:r>
            <a:r>
              <a:rPr lang="de-DE" altLang="zh-CN" sz="1600" i="1" baseline="-40000">
                <a:solidFill>
                  <a:srgbClr val="FF0000"/>
                </a:solidFill>
              </a:rPr>
              <a:t>prB</a:t>
            </a:r>
            <a:r>
              <a:rPr lang="de-DE" altLang="zh-CN" sz="2400" i="1">
                <a:solidFill>
                  <a:schemeClr val="tx2"/>
                </a:solidFill>
              </a:rPr>
              <a:t>(y</a:t>
            </a:r>
            <a:r>
              <a:rPr lang="de-DE" altLang="zh-CN" sz="2400" i="1" baseline="-25000">
                <a:solidFill>
                  <a:schemeClr val="tx2"/>
                </a:solidFill>
              </a:rPr>
              <a:t>1</a:t>
            </a:r>
            <a:r>
              <a:rPr lang="de-DE" altLang="zh-CN" sz="2400" i="1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557067" name="AutoShape 11">
            <a:extLst>
              <a:ext uri="{FF2B5EF4-FFF2-40B4-BE49-F238E27FC236}">
                <a16:creationId xmlns:a16="http://schemas.microsoft.com/office/drawing/2014/main" id="{3320DC10-1363-590D-AF73-BF6DE1921476}"/>
              </a:ext>
            </a:extLst>
          </p:cNvPr>
          <p:cNvSpPr>
            <a:spLocks/>
          </p:cNvSpPr>
          <p:nvPr/>
        </p:nvSpPr>
        <p:spPr bwMode="auto">
          <a:xfrm>
            <a:off x="7100888" y="1901825"/>
            <a:ext cx="395287" cy="2714625"/>
          </a:xfrm>
          <a:prstGeom prst="rightBrace">
            <a:avLst>
              <a:gd name="adj1" fmla="val 13417"/>
              <a:gd name="adj2" fmla="val 51389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57068" name="Text Box 12">
            <a:extLst>
              <a:ext uri="{FF2B5EF4-FFF2-40B4-BE49-F238E27FC236}">
                <a16:creationId xmlns:a16="http://schemas.microsoft.com/office/drawing/2014/main" id="{03FF0207-4615-AF9E-D9D2-B5A3CBC63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2986088"/>
            <a:ext cx="16256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altLang="zh-CN" sz="1400" b="1">
                <a:solidFill>
                  <a:srgbClr val="CC0000"/>
                </a:solidFill>
              </a:rPr>
              <a:t>Key Exchange</a:t>
            </a:r>
          </a:p>
          <a:p>
            <a:pPr algn="ctr" eaLnBrk="1" hangingPunct="1">
              <a:spcBef>
                <a:spcPct val="50000"/>
              </a:spcBef>
            </a:pPr>
            <a:r>
              <a:rPr lang="de-DE" altLang="zh-CN" sz="1400" b="1">
                <a:solidFill>
                  <a:srgbClr val="CC0000"/>
                </a:solidFill>
              </a:rPr>
              <a:t>(asymmetric)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13200D7F-31FC-3EB0-C71B-42FE04D4BE03}"/>
              </a:ext>
            </a:extLst>
          </p:cNvPr>
          <p:cNvGrpSpPr>
            <a:grpSpLocks/>
          </p:cNvGrpSpPr>
          <p:nvPr/>
        </p:nvGrpSpPr>
        <p:grpSpPr bwMode="auto">
          <a:xfrm>
            <a:off x="428625" y="4071938"/>
            <a:ext cx="8686800" cy="2533650"/>
            <a:chOff x="288" y="2148"/>
            <a:chExt cx="5472" cy="1596"/>
          </a:xfrm>
        </p:grpSpPr>
        <p:grpSp>
          <p:nvGrpSpPr>
            <p:cNvPr id="20502" name="Group 14">
              <a:extLst>
                <a:ext uri="{FF2B5EF4-FFF2-40B4-BE49-F238E27FC236}">
                  <a16:creationId xmlns:a16="http://schemas.microsoft.com/office/drawing/2014/main" id="{89689CB8-529C-8CCA-A007-00EA79628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148"/>
              <a:ext cx="4628" cy="1415"/>
              <a:chOff x="288" y="2148"/>
              <a:chExt cx="4628" cy="1415"/>
            </a:xfrm>
          </p:grpSpPr>
          <p:sp>
            <p:nvSpPr>
              <p:cNvPr id="20505" name="Line 15">
                <a:extLst>
                  <a:ext uri="{FF2B5EF4-FFF2-40B4-BE49-F238E27FC236}">
                    <a16:creationId xmlns:a16="http://schemas.microsoft.com/office/drawing/2014/main" id="{A9348D0F-B468-41A4-7BD1-680271205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5" y="3421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6" name="Text Box 17">
                <a:extLst>
                  <a:ext uri="{FF2B5EF4-FFF2-40B4-BE49-F238E27FC236}">
                    <a16:creationId xmlns:a16="http://schemas.microsoft.com/office/drawing/2014/main" id="{B4E4E1A5-10F7-0E4E-D814-1388A07E8B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3228"/>
                <a:ext cx="135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de-DE" altLang="zh-CN" sz="2400" i="1"/>
                  <a:t>y</a:t>
                </a:r>
                <a:r>
                  <a:rPr lang="de-DE" altLang="zh-CN" sz="2400" i="1" baseline="-25000"/>
                  <a:t>2</a:t>
                </a:r>
                <a:r>
                  <a:rPr lang="de-DE" altLang="zh-CN" sz="2400" i="1"/>
                  <a:t> = AES</a:t>
                </a:r>
                <a:r>
                  <a:rPr lang="de-DE" altLang="zh-CN" sz="2400" b="1" i="1" baseline="-25000">
                    <a:solidFill>
                      <a:srgbClr val="0000CC"/>
                    </a:solidFill>
                  </a:rPr>
                  <a:t>K</a:t>
                </a:r>
                <a:r>
                  <a:rPr lang="de-DE" altLang="zh-CN" sz="2400" i="1"/>
                  <a:t> (x)</a:t>
                </a:r>
              </a:p>
            </p:txBody>
          </p:sp>
          <p:sp>
            <p:nvSpPr>
              <p:cNvPr id="20507" name="Text Box 18">
                <a:extLst>
                  <a:ext uri="{FF2B5EF4-FFF2-40B4-BE49-F238E27FC236}">
                    <a16:creationId xmlns:a16="http://schemas.microsoft.com/office/drawing/2014/main" id="{B941AB56-501D-120C-C80C-88BAF4395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3" y="3272"/>
                <a:ext cx="16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de-DE" altLang="zh-CN" sz="2400" i="1"/>
                  <a:t>x = AES</a:t>
                </a:r>
                <a:r>
                  <a:rPr lang="de-DE" altLang="zh-CN" sz="2400" i="1" baseline="30000"/>
                  <a:t>-1</a:t>
                </a:r>
                <a:r>
                  <a:rPr lang="de-DE" altLang="zh-CN" sz="2400" b="1" i="1" baseline="-25000">
                    <a:solidFill>
                      <a:srgbClr val="0000CC"/>
                    </a:solidFill>
                  </a:rPr>
                  <a:t>K</a:t>
                </a:r>
                <a:r>
                  <a:rPr lang="de-DE" altLang="zh-CN" sz="2400" i="1"/>
                  <a:t> (y</a:t>
                </a:r>
                <a:r>
                  <a:rPr lang="de-DE" altLang="zh-CN" sz="2400" i="1" baseline="-25000"/>
                  <a:t>2</a:t>
                </a:r>
                <a:r>
                  <a:rPr lang="de-DE" altLang="zh-CN" sz="2400" i="1"/>
                  <a:t>)</a:t>
                </a:r>
              </a:p>
            </p:txBody>
          </p:sp>
          <p:sp>
            <p:nvSpPr>
              <p:cNvPr id="20508" name="Text Box 19">
                <a:extLst>
                  <a:ext uri="{FF2B5EF4-FFF2-40B4-BE49-F238E27FC236}">
                    <a16:creationId xmlns:a16="http://schemas.microsoft.com/office/drawing/2014/main" id="{98D8C82E-772F-F608-AB6D-82EE8BE92F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5" y="3092"/>
                <a:ext cx="64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de-DE" altLang="zh-CN" sz="2400" i="1"/>
                  <a:t>y</a:t>
                </a:r>
                <a:r>
                  <a:rPr lang="de-DE" altLang="zh-CN" sz="2400" i="1" baseline="-25000"/>
                  <a:t>2</a:t>
                </a:r>
              </a:p>
            </p:txBody>
          </p:sp>
          <p:sp>
            <p:nvSpPr>
              <p:cNvPr id="20509" name="Freeform 20">
                <a:extLst>
                  <a:ext uri="{FF2B5EF4-FFF2-40B4-BE49-F238E27FC236}">
                    <a16:creationId xmlns:a16="http://schemas.microsoft.com/office/drawing/2014/main" id="{23873E62-2C08-27FB-AA89-B214556A9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3" y="2148"/>
                <a:ext cx="180" cy="1080"/>
              </a:xfrm>
              <a:custGeom>
                <a:avLst/>
                <a:gdLst>
                  <a:gd name="T0" fmla="*/ 118 w 2267"/>
                  <a:gd name="T1" fmla="*/ 0 h 1018"/>
                  <a:gd name="T2" fmla="*/ 72 w 2267"/>
                  <a:gd name="T3" fmla="*/ 213 h 1018"/>
                  <a:gd name="T4" fmla="*/ 95 w 2267"/>
                  <a:gd name="T5" fmla="*/ 441 h 1018"/>
                  <a:gd name="T6" fmla="*/ 15 w 2267"/>
                  <a:gd name="T7" fmla="*/ 598 h 1018"/>
                  <a:gd name="T8" fmla="*/ 2 w 2267"/>
                  <a:gd name="T9" fmla="*/ 829 h 10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67"/>
                  <a:gd name="T16" fmla="*/ 0 h 1018"/>
                  <a:gd name="T17" fmla="*/ 2267 w 2267"/>
                  <a:gd name="T18" fmla="*/ 1018 h 10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67" h="1018">
                    <a:moveTo>
                      <a:pt x="2267" y="0"/>
                    </a:moveTo>
                    <a:cubicBezTo>
                      <a:pt x="1863" y="85"/>
                      <a:pt x="1459" y="171"/>
                      <a:pt x="1384" y="262"/>
                    </a:cubicBezTo>
                    <a:cubicBezTo>
                      <a:pt x="1309" y="353"/>
                      <a:pt x="2000" y="465"/>
                      <a:pt x="1819" y="544"/>
                    </a:cubicBezTo>
                    <a:cubicBezTo>
                      <a:pt x="1638" y="623"/>
                      <a:pt x="592" y="657"/>
                      <a:pt x="296" y="736"/>
                    </a:cubicBezTo>
                    <a:cubicBezTo>
                      <a:pt x="0" y="815"/>
                      <a:pt x="20" y="916"/>
                      <a:pt x="40" y="1018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0" name="Freeform 20">
                <a:extLst>
                  <a:ext uri="{FF2B5EF4-FFF2-40B4-BE49-F238E27FC236}">
                    <a16:creationId xmlns:a16="http://schemas.microsoft.com/office/drawing/2014/main" id="{FFF9A5C5-40C2-CA9C-AF77-756C025564E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483" y="2418"/>
                <a:ext cx="720" cy="900"/>
              </a:xfrm>
              <a:custGeom>
                <a:avLst/>
                <a:gdLst>
                  <a:gd name="T0" fmla="*/ 2 w 2267"/>
                  <a:gd name="T1" fmla="*/ 0 h 1018"/>
                  <a:gd name="T2" fmla="*/ 1 w 2267"/>
                  <a:gd name="T3" fmla="*/ 193 h 1018"/>
                  <a:gd name="T4" fmla="*/ 1 w 2267"/>
                  <a:gd name="T5" fmla="*/ 400 h 1018"/>
                  <a:gd name="T6" fmla="*/ 0 w 2267"/>
                  <a:gd name="T7" fmla="*/ 542 h 1018"/>
                  <a:gd name="T8" fmla="*/ 0 w 2267"/>
                  <a:gd name="T9" fmla="*/ 749 h 10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67"/>
                  <a:gd name="T16" fmla="*/ 0 h 1018"/>
                  <a:gd name="T17" fmla="*/ 2267 w 2267"/>
                  <a:gd name="T18" fmla="*/ 1018 h 10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67" h="1018">
                    <a:moveTo>
                      <a:pt x="2267" y="0"/>
                    </a:moveTo>
                    <a:cubicBezTo>
                      <a:pt x="1863" y="85"/>
                      <a:pt x="1459" y="171"/>
                      <a:pt x="1384" y="262"/>
                    </a:cubicBezTo>
                    <a:cubicBezTo>
                      <a:pt x="1309" y="353"/>
                      <a:pt x="2000" y="465"/>
                      <a:pt x="1819" y="544"/>
                    </a:cubicBezTo>
                    <a:cubicBezTo>
                      <a:pt x="1638" y="623"/>
                      <a:pt x="592" y="657"/>
                      <a:pt x="296" y="736"/>
                    </a:cubicBezTo>
                    <a:cubicBezTo>
                      <a:pt x="0" y="815"/>
                      <a:pt x="20" y="916"/>
                      <a:pt x="40" y="1018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03" name="AutoShape 21">
              <a:extLst>
                <a:ext uri="{FF2B5EF4-FFF2-40B4-BE49-F238E27FC236}">
                  <a16:creationId xmlns:a16="http://schemas.microsoft.com/office/drawing/2014/main" id="{B8F836E6-11BD-4B0D-DB59-37373BD88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2496"/>
              <a:ext cx="249" cy="1248"/>
            </a:xfrm>
            <a:prstGeom prst="rightBrace">
              <a:avLst>
                <a:gd name="adj1" fmla="val 16243"/>
                <a:gd name="adj2" fmla="val 51389"/>
              </a:avLst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zh-CN"/>
            </a:p>
          </p:txBody>
        </p:sp>
        <p:sp>
          <p:nvSpPr>
            <p:cNvPr id="20504" name="Text Box 22">
              <a:extLst>
                <a:ext uri="{FF2B5EF4-FFF2-40B4-BE49-F238E27FC236}">
                  <a16:creationId xmlns:a16="http://schemas.microsoft.com/office/drawing/2014/main" id="{8E470915-91F3-E335-77AE-800198AD38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1" y="2918"/>
              <a:ext cx="1119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de-DE" altLang="zh-CN" sz="1400" b="1">
                  <a:solidFill>
                    <a:srgbClr val="CC0000"/>
                  </a:solidFill>
                </a:rPr>
                <a:t>Data Encryption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de-DE" altLang="zh-CN" sz="1400" b="1">
                  <a:solidFill>
                    <a:srgbClr val="CC0000"/>
                  </a:solidFill>
                </a:rPr>
                <a:t> (symmetric)</a:t>
              </a:r>
            </a:p>
          </p:txBody>
        </p:sp>
      </p:grpSp>
      <p:sp>
        <p:nvSpPr>
          <p:cNvPr id="40" name="Text Box 10">
            <a:extLst>
              <a:ext uri="{FF2B5EF4-FFF2-40B4-BE49-F238E27FC236}">
                <a16:creationId xmlns:a16="http://schemas.microsoft.com/office/drawing/2014/main" id="{ABB6D50F-AF96-6E88-B7C7-D921AF839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862138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 sz="2000" i="1"/>
              <a:t>(</a:t>
            </a:r>
            <a:r>
              <a:rPr lang="de-DE" altLang="zh-CN" sz="2000" i="1">
                <a:solidFill>
                  <a:srgbClr val="008000"/>
                </a:solidFill>
              </a:rPr>
              <a:t>K</a:t>
            </a:r>
            <a:r>
              <a:rPr lang="de-DE" altLang="zh-CN" sz="2000" i="1" baseline="-25000">
                <a:solidFill>
                  <a:srgbClr val="008000"/>
                </a:solidFill>
              </a:rPr>
              <a:t>pubB</a:t>
            </a:r>
            <a:r>
              <a:rPr lang="de-DE" altLang="zh-CN" sz="2000" i="1"/>
              <a:t>,</a:t>
            </a:r>
            <a:r>
              <a:rPr lang="de-DE" altLang="zh-CN" sz="2000" i="1">
                <a:solidFill>
                  <a:srgbClr val="CC0000"/>
                </a:solidFill>
              </a:rPr>
              <a:t>K</a:t>
            </a:r>
            <a:r>
              <a:rPr lang="de-DE" altLang="zh-CN" sz="2000" i="1" baseline="-25000">
                <a:solidFill>
                  <a:srgbClr val="CC0000"/>
                </a:solidFill>
              </a:rPr>
              <a:t>prB</a:t>
            </a:r>
            <a:r>
              <a:rPr lang="de-DE" altLang="zh-CN" sz="2000" i="1"/>
              <a:t>) = K</a:t>
            </a: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E8B1D113-50B8-61B4-717B-18A53F5D034E}"/>
              </a:ext>
            </a:extLst>
          </p:cNvPr>
          <p:cNvGrpSpPr>
            <a:grpSpLocks/>
          </p:cNvGrpSpPr>
          <p:nvPr/>
        </p:nvGrpSpPr>
        <p:grpSpPr bwMode="auto">
          <a:xfrm>
            <a:off x="2786063" y="1973263"/>
            <a:ext cx="2286000" cy="500062"/>
            <a:chOff x="1111" y="1890"/>
            <a:chExt cx="3504" cy="315"/>
          </a:xfrm>
        </p:grpSpPr>
        <p:sp>
          <p:nvSpPr>
            <p:cNvPr id="20500" name="Line 9">
              <a:extLst>
                <a:ext uri="{FF2B5EF4-FFF2-40B4-BE49-F238E27FC236}">
                  <a16:creationId xmlns:a16="http://schemas.microsoft.com/office/drawing/2014/main" id="{8EF98E3F-0A96-B464-9972-F193FCDD04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1" y="2205"/>
              <a:ext cx="3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Text Box 11">
              <a:extLst>
                <a:ext uri="{FF2B5EF4-FFF2-40B4-BE49-F238E27FC236}">
                  <a16:creationId xmlns:a16="http://schemas.microsoft.com/office/drawing/2014/main" id="{26444CD2-3172-E8D2-0DA5-6BE915FD6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" y="1890"/>
              <a:ext cx="13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de-DE" altLang="zh-CN" sz="2400" i="1">
                  <a:solidFill>
                    <a:srgbClr val="008000"/>
                  </a:solidFill>
                </a:rPr>
                <a:t>K</a:t>
              </a:r>
              <a:r>
                <a:rPr lang="de-DE" altLang="zh-CN" sz="2400" i="1" baseline="-25000">
                  <a:solidFill>
                    <a:srgbClr val="008000"/>
                  </a:solidFill>
                </a:rPr>
                <a:t>pubB</a:t>
              </a:r>
            </a:p>
          </p:txBody>
        </p:sp>
      </p:grpSp>
      <p:sp>
        <p:nvSpPr>
          <p:cNvPr id="44" name="Text Box 12">
            <a:extLst>
              <a:ext uri="{FF2B5EF4-FFF2-40B4-BE49-F238E27FC236}">
                <a16:creationId xmlns:a16="http://schemas.microsoft.com/office/drawing/2014/main" id="{F0D809FF-B76A-C7E4-E74C-859F88A42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684463"/>
            <a:ext cx="20875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/>
              <a:t>Choose random symmetric key </a:t>
            </a:r>
            <a:r>
              <a:rPr lang="de-DE" altLang="zh-CN" i="1">
                <a:solidFill>
                  <a:srgbClr val="0000CC"/>
                </a:solidFill>
              </a:rPr>
              <a:t>K</a:t>
            </a:r>
            <a:endParaRPr lang="de-DE" altLang="zh-CN"/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0D18A473-0158-2B9F-E203-08A538DDF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214938"/>
            <a:ext cx="157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altLang="zh-CN"/>
              <a:t>message x</a:t>
            </a:r>
          </a:p>
        </p:txBody>
      </p:sp>
      <p:sp>
        <p:nvSpPr>
          <p:cNvPr id="20499" name="Textfeld 50">
            <a:extLst>
              <a:ext uri="{FF2B5EF4-FFF2-40B4-BE49-F238E27FC236}">
                <a16:creationId xmlns:a16="http://schemas.microsoft.com/office/drawing/2014/main" id="{30BD5C8D-0096-BC23-AE8E-CED48092F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844550"/>
            <a:ext cx="735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Example: Hybrid protocol with AES as the symmetric cipher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3" grpId="0"/>
      <p:bldP spid="557065" grpId="0"/>
      <p:bldP spid="557066" grpId="0"/>
      <p:bldP spid="557067" grpId="0" animBg="1"/>
      <p:bldP spid="557068" grpId="0"/>
      <p:bldP spid="40" grpId="0"/>
      <p:bldP spid="44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liennummernplatzhalter 3">
            <a:extLst>
              <a:ext uri="{FF2B5EF4-FFF2-40B4-BE49-F238E27FC236}">
                <a16:creationId xmlns:a16="http://schemas.microsoft.com/office/drawing/2014/main" id="{6A722F49-451E-F2DE-7D2D-4FC2085BB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063220-CAF5-C242-940B-90905B036799}" type="slidenum">
              <a:rPr lang="de-DE" altLang="zh-CN">
                <a:solidFill>
                  <a:srgbClr val="394073"/>
                </a:solidFill>
              </a:rPr>
              <a:pPr/>
              <a:t>16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C6757B6E-79BB-328C-A213-5E947E3F2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1214438"/>
            <a:ext cx="5100638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21508" name="Rectangle 5">
            <a:extLst>
              <a:ext uri="{FF2B5EF4-FFF2-40B4-BE49-F238E27FC236}">
                <a16:creationId xmlns:a16="http://schemas.microsoft.com/office/drawing/2014/main" id="{F339E522-43F4-83EC-1181-B692BCF335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563" y="2500313"/>
            <a:ext cx="6891337" cy="2232025"/>
          </a:xfrm>
          <a:noFill/>
        </p:spPr>
        <p:txBody>
          <a:bodyPr/>
          <a:lstStyle/>
          <a:p>
            <a:pPr marL="342900" indent="-342900"/>
            <a:r>
              <a:rPr lang="de-DE" altLang="zh-CN" sz="2000"/>
              <a:t>Symmetric Cryptography Revisited</a:t>
            </a:r>
          </a:p>
          <a:p>
            <a:pPr marL="342900" indent="-342900"/>
            <a:r>
              <a:rPr lang="de-DE" altLang="zh-CN" sz="2000"/>
              <a:t>Principles of Asymmetric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Practical Aspects of Public-Key Cryptography</a:t>
            </a:r>
          </a:p>
          <a:p>
            <a:pPr marL="342900" indent="-342900"/>
            <a:r>
              <a:rPr lang="en-US" altLang="zh-CN" sz="2000" b="1">
                <a:ea typeface="宋体" panose="02010600030101010101" pitchFamily="2" charset="-122"/>
              </a:rPr>
              <a:t>Important Public-Key Algorithms</a:t>
            </a:r>
            <a:endParaRPr lang="de-DE" altLang="zh-CN" sz="2000" b="1"/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Essential Number Theory for Public-Key Algorithms</a:t>
            </a:r>
          </a:p>
        </p:txBody>
      </p:sp>
      <p:sp>
        <p:nvSpPr>
          <p:cNvPr id="21509" name="Fußzeilenplatzhalter 4">
            <a:extLst>
              <a:ext uri="{FF2B5EF4-FFF2-40B4-BE49-F238E27FC236}">
                <a16:creationId xmlns:a16="http://schemas.microsoft.com/office/drawing/2014/main" id="{A142C812-EF4C-DA9D-B3F3-BD8CF4DA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liennummernplatzhalter 3">
            <a:extLst>
              <a:ext uri="{FF2B5EF4-FFF2-40B4-BE49-F238E27FC236}">
                <a16:creationId xmlns:a16="http://schemas.microsoft.com/office/drawing/2014/main" id="{1A1A60B3-7735-FCF1-E375-1BCBB52CB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E4283D-0319-E741-92DD-2E151B78304E}" type="slidenum">
              <a:rPr lang="de-DE" altLang="zh-CN">
                <a:solidFill>
                  <a:srgbClr val="394073"/>
                </a:solidFill>
              </a:rPr>
              <a:pPr/>
              <a:t>17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3109B5BD-FEB3-8B72-6E34-2A1F170DE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How to build Public-Key Algorithms</a:t>
            </a:r>
          </a:p>
        </p:txBody>
      </p:sp>
      <p:sp>
        <p:nvSpPr>
          <p:cNvPr id="558085" name="Rectangle 5">
            <a:extLst>
              <a:ext uri="{FF2B5EF4-FFF2-40B4-BE49-F238E27FC236}">
                <a16:creationId xmlns:a16="http://schemas.microsoft.com/office/drawing/2014/main" id="{BF0D25D1-EC9D-C5BE-AA68-342A4AAC4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857250"/>
            <a:ext cx="7929563" cy="6816725"/>
          </a:xfrm>
        </p:spPr>
        <p:txBody>
          <a:bodyPr/>
          <a:lstStyle/>
          <a:p>
            <a:pPr>
              <a:buFontTx/>
              <a:buNone/>
            </a:pPr>
            <a:r>
              <a:rPr lang="de-DE" altLang="zh-CN" dirty="0" err="1"/>
              <a:t>Asymmetric</a:t>
            </a:r>
            <a:r>
              <a:rPr lang="de-DE" altLang="zh-CN" dirty="0"/>
              <a:t> </a:t>
            </a:r>
            <a:r>
              <a:rPr lang="de-DE" altLang="zh-CN" dirty="0" err="1"/>
              <a:t>schemes</a:t>
            </a:r>
            <a:r>
              <a:rPr lang="de-DE" altLang="zh-CN" dirty="0"/>
              <a:t> </a:t>
            </a:r>
            <a:r>
              <a:rPr lang="de-DE" altLang="zh-CN" dirty="0" err="1"/>
              <a:t>are</a:t>
            </a:r>
            <a:r>
              <a:rPr lang="de-DE" altLang="zh-CN" dirty="0"/>
              <a:t> </a:t>
            </a:r>
            <a:r>
              <a:rPr lang="de-DE" altLang="zh-CN" dirty="0" err="1"/>
              <a:t>based</a:t>
            </a:r>
            <a:r>
              <a:rPr lang="de-DE" altLang="zh-CN" dirty="0"/>
              <a:t> on a</a:t>
            </a:r>
            <a:r>
              <a:rPr lang="de-DE" altLang="zh-CN" b="1" dirty="0"/>
              <a:t> </a:t>
            </a:r>
            <a:r>
              <a:rPr lang="zh-CN" altLang="en-US" b="1" dirty="0"/>
              <a:t>“</a:t>
            </a:r>
            <a:r>
              <a:rPr lang="de-DE" altLang="zh-CN" b="1" dirty="0" err="1"/>
              <a:t>one-way</a:t>
            </a:r>
            <a:r>
              <a:rPr lang="de-DE" altLang="zh-CN" b="1" dirty="0"/>
              <a:t> </a:t>
            </a:r>
            <a:r>
              <a:rPr lang="de-DE" altLang="zh-CN" b="1" dirty="0" err="1"/>
              <a:t>function</a:t>
            </a:r>
            <a:r>
              <a:rPr lang="zh-CN" altLang="en-US" b="1" dirty="0"/>
              <a:t>”</a:t>
            </a:r>
            <a:r>
              <a:rPr lang="de-DE" altLang="zh-CN" b="1" dirty="0"/>
              <a:t> </a:t>
            </a:r>
            <a:r>
              <a:rPr lang="de-DE" altLang="zh-CN" b="1" i="1" dirty="0"/>
              <a:t>f()</a:t>
            </a:r>
            <a:r>
              <a:rPr lang="de-DE" altLang="zh-CN" dirty="0"/>
              <a:t>:</a:t>
            </a:r>
          </a:p>
          <a:p>
            <a:r>
              <a:rPr lang="de-DE" altLang="zh-CN" dirty="0"/>
              <a:t>Computing </a:t>
            </a:r>
            <a:r>
              <a:rPr lang="de-DE" altLang="zh-CN" i="1" dirty="0" err="1"/>
              <a:t>y</a:t>
            </a:r>
            <a:r>
              <a:rPr lang="de-DE" altLang="zh-CN" i="1" dirty="0"/>
              <a:t> = f(x)</a:t>
            </a:r>
            <a:r>
              <a:rPr lang="de-DE" altLang="zh-CN" dirty="0"/>
              <a:t> </a:t>
            </a:r>
            <a:r>
              <a:rPr lang="de-DE" altLang="zh-CN" dirty="0" err="1"/>
              <a:t>is</a:t>
            </a:r>
            <a:r>
              <a:rPr lang="de-DE" altLang="zh-CN" dirty="0"/>
              <a:t> </a:t>
            </a:r>
            <a:r>
              <a:rPr lang="de-DE" altLang="zh-CN" dirty="0" err="1"/>
              <a:t>computationally</a:t>
            </a:r>
            <a:r>
              <a:rPr lang="de-DE" altLang="zh-CN" dirty="0"/>
              <a:t> easy </a:t>
            </a:r>
          </a:p>
          <a:p>
            <a:r>
              <a:rPr lang="de-DE" altLang="zh-CN" dirty="0"/>
              <a:t>Computing </a:t>
            </a:r>
            <a:r>
              <a:rPr lang="de-DE" altLang="zh-CN" i="1" dirty="0"/>
              <a:t>x = f</a:t>
            </a:r>
            <a:r>
              <a:rPr lang="de-DE" altLang="zh-CN" i="1" baseline="30000" dirty="0"/>
              <a:t>-1</a:t>
            </a:r>
            <a:r>
              <a:rPr lang="de-DE" altLang="zh-CN" i="1" dirty="0"/>
              <a:t>(</a:t>
            </a:r>
            <a:r>
              <a:rPr lang="de-DE" altLang="zh-CN" i="1" dirty="0" err="1"/>
              <a:t>y</a:t>
            </a:r>
            <a:r>
              <a:rPr lang="de-DE" altLang="zh-CN" i="1" dirty="0"/>
              <a:t>) </a:t>
            </a:r>
            <a:r>
              <a:rPr lang="de-DE" altLang="zh-CN" dirty="0" err="1"/>
              <a:t>is</a:t>
            </a:r>
            <a:r>
              <a:rPr lang="de-DE" altLang="zh-CN" dirty="0"/>
              <a:t> </a:t>
            </a:r>
            <a:r>
              <a:rPr lang="de-DE" altLang="zh-CN" dirty="0" err="1"/>
              <a:t>computationally</a:t>
            </a:r>
            <a:r>
              <a:rPr lang="de-DE" altLang="zh-CN" dirty="0"/>
              <a:t> </a:t>
            </a:r>
            <a:r>
              <a:rPr lang="de-DE" altLang="zh-CN" dirty="0" err="1"/>
              <a:t>infeasible</a:t>
            </a:r>
            <a:r>
              <a:rPr lang="de-DE" altLang="zh-CN" dirty="0"/>
              <a:t> </a:t>
            </a:r>
          </a:p>
          <a:p>
            <a:endParaRPr lang="de-DE" altLang="zh-CN" sz="1000" dirty="0"/>
          </a:p>
          <a:p>
            <a:pPr>
              <a:buFontTx/>
              <a:buNone/>
            </a:pPr>
            <a:r>
              <a:rPr lang="de-DE" altLang="zh-CN" dirty="0" err="1"/>
              <a:t>One</a:t>
            </a:r>
            <a:r>
              <a:rPr lang="de-DE" altLang="zh-CN" dirty="0"/>
              <a:t> </a:t>
            </a:r>
            <a:r>
              <a:rPr lang="de-DE" altLang="zh-CN" dirty="0" err="1"/>
              <a:t>way</a:t>
            </a:r>
            <a:r>
              <a:rPr lang="de-DE" altLang="zh-CN" dirty="0"/>
              <a:t> </a:t>
            </a:r>
            <a:r>
              <a:rPr lang="de-DE" altLang="zh-CN" dirty="0" err="1"/>
              <a:t>functions</a:t>
            </a:r>
            <a:r>
              <a:rPr lang="de-DE" altLang="zh-CN" dirty="0"/>
              <a:t> </a:t>
            </a:r>
            <a:r>
              <a:rPr lang="de-DE" altLang="zh-CN" dirty="0" err="1"/>
              <a:t>are</a:t>
            </a:r>
            <a:r>
              <a:rPr lang="de-DE" altLang="zh-CN" dirty="0"/>
              <a:t> </a:t>
            </a:r>
            <a:r>
              <a:rPr lang="de-DE" altLang="zh-CN" dirty="0" err="1"/>
              <a:t>based</a:t>
            </a:r>
            <a:r>
              <a:rPr lang="de-DE" altLang="zh-CN" dirty="0"/>
              <a:t> on </a:t>
            </a:r>
            <a:r>
              <a:rPr lang="de-DE" altLang="zh-CN" b="1" dirty="0" err="1"/>
              <a:t>mathematically</a:t>
            </a:r>
            <a:r>
              <a:rPr lang="de-DE" altLang="zh-CN" b="1" dirty="0"/>
              <a:t> </a:t>
            </a:r>
            <a:r>
              <a:rPr lang="de-DE" altLang="zh-CN" b="1" dirty="0" err="1"/>
              <a:t>hard</a:t>
            </a:r>
            <a:r>
              <a:rPr lang="de-DE" altLang="zh-CN" b="1" dirty="0"/>
              <a:t> </a:t>
            </a:r>
            <a:r>
              <a:rPr lang="de-DE" altLang="zh-CN" b="1" dirty="0" err="1"/>
              <a:t>problems</a:t>
            </a:r>
            <a:r>
              <a:rPr lang="de-DE" altLang="zh-CN" dirty="0"/>
              <a:t>.</a:t>
            </a:r>
            <a:br>
              <a:rPr lang="de-DE" altLang="zh-CN" dirty="0"/>
            </a:br>
            <a:r>
              <a:rPr lang="de-DE" altLang="zh-CN" dirty="0" err="1"/>
              <a:t>Three</a:t>
            </a:r>
            <a:r>
              <a:rPr lang="de-DE" altLang="zh-CN" dirty="0"/>
              <a:t> </a:t>
            </a:r>
            <a:r>
              <a:rPr lang="de-DE" altLang="zh-CN" dirty="0" err="1"/>
              <a:t>main</a:t>
            </a:r>
            <a:r>
              <a:rPr lang="de-DE" altLang="zh-CN" dirty="0"/>
              <a:t> </a:t>
            </a:r>
            <a:r>
              <a:rPr lang="de-DE" altLang="zh-CN" dirty="0" err="1"/>
              <a:t>families</a:t>
            </a:r>
            <a:r>
              <a:rPr lang="de-DE" altLang="zh-CN" dirty="0"/>
              <a:t>:</a:t>
            </a:r>
          </a:p>
          <a:p>
            <a:pPr lvl="1"/>
            <a:r>
              <a:rPr lang="de-DE" altLang="zh-CN" b="1" dirty="0"/>
              <a:t>Factoring </a:t>
            </a:r>
            <a:r>
              <a:rPr lang="de-DE" altLang="zh-CN" b="1" dirty="0" err="1"/>
              <a:t>integers</a:t>
            </a:r>
            <a:r>
              <a:rPr lang="de-DE" altLang="zh-CN" dirty="0"/>
              <a:t> (RSA, ...): </a:t>
            </a:r>
            <a:br>
              <a:rPr lang="de-DE" altLang="zh-CN" dirty="0"/>
            </a:br>
            <a:r>
              <a:rPr lang="de-DE" altLang="zh-CN" dirty="0"/>
              <a:t>Given a </a:t>
            </a:r>
            <a:r>
              <a:rPr lang="de-DE" altLang="zh-CN" dirty="0" err="1"/>
              <a:t>composite</a:t>
            </a:r>
            <a:r>
              <a:rPr lang="de-DE" altLang="zh-CN" dirty="0"/>
              <a:t> integer </a:t>
            </a:r>
            <a:r>
              <a:rPr lang="de-DE" altLang="zh-CN" i="1" dirty="0" err="1"/>
              <a:t>n</a:t>
            </a:r>
            <a:r>
              <a:rPr lang="de-DE" altLang="zh-CN" dirty="0"/>
              <a:t>, find </a:t>
            </a:r>
            <a:r>
              <a:rPr lang="de-DE" altLang="zh-CN" dirty="0" err="1"/>
              <a:t>its</a:t>
            </a:r>
            <a:r>
              <a:rPr lang="de-DE" altLang="zh-CN" dirty="0"/>
              <a:t> prime </a:t>
            </a:r>
            <a:r>
              <a:rPr lang="de-DE" altLang="zh-CN" dirty="0" err="1"/>
              <a:t>factors</a:t>
            </a:r>
            <a:br>
              <a:rPr lang="de-DE" altLang="zh-CN" dirty="0"/>
            </a:br>
            <a:r>
              <a:rPr lang="de-DE" altLang="zh-CN" dirty="0"/>
              <a:t>(</a:t>
            </a:r>
            <a:r>
              <a:rPr lang="de-DE" altLang="zh-CN" dirty="0" err="1"/>
              <a:t>Multiply</a:t>
            </a:r>
            <a:r>
              <a:rPr lang="de-DE" altLang="zh-CN" dirty="0"/>
              <a:t> </a:t>
            </a:r>
            <a:r>
              <a:rPr lang="de-DE" altLang="zh-CN" dirty="0" err="1"/>
              <a:t>two</a:t>
            </a:r>
            <a:r>
              <a:rPr lang="de-DE" altLang="zh-CN" dirty="0"/>
              <a:t> primes: easy)</a:t>
            </a:r>
          </a:p>
          <a:p>
            <a:pPr lvl="1"/>
            <a:endParaRPr lang="de-DE" altLang="zh-CN" b="1" dirty="0"/>
          </a:p>
          <a:p>
            <a:pPr lvl="1"/>
            <a:r>
              <a:rPr lang="de-DE" altLang="zh-CN" b="1" dirty="0" err="1"/>
              <a:t>Discrete</a:t>
            </a:r>
            <a:r>
              <a:rPr lang="de-DE" altLang="zh-CN" b="1" dirty="0"/>
              <a:t> </a:t>
            </a:r>
            <a:r>
              <a:rPr lang="de-DE" altLang="zh-CN" b="1" dirty="0" err="1"/>
              <a:t>Logarithm</a:t>
            </a:r>
            <a:r>
              <a:rPr lang="de-DE" altLang="zh-CN" dirty="0"/>
              <a:t> (Diffie-Hellman, </a:t>
            </a:r>
            <a:r>
              <a:rPr lang="de-DE" altLang="zh-CN" dirty="0" err="1"/>
              <a:t>Elgamal</a:t>
            </a:r>
            <a:r>
              <a:rPr lang="de-DE" altLang="zh-CN" dirty="0"/>
              <a:t>, DSA, …):</a:t>
            </a:r>
            <a:br>
              <a:rPr lang="de-DE" altLang="zh-CN" dirty="0"/>
            </a:br>
            <a:r>
              <a:rPr lang="de-DE" altLang="zh-CN" dirty="0"/>
              <a:t>Given </a:t>
            </a:r>
            <a:r>
              <a:rPr lang="de-DE" altLang="zh-CN" i="1" dirty="0"/>
              <a:t>a, </a:t>
            </a:r>
            <a:r>
              <a:rPr lang="de-DE" altLang="zh-CN" i="1" dirty="0" err="1"/>
              <a:t>y</a:t>
            </a:r>
            <a:r>
              <a:rPr lang="de-DE" altLang="zh-CN" dirty="0"/>
              <a:t> and </a:t>
            </a:r>
            <a:r>
              <a:rPr lang="de-DE" altLang="zh-CN" i="1" dirty="0"/>
              <a:t>m, </a:t>
            </a:r>
            <a:r>
              <a:rPr lang="de-DE" altLang="zh-CN" dirty="0"/>
              <a:t>find</a:t>
            </a:r>
            <a:r>
              <a:rPr lang="de-DE" altLang="zh-CN" i="1" dirty="0"/>
              <a:t> x</a:t>
            </a:r>
            <a:r>
              <a:rPr lang="de-DE" altLang="zh-CN" dirty="0"/>
              <a:t> such </a:t>
            </a:r>
            <a:r>
              <a:rPr lang="de-DE" altLang="zh-CN" dirty="0" err="1"/>
              <a:t>that</a:t>
            </a:r>
            <a:r>
              <a:rPr lang="de-DE" altLang="zh-CN" dirty="0"/>
              <a:t> </a:t>
            </a:r>
            <a:r>
              <a:rPr lang="de-DE" altLang="zh-CN" i="1" dirty="0" err="1"/>
              <a:t>a</a:t>
            </a:r>
            <a:r>
              <a:rPr lang="de-DE" altLang="zh-CN" i="1" baseline="30000" dirty="0" err="1"/>
              <a:t>x</a:t>
            </a:r>
            <a:r>
              <a:rPr lang="de-DE" altLang="zh-CN" dirty="0"/>
              <a:t> </a:t>
            </a:r>
            <a:r>
              <a:rPr lang="en-US" altLang="zh-CN" dirty="0">
                <a:latin typeface="cmsy10"/>
                <a:ea typeface="宋体" panose="02010600030101010101" pitchFamily="2" charset="-122"/>
              </a:rPr>
              <a:t>=</a:t>
            </a:r>
            <a:r>
              <a:rPr lang="de-DE" altLang="zh-CN" dirty="0"/>
              <a:t> </a:t>
            </a:r>
            <a:r>
              <a:rPr lang="de-DE" altLang="zh-CN" i="1" dirty="0" err="1"/>
              <a:t>y</a:t>
            </a:r>
            <a:r>
              <a:rPr lang="de-DE" altLang="zh-CN" dirty="0"/>
              <a:t> </a:t>
            </a:r>
            <a:r>
              <a:rPr lang="de-DE" altLang="zh-CN" dirty="0" err="1"/>
              <a:t>mod</a:t>
            </a:r>
            <a:r>
              <a:rPr lang="de-DE" altLang="zh-CN" dirty="0"/>
              <a:t> </a:t>
            </a:r>
            <a:r>
              <a:rPr lang="de-DE" altLang="zh-CN" i="1" dirty="0"/>
              <a:t>m</a:t>
            </a:r>
            <a:br>
              <a:rPr lang="de-DE" altLang="zh-CN" i="1" dirty="0"/>
            </a:br>
            <a:r>
              <a:rPr lang="de-DE" altLang="zh-CN" dirty="0"/>
              <a:t>(</a:t>
            </a:r>
            <a:r>
              <a:rPr lang="de-DE" altLang="zh-CN" dirty="0" err="1"/>
              <a:t>Exponentiation</a:t>
            </a:r>
            <a:r>
              <a:rPr lang="de-DE" altLang="zh-CN" dirty="0"/>
              <a:t> </a:t>
            </a:r>
            <a:r>
              <a:rPr lang="de-DE" altLang="zh-CN" i="1" dirty="0" err="1"/>
              <a:t>a</a:t>
            </a:r>
            <a:r>
              <a:rPr lang="de-DE" altLang="zh-CN" i="1" baseline="30000" dirty="0" err="1"/>
              <a:t>x</a:t>
            </a:r>
            <a:r>
              <a:rPr lang="de-DE" altLang="zh-CN" i="1" baseline="30000" dirty="0"/>
              <a:t> </a:t>
            </a:r>
            <a:r>
              <a:rPr lang="de-DE" altLang="zh-CN" dirty="0"/>
              <a:t>: easy)</a:t>
            </a:r>
            <a:br>
              <a:rPr lang="de-DE" altLang="zh-CN" i="1" dirty="0"/>
            </a:br>
            <a:r>
              <a:rPr lang="de-DE" altLang="zh-CN" i="1" dirty="0"/>
              <a:t>	</a:t>
            </a:r>
          </a:p>
          <a:p>
            <a:pPr lvl="1"/>
            <a:r>
              <a:rPr lang="de-DE" altLang="zh-CN" b="1" dirty="0" err="1"/>
              <a:t>Elliptic</a:t>
            </a:r>
            <a:r>
              <a:rPr lang="de-DE" altLang="zh-CN" b="1" dirty="0"/>
              <a:t> </a:t>
            </a:r>
            <a:r>
              <a:rPr lang="de-DE" altLang="zh-CN" b="1" dirty="0" err="1"/>
              <a:t>Curves</a:t>
            </a:r>
            <a:r>
              <a:rPr lang="de-DE" altLang="zh-CN" b="1" dirty="0"/>
              <a:t> (EC)</a:t>
            </a:r>
            <a:r>
              <a:rPr lang="de-DE" altLang="zh-CN" dirty="0"/>
              <a:t> (ECDH, ECDSA): </a:t>
            </a:r>
            <a:r>
              <a:rPr lang="de-DE" altLang="zh-CN" dirty="0" err="1"/>
              <a:t>Generalization</a:t>
            </a:r>
            <a:r>
              <a:rPr lang="de-DE" altLang="zh-CN" dirty="0"/>
              <a:t>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discrete</a:t>
            </a:r>
            <a:r>
              <a:rPr lang="de-DE" altLang="zh-CN" dirty="0"/>
              <a:t> </a:t>
            </a:r>
            <a:r>
              <a:rPr lang="de-DE" altLang="zh-CN" dirty="0" err="1"/>
              <a:t>logarithm</a:t>
            </a:r>
            <a:r>
              <a:rPr lang="de-DE" altLang="zh-CN" dirty="0"/>
              <a:t> </a:t>
            </a:r>
          </a:p>
          <a:p>
            <a:pPr lvl="1"/>
            <a:endParaRPr lang="de-DE" altLang="zh-CN" sz="800" b="1" dirty="0"/>
          </a:p>
          <a:p>
            <a:pPr>
              <a:buFontTx/>
              <a:buNone/>
            </a:pPr>
            <a:r>
              <a:rPr lang="de-DE" altLang="zh-CN" dirty="0"/>
              <a:t>Note: The </a:t>
            </a:r>
            <a:r>
              <a:rPr lang="de-DE" altLang="zh-CN" dirty="0" err="1"/>
              <a:t>problems</a:t>
            </a:r>
            <a:r>
              <a:rPr lang="de-DE" altLang="zh-CN" dirty="0"/>
              <a:t> </a:t>
            </a:r>
            <a:r>
              <a:rPr lang="de-DE" altLang="zh-CN" dirty="0" err="1"/>
              <a:t>are</a:t>
            </a:r>
            <a:r>
              <a:rPr lang="de-DE" altLang="zh-CN" dirty="0"/>
              <a:t> </a:t>
            </a:r>
            <a:r>
              <a:rPr lang="de-DE" altLang="zh-CN" dirty="0" err="1"/>
              <a:t>considered</a:t>
            </a:r>
            <a:r>
              <a:rPr lang="de-DE" altLang="zh-CN" dirty="0"/>
              <a:t> </a:t>
            </a:r>
            <a:r>
              <a:rPr lang="de-DE" altLang="zh-CN" dirty="0" err="1"/>
              <a:t>mathematically</a:t>
            </a:r>
            <a:r>
              <a:rPr lang="de-DE" altLang="zh-CN" dirty="0"/>
              <a:t> </a:t>
            </a:r>
            <a:r>
              <a:rPr lang="de-DE" altLang="zh-CN" dirty="0" err="1"/>
              <a:t>hard</a:t>
            </a:r>
            <a:r>
              <a:rPr lang="de-DE" altLang="zh-CN" dirty="0"/>
              <a:t>, but </a:t>
            </a:r>
            <a:r>
              <a:rPr lang="de-DE" altLang="zh-CN" dirty="0" err="1"/>
              <a:t>no</a:t>
            </a:r>
            <a:r>
              <a:rPr lang="de-DE" altLang="zh-CN" dirty="0"/>
              <a:t> </a:t>
            </a:r>
            <a:r>
              <a:rPr lang="de-DE" altLang="zh-CN" dirty="0" err="1"/>
              <a:t>proof</a:t>
            </a:r>
            <a:r>
              <a:rPr lang="de-DE" altLang="zh-CN" dirty="0"/>
              <a:t> </a:t>
            </a:r>
            <a:r>
              <a:rPr lang="de-DE" altLang="zh-CN" dirty="0" err="1"/>
              <a:t>exists</a:t>
            </a:r>
            <a:r>
              <a:rPr lang="de-DE" altLang="zh-CN" dirty="0"/>
              <a:t> (so </a:t>
            </a:r>
            <a:r>
              <a:rPr lang="de-DE" altLang="zh-CN" dirty="0" err="1"/>
              <a:t>far</a:t>
            </a:r>
            <a:r>
              <a:rPr lang="de-DE" altLang="zh-CN" dirty="0"/>
              <a:t>).</a:t>
            </a:r>
          </a:p>
          <a:p>
            <a:endParaRPr lang="de-DE" altLang="zh-CN" dirty="0"/>
          </a:p>
          <a:p>
            <a:pPr>
              <a:buFontTx/>
              <a:buNone/>
            </a:pPr>
            <a:endParaRPr lang="de-DE" altLang="zh-CN" dirty="0"/>
          </a:p>
          <a:p>
            <a:endParaRPr lang="de-DE" altLang="zh-CN" dirty="0"/>
          </a:p>
        </p:txBody>
      </p:sp>
      <p:sp>
        <p:nvSpPr>
          <p:cNvPr id="22533" name="Fußzeilenplatzhalter 4">
            <a:extLst>
              <a:ext uri="{FF2B5EF4-FFF2-40B4-BE49-F238E27FC236}">
                <a16:creationId xmlns:a16="http://schemas.microsoft.com/office/drawing/2014/main" id="{39DB9B4C-D9F8-1762-F65F-58B2ECA4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liennummernplatzhalter 3">
            <a:extLst>
              <a:ext uri="{FF2B5EF4-FFF2-40B4-BE49-F238E27FC236}">
                <a16:creationId xmlns:a16="http://schemas.microsoft.com/office/drawing/2014/main" id="{5FF14291-FC46-584F-4C71-E5CFFFB8D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BE837C-A8D7-8646-AD30-41772A438E35}" type="slidenum">
              <a:rPr lang="de-DE" altLang="zh-CN">
                <a:solidFill>
                  <a:srgbClr val="394073"/>
                </a:solidFill>
              </a:rPr>
              <a:pPr/>
              <a:t>18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3555" name="Rectangle 32">
            <a:extLst>
              <a:ext uri="{FF2B5EF4-FFF2-40B4-BE49-F238E27FC236}">
                <a16:creationId xmlns:a16="http://schemas.microsoft.com/office/drawing/2014/main" id="{BF88613E-2381-59CD-0D54-A98C8BF819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Key Lengths and Security Levels</a:t>
            </a:r>
          </a:p>
        </p:txBody>
      </p:sp>
      <p:graphicFrame>
        <p:nvGraphicFramePr>
          <p:cNvPr id="560286" name="Group 158">
            <a:extLst>
              <a:ext uri="{FF2B5EF4-FFF2-40B4-BE49-F238E27FC236}">
                <a16:creationId xmlns:a16="http://schemas.microsoft.com/office/drawing/2014/main" id="{B3ED24A8-8FBC-0D84-0A1A-941AC8308472}"/>
              </a:ext>
            </a:extLst>
          </p:cNvPr>
          <p:cNvGraphicFramePr>
            <a:graphicFrameLocks noGrp="1"/>
          </p:cNvGraphicFramePr>
          <p:nvPr/>
        </p:nvGraphicFramePr>
        <p:xfrm>
          <a:off x="1187450" y="1190625"/>
          <a:ext cx="6624638" cy="3270881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5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6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Symmetric</a:t>
                      </a:r>
                      <a:endParaRPr kumimoji="0" lang="de-DE" sz="17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7187" marB="4718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ECC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RSA, DL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Remark</a:t>
                      </a:r>
                      <a:endParaRPr kumimoji="0" lang="de-DE" sz="17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5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 Bit</a:t>
                      </a:r>
                    </a:p>
                  </a:txBody>
                  <a:tcPr marT="47187" marB="4718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128 Bit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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700 Bit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short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term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security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b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few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hours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days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008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 Bit</a:t>
                      </a:r>
                    </a:p>
                  </a:txBody>
                  <a:tcPr marT="47187" marB="4718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160 Bit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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1024 Bit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Medium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security</a:t>
                      </a:r>
                      <a:endParaRPr kumimoji="0" lang="de-DE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18" charset="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except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attacks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from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big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governmental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institutions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etc.)</a:t>
                      </a:r>
                      <a:endParaRPr kumimoji="0" lang="de-DE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5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128 Bit</a:t>
                      </a:r>
                    </a:p>
                  </a:txBody>
                  <a:tcPr marT="47187" marB="4718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256 Bit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Symbol" pitchFamily="18" charset="2"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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3072 Bit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Long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term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security</a:t>
                      </a:r>
                      <a:b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</a:b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without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quantum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de-DE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computers</a:t>
                      </a:r>
                      <a:r>
                        <a:rPr kumimoji="0" lang="de-DE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marT="47187" marB="471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0E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60159" name="Rectangle 31">
            <a:extLst>
              <a:ext uri="{FF2B5EF4-FFF2-40B4-BE49-F238E27FC236}">
                <a16:creationId xmlns:a16="http://schemas.microsoft.com/office/drawing/2014/main" id="{BBDB3092-CC1F-107E-7E2C-B801FD6D9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5129213"/>
            <a:ext cx="8277225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</a:pPr>
            <a:r>
              <a:rPr lang="de-DE" altLang="zh-CN" sz="1600"/>
              <a:t>The exact complexity of RSA (factoring) and DL (Index-Calculus) is difficult to estimate</a:t>
            </a:r>
          </a:p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</a:pPr>
            <a:r>
              <a:rPr lang="de-DE" altLang="zh-CN" sz="1600"/>
              <a:t>The existence of quantum computers would probably be the end for ECC, RSA &amp; DL (at least 2-3 decades away, and some people doubt that QC will ever exist)</a:t>
            </a:r>
            <a:endParaRPr lang="de-DE" altLang="zh-CN" sz="1600" baseline="-25000"/>
          </a:p>
        </p:txBody>
      </p:sp>
      <p:sp>
        <p:nvSpPr>
          <p:cNvPr id="23581" name="Fußzeilenplatzhalter 4">
            <a:extLst>
              <a:ext uri="{FF2B5EF4-FFF2-40B4-BE49-F238E27FC236}">
                <a16:creationId xmlns:a16="http://schemas.microsoft.com/office/drawing/2014/main" id="{29D12B57-3769-EDFF-3942-79F5284C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liennummernplatzhalter 3">
            <a:extLst>
              <a:ext uri="{FF2B5EF4-FFF2-40B4-BE49-F238E27FC236}">
                <a16:creationId xmlns:a16="http://schemas.microsoft.com/office/drawing/2014/main" id="{E546F850-AEE1-828F-3D1C-78F2B0FE99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17CC4C-DB86-5C49-BB0B-9D486D7BE2BA}" type="slidenum">
              <a:rPr lang="de-DE" altLang="zh-CN">
                <a:solidFill>
                  <a:srgbClr val="394073"/>
                </a:solidFill>
              </a:rPr>
              <a:pPr/>
              <a:t>19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C10C062-A577-123B-E8AB-A377AFE38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1214438"/>
            <a:ext cx="5100638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3494C384-B6C0-5090-426A-892679B875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563" y="2500313"/>
            <a:ext cx="6891337" cy="2232025"/>
          </a:xfrm>
          <a:noFill/>
        </p:spPr>
        <p:txBody>
          <a:bodyPr/>
          <a:lstStyle/>
          <a:p>
            <a:pPr marL="342900" indent="-342900"/>
            <a:r>
              <a:rPr lang="de-DE" altLang="zh-CN" sz="2000"/>
              <a:t>Symmetric Cryptography Revisited</a:t>
            </a:r>
          </a:p>
          <a:p>
            <a:pPr marL="342900" indent="-342900"/>
            <a:r>
              <a:rPr lang="de-DE" altLang="zh-CN" sz="2000"/>
              <a:t>Principles of Asymmetric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Practical Aspects of Public-Key Cryptography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Important Public-Key Algorithms</a:t>
            </a:r>
            <a:endParaRPr lang="de-DE" altLang="zh-CN" sz="2000"/>
          </a:p>
          <a:p>
            <a:pPr marL="342900" indent="-342900"/>
            <a:r>
              <a:rPr lang="en-US" altLang="zh-CN" sz="2000" b="1">
                <a:ea typeface="宋体" panose="02010600030101010101" pitchFamily="2" charset="-122"/>
              </a:rPr>
              <a:t>Essential Number Theory for Public-Key Algorithms</a:t>
            </a:r>
          </a:p>
        </p:txBody>
      </p:sp>
      <p:sp>
        <p:nvSpPr>
          <p:cNvPr id="24581" name="Fußzeilenplatzhalter 4">
            <a:extLst>
              <a:ext uri="{FF2B5EF4-FFF2-40B4-BE49-F238E27FC236}">
                <a16:creationId xmlns:a16="http://schemas.microsoft.com/office/drawing/2014/main" id="{EE747755-D11D-EEFE-65F4-BF29B8A3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el 1">
            <a:extLst>
              <a:ext uri="{FF2B5EF4-FFF2-40B4-BE49-F238E27FC236}">
                <a16:creationId xmlns:a16="http://schemas.microsoft.com/office/drawing/2014/main" id="{C6C4DFC9-A24C-C0F7-53C2-1409E1EC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Euclidean</a:t>
            </a:r>
            <a:r>
              <a:rPr lang="de-DE" altLang="zh-CN" dirty="0"/>
              <a:t> </a:t>
            </a:r>
            <a:r>
              <a:rPr lang="de-DE" altLang="zh-CN" dirty="0" err="1"/>
              <a:t>Algorithm</a:t>
            </a:r>
            <a:r>
              <a:rPr lang="de-DE" altLang="zh-CN" dirty="0"/>
              <a:t> 1/2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064F7B-FDF2-92E9-76DF-BACEC6EF5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43000"/>
            <a:ext cx="7929563" cy="5170488"/>
          </a:xfrm>
        </p:spPr>
        <p:txBody>
          <a:bodyPr/>
          <a:lstStyle/>
          <a:p>
            <a:r>
              <a:rPr lang="de-DE" altLang="zh-CN"/>
              <a:t>Compute the </a:t>
            </a:r>
            <a:r>
              <a:rPr lang="de-DE" altLang="zh-CN" b="1"/>
              <a:t>greatest common divisor </a:t>
            </a:r>
            <a:r>
              <a:rPr lang="de-DE" altLang="zh-CN" b="1" i="1"/>
              <a:t>gcd (r</a:t>
            </a:r>
            <a:r>
              <a:rPr lang="de-DE" altLang="zh-CN" b="1" i="1" baseline="-25000"/>
              <a:t>0,</a:t>
            </a:r>
            <a:r>
              <a:rPr lang="de-DE" altLang="zh-CN" b="1" i="1"/>
              <a:t> r</a:t>
            </a:r>
            <a:r>
              <a:rPr lang="de-DE" altLang="zh-CN" b="1" i="1" baseline="-25000"/>
              <a:t>1</a:t>
            </a:r>
            <a:r>
              <a:rPr lang="de-DE" altLang="zh-CN" b="1" i="1"/>
              <a:t>)</a:t>
            </a:r>
            <a:r>
              <a:rPr lang="de-DE" altLang="zh-CN" b="1"/>
              <a:t> </a:t>
            </a:r>
            <a:r>
              <a:rPr lang="de-DE" altLang="zh-CN"/>
              <a:t>of two integers </a:t>
            </a:r>
            <a:r>
              <a:rPr lang="de-DE" altLang="zh-CN" i="1"/>
              <a:t>r</a:t>
            </a:r>
            <a:r>
              <a:rPr lang="de-DE" altLang="zh-CN" i="1" baseline="-25000"/>
              <a:t>0</a:t>
            </a:r>
            <a:r>
              <a:rPr lang="de-DE" altLang="zh-CN"/>
              <a:t> and </a:t>
            </a:r>
            <a:r>
              <a:rPr lang="de-DE" altLang="zh-CN" i="1"/>
              <a:t>r</a:t>
            </a:r>
            <a:r>
              <a:rPr lang="de-DE" altLang="zh-CN" i="1" baseline="-25000"/>
              <a:t>1</a:t>
            </a:r>
            <a:r>
              <a:rPr lang="de-DE" altLang="zh-CN"/>
              <a:t>  </a:t>
            </a:r>
          </a:p>
          <a:p>
            <a:endParaRPr lang="de-DE" altLang="zh-CN"/>
          </a:p>
          <a:p>
            <a:r>
              <a:rPr lang="de-DE" altLang="zh-CN"/>
              <a:t>gcd is </a:t>
            </a:r>
            <a:r>
              <a:rPr lang="de-DE" altLang="zh-CN" b="1"/>
              <a:t>easy for small numbers</a:t>
            </a:r>
            <a:r>
              <a:rPr lang="de-DE" altLang="zh-CN"/>
              <a:t>: </a:t>
            </a:r>
            <a:br>
              <a:rPr lang="de-DE" altLang="zh-CN"/>
            </a:br>
            <a:r>
              <a:rPr lang="de-DE" altLang="zh-CN"/>
              <a:t>	1. factor </a:t>
            </a:r>
            <a:r>
              <a:rPr lang="de-DE" altLang="zh-CN" i="1"/>
              <a:t>r</a:t>
            </a:r>
            <a:r>
              <a:rPr lang="de-DE" altLang="zh-CN" i="1" baseline="-25000"/>
              <a:t>0</a:t>
            </a:r>
            <a:r>
              <a:rPr lang="de-DE" altLang="zh-CN"/>
              <a:t> and </a:t>
            </a:r>
            <a:r>
              <a:rPr lang="de-DE" altLang="zh-CN" i="1"/>
              <a:t>r</a:t>
            </a:r>
            <a:r>
              <a:rPr lang="de-DE" altLang="zh-CN" i="1" baseline="-25000"/>
              <a:t>1</a:t>
            </a:r>
            <a:r>
              <a:rPr lang="de-DE" altLang="zh-CN"/>
              <a:t>      </a:t>
            </a:r>
            <a:br>
              <a:rPr lang="de-DE" altLang="zh-CN"/>
            </a:br>
            <a:r>
              <a:rPr lang="de-DE" altLang="zh-CN"/>
              <a:t>	2. gcd = highest common factor</a:t>
            </a:r>
          </a:p>
          <a:p>
            <a:endParaRPr lang="de-DE" altLang="zh-CN"/>
          </a:p>
          <a:p>
            <a:r>
              <a:rPr lang="de-DE" altLang="zh-CN"/>
              <a:t>Example: </a:t>
            </a:r>
            <a:br>
              <a:rPr lang="de-DE" altLang="zh-CN"/>
            </a:br>
            <a:r>
              <a:rPr lang="de-DE" altLang="zh-CN"/>
              <a:t>	</a:t>
            </a:r>
            <a:r>
              <a:rPr lang="de-DE" altLang="zh-CN" i="1"/>
              <a:t>r</a:t>
            </a:r>
            <a:r>
              <a:rPr lang="de-DE" altLang="zh-CN" i="1" baseline="-25000"/>
              <a:t>0</a:t>
            </a:r>
            <a:r>
              <a:rPr lang="de-DE" altLang="zh-CN"/>
              <a:t> = 84 = 2 </a:t>
            </a:r>
            <a:r>
              <a:rPr lang="de-DE" altLang="zh-CN" baseline="30000"/>
              <a:t>.</a:t>
            </a:r>
            <a:r>
              <a:rPr lang="de-DE" altLang="zh-CN"/>
              <a:t> 2 </a:t>
            </a:r>
            <a:r>
              <a:rPr lang="de-DE" altLang="zh-CN" baseline="30000"/>
              <a:t>.</a:t>
            </a:r>
            <a:r>
              <a:rPr lang="de-DE" altLang="zh-CN"/>
              <a:t> 3 </a:t>
            </a:r>
            <a:r>
              <a:rPr lang="de-DE" altLang="zh-CN" baseline="30000"/>
              <a:t>.</a:t>
            </a:r>
            <a:r>
              <a:rPr lang="de-DE" altLang="zh-CN"/>
              <a:t> 7</a:t>
            </a:r>
            <a:br>
              <a:rPr lang="de-DE" altLang="zh-CN"/>
            </a:br>
            <a:r>
              <a:rPr lang="de-DE" altLang="zh-CN"/>
              <a:t>	</a:t>
            </a:r>
            <a:r>
              <a:rPr lang="de-DE" altLang="zh-CN" i="1"/>
              <a:t>r</a:t>
            </a:r>
            <a:r>
              <a:rPr lang="de-DE" altLang="zh-CN" i="1" baseline="-25000"/>
              <a:t>1</a:t>
            </a:r>
            <a:r>
              <a:rPr lang="de-DE" altLang="zh-CN" i="1"/>
              <a:t> </a:t>
            </a:r>
            <a:r>
              <a:rPr lang="de-DE" altLang="zh-CN"/>
              <a:t>= 30 = 2 </a:t>
            </a:r>
            <a:r>
              <a:rPr lang="de-DE" altLang="zh-CN" baseline="30000"/>
              <a:t>.</a:t>
            </a:r>
            <a:r>
              <a:rPr lang="de-DE" altLang="zh-CN"/>
              <a:t> 3 </a:t>
            </a:r>
            <a:r>
              <a:rPr lang="de-DE" altLang="zh-CN" baseline="30000"/>
              <a:t>.</a:t>
            </a:r>
            <a:r>
              <a:rPr lang="de-DE" altLang="zh-CN"/>
              <a:t> 5</a:t>
            </a:r>
          </a:p>
          <a:p>
            <a:endParaRPr lang="de-DE" altLang="zh-CN"/>
          </a:p>
          <a:p>
            <a:pPr lvl="2">
              <a:buFontTx/>
              <a:buNone/>
            </a:pPr>
            <a:r>
              <a:rPr lang="de-DE" altLang="zh-CN">
                <a:sym typeface="Wingdings" pitchFamily="2" charset="2"/>
              </a:rPr>
              <a:t> </a:t>
            </a:r>
            <a:r>
              <a:rPr lang="de-DE" altLang="zh-CN"/>
              <a:t>The gcd is the product of all common prime factors:</a:t>
            </a:r>
            <a:br>
              <a:rPr lang="de-DE" altLang="zh-CN"/>
            </a:br>
            <a:r>
              <a:rPr lang="de-DE" altLang="zh-CN"/>
              <a:t> 2 </a:t>
            </a:r>
            <a:r>
              <a:rPr lang="de-DE" altLang="zh-CN" baseline="30000"/>
              <a:t>.</a:t>
            </a:r>
            <a:r>
              <a:rPr lang="de-DE" altLang="zh-CN"/>
              <a:t> 3 = 6 = </a:t>
            </a:r>
            <a:r>
              <a:rPr lang="de-DE" altLang="zh-CN" i="1"/>
              <a:t>gcd </a:t>
            </a:r>
            <a:r>
              <a:rPr lang="de-DE" altLang="zh-CN"/>
              <a:t>(30,84)</a:t>
            </a:r>
          </a:p>
          <a:p>
            <a:pPr lvl="2">
              <a:buFontTx/>
              <a:buNone/>
            </a:pPr>
            <a:endParaRPr lang="de-DE" altLang="zh-CN"/>
          </a:p>
          <a:p>
            <a:pPr lvl="2">
              <a:buFontTx/>
              <a:buNone/>
            </a:pPr>
            <a:endParaRPr lang="de-DE" altLang="zh-CN"/>
          </a:p>
          <a:p>
            <a:r>
              <a:rPr lang="de-DE" altLang="zh-CN" b="1"/>
              <a:t>But:</a:t>
            </a:r>
            <a:r>
              <a:rPr lang="de-DE" altLang="zh-CN"/>
              <a:t> Factoring is complicated (and often infeasible) for large numbers</a:t>
            </a:r>
            <a:endParaRPr lang="de-DE" altLang="zh-CN" b="1"/>
          </a:p>
        </p:txBody>
      </p:sp>
      <p:sp>
        <p:nvSpPr>
          <p:cNvPr id="25604" name="Foliennummernplatzhalter 3">
            <a:extLst>
              <a:ext uri="{FF2B5EF4-FFF2-40B4-BE49-F238E27FC236}">
                <a16:creationId xmlns:a16="http://schemas.microsoft.com/office/drawing/2014/main" id="{7454A8A7-A767-5A81-B3BC-B158D0551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925BF1-AEDB-2A46-A48B-006CF2A10CCA}" type="slidenum">
              <a:rPr lang="de-DE" altLang="zh-CN">
                <a:solidFill>
                  <a:srgbClr val="394073"/>
                </a:solidFill>
              </a:rPr>
              <a:pPr/>
              <a:t>20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EEA4EF9-D25D-6538-BCF4-6CB8E4AFAB05}"/>
              </a:ext>
            </a:extLst>
          </p:cNvPr>
          <p:cNvSpPr/>
          <p:nvPr/>
        </p:nvSpPr>
        <p:spPr>
          <a:xfrm>
            <a:off x="2214563" y="3857625"/>
            <a:ext cx="285750" cy="28575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CBA8DD6-1E5D-845D-39F8-57C631040720}"/>
              </a:ext>
            </a:extLst>
          </p:cNvPr>
          <p:cNvSpPr/>
          <p:nvPr/>
        </p:nvSpPr>
        <p:spPr>
          <a:xfrm>
            <a:off x="2214563" y="3500438"/>
            <a:ext cx="285750" cy="28575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A95809E-8150-172B-6F2B-3C0A0A77158B}"/>
              </a:ext>
            </a:extLst>
          </p:cNvPr>
          <p:cNvSpPr/>
          <p:nvPr/>
        </p:nvSpPr>
        <p:spPr>
          <a:xfrm>
            <a:off x="2714625" y="3500438"/>
            <a:ext cx="285750" cy="28575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BD85B2D-8F12-B466-F561-2F4D64CB25A7}"/>
              </a:ext>
            </a:extLst>
          </p:cNvPr>
          <p:cNvSpPr/>
          <p:nvPr/>
        </p:nvSpPr>
        <p:spPr>
          <a:xfrm>
            <a:off x="2500313" y="3857625"/>
            <a:ext cx="285750" cy="28575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5609" name="Fußzeilenplatzhalter 4">
            <a:extLst>
              <a:ext uri="{FF2B5EF4-FFF2-40B4-BE49-F238E27FC236}">
                <a16:creationId xmlns:a16="http://schemas.microsoft.com/office/drawing/2014/main" id="{E38D563D-B69B-C265-2666-B5B4F993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43C216B-5652-0E18-AA21-E633BB020031}"/>
                  </a:ext>
                </a:extLst>
              </p14:cNvPr>
              <p14:cNvContentPartPr/>
              <p14:nvPr/>
            </p14:nvContentPartPr>
            <p14:xfrm>
              <a:off x="2145960" y="1440720"/>
              <a:ext cx="3328200" cy="1886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43C216B-5652-0E18-AA21-E633BB0200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6600" y="1431360"/>
                <a:ext cx="3346920" cy="20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el 1">
            <a:extLst>
              <a:ext uri="{FF2B5EF4-FFF2-40B4-BE49-F238E27FC236}">
                <a16:creationId xmlns:a16="http://schemas.microsoft.com/office/drawing/2014/main" id="{BC68D5E6-93C0-3DB7-F83B-AE1D104A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Euclidean</a:t>
            </a:r>
            <a:r>
              <a:rPr lang="de-DE" altLang="zh-CN" dirty="0"/>
              <a:t> </a:t>
            </a:r>
            <a:r>
              <a:rPr lang="de-DE" altLang="zh-CN" dirty="0" err="1"/>
              <a:t>Algorithm</a:t>
            </a:r>
            <a:r>
              <a:rPr lang="de-DE" altLang="zh-CN" dirty="0"/>
              <a:t> 2/2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33BCC8-3277-E5F7-E713-789BFF598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857250"/>
            <a:ext cx="7929563" cy="6756209"/>
          </a:xfrm>
        </p:spPr>
        <p:txBody>
          <a:bodyPr/>
          <a:lstStyle/>
          <a:p>
            <a:pPr>
              <a:defRPr/>
            </a:pPr>
            <a:r>
              <a:rPr lang="de-DE" dirty="0"/>
              <a:t>Observation: </a:t>
            </a:r>
            <a:r>
              <a:rPr lang="de-DE" b="1" i="1" dirty="0" err="1"/>
              <a:t>gcd</a:t>
            </a:r>
            <a:r>
              <a:rPr lang="de-DE" b="1" i="1" dirty="0"/>
              <a:t> (r</a:t>
            </a:r>
            <a:r>
              <a:rPr lang="de-DE" b="1" i="1" baseline="-25000" dirty="0"/>
              <a:t>0,</a:t>
            </a:r>
            <a:r>
              <a:rPr lang="de-DE" b="1" i="1" dirty="0"/>
              <a:t> r</a:t>
            </a:r>
            <a:r>
              <a:rPr lang="de-DE" b="1" i="1" baseline="-25000" dirty="0"/>
              <a:t>1</a:t>
            </a:r>
            <a:r>
              <a:rPr lang="de-DE" b="1" i="1" dirty="0"/>
              <a:t>) = </a:t>
            </a:r>
            <a:r>
              <a:rPr lang="de-DE" b="1" i="1" dirty="0" err="1"/>
              <a:t>gcd</a:t>
            </a:r>
            <a:r>
              <a:rPr lang="de-DE" b="1" i="1" dirty="0"/>
              <a:t> (r</a:t>
            </a:r>
            <a:r>
              <a:rPr lang="de-DE" b="1" i="1" baseline="-25000" dirty="0"/>
              <a:t>0</a:t>
            </a:r>
            <a:r>
              <a:rPr lang="de-DE" b="1" i="1" dirty="0"/>
              <a:t> - r</a:t>
            </a:r>
            <a:r>
              <a:rPr lang="de-DE" b="1" i="1" baseline="-25000" dirty="0"/>
              <a:t>1</a:t>
            </a:r>
            <a:r>
              <a:rPr lang="de-DE" b="1" i="1" dirty="0"/>
              <a:t>, r</a:t>
            </a:r>
            <a:r>
              <a:rPr lang="de-DE" b="1" i="1" baseline="-25000" dirty="0"/>
              <a:t>1</a:t>
            </a:r>
            <a:r>
              <a:rPr lang="de-DE" b="1" i="1" dirty="0"/>
              <a:t>)</a:t>
            </a:r>
            <a:endParaRPr lang="en-US" b="1" i="1" dirty="0"/>
          </a:p>
          <a:p>
            <a:r>
              <a:rPr lang="zh-CN" altLang="en-US" dirty="0"/>
              <a:t>                     </a:t>
            </a:r>
            <a:r>
              <a:rPr lang="en" altLang="zh-CN" b="1" i="1" dirty="0" err="1"/>
              <a:t>gcd</a:t>
            </a:r>
            <a:r>
              <a:rPr lang="en" altLang="zh-CN" b="1" i="1" dirty="0"/>
              <a:t>(r</a:t>
            </a:r>
            <a:r>
              <a:rPr lang="en" altLang="zh-CN" b="1" i="1" baseline="-25000" dirty="0"/>
              <a:t>0</a:t>
            </a:r>
            <a:r>
              <a:rPr lang="en" altLang="zh-CN" b="1" i="1" dirty="0"/>
              <a:t>, r</a:t>
            </a:r>
            <a:r>
              <a:rPr lang="en" altLang="zh-CN" b="1" i="1" baseline="-25000" dirty="0"/>
              <a:t>1</a:t>
            </a:r>
            <a:r>
              <a:rPr lang="en" altLang="zh-CN" b="1" i="1" dirty="0"/>
              <a:t>) = </a:t>
            </a:r>
            <a:r>
              <a:rPr lang="en" altLang="zh-CN" b="1" i="1" dirty="0" err="1"/>
              <a:t>gcd</a:t>
            </a:r>
            <a:r>
              <a:rPr lang="en" altLang="zh-CN" b="1" i="1" dirty="0"/>
              <a:t>(r</a:t>
            </a:r>
            <a:r>
              <a:rPr lang="en" altLang="zh-CN" b="1" i="1" baseline="-25000" dirty="0"/>
              <a:t>1</a:t>
            </a:r>
            <a:r>
              <a:rPr lang="en" altLang="zh-CN" b="1" i="1" dirty="0"/>
              <a:t>, r</a:t>
            </a:r>
            <a:r>
              <a:rPr lang="en" altLang="zh-CN" b="1" i="1" baseline="-25000" dirty="0"/>
              <a:t>0</a:t>
            </a:r>
            <a:r>
              <a:rPr lang="en" altLang="zh-CN" b="1" i="1" dirty="0"/>
              <a:t> mod r</a:t>
            </a:r>
            <a:r>
              <a:rPr lang="en" altLang="zh-CN" b="1" i="1" baseline="-25000" dirty="0"/>
              <a:t>1</a:t>
            </a:r>
            <a:r>
              <a:rPr lang="en" altLang="zh-CN" b="1" i="1" dirty="0"/>
              <a:t>)</a:t>
            </a:r>
          </a:p>
          <a:p>
            <a:pPr>
              <a:buFontTx/>
              <a:buNone/>
              <a:defRPr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Core </a:t>
            </a:r>
            <a:r>
              <a:rPr lang="de-DE" dirty="0" err="1"/>
              <a:t>idea</a:t>
            </a:r>
            <a:r>
              <a:rPr lang="de-DE" dirty="0"/>
              <a:t>:</a:t>
            </a:r>
          </a:p>
          <a:p>
            <a:pPr lvl="1">
              <a:defRPr/>
            </a:pPr>
            <a:r>
              <a:rPr lang="de-DE" dirty="0" err="1"/>
              <a:t>R</a:t>
            </a:r>
            <a:r>
              <a:rPr lang="de-DE" dirty="0" err="1">
                <a:ea typeface="+mn-ea"/>
                <a:cs typeface="+mn-cs"/>
              </a:rPr>
              <a:t>educe</a:t>
            </a:r>
            <a:r>
              <a:rPr lang="de-DE" dirty="0">
                <a:ea typeface="+mn-ea"/>
                <a:cs typeface="+mn-cs"/>
              </a:rPr>
              <a:t> </a:t>
            </a:r>
            <a:r>
              <a:rPr lang="de-DE" dirty="0" err="1">
                <a:ea typeface="+mn-ea"/>
                <a:cs typeface="+mn-cs"/>
              </a:rPr>
              <a:t>the</a:t>
            </a:r>
            <a:r>
              <a:rPr lang="de-DE" dirty="0">
                <a:ea typeface="+mn-ea"/>
                <a:cs typeface="+mn-cs"/>
              </a:rPr>
              <a:t> </a:t>
            </a:r>
            <a:r>
              <a:rPr lang="de-DE" dirty="0" err="1">
                <a:ea typeface="+mn-ea"/>
                <a:cs typeface="+mn-cs"/>
              </a:rPr>
              <a:t>problem</a:t>
            </a:r>
            <a:r>
              <a:rPr lang="de-DE" dirty="0">
                <a:ea typeface="+mn-ea"/>
                <a:cs typeface="+mn-cs"/>
              </a:rPr>
              <a:t> </a:t>
            </a:r>
            <a:r>
              <a:rPr lang="de-DE" dirty="0" err="1">
                <a:ea typeface="+mn-ea"/>
                <a:cs typeface="+mn-cs"/>
              </a:rPr>
              <a:t>of</a:t>
            </a:r>
            <a:r>
              <a:rPr lang="de-DE" dirty="0"/>
              <a:t> </a:t>
            </a:r>
            <a:r>
              <a:rPr lang="en-US" dirty="0">
                <a:ea typeface="+mn-ea"/>
                <a:cs typeface="+mn-cs"/>
              </a:rPr>
              <a:t>finding the </a:t>
            </a:r>
            <a:r>
              <a:rPr lang="en-US" dirty="0" err="1">
                <a:ea typeface="+mn-ea"/>
                <a:cs typeface="+mn-cs"/>
              </a:rPr>
              <a:t>gcd</a:t>
            </a:r>
            <a:r>
              <a:rPr lang="en-US" dirty="0">
                <a:ea typeface="+mn-ea"/>
                <a:cs typeface="+mn-cs"/>
              </a:rPr>
              <a:t> of two given numbers </a:t>
            </a:r>
            <a:br>
              <a:rPr lang="en-US" dirty="0">
                <a:ea typeface="+mn-ea"/>
                <a:cs typeface="+mn-cs"/>
              </a:rPr>
            </a:br>
            <a:r>
              <a:rPr lang="en-US" dirty="0">
                <a:ea typeface="+mn-ea"/>
                <a:cs typeface="+mn-cs"/>
              </a:rPr>
              <a:t>to that of the </a:t>
            </a:r>
            <a:r>
              <a:rPr lang="en-US" b="1" dirty="0" err="1">
                <a:ea typeface="+mn-ea"/>
                <a:cs typeface="+mn-cs"/>
              </a:rPr>
              <a:t>gcd</a:t>
            </a:r>
            <a:r>
              <a:rPr lang="en-US" b="1" dirty="0">
                <a:ea typeface="+mn-ea"/>
                <a:cs typeface="+mn-cs"/>
              </a:rPr>
              <a:t> of two smaller numbers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 Repeat process recursively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 The final </a:t>
            </a:r>
            <a:r>
              <a:rPr lang="de-DE" b="1" i="1" dirty="0" err="1"/>
              <a:t>gcd</a:t>
            </a:r>
            <a:r>
              <a:rPr lang="de-DE" b="1" i="1" dirty="0"/>
              <a:t> (</a:t>
            </a:r>
            <a:r>
              <a:rPr lang="de-DE" b="1" i="1" dirty="0" err="1"/>
              <a:t>r</a:t>
            </a:r>
            <a:r>
              <a:rPr lang="de-DE" b="1" i="1" baseline="-25000" dirty="0" err="1"/>
              <a:t>i</a:t>
            </a:r>
            <a:r>
              <a:rPr lang="de-DE" b="1" i="1" baseline="-25000" dirty="0"/>
              <a:t>,</a:t>
            </a:r>
            <a:r>
              <a:rPr lang="de-DE" b="1" i="1" dirty="0"/>
              <a:t> 0) = </a:t>
            </a:r>
            <a:r>
              <a:rPr lang="de-DE" b="1" i="1" dirty="0" err="1"/>
              <a:t>r</a:t>
            </a:r>
            <a:r>
              <a:rPr lang="de-DE" b="1" i="1" baseline="-25000" dirty="0" err="1"/>
              <a:t>i</a:t>
            </a:r>
            <a:r>
              <a:rPr lang="de-DE" i="1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answer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original </a:t>
            </a:r>
            <a:r>
              <a:rPr lang="de-DE" dirty="0" err="1"/>
              <a:t>problem</a:t>
            </a:r>
            <a:r>
              <a:rPr lang="de-DE" dirty="0"/>
              <a:t> !</a:t>
            </a:r>
          </a:p>
          <a:p>
            <a:pPr lvl="1">
              <a:defRPr/>
            </a:pPr>
            <a:endParaRPr lang="de-DE" sz="800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r>
              <a:rPr lang="de-DE" b="1" dirty="0" err="1"/>
              <a:t>Example</a:t>
            </a:r>
            <a:r>
              <a:rPr lang="de-DE" b="1" dirty="0"/>
              <a:t>: </a:t>
            </a:r>
            <a:r>
              <a:rPr lang="de-DE" i="1" dirty="0" err="1"/>
              <a:t>gcd</a:t>
            </a:r>
            <a:r>
              <a:rPr lang="de-DE" i="1" dirty="0"/>
              <a:t> (r</a:t>
            </a:r>
            <a:r>
              <a:rPr lang="de-DE" i="1" baseline="-25000" dirty="0"/>
              <a:t>0,</a:t>
            </a:r>
            <a:r>
              <a:rPr lang="de-DE" i="1" dirty="0"/>
              <a:t> r</a:t>
            </a:r>
            <a:r>
              <a:rPr lang="de-DE" i="1" baseline="-25000" dirty="0"/>
              <a:t>1</a:t>
            </a:r>
            <a:r>
              <a:rPr lang="de-DE" i="1" dirty="0"/>
              <a:t>)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i="1" dirty="0"/>
              <a:t>r</a:t>
            </a:r>
            <a:r>
              <a:rPr lang="de-DE" i="1" baseline="-25000" dirty="0"/>
              <a:t>0</a:t>
            </a:r>
            <a:r>
              <a:rPr lang="de-DE" dirty="0"/>
              <a:t> = 27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i="1" dirty="0"/>
              <a:t>r</a:t>
            </a:r>
            <a:r>
              <a:rPr lang="de-DE" i="1" baseline="-25000" dirty="0"/>
              <a:t>1</a:t>
            </a:r>
            <a:r>
              <a:rPr lang="de-DE" dirty="0"/>
              <a:t> = 21</a:t>
            </a:r>
            <a:endParaRPr lang="en-US" dirty="0"/>
          </a:p>
          <a:p>
            <a:pPr>
              <a:buFontTx/>
              <a:buNone/>
              <a:defRPr/>
            </a:pPr>
            <a:endParaRPr lang="en-US" dirty="0"/>
          </a:p>
          <a:p>
            <a:pPr>
              <a:buFontTx/>
              <a:buNone/>
              <a:defRPr/>
            </a:pPr>
            <a:endParaRPr lang="en-US" dirty="0"/>
          </a:p>
          <a:p>
            <a:pPr>
              <a:buFontTx/>
              <a:buNone/>
              <a:defRPr/>
            </a:pPr>
            <a:endParaRPr lang="en-US" dirty="0"/>
          </a:p>
          <a:p>
            <a:pPr>
              <a:buFontTx/>
              <a:buNone/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Note: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complexity</a:t>
            </a:r>
            <a:r>
              <a:rPr lang="de-DE" dirty="0"/>
              <a:t> </a:t>
            </a:r>
            <a:r>
              <a:rPr lang="de-DE" dirty="0" err="1"/>
              <a:t>grows</a:t>
            </a:r>
            <a:r>
              <a:rPr lang="de-DE" dirty="0"/>
              <a:t> </a:t>
            </a:r>
            <a:r>
              <a:rPr lang="de-DE" b="1" dirty="0" err="1"/>
              <a:t>linearly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>
                <a:solidFill>
                  <a:srgbClr val="FF0000"/>
                </a:solidFill>
              </a:rPr>
              <a:t>the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number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of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bits</a:t>
            </a:r>
            <a:endParaRPr lang="de-DE" dirty="0">
              <a:solidFill>
                <a:srgbClr val="FF0000"/>
              </a:solidFill>
            </a:endParaRPr>
          </a:p>
          <a:p>
            <a:pPr>
              <a:defRPr/>
            </a:pPr>
            <a:endParaRPr lang="de-DE" sz="800" dirty="0"/>
          </a:p>
          <a:p>
            <a:pPr>
              <a:buFontTx/>
              <a:buNone/>
              <a:defRPr/>
            </a:pP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full</a:t>
            </a:r>
            <a:r>
              <a:rPr lang="de-DE" sz="1400" dirty="0"/>
              <a:t> </a:t>
            </a:r>
            <a:r>
              <a:rPr lang="de-DE" sz="1400" dirty="0" err="1"/>
              <a:t>Euclidean</a:t>
            </a:r>
            <a:r>
              <a:rPr lang="de-DE" sz="1400" dirty="0"/>
              <a:t> </a:t>
            </a:r>
            <a:r>
              <a:rPr lang="de-DE" sz="1400" dirty="0" err="1"/>
              <a:t>Algorithm</a:t>
            </a:r>
            <a:r>
              <a:rPr lang="de-DE" sz="1400" dirty="0"/>
              <a:t> </a:t>
            </a:r>
            <a:r>
              <a:rPr lang="de-DE" sz="1400" dirty="0" err="1"/>
              <a:t>see</a:t>
            </a:r>
            <a:r>
              <a:rPr lang="de-DE" sz="1400" dirty="0"/>
              <a:t> Chapter 6 in </a:t>
            </a:r>
            <a:r>
              <a:rPr lang="de-DE" sz="1400" i="1" dirty="0"/>
              <a:t>Understanding </a:t>
            </a:r>
            <a:r>
              <a:rPr lang="de-DE" sz="1400" i="1" dirty="0" err="1"/>
              <a:t>Cryptography</a:t>
            </a:r>
            <a:r>
              <a:rPr lang="de-DE" sz="1400" i="1" dirty="0"/>
              <a:t>.</a:t>
            </a:r>
            <a:endParaRPr lang="en-US" sz="1400" i="1" dirty="0"/>
          </a:p>
          <a:p>
            <a:pPr>
              <a:buFontTx/>
              <a:buNone/>
              <a:defRPr/>
            </a:pPr>
            <a:endParaRPr lang="en-US" dirty="0"/>
          </a:p>
          <a:p>
            <a:pPr>
              <a:buFontTx/>
              <a:buNone/>
              <a:defRPr/>
            </a:pPr>
            <a:endParaRPr lang="en-US" dirty="0"/>
          </a:p>
          <a:p>
            <a:pPr>
              <a:buFontTx/>
              <a:buNone/>
              <a:defRPr/>
            </a:pPr>
            <a:endParaRPr lang="en-US" dirty="0"/>
          </a:p>
        </p:txBody>
      </p:sp>
      <p:sp>
        <p:nvSpPr>
          <p:cNvPr id="26628" name="Foliennummernplatzhalter 3">
            <a:extLst>
              <a:ext uri="{FF2B5EF4-FFF2-40B4-BE49-F238E27FC236}">
                <a16:creationId xmlns:a16="http://schemas.microsoft.com/office/drawing/2014/main" id="{E32A2797-517A-508C-9C10-6B76D3743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F9D2D1-3EC2-1B42-90C4-52A4BA779A66}" type="slidenum">
              <a:rPr lang="de-DE" altLang="zh-CN">
                <a:solidFill>
                  <a:srgbClr val="394073"/>
                </a:solidFill>
              </a:rPr>
              <a:pPr/>
              <a:t>21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6629" name="Fußzeilenplatzhalter 4">
            <a:extLst>
              <a:ext uri="{FF2B5EF4-FFF2-40B4-BE49-F238E27FC236}">
                <a16:creationId xmlns:a16="http://schemas.microsoft.com/office/drawing/2014/main" id="{3811E048-8C3E-9F86-4EFC-693A9ECC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pic>
        <p:nvPicPr>
          <p:cNvPr id="939011" name="Picture 3">
            <a:extLst>
              <a:ext uri="{FF2B5EF4-FFF2-40B4-BE49-F238E27FC236}">
                <a16:creationId xmlns:a16="http://schemas.microsoft.com/office/drawing/2014/main" id="{1EDFEAD3-098C-1BE1-CB9B-3291B3F31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500438"/>
            <a:ext cx="80486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9012" name="Picture 4">
            <a:extLst>
              <a:ext uri="{FF2B5EF4-FFF2-40B4-BE49-F238E27FC236}">
                <a16:creationId xmlns:a16="http://schemas.microsoft.com/office/drawing/2014/main" id="{E31772CB-43D2-ECB0-6A31-A318C0F4B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4071938"/>
            <a:ext cx="7686675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9013" name="Picture 5">
            <a:extLst>
              <a:ext uri="{FF2B5EF4-FFF2-40B4-BE49-F238E27FC236}">
                <a16:creationId xmlns:a16="http://schemas.microsoft.com/office/drawing/2014/main" id="{5F16BEF7-861C-3B4A-31DD-C551EFE30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4643438"/>
            <a:ext cx="78708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014" name="Picture 6">
            <a:extLst>
              <a:ext uri="{FF2B5EF4-FFF2-40B4-BE49-F238E27FC236}">
                <a16:creationId xmlns:a16="http://schemas.microsoft.com/office/drawing/2014/main" id="{AD0CA300-DD0A-A5EA-F478-CEC54D190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1214438"/>
            <a:ext cx="2590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itel 1">
            <a:extLst>
              <a:ext uri="{FF2B5EF4-FFF2-40B4-BE49-F238E27FC236}">
                <a16:creationId xmlns:a16="http://schemas.microsoft.com/office/drawing/2014/main" id="{69F4977A-0318-81C4-FA58-31DB9FCD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Extended </a:t>
            </a:r>
            <a:r>
              <a:rPr lang="de-DE" altLang="zh-CN" dirty="0" err="1"/>
              <a:t>Euclidean</a:t>
            </a:r>
            <a:r>
              <a:rPr lang="de-DE" altLang="zh-CN" dirty="0"/>
              <a:t> </a:t>
            </a:r>
            <a:r>
              <a:rPr lang="de-DE" altLang="zh-CN" dirty="0" err="1"/>
              <a:t>Algorithm</a:t>
            </a:r>
            <a:r>
              <a:rPr lang="de-DE" altLang="zh-CN" dirty="0"/>
              <a:t> 1/4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0216B4-3B7A-C186-D25D-82405B70A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857250"/>
            <a:ext cx="7929563" cy="5078826"/>
          </a:xfrm>
        </p:spPr>
        <p:txBody>
          <a:bodyPr/>
          <a:lstStyle/>
          <a:p>
            <a:r>
              <a:rPr lang="de-DE" altLang="zh-CN" dirty="0" err="1"/>
              <a:t>Extend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Euclidean</a:t>
            </a:r>
            <a:r>
              <a:rPr lang="de-DE" altLang="zh-CN" dirty="0"/>
              <a:t> </a:t>
            </a:r>
            <a:r>
              <a:rPr lang="de-DE" altLang="zh-CN" dirty="0" err="1"/>
              <a:t>algorithm</a:t>
            </a:r>
            <a:r>
              <a:rPr lang="zh-CN" altLang="en-US" dirty="0"/>
              <a:t>（</a:t>
            </a:r>
            <a:r>
              <a:rPr lang="en-US" altLang="zh-CN" dirty="0"/>
              <a:t>EEA</a:t>
            </a:r>
            <a:r>
              <a:rPr lang="zh-CN" altLang="en-US" dirty="0"/>
              <a:t>）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b="1" dirty="0"/>
              <a:t>find modular inverse </a:t>
            </a:r>
            <a:r>
              <a:rPr lang="de-DE" altLang="zh-CN" dirty="0" err="1">
                <a:sym typeface="Wingdings" pitchFamily="2" charset="2"/>
              </a:rPr>
              <a:t>of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i="1" dirty="0"/>
              <a:t>r</a:t>
            </a:r>
            <a:r>
              <a:rPr lang="de-DE" altLang="zh-CN" i="1" baseline="-25000" dirty="0"/>
              <a:t>1 </a:t>
            </a:r>
            <a:r>
              <a:rPr lang="de-DE" altLang="zh-CN" dirty="0" err="1"/>
              <a:t>mod</a:t>
            </a:r>
            <a:r>
              <a:rPr lang="de-DE" altLang="zh-CN" i="1" dirty="0"/>
              <a:t> r</a:t>
            </a:r>
            <a:r>
              <a:rPr lang="de-DE" altLang="zh-CN" i="1" baseline="-25000" dirty="0"/>
              <a:t>0 </a:t>
            </a:r>
            <a:endParaRPr lang="de-DE" altLang="zh-CN" i="1" dirty="0"/>
          </a:p>
          <a:p>
            <a:r>
              <a:rPr lang="de-DE" altLang="zh-CN" dirty="0"/>
              <a:t>EEA </a:t>
            </a:r>
            <a:r>
              <a:rPr lang="de-DE" altLang="zh-CN" dirty="0" err="1"/>
              <a:t>computes</a:t>
            </a:r>
            <a:r>
              <a:rPr lang="de-DE" altLang="zh-CN" dirty="0"/>
              <a:t> </a:t>
            </a:r>
            <a:r>
              <a:rPr lang="de-DE" altLang="zh-CN" i="1" dirty="0" err="1"/>
              <a:t>s</a:t>
            </a:r>
            <a:r>
              <a:rPr lang="de-DE" altLang="zh-CN" dirty="0" err="1"/>
              <a:t>,</a:t>
            </a:r>
            <a:r>
              <a:rPr lang="de-DE" altLang="zh-CN" i="1" dirty="0" err="1"/>
              <a:t>t</a:t>
            </a:r>
            <a:r>
              <a:rPr lang="de-DE" altLang="zh-CN" dirty="0"/>
              <a:t>, and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gcd</a:t>
            </a:r>
            <a:r>
              <a:rPr lang="de-DE" altLang="zh-CN" dirty="0"/>
              <a:t> :</a:t>
            </a:r>
          </a:p>
          <a:p>
            <a:r>
              <a:rPr lang="de-DE" altLang="zh-CN" dirty="0"/>
              <a:t>Note </a:t>
            </a:r>
            <a:r>
              <a:rPr lang="de-DE" altLang="zh-CN" dirty="0" err="1"/>
              <a:t>that</a:t>
            </a:r>
            <a:r>
              <a:rPr lang="de-DE" altLang="zh-CN" dirty="0"/>
              <a:t> </a:t>
            </a:r>
            <a:r>
              <a:rPr lang="de-DE" altLang="zh-CN" i="1" dirty="0" err="1"/>
              <a:t>gcd</a:t>
            </a:r>
            <a:r>
              <a:rPr lang="de-DE" altLang="zh-CN" i="1" dirty="0"/>
              <a:t> (r</a:t>
            </a:r>
            <a:r>
              <a:rPr lang="de-DE" altLang="zh-CN" i="1" baseline="-25000" dirty="0"/>
              <a:t>0,</a:t>
            </a:r>
            <a:r>
              <a:rPr lang="de-DE" altLang="zh-CN" i="1" dirty="0"/>
              <a:t> r</a:t>
            </a:r>
            <a:r>
              <a:rPr lang="de-DE" altLang="zh-CN" i="1" baseline="-25000" dirty="0"/>
              <a:t>1</a:t>
            </a:r>
            <a:r>
              <a:rPr lang="de-DE" altLang="zh-CN" i="1" dirty="0"/>
              <a:t>)</a:t>
            </a:r>
            <a:r>
              <a:rPr lang="de-DE" altLang="zh-CN" dirty="0"/>
              <a:t> = 1 in </a:t>
            </a:r>
            <a:r>
              <a:rPr lang="de-DE" altLang="zh-CN" dirty="0" err="1"/>
              <a:t>order</a:t>
            </a:r>
            <a:r>
              <a:rPr lang="de-DE" altLang="zh-CN" dirty="0"/>
              <a:t> </a:t>
            </a:r>
            <a:r>
              <a:rPr lang="de-DE" altLang="zh-CN" dirty="0" err="1"/>
              <a:t>for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inverse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exist</a:t>
            </a:r>
            <a:endParaRPr lang="de-DE" altLang="zh-CN" dirty="0"/>
          </a:p>
          <a:p>
            <a:r>
              <a:rPr lang="de-DE" altLang="zh-CN" dirty="0"/>
              <a:t>Take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relation</a:t>
            </a:r>
            <a:r>
              <a:rPr lang="de-DE" altLang="zh-CN" dirty="0"/>
              <a:t> </a:t>
            </a:r>
            <a:r>
              <a:rPr lang="de-DE" altLang="zh-CN" b="1" dirty="0" err="1"/>
              <a:t>mod</a:t>
            </a:r>
            <a:r>
              <a:rPr lang="de-DE" altLang="zh-CN" b="1" dirty="0"/>
              <a:t> </a:t>
            </a:r>
            <a:r>
              <a:rPr lang="de-DE" altLang="zh-CN" b="1" i="1" dirty="0"/>
              <a:t>r</a:t>
            </a:r>
            <a:r>
              <a:rPr lang="de-DE" altLang="zh-CN" b="1" i="1" baseline="-25000" dirty="0"/>
              <a:t>0</a:t>
            </a:r>
            <a:r>
              <a:rPr lang="de-DE" altLang="zh-CN" b="1" baseline="-25000" dirty="0"/>
              <a:t> </a:t>
            </a:r>
            <a:r>
              <a:rPr lang="de-DE" altLang="zh-CN" b="1" dirty="0"/>
              <a:t>:</a:t>
            </a:r>
          </a:p>
          <a:p>
            <a:endParaRPr lang="de-DE" altLang="zh-CN" b="1" dirty="0"/>
          </a:p>
          <a:p>
            <a:endParaRPr lang="de-DE" altLang="zh-CN" dirty="0"/>
          </a:p>
          <a:p>
            <a:pPr>
              <a:buFontTx/>
              <a:buNone/>
            </a:pPr>
            <a:r>
              <a:rPr lang="de-DE" altLang="zh-CN" dirty="0">
                <a:sym typeface="Wingdings" pitchFamily="2" charset="2"/>
              </a:rPr>
              <a:t> </a:t>
            </a:r>
            <a:r>
              <a:rPr lang="de-DE" altLang="zh-CN" dirty="0" err="1">
                <a:sym typeface="Wingdings" pitchFamily="2" charset="2"/>
              </a:rPr>
              <a:t>Compare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with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the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definition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of</a:t>
            </a:r>
            <a:r>
              <a:rPr lang="de-DE" altLang="zh-CN" dirty="0">
                <a:sym typeface="Wingdings" pitchFamily="2" charset="2"/>
              </a:rPr>
              <a:t> modular inverse</a:t>
            </a:r>
            <a:r>
              <a:rPr lang="de-DE" altLang="zh-CN" b="1" dirty="0">
                <a:sym typeface="Wingdings" pitchFamily="2" charset="2"/>
              </a:rPr>
              <a:t>:  </a:t>
            </a:r>
            <a:r>
              <a:rPr lang="de-DE" altLang="zh-CN" b="1" i="1" dirty="0">
                <a:sym typeface="Wingdings" pitchFamily="2" charset="2"/>
              </a:rPr>
              <a:t>t</a:t>
            </a:r>
            <a:r>
              <a:rPr lang="de-DE" altLang="zh-CN" b="1" dirty="0">
                <a:sym typeface="Wingdings" pitchFamily="2" charset="2"/>
              </a:rPr>
              <a:t> </a:t>
            </a:r>
            <a:r>
              <a:rPr lang="de-DE" altLang="zh-CN" b="1" dirty="0" err="1">
                <a:sym typeface="Wingdings" pitchFamily="2" charset="2"/>
              </a:rPr>
              <a:t>is</a:t>
            </a:r>
            <a:r>
              <a:rPr lang="de-DE" altLang="zh-CN" b="1" dirty="0">
                <a:sym typeface="Wingdings" pitchFamily="2" charset="2"/>
              </a:rPr>
              <a:t> </a:t>
            </a:r>
            <a:r>
              <a:rPr lang="de-DE" altLang="zh-CN" b="1" dirty="0" err="1">
                <a:sym typeface="Wingdings" pitchFamily="2" charset="2"/>
              </a:rPr>
              <a:t>the</a:t>
            </a:r>
            <a:r>
              <a:rPr lang="de-DE" altLang="zh-CN" b="1" dirty="0">
                <a:sym typeface="Wingdings" pitchFamily="2" charset="2"/>
              </a:rPr>
              <a:t> inverse </a:t>
            </a:r>
            <a:r>
              <a:rPr lang="de-DE" altLang="zh-CN" b="1" dirty="0" err="1">
                <a:sym typeface="Wingdings" pitchFamily="2" charset="2"/>
              </a:rPr>
              <a:t>of</a:t>
            </a:r>
            <a:r>
              <a:rPr lang="de-DE" altLang="zh-CN" b="1" dirty="0">
                <a:sym typeface="Wingdings" pitchFamily="2" charset="2"/>
              </a:rPr>
              <a:t> </a:t>
            </a:r>
            <a:r>
              <a:rPr lang="de-DE" altLang="zh-CN" b="1" i="1" dirty="0"/>
              <a:t>r</a:t>
            </a:r>
            <a:r>
              <a:rPr lang="de-DE" altLang="zh-CN" b="1" i="1" baseline="-25000" dirty="0"/>
              <a:t>1</a:t>
            </a:r>
            <a:r>
              <a:rPr lang="de-DE" altLang="zh-CN" b="1" baseline="-25000" dirty="0"/>
              <a:t> </a:t>
            </a:r>
            <a:r>
              <a:rPr lang="de-DE" altLang="zh-CN" b="1" dirty="0" err="1"/>
              <a:t>mod</a:t>
            </a:r>
            <a:r>
              <a:rPr lang="de-DE" altLang="zh-CN" b="1" dirty="0"/>
              <a:t> </a:t>
            </a:r>
            <a:r>
              <a:rPr lang="de-DE" altLang="zh-CN" b="1" i="1" dirty="0"/>
              <a:t>r</a:t>
            </a:r>
            <a:r>
              <a:rPr lang="de-DE" altLang="zh-CN" b="1" i="1" baseline="-25000" dirty="0"/>
              <a:t>0</a:t>
            </a:r>
            <a:r>
              <a:rPr lang="de-DE" altLang="zh-CN" b="1" baseline="-25000" dirty="0"/>
              <a:t> </a:t>
            </a:r>
            <a:endParaRPr lang="de-DE" altLang="zh-CN" b="1" dirty="0"/>
          </a:p>
          <a:p>
            <a:endParaRPr lang="de-DE" altLang="zh-CN" dirty="0"/>
          </a:p>
          <a:p>
            <a:endParaRPr lang="de-DE" altLang="zh-CN" dirty="0"/>
          </a:p>
          <a:p>
            <a:endParaRPr lang="de-DE" altLang="zh-CN" dirty="0"/>
          </a:p>
          <a:p>
            <a:r>
              <a:rPr lang="de-DE" altLang="zh-CN" b="1" dirty="0" err="1"/>
              <a:t>Recursive</a:t>
            </a:r>
            <a:r>
              <a:rPr lang="de-DE" altLang="zh-CN" b="1" dirty="0"/>
              <a:t> </a:t>
            </a:r>
            <a:r>
              <a:rPr lang="de-DE" altLang="zh-CN" b="1" dirty="0" err="1"/>
              <a:t>formulae</a:t>
            </a:r>
            <a:r>
              <a:rPr lang="de-DE" altLang="zh-CN" b="1" dirty="0"/>
              <a:t>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calculate</a:t>
            </a:r>
            <a:r>
              <a:rPr lang="de-DE" altLang="zh-CN" dirty="0"/>
              <a:t> </a:t>
            </a:r>
            <a:r>
              <a:rPr lang="de-DE" altLang="zh-CN" i="1" dirty="0"/>
              <a:t>s</a:t>
            </a:r>
            <a:r>
              <a:rPr lang="de-DE" altLang="zh-CN" dirty="0"/>
              <a:t> and </a:t>
            </a:r>
            <a:r>
              <a:rPr lang="de-DE" altLang="zh-CN" i="1" dirty="0"/>
              <a:t>t</a:t>
            </a:r>
            <a:r>
              <a:rPr lang="de-DE" altLang="zh-CN" dirty="0"/>
              <a:t> in </a:t>
            </a:r>
            <a:r>
              <a:rPr lang="de-DE" altLang="zh-CN" dirty="0" err="1"/>
              <a:t>each</a:t>
            </a:r>
            <a:r>
              <a:rPr lang="de-DE" altLang="zh-CN" dirty="0"/>
              <a:t> </a:t>
            </a:r>
            <a:r>
              <a:rPr lang="de-DE" altLang="zh-CN" dirty="0" err="1"/>
              <a:t>step</a:t>
            </a:r>
            <a:endParaRPr lang="de-DE" altLang="zh-CN" dirty="0"/>
          </a:p>
          <a:p>
            <a:pPr lvl="1">
              <a:buFontTx/>
              <a:buNone/>
            </a:pPr>
            <a:r>
              <a:rPr lang="de-DE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“</a:t>
            </a:r>
            <a:r>
              <a:rPr lang="de-DE" altLang="zh-CN" dirty="0" err="1">
                <a:sym typeface="Wingdings" pitchFamily="2" charset="2"/>
              </a:rPr>
              <a:t>magic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table</a:t>
            </a:r>
            <a:r>
              <a:rPr lang="zh-CN" altLang="en-US" dirty="0">
                <a:sym typeface="Wingdings" pitchFamily="2" charset="2"/>
              </a:rPr>
              <a:t>”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for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i="1" dirty="0" err="1">
                <a:sym typeface="Wingdings" pitchFamily="2" charset="2"/>
              </a:rPr>
              <a:t>r</a:t>
            </a:r>
            <a:r>
              <a:rPr lang="de-DE" altLang="zh-CN" dirty="0">
                <a:sym typeface="Wingdings" pitchFamily="2" charset="2"/>
              </a:rPr>
              <a:t>, </a:t>
            </a:r>
            <a:r>
              <a:rPr lang="de-DE" altLang="zh-CN" i="1" dirty="0">
                <a:sym typeface="Wingdings" pitchFamily="2" charset="2"/>
              </a:rPr>
              <a:t>s</a:t>
            </a:r>
            <a:r>
              <a:rPr lang="de-DE" altLang="zh-CN" dirty="0">
                <a:sym typeface="Wingdings" pitchFamily="2" charset="2"/>
              </a:rPr>
              <a:t>, </a:t>
            </a:r>
            <a:r>
              <a:rPr lang="de-DE" altLang="zh-CN" i="1" dirty="0">
                <a:sym typeface="Wingdings" pitchFamily="2" charset="2"/>
              </a:rPr>
              <a:t>t</a:t>
            </a:r>
            <a:r>
              <a:rPr lang="de-DE" altLang="zh-CN" dirty="0">
                <a:sym typeface="Wingdings" pitchFamily="2" charset="2"/>
              </a:rPr>
              <a:t> and a </a:t>
            </a:r>
            <a:r>
              <a:rPr lang="de-DE" altLang="zh-CN" dirty="0" err="1">
                <a:sym typeface="Wingdings" pitchFamily="2" charset="2"/>
              </a:rPr>
              <a:t>quotient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i="1" dirty="0" err="1">
                <a:sym typeface="Wingdings" pitchFamily="2" charset="2"/>
              </a:rPr>
              <a:t>q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to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derive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the</a:t>
            </a:r>
            <a:r>
              <a:rPr lang="de-DE" altLang="zh-CN" dirty="0">
                <a:sym typeface="Wingdings" pitchFamily="2" charset="2"/>
              </a:rPr>
              <a:t> inverse </a:t>
            </a:r>
            <a:r>
              <a:rPr lang="de-DE" altLang="zh-CN" dirty="0" err="1">
                <a:sym typeface="Wingdings" pitchFamily="2" charset="2"/>
              </a:rPr>
              <a:t>with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pen</a:t>
            </a:r>
            <a:r>
              <a:rPr lang="de-DE" altLang="zh-CN" dirty="0">
                <a:sym typeface="Wingdings" pitchFamily="2" charset="2"/>
              </a:rPr>
              <a:t> and </a:t>
            </a:r>
            <a:r>
              <a:rPr lang="de-DE" altLang="zh-CN" dirty="0" err="1">
                <a:sym typeface="Wingdings" pitchFamily="2" charset="2"/>
              </a:rPr>
              <a:t>paper</a:t>
            </a:r>
            <a:endParaRPr lang="de-DE" altLang="zh-CN" dirty="0"/>
          </a:p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		(cf. Section 6.3.2 in </a:t>
            </a:r>
            <a:r>
              <a:rPr lang="en-US" altLang="zh-CN" i="1" dirty="0">
                <a:ea typeface="宋体" panose="02010600030101010101" pitchFamily="2" charset="-122"/>
              </a:rPr>
              <a:t>Understanding Cryptography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3" name="Foliennummernplatzhalter 3">
            <a:extLst>
              <a:ext uri="{FF2B5EF4-FFF2-40B4-BE49-F238E27FC236}">
                <a16:creationId xmlns:a16="http://schemas.microsoft.com/office/drawing/2014/main" id="{35A4B05A-F053-1E64-6EE0-759CF5128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2D6292-A801-1148-92C6-55F72EC35A2C}" type="slidenum">
              <a:rPr lang="de-DE" altLang="zh-CN">
                <a:solidFill>
                  <a:srgbClr val="394073"/>
                </a:solidFill>
              </a:rPr>
              <a:pPr/>
              <a:t>22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7654" name="Fußzeilenplatzhalter 4">
            <a:extLst>
              <a:ext uri="{FF2B5EF4-FFF2-40B4-BE49-F238E27FC236}">
                <a16:creationId xmlns:a16="http://schemas.microsoft.com/office/drawing/2014/main" id="{E9F5A72A-1E0F-326A-5A3F-389598EC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pic>
        <p:nvPicPr>
          <p:cNvPr id="939015" name="Picture 7">
            <a:extLst>
              <a:ext uri="{FF2B5EF4-FFF2-40B4-BE49-F238E27FC236}">
                <a16:creationId xmlns:a16="http://schemas.microsoft.com/office/drawing/2014/main" id="{2DEA91E5-A667-542A-4C08-2E785406E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869" y="2009411"/>
            <a:ext cx="2500312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AD0F6-BD7F-AE4C-B573-649118BC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el 1">
            <a:extLst>
              <a:ext uri="{FF2B5EF4-FFF2-40B4-BE49-F238E27FC236}">
                <a16:creationId xmlns:a16="http://schemas.microsoft.com/office/drawing/2014/main" id="{3341EA12-DF18-3CF4-B772-3560C54A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Extended </a:t>
            </a:r>
            <a:r>
              <a:rPr lang="de-DE" altLang="zh-CN" dirty="0" err="1"/>
              <a:t>Euclidean</a:t>
            </a:r>
            <a:r>
              <a:rPr lang="de-DE" altLang="zh-CN" dirty="0"/>
              <a:t> </a:t>
            </a:r>
            <a:r>
              <a:rPr lang="de-DE" altLang="zh-CN" dirty="0" err="1"/>
              <a:t>Algorithm</a:t>
            </a:r>
            <a:r>
              <a:rPr lang="de-DE" altLang="zh-CN" dirty="0"/>
              <a:t> 2/4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CFBB71-D164-498F-5D8E-5D7806ECF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857250"/>
            <a:ext cx="7929563" cy="1016176"/>
          </a:xfrm>
        </p:spPr>
        <p:txBody>
          <a:bodyPr/>
          <a:lstStyle/>
          <a:p>
            <a:r>
              <a:rPr lang="de-DE" altLang="zh-CN" dirty="0" err="1"/>
              <a:t>For</a:t>
            </a:r>
            <a:r>
              <a:rPr lang="de-DE" altLang="zh-CN" i="1" dirty="0"/>
              <a:t> r</a:t>
            </a:r>
            <a:r>
              <a:rPr lang="de-DE" altLang="zh-CN" i="1" baseline="-25000" dirty="0"/>
              <a:t>0 </a:t>
            </a:r>
            <a:r>
              <a:rPr lang="de-DE" altLang="zh-CN" i="1" dirty="0"/>
              <a:t>= </a:t>
            </a:r>
            <a:r>
              <a:rPr lang="de-DE" altLang="zh-CN" dirty="0"/>
              <a:t>973</a:t>
            </a:r>
            <a:r>
              <a:rPr lang="de-DE" altLang="zh-CN" i="1" dirty="0"/>
              <a:t> </a:t>
            </a:r>
            <a:r>
              <a:rPr lang="de-DE" altLang="zh-CN" dirty="0"/>
              <a:t>and</a:t>
            </a:r>
            <a:r>
              <a:rPr lang="de-DE" altLang="zh-CN" i="1" dirty="0"/>
              <a:t>  r</a:t>
            </a:r>
            <a:r>
              <a:rPr lang="de-DE" altLang="zh-CN" i="1" baseline="-25000" dirty="0"/>
              <a:t>1 </a:t>
            </a:r>
            <a:r>
              <a:rPr lang="de-DE" altLang="zh-CN" dirty="0"/>
              <a:t>= 301</a:t>
            </a:r>
          </a:p>
          <a:p>
            <a:r>
              <a:rPr lang="de-DE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 left, we compute </a:t>
            </a:r>
            <a:r>
              <a:rPr lang="en" altLang="zh-CN" dirty="0"/>
              <a:t>the standard Euclidean algorithm.</a:t>
            </a:r>
          </a:p>
          <a:p>
            <a:r>
              <a:rPr lang="en" altLang="zh-CN" dirty="0"/>
              <a:t>On the right-hand side we compute the coefficients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3" name="Foliennummernplatzhalter 3">
            <a:extLst>
              <a:ext uri="{FF2B5EF4-FFF2-40B4-BE49-F238E27FC236}">
                <a16:creationId xmlns:a16="http://schemas.microsoft.com/office/drawing/2014/main" id="{8A130D27-8C76-F586-DBBF-0C525F7B3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2D6292-A801-1148-92C6-55F72EC35A2C}" type="slidenum">
              <a:rPr lang="de-DE" altLang="zh-CN">
                <a:solidFill>
                  <a:srgbClr val="394073"/>
                </a:solidFill>
              </a:rPr>
              <a:pPr/>
              <a:t>23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7654" name="Fußzeilenplatzhalter 4">
            <a:extLst>
              <a:ext uri="{FF2B5EF4-FFF2-40B4-BE49-F238E27FC236}">
                <a16:creationId xmlns:a16="http://schemas.microsoft.com/office/drawing/2014/main" id="{61B5E0A0-6A12-4082-900E-0A72DD95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03DFA2-7582-FB7B-6FF3-8AC263B76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060848"/>
            <a:ext cx="6520780" cy="304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27624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7265C-723B-9E0F-71A7-F6D11F3D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el 1">
            <a:extLst>
              <a:ext uri="{FF2B5EF4-FFF2-40B4-BE49-F238E27FC236}">
                <a16:creationId xmlns:a16="http://schemas.microsoft.com/office/drawing/2014/main" id="{67FD41F5-27C9-0A3E-753B-BFB307D0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Extended </a:t>
            </a:r>
            <a:r>
              <a:rPr lang="de-DE" altLang="zh-CN" dirty="0" err="1"/>
              <a:t>Euclidean</a:t>
            </a:r>
            <a:r>
              <a:rPr lang="de-DE" altLang="zh-CN" dirty="0"/>
              <a:t> </a:t>
            </a:r>
            <a:r>
              <a:rPr lang="de-DE" altLang="zh-CN" dirty="0" err="1"/>
              <a:t>Algorithm</a:t>
            </a:r>
            <a:r>
              <a:rPr lang="de-DE" altLang="zh-CN" dirty="0"/>
              <a:t> 3/4</a:t>
            </a:r>
          </a:p>
        </p:txBody>
      </p:sp>
      <p:sp>
        <p:nvSpPr>
          <p:cNvPr id="27653" name="Foliennummernplatzhalter 3">
            <a:extLst>
              <a:ext uri="{FF2B5EF4-FFF2-40B4-BE49-F238E27FC236}">
                <a16:creationId xmlns:a16="http://schemas.microsoft.com/office/drawing/2014/main" id="{43C08C5D-5D0A-500B-DF7F-E76A71476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2D6292-A801-1148-92C6-55F72EC35A2C}" type="slidenum">
              <a:rPr lang="de-DE" altLang="zh-CN">
                <a:solidFill>
                  <a:srgbClr val="394073"/>
                </a:solidFill>
              </a:rPr>
              <a:pPr/>
              <a:t>24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AD8E08-8DD7-A98B-306D-87532A241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692695"/>
            <a:ext cx="7128792" cy="57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28080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018" name="Picture 10">
            <a:extLst>
              <a:ext uri="{FF2B5EF4-FFF2-40B4-BE49-F238E27FC236}">
                <a16:creationId xmlns:a16="http://schemas.microsoft.com/office/drawing/2014/main" id="{F3DB51E0-C874-8D44-C45C-36B13115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1854994"/>
            <a:ext cx="20002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Titel 1">
            <a:extLst>
              <a:ext uri="{FF2B5EF4-FFF2-40B4-BE49-F238E27FC236}">
                <a16:creationId xmlns:a16="http://schemas.microsoft.com/office/drawing/2014/main" id="{54ECCB21-18BE-D9C9-1906-E7316B4C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Extended </a:t>
            </a:r>
            <a:r>
              <a:rPr lang="de-DE" altLang="zh-CN" dirty="0" err="1"/>
              <a:t>Euclidean</a:t>
            </a:r>
            <a:r>
              <a:rPr lang="de-DE" altLang="zh-CN" dirty="0"/>
              <a:t> </a:t>
            </a:r>
            <a:r>
              <a:rPr lang="de-DE" altLang="zh-CN" dirty="0" err="1"/>
              <a:t>Algorithm</a:t>
            </a:r>
            <a:r>
              <a:rPr lang="de-DE" altLang="zh-CN" dirty="0"/>
              <a:t> 4/4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37E003-3D04-2CDC-B078-3250BE536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3" y="1124744"/>
            <a:ext cx="7929562" cy="4694238"/>
          </a:xfrm>
        </p:spPr>
        <p:txBody>
          <a:bodyPr/>
          <a:lstStyle/>
          <a:p>
            <a:pPr>
              <a:buFontTx/>
              <a:buNone/>
            </a:pPr>
            <a:r>
              <a:rPr lang="de-DE" altLang="zh-CN" b="1" dirty="0" err="1"/>
              <a:t>Example</a:t>
            </a:r>
            <a:r>
              <a:rPr lang="de-DE" altLang="zh-CN" b="1" dirty="0"/>
              <a:t>:</a:t>
            </a:r>
          </a:p>
          <a:p>
            <a:r>
              <a:rPr lang="de-DE" altLang="zh-CN" dirty="0" err="1"/>
              <a:t>Calculate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modular Inverse </a:t>
            </a:r>
            <a:r>
              <a:rPr lang="de-DE" altLang="zh-CN" dirty="0" err="1"/>
              <a:t>of</a:t>
            </a:r>
            <a:r>
              <a:rPr lang="de-DE" altLang="zh-CN" dirty="0"/>
              <a:t> 12 </a:t>
            </a:r>
            <a:r>
              <a:rPr lang="de-DE" altLang="zh-CN" dirty="0" err="1"/>
              <a:t>mod</a:t>
            </a:r>
            <a:r>
              <a:rPr lang="de-DE" altLang="zh-CN" dirty="0"/>
              <a:t> 67:</a:t>
            </a:r>
          </a:p>
          <a:p>
            <a:r>
              <a:rPr lang="de-DE" altLang="zh-CN" dirty="0" err="1"/>
              <a:t>From</a:t>
            </a:r>
            <a:r>
              <a:rPr lang="de-DE" altLang="zh-CN" dirty="0"/>
              <a:t> </a:t>
            </a:r>
            <a:r>
              <a:rPr lang="de-DE" altLang="zh-CN" dirty="0" err="1"/>
              <a:t>magic</a:t>
            </a:r>
            <a:r>
              <a:rPr lang="de-DE" altLang="zh-CN" dirty="0"/>
              <a:t> </a:t>
            </a:r>
            <a:r>
              <a:rPr lang="de-DE" altLang="zh-CN" dirty="0" err="1"/>
              <a:t>table</a:t>
            </a:r>
            <a:r>
              <a:rPr lang="de-DE" altLang="zh-CN" dirty="0"/>
              <a:t> </a:t>
            </a:r>
            <a:r>
              <a:rPr lang="de-DE" altLang="zh-CN" dirty="0" err="1"/>
              <a:t>follows</a:t>
            </a:r>
            <a:r>
              <a:rPr lang="de-DE" altLang="zh-CN" dirty="0"/>
              <a:t>  </a:t>
            </a:r>
          </a:p>
          <a:p>
            <a:r>
              <a:rPr lang="de-DE" altLang="zh-CN" dirty="0" err="1"/>
              <a:t>Hence</a:t>
            </a:r>
            <a:r>
              <a:rPr lang="de-DE" altLang="zh-CN" dirty="0"/>
              <a:t> </a:t>
            </a:r>
            <a:r>
              <a:rPr lang="de-DE" altLang="zh-CN" b="1" dirty="0"/>
              <a:t>28 </a:t>
            </a:r>
            <a:r>
              <a:rPr lang="de-DE" altLang="zh-CN" b="1" dirty="0" err="1"/>
              <a:t>is</a:t>
            </a:r>
            <a:r>
              <a:rPr lang="de-DE" altLang="zh-CN" b="1" dirty="0"/>
              <a:t> </a:t>
            </a:r>
            <a:r>
              <a:rPr lang="de-DE" altLang="zh-CN" b="1" dirty="0" err="1"/>
              <a:t>the</a:t>
            </a:r>
            <a:r>
              <a:rPr lang="de-DE" altLang="zh-CN" b="1" dirty="0"/>
              <a:t> inverse </a:t>
            </a:r>
            <a:r>
              <a:rPr lang="de-DE" altLang="zh-CN" dirty="0" err="1"/>
              <a:t>of</a:t>
            </a:r>
            <a:r>
              <a:rPr lang="de-DE" altLang="zh-CN" dirty="0"/>
              <a:t> 12 </a:t>
            </a:r>
            <a:r>
              <a:rPr lang="de-DE" altLang="zh-CN" dirty="0" err="1"/>
              <a:t>mod</a:t>
            </a:r>
            <a:r>
              <a:rPr lang="de-DE" altLang="zh-CN" dirty="0"/>
              <a:t> 67.</a:t>
            </a:r>
          </a:p>
          <a:p>
            <a:endParaRPr lang="de-DE" altLang="zh-CN" dirty="0"/>
          </a:p>
          <a:p>
            <a:r>
              <a:rPr lang="de-DE" altLang="zh-CN" dirty="0"/>
              <a:t>Check: </a:t>
            </a:r>
          </a:p>
          <a:p>
            <a:pPr>
              <a:buFontTx/>
              <a:buNone/>
            </a:pPr>
            <a:endParaRPr lang="de-DE" altLang="zh-CN" dirty="0"/>
          </a:p>
          <a:p>
            <a:endParaRPr lang="de-DE" altLang="zh-CN" dirty="0"/>
          </a:p>
          <a:p>
            <a:endParaRPr lang="de-DE" altLang="zh-CN" dirty="0"/>
          </a:p>
          <a:p>
            <a:pPr>
              <a:buFontTx/>
              <a:buNone/>
            </a:pPr>
            <a:r>
              <a:rPr lang="de-DE" altLang="zh-CN" sz="1400" dirty="0" err="1"/>
              <a:t>For</a:t>
            </a:r>
            <a:r>
              <a:rPr lang="de-DE" altLang="zh-CN" sz="1400" dirty="0"/>
              <a:t> </a:t>
            </a:r>
            <a:r>
              <a:rPr lang="de-DE" altLang="zh-CN" sz="1400" dirty="0" err="1"/>
              <a:t>the</a:t>
            </a:r>
            <a:r>
              <a:rPr lang="de-DE" altLang="zh-CN" sz="1400" dirty="0"/>
              <a:t> </a:t>
            </a:r>
            <a:r>
              <a:rPr lang="de-DE" altLang="zh-CN" sz="1400" dirty="0" err="1"/>
              <a:t>full</a:t>
            </a:r>
            <a:r>
              <a:rPr lang="de-DE" altLang="zh-CN" sz="1400" dirty="0"/>
              <a:t> Extended </a:t>
            </a:r>
            <a:r>
              <a:rPr lang="de-DE" altLang="zh-CN" sz="1400" dirty="0" err="1"/>
              <a:t>Euclidean</a:t>
            </a:r>
            <a:r>
              <a:rPr lang="de-DE" altLang="zh-CN" sz="1400" dirty="0"/>
              <a:t> </a:t>
            </a:r>
            <a:r>
              <a:rPr lang="de-DE" altLang="zh-CN" sz="1400" dirty="0" err="1"/>
              <a:t>Algorithm</a:t>
            </a:r>
            <a:r>
              <a:rPr lang="de-DE" altLang="zh-CN" sz="1400" dirty="0"/>
              <a:t> </a:t>
            </a:r>
            <a:r>
              <a:rPr lang="de-DE" altLang="zh-CN" sz="1400" dirty="0" err="1"/>
              <a:t>see</a:t>
            </a:r>
            <a:r>
              <a:rPr lang="de-DE" altLang="zh-CN" sz="1400" dirty="0"/>
              <a:t> Chapter 6 in </a:t>
            </a:r>
            <a:r>
              <a:rPr lang="de-DE" altLang="zh-CN" sz="1400" i="1" dirty="0"/>
              <a:t>Understanding </a:t>
            </a:r>
            <a:r>
              <a:rPr lang="de-DE" altLang="zh-CN" sz="1400" i="1" dirty="0" err="1"/>
              <a:t>Cryptography</a:t>
            </a:r>
            <a:r>
              <a:rPr lang="de-DE" altLang="zh-CN" sz="1400" i="1" dirty="0"/>
              <a:t>.</a:t>
            </a:r>
            <a:endParaRPr lang="en-US" altLang="zh-CN" sz="1400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54" name="Foliennummernplatzhalter 3">
            <a:extLst>
              <a:ext uri="{FF2B5EF4-FFF2-40B4-BE49-F238E27FC236}">
                <a16:creationId xmlns:a16="http://schemas.microsoft.com/office/drawing/2014/main" id="{4A2E9F9B-9640-B723-B5B7-51BB973D5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19075" y="6427787"/>
            <a:ext cx="504825" cy="215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81E339-00E0-F94D-87B0-91C83DAA3F64}" type="slidenum">
              <a:rPr lang="de-DE" altLang="zh-CN">
                <a:solidFill>
                  <a:srgbClr val="394073"/>
                </a:solidFill>
              </a:rPr>
              <a:pPr/>
              <a:t>25</a:t>
            </a:fld>
            <a:r>
              <a:rPr lang="de-DE" altLang="zh-CN" dirty="0">
                <a:solidFill>
                  <a:srgbClr val="394073"/>
                </a:solidFill>
              </a:rPr>
              <a:t>/29</a:t>
            </a:r>
          </a:p>
        </p:txBody>
      </p:sp>
      <p:pic>
        <p:nvPicPr>
          <p:cNvPr id="939016" name="Picture 8">
            <a:extLst>
              <a:ext uri="{FF2B5EF4-FFF2-40B4-BE49-F238E27FC236}">
                <a16:creationId xmlns:a16="http://schemas.microsoft.com/office/drawing/2014/main" id="{2BA200D6-4691-8470-CB5D-FCF58F10E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1150144"/>
            <a:ext cx="200025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805B2FCF-DDC1-727C-78FA-C4FF5EA204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484368"/>
              </p:ext>
            </p:extLst>
          </p:nvPr>
        </p:nvGraphicFramePr>
        <p:xfrm>
          <a:off x="1714500" y="2926557"/>
          <a:ext cx="2500313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5" imgW="33350200" imgH="4102100" progId="Equation.3">
                  <p:embed/>
                </p:oleObj>
              </mc:Choice>
              <mc:Fallback>
                <p:oleObj name="Formel" r:id="rId5" imgW="33350200" imgH="4102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2926557"/>
                        <a:ext cx="2500313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5FC3A42E-C9E4-B8FD-0E60-32EDD79BF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783682"/>
            <a:ext cx="6429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 sz="3600" b="1">
                <a:solidFill>
                  <a:srgbClr val="009900"/>
                </a:solidFill>
                <a:sym typeface="Wingdings" pitchFamily="2" charset="2"/>
              </a:rPr>
              <a:t></a:t>
            </a:r>
            <a:endParaRPr lang="de-DE" altLang="zh-CN" sz="36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el 1">
            <a:extLst>
              <a:ext uri="{FF2B5EF4-FFF2-40B4-BE49-F238E27FC236}">
                <a16:creationId xmlns:a16="http://schemas.microsoft.com/office/drawing/2014/main" id="{71954C8A-C1F4-18AD-6713-E64B0970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Euler‘s Phi Function 1/2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8651BF-54B7-B281-9F68-FAAB954C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000125"/>
            <a:ext cx="7580312" cy="5432425"/>
          </a:xfrm>
        </p:spPr>
        <p:txBody>
          <a:bodyPr/>
          <a:lstStyle/>
          <a:p>
            <a:r>
              <a:rPr lang="de-DE" altLang="zh-CN" i="1"/>
              <a:t>New problem, important for public-key systems, e.g., RSA:</a:t>
            </a:r>
            <a:br>
              <a:rPr lang="de-DE" altLang="zh-CN" i="1"/>
            </a:br>
            <a:r>
              <a:rPr lang="de-DE" altLang="zh-CN"/>
              <a:t>Given the set of the </a:t>
            </a:r>
            <a:r>
              <a:rPr lang="de-DE" altLang="zh-CN" i="1"/>
              <a:t>m</a:t>
            </a:r>
            <a:r>
              <a:rPr lang="de-DE" altLang="zh-CN"/>
              <a:t> integers {0, 1, 2, …, </a:t>
            </a:r>
            <a:r>
              <a:rPr lang="de-DE" altLang="zh-CN" i="1"/>
              <a:t>m </a:t>
            </a:r>
            <a:r>
              <a:rPr lang="de-DE" altLang="zh-CN"/>
              <a:t>-1}, </a:t>
            </a:r>
            <a:br>
              <a:rPr lang="de-DE" altLang="zh-CN"/>
            </a:br>
            <a:r>
              <a:rPr lang="de-DE" altLang="zh-CN" b="1"/>
              <a:t>How many </a:t>
            </a:r>
            <a:r>
              <a:rPr lang="de-DE" altLang="zh-CN"/>
              <a:t>numbers in the set are </a:t>
            </a:r>
            <a:r>
              <a:rPr lang="de-DE" altLang="zh-CN" b="1"/>
              <a:t>relatively prime to </a:t>
            </a:r>
            <a:r>
              <a:rPr lang="de-DE" altLang="zh-CN" b="1" i="1"/>
              <a:t>m</a:t>
            </a:r>
            <a:r>
              <a:rPr lang="de-DE" altLang="zh-CN" b="1"/>
              <a:t> </a:t>
            </a:r>
            <a:r>
              <a:rPr lang="de-DE" altLang="zh-CN"/>
              <a:t>?</a:t>
            </a:r>
          </a:p>
          <a:p>
            <a:endParaRPr lang="de-DE" altLang="zh-CN" sz="1100"/>
          </a:p>
          <a:p>
            <a:r>
              <a:rPr lang="de-DE" altLang="zh-CN"/>
              <a:t>Answer: </a:t>
            </a:r>
            <a:r>
              <a:rPr lang="de-DE" altLang="zh-CN" b="1"/>
              <a:t>Euler‘s Phi function </a:t>
            </a:r>
            <a:r>
              <a:rPr lang="el-GR" altLang="zh-CN" b="1" i="1"/>
              <a:t>Φ</a:t>
            </a:r>
            <a:r>
              <a:rPr lang="de-DE" altLang="zh-CN" b="1" i="1"/>
              <a:t>(m)</a:t>
            </a:r>
          </a:p>
          <a:p>
            <a:endParaRPr lang="de-DE" altLang="zh-CN" sz="1100" b="1"/>
          </a:p>
          <a:p>
            <a:r>
              <a:rPr lang="de-DE" altLang="zh-CN" b="1"/>
              <a:t>Example</a:t>
            </a:r>
            <a:r>
              <a:rPr lang="de-DE" altLang="zh-CN"/>
              <a:t> for the sets {0,1,2,3,4,5} (</a:t>
            </a:r>
            <a:r>
              <a:rPr lang="de-DE" altLang="zh-CN" i="1"/>
              <a:t>m</a:t>
            </a:r>
            <a:r>
              <a:rPr lang="de-DE" altLang="zh-CN"/>
              <a:t>=6),          and {0,1,2,3,4} (</a:t>
            </a:r>
            <a:r>
              <a:rPr lang="de-DE" altLang="zh-CN" i="1"/>
              <a:t>m</a:t>
            </a:r>
            <a:r>
              <a:rPr lang="de-DE" altLang="zh-CN"/>
              <a:t>=5)</a:t>
            </a:r>
          </a:p>
          <a:p>
            <a:endParaRPr lang="de-DE" altLang="zh-CN"/>
          </a:p>
          <a:p>
            <a:endParaRPr lang="de-DE" altLang="zh-CN"/>
          </a:p>
          <a:p>
            <a:endParaRPr lang="de-DE" altLang="zh-CN"/>
          </a:p>
          <a:p>
            <a:endParaRPr lang="de-DE" altLang="zh-CN"/>
          </a:p>
          <a:p>
            <a:pPr>
              <a:buFontTx/>
              <a:buNone/>
            </a:pPr>
            <a:endParaRPr lang="de-DE" altLang="zh-CN"/>
          </a:p>
          <a:p>
            <a:pPr>
              <a:buFontTx/>
              <a:buNone/>
            </a:pPr>
            <a:r>
              <a:rPr lang="de-DE" altLang="zh-CN">
                <a:sym typeface="Wingdings" pitchFamily="2" charset="2"/>
              </a:rPr>
              <a:t> 	 1 and 5 relatively prime to </a:t>
            </a:r>
            <a:r>
              <a:rPr lang="de-DE" altLang="zh-CN" i="1">
                <a:sym typeface="Wingdings" pitchFamily="2" charset="2"/>
              </a:rPr>
              <a:t>m</a:t>
            </a:r>
            <a:r>
              <a:rPr lang="de-DE" altLang="zh-CN">
                <a:sym typeface="Wingdings" pitchFamily="2" charset="2"/>
              </a:rPr>
              <a:t>=6, 		       </a:t>
            </a:r>
            <a:r>
              <a:rPr lang="el-GR" altLang="zh-CN" b="1" i="1"/>
              <a:t>Φ</a:t>
            </a:r>
            <a:r>
              <a:rPr lang="de-DE" altLang="zh-CN" b="1"/>
              <a:t>(5) = 4 </a:t>
            </a:r>
            <a:br>
              <a:rPr lang="de-DE" altLang="zh-CN">
                <a:sym typeface="Wingdings" pitchFamily="2" charset="2"/>
              </a:rPr>
            </a:br>
            <a:r>
              <a:rPr lang="de-DE" altLang="zh-CN">
                <a:sym typeface="Wingdings" pitchFamily="2" charset="2"/>
              </a:rPr>
              <a:t>	hence </a:t>
            </a:r>
            <a:r>
              <a:rPr lang="el-GR" altLang="zh-CN" b="1" i="1"/>
              <a:t>Φ</a:t>
            </a:r>
            <a:r>
              <a:rPr lang="de-DE" altLang="zh-CN" b="1"/>
              <a:t>(6) = 2</a:t>
            </a:r>
            <a:endParaRPr lang="de-DE" altLang="zh-CN"/>
          </a:p>
          <a:p>
            <a:endParaRPr lang="de-DE" altLang="zh-CN" sz="1100" b="1"/>
          </a:p>
          <a:p>
            <a:r>
              <a:rPr lang="de-DE" altLang="zh-CN"/>
              <a:t>Testing one gcd per number in the set is</a:t>
            </a:r>
            <a:r>
              <a:rPr lang="de-DE" altLang="zh-CN" b="1"/>
              <a:t> extremely slow for large </a:t>
            </a:r>
            <a:r>
              <a:rPr lang="de-DE" altLang="zh-CN" b="1" i="1"/>
              <a:t>m</a:t>
            </a:r>
            <a:r>
              <a:rPr lang="de-DE" altLang="zh-CN" b="1"/>
              <a:t>.</a:t>
            </a:r>
          </a:p>
        </p:txBody>
      </p:sp>
      <p:sp>
        <p:nvSpPr>
          <p:cNvPr id="28676" name="Foliennummernplatzhalter 3">
            <a:extLst>
              <a:ext uri="{FF2B5EF4-FFF2-40B4-BE49-F238E27FC236}">
                <a16:creationId xmlns:a16="http://schemas.microsoft.com/office/drawing/2014/main" id="{F749B969-BAD6-77C5-F6DE-67B866062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D9D39A-F50D-BC4C-B84B-FAA526769926}" type="slidenum">
              <a:rPr lang="de-DE" altLang="zh-CN">
                <a:solidFill>
                  <a:srgbClr val="394073"/>
                </a:solidFill>
              </a:rPr>
              <a:pPr/>
              <a:t>26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8677" name="Fußzeilenplatzhalter 4">
            <a:extLst>
              <a:ext uri="{FF2B5EF4-FFF2-40B4-BE49-F238E27FC236}">
                <a16:creationId xmlns:a16="http://schemas.microsoft.com/office/drawing/2014/main" id="{76386128-9220-C9BB-E278-3C6C537A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pic>
        <p:nvPicPr>
          <p:cNvPr id="940034" name="Picture 2">
            <a:extLst>
              <a:ext uri="{FF2B5EF4-FFF2-40B4-BE49-F238E27FC236}">
                <a16:creationId xmlns:a16="http://schemas.microsoft.com/office/drawing/2014/main" id="{CEA880AE-B585-D764-836B-67CEF8780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3214688"/>
            <a:ext cx="13874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feil nach links 6">
            <a:extLst>
              <a:ext uri="{FF2B5EF4-FFF2-40B4-BE49-F238E27FC236}">
                <a16:creationId xmlns:a16="http://schemas.microsoft.com/office/drawing/2014/main" id="{7124DD74-ED99-F204-FB58-AF341A78D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3571875"/>
            <a:ext cx="357187" cy="14287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3940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8" name="Pfeil nach links 7">
            <a:extLst>
              <a:ext uri="{FF2B5EF4-FFF2-40B4-BE49-F238E27FC236}">
                <a16:creationId xmlns:a16="http://schemas.microsoft.com/office/drawing/2014/main" id="{DEF44178-799A-5251-7158-FD67C5D47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4714875"/>
            <a:ext cx="357187" cy="14287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3940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pic>
        <p:nvPicPr>
          <p:cNvPr id="940037" name="Picture 5">
            <a:extLst>
              <a:ext uri="{FF2B5EF4-FFF2-40B4-BE49-F238E27FC236}">
                <a16:creationId xmlns:a16="http://schemas.microsoft.com/office/drawing/2014/main" id="{54FF2EC4-907D-E5EA-3749-D2D591365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25" y="3357563"/>
            <a:ext cx="14160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feil nach links 11">
            <a:extLst>
              <a:ext uri="{FF2B5EF4-FFF2-40B4-BE49-F238E27FC236}">
                <a16:creationId xmlns:a16="http://schemas.microsoft.com/office/drawing/2014/main" id="{4F1B2FBB-F865-EB7E-80B2-27A4533A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3714750"/>
            <a:ext cx="357188" cy="14287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3940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13" name="Pfeil nach links 12">
            <a:extLst>
              <a:ext uri="{FF2B5EF4-FFF2-40B4-BE49-F238E27FC236}">
                <a16:creationId xmlns:a16="http://schemas.microsoft.com/office/drawing/2014/main" id="{8A30DC14-2B35-BD80-42DC-D05813776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4000500"/>
            <a:ext cx="357188" cy="14287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3940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14" name="Pfeil nach links 13">
            <a:extLst>
              <a:ext uri="{FF2B5EF4-FFF2-40B4-BE49-F238E27FC236}">
                <a16:creationId xmlns:a16="http://schemas.microsoft.com/office/drawing/2014/main" id="{20005CAB-0D38-D805-A450-288BED0C9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4286250"/>
            <a:ext cx="357188" cy="14287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3940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15" name="Pfeil nach links 14">
            <a:extLst>
              <a:ext uri="{FF2B5EF4-FFF2-40B4-BE49-F238E27FC236}">
                <a16:creationId xmlns:a16="http://schemas.microsoft.com/office/drawing/2014/main" id="{B11A8E99-1634-993B-F08E-7A7D79C02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4572000"/>
            <a:ext cx="357188" cy="14287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3940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6">
            <a:extLst>
              <a:ext uri="{FF2B5EF4-FFF2-40B4-BE49-F238E27FC236}">
                <a16:creationId xmlns:a16="http://schemas.microsoft.com/office/drawing/2014/main" id="{FEE3239D-8B6F-0D98-4242-231D8D9F9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525" y="1071563"/>
            <a:ext cx="223678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Inhaltsplatzhalter 2">
            <a:extLst>
              <a:ext uri="{FF2B5EF4-FFF2-40B4-BE49-F238E27FC236}">
                <a16:creationId xmlns:a16="http://schemas.microsoft.com/office/drawing/2014/main" id="{D177288B-4ACB-7046-03C4-238AB0B81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30300"/>
            <a:ext cx="8358188" cy="4186238"/>
          </a:xfrm>
        </p:spPr>
        <p:txBody>
          <a:bodyPr/>
          <a:lstStyle/>
          <a:p>
            <a:r>
              <a:rPr lang="de-DE" altLang="zh-CN" b="1"/>
              <a:t>If</a:t>
            </a:r>
            <a:r>
              <a:rPr lang="de-DE" altLang="zh-CN"/>
              <a:t> canonical factorization of </a:t>
            </a:r>
            <a:r>
              <a:rPr lang="de-DE" altLang="zh-CN" i="1"/>
              <a:t>m</a:t>
            </a:r>
            <a:r>
              <a:rPr lang="de-DE" altLang="zh-CN"/>
              <a:t> known</a:t>
            </a:r>
            <a:r>
              <a:rPr lang="de-DE" altLang="zh-CN" b="1"/>
              <a:t>:</a:t>
            </a:r>
            <a:br>
              <a:rPr lang="de-DE" altLang="zh-CN"/>
            </a:br>
            <a:r>
              <a:rPr lang="de-DE" altLang="zh-CN"/>
              <a:t>(where </a:t>
            </a:r>
            <a:r>
              <a:rPr lang="de-DE" altLang="zh-CN" i="1"/>
              <a:t>p</a:t>
            </a:r>
            <a:r>
              <a:rPr lang="de-DE" altLang="zh-CN" i="1" baseline="-25000"/>
              <a:t>i</a:t>
            </a:r>
            <a:r>
              <a:rPr lang="de-DE" altLang="zh-CN"/>
              <a:t> primes and </a:t>
            </a:r>
            <a:r>
              <a:rPr lang="de-DE" altLang="zh-CN" i="1"/>
              <a:t>e</a:t>
            </a:r>
            <a:r>
              <a:rPr lang="de-DE" altLang="zh-CN" i="1" baseline="-25000"/>
              <a:t>i</a:t>
            </a:r>
            <a:r>
              <a:rPr lang="de-DE" altLang="zh-CN"/>
              <a:t> positive integers)</a:t>
            </a:r>
          </a:p>
          <a:p>
            <a:r>
              <a:rPr lang="de-DE" altLang="zh-CN" b="1"/>
              <a:t>then</a:t>
            </a:r>
            <a:r>
              <a:rPr lang="de-DE" altLang="zh-CN"/>
              <a:t> calculate Phi according to the relation</a:t>
            </a:r>
          </a:p>
          <a:p>
            <a:endParaRPr lang="de-DE" altLang="zh-CN"/>
          </a:p>
          <a:p>
            <a:endParaRPr lang="de-DE" altLang="zh-CN"/>
          </a:p>
          <a:p>
            <a:r>
              <a:rPr lang="de-DE" altLang="zh-CN"/>
              <a:t>Phi especially easy for </a:t>
            </a:r>
            <a:r>
              <a:rPr lang="de-DE" altLang="zh-CN" i="1"/>
              <a:t>e</a:t>
            </a:r>
            <a:r>
              <a:rPr lang="de-DE" altLang="zh-CN" i="1" baseline="-25000"/>
              <a:t>i</a:t>
            </a:r>
            <a:r>
              <a:rPr lang="de-DE" altLang="zh-CN"/>
              <a:t> = 1, e.g., </a:t>
            </a:r>
            <a:r>
              <a:rPr lang="de-DE" altLang="zh-CN" i="1"/>
              <a:t>m</a:t>
            </a:r>
            <a:r>
              <a:rPr lang="de-DE" altLang="zh-CN"/>
              <a:t> = </a:t>
            </a:r>
            <a:r>
              <a:rPr lang="de-DE" altLang="zh-CN" i="1"/>
              <a:t>p</a:t>
            </a:r>
            <a:r>
              <a:rPr lang="de-DE" altLang="zh-CN"/>
              <a:t> </a:t>
            </a:r>
            <a:r>
              <a:rPr lang="de-DE" altLang="zh-CN" baseline="30000"/>
              <a:t>.</a:t>
            </a:r>
            <a:r>
              <a:rPr lang="de-DE" altLang="zh-CN"/>
              <a:t> </a:t>
            </a:r>
            <a:r>
              <a:rPr lang="de-DE" altLang="zh-CN" i="1"/>
              <a:t>q</a:t>
            </a:r>
            <a:r>
              <a:rPr lang="de-DE" altLang="zh-CN"/>
              <a:t>  </a:t>
            </a:r>
            <a:r>
              <a:rPr lang="de-DE" altLang="zh-CN">
                <a:sym typeface="Wingdings" pitchFamily="2" charset="2"/>
              </a:rPr>
              <a:t> </a:t>
            </a:r>
            <a:r>
              <a:rPr lang="el-GR" altLang="zh-CN" i="1"/>
              <a:t>Φ</a:t>
            </a:r>
            <a:r>
              <a:rPr lang="de-DE" altLang="zh-CN" i="1"/>
              <a:t>(m)</a:t>
            </a:r>
            <a:r>
              <a:rPr lang="de-DE" altLang="zh-CN" i="1">
                <a:sym typeface="Wingdings" pitchFamily="2" charset="2"/>
              </a:rPr>
              <a:t> </a:t>
            </a:r>
            <a:r>
              <a:rPr lang="de-DE" altLang="zh-CN">
                <a:sym typeface="Wingdings" pitchFamily="2" charset="2"/>
              </a:rPr>
              <a:t>= (</a:t>
            </a:r>
            <a:r>
              <a:rPr lang="de-DE" altLang="zh-CN" i="1">
                <a:sym typeface="Wingdings" pitchFamily="2" charset="2"/>
              </a:rPr>
              <a:t>p</a:t>
            </a:r>
            <a:r>
              <a:rPr lang="de-DE" altLang="zh-CN">
                <a:sym typeface="Wingdings" pitchFamily="2" charset="2"/>
              </a:rPr>
              <a:t>-1) </a:t>
            </a:r>
            <a:r>
              <a:rPr lang="de-DE" altLang="zh-CN" baseline="30000"/>
              <a:t>.</a:t>
            </a:r>
            <a:r>
              <a:rPr lang="de-DE" altLang="zh-CN"/>
              <a:t> (</a:t>
            </a:r>
            <a:r>
              <a:rPr lang="de-DE" altLang="zh-CN" i="1"/>
              <a:t>q</a:t>
            </a:r>
            <a:r>
              <a:rPr lang="de-DE" altLang="zh-CN"/>
              <a:t>-1)</a:t>
            </a:r>
          </a:p>
          <a:p>
            <a:pPr>
              <a:buFontTx/>
              <a:buNone/>
            </a:pPr>
            <a:endParaRPr lang="de-DE" altLang="zh-CN"/>
          </a:p>
          <a:p>
            <a:r>
              <a:rPr lang="de-DE" altLang="zh-CN" b="1"/>
              <a:t>Example</a:t>
            </a:r>
            <a:r>
              <a:rPr lang="de-DE" altLang="zh-CN"/>
              <a:t> </a:t>
            </a:r>
            <a:r>
              <a:rPr lang="de-DE" altLang="zh-CN" i="1"/>
              <a:t>m</a:t>
            </a:r>
            <a:r>
              <a:rPr lang="de-DE" altLang="zh-CN"/>
              <a:t> = 899 = 29 </a:t>
            </a:r>
            <a:r>
              <a:rPr lang="de-DE" altLang="zh-CN" baseline="30000"/>
              <a:t>.</a:t>
            </a:r>
            <a:r>
              <a:rPr lang="de-DE" altLang="zh-CN"/>
              <a:t> 31: </a:t>
            </a:r>
            <a:r>
              <a:rPr lang="de-DE" altLang="zh-CN">
                <a:sym typeface="Wingdings" pitchFamily="2" charset="2"/>
              </a:rPr>
              <a:t> </a:t>
            </a:r>
            <a:br>
              <a:rPr lang="de-DE" altLang="zh-CN">
                <a:sym typeface="Wingdings" pitchFamily="2" charset="2"/>
              </a:rPr>
            </a:br>
            <a:r>
              <a:rPr lang="el-GR" altLang="zh-CN" b="1" i="1"/>
              <a:t>Φ</a:t>
            </a:r>
            <a:r>
              <a:rPr lang="de-DE" altLang="zh-CN" b="1"/>
              <a:t>(899)</a:t>
            </a:r>
            <a:r>
              <a:rPr lang="de-DE" altLang="zh-CN">
                <a:sym typeface="Wingdings" pitchFamily="2" charset="2"/>
              </a:rPr>
              <a:t> = (29-1) </a:t>
            </a:r>
            <a:r>
              <a:rPr lang="de-DE" altLang="zh-CN" baseline="30000"/>
              <a:t>.</a:t>
            </a:r>
            <a:r>
              <a:rPr lang="de-DE" altLang="zh-CN"/>
              <a:t> (31-1) = 28 </a:t>
            </a:r>
            <a:r>
              <a:rPr lang="de-DE" altLang="zh-CN" baseline="30000"/>
              <a:t>.</a:t>
            </a:r>
            <a:r>
              <a:rPr lang="de-DE" altLang="zh-CN"/>
              <a:t> 30 </a:t>
            </a:r>
            <a:r>
              <a:rPr lang="de-DE" altLang="zh-CN" b="1"/>
              <a:t>= 840</a:t>
            </a:r>
          </a:p>
          <a:p>
            <a:pPr>
              <a:buFontTx/>
              <a:buNone/>
            </a:pPr>
            <a:endParaRPr lang="de-DE" altLang="zh-CN" b="1"/>
          </a:p>
          <a:p>
            <a:r>
              <a:rPr lang="de-DE" altLang="zh-CN" b="1"/>
              <a:t>Note: </a:t>
            </a:r>
            <a:r>
              <a:rPr lang="de-DE" altLang="zh-CN"/>
              <a:t>Finding</a:t>
            </a:r>
            <a:r>
              <a:rPr lang="de-DE" altLang="zh-CN" b="1"/>
              <a:t> </a:t>
            </a:r>
            <a:r>
              <a:rPr lang="el-GR" altLang="zh-CN" i="1"/>
              <a:t>Φ</a:t>
            </a:r>
            <a:r>
              <a:rPr lang="de-DE" altLang="zh-CN" i="1"/>
              <a:t>(m)</a:t>
            </a:r>
            <a:r>
              <a:rPr lang="de-DE" altLang="zh-CN" i="1">
                <a:sym typeface="Wingdings" pitchFamily="2" charset="2"/>
              </a:rPr>
              <a:t>  </a:t>
            </a:r>
            <a:r>
              <a:rPr lang="de-DE" altLang="zh-CN">
                <a:sym typeface="Wingdings" pitchFamily="2" charset="2"/>
              </a:rPr>
              <a:t>is computationally easy </a:t>
            </a:r>
            <a:r>
              <a:rPr lang="de-DE" altLang="zh-CN" b="1">
                <a:sym typeface="Wingdings" pitchFamily="2" charset="2"/>
              </a:rPr>
              <a:t>if factorization of </a:t>
            </a:r>
            <a:r>
              <a:rPr lang="de-DE" altLang="zh-CN" b="1" i="1">
                <a:sym typeface="Wingdings" pitchFamily="2" charset="2"/>
              </a:rPr>
              <a:t>m</a:t>
            </a:r>
            <a:r>
              <a:rPr lang="de-DE" altLang="zh-CN" b="1">
                <a:sym typeface="Wingdings" pitchFamily="2" charset="2"/>
              </a:rPr>
              <a:t> is known</a:t>
            </a:r>
            <a:br>
              <a:rPr lang="de-DE" altLang="zh-CN" b="1">
                <a:sym typeface="Wingdings" pitchFamily="2" charset="2"/>
              </a:rPr>
            </a:br>
            <a:r>
              <a:rPr lang="de-DE" altLang="zh-CN">
                <a:sym typeface="Wingdings" pitchFamily="2" charset="2"/>
              </a:rPr>
              <a:t>(otherwise the calculation of </a:t>
            </a:r>
            <a:r>
              <a:rPr lang="el-GR" altLang="zh-CN" i="1"/>
              <a:t>Φ</a:t>
            </a:r>
            <a:r>
              <a:rPr lang="de-DE" altLang="zh-CN" i="1"/>
              <a:t>(m)</a:t>
            </a:r>
            <a:r>
              <a:rPr lang="de-DE" altLang="zh-CN" i="1">
                <a:sym typeface="Wingdings" pitchFamily="2" charset="2"/>
              </a:rPr>
              <a:t> </a:t>
            </a:r>
            <a:r>
              <a:rPr lang="de-DE" altLang="zh-CN">
                <a:sym typeface="Wingdings" pitchFamily="2" charset="2"/>
              </a:rPr>
              <a:t>becomes computationally infeasible for large numbers)</a:t>
            </a:r>
          </a:p>
        </p:txBody>
      </p:sp>
      <p:pic>
        <p:nvPicPr>
          <p:cNvPr id="27656" name="Picture 8">
            <a:extLst>
              <a:ext uri="{FF2B5EF4-FFF2-40B4-BE49-F238E27FC236}">
                <a16:creationId xmlns:a16="http://schemas.microsoft.com/office/drawing/2014/main" id="{3D80AB5E-1B63-E028-40D4-11185934B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3" y="1622425"/>
            <a:ext cx="251142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itel 1">
            <a:extLst>
              <a:ext uri="{FF2B5EF4-FFF2-40B4-BE49-F238E27FC236}">
                <a16:creationId xmlns:a16="http://schemas.microsoft.com/office/drawing/2014/main" id="{2AF65E93-C897-FD73-B5CE-BFC39DA5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Euler‘s Phi Function 2/2</a:t>
            </a:r>
          </a:p>
        </p:txBody>
      </p:sp>
      <p:sp>
        <p:nvSpPr>
          <p:cNvPr id="29702" name="Foliennummernplatzhalter 3">
            <a:extLst>
              <a:ext uri="{FF2B5EF4-FFF2-40B4-BE49-F238E27FC236}">
                <a16:creationId xmlns:a16="http://schemas.microsoft.com/office/drawing/2014/main" id="{666095F8-93F8-37C6-125F-2E41F3968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3BCCCA-8DC2-D941-BB29-4E6618A04E7C}" type="slidenum">
              <a:rPr lang="de-DE" altLang="zh-CN">
                <a:solidFill>
                  <a:srgbClr val="394073"/>
                </a:solidFill>
              </a:rPr>
              <a:pPr/>
              <a:t>27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29703" name="Fußzeilenplatzhalter 4">
            <a:extLst>
              <a:ext uri="{FF2B5EF4-FFF2-40B4-BE49-F238E27FC236}">
                <a16:creationId xmlns:a16="http://schemas.microsoft.com/office/drawing/2014/main" id="{5826BA54-AF13-FF5F-3840-79C2CFEC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93" name="Picture 9">
            <a:extLst>
              <a:ext uri="{FF2B5EF4-FFF2-40B4-BE49-F238E27FC236}">
                <a16:creationId xmlns:a16="http://schemas.microsoft.com/office/drawing/2014/main" id="{BAE00966-CDEB-5CE6-7CB5-7A6D7FC20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3214688"/>
            <a:ext cx="2428875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C39D79E5-97E3-9711-EAAB-8BB2492BE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4640263"/>
            <a:ext cx="6429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 sz="3600" b="1">
                <a:solidFill>
                  <a:srgbClr val="009900"/>
                </a:solidFill>
                <a:sym typeface="Wingdings" pitchFamily="2" charset="2"/>
              </a:rPr>
              <a:t></a:t>
            </a:r>
            <a:endParaRPr lang="de-DE" altLang="zh-CN" sz="3600"/>
          </a:p>
        </p:txBody>
      </p:sp>
      <p:pic>
        <p:nvPicPr>
          <p:cNvPr id="30724" name="Picture 2">
            <a:extLst>
              <a:ext uri="{FF2B5EF4-FFF2-40B4-BE49-F238E27FC236}">
                <a16:creationId xmlns:a16="http://schemas.microsoft.com/office/drawing/2014/main" id="{B8E1F496-3CE6-71A1-13EE-DEF55DA03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071563"/>
            <a:ext cx="19288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Picture 3">
            <a:extLst>
              <a:ext uri="{FF2B5EF4-FFF2-40B4-BE49-F238E27FC236}">
                <a16:creationId xmlns:a16="http://schemas.microsoft.com/office/drawing/2014/main" id="{133A2067-1714-79D4-7764-C5671D126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833959"/>
            <a:ext cx="214312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17C9C9-754E-98B0-25CA-A9EDEF228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1130300"/>
            <a:ext cx="7794625" cy="5108575"/>
          </a:xfrm>
        </p:spPr>
        <p:txBody>
          <a:bodyPr/>
          <a:lstStyle/>
          <a:p>
            <a:r>
              <a:rPr lang="de-DE" altLang="zh-CN" dirty="0"/>
              <a:t>Given a </a:t>
            </a:r>
            <a:r>
              <a:rPr lang="de-DE" altLang="zh-CN" b="1" dirty="0"/>
              <a:t>prime </a:t>
            </a:r>
            <a:r>
              <a:rPr lang="de-DE" altLang="zh-CN" b="1" i="1" dirty="0"/>
              <a:t>p</a:t>
            </a:r>
            <a:r>
              <a:rPr lang="de-DE" altLang="zh-CN" dirty="0"/>
              <a:t> and an </a:t>
            </a:r>
            <a:r>
              <a:rPr lang="de-DE" altLang="zh-CN" b="1" dirty="0"/>
              <a:t>integer </a:t>
            </a:r>
            <a:r>
              <a:rPr lang="de-DE" altLang="zh-CN" b="1" i="1" dirty="0"/>
              <a:t>a</a:t>
            </a:r>
            <a:r>
              <a:rPr lang="de-DE" altLang="zh-CN" dirty="0"/>
              <a:t>:</a:t>
            </a:r>
          </a:p>
          <a:p>
            <a:r>
              <a:rPr lang="de-DE" altLang="zh-CN" dirty="0"/>
              <a:t>Can </a:t>
            </a:r>
            <a:r>
              <a:rPr lang="de-DE" altLang="zh-CN" dirty="0" err="1"/>
              <a:t>be</a:t>
            </a:r>
            <a:r>
              <a:rPr lang="de-DE" altLang="zh-CN" dirty="0"/>
              <a:t> </a:t>
            </a:r>
            <a:r>
              <a:rPr lang="de-DE" altLang="zh-CN" dirty="0" err="1"/>
              <a:t>rewritten</a:t>
            </a:r>
            <a:r>
              <a:rPr lang="de-DE" altLang="zh-CN" dirty="0"/>
              <a:t> </a:t>
            </a:r>
            <a:r>
              <a:rPr lang="de-DE" altLang="zh-CN" dirty="0" err="1"/>
              <a:t>as</a:t>
            </a:r>
            <a:endParaRPr lang="de-DE" altLang="zh-CN" dirty="0"/>
          </a:p>
          <a:p>
            <a:endParaRPr lang="de-DE" altLang="zh-CN" dirty="0"/>
          </a:p>
          <a:p>
            <a:endParaRPr lang="de-DE" altLang="zh-CN" dirty="0"/>
          </a:p>
          <a:p>
            <a:r>
              <a:rPr lang="de-DE" altLang="zh-CN" b="1" dirty="0"/>
              <a:t>Use: Find modular inverse</a:t>
            </a:r>
            <a:r>
              <a:rPr lang="de-DE" altLang="zh-CN" dirty="0"/>
              <a:t>, </a:t>
            </a:r>
            <a:r>
              <a:rPr lang="de-DE" altLang="zh-CN" dirty="0" err="1"/>
              <a:t>if</a:t>
            </a:r>
            <a:r>
              <a:rPr lang="de-DE" altLang="zh-CN" dirty="0"/>
              <a:t> p </a:t>
            </a:r>
            <a:r>
              <a:rPr lang="de-DE" altLang="zh-CN" dirty="0" err="1"/>
              <a:t>is</a:t>
            </a:r>
            <a:r>
              <a:rPr lang="de-DE" altLang="zh-CN" dirty="0"/>
              <a:t> prime. </a:t>
            </a:r>
            <a:r>
              <a:rPr lang="de-DE" altLang="zh-CN" dirty="0" err="1"/>
              <a:t>Rewrite</a:t>
            </a:r>
            <a:r>
              <a:rPr lang="de-DE" altLang="zh-CN" dirty="0"/>
              <a:t>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</a:p>
          <a:p>
            <a:r>
              <a:rPr lang="de-DE" altLang="zh-CN" dirty="0" err="1"/>
              <a:t>Comparing</a:t>
            </a:r>
            <a:r>
              <a:rPr lang="de-DE" altLang="zh-CN" dirty="0"/>
              <a:t> </a:t>
            </a:r>
            <a:r>
              <a:rPr lang="de-DE" altLang="zh-CN" dirty="0" err="1"/>
              <a:t>with</a:t>
            </a:r>
            <a:r>
              <a:rPr lang="de-DE" altLang="zh-CN" dirty="0"/>
              <a:t> </a:t>
            </a:r>
            <a:r>
              <a:rPr lang="de-DE" altLang="zh-CN" dirty="0" err="1"/>
              <a:t>definition</a:t>
            </a:r>
            <a:r>
              <a:rPr lang="de-DE" altLang="zh-CN" dirty="0"/>
              <a:t>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modular inverse</a:t>
            </a:r>
          </a:p>
          <a:p>
            <a:pPr lvl="1">
              <a:buFontTx/>
              <a:buNone/>
            </a:pPr>
            <a:r>
              <a:rPr lang="de-DE" altLang="zh-CN" dirty="0">
                <a:sym typeface="Wingdings" pitchFamily="2" charset="2"/>
              </a:rPr>
              <a:t>                                            </a:t>
            </a:r>
            <a:r>
              <a:rPr lang="de-DE" altLang="zh-CN" dirty="0" err="1">
                <a:sym typeface="Wingdings" pitchFamily="2" charset="2"/>
              </a:rPr>
              <a:t>is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the</a:t>
            </a:r>
            <a:r>
              <a:rPr lang="de-DE" altLang="zh-CN" dirty="0">
                <a:sym typeface="Wingdings" pitchFamily="2" charset="2"/>
              </a:rPr>
              <a:t> modular inverse </a:t>
            </a:r>
            <a:r>
              <a:rPr lang="de-DE" altLang="zh-CN" dirty="0" err="1">
                <a:sym typeface="Wingdings" pitchFamily="2" charset="2"/>
              </a:rPr>
              <a:t>modulo</a:t>
            </a:r>
            <a:r>
              <a:rPr lang="de-DE" altLang="zh-CN" dirty="0">
                <a:sym typeface="Wingdings" pitchFamily="2" charset="2"/>
              </a:rPr>
              <a:t> a prime </a:t>
            </a:r>
            <a:r>
              <a:rPr lang="de-DE" altLang="zh-CN" i="1" dirty="0">
                <a:sym typeface="Wingdings" pitchFamily="2" charset="2"/>
              </a:rPr>
              <a:t>p</a:t>
            </a:r>
          </a:p>
          <a:p>
            <a:pPr lvl="1">
              <a:buFontTx/>
              <a:buNone/>
            </a:pPr>
            <a:endParaRPr lang="de-DE" altLang="zh-CN" dirty="0"/>
          </a:p>
          <a:p>
            <a:pPr>
              <a:buFontTx/>
              <a:buNone/>
            </a:pPr>
            <a:r>
              <a:rPr lang="de-DE" altLang="zh-CN" b="1" dirty="0" err="1"/>
              <a:t>Example</a:t>
            </a:r>
            <a:r>
              <a:rPr lang="de-DE" altLang="zh-CN" b="1" dirty="0"/>
              <a:t>: </a:t>
            </a:r>
            <a:r>
              <a:rPr lang="de-DE" altLang="zh-CN" i="1" dirty="0"/>
              <a:t>a</a:t>
            </a:r>
            <a:r>
              <a:rPr lang="de-DE" altLang="zh-CN" dirty="0"/>
              <a:t> = 2, </a:t>
            </a:r>
            <a:r>
              <a:rPr lang="de-DE" altLang="zh-CN" i="1" dirty="0"/>
              <a:t>p</a:t>
            </a:r>
            <a:r>
              <a:rPr lang="de-DE" altLang="zh-CN" dirty="0"/>
              <a:t> = 7</a:t>
            </a:r>
          </a:p>
          <a:p>
            <a:pPr>
              <a:buFontTx/>
              <a:buNone/>
            </a:pPr>
            <a:endParaRPr lang="de-DE" altLang="zh-CN" b="1" dirty="0"/>
          </a:p>
          <a:p>
            <a:pPr>
              <a:buFontTx/>
              <a:buNone/>
            </a:pPr>
            <a:endParaRPr lang="de-DE" altLang="zh-CN" b="1" dirty="0"/>
          </a:p>
          <a:p>
            <a:pPr>
              <a:buFontTx/>
              <a:buNone/>
            </a:pPr>
            <a:endParaRPr lang="de-DE" altLang="zh-CN" b="1" dirty="0"/>
          </a:p>
          <a:p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Fermat‘s</a:t>
            </a:r>
            <a:r>
              <a:rPr lang="de-DE" altLang="zh-CN" dirty="0">
                <a:sym typeface="Wingdings" pitchFamily="2" charset="2"/>
              </a:rPr>
              <a:t> Little Theorem </a:t>
            </a:r>
            <a:r>
              <a:rPr lang="de-DE" altLang="zh-CN" dirty="0" err="1">
                <a:sym typeface="Wingdings" pitchFamily="2" charset="2"/>
              </a:rPr>
              <a:t>works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dirty="0" err="1">
                <a:sym typeface="Wingdings" pitchFamily="2" charset="2"/>
              </a:rPr>
              <a:t>only</a:t>
            </a:r>
            <a:r>
              <a:rPr lang="de-DE" altLang="zh-CN" dirty="0">
                <a:sym typeface="Wingdings" pitchFamily="2" charset="2"/>
              </a:rPr>
              <a:t> </a:t>
            </a:r>
            <a:r>
              <a:rPr lang="de-DE" altLang="zh-CN" b="1" dirty="0" err="1">
                <a:sym typeface="Wingdings" pitchFamily="2" charset="2"/>
              </a:rPr>
              <a:t>modulo</a:t>
            </a:r>
            <a:r>
              <a:rPr lang="de-DE" altLang="zh-CN" b="1" dirty="0">
                <a:sym typeface="Wingdings" pitchFamily="2" charset="2"/>
              </a:rPr>
              <a:t> a prime </a:t>
            </a:r>
            <a:r>
              <a:rPr lang="de-DE" altLang="zh-CN" b="1" i="1" dirty="0">
                <a:sym typeface="Wingdings" pitchFamily="2" charset="2"/>
              </a:rPr>
              <a:t>p</a:t>
            </a:r>
            <a:r>
              <a:rPr lang="de-DE" altLang="zh-CN" b="1" dirty="0">
                <a:sym typeface="Wingdings" pitchFamily="2" charset="2"/>
              </a:rPr>
              <a:t> </a:t>
            </a:r>
            <a:endParaRPr lang="de-DE" altLang="zh-CN" b="1" dirty="0"/>
          </a:p>
          <a:p>
            <a:pPr>
              <a:buFontTx/>
              <a:buNone/>
            </a:pPr>
            <a:endParaRPr lang="de-DE" altLang="zh-CN" b="1" dirty="0"/>
          </a:p>
        </p:txBody>
      </p:sp>
      <p:sp>
        <p:nvSpPr>
          <p:cNvPr id="30727" name="Titel 1">
            <a:extLst>
              <a:ext uri="{FF2B5EF4-FFF2-40B4-BE49-F238E27FC236}">
                <a16:creationId xmlns:a16="http://schemas.microsoft.com/office/drawing/2014/main" id="{BB63F6A6-D35F-DE21-8958-933E1255D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Fermat‘s</a:t>
            </a:r>
            <a:r>
              <a:rPr lang="de-DE" altLang="zh-CN" dirty="0"/>
              <a:t> Little Theorem</a:t>
            </a:r>
          </a:p>
        </p:txBody>
      </p:sp>
      <p:sp>
        <p:nvSpPr>
          <p:cNvPr id="30728" name="Foliennummernplatzhalter 3">
            <a:extLst>
              <a:ext uri="{FF2B5EF4-FFF2-40B4-BE49-F238E27FC236}">
                <a16:creationId xmlns:a16="http://schemas.microsoft.com/office/drawing/2014/main" id="{DCF4082C-4D61-ADB6-CCCA-3EA41D678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20677D-E109-CD49-B3E3-BAFEA02D9219}" type="slidenum">
              <a:rPr lang="de-DE" altLang="zh-CN">
                <a:solidFill>
                  <a:srgbClr val="394073"/>
                </a:solidFill>
              </a:rPr>
              <a:pPr/>
              <a:t>28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30729" name="Fußzeilenplatzhalter 4">
            <a:extLst>
              <a:ext uri="{FF2B5EF4-FFF2-40B4-BE49-F238E27FC236}">
                <a16:creationId xmlns:a16="http://schemas.microsoft.com/office/drawing/2014/main" id="{AEE88777-E4AE-D847-ED72-3E77862A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pic>
        <p:nvPicPr>
          <p:cNvPr id="67589" name="Picture 5">
            <a:extLst>
              <a:ext uri="{FF2B5EF4-FFF2-40B4-BE49-F238E27FC236}">
                <a16:creationId xmlns:a16="http://schemas.microsoft.com/office/drawing/2014/main" id="{7877AE81-6367-2DA4-D127-AA498A5C4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2566988"/>
            <a:ext cx="22860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6">
            <a:extLst>
              <a:ext uri="{FF2B5EF4-FFF2-40B4-BE49-F238E27FC236}">
                <a16:creationId xmlns:a16="http://schemas.microsoft.com/office/drawing/2014/main" id="{52B0C534-C701-6C1F-E71F-0EAC6B7AE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438" y="2928938"/>
            <a:ext cx="20716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7123EE42-49AD-34A3-CEFB-26BFD2CAF211}"/>
              </a:ext>
            </a:extLst>
          </p:cNvPr>
          <p:cNvSpPr/>
          <p:nvPr/>
        </p:nvSpPr>
        <p:spPr>
          <a:xfrm>
            <a:off x="5857875" y="2500313"/>
            <a:ext cx="714375" cy="42862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CA66EBB-2C34-8EE6-B087-199474F7922D}"/>
              </a:ext>
            </a:extLst>
          </p:cNvPr>
          <p:cNvSpPr/>
          <p:nvPr/>
        </p:nvSpPr>
        <p:spPr>
          <a:xfrm>
            <a:off x="6000750" y="2928938"/>
            <a:ext cx="571500" cy="42862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67594" name="Picture 10">
            <a:extLst>
              <a:ext uri="{FF2B5EF4-FFF2-40B4-BE49-F238E27FC236}">
                <a16:creationId xmlns:a16="http://schemas.microsoft.com/office/drawing/2014/main" id="{54430442-DE72-E3AF-B1D6-485654703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4283075"/>
            <a:ext cx="2928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5" name="Picture 11">
            <a:extLst>
              <a:ext uri="{FF2B5EF4-FFF2-40B4-BE49-F238E27FC236}">
                <a16:creationId xmlns:a16="http://schemas.microsoft.com/office/drawing/2014/main" id="{3E3834A5-DB9F-2DBD-7844-24BC33050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4783138"/>
            <a:ext cx="240982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6" name="Rechteck 15">
            <a:extLst>
              <a:ext uri="{FF2B5EF4-FFF2-40B4-BE49-F238E27FC236}">
                <a16:creationId xmlns:a16="http://schemas.microsoft.com/office/drawing/2014/main" id="{6ECEAC72-570D-D2CA-A8BD-09C93F74C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4" y="1071563"/>
            <a:ext cx="207168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30737" name="Rechteck 16">
            <a:extLst>
              <a:ext uri="{FF2B5EF4-FFF2-40B4-BE49-F238E27FC236}">
                <a16:creationId xmlns:a16="http://schemas.microsoft.com/office/drawing/2014/main" id="{53009EFF-ACCE-67CA-ED12-71F836EFF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4" y="1071563"/>
            <a:ext cx="2143125" cy="428625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el 1">
            <a:extLst>
              <a:ext uri="{FF2B5EF4-FFF2-40B4-BE49-F238E27FC236}">
                <a16:creationId xmlns:a16="http://schemas.microsoft.com/office/drawing/2014/main" id="{65951A60-E309-52B3-6599-6E97BD0D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Euler‘s Theorem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DB84E8-C723-7551-04A8-9F3DC653A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000125"/>
            <a:ext cx="6084887" cy="5108575"/>
          </a:xfrm>
        </p:spPr>
        <p:txBody>
          <a:bodyPr/>
          <a:lstStyle/>
          <a:p>
            <a:r>
              <a:rPr lang="de-DE" altLang="zh-CN"/>
              <a:t>Generalization of Fermat‘s little theorem to </a:t>
            </a:r>
            <a:r>
              <a:rPr lang="de-DE" altLang="zh-CN" b="1"/>
              <a:t>any integer modulus</a:t>
            </a:r>
          </a:p>
          <a:p>
            <a:endParaRPr lang="de-DE" altLang="zh-CN"/>
          </a:p>
          <a:p>
            <a:r>
              <a:rPr lang="de-DE" altLang="zh-CN"/>
              <a:t>Given two </a:t>
            </a:r>
            <a:r>
              <a:rPr lang="de-DE" altLang="zh-CN" b="1"/>
              <a:t>relatively prime integers </a:t>
            </a:r>
            <a:r>
              <a:rPr lang="de-DE" altLang="zh-CN" b="1" i="1"/>
              <a:t>a</a:t>
            </a:r>
            <a:r>
              <a:rPr lang="de-DE" altLang="zh-CN"/>
              <a:t> and </a:t>
            </a:r>
            <a:r>
              <a:rPr lang="de-DE" altLang="zh-CN" b="1" i="1"/>
              <a:t>m</a:t>
            </a:r>
            <a:r>
              <a:rPr lang="de-DE" altLang="zh-CN" b="1"/>
              <a:t> :</a:t>
            </a:r>
          </a:p>
          <a:p>
            <a:endParaRPr lang="de-DE" altLang="zh-CN"/>
          </a:p>
          <a:p>
            <a:r>
              <a:rPr lang="de-DE" altLang="zh-CN" b="1"/>
              <a:t>Example</a:t>
            </a:r>
            <a:r>
              <a:rPr lang="de-DE" altLang="zh-CN"/>
              <a:t>: </a:t>
            </a:r>
            <a:r>
              <a:rPr lang="de-DE" altLang="zh-CN" i="1"/>
              <a:t>m</a:t>
            </a:r>
            <a:r>
              <a:rPr lang="de-DE" altLang="zh-CN"/>
              <a:t>=12, </a:t>
            </a:r>
            <a:r>
              <a:rPr lang="de-DE" altLang="zh-CN" i="1"/>
              <a:t>a</a:t>
            </a:r>
            <a:r>
              <a:rPr lang="de-DE" altLang="zh-CN"/>
              <a:t>=5</a:t>
            </a:r>
          </a:p>
          <a:p>
            <a:pPr lvl="1">
              <a:buFontTx/>
              <a:buNone/>
            </a:pPr>
            <a:r>
              <a:rPr lang="de-DE" altLang="zh-CN"/>
              <a:t>1. Calculate Euler‘s Phi Function</a:t>
            </a:r>
          </a:p>
          <a:p>
            <a:pPr lvl="1">
              <a:buFontTx/>
              <a:buNone/>
            </a:pPr>
            <a:endParaRPr lang="de-DE" altLang="zh-CN"/>
          </a:p>
          <a:p>
            <a:pPr lvl="1">
              <a:buFontTx/>
              <a:buNone/>
            </a:pPr>
            <a:endParaRPr lang="de-DE" altLang="zh-CN"/>
          </a:p>
          <a:p>
            <a:pPr lvl="1">
              <a:buFontTx/>
              <a:buNone/>
            </a:pPr>
            <a:r>
              <a:rPr lang="de-DE" altLang="zh-CN"/>
              <a:t>2. Verify Euler‘s Theorem</a:t>
            </a:r>
          </a:p>
          <a:p>
            <a:pPr lvl="1">
              <a:buFontTx/>
              <a:buNone/>
            </a:pPr>
            <a:endParaRPr lang="de-DE" altLang="zh-CN"/>
          </a:p>
          <a:p>
            <a:pPr lvl="1">
              <a:buFontTx/>
              <a:buNone/>
            </a:pPr>
            <a:endParaRPr lang="de-DE" altLang="zh-CN"/>
          </a:p>
          <a:p>
            <a:r>
              <a:rPr lang="de-DE" altLang="zh-CN"/>
              <a:t>Fermat‘s little theorem = special case of Euler‘s Theorem</a:t>
            </a:r>
          </a:p>
          <a:p>
            <a:r>
              <a:rPr lang="de-DE" altLang="zh-CN"/>
              <a:t>for a prime </a:t>
            </a:r>
            <a:r>
              <a:rPr lang="de-DE" altLang="zh-CN" b="1" i="1"/>
              <a:t>p</a:t>
            </a:r>
            <a:r>
              <a:rPr lang="de-DE" altLang="zh-CN"/>
              <a:t>:</a:t>
            </a:r>
          </a:p>
          <a:p>
            <a:pPr lvl="1">
              <a:buFontTx/>
              <a:buNone/>
            </a:pPr>
            <a:r>
              <a:rPr lang="de-DE" altLang="zh-CN">
                <a:sym typeface="Wingdings" pitchFamily="2" charset="2"/>
              </a:rPr>
              <a:t>     Fermat:</a:t>
            </a:r>
            <a:endParaRPr lang="de-DE" altLang="zh-CN"/>
          </a:p>
        </p:txBody>
      </p:sp>
      <p:sp>
        <p:nvSpPr>
          <p:cNvPr id="31748" name="Foliennummernplatzhalter 3">
            <a:extLst>
              <a:ext uri="{FF2B5EF4-FFF2-40B4-BE49-F238E27FC236}">
                <a16:creationId xmlns:a16="http://schemas.microsoft.com/office/drawing/2014/main" id="{51E0705C-DD30-F850-18F8-30E504AC9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AB6F2E-004A-CF4D-A94C-FFD869078304}" type="slidenum">
              <a:rPr lang="de-DE" altLang="zh-CN">
                <a:solidFill>
                  <a:srgbClr val="394073"/>
                </a:solidFill>
              </a:rPr>
              <a:pPr/>
              <a:t>29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31749" name="Fußzeilenplatzhalter 4">
            <a:extLst>
              <a:ext uri="{FF2B5EF4-FFF2-40B4-BE49-F238E27FC236}">
                <a16:creationId xmlns:a16="http://schemas.microsoft.com/office/drawing/2014/main" id="{418323D3-85AF-8271-DBEA-E95A0C88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pic>
        <p:nvPicPr>
          <p:cNvPr id="68611" name="Picture 3">
            <a:extLst>
              <a:ext uri="{FF2B5EF4-FFF2-40B4-BE49-F238E27FC236}">
                <a16:creationId xmlns:a16="http://schemas.microsoft.com/office/drawing/2014/main" id="{2E3A5EA2-35B2-8F99-3AB8-4E8756684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1655763"/>
            <a:ext cx="24288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2" name="Picture 4">
            <a:extLst>
              <a:ext uri="{FF2B5EF4-FFF2-40B4-BE49-F238E27FC236}">
                <a16:creationId xmlns:a16="http://schemas.microsoft.com/office/drawing/2014/main" id="{8E03C0DE-0D48-4AEF-133D-531870867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3216275"/>
            <a:ext cx="6286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>
            <a:extLst>
              <a:ext uri="{FF2B5EF4-FFF2-40B4-BE49-F238E27FC236}">
                <a16:creationId xmlns:a16="http://schemas.microsoft.com/office/drawing/2014/main" id="{D3F57B62-4445-4D4F-5F6A-F1BFC4044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4343400"/>
            <a:ext cx="42672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6">
            <a:extLst>
              <a:ext uri="{FF2B5EF4-FFF2-40B4-BE49-F238E27FC236}">
                <a16:creationId xmlns:a16="http://schemas.microsoft.com/office/drawing/2014/main" id="{11774745-B9A9-CA90-B7C3-19214E026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5357813"/>
            <a:ext cx="3000375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7">
            <a:extLst>
              <a:ext uri="{FF2B5EF4-FFF2-40B4-BE49-F238E27FC236}">
                <a16:creationId xmlns:a16="http://schemas.microsoft.com/office/drawing/2014/main" id="{414A2436-49AB-E38B-7645-81FB95093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5795963"/>
            <a:ext cx="32861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3">
            <a:extLst>
              <a:ext uri="{FF2B5EF4-FFF2-40B4-BE49-F238E27FC236}">
                <a16:creationId xmlns:a16="http://schemas.microsoft.com/office/drawing/2014/main" id="{27CD4E9E-7C15-A7C7-3C61-A60A1AB69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5B248F-19B8-7143-AED6-03D85A2F8837}" type="slidenum">
              <a:rPr lang="de-DE" altLang="zh-CN">
                <a:solidFill>
                  <a:srgbClr val="394073"/>
                </a:solidFill>
              </a:rPr>
              <a:pPr/>
              <a:t>30</a:t>
            </a:fld>
            <a:r>
              <a:rPr lang="de-DE" altLang="zh-CN">
                <a:solidFill>
                  <a:srgbClr val="394073"/>
                </a:solidFill>
              </a:rPr>
              <a:t>/29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76BC9EA-813D-5D62-F2C6-267DABA60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77225" cy="515937"/>
          </a:xfrm>
        </p:spPr>
        <p:txBody>
          <a:bodyPr/>
          <a:lstStyle/>
          <a:p>
            <a:r>
              <a:rPr lang="de-DE" altLang="zh-CN"/>
              <a:t>Lessons Learned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B538BE6D-7218-112D-0EEF-E194EA0A2F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1268413"/>
            <a:ext cx="7251700" cy="517048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Public-key algorithms have </a:t>
            </a:r>
            <a:r>
              <a:rPr lang="en-US" altLang="zh-CN" b="1">
                <a:ea typeface="宋体" panose="02010600030101010101" pitchFamily="2" charset="-122"/>
              </a:rPr>
              <a:t>capabilities that symmetric ciphers don’t have</a:t>
            </a:r>
            <a:r>
              <a:rPr lang="en-US" altLang="zh-CN">
                <a:ea typeface="宋体" panose="02010600030101010101" pitchFamily="2" charset="-122"/>
              </a:rPr>
              <a:t>, in particular digital signature and key establishment functions.</a:t>
            </a:r>
          </a:p>
          <a:p>
            <a:endParaRPr lang="de-DE" altLang="zh-CN"/>
          </a:p>
          <a:p>
            <a:r>
              <a:rPr lang="en-US" altLang="zh-CN">
                <a:ea typeface="宋体" panose="02010600030101010101" pitchFamily="2" charset="-122"/>
              </a:rPr>
              <a:t>Public-key algorithms are </a:t>
            </a:r>
            <a:r>
              <a:rPr lang="en-US" altLang="zh-CN" b="1">
                <a:ea typeface="宋体" panose="02010600030101010101" pitchFamily="2" charset="-122"/>
              </a:rPr>
              <a:t>computationally intensive </a:t>
            </a:r>
            <a:r>
              <a:rPr lang="en-US" altLang="zh-CN">
                <a:ea typeface="宋体" panose="02010600030101010101" pitchFamily="2" charset="-122"/>
              </a:rPr>
              <a:t>(a nice way of saying that they are </a:t>
            </a:r>
            <a:r>
              <a:rPr lang="en-US" altLang="zh-CN" i="1">
                <a:ea typeface="宋体" panose="02010600030101010101" pitchFamily="2" charset="-122"/>
              </a:rPr>
              <a:t>slow</a:t>
            </a:r>
            <a:r>
              <a:rPr lang="en-US" altLang="zh-CN">
                <a:ea typeface="宋体" panose="02010600030101010101" pitchFamily="2" charset="-122"/>
              </a:rPr>
              <a:t>), and hence are poorly suited for bulk data encryption</a:t>
            </a:r>
            <a:r>
              <a:rPr lang="en-US" altLang="zh-CN" i="1">
                <a:ea typeface="宋体" panose="02010600030101010101" pitchFamily="2" charset="-122"/>
              </a:rPr>
              <a:t>.</a:t>
            </a:r>
          </a:p>
          <a:p>
            <a:endParaRPr lang="de-DE" altLang="zh-CN"/>
          </a:p>
          <a:p>
            <a:r>
              <a:rPr lang="en-US" altLang="zh-CN">
                <a:ea typeface="宋体" panose="02010600030101010101" pitchFamily="2" charset="-122"/>
              </a:rPr>
              <a:t>Only </a:t>
            </a:r>
            <a:r>
              <a:rPr lang="en-US" altLang="zh-CN" b="1">
                <a:ea typeface="宋体" panose="02010600030101010101" pitchFamily="2" charset="-122"/>
              </a:rPr>
              <a:t>three families of public-key schemes </a:t>
            </a:r>
            <a:r>
              <a:rPr lang="en-US" altLang="zh-CN">
                <a:ea typeface="宋体" panose="02010600030101010101" pitchFamily="2" charset="-122"/>
              </a:rPr>
              <a:t>are widely used. This is considerably fewer than in the case of symmetric algorithms.</a:t>
            </a:r>
          </a:p>
          <a:p>
            <a:endParaRPr lang="de-DE" altLang="zh-CN"/>
          </a:p>
          <a:p>
            <a:r>
              <a:rPr lang="en-US" altLang="zh-CN">
                <a:ea typeface="宋体" panose="02010600030101010101" pitchFamily="2" charset="-122"/>
              </a:rPr>
              <a:t>The </a:t>
            </a:r>
            <a:r>
              <a:rPr lang="en-US" altLang="zh-CN" b="1">
                <a:ea typeface="宋体" panose="02010600030101010101" pitchFamily="2" charset="-122"/>
              </a:rPr>
              <a:t>extended Euclidean algorithm</a:t>
            </a:r>
            <a:r>
              <a:rPr lang="en-US" altLang="zh-CN">
                <a:ea typeface="宋体" panose="02010600030101010101" pitchFamily="2" charset="-122"/>
              </a:rPr>
              <a:t> allows us to compute </a:t>
            </a:r>
            <a:r>
              <a:rPr lang="en-US" altLang="zh-CN" b="1">
                <a:ea typeface="宋体" panose="02010600030101010101" pitchFamily="2" charset="-122"/>
              </a:rPr>
              <a:t>modular inverses</a:t>
            </a:r>
            <a:r>
              <a:rPr lang="en-US" altLang="zh-CN">
                <a:ea typeface="宋体" panose="02010600030101010101" pitchFamily="2" charset="-122"/>
              </a:rPr>
              <a:t> quickly, which is important for almost all public-key schemes.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Euler’s phi function </a:t>
            </a:r>
            <a:r>
              <a:rPr lang="en-US" altLang="zh-CN">
                <a:ea typeface="宋体" panose="02010600030101010101" pitchFamily="2" charset="-122"/>
              </a:rPr>
              <a:t>gives us the number of elements smaller than an integer </a:t>
            </a:r>
            <a:r>
              <a:rPr lang="en-US" altLang="zh-CN" i="1">
                <a:ea typeface="宋体" panose="02010600030101010101" pitchFamily="2" charset="-122"/>
              </a:rPr>
              <a:t>n </a:t>
            </a:r>
            <a:r>
              <a:rPr lang="en-US" altLang="zh-CN">
                <a:ea typeface="宋体" panose="02010600030101010101" pitchFamily="2" charset="-122"/>
              </a:rPr>
              <a:t>that are relatively prime to </a:t>
            </a:r>
            <a:r>
              <a:rPr lang="en-US" altLang="zh-CN" i="1">
                <a:ea typeface="宋体" panose="02010600030101010101" pitchFamily="2" charset="-122"/>
              </a:rPr>
              <a:t>n. </a:t>
            </a:r>
            <a:r>
              <a:rPr lang="en-US" altLang="zh-CN">
                <a:ea typeface="宋体" panose="02010600030101010101" pitchFamily="2" charset="-122"/>
              </a:rPr>
              <a:t>This is important for the RSA crypto </a:t>
            </a:r>
            <a:r>
              <a:rPr lang="de-DE" altLang="zh-CN"/>
              <a:t>scheme.</a:t>
            </a:r>
            <a:endParaRPr lang="en-US" altLang="zh-CN">
              <a:ea typeface="宋体" panose="02010600030101010101" pitchFamily="2" charset="-122"/>
            </a:endParaRPr>
          </a:p>
          <a:p>
            <a:endParaRPr lang="de-DE" altLang="zh-CN"/>
          </a:p>
        </p:txBody>
      </p:sp>
      <p:sp>
        <p:nvSpPr>
          <p:cNvPr id="32773" name="Fußzeilenplatzhalter 4">
            <a:extLst>
              <a:ext uri="{FF2B5EF4-FFF2-40B4-BE49-F238E27FC236}">
                <a16:creationId xmlns:a16="http://schemas.microsoft.com/office/drawing/2014/main" id="{35E870AE-12F8-9210-F5E4-89C913572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6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4"/>
  <p:tag name="DEFAULTHEIGHT" val="319"/>
</p:tagLst>
</file>

<file path=ppt/theme/theme1.xml><?xml version="1.0" encoding="utf-8"?>
<a:theme xmlns:a="http://schemas.openxmlformats.org/drawingml/2006/main" name="Folienvorlage2">
  <a:themeElements>
    <a:clrScheme name="Folienvorlage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vorlag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lienvorlag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vorlag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Folienvorlage2</Template>
  <TotalTime>760</TotalTime>
  <Words>2599</Words>
  <Application>Microsoft Macintosh PowerPoint</Application>
  <PresentationFormat>全屏显示(4:3)</PresentationFormat>
  <Paragraphs>424</Paragraphs>
  <Slides>30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宋体</vt:lpstr>
      <vt:lpstr>cmsy10</vt:lpstr>
      <vt:lpstr>Arial</vt:lpstr>
      <vt:lpstr>Symbol</vt:lpstr>
      <vt:lpstr>Times New Roman</vt:lpstr>
      <vt:lpstr>Webdings</vt:lpstr>
      <vt:lpstr>Wingdings</vt:lpstr>
      <vt:lpstr>Folienvorlage2</vt:lpstr>
      <vt:lpstr>Formel</vt:lpstr>
      <vt:lpstr>    Chapter 6 – Introduction to Public-Key Cryptography  </vt:lpstr>
      <vt:lpstr>Content of this Chapter</vt:lpstr>
      <vt:lpstr>Content of this Chapter</vt:lpstr>
      <vt:lpstr>Symmetric Cryptography revisited</vt:lpstr>
      <vt:lpstr>Symmetric Cryptography: Analogy</vt:lpstr>
      <vt:lpstr>Symmetric Cryptography: Shortcomings</vt:lpstr>
      <vt:lpstr>Content of this Chapter</vt:lpstr>
      <vt:lpstr>Idea behind Asymmetric Cryptography</vt:lpstr>
      <vt:lpstr>Asymmetric (Public-Key) Cryptography</vt:lpstr>
      <vt:lpstr>Asymmetric Cryptography: Analogy</vt:lpstr>
      <vt:lpstr>Content of this Chapter</vt:lpstr>
      <vt:lpstr>Basic Protocol for Public-Key Encryption</vt:lpstr>
      <vt:lpstr>Security Mechanisms of Public-Key Cryptography</vt:lpstr>
      <vt:lpstr>Basic Key Transport Protocol 1/2</vt:lpstr>
      <vt:lpstr>PowerPoint 演示文稿</vt:lpstr>
      <vt:lpstr>Content of this Chapter</vt:lpstr>
      <vt:lpstr>How to build Public-Key Algorithms</vt:lpstr>
      <vt:lpstr>Key Lengths and Security Levels</vt:lpstr>
      <vt:lpstr>Content of this Chapter</vt:lpstr>
      <vt:lpstr>Euclidean Algorithm 1/2</vt:lpstr>
      <vt:lpstr>Euclidean Algorithm 2/2</vt:lpstr>
      <vt:lpstr>Extended Euclidean Algorithm 1/4</vt:lpstr>
      <vt:lpstr>Extended Euclidean Algorithm 2/4</vt:lpstr>
      <vt:lpstr>Extended Euclidean Algorithm 3/4</vt:lpstr>
      <vt:lpstr>Extended Euclidean Algorithm 4/4</vt:lpstr>
      <vt:lpstr>Euler‘s Phi Function 1/2</vt:lpstr>
      <vt:lpstr>Euler‘s Phi Function 2/2</vt:lpstr>
      <vt:lpstr>Fermat‘s Little Theorem</vt:lpstr>
      <vt:lpstr>Euler‘s Theorem</vt:lpstr>
      <vt:lpstr>Lessons Learned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subject>Auswertung</dc:subject>
  <dc:creator>Jan Pelzl</dc:creator>
  <cp:lastModifiedBy>Jing Liu</cp:lastModifiedBy>
  <cp:revision>562</cp:revision>
  <cp:lastPrinted>2003-07-29T11:52:19Z</cp:lastPrinted>
  <dcterms:created xsi:type="dcterms:W3CDTF">2004-07-26T14:24:04Z</dcterms:created>
  <dcterms:modified xsi:type="dcterms:W3CDTF">2024-11-04T01:47:34Z</dcterms:modified>
</cp:coreProperties>
</file>