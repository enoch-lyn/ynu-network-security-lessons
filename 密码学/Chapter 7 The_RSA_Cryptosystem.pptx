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712" r:id="rId2"/>
  </p:sldMasterIdLst>
  <p:notesMasterIdLst>
    <p:notesMasterId r:id="rId39"/>
  </p:notesMasterIdLst>
  <p:handoutMasterIdLst>
    <p:handoutMasterId r:id="rId40"/>
  </p:handoutMasterIdLst>
  <p:sldIdLst>
    <p:sldId id="473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78" r:id="rId29"/>
    <p:sldId id="1437" r:id="rId30"/>
    <p:sldId id="403" r:id="rId31"/>
    <p:sldId id="1438" r:id="rId32"/>
    <p:sldId id="468" r:id="rId33"/>
    <p:sldId id="474" r:id="rId34"/>
    <p:sldId id="477" r:id="rId35"/>
    <p:sldId id="476" r:id="rId36"/>
    <p:sldId id="471" r:id="rId37"/>
    <p:sldId id="472" r:id="rId38"/>
  </p:sldIdLst>
  <p:sldSz cx="9144000" cy="6858000" type="screen4x3"/>
  <p:notesSz cx="7099300" cy="10234613"/>
  <p:custDataLst>
    <p:tags r:id="rId4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80" autoAdjust="0"/>
    <p:restoredTop sz="96405" autoAdjust="0"/>
  </p:normalViewPr>
  <p:slideViewPr>
    <p:cSldViewPr>
      <p:cViewPr varScale="1">
        <p:scale>
          <a:sx n="163" d="100"/>
          <a:sy n="163" d="100"/>
        </p:scale>
        <p:origin x="464" y="184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48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4B87CDE-66EC-F32E-941D-F5D91B3AA5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460CD3A-7F91-6D56-C347-70FB2D51098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15DB8428-5D75-51B9-C66D-A79DF0AA44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5268660-937B-542E-80A8-98572D2EAF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BED86D6-D948-1D40-B548-D9B601DFFC4C}" type="slidenum">
              <a:rPr lang="ar-SA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03:58:07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4088 6282 24575,'-5'-1'0,"-3"9"0,-13 15 0,-9 16 0,-15 11 0,21-20 0,0 0 0,-22 22 0,25-22 0,1-2 0,-4 2 0,3 2 0,6-13 0,6-2 0,-3 3 0,1 0 0,2-4 0,-3 9 0,4-4 0,-4 0 0,3 3 0,-3-3 0,7 0 0,-2 4 0,2-9 0,-3 9 0,0-9 0,0 9 0,0-4 0,-5 5 0,3 5 0,-7 13 0,7 3 0,-3-1 0,9-9 0,-4-5 0,7 7 0,-3 8 0,4 4 0,0-4 0,0 3 0,0-14 0,0 1 0,0-11 0,0 5 0,0 8 0,0-5 0,0 3 0,0-11 0,0 0 0,4-5 0,-3 3 0,6-2 0,-3 3 0,5 1 0,-4 0 0,2 0 0,-6-1 0,7 1 0,-7 0 0,3 0 0,-1-5 0,-2 3 0,6 9 0,-6 7 0,3 7 0,-4-2 0,0-15 0,0-4 0,0-7 0,0-1 0,0 0 0,-3-1 0,-1-4 0,-2-2 0,2-2 0,-2-5 0,0 4 0,-1-3 0,-6 1 0,1 0 0,-8-1 0,-1 3 0,0 4 0,-9-2 0,12 4 0,-12-4 0,9 5 0,0-6 0,1 3 0,9-5 0,0 0 0,5 0 0,-1 0 0,3-1 0,1-5 0,6 2 0,1-6 0,2 3 0,0 0 0,0 0 0,1 0 0,0 0 0,-1 0 0,1 3 0,3 1 0,-2 3 0,6 4 0,0 3 0,6 13 0,-1-6 0,1 11 0,4 0 0,-1 8 0,7 17 0,-8-4 0,-1 4 0,-4-5 0,-3-1 0,-6 12 0,0-15 0,-7 8 0,8-1 0,-8-12 0,3 12 0,-4-22 0,0 4 0,0-10 0,0 10 0,0-4 0,0 5 0,0 1 0,0-1 0,0 0 0,0-5 0,0 4 0,0-10 0,0 5 0,0-7 0,0 1 0,0 0 0,0 0 0,-4 17 0,-1 16 0,-2-24 0,0 2 0,2 5 0,-1 0 0,-1-6 0,0-1 0,2 0 0,1 0 0,-2 34 0,4-31 0,0 2 0,2 5 0,0 1 0,-2-2 0,0-1 0,1-1 0,1 0 0,-4 27 0,4-22 0,0-4 0,0-17 0,0 0 0,0-1 0,0 1 0,0 6 0,3-5 0,2 4 0,4-5 0,3 0 0,-3-5 0,7 3 0,-3-3 0,4 5 0,0-5 0,0 4 0,-2-9 0,2 9 0,6 3 0,2-2 0,-1 4 0,1-11 0,-11-5 0,7-7 0,1-4 0,14-3 0,1 0 0,9 0 0,-12 0 0,-6 0 0,3 0 0,-13 0 0,9-3 0,-16 2 0,0-5 0,-5 5 0,1-5 0,-1 5 0,1-2 0,-4 0 0,0 3 0,-3-3 0</inkml:trace>
  <inkml:trace contextRef="#ctx0" brushRef="#br0" timeOffset="95552">11993 10663 24575,'25'0'0,"6"3"0,5 6 0,-7 0 0,3 2 0,-16-3 0,9-3 0,-9 1 0,4-5 0,-5 3 0,0-1 0,5-2 0,-3 2 0,2-3 0,-3 0 0,-1 0 0,0 0 0,0 0 0,0 0 0,-3 0 0,-2 0 0,-3 0 0,2 0 0,-4-2 0,0-2 0,-5-2 0,0 0 0,0-3 0,0 1 0,0-1 0,0 3 0,0 0 0,0-1 0,0 1 0,0-1 0,0 1 0,0-1 0,0 0 0,0 1 0,-2-1 0,1 1 0,-5 0 0,3-1 0,-4 4 0,4-3 0,-6-1 0,1-3 0,-5 0 0,0 0 0,3 4 0,0 2 0,4 1 0,0 3 0,-3 0 0,-1 0 0,0 0 0,0 0 0,4 0 0,-1 0 0,-3 0 0,-1 3 0,-5-2 0,1 3 0,0-1 0,4-2 0,-3 6 0,6-7 0,-2 4 0,-1-1 0,4 1 0,-4 3 0,1-3 0,2 2 0,-2-3 0,-1 4 0,4 0 0,-4 0 0,2 3 0,2 0 0,-3 3 0,3 4 0,0-3 0,3 7 0,1-7 0,3 7 0,0-7 0,0 7 0,7-6 0,2 8 0,7-7 0,1 9 0,-2-9 0,6 5 0,-5-6 0,4 1 0,-8-4 0,2-1 0,-7-5 0,8 2 0,-8-2 0,7 2 0,-2-1 0,3 1 0,0-1 0,5 1 0,-4 0 0,4-3 0,-8 1 0,-2-5 0,-3 4 0,2-4 0,1 2 0,3-3 0,0 0 0,4 0 0,1 0 0,-6 0 0,-2 0 0</inkml:trace>
  <inkml:trace contextRef="#ctx0" brushRef="#br0" timeOffset="96923">12779 10976 24575,'0'12'0,"0"4"0,-7-4 0,6 1 0,-9-6 0,9 0 0,-5 3 0,2-2 0,-3 6 0,-4-6 0,3 6 0,-6-2 0,5 3 0,-1-3 0,3-2 0,0-3 0,3-1 0,-2 1 0,3-1 0,-4 1 0,3-1 0,-5 2 0,4-2 0,-5 1 0,-1 0 0,1 3 0,-4 1 0,4-4 0,3-1 0,5-6 0</inkml:trace>
  <inkml:trace contextRef="#ctx0" brushRef="#br0" timeOffset="99203">13037 10634 24575,'0'21'0,"0"-7"0,0 17 0,0-10 0,0 5 0,0 12 0,0 2 0,0 8 0,0-7 0,0-6 0,0-12 0,0-5 0,2-14 0,-1-5 0,5-5 0,-6-1 0,7-3 0,-7 2 0,7-6 0,-6 3 0,5 0 0,-5-4 0,9-8 0,0-11 0,7-18 0,-4 10 0,0 0 0,-1 9 0,0 7 0,3 3 0,-5 10 0,0 6 0,-4 3 0,1-2 0,-1 6 0,0-3 0,1 3 0,-1 0 0,0 0 0,1 0 0,-1 0 0,-2 2 0,-1 2 0,-3 5 0,0-3 0,3 3 0,-3-2 0,3 2 0,0 2 0,-2 9 0,5-1 0,-6 7 0,3-8 0,-3-1 0,0-4 0,0-3 0,0 0 0,0-4 0,0 1 0,0 4 0,3-4 0,-2 7 0,2-2 0,-3-1 0,0 3 0,0-6 0,0 6 0,0-6 0,3 6 0,-2-7 0,3 8 0,-2-8 0,-1 3 0,2-3 0,0 3 0,-2 0 0,2 0 0,-1-4 0,1 0 0,1-3 0,1 3 0,-1 1 0,3 3 0,-1-2 0,2 6 0,2-6 0,-2 3 0,3-4 0,-7-1 0,-2-2 0,-2-1 0</inkml:trace>
  <inkml:trace contextRef="#ctx0" brushRef="#br0" timeOffset="101205">11548 10303 24575,'-13'0'0,"2"2"0,-2 9 0,-1 1 0,-5 8 0,1-1 0,0 3 0,4-1 0,-1 5 0,4-6 0,0 2 0,3-7 0,0 5 0,1-4 0,2 4 0,2-5 0,0-3 0,2 2 0,-2-3 0,3 1 0,0 2 0,0-3 0,0 4 0,0 1 0,0-1 0,0 4 0,0-2 0,0 3 0,0-5 0,0 5 0,0 3 0,8 15 0,4-1 0,14 13 0,-2-12 0,1 2 0,-4-14 0,-6-4 0,2-5 0,-4-4 0,-2-3 0,-2 0 0,-2-4 0,-4 1 0,3-4 0,-5 0 0,1-3 0</inkml:trace>
  <inkml:trace contextRef="#ctx0" brushRef="#br0" timeOffset="102802">13766 10273 24575,'6'0'0,"1"0"0,-1 0 0,1-3 0,-1 6 0,1-3 0,0 7 0,0 3 0,-1-2 0,6 11 0,7 1 0,0 13 0,4 5 0,-7-2 0,0 4 0,-1-4 0,-2 5 0,-2-4 0,-3-9 0,-4-6 0,-1-2 0,-3-4 0,0 4 0,0-5 0,0 5 0,0-4 0,0 9 0,0-4 0,0 0 0,0 4 0,0-4 0,0 4 0,-3 1 0,-2 0 0,-4 0 0,0 5 0,0-4 0,-3 5 0,3-11 0,-7 6 0,8-7 0,-2 3 0,6-9 0,-2-4 0,-4-1 0,5-4 0,-5 1 0</inkml:trace>
  <inkml:trace contextRef="#ctx0" brushRef="#br0" timeOffset="111605">14845 12162 24575,'13'0'0,"-1"0"0,1 0 0,1 0 0,-1 0 0,-3-3 0,3 2 0,-6-2 0,2 3 0,0 0 0,-2 0 0,3 0 0,-4 0 0,1 0 0,-1 0 0,1 0 0,-1 0 0,1 0 0,-1 0 0,1 0 0,0 0 0,-1 0 0,5 0 0,-4 0 0,4 0 0,-5 0 0,5 0 0,-4 0 0,10 0 0,2 0 0,1 0 0,2 0 0,-4 0 0,5 0 0,-1 0 0,12 0 0,-6 0 0,12 0 0,-4 0 0,0 3 0,4-2 0,-15 3 0,6-4 0,-14 3 0,7-2 0,-7 2 0,7-3 0,-3 0 0,0 0 0,4 4 0,-9-3 0,9 3 0,-13-4 0,7 0 0,-11 0 0,2 0 0,-3 0 0,-1 0 0,1 0 0,-1 0 0,1 0 0,6 0 0,11 0 0,8 0 0,9 0 0,-5 0 0,4 0 0,-9 0 0,5 0 0,-7 0 0,0 0 0,-2 0 0,19 0 0,-19 0 0,17 0 0,-23 0 0,5 0 0,-5 0 0,-1 0 0,-9 0 0,-1 0 0,1 0 0,0 0 0,4 0 0,0 0 0,5 0 0,-3 0 0,7 0 0,-3 0 0,5 0 0,12 0 0,-14 0 0,44 0 0,-27 0 0,24 0 0,-13 0 0,5 0 0,9 4 0,-28-4 0,1 1 0,-1 4 0,1-1 0,-1-3 0,1-1 0,6 3 0,1-1 0,0-2 0,0 0 0,-4 0 0,-1 0 0,-2 0 0,-2 0 0,33 0 0,-19 0 0,18 0 0,-23 0 0,1 0 0,-3 0 0,1 0 0,-5 0 0,5 0 0,-7 0 0,1 0 0,-1 0 0,0 0 0,-5 0 0,11 0 0,-10 0 0,11 0 0,0 0 0,1 0 0,7 0 0,-6 0 0,4 0 0,19 0 0,-33 0 0,2 0 0,9 0 0,2 0 0,-8 0 0,0 0 0,3 0 0,0 0 0,-9-2 0,0 0 0,3 1 0,-2 1 0,28-9 0,-1 8 0,-10-7 0,-8 4 0,-18 0 0,-6 1 0,-10 0 0,-2 2 0,-3-2 0,-1 3 0,1 0 0,-1 0 0,1 0 0,0 0 0,3 0 0,1 0 0,1 0 0,-2 0 0,-3 0 0,-1 0 0,1 0 0,0 0 0,-4 8 0,0 11 0,-3-8 0,0 6 0</inkml:trace>
  <inkml:trace contextRef="#ctx0" brushRef="#br0" timeOffset="155488">20236 11517 24575,'21'0'0,"1"0"0,4 0 0,-5 0 0,-1 0 0,-5 0 0,3 0 0,-3 0 0,2 0 0,9 0 0,7 0 0,19 0 0,-3 0 0,-7 3 0,-15-2 0,-10 3 0,-10-2 0,-1 1 0,-6 1 0,0-2 0</inkml:trace>
  <inkml:trace contextRef="#ctx0" brushRef="#br0" timeOffset="156721">20305 11536 24575,'0'21'0,"0"1"0,0 23 0,0-7 0,0 13 0,-4-15 0,3 2 0,-2-12 0,-1-5 0,3-1 0,-2-5 0,3 0 0,-3-4 0,2 4 0,-2-8 0,3 3 0,0-3 0,0-1 0,0 1 0,0-1 0,0 0 0,0 0 0,0 1 0,0-1 0,0-3 0,0 0 0</inkml:trace>
  <inkml:trace contextRef="#ctx0" brushRef="#br0" timeOffset="158087">20269 11818 24575,'6'0'0,"4"0"0,2 0 0,-1 0 0,-1 0 0,3 0 0,15 0 0,21 0 0,-6 0 0,1 0 0,-24 0 0,-9 0 0,-1 0 0,-3 0 0,0 0 0,-4 0 0,0 0 0</inkml:trace>
  <inkml:trace contextRef="#ctx0" brushRef="#br0" timeOffset="159338">20296 12100 24575,'46'0'0,"-4"0"0,-1 0 0,-1 0 0,6 0 0,14 0 0,-41 0 0,5 0 0,-16 0 0,2 0 0,-4 0 0,-2 0 0,-2 0 0</inkml:trace>
  <inkml:trace contextRef="#ctx0" brushRef="#br0" timeOffset="160522">20817 11508 24575,'8'0'0,"4"0"0,9 0 0,15 0 0,-11 0 0,24 0 0,-14 0 0,10 0 0,-7 0 0,-5 0 0,10 0 0,-11 0 0,1 0 0,-11 0 0,-15 0 0,-1 0 0</inkml:trace>
  <inkml:trace contextRef="#ctx0" brushRef="#br0" timeOffset="161906">20990 11566 24575,'0'15'0,"0"1"0,0 6 0,0 8 0,0-13 0,0 14 0,0-10 0,0 0 0,0 3 0,0-3 0,0 5 0,0 0 0,0 2 0,0 0 0,0-1 0,0-2 0,0-7 0,0-4 0,0-5 0,0-3 0,0 4 0,0 6 0,0 5 0,0 5 0,0 0 0,0 6 0,0-6 0,0 0 0,0-14 0,0-7 0</inkml:trace>
  <inkml:trace contextRef="#ctx0" brushRef="#br0" timeOffset="163005">20990 11900 24575,'9'0'0,"8"0"0,13 0 0,-10 0 0,16 0 0,-14 0 0,-3 0 0,9 0 0,-20 0 0,5 0 0,-7 0 0,-3 0 0,0 0 0</inkml:trace>
  <inkml:trace contextRef="#ctx0" brushRef="#br0" timeOffset="164291">20979 12200 24575,'28'0'0,"-2"0"0,-2 0 0,-7 0 0,-8 0 0,12 0 0,17 8 0,15 6 0,1 4 0,-11 0 0,-17-10 0,-15-5 0,-5-3 0</inkml:trace>
  <inkml:trace contextRef="#ctx0" brushRef="#br0" timeOffset="165521">21833 11484 24575,'0'43'0,"0"8"0,0 8 0,0-6 0,-8 3 0,-6-4 0,-9 7 0,-4 5 0,0 0 0,4-10 0,6-3 0,5-21 0,4 1 0,0-15 0,4 4 0,-3-5 0,6 1 0,-2-5 0,0-1 0,2-6 0,-2-1 0</inkml:trace>
  <inkml:trace contextRef="#ctx0" brushRef="#br0" timeOffset="166904">21988 11616 24575,'0'10'0,"0"1"0,3 4 0,2 5 0,3-4 0,4 9 0,-3-9 0,7 9 0,0 7 0,7 14 0,4 13 0,-4-1 0,-2-1 0,-4-5 0,1 5 0,-5-4 0,0-1 0,-4-10 0,-4-13 0,-2-10 0,-3-9 0,0-3 0,0-1 0,0-2 0,0-1 0</inkml:trace>
  <inkml:trace contextRef="#ctx0" brushRef="#br0" timeOffset="168191">21819 12014 24575,'3'-3'0,"9"0"0,17 3 0,-5 0 0,25 0 0,-13 0 0,24 0 0,-11 0 0,-3 0 0,-14 0 0,-11 0 0,1 0 0,1 0 0,0 0 0,6 0 0,-10 0 0,2 0 0,-11 0 0,-3 3 0,-4-3 0,-3 3 0</inkml:trace>
  <inkml:trace contextRef="#ctx0" brushRef="#br0" timeOffset="174108">10473 13224 24575,'0'13'0,"0"0"0,0 14 0,0 1 0,0 2 0,0 5 0,0 0 0,0 5 0,0 4 0,0-5 0,0-1 0,0 1 0,-5-1 0,0 0 0,-5 1 0,5-7 0,-4 5 0,5-9 0,-5 3 0,4-5 0,-2 2 0,2 0 0,1-5 0,-2-6 0,5-15 0,-2-4 0,3-7 0,0 3 0,0-1 0,0 1 0,0 0 0,0 0 0,0 0 0,0 2 0,0 1 0</inkml:trace>
  <inkml:trace contextRef="#ctx0" brushRef="#br0" timeOffset="176254">10485 13098 24575,'-4'13'0,"-3"0"0,-5 2 0,-4 5 0,4-3 0,-5 13 0,-14 7 0,-1 11 0,10-20 0,-1 0 0,-7 15 0,6-7 0,9-14 0,5-8 0,6-5 0,2-8 0,2-2 0,0-5 0,2 3 0,2-3 0,3 2 0,0-6 0,3 2 0,7-7 0,4 6 0,11-14 0,7 4 0,8-10 0,-5 5 0,-2-1 0,-17 3 0,-2 7 0,-7 1 0,-7 5 0,2 2 0,-8-3 0,4 4 0,-4-1 0,5 4 0,-6 2 0,3 8 0,0 10 0,13 15 0,8 16 0,11 11 0,-7-12 0,-2-5 0,-9-16 0,-4 0 0,3-5 0,-7-1 0,2-5 0,-4-3 0,0-2 0,-4-3 0,3-4 0,-3 0 0,1-3 0,-1 0 0</inkml:trace>
  <inkml:trace contextRef="#ctx0" brushRef="#br0" timeOffset="179438">11513 13421 24575,'18'0'0,"7"0"0,22 0 0,1 0 0,6 0 0,4 0 0,-2 0-588,14 0 588,-8 0 0,5 0 0,-12 0 0,-1 0 145,-10 0-145,-5 0 0,-1 0 0,18 0 0,3 0 0,-21 0 0,1 0 443,26 0-443,4 0 0,-21 0 0,8 0 0,-14 0 0,3 0 0,1 0 0,-4 0 0,4 0 0,-5 0 0,-12 0 0,3 0 0,-16 0 0,4 0 0,-5 0 0,0 0 0,0 0 0,1 0 0,-1 0 0,0 0 0,-4 0 0,0 0 0,-5 0 0,1 0 0,-1 0 0,-2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4T04:09:36.8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9573 14328 24575,'30'0'0,"-2"0"0,11 0 0,-2 0 0,10 0 0,-6 0 0,18 0 0,-13 0 0,7 0 0,-6 0 0,4 0 0,-11 0 0,5 0 0,-7 0 0,7 0 0,-5 0 0,22-5 0,-2 4 0,-25-1 0,1 0 0,1 2 0,1 0 0,1-2 0,0-1 0,3 3 0,0-1 0,7-1 0,0 0 0,-1 1 0,-3 2 0,-7-1 0,-1 0 0,25 0 0,-7 0 0,-18 0 0,17-5 0,-27 0 0,10 0 0,-4-3 0,5 3 0,1-5 0,-1 5 0,0-4 0,1 4 0,-1 0 0,0-4 0,-5 8 0,-1-7 0,-7 7 0,1-3 0,-5 4 0,4-4 0,-9 3 0,9-2 0,-9 3 0,15 0 0,-13 0 0,7 0 0,-15 0 0,-1 0 0,-5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0AA847-F399-A28C-71FC-74BA297B67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180E577-F8A2-8DA8-FC84-9F61B4DEA5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77848F7-639D-9A5A-A237-BD7F487EED3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B5F0E1B-5687-625C-CDFE-0897004AC6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23E68F0-14E1-63B2-4797-866FA4545C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C4CF1AB-73E7-D4FD-4DA1-141B054AE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82D091E-DCBA-0240-898C-C66F60C08A9C}" type="slidenum">
              <a:rPr lang="ar-SA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8F0861D-D3FF-4948-7D6B-5F4100324C0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18" tIns="47459" rIns="94918" bIns="47459" anchor="b"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D62304D-BE22-6F42-A4AC-B32CF6184D3B}" type="slidenum">
              <a:rPr lang="ar-SA" altLang="zh-CN" sz="13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</a:t>
            </a:fld>
            <a:endParaRPr lang="de-DE" altLang="zh-CN" sz="13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03ECAC5-4B7A-EE12-2AE0-3B739E9F4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CB7D174-EB47-09CF-C3A9-41280961D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10046F6B-102E-9845-14A0-9B125CA34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880A45F-BF57-5D1F-9C71-FC52BA7415E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DE0875BA-F5E1-EF6F-BA8A-E93E32ECD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1DD2256-D18C-C944-9A22-9B2682132A3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62CA455C-6B7C-DCBF-04B6-E762886B9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2702FBC-2876-84E5-FCB9-C806BA1B88E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51766365-97C6-EDD6-E0B9-2E8AF46C5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FD20961-0330-C8C6-05A2-D937CF4AE61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E5E5B450-4B56-FCF6-FDAD-35F7FBD3D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6776872-B10E-008A-8775-B54CCC1D09F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80724289-C3D7-FA56-6426-5FE58D855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12D3906-912C-AEE8-F8E6-0B11C72E0D3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DEC5FE6B-3AED-B7DF-115B-CD5CFEED2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794AA34-8E35-B1C5-0144-B5DBD76C148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CDA2EF24-9A73-651E-41EF-7C031A33D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343BBFC-E0F7-9E27-F87D-AE04C8094C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AA020065-6401-CD63-99F2-F697B9BB4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8840621-BFA0-2F8A-17B9-87A1E982829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3CD672CE-F273-DD1D-5430-35797FF78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960891B-B9CC-C77B-D0C0-FB28F29E611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68E406F6-8B90-C786-37C5-0078A94E8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F2B64BB-62FD-E51A-C8C9-4FB05BE31DC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656E6472-A1B1-CC55-9824-41E303589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60CA848-D8A4-BA08-DAB8-0D5A8584274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AFC4CC4E-0986-5F20-B38C-46FF998B1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1DDBF6B-4948-5C31-3731-53708503878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76FE000B-51A1-8030-D0F5-46DD0B0A8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40512AB-F761-8305-251C-CA12B3D22F7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201DC077-10C2-E00D-8328-5B7FA6542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0DB5D18-8503-9F0F-69E5-5DFE73CD2E4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3C48FA9A-5200-4292-C12F-FB6F650CB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68EA6CD-9878-3035-036D-DC605E4C1A2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2D6DDE9E-56D0-8886-0283-C90ED023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4369311-E2E1-005F-970C-F1C4E56871D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18B1ACA8-786C-D752-7567-0C17C5BD2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F66DB59-34C9-DFFC-63D7-13D319BF27F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D95BA520-63A3-9DC7-0B21-6AD946398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851E507-C5E2-C17E-1227-9F4B15E29E0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B2020E49-8274-2375-DBE6-657952D2D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02AD890-F5B5-7BBE-0438-7863DDC703D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41A94145-36AE-93EA-4A8E-D04749DD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E8343BF-CBE0-6251-8EAF-3B6F25689E5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C33963C2-EA58-691C-994A-846F420E2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37F8FD4-735B-3628-7C28-C7ED4CEBFFA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D7280F86-3471-2012-BA95-C82F907E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0FB59DF-BD7B-CE47-BEA8-4CB5CEB6F85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5F294B41-8CB0-F549-5336-0EB2B9866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0C28D47-FDEB-0099-E6ED-741A1ADE88E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>
            <a:extLst>
              <a:ext uri="{FF2B5EF4-FFF2-40B4-BE49-F238E27FC236}">
                <a16:creationId xmlns:a16="http://schemas.microsoft.com/office/drawing/2014/main" id="{9CBA22E8-5632-A0C4-50A9-71D9AE5A3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592835E-D407-2764-C81C-155DA2EF819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EF64B1E4-CFD4-A5ED-7D40-B3E5A558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001E1F5-7E62-904E-9023-DA0F30B6CF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  <p:extLst>
      <p:ext uri="{BB962C8B-B14F-4D97-AF65-F5344CB8AC3E}">
        <p14:creationId xmlns:p14="http://schemas.microsoft.com/office/powerpoint/2010/main" val="4252852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EF64B1E4-CFD4-A5ED-7D40-B3E5A558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001E1F5-7E62-904E-9023-DA0F30B6CF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  <p:extLst>
      <p:ext uri="{BB962C8B-B14F-4D97-AF65-F5344CB8AC3E}">
        <p14:creationId xmlns:p14="http://schemas.microsoft.com/office/powerpoint/2010/main" val="1482789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ISO</a:t>
            </a:r>
            <a:r>
              <a:rPr lang="en-US" baseline="0" dirty="0"/>
              <a:t> standard is the “full domain hash” method discussed in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39F14-97F0-4A6F-8D15-923CFCB70D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EF64B1E4-CFD4-A5ED-7D40-B3E5A558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001E1F5-7E62-904E-9023-DA0F30B6CF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  <p:extLst>
      <p:ext uri="{BB962C8B-B14F-4D97-AF65-F5344CB8AC3E}">
        <p14:creationId xmlns:p14="http://schemas.microsoft.com/office/powerpoint/2010/main" val="781346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EF64B1E4-CFD4-A5ED-7D40-B3E5A558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001E1F5-7E62-904E-9023-DA0F30B6CF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4C3D30F7-10F7-85CF-7F37-27A839298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635ED3E-5EF5-E047-D806-F9EEFEF12C1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>
            <a:extLst>
              <a:ext uri="{FF2B5EF4-FFF2-40B4-BE49-F238E27FC236}">
                <a16:creationId xmlns:a16="http://schemas.microsoft.com/office/drawing/2014/main" id="{5C43F250-2264-3643-8DD6-9CA3C7E2F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C6E2E6C-C7A5-F178-4A3B-25E08A3E5FF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9DAC0285-3C72-C9F9-57FD-DA63ADB7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F246C58-55B4-5FBA-3F78-416B711C210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C296D560-A6AA-40CC-8BBC-6AA4D20FC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B61DF2B-881C-85ED-B020-07F1B50BCD0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55A5DD9A-3DC8-7996-555E-F999C83D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6763"/>
            <a:ext cx="5119688" cy="38401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4A9ECAB-D6C0-9B4F-647F-2ABD057C9C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40" tIns="47520" rIns="95040" bIns="47520"/>
          <a:lstStyle/>
          <a:p>
            <a:pPr defTabSz="449263">
              <a:spcBef>
                <a:spcPts val="375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altLang="zh-CN"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0034" y="1071546"/>
            <a:ext cx="8215370" cy="1677382"/>
          </a:xfr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3pPr>
              <a:buFont typeface="Symbol" pitchFamily="18" charset="2"/>
              <a:buChar char="-"/>
              <a:defRPr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F4232A94-5602-1BF2-C9D2-82D7C1CBD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79388" y="6570663"/>
            <a:ext cx="504825" cy="215900"/>
          </a:xfrm>
        </p:spPr>
        <p:txBody>
          <a:bodyPr/>
          <a:lstStyle>
            <a:lvl1pPr>
              <a:defRPr/>
            </a:lvl1pPr>
          </a:lstStyle>
          <a:p>
            <a:fld id="{7F5507ED-80AE-194D-9745-656B2A599AB2}" type="slidenum">
              <a:rPr lang="ar-SA" altLang="zh-CN"/>
              <a:pPr/>
              <a:t>‹#›</a:t>
            </a:fld>
            <a:endParaRPr lang="de-DE" altLang="zh-CN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8547908B-0665-FFDC-613A-A5725472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413" y="6572250"/>
            <a:ext cx="4321175" cy="2603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7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8336203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302DF32-F9C4-7C11-2325-8564D3CC3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5E4428-CC04-BB42-8204-21782DFA7CA0}" type="slidenum">
              <a:rPr lang="ar-SA" altLang="zh-CN"/>
              <a:pPr/>
              <a:t>‹#›</a:t>
            </a:fld>
            <a:endParaRPr lang="de-DE" altLang="zh-CN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E04166-7D0B-4005-1D2C-D4862519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XX of </a:t>
            </a:r>
            <a:r>
              <a:rPr lang="de-DE" i="1"/>
              <a:t>Understanding Cryptography</a:t>
            </a:r>
            <a:r>
              <a:rPr lang="de-DE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66120847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066" y="6426200"/>
            <a:ext cx="76200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47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05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84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6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56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6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22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4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34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138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52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194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97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259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71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82BC8E-C744-9575-A374-EE2EADA24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8243887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Mastertitelformat bearbeiten</a:t>
            </a:r>
            <a:br>
              <a:rPr lang="de-DE" altLang="zh-CN"/>
            </a:br>
            <a:endParaRPr lang="de-DE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5524FC-9601-3468-E641-370782C12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0063" y="1071563"/>
            <a:ext cx="821531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zh-CN"/>
              <a:t>Mastertextformat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84F9FD-AB32-1DC8-66F2-7E94FC9BA2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  <a:cs typeface="Arial" panose="020B0604020202020204" pitchFamily="34" charset="0"/>
              </a:defRPr>
            </a:lvl1pPr>
          </a:lstStyle>
          <a:p>
            <a:fld id="{0435F105-7B05-E14B-A800-9AB9137D9447}" type="slidenum">
              <a:rPr lang="ar-SA" altLang="zh-CN"/>
              <a:pPr/>
              <a:t>‹#›</a:t>
            </a:fld>
            <a:endParaRPr lang="de-DE" altLang="zh-CN"/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F9224057-E154-911B-ED51-7E8BE9F281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Chapter XX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Pelzl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5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7000"/>
            <a:ext cx="8229600" cy="546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8495979" y="658988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Dan Boneh</a:t>
            </a:r>
          </a:p>
        </p:txBody>
      </p:sp>
    </p:spTree>
    <p:extLst>
      <p:ext uri="{BB962C8B-B14F-4D97-AF65-F5344CB8AC3E}">
        <p14:creationId xmlns:p14="http://schemas.microsoft.com/office/powerpoint/2010/main" val="73186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1" descr="Paar_Pelz_only Titlepage">
            <a:extLst>
              <a:ext uri="{FF2B5EF4-FFF2-40B4-BE49-F238E27FC236}">
                <a16:creationId xmlns:a16="http://schemas.microsoft.com/office/drawing/2014/main" id="{6CC3173B-C9F3-4572-349E-D8BD96BD0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40024">
            <a:off x="1116013" y="1916113"/>
            <a:ext cx="25415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4">
            <a:extLst>
              <a:ext uri="{FF2B5EF4-FFF2-40B4-BE49-F238E27FC236}">
                <a16:creationId xmlns:a16="http://schemas.microsoft.com/office/drawing/2014/main" id="{368CE917-3136-8923-567B-7F24A5D90CF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404813"/>
            <a:ext cx="9144000" cy="2808287"/>
          </a:xfrm>
        </p:spPr>
        <p:txBody>
          <a:bodyPr/>
          <a:lstStyle/>
          <a:p>
            <a:pPr algn="ctr">
              <a:buFont typeface="Webdings" pitchFamily="2" charset="2"/>
              <a:buNone/>
            </a:pPr>
            <a:br>
              <a:rPr lang="de-DE" altLang="zh-CN" sz="1400" dirty="0"/>
            </a:br>
            <a:br>
              <a:rPr lang="de-DE" altLang="zh-CN" sz="1400" dirty="0"/>
            </a:br>
            <a:br>
              <a:rPr lang="de-DE" altLang="zh-CN" sz="1400" dirty="0"/>
            </a:br>
            <a:r>
              <a:rPr lang="de-DE" altLang="zh-CN" sz="2800" dirty="0"/>
              <a:t>Chapter 7 – The RSA </a:t>
            </a:r>
            <a:r>
              <a:rPr lang="de-DE" altLang="zh-CN" sz="2800" dirty="0" err="1"/>
              <a:t>Cryptosystem</a:t>
            </a:r>
            <a:br>
              <a:rPr lang="de-DE" altLang="zh-CN" sz="2800" dirty="0"/>
            </a:br>
            <a:br>
              <a:rPr lang="de-DE" altLang="zh-CN" sz="1600" b="0" dirty="0"/>
            </a:br>
            <a:endParaRPr lang="de-DE" altLang="zh-CN" sz="1600" b="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liennummernplatzhalter 3">
            <a:extLst>
              <a:ext uri="{FF2B5EF4-FFF2-40B4-BE49-F238E27FC236}">
                <a16:creationId xmlns:a16="http://schemas.microsoft.com/office/drawing/2014/main" id="{87E9920C-C965-9DD9-0593-3D6AFCEC6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41B223-1F5C-5640-9F05-88BC771727CC}" type="slidenum">
              <a:rPr lang="ar-SA" altLang="zh-CN">
                <a:solidFill>
                  <a:srgbClr val="394073"/>
                </a:solidFill>
              </a:rPr>
              <a:pPr/>
              <a:t>2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6147" name="Fußzeilenplatzhalter 4">
            <a:extLst>
              <a:ext uri="{FF2B5EF4-FFF2-40B4-BE49-F238E27FC236}">
                <a16:creationId xmlns:a16="http://schemas.microsoft.com/office/drawing/2014/main" id="{025E547B-AC34-014F-C4ED-B68C217F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A33391CE-A89A-8959-2B59-314E81F615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6149" name="Text Box 3">
            <a:extLst>
              <a:ext uri="{FF2B5EF4-FFF2-40B4-BE49-F238E27FC236}">
                <a16:creationId xmlns:a16="http://schemas.microsoft.com/office/drawing/2014/main" id="{86CBEE85-CD3E-8223-D152-68580A8BC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Attacks</a:t>
            </a:r>
            <a:r>
              <a:rPr lang="de-DE" altLang="zh-CN" sz="2000" dirty="0">
                <a:solidFill>
                  <a:srgbClr val="000000"/>
                </a:solidFill>
              </a:rPr>
              <a:t> and </a:t>
            </a:r>
            <a:r>
              <a:rPr lang="de-DE" altLang="zh-CN" sz="2000" dirty="0" err="1">
                <a:solidFill>
                  <a:srgbClr val="000000"/>
                </a:solidFill>
              </a:rPr>
              <a:t>Countermeasures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nummernplatzhalter 3">
            <a:extLst>
              <a:ext uri="{FF2B5EF4-FFF2-40B4-BE49-F238E27FC236}">
                <a16:creationId xmlns:a16="http://schemas.microsoft.com/office/drawing/2014/main" id="{0FAEAADA-8103-6721-8903-12E2072F2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2BC715-1D20-5B47-B8FD-CC220D46BA6B}" type="slidenum">
              <a:rPr lang="ar-SA" altLang="zh-CN">
                <a:solidFill>
                  <a:srgbClr val="394073"/>
                </a:solidFill>
              </a:rPr>
              <a:pPr/>
              <a:t>3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7171" name="Fußzeilenplatzhalter 4">
            <a:extLst>
              <a:ext uri="{FF2B5EF4-FFF2-40B4-BE49-F238E27FC236}">
                <a16:creationId xmlns:a16="http://schemas.microsoft.com/office/drawing/2014/main" id="{36D80EC5-5DAB-B79A-5581-EF9ED7ED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7EA74A6-0112-D1BD-3898-F97FE2A56B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19481EF3-461B-7078-7D68-8A15D330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Attacks</a:t>
            </a:r>
            <a:r>
              <a:rPr lang="de-DE" altLang="zh-CN" sz="2000" dirty="0">
                <a:solidFill>
                  <a:srgbClr val="000000"/>
                </a:solidFill>
              </a:rPr>
              <a:t> and </a:t>
            </a:r>
            <a:r>
              <a:rPr lang="de-DE" altLang="zh-CN" sz="2000" dirty="0" err="1">
                <a:solidFill>
                  <a:srgbClr val="000000"/>
                </a:solidFill>
              </a:rPr>
              <a:t>Countermeasures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nummernplatzhalter 3">
            <a:extLst>
              <a:ext uri="{FF2B5EF4-FFF2-40B4-BE49-F238E27FC236}">
                <a16:creationId xmlns:a16="http://schemas.microsoft.com/office/drawing/2014/main" id="{0217F677-D6DD-018D-06F4-C0B0A3F61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D32D8C-4640-9044-8961-9912C521FE5C}" type="slidenum">
              <a:rPr lang="ar-SA" altLang="zh-CN">
                <a:solidFill>
                  <a:srgbClr val="394073"/>
                </a:solidFill>
              </a:rPr>
              <a:pPr/>
              <a:t>4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8195" name="Fußzeilenplatzhalter 4">
            <a:extLst>
              <a:ext uri="{FF2B5EF4-FFF2-40B4-BE49-F238E27FC236}">
                <a16:creationId xmlns:a16="http://schemas.microsoft.com/office/drawing/2014/main" id="{A54051A4-D520-6F0F-5B33-9B9ACDDD2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2B2773B0-3CFA-BFAD-D06B-E05A67E836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The RSA Cryptosystem</a:t>
            </a:r>
          </a:p>
        </p:txBody>
      </p:sp>
      <p:sp>
        <p:nvSpPr>
          <p:cNvPr id="8197" name="Text Box 3">
            <a:extLst>
              <a:ext uri="{FF2B5EF4-FFF2-40B4-BE49-F238E27FC236}">
                <a16:creationId xmlns:a16="http://schemas.microsoft.com/office/drawing/2014/main" id="{6914348B-C997-E136-743C-0F3CCF508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23900" indent="-3683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Martin Hellman and Whitfield Diffie published their landmark public-key paper in 1976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Ronald </a:t>
            </a:r>
            <a:r>
              <a:rPr lang="en-US" altLang="zh-CN" sz="2000" u="sng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ivest, Adi </a:t>
            </a:r>
            <a:r>
              <a:rPr lang="en-US" altLang="zh-CN" sz="2000" u="sng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hamir and Leonard </a:t>
            </a:r>
            <a:r>
              <a:rPr lang="en-US" altLang="zh-CN" sz="2000" u="sng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dleman proposed the asymmetric RSA cryptosystem  in1977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Until now, RSA is the most widely use asymmetric cryptosystem although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elliptic curve cryptography (ECC)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becomes increasingly popular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 is mainly used for two applications</a:t>
            </a:r>
          </a:p>
          <a:p>
            <a:pPr lvl="1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Transport of (i.e., symmetric) keys (cf.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Chptr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13 of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Understanding Cryptography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lvl="1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Digital signatures (cf.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Chptr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10 of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Understanding Cryptography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liennummernplatzhalter 3">
            <a:extLst>
              <a:ext uri="{FF2B5EF4-FFF2-40B4-BE49-F238E27FC236}">
                <a16:creationId xmlns:a16="http://schemas.microsoft.com/office/drawing/2014/main" id="{372396DF-46C8-EABE-78B1-F5A985AB23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998311-5BF1-1348-8AAB-6A930AA28B9E}" type="slidenum">
              <a:rPr lang="ar-SA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9219" name="Fußzeilenplatzhalter 4">
            <a:extLst>
              <a:ext uri="{FF2B5EF4-FFF2-40B4-BE49-F238E27FC236}">
                <a16:creationId xmlns:a16="http://schemas.microsoft.com/office/drawing/2014/main" id="{003CE6CF-90D3-2E01-664A-95236F7D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94C3E27-E992-AEA2-C3E3-8AA3480445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Encryption and Decryption</a:t>
            </a:r>
          </a:p>
        </p:txBody>
      </p:sp>
      <p:sp>
        <p:nvSpPr>
          <p:cNvPr id="9221" name="Text Box 3">
            <a:extLst>
              <a:ext uri="{FF2B5EF4-FFF2-40B4-BE49-F238E27FC236}">
                <a16:creationId xmlns:a16="http://schemas.microsoft.com/office/drawing/2014/main" id="{65FADFF9-85DB-AF39-4E3B-6BDE69BDF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 operations are done over the integer ring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sz="2000" i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(i.e., arithmetic modulo n), where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 = p * q,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with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p, 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being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Encryption and decryption are simply exponentiations in the ring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x, y, n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are very long integer numbers (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≥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2048 bits)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security of the scheme relies on the fact that it is hard to derive the „private exponent“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given the public-key (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n, e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222" name="Rectangle 4">
            <a:extLst>
              <a:ext uri="{FF2B5EF4-FFF2-40B4-BE49-F238E27FC236}">
                <a16:creationId xmlns:a16="http://schemas.microsoft.com/office/drawing/2014/main" id="{6A3489B7-7B88-5C62-12B8-24A36ADF7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438400"/>
            <a:ext cx="6624638" cy="2181225"/>
          </a:xfrm>
          <a:prstGeom prst="rect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354013" indent="-2667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Definition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Given the public key </a:t>
            </a:r>
            <a:r>
              <a:rPr lang="en-US" altLang="zh-CN" sz="1600" i="1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(n,e) = k</a:t>
            </a:r>
            <a:r>
              <a:rPr lang="en-US" altLang="zh-CN" sz="1600" i="1" baseline="-250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pub</a:t>
            </a:r>
            <a:r>
              <a:rPr lang="en-US" altLang="zh-CN" sz="1600" i="1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and</a:t>
            </a:r>
            <a:r>
              <a:rPr lang="en-US" altLang="zh-CN" sz="1600" i="1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the private key </a:t>
            </a:r>
            <a:r>
              <a:rPr lang="en-US" altLang="zh-CN" sz="1600" i="1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d = k</a:t>
            </a:r>
            <a:r>
              <a:rPr lang="en-US" altLang="zh-CN" sz="1600" i="1" baseline="-250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pr</a:t>
            </a:r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we write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y = e</a:t>
            </a:r>
            <a:r>
              <a:rPr lang="sv-SE" altLang="zh-CN" sz="1600" baseline="-2500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sv-SE" altLang="zh-CN" sz="1600" baseline="-40000">
                <a:solidFill>
                  <a:srgbClr val="000000"/>
                </a:solidFill>
                <a:cs typeface="Arial" panose="020B0604020202020204" pitchFamily="34" charset="0"/>
              </a:rPr>
              <a:t>pub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(x) ≡ x</a:t>
            </a:r>
            <a:r>
              <a:rPr lang="sv-SE" altLang="zh-CN" sz="1600" baseline="30000">
                <a:solidFill>
                  <a:srgbClr val="000000"/>
                </a:solidFill>
                <a:cs typeface="Arial" panose="020B0604020202020204" pitchFamily="34" charset="0"/>
              </a:rPr>
              <a:t>e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 mod n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x = d</a:t>
            </a:r>
            <a:r>
              <a:rPr lang="sv-SE" altLang="zh-CN" sz="1600" baseline="-2500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sv-SE" altLang="zh-CN" sz="1600" baseline="-40000">
                <a:solidFill>
                  <a:srgbClr val="000000"/>
                </a:solidFill>
                <a:cs typeface="Arial" panose="020B0604020202020204" pitchFamily="34" charset="0"/>
              </a:rPr>
              <a:t>pr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(y) ≡ y</a:t>
            </a:r>
            <a:r>
              <a:rPr lang="sv-SE" altLang="zh-CN" sz="1600" baseline="30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 mod 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sv-SE" altLang="zh-CN" sz="1600">
                <a:solidFill>
                  <a:srgbClr val="000000"/>
                </a:solidFill>
              </a:rPr>
              <a:t>where x, y </a:t>
            </a:r>
            <a:r>
              <a:rPr lang="el-GR" altLang="zh-CN" sz="1600">
                <a:cs typeface="Arial" panose="020B0604020202020204" pitchFamily="34" charset="0"/>
              </a:rPr>
              <a:t>ε</a:t>
            </a:r>
            <a:r>
              <a:rPr lang="de-DE" altLang="zh-CN" sz="1600">
                <a:cs typeface="Arial" panose="020B0604020202020204" pitchFamily="34" charset="0"/>
              </a:rPr>
              <a:t> </a:t>
            </a:r>
            <a:r>
              <a:rPr lang="en-US" altLang="zh-CN" sz="1600"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1600" baseline="-25000">
                <a:ea typeface="宋体" panose="02010600030101010101" pitchFamily="2" charset="-122"/>
                <a:cs typeface="Arial" panose="020B0604020202020204" pitchFamily="34" charset="0"/>
              </a:rPr>
              <a:t>n. 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We call 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e</a:t>
            </a:r>
            <a:r>
              <a:rPr lang="sv-SE" altLang="zh-CN" sz="1600" baseline="-2500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sv-SE" altLang="zh-CN" sz="1600" baseline="-40000">
                <a:solidFill>
                  <a:srgbClr val="000000"/>
                </a:solidFill>
                <a:cs typeface="Arial" panose="020B0604020202020204" pitchFamily="34" charset="0"/>
              </a:rPr>
              <a:t>pub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() the encryption and d</a:t>
            </a:r>
            <a:r>
              <a:rPr lang="sv-SE" altLang="zh-CN" sz="1600" baseline="-2500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sv-SE" altLang="zh-CN" sz="1600" baseline="-40000">
                <a:solidFill>
                  <a:srgbClr val="000000"/>
                </a:solidFill>
                <a:cs typeface="Arial" panose="020B0604020202020204" pitchFamily="34" charset="0"/>
              </a:rPr>
              <a:t>pr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() the decryption operation.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liennummernplatzhalter 3">
            <a:extLst>
              <a:ext uri="{FF2B5EF4-FFF2-40B4-BE49-F238E27FC236}">
                <a16:creationId xmlns:a16="http://schemas.microsoft.com/office/drawing/2014/main" id="{0C55F2BC-6952-21C3-020C-99FDB66D9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97E6C3-F53F-FA41-980B-B599FC162768}" type="slidenum">
              <a:rPr lang="ar-SA" altLang="zh-CN">
                <a:solidFill>
                  <a:srgbClr val="394073"/>
                </a:solidFill>
              </a:rPr>
              <a:pPr/>
              <a:t>6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0243" name="Fußzeilenplatzhalter 4">
            <a:extLst>
              <a:ext uri="{FF2B5EF4-FFF2-40B4-BE49-F238E27FC236}">
                <a16:creationId xmlns:a16="http://schemas.microsoft.com/office/drawing/2014/main" id="{D47DF5D8-86B3-9FE8-BD44-E0B1B053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E9C123D-BF1A-0DE3-A3A8-5E139E3263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Key Generation</a:t>
            </a:r>
          </a:p>
        </p:txBody>
      </p:sp>
      <p:sp>
        <p:nvSpPr>
          <p:cNvPr id="10245" name="Text Box 3">
            <a:extLst>
              <a:ext uri="{FF2B5EF4-FFF2-40B4-BE49-F238E27FC236}">
                <a16:creationId xmlns:a16="http://schemas.microsoft.com/office/drawing/2014/main" id="{4DCD905D-C7C6-11BF-165E-3035EFFD3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785813"/>
            <a:ext cx="802798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Like all asymmetric schemes, RSA has set-up phase during which the private and public keys are computed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Remarks: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Choosing two large, distinct primes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p, 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(in Step 1) is non-trivial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gcd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(e, </a:t>
            </a:r>
            <a:r>
              <a:rPr lang="en-US" altLang="zh-CN" sz="2000" i="1" dirty="0" err="1">
                <a:solidFill>
                  <a:srgbClr val="000000"/>
                </a:solidFill>
                <a:ea typeface="宋体" panose="02010600030101010101" pitchFamily="2" charset="-122"/>
              </a:rPr>
              <a:t>Φ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(n)) = 1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ensures that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has an inverse and, thus, that there is always a private key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6" name="Rectangle 4">
                <a:extLst>
                  <a:ext uri="{FF2B5EF4-FFF2-40B4-BE49-F238E27FC236}">
                    <a16:creationId xmlns:a16="http://schemas.microsoft.com/office/drawing/2014/main" id="{C303DA43-F515-EE3C-377E-F190F3E2F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1625" y="1571625"/>
                <a:ext cx="6624638" cy="3188565"/>
              </a:xfrm>
              <a:prstGeom prst="rect">
                <a:avLst/>
              </a:prstGeom>
              <a:noFill/>
              <a:ln w="255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lvl1pPr marL="544513" indent="-457200" defTabSz="449263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449263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449263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449263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449263"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n-US" altLang="zh-CN" sz="1600" b="1" u="sng" dirty="0">
                    <a:solidFill>
                      <a:srgbClr val="000000"/>
                    </a:solidFill>
                    <a:ea typeface="宋体" panose="02010600030101010101" pitchFamily="2" charset="-122"/>
                    <a:cs typeface="Arial" panose="020B0604020202020204" pitchFamily="34" charset="0"/>
                  </a:rPr>
                  <a:t>Algorithm: RSA Key Generation</a:t>
                </a: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de-DE" altLang="zh-CN" sz="1600" b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Output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: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public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key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: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</a:t>
                </a:r>
                <a:r>
                  <a:rPr lang="de-DE" altLang="zh-CN" sz="1600" i="1" baseline="-250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pub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,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and private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key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</a:t>
                </a:r>
                <a:r>
                  <a:rPr lang="de-DE" altLang="zh-CN" sz="1600" i="1" baseline="-250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pr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d</a:t>
                </a: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/>
                </a:pP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Choose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two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large primes 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p,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q</a:t>
                </a:r>
                <a:endParaRPr lang="de-DE" altLang="zh-CN" sz="1600" i="1" dirty="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/>
                </a:pP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Compute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p *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q</a:t>
                </a:r>
                <a:endParaRPr lang="de-DE" altLang="zh-CN" sz="1600" i="1" dirty="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/>
                </a:pP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Compute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l-GR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Φ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= (p-1) * (q-1)</a:t>
                </a:r>
                <a:endParaRPr lang="de-DE" altLang="zh-CN" sz="1600" dirty="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/>
                </a:pP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Select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the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public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exponent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</a:t>
                </a:r>
                <a:r>
                  <a:rPr lang="zh-CN" altLang="en-US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</m:oMath>
                </a14:m>
                <a:r>
                  <a:rPr lang="sv-S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altLang="zh-CN" sz="16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Arial" panose="020B0604020202020204" pitchFamily="34" charset="0"/>
                  </a:rPr>
                  <a:t>{1, 2, …, </a:t>
                </a:r>
                <a:r>
                  <a:rPr lang="el-GR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Φ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)-1}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such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that</a:t>
                </a:r>
                <a:b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</a:b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gcd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, </a:t>
                </a:r>
                <a:r>
                  <a:rPr lang="el-GR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Φ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 ) = 1</a:t>
                </a: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 startAt="5"/>
                </a:pP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Compute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the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private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key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d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such </a:t>
                </a:r>
                <a:r>
                  <a:rPr lang="de-DE" altLang="zh-CN" sz="16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that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d *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sv-S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≡ 1 mod </a:t>
                </a:r>
                <a:r>
                  <a:rPr lang="el-GR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Φ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</a:t>
                </a:r>
              </a:p>
              <a:p>
                <a:pPr>
                  <a:lnSpc>
                    <a:spcPct val="125000"/>
                  </a:lnSpc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AutoNum type="arabicPeriod" startAt="5"/>
                </a:pPr>
                <a:r>
                  <a:rPr lang="de-DE" altLang="zh-CN" sz="1600" b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RETURN</a:t>
                </a:r>
                <a:r>
                  <a:rPr lang="de-DE" altLang="zh-CN" sz="16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</a:t>
                </a:r>
                <a:r>
                  <a:rPr lang="de-DE" altLang="zh-CN" sz="1600" i="1" baseline="-250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pub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(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n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,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e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), </a:t>
                </a:r>
                <a:r>
                  <a:rPr lang="de-DE" altLang="zh-CN" sz="1600" i="1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k</a:t>
                </a:r>
                <a:r>
                  <a:rPr lang="de-DE" altLang="zh-CN" sz="1600" i="1" baseline="-25000" dirty="0" err="1">
                    <a:solidFill>
                      <a:srgbClr val="000000"/>
                    </a:solidFill>
                    <a:cs typeface="Arial" panose="020B0604020202020204" pitchFamily="34" charset="0"/>
                  </a:rPr>
                  <a:t>pr</a:t>
                </a:r>
                <a:r>
                  <a:rPr lang="de-DE" altLang="zh-CN" sz="1600" i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= d</a:t>
                </a:r>
                <a:endParaRPr lang="el-GR" altLang="zh-CN" sz="1600" i="1" dirty="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6" name="Rectangle 4">
                <a:extLst>
                  <a:ext uri="{FF2B5EF4-FFF2-40B4-BE49-F238E27FC236}">
                    <a16:creationId xmlns:a16="http://schemas.microsoft.com/office/drawing/2014/main" id="{C303DA43-F515-EE3C-377E-F190F3E2F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1625" y="1571625"/>
                <a:ext cx="6624638" cy="3188565"/>
              </a:xfrm>
              <a:prstGeom prst="rect">
                <a:avLst/>
              </a:prstGeom>
              <a:blipFill>
                <a:blip r:embed="rId3"/>
                <a:stretch>
                  <a:fillRect l="-381" t="-787" b="-2756"/>
                </a:stretch>
              </a:blipFill>
              <a:ln w="25527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DF23599-D593-A169-9FAA-AE96969DD13B}"/>
                  </a:ext>
                </a:extLst>
              </p14:cNvPr>
              <p14:cNvContentPartPr/>
              <p14:nvPr/>
            </p14:nvContentPartPr>
            <p14:xfrm>
              <a:off x="1196280" y="2261160"/>
              <a:ext cx="6845400" cy="276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DF23599-D593-A169-9FAA-AE96969DD1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6920" y="2251800"/>
                <a:ext cx="6864120" cy="278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liennummernplatzhalter 3">
            <a:extLst>
              <a:ext uri="{FF2B5EF4-FFF2-40B4-BE49-F238E27FC236}">
                <a16:creationId xmlns:a16="http://schemas.microsoft.com/office/drawing/2014/main" id="{3BCA8CC1-B3F6-6DCD-F2EF-902897BC0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F3B911-0ADF-DC41-9D10-21FE245E3A1A}" type="slidenum">
              <a:rPr lang="ar-SA" altLang="zh-CN">
                <a:solidFill>
                  <a:srgbClr val="394073"/>
                </a:solidFill>
              </a:rPr>
              <a:pPr/>
              <a:t>7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1267" name="Fußzeilenplatzhalter 4">
            <a:extLst>
              <a:ext uri="{FF2B5EF4-FFF2-40B4-BE49-F238E27FC236}">
                <a16:creationId xmlns:a16="http://schemas.microsoft.com/office/drawing/2014/main" id="{08158FD6-605B-6BD3-8562-1319C1E34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776FE2FF-9CED-FBC4-6BA3-0E0C9D6BD5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Example: RSA with small numbers</a:t>
            </a:r>
          </a:p>
        </p:txBody>
      </p:sp>
      <p:sp>
        <p:nvSpPr>
          <p:cNvPr id="11269" name="Text Box 3">
            <a:extLst>
              <a:ext uri="{FF2B5EF4-FFF2-40B4-BE49-F238E27FC236}">
                <a16:creationId xmlns:a16="http://schemas.microsoft.com/office/drawing/2014/main" id="{70A7AC24-3F25-B4AC-0CE4-A97D3764C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3656012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57200" indent="-4572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5000"/>
              </a:lnSpc>
              <a:spcBef>
                <a:spcPts val="625"/>
              </a:spcBef>
            </a:pP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ALICE</a:t>
            </a:r>
          </a:p>
          <a:p>
            <a:pPr>
              <a:lnSpc>
                <a:spcPct val="125000"/>
              </a:lnSpc>
              <a:spcBef>
                <a:spcPts val="625"/>
              </a:spcBef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Message </a:t>
            </a: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x = 4</a:t>
            </a: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y = x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≡ 4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≡ 31 mod 33</a:t>
            </a:r>
          </a:p>
        </p:txBody>
      </p:sp>
      <p:sp>
        <p:nvSpPr>
          <p:cNvPr id="11270" name="Text Box 4">
            <a:extLst>
              <a:ext uri="{FF2B5EF4-FFF2-40B4-BE49-F238E27FC236}">
                <a16:creationId xmlns:a16="http://schemas.microsoft.com/office/drawing/2014/main" id="{44B817C5-758E-AA67-27C0-4259B7312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066800"/>
            <a:ext cx="3656013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57200" indent="-4572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5000"/>
              </a:lnSpc>
              <a:spcBef>
                <a:spcPts val="625"/>
              </a:spcBef>
            </a:pP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BOB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Choose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p =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3 and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q = 11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Compute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 = p * q = 33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Φ(n) = (3-1) * (11-1) = 20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Choose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e = 3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d ≡ e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≡7 mod 20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= 31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≡ </a:t>
            </a:r>
            <a:r>
              <a:rPr lang="en-US" altLang="zh-CN" sz="2000" b="1" i="1">
                <a:solidFill>
                  <a:srgbClr val="FF0000"/>
                </a:solidFill>
                <a:ea typeface="宋体" panose="02010600030101010101" pitchFamily="2" charset="-122"/>
              </a:rPr>
              <a:t>4 = x</a:t>
            </a:r>
            <a:r>
              <a:rPr lang="en-US" altLang="zh-CN" sz="2000" i="1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mod 33</a:t>
            </a:r>
          </a:p>
          <a:p>
            <a:pPr>
              <a:lnSpc>
                <a:spcPct val="125000"/>
              </a:lnSpc>
              <a:spcBef>
                <a:spcPts val="625"/>
              </a:spcBef>
              <a:buFontTx/>
              <a:buAutoNum type="arabicPeriod"/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71" name="Line 5">
            <a:extLst>
              <a:ext uri="{FF2B5EF4-FFF2-40B4-BE49-F238E27FC236}">
                <a16:creationId xmlns:a16="http://schemas.microsoft.com/office/drawing/2014/main" id="{1BE58BEA-D840-6A52-FD11-E5EC51432A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962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2" name="Text Box 6">
            <a:extLst>
              <a:ext uri="{FF2B5EF4-FFF2-40B4-BE49-F238E27FC236}">
                <a16:creationId xmlns:a16="http://schemas.microsoft.com/office/drawing/2014/main" id="{5D4F3CA4-BD8D-68D4-37F8-DB8DD8ED1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3565525"/>
            <a:ext cx="1768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K</a:t>
            </a:r>
            <a:r>
              <a:rPr lang="de-DE" altLang="zh-CN" sz="1600" baseline="-25000">
                <a:cs typeface="Arial" panose="020B0604020202020204" pitchFamily="34" charset="0"/>
              </a:rPr>
              <a:t>pub </a:t>
            </a:r>
            <a:r>
              <a:rPr lang="de-DE" altLang="zh-CN" sz="1600">
                <a:cs typeface="Arial" panose="020B0604020202020204" pitchFamily="34" charset="0"/>
              </a:rPr>
              <a:t>= (33,3)</a:t>
            </a:r>
          </a:p>
        </p:txBody>
      </p:sp>
      <p:sp>
        <p:nvSpPr>
          <p:cNvPr id="11273" name="Line 7">
            <a:extLst>
              <a:ext uri="{FF2B5EF4-FFF2-40B4-BE49-F238E27FC236}">
                <a16:creationId xmlns:a16="http://schemas.microsoft.com/office/drawing/2014/main" id="{672DE5F0-2410-8994-E0C1-6A2FFA68C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257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4" name="Text Box 8">
            <a:extLst>
              <a:ext uri="{FF2B5EF4-FFF2-40B4-BE49-F238E27FC236}">
                <a16:creationId xmlns:a16="http://schemas.microsoft.com/office/drawing/2014/main" id="{FA59713A-DDF9-981B-9D94-574A47E82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00600"/>
            <a:ext cx="1768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y = 31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C241EE2-864B-CE03-DBE7-266ACA23653F}"/>
                  </a:ext>
                </a:extLst>
              </p14:cNvPr>
              <p14:cNvContentPartPr/>
              <p14:nvPr/>
            </p14:nvContentPartPr>
            <p14:xfrm>
              <a:off x="3446280" y="5117400"/>
              <a:ext cx="818640" cy="41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C241EE2-864B-CE03-DBE7-266ACA2365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6920" y="5108040"/>
                <a:ext cx="837360" cy="5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liennummernplatzhalter 3">
            <a:extLst>
              <a:ext uri="{FF2B5EF4-FFF2-40B4-BE49-F238E27FC236}">
                <a16:creationId xmlns:a16="http://schemas.microsoft.com/office/drawing/2014/main" id="{298AE941-9329-F99D-6708-34E8EB583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8A3885-1346-0849-A72B-DA31EE4F1999}" type="slidenum">
              <a:rPr lang="ar-SA" altLang="zh-CN">
                <a:solidFill>
                  <a:srgbClr val="394073"/>
                </a:solidFill>
              </a:rPr>
              <a:pPr/>
              <a:t>8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2291" name="Fußzeilenplatzhalter 4">
            <a:extLst>
              <a:ext uri="{FF2B5EF4-FFF2-40B4-BE49-F238E27FC236}">
                <a16:creationId xmlns:a16="http://schemas.microsoft.com/office/drawing/2014/main" id="{0E892129-385B-CC93-A411-2103BFEE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61FFE59C-3DBD-774A-9CCA-2374799322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12293" name="Text Box 3">
            <a:extLst>
              <a:ext uri="{FF2B5EF4-FFF2-40B4-BE49-F238E27FC236}">
                <a16:creationId xmlns:a16="http://schemas.microsoft.com/office/drawing/2014/main" id="{7470CCDB-9E3D-7A07-9FDC-F4E98D3A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Attacks</a:t>
            </a:r>
            <a:r>
              <a:rPr lang="de-DE" altLang="zh-CN" sz="2000" dirty="0">
                <a:solidFill>
                  <a:srgbClr val="000000"/>
                </a:solidFill>
              </a:rPr>
              <a:t> and </a:t>
            </a:r>
            <a:r>
              <a:rPr lang="de-DE" altLang="zh-CN" sz="2000" dirty="0" err="1">
                <a:solidFill>
                  <a:srgbClr val="000000"/>
                </a:solidFill>
              </a:rPr>
              <a:t>Countermeasures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nummernplatzhalter 3">
            <a:extLst>
              <a:ext uri="{FF2B5EF4-FFF2-40B4-BE49-F238E27FC236}">
                <a16:creationId xmlns:a16="http://schemas.microsoft.com/office/drawing/2014/main" id="{D2AB8CAA-62C0-7AF7-22D3-8C44C6551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B1A02F-5889-8241-9737-5029B9F5B370}" type="slidenum">
              <a:rPr lang="ar-SA" altLang="zh-CN">
                <a:solidFill>
                  <a:srgbClr val="394073"/>
                </a:solidFill>
              </a:rPr>
              <a:pPr/>
              <a:t>9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3315" name="Fußzeilenplatzhalter 4">
            <a:extLst>
              <a:ext uri="{FF2B5EF4-FFF2-40B4-BE49-F238E27FC236}">
                <a16:creationId xmlns:a16="http://schemas.microsoft.com/office/drawing/2014/main" id="{9B010D91-791C-71B6-5D45-BFF98AA4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1C69787C-3A9C-7589-9C7B-2AFEE9454E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Implementation aspects</a:t>
            </a:r>
          </a:p>
        </p:txBody>
      </p:sp>
      <p:sp>
        <p:nvSpPr>
          <p:cNvPr id="13317" name="Text Box 3">
            <a:extLst>
              <a:ext uri="{FF2B5EF4-FFF2-40B4-BE49-F238E27FC236}">
                <a16:creationId xmlns:a16="http://schemas.microsoft.com/office/drawing/2014/main" id="{7638E79C-DF52-9223-840B-0743906D9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RSA cryptosystem uses only one arithmetic operation (modular exponentiation) which makes it conceptually a simple asymmetric scheme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Even though conceptually simple, due to the use of very long numbers, RSA is orders of magnitude slower than symmetric schemes, e.g., DES, AES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When implementing RSA (esp. on a constrained device such as smartcards or cell phones) close attention has to be paid to the correct choice of arithmetic algorithms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square-and-multiply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algorithm allows fast exponentiation, even with very long numbers…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liennummernplatzhalter 3">
            <a:extLst>
              <a:ext uri="{FF2B5EF4-FFF2-40B4-BE49-F238E27FC236}">
                <a16:creationId xmlns:a16="http://schemas.microsoft.com/office/drawing/2014/main" id="{613834ED-4A5A-8EF8-DFE1-887B80FE5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70DFDC-315D-654F-87BA-2C9D4215BD83}" type="slidenum">
              <a:rPr lang="ar-SA" altLang="zh-CN">
                <a:solidFill>
                  <a:srgbClr val="394073"/>
                </a:solidFill>
              </a:rPr>
              <a:pPr/>
              <a:t>10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4339" name="Fußzeilenplatzhalter 4">
            <a:extLst>
              <a:ext uri="{FF2B5EF4-FFF2-40B4-BE49-F238E27FC236}">
                <a16:creationId xmlns:a16="http://schemas.microsoft.com/office/drawing/2014/main" id="{23AFDF34-135E-4CBB-F4DA-5DB467CF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356C250F-FF21-01CE-8B1A-642BD7B7045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Square-and-Multiply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EE45B1BA-CE44-41EF-52FA-21A8E40B9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857250"/>
            <a:ext cx="8027987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Basic principle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: Scan exponent bits from left to right and square/multiply operand accordingly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Rule: Square in every iteration (Step 3) and multiply current result by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if the exponent bit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= 1 (Step 5)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Modulo reduction after each step keeps the operand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small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4F1060AB-2159-6885-4F74-F415FF45E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781175"/>
            <a:ext cx="6624638" cy="3290888"/>
          </a:xfrm>
          <a:prstGeom prst="rect">
            <a:avLst/>
          </a:prstGeom>
          <a:noFill/>
          <a:ln w="255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544513" indent="-4572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</a:pPr>
            <a:r>
              <a:rPr lang="en-US" altLang="zh-CN" sz="1600" b="1" u="sng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Algorithm: Square-and-Multiply for </a:t>
            </a:r>
            <a:r>
              <a:rPr lang="en-US" altLang="zh-CN" sz="1600" b="1" i="1" u="sng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1600" b="1" i="1" u="sng" baseline="3000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1600" b="1" i="1" u="sng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mod n 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Input: 	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Exponent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H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, base element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, Modulus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Output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: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y =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r>
              <a:rPr lang="de-D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H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mod 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Determine binary representation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H = (h</a:t>
            </a:r>
            <a:r>
              <a:rPr lang="de-DE" altLang="zh-CN" sz="1600" i="1" baseline="-25000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, h</a:t>
            </a:r>
            <a:r>
              <a:rPr lang="de-DE" altLang="zh-CN" sz="1600" i="1" baseline="-25000">
                <a:solidFill>
                  <a:srgbClr val="000000"/>
                </a:solidFill>
                <a:cs typeface="Arial" panose="020B0604020202020204" pitchFamily="34" charset="0"/>
              </a:rPr>
              <a:t>t-1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, ..., h</a:t>
            </a:r>
            <a:r>
              <a:rPr lang="de-DE" altLang="zh-CN" sz="1600" i="1" baseline="-25000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r>
              <a:rPr lang="de-DE" altLang="zh-CN" sz="1600" i="1" baseline="-25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endParaRPr lang="de-DE" altLang="zh-CN" sz="1600" i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FOR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i = t-1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TO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 		y = y</a:t>
            </a:r>
            <a:r>
              <a:rPr lang="de-D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mod 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	IF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h</a:t>
            </a:r>
            <a:r>
              <a:rPr lang="de-DE" altLang="zh-CN" sz="1600" i="1" baseline="-2500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= 1</a:t>
            </a: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THEN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 		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y = y * x mod 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RETURN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y</a:t>
            </a:r>
            <a:endParaRPr lang="de-DE" altLang="zh-CN" sz="16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liennummernplatzhalter 3">
            <a:extLst>
              <a:ext uri="{FF2B5EF4-FFF2-40B4-BE49-F238E27FC236}">
                <a16:creationId xmlns:a16="http://schemas.microsoft.com/office/drawing/2014/main" id="{2774B5B5-10B0-D9B6-F79E-90DBC2F92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177691-8007-0D4E-88D2-EC7042B79C49}" type="slidenum">
              <a:rPr lang="ar-SA" altLang="zh-CN">
                <a:solidFill>
                  <a:srgbClr val="394073"/>
                </a:solidFill>
              </a:rPr>
              <a:pPr/>
              <a:t>11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5363" name="Fußzeilenplatzhalter 4">
            <a:extLst>
              <a:ext uri="{FF2B5EF4-FFF2-40B4-BE49-F238E27FC236}">
                <a16:creationId xmlns:a16="http://schemas.microsoft.com/office/drawing/2014/main" id="{0E2C1355-5DB3-6165-C4C9-E018948E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5F286818-5ADD-8166-59C9-BA87A2FEC4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Example: Square-and-Multiply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Text Box 3">
                <a:extLst>
                  <a:ext uri="{FF2B5EF4-FFF2-40B4-BE49-F238E27FC236}">
                    <a16:creationId xmlns:a16="http://schemas.microsoft.com/office/drawing/2014/main" id="{62344F2B-4542-258B-AEBF-AB761E67AA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188" y="1079500"/>
                <a:ext cx="8027987" cy="5421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marL="338138" indent="-338138" defTabSz="449263"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449263"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449263"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449263"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449263"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38138" algn="l"/>
                    <a:tab pos="785813" algn="l"/>
                    <a:tab pos="1235075" algn="l"/>
                    <a:tab pos="1684338" algn="l"/>
                    <a:tab pos="2133600" algn="l"/>
                    <a:tab pos="2582863" algn="l"/>
                    <a:tab pos="3032125" algn="l"/>
                    <a:tab pos="3481388" algn="l"/>
                    <a:tab pos="3930650" algn="l"/>
                    <a:tab pos="4379913" algn="l"/>
                    <a:tab pos="4829175" algn="l"/>
                    <a:tab pos="5278438" algn="l"/>
                    <a:tab pos="5727700" algn="l"/>
                    <a:tab pos="6176963" algn="l"/>
                    <a:tab pos="6626225" algn="l"/>
                    <a:tab pos="7075488" algn="l"/>
                    <a:tab pos="7524750" algn="l"/>
                    <a:tab pos="7974013" algn="l"/>
                    <a:tab pos="8423275" algn="l"/>
                    <a:tab pos="8872538" algn="l"/>
                    <a:tab pos="93218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de-DE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de-DE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</m:sSup>
                        <m: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kumimoji="0" lang="de-DE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(11010)</m:t>
                            </m:r>
                          </m:e>
                          <m:sub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kumimoji="0" lang="en-US" altLang="zh-CN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without modulo reduction</a:t>
                </a:r>
              </a:p>
              <a:p>
                <a:pPr marL="0" indent="0"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i="1" baseline="-25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endParaRPr lang="de-DE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5000"/>
                  </a:lnSpc>
                  <a:spcBef>
                    <a:spcPts val="625"/>
                  </a:spcBef>
                  <a:buClr>
                    <a:srgbClr val="007AC2"/>
                  </a:buClr>
                  <a:buSzPct val="120000"/>
                  <a:buFont typeface="Arial" panose="020B0604020202020204" pitchFamily="34" charset="0"/>
                  <a:buChar char="•"/>
                </a:pPr>
                <a:r>
                  <a:rPr lang="de-DE" altLang="zh-CN" sz="2000" dirty="0" err="1">
                    <a:solidFill>
                      <a:srgbClr val="000000"/>
                    </a:solidFill>
                  </a:rPr>
                  <a:t>Observe</a:t>
                </a:r>
                <a:r>
                  <a:rPr lang="de-DE" altLang="zh-CN" sz="2000" dirty="0">
                    <a:solidFill>
                      <a:srgbClr val="000000"/>
                    </a:solidFill>
                  </a:rPr>
                  <a:t> </a:t>
                </a:r>
                <a:r>
                  <a:rPr lang="de-DE" altLang="zh-CN" sz="2000" dirty="0" err="1">
                    <a:solidFill>
                      <a:srgbClr val="000000"/>
                    </a:solidFill>
                  </a:rPr>
                  <a:t>how</a:t>
                </a:r>
                <a:r>
                  <a:rPr lang="de-DE" altLang="zh-CN" sz="2000" dirty="0">
                    <a:solidFill>
                      <a:srgbClr val="000000"/>
                    </a:solidFill>
                  </a:rPr>
                  <a:t> </a:t>
                </a:r>
                <a:r>
                  <a:rPr lang="de-DE" altLang="zh-CN" sz="2000" dirty="0" err="1">
                    <a:solidFill>
                      <a:srgbClr val="000000"/>
                    </a:solidFill>
                  </a:rPr>
                  <a:t>the</a:t>
                </a:r>
                <a:r>
                  <a:rPr lang="de-DE" altLang="zh-CN" sz="2000" dirty="0">
                    <a:solidFill>
                      <a:srgbClr val="000000"/>
                    </a:solidFill>
                  </a:rPr>
                  <a:t> </a:t>
                </a:r>
                <a:r>
                  <a:rPr lang="de-DE" altLang="zh-CN" sz="2000" dirty="0" err="1">
                    <a:solidFill>
                      <a:srgbClr val="000000"/>
                    </a:solidFill>
                  </a:rPr>
                  <a:t>exponent</a:t>
                </a:r>
                <a:r>
                  <a:rPr lang="de-DE" altLang="zh-CN" sz="2000" dirty="0">
                    <a:solidFill>
                      <a:srgbClr val="000000"/>
                    </a:solidFill>
                  </a:rPr>
                  <a:t> </a:t>
                </a:r>
                <a:r>
                  <a:rPr lang="de-DE" altLang="zh-CN" sz="2000" dirty="0" err="1">
                    <a:solidFill>
                      <a:srgbClr val="000000"/>
                    </a:solidFill>
                  </a:rPr>
                  <a:t>evolves</a:t>
                </a:r>
                <a:r>
                  <a:rPr lang="de-DE" altLang="zh-CN" sz="2000" dirty="0">
                    <a:solidFill>
                      <a:srgbClr val="000000"/>
                    </a:solidFill>
                  </a:rPr>
                  <a:t> </a:t>
                </a:r>
                <a:r>
                  <a:rPr lang="de-DE" altLang="zh-CN" sz="2000" dirty="0" err="1">
                    <a:solidFill>
                      <a:srgbClr val="000000"/>
                    </a:solidFill>
                  </a:rPr>
                  <a:t>into</a:t>
                </a:r>
                <a:r>
                  <a:rPr lang="de-DE" altLang="zh-CN" sz="2000" i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de-DE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de-DE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</m:sSup>
                        <m: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en-US" altLang="zh-CN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kumimoji="0" lang="de-DE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(11010)</m:t>
                            </m:r>
                          </m:e>
                          <m:sub>
                            <m:r>
                              <a:rPr kumimoji="0" lang="en-US" altLang="zh-CN" sz="20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000" i="1" baseline="300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365" name="Text Box 3">
                <a:extLst>
                  <a:ext uri="{FF2B5EF4-FFF2-40B4-BE49-F238E27FC236}">
                    <a16:creationId xmlns:a16="http://schemas.microsoft.com/office/drawing/2014/main" id="{62344F2B-4542-258B-AEBF-AB761E67A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1079500"/>
                <a:ext cx="8027987" cy="5421313"/>
              </a:xfrm>
              <a:prstGeom prst="rect">
                <a:avLst/>
              </a:prstGeom>
              <a:blipFill>
                <a:blip r:embed="rId3"/>
                <a:stretch>
                  <a:fillRect l="-2212" t="-1168" r="-632" b="-2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820" name="Group 4">
                <a:extLst>
                  <a:ext uri="{FF2B5EF4-FFF2-40B4-BE49-F238E27FC236}">
                    <a16:creationId xmlns:a16="http://schemas.microsoft.com/office/drawing/2014/main" id="{EC643E90-0425-5DBA-B9D5-FCE885ABC171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3642531333"/>
                  </p:ext>
                </p:extLst>
              </p:nvPr>
            </p:nvGraphicFramePr>
            <p:xfrm>
              <a:off x="755576" y="1700808"/>
              <a:ext cx="7162800" cy="3962400"/>
            </p:xfrm>
            <a:graphic>
              <a:graphicData uri="http://schemas.openxmlformats.org/drawingml/2006/table">
                <a:tbl>
                  <a:tblPr/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913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574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165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Step</a:t>
                          </a:r>
                          <a:endParaRPr kumimoji="0" lang="de-DE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endParaRPr kumimoji="0" lang="de-DE" sz="14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Binary </a:t>
                          </a:r>
                          <a:r>
                            <a:rPr kumimoji="0" lang="de-DE" sz="1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exponent</a:t>
                          </a:r>
                          <a:endParaRPr kumimoji="0" lang="de-DE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Op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Comment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endParaRPr kumimoji="0" lang="de-DE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Initial </a:t>
                          </a: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setting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,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=1 </a:t>
                          </a: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processed</a:t>
                          </a:r>
                          <a:endParaRPr kumimoji="0" lang="de-DE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0" lang="en-US" altLang="zh-CN" sz="1400" b="0" i="1" u="none" strike="noStrike" cap="none" normalizeH="0" baseline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0" lang="de-DE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0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MUL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0" lang="en-US" altLang="zh-CN" sz="1400" b="0" i="1" u="none" strike="noStrike" cap="none" normalizeH="0" baseline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0" lang="en-US" altLang="zh-CN" sz="1400" b="0" i="1" u="none" strike="noStrike" cap="none" normalizeH="0" baseline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6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p>
                                </m:sSup>
                                <m:r>
                                  <a:rPr kumimoji="0" lang="de-DE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kumimoji="0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0" lang="en-US" altLang="zh-CN" sz="1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p>
                                </m:sSup>
                                <m:r>
                                  <a:rPr kumimoji="0" lang="en-US" altLang="zh-CN" sz="14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(1101)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MUL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=1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0" lang="en-US" altLang="zh-CN" sz="1400" b="0" i="1" u="none" strike="noStrike" cap="none" normalizeH="0" baseline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kumimoji="0" lang="en-US" altLang="zh-CN" sz="1400" b="0" i="1" u="none" strike="noStrike" cap="none" normalizeH="0" baseline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13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en-US" altLang="zh-CN" sz="14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26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(11010)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de-DE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26</m:t>
                                        </m:r>
                                      </m:sup>
                                    </m:sSup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en-US" altLang="zh-CN" sz="14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kumimoji="0" lang="de-DE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(11010)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400" b="0" i="1" u="none" strike="noStrike" cap="none" normalizeH="0" baseline="0" dirty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FF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kumimoji="0" lang="de-DE" sz="1400" b="0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820" name="Group 4">
                <a:extLst>
                  <a:ext uri="{FF2B5EF4-FFF2-40B4-BE49-F238E27FC236}">
                    <a16:creationId xmlns:a16="http://schemas.microsoft.com/office/drawing/2014/main" id="{EC643E90-0425-5DBA-B9D5-FCE885ABC171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3642531333"/>
                  </p:ext>
                </p:extLst>
              </p:nvPr>
            </p:nvGraphicFramePr>
            <p:xfrm>
              <a:off x="755576" y="1700808"/>
              <a:ext cx="7162800" cy="3962400"/>
            </p:xfrm>
            <a:graphic>
              <a:graphicData uri="http://schemas.openxmlformats.org/drawingml/2006/table">
                <a:tbl>
                  <a:tblPr/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913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574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165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Step</a:t>
                          </a:r>
                          <a:endParaRPr kumimoji="0" lang="de-DE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endParaRPr kumimoji="0" lang="de-DE" sz="14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Binary </a:t>
                          </a:r>
                          <a:r>
                            <a:rPr kumimoji="0" lang="de-DE" sz="1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exponent</a:t>
                          </a:r>
                          <a:endParaRPr kumimoji="0" lang="de-DE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Op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Comment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128125" r="-421875" b="-7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128125" r="-179310" b="-7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endParaRPr kumimoji="0" lang="de-DE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Initial </a:t>
                          </a: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setting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,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=1 </a:t>
                          </a: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processed</a:t>
                          </a:r>
                          <a:endParaRPr kumimoji="0" lang="de-DE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243333" r="-421875" b="-7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243333" r="-179310" b="-7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343333" r="-421875" b="-6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343333" r="-179310" b="-6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MUL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429032" r="-421875" b="-4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429032" r="-179310" b="-4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546667" r="-179310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2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646667" r="-421875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646667" r="-179310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3b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746667" r="-421875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746667" r="-179310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MUL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1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=1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4a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69792" t="-846667" r="-421875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846667" r="-179310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SQ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Processing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4b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12414" t="-946667" r="-179310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-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49263" rtl="0" eaLnBrk="0" fontAlgn="base" latinLnBrk="0" hangingPunct="0">
                            <a:lnSpc>
                              <a:spcPct val="125000"/>
                            </a:lnSpc>
                            <a:spcBef>
                              <a:spcPct val="25000"/>
                            </a:spcBef>
                            <a:spcAft>
                              <a:spcPct val="0"/>
                            </a:spcAft>
                            <a:buClr>
                              <a:srgbClr val="007AC2"/>
                            </a:buClr>
                            <a:buSzPct val="12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de-DE" sz="1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Since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h</a:t>
                          </a:r>
                          <a:r>
                            <a:rPr kumimoji="0" lang="de-DE" sz="1400" b="0" i="0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0</a:t>
                          </a:r>
                          <a:r>
                            <a:rPr kumimoji="0" lang="de-DE" sz="1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= 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3">
            <a:extLst>
              <a:ext uri="{FF2B5EF4-FFF2-40B4-BE49-F238E27FC236}">
                <a16:creationId xmlns:a16="http://schemas.microsoft.com/office/drawing/2014/main" id="{9E2902C2-22D7-240E-D1DB-11B96049A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2BC24E-E176-3E44-8DBD-0515D47EAED5}" type="slidenum">
              <a:rPr lang="ar-SA" altLang="zh-CN">
                <a:solidFill>
                  <a:srgbClr val="394073"/>
                </a:solidFill>
              </a:rPr>
              <a:pPr/>
              <a:t>12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6387" name="Fußzeilenplatzhalter 4">
            <a:extLst>
              <a:ext uri="{FF2B5EF4-FFF2-40B4-BE49-F238E27FC236}">
                <a16:creationId xmlns:a16="http://schemas.microsoft.com/office/drawing/2014/main" id="{3E6B8198-EF6A-FEDA-18CE-9BA4A24D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28C55E2-B4AD-E6A4-B2FF-2D8460EBC4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0062" y="467518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Complexity of Square-and-Multiply Alg.</a:t>
            </a:r>
          </a:p>
        </p:txBody>
      </p:sp>
      <p:sp>
        <p:nvSpPr>
          <p:cNvPr id="16389" name="Text Box 3">
            <a:extLst>
              <a:ext uri="{FF2B5EF4-FFF2-40B4-BE49-F238E27FC236}">
                <a16:creationId xmlns:a16="http://schemas.microsoft.com/office/drawing/2014/main" id="{5F2B742D-DB5D-9B93-EF25-41782F77D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square-and-multiply algorithm has a logarithmic complexity, i.e., its run time is proportional to the bit length (rather than the absolute value) of the exponent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Given an exponent with t+1 bits</a:t>
            </a:r>
            <a:b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H = (h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,h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t-1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, ..., h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2 </a:t>
            </a:r>
            <a:b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with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i="1" baseline="-2500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= 1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, we need the following operations 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# Squarings 						= t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Average # multiplications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			= 0.5 t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Total complexity: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#SQ + #MUL 	= 1.5 t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Exponents are often randomly chosen, so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1.5 t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is a good estimate for the average number of operations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Note that each squaring and each multiplication is an operation with very long numbers, e.g., 2048 bit integers.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liennummernplatzhalter 3">
            <a:extLst>
              <a:ext uri="{FF2B5EF4-FFF2-40B4-BE49-F238E27FC236}">
                <a16:creationId xmlns:a16="http://schemas.microsoft.com/office/drawing/2014/main" id="{44144644-5347-54F8-00EF-D8A47068D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674937-0ABC-A944-97E1-FD0E2294563D}" type="slidenum">
              <a:rPr lang="ar-SA" altLang="zh-CN">
                <a:solidFill>
                  <a:srgbClr val="394073"/>
                </a:solidFill>
              </a:rPr>
              <a:pPr/>
              <a:t>13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7411" name="Fußzeilenplatzhalter 4">
            <a:extLst>
              <a:ext uri="{FF2B5EF4-FFF2-40B4-BE49-F238E27FC236}">
                <a16:creationId xmlns:a16="http://schemas.microsoft.com/office/drawing/2014/main" id="{4ED371F0-7D5A-3A2A-7C84-E296A9D3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9D3389FD-ECD2-5209-9650-F01FB595C1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Speed-Up Techniques</a:t>
            </a:r>
          </a:p>
        </p:txBody>
      </p:sp>
      <p:sp>
        <p:nvSpPr>
          <p:cNvPr id="17413" name="Text Box 3">
            <a:extLst>
              <a:ext uri="{FF2B5EF4-FFF2-40B4-BE49-F238E27FC236}">
                <a16:creationId xmlns:a16="http://schemas.microsoft.com/office/drawing/2014/main" id="{4B481315-0657-E49B-E1C5-7109615AB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Modular exponentiation is computationally intensive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Even with the square-and-multiply algorithm, RSA can be quite slow on constrained devices such as smart cards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Some important tricks: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Short public exponent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Chinese Remainder Theorem (CRT)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Exponentiation with pre-computation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(not covered here)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liennummernplatzhalter 3">
            <a:extLst>
              <a:ext uri="{FF2B5EF4-FFF2-40B4-BE49-F238E27FC236}">
                <a16:creationId xmlns:a16="http://schemas.microsoft.com/office/drawing/2014/main" id="{A8E60D7D-858B-EC64-7FAE-0E1320E36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4FBEEE-C07A-1C46-96B9-2EA2E520803B}" type="slidenum">
              <a:rPr lang="ar-SA" altLang="zh-CN">
                <a:solidFill>
                  <a:srgbClr val="394073"/>
                </a:solidFill>
              </a:rPr>
              <a:pPr/>
              <a:t>14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8435" name="Fußzeilenplatzhalter 4">
            <a:extLst>
              <a:ext uri="{FF2B5EF4-FFF2-40B4-BE49-F238E27FC236}">
                <a16:creationId xmlns:a16="http://schemas.microsoft.com/office/drawing/2014/main" id="{EBBA66F7-DF20-52C6-0302-7CB79FBA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603FFBB3-5B68-D143-2B8A-2848D3DF1A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04200" cy="577850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Fast encryption with small public exponent</a:t>
            </a:r>
          </a:p>
        </p:txBody>
      </p:sp>
      <p:sp>
        <p:nvSpPr>
          <p:cNvPr id="18437" name="Text Box 3">
            <a:extLst>
              <a:ext uri="{FF2B5EF4-FFF2-40B4-BE49-F238E27FC236}">
                <a16:creationId xmlns:a16="http://schemas.microsoft.com/office/drawing/2014/main" id="{143FA7F4-C72B-2D9B-99FA-DC841B064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5725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Choosing a small public exponent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does not weaken the security of RSA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A small public exponent improves the speed of the RSA encryption significantly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This is a commonly used trick (e.g., SSL/TLS, etc.) and makes RSA the fastest asymmetric scheme with regard to encryption!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4" name="Group 4">
            <a:extLst>
              <a:ext uri="{FF2B5EF4-FFF2-40B4-BE49-F238E27FC236}">
                <a16:creationId xmlns:a16="http://schemas.microsoft.com/office/drawing/2014/main" id="{28775BB7-E04A-8972-22FA-2D77063176F1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524000" y="2590800"/>
          <a:ext cx="6080125" cy="1828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as binary 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#MUL + #SQ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de-DE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 =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(11)</a:t>
                      </a:r>
                      <a:r>
                        <a:rPr kumimoji="0" lang="de-DE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+ 1 =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de-DE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 = 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(1 0001)</a:t>
                      </a:r>
                      <a:r>
                        <a:rPr kumimoji="0" lang="de-DE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+ 1 =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de-DE" sz="1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(1 0000 0000 0000 0001)</a:t>
                      </a:r>
                      <a:r>
                        <a:rPr kumimoji="0" lang="de-DE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base" latinLnBrk="0" hangingPunct="0">
                        <a:lnSpc>
                          <a:spcPct val="12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007AC2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 + 1 = 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liennummernplatzhalter 3">
            <a:extLst>
              <a:ext uri="{FF2B5EF4-FFF2-40B4-BE49-F238E27FC236}">
                <a16:creationId xmlns:a16="http://schemas.microsoft.com/office/drawing/2014/main" id="{BB88F2F0-0715-787E-A271-EFD3ED59A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01E8E7-0A38-CD44-BB26-45CDE33F0B83}" type="slidenum">
              <a:rPr lang="ar-SA" altLang="zh-CN">
                <a:solidFill>
                  <a:srgbClr val="394073"/>
                </a:solidFill>
              </a:rPr>
              <a:pPr/>
              <a:t>15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19459" name="Fußzeilenplatzhalter 4">
            <a:extLst>
              <a:ext uri="{FF2B5EF4-FFF2-40B4-BE49-F238E27FC236}">
                <a16:creationId xmlns:a16="http://schemas.microsoft.com/office/drawing/2014/main" id="{EA97E15C-F897-E542-D2CD-8EFA2566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C94BE50F-189A-4E61-832B-8C850867C5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Fast decryption with CRT</a:t>
            </a:r>
          </a:p>
        </p:txBody>
      </p:sp>
      <p:sp>
        <p:nvSpPr>
          <p:cNvPr id="19461" name="Text Box 3">
            <a:extLst>
              <a:ext uri="{FF2B5EF4-FFF2-40B4-BE49-F238E27FC236}">
                <a16:creationId xmlns:a16="http://schemas.microsoft.com/office/drawing/2014/main" id="{CDAE41AB-E3DF-8703-F5F7-5C1F7467C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0728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Choosing a small private key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results in security weaknesses! 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fact, d must have at least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0.3t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bits, where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is the bit length of the modulus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However, the Chinese Remainder Theorem (CRT) can be used to (somewhat) accelerate exponentiation with the private key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Based on the CRT we can replace the computation of </a:t>
            </a:r>
          </a:p>
          <a:p>
            <a:pPr algn="ctr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d mod </a:t>
            </a:r>
            <a:r>
              <a:rPr lang="en-US" altLang="zh-CN" sz="2000" i="1" baseline="30000" dirty="0" err="1">
                <a:solidFill>
                  <a:srgbClr val="000000"/>
                </a:solidFill>
                <a:ea typeface="宋体" panose="02010600030101010101" pitchFamily="2" charset="-122"/>
              </a:rPr>
              <a:t>Φ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(n)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mod n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	by two computations </a:t>
            </a:r>
          </a:p>
          <a:p>
            <a:pPr algn="ctr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mod (p-1)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mod 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	and 	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d mod (q-1)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mod 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	where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are “small”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compared to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liennummernplatzhalter 3">
            <a:extLst>
              <a:ext uri="{FF2B5EF4-FFF2-40B4-BE49-F238E27FC236}">
                <a16:creationId xmlns:a16="http://schemas.microsoft.com/office/drawing/2014/main" id="{1F5A632C-88CC-BFD5-B5FE-0CE99D500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C5CC37-CC6F-CC41-A450-31847E3E33E5}" type="slidenum">
              <a:rPr lang="ar-SA" altLang="zh-CN">
                <a:solidFill>
                  <a:srgbClr val="394073"/>
                </a:solidFill>
              </a:rPr>
              <a:pPr/>
              <a:t>16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0483" name="Fußzeilenplatzhalter 4">
            <a:extLst>
              <a:ext uri="{FF2B5EF4-FFF2-40B4-BE49-F238E27FC236}">
                <a16:creationId xmlns:a16="http://schemas.microsoft.com/office/drawing/2014/main" id="{9F068CC2-6AA0-5F70-E566-049DE00C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18F9FD24-EA33-7B00-1E12-5E6A9EB0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133600"/>
            <a:ext cx="838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9321F6B9-A479-C889-0066-47667AD6A9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Basic principle of CRT-based exponentiation</a:t>
            </a:r>
          </a:p>
        </p:txBody>
      </p:sp>
      <p:sp>
        <p:nvSpPr>
          <p:cNvPr id="20486" name="Text Box 4">
            <a:extLst>
              <a:ext uri="{FF2B5EF4-FFF2-40B4-BE49-F238E27FC236}">
                <a16:creationId xmlns:a16="http://schemas.microsoft.com/office/drawing/2014/main" id="{FD73DF83-E455-E36A-BBD7-8221C25D5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733800"/>
            <a:ext cx="8027987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CRT involves three distinct steps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	(1) Transformation of operand into the CRT domain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	(2) Modular exponentiation in the CRT domain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	(3) Inverse transformation into the problem domain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These steps are equivalent to one modular exponentiation in the problem domain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487" name="Rectangle 5">
            <a:extLst>
              <a:ext uri="{FF2B5EF4-FFF2-40B4-BE49-F238E27FC236}">
                <a16:creationId xmlns:a16="http://schemas.microsoft.com/office/drawing/2014/main" id="{195F9001-7540-DF1C-9F7E-99831635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990600"/>
            <a:ext cx="533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dirty="0" err="1">
                <a:cs typeface="Arial" panose="020B0604020202020204" pitchFamily="34" charset="0"/>
              </a:rPr>
              <a:t>y</a:t>
            </a:r>
            <a:endParaRPr lang="de-DE" altLang="zh-CN" sz="2000" dirty="0">
              <a:cs typeface="Arial" panose="020B0604020202020204" pitchFamily="34" charset="0"/>
            </a:endParaRPr>
          </a:p>
        </p:txBody>
      </p:sp>
      <p:sp>
        <p:nvSpPr>
          <p:cNvPr id="20488" name="Rectangle 6">
            <a:extLst>
              <a:ext uri="{FF2B5EF4-FFF2-40B4-BE49-F238E27FC236}">
                <a16:creationId xmlns:a16="http://schemas.microsoft.com/office/drawing/2014/main" id="{B0F1B7C9-E974-5EA8-EE9B-FD2FB419C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2209800"/>
            <a:ext cx="533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dirty="0" err="1">
                <a:cs typeface="Arial" panose="020B0604020202020204" pitchFamily="34" charset="0"/>
              </a:rPr>
              <a:t>y</a:t>
            </a:r>
            <a:r>
              <a:rPr lang="de-DE" altLang="zh-CN" sz="2000" baseline="-25000" dirty="0" err="1">
                <a:cs typeface="Arial" panose="020B0604020202020204" pitchFamily="34" charset="0"/>
              </a:rPr>
              <a:t>p</a:t>
            </a:r>
            <a:endParaRPr lang="de-DE" altLang="zh-CN" sz="2000" baseline="-25000" dirty="0">
              <a:cs typeface="Arial" panose="020B0604020202020204" pitchFamily="34" charset="0"/>
            </a:endParaRPr>
          </a:p>
        </p:txBody>
      </p:sp>
      <p:sp>
        <p:nvSpPr>
          <p:cNvPr id="20489" name="Rectangle 7">
            <a:extLst>
              <a:ext uri="{FF2B5EF4-FFF2-40B4-BE49-F238E27FC236}">
                <a16:creationId xmlns:a16="http://schemas.microsoft.com/office/drawing/2014/main" id="{AC88EF15-A060-9F54-E7BA-4C0D77E3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650" y="2895600"/>
            <a:ext cx="533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dirty="0" err="1">
                <a:cs typeface="Arial" panose="020B0604020202020204" pitchFamily="34" charset="0"/>
              </a:rPr>
              <a:t>y</a:t>
            </a:r>
            <a:r>
              <a:rPr lang="de-DE" altLang="zh-CN" baseline="-25000" dirty="0" err="1">
                <a:cs typeface="Arial" panose="020B0604020202020204" pitchFamily="34" charset="0"/>
              </a:rPr>
              <a:t>q</a:t>
            </a:r>
            <a:endParaRPr lang="de-DE" altLang="zh-CN" baseline="-25000" dirty="0">
              <a:cs typeface="Arial" panose="020B0604020202020204" pitchFamily="34" charset="0"/>
            </a:endParaRPr>
          </a:p>
        </p:txBody>
      </p:sp>
      <p:sp>
        <p:nvSpPr>
          <p:cNvPr id="20490" name="Line 8">
            <a:extLst>
              <a:ext uri="{FF2B5EF4-FFF2-40B4-BE49-F238E27FC236}">
                <a16:creationId xmlns:a16="http://schemas.microsoft.com/office/drawing/2014/main" id="{0714AA36-B14D-51A8-ED47-5EBFCF3AA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025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Rectangle 9">
            <a:extLst>
              <a:ext uri="{FF2B5EF4-FFF2-40B4-BE49-F238E27FC236}">
                <a16:creationId xmlns:a16="http://schemas.microsoft.com/office/drawing/2014/main" id="{001471F7-D488-A274-4106-FE28F1EA0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2209800"/>
            <a:ext cx="2895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dirty="0" err="1">
                <a:cs typeface="Arial" panose="020B0604020202020204" pitchFamily="34" charset="0"/>
              </a:rPr>
              <a:t>y</a:t>
            </a:r>
            <a:r>
              <a:rPr lang="de-DE" altLang="zh-CN" sz="2000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baseline="30000" dirty="0" err="1">
                <a:cs typeface="Arial" panose="020B0604020202020204" pitchFamily="34" charset="0"/>
              </a:rPr>
              <a:t>d</a:t>
            </a:r>
            <a:r>
              <a:rPr lang="de-DE" altLang="zh-CN" sz="2000" baseline="30000" dirty="0">
                <a:cs typeface="Arial" panose="020B0604020202020204" pitchFamily="34" charset="0"/>
              </a:rPr>
              <a:t> </a:t>
            </a:r>
            <a:r>
              <a:rPr lang="de-DE" altLang="zh-CN" sz="2000" baseline="30000" dirty="0" err="1">
                <a:cs typeface="Arial" panose="020B0604020202020204" pitchFamily="34" charset="0"/>
              </a:rPr>
              <a:t>mod</a:t>
            </a:r>
            <a:r>
              <a:rPr lang="de-DE" altLang="zh-CN" sz="2000" baseline="30000" dirty="0">
                <a:cs typeface="Arial" panose="020B0604020202020204" pitchFamily="34" charset="0"/>
              </a:rPr>
              <a:t> (p-1)</a:t>
            </a:r>
            <a:r>
              <a:rPr lang="de-DE" altLang="zh-CN" sz="2000" dirty="0">
                <a:cs typeface="Arial" panose="020B0604020202020204" pitchFamily="34" charset="0"/>
              </a:rPr>
              <a:t> </a:t>
            </a:r>
            <a:r>
              <a:rPr lang="de-DE" altLang="zh-CN" sz="2000" dirty="0" err="1">
                <a:cs typeface="Arial" panose="020B0604020202020204" pitchFamily="34" charset="0"/>
              </a:rPr>
              <a:t>mod</a:t>
            </a:r>
            <a:r>
              <a:rPr lang="de-DE" altLang="zh-CN" sz="2000" dirty="0">
                <a:cs typeface="Arial" panose="020B0604020202020204" pitchFamily="34" charset="0"/>
              </a:rPr>
              <a:t> p</a:t>
            </a:r>
          </a:p>
        </p:txBody>
      </p:sp>
      <p:sp>
        <p:nvSpPr>
          <p:cNvPr id="20492" name="Line 10">
            <a:extLst>
              <a:ext uri="{FF2B5EF4-FFF2-40B4-BE49-F238E27FC236}">
                <a16:creationId xmlns:a16="http://schemas.microsoft.com/office/drawing/2014/main" id="{CA57E15C-61E9-AA4D-9A44-5DC3D7F5B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0" y="25146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3" name="Line 11">
            <a:extLst>
              <a:ext uri="{FF2B5EF4-FFF2-40B4-BE49-F238E27FC236}">
                <a16:creationId xmlns:a16="http://schemas.microsoft.com/office/drawing/2014/main" id="{EE3838C9-95E2-1DA2-4CCD-9894733EA9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905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Rectangle 12">
            <a:extLst>
              <a:ext uri="{FF2B5EF4-FFF2-40B4-BE49-F238E27FC236}">
                <a16:creationId xmlns:a16="http://schemas.microsoft.com/office/drawing/2014/main" id="{1EDFE039-4D22-3AB9-0107-FED00830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2895600"/>
            <a:ext cx="2895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dirty="0" err="1">
                <a:cs typeface="Arial" panose="020B0604020202020204" pitchFamily="34" charset="0"/>
              </a:rPr>
              <a:t>y</a:t>
            </a:r>
            <a:r>
              <a:rPr lang="de-DE" altLang="zh-CN" sz="2000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baseline="30000" dirty="0" err="1">
                <a:cs typeface="Arial" panose="020B0604020202020204" pitchFamily="34" charset="0"/>
              </a:rPr>
              <a:t>d</a:t>
            </a:r>
            <a:r>
              <a:rPr lang="de-DE" altLang="zh-CN" sz="2000" baseline="30000" dirty="0">
                <a:cs typeface="Arial" panose="020B0604020202020204" pitchFamily="34" charset="0"/>
              </a:rPr>
              <a:t> </a:t>
            </a:r>
            <a:r>
              <a:rPr lang="de-DE" altLang="zh-CN" sz="2000" baseline="30000" dirty="0" err="1">
                <a:cs typeface="Arial" panose="020B0604020202020204" pitchFamily="34" charset="0"/>
              </a:rPr>
              <a:t>mod</a:t>
            </a:r>
            <a:r>
              <a:rPr lang="de-DE" altLang="zh-CN" sz="2000" baseline="30000" dirty="0">
                <a:cs typeface="Arial" panose="020B0604020202020204" pitchFamily="34" charset="0"/>
              </a:rPr>
              <a:t> (q-1)</a:t>
            </a:r>
            <a:r>
              <a:rPr lang="de-DE" altLang="zh-CN" sz="2000" dirty="0">
                <a:cs typeface="Arial" panose="020B0604020202020204" pitchFamily="34" charset="0"/>
              </a:rPr>
              <a:t> </a:t>
            </a:r>
            <a:r>
              <a:rPr lang="de-DE" altLang="zh-CN" sz="2000" dirty="0" err="1">
                <a:cs typeface="Arial" panose="020B0604020202020204" pitchFamily="34" charset="0"/>
              </a:rPr>
              <a:t>mod</a:t>
            </a:r>
            <a:r>
              <a:rPr lang="de-DE" altLang="zh-CN" sz="2000" dirty="0">
                <a:cs typeface="Arial" panose="020B0604020202020204" pitchFamily="34" charset="0"/>
              </a:rPr>
              <a:t> </a:t>
            </a:r>
            <a:r>
              <a:rPr lang="de-DE" altLang="zh-CN" sz="2000" dirty="0" err="1">
                <a:cs typeface="Arial" panose="020B0604020202020204" pitchFamily="34" charset="0"/>
              </a:rPr>
              <a:t>q</a:t>
            </a:r>
            <a:endParaRPr lang="de-DE" altLang="zh-CN" sz="2000" dirty="0">
              <a:cs typeface="Arial" panose="020B0604020202020204" pitchFamily="34" charset="0"/>
            </a:endParaRPr>
          </a:p>
        </p:txBody>
      </p:sp>
      <p:sp>
        <p:nvSpPr>
          <p:cNvPr id="20495" name="Line 13">
            <a:extLst>
              <a:ext uri="{FF2B5EF4-FFF2-40B4-BE49-F238E27FC236}">
                <a16:creationId xmlns:a16="http://schemas.microsoft.com/office/drawing/2014/main" id="{8FC366BF-DD62-564F-8169-7DF9A2F41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0" y="32004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Rectangle 14">
            <a:extLst>
              <a:ext uri="{FF2B5EF4-FFF2-40B4-BE49-F238E27FC236}">
                <a16:creationId xmlns:a16="http://schemas.microsoft.com/office/drawing/2014/main" id="{F223E3CF-B5A6-BA31-7322-929997B0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990600"/>
            <a:ext cx="2895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dirty="0" err="1">
                <a:cs typeface="Arial" panose="020B0604020202020204" pitchFamily="34" charset="0"/>
              </a:rPr>
              <a:t>y</a:t>
            </a:r>
            <a:r>
              <a:rPr lang="de-DE" altLang="zh-CN" sz="2000" baseline="30000" dirty="0" err="1">
                <a:cs typeface="Arial" panose="020B0604020202020204" pitchFamily="34" charset="0"/>
              </a:rPr>
              <a:t>d</a:t>
            </a:r>
            <a:r>
              <a:rPr lang="de-DE" altLang="zh-CN" sz="2000" dirty="0">
                <a:cs typeface="Arial" panose="020B0604020202020204" pitchFamily="34" charset="0"/>
              </a:rPr>
              <a:t> </a:t>
            </a:r>
            <a:r>
              <a:rPr lang="de-DE" altLang="zh-CN" sz="2000" dirty="0" err="1">
                <a:cs typeface="Arial" panose="020B0604020202020204" pitchFamily="34" charset="0"/>
              </a:rPr>
              <a:t>mod</a:t>
            </a:r>
            <a:r>
              <a:rPr lang="de-DE" altLang="zh-CN" sz="2000" dirty="0">
                <a:cs typeface="Arial" panose="020B0604020202020204" pitchFamily="34" charset="0"/>
              </a:rPr>
              <a:t> </a:t>
            </a:r>
            <a:r>
              <a:rPr lang="de-DE" altLang="zh-CN" sz="2000" dirty="0" err="1">
                <a:cs typeface="Arial" panose="020B0604020202020204" pitchFamily="34" charset="0"/>
              </a:rPr>
              <a:t>n</a:t>
            </a:r>
            <a:endParaRPr lang="de-DE" altLang="zh-CN" sz="2000" dirty="0">
              <a:cs typeface="Arial" panose="020B0604020202020204" pitchFamily="34" charset="0"/>
            </a:endParaRPr>
          </a:p>
        </p:txBody>
      </p:sp>
      <p:sp>
        <p:nvSpPr>
          <p:cNvPr id="20497" name="Line 15">
            <a:extLst>
              <a:ext uri="{FF2B5EF4-FFF2-40B4-BE49-F238E27FC236}">
                <a16:creationId xmlns:a16="http://schemas.microsoft.com/office/drawing/2014/main" id="{9E5F62EE-E7D8-1280-96D9-154E69D42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805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6">
            <a:extLst>
              <a:ext uri="{FF2B5EF4-FFF2-40B4-BE49-F238E27FC236}">
                <a16:creationId xmlns:a16="http://schemas.microsoft.com/office/drawing/2014/main" id="{0213F4F8-FFE6-E25B-4B46-4B8B8CAF4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0" y="12954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Rectangle 17">
            <a:extLst>
              <a:ext uri="{FF2B5EF4-FFF2-40B4-BE49-F238E27FC236}">
                <a16:creationId xmlns:a16="http://schemas.microsoft.com/office/drawing/2014/main" id="{32719CDE-4F55-516E-42B9-D843EA927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133600"/>
            <a:ext cx="3200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20500" name="Text Box 18">
            <a:extLst>
              <a:ext uri="{FF2B5EF4-FFF2-40B4-BE49-F238E27FC236}">
                <a16:creationId xmlns:a16="http://schemas.microsoft.com/office/drawing/2014/main" id="{D422F6D6-5415-283A-E88C-3C97B4B4D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1000125"/>
            <a:ext cx="8588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Problem</a:t>
            </a:r>
            <a:br>
              <a:rPr lang="de-DE" altLang="zh-CN"/>
            </a:br>
            <a:r>
              <a:rPr lang="de-DE" altLang="zh-CN"/>
              <a:t>Domain</a:t>
            </a:r>
          </a:p>
        </p:txBody>
      </p:sp>
      <p:sp>
        <p:nvSpPr>
          <p:cNvPr id="20501" name="Text Box 19">
            <a:extLst>
              <a:ext uri="{FF2B5EF4-FFF2-40B4-BE49-F238E27FC236}">
                <a16:creationId xmlns:a16="http://schemas.microsoft.com/office/drawing/2014/main" id="{DB264DEB-BCEA-7AED-2D6A-1455BD2AE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14625"/>
            <a:ext cx="1320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CRT Domain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liennummernplatzhalter 3">
            <a:extLst>
              <a:ext uri="{FF2B5EF4-FFF2-40B4-BE49-F238E27FC236}">
                <a16:creationId xmlns:a16="http://schemas.microsoft.com/office/drawing/2014/main" id="{07311AF2-ED7E-E0EC-2347-D668867C7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B4D855-E231-3143-A696-155F5B14CC1C}" type="slidenum">
              <a:rPr lang="ar-SA" altLang="zh-CN">
                <a:solidFill>
                  <a:srgbClr val="394073"/>
                </a:solidFill>
              </a:rPr>
              <a:pPr/>
              <a:t>17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1507" name="Fußzeilenplatzhalter 4">
            <a:extLst>
              <a:ext uri="{FF2B5EF4-FFF2-40B4-BE49-F238E27FC236}">
                <a16:creationId xmlns:a16="http://schemas.microsoft.com/office/drawing/2014/main" id="{93896F2E-A4A1-5D89-1AA8-7ED43B88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8E645BDC-148D-B002-C465-C14B306241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CRT: Step 1 – Transformation</a:t>
            </a: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954DE59C-9AD4-C690-9D1C-9BAAF215B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Transformation into the CRT domain requires the knowledge of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and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q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are only known to the owner of the private key, hence CRT cannot be applied to speed up encryption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>
                <a:solidFill>
                  <a:srgbClr val="000000"/>
                </a:solidFill>
              </a:rPr>
              <a:t>The </a:t>
            </a:r>
            <a:r>
              <a:rPr lang="de-DE" altLang="zh-CN" sz="2000" dirty="0" err="1">
                <a:solidFill>
                  <a:srgbClr val="000000"/>
                </a:solidFill>
              </a:rPr>
              <a:t>transformation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computes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i="1" dirty="0">
                <a:solidFill>
                  <a:srgbClr val="000000"/>
                </a:solidFill>
              </a:rPr>
              <a:t>(</a:t>
            </a:r>
            <a:r>
              <a:rPr lang="de-DE" altLang="zh-CN" sz="2000" i="1" dirty="0" err="1">
                <a:solidFill>
                  <a:srgbClr val="000000"/>
                </a:solidFill>
              </a:rPr>
              <a:t>y</a:t>
            </a:r>
            <a:r>
              <a:rPr lang="de-DE" altLang="zh-CN" sz="2000" i="1" baseline="-25000" dirty="0" err="1">
                <a:solidFill>
                  <a:srgbClr val="000000"/>
                </a:solidFill>
              </a:rPr>
              <a:t>p</a:t>
            </a:r>
            <a:r>
              <a:rPr lang="de-DE" altLang="zh-CN" sz="2000" i="1" dirty="0">
                <a:solidFill>
                  <a:srgbClr val="000000"/>
                </a:solidFill>
              </a:rPr>
              <a:t>, </a:t>
            </a:r>
            <a:r>
              <a:rPr lang="de-DE" altLang="zh-CN" sz="2000" i="1" dirty="0" err="1">
                <a:solidFill>
                  <a:srgbClr val="000000"/>
                </a:solidFill>
              </a:rPr>
              <a:t>y</a:t>
            </a:r>
            <a:r>
              <a:rPr lang="de-DE" altLang="zh-CN" sz="2000" i="1" baseline="-25000" dirty="0" err="1">
                <a:solidFill>
                  <a:srgbClr val="000000"/>
                </a:solidFill>
              </a:rPr>
              <a:t>q</a:t>
            </a:r>
            <a:r>
              <a:rPr lang="de-DE" altLang="zh-CN" sz="2000" i="1" dirty="0">
                <a:solidFill>
                  <a:srgbClr val="000000"/>
                </a:solidFill>
              </a:rPr>
              <a:t>)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which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is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the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representation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of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</a:rPr>
              <a:t>y</a:t>
            </a:r>
            <a:r>
              <a:rPr lang="de-DE" altLang="zh-CN" sz="2000" dirty="0">
                <a:solidFill>
                  <a:srgbClr val="000000"/>
                </a:solidFill>
              </a:rPr>
              <a:t> in </a:t>
            </a:r>
            <a:r>
              <a:rPr lang="de-DE" altLang="zh-CN" sz="2000" dirty="0" err="1">
                <a:solidFill>
                  <a:srgbClr val="000000"/>
                </a:solidFill>
              </a:rPr>
              <a:t>the</a:t>
            </a:r>
            <a:r>
              <a:rPr lang="de-DE" altLang="zh-CN" sz="2000" dirty="0">
                <a:solidFill>
                  <a:srgbClr val="000000"/>
                </a:solidFill>
              </a:rPr>
              <a:t> CRT </a:t>
            </a:r>
            <a:r>
              <a:rPr lang="de-DE" altLang="zh-CN" sz="2000" dirty="0" err="1">
                <a:solidFill>
                  <a:srgbClr val="000000"/>
                </a:solidFill>
              </a:rPr>
              <a:t>domain</a:t>
            </a:r>
            <a:r>
              <a:rPr lang="de-DE" altLang="zh-CN" sz="2000" dirty="0">
                <a:solidFill>
                  <a:srgbClr val="000000"/>
                </a:solidFill>
              </a:rPr>
              <a:t>. </a:t>
            </a:r>
            <a:r>
              <a:rPr lang="de-DE" altLang="zh-CN" sz="2000" dirty="0" err="1">
                <a:solidFill>
                  <a:srgbClr val="000000"/>
                </a:solidFill>
              </a:rPr>
              <a:t>They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can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be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found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easily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by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computing</a:t>
            </a:r>
            <a:endParaRPr lang="de-DE" altLang="zh-CN" sz="2000" dirty="0">
              <a:solidFill>
                <a:srgbClr val="000000"/>
              </a:solidFill>
            </a:endParaRP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y</a:t>
            </a:r>
            <a:r>
              <a:rPr lang="de-DE" altLang="zh-CN" sz="2000" i="1" baseline="-25000" dirty="0" err="1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y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p</a:t>
            </a:r>
            <a:r>
              <a:rPr lang="de-DE" altLang="zh-CN" sz="2000" dirty="0">
                <a:solidFill>
                  <a:srgbClr val="000000"/>
                </a:solidFill>
                <a:cs typeface="Arial" panose="020B0604020202020204" pitchFamily="34" charset="0"/>
              </a:rPr>
              <a:t>      and     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y</a:t>
            </a:r>
            <a:r>
              <a:rPr lang="de-DE" altLang="zh-CN" sz="2000" i="1" baseline="-25000" dirty="0" err="1">
                <a:solidFill>
                  <a:srgbClr val="000000"/>
                </a:solidFill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y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solidFill>
                  <a:srgbClr val="000000"/>
                </a:solidFill>
                <a:cs typeface="Arial" panose="020B0604020202020204" pitchFamily="34" charset="0"/>
              </a:rPr>
              <a:t>q</a:t>
            </a:r>
            <a:endParaRPr lang="de-DE" altLang="zh-CN" sz="2000" i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liennummernplatzhalter 3">
            <a:extLst>
              <a:ext uri="{FF2B5EF4-FFF2-40B4-BE49-F238E27FC236}">
                <a16:creationId xmlns:a16="http://schemas.microsoft.com/office/drawing/2014/main" id="{AAC82EAC-FDFB-A52F-9F6F-5FC4E3773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86D013-9A6C-9142-A294-B95F223A29CF}" type="slidenum">
              <a:rPr lang="ar-SA" altLang="zh-CN">
                <a:solidFill>
                  <a:srgbClr val="394073"/>
                </a:solidFill>
              </a:rPr>
              <a:pPr/>
              <a:t>18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2531" name="Fußzeilenplatzhalter 4">
            <a:extLst>
              <a:ext uri="{FF2B5EF4-FFF2-40B4-BE49-F238E27FC236}">
                <a16:creationId xmlns:a16="http://schemas.microsoft.com/office/drawing/2014/main" id="{FAE14C1C-263A-1EDE-65F7-1275B3EE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7BFEB574-B830-0344-F90E-C132A71FD0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CRT: Step 2 – Exponentiation</a:t>
            </a:r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F48B03B5-724F-2EBE-FCCD-6C9521261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Given </a:t>
            </a:r>
            <a:r>
              <a:rPr lang="en-US" altLang="zh-CN" sz="2000" i="1" dirty="0" err="1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i="1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 err="1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i="1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such that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i="1" dirty="0" err="1">
                <a:cs typeface="Arial" panose="020B0604020202020204" pitchFamily="34" charset="0"/>
              </a:rPr>
              <a:t>d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cs typeface="Arial" panose="020B0604020202020204" pitchFamily="34" charset="0"/>
              </a:rPr>
              <a:t> d </a:t>
            </a:r>
            <a:r>
              <a:rPr lang="de-DE" altLang="zh-CN" sz="2000" i="1" dirty="0" err="1"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cs typeface="Arial" panose="020B0604020202020204" pitchFamily="34" charset="0"/>
              </a:rPr>
              <a:t> (p-1)      </a:t>
            </a:r>
            <a:r>
              <a:rPr lang="de-DE" altLang="zh-CN" sz="2000" dirty="0">
                <a:cs typeface="Arial" panose="020B0604020202020204" pitchFamily="34" charset="0"/>
              </a:rPr>
              <a:t>and</a:t>
            </a:r>
            <a:r>
              <a:rPr lang="de-DE" altLang="zh-CN" sz="2000" i="1" dirty="0">
                <a:cs typeface="Arial" panose="020B0604020202020204" pitchFamily="34" charset="0"/>
              </a:rPr>
              <a:t>      </a:t>
            </a:r>
            <a:r>
              <a:rPr lang="de-DE" altLang="zh-CN" sz="2000" i="1" dirty="0" err="1">
                <a:cs typeface="Arial" panose="020B0604020202020204" pitchFamily="34" charset="0"/>
              </a:rPr>
              <a:t>d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latin typeface="Times New Roman" panose="02020603050405020304" pitchFamily="18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d </a:t>
            </a:r>
            <a:r>
              <a:rPr lang="de-DE" altLang="zh-CN" sz="2000" i="1" dirty="0" err="1"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cs typeface="Arial" panose="020B0604020202020204" pitchFamily="34" charset="0"/>
              </a:rPr>
              <a:t> (q-1)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	one exponentiation in the problem domain requires two exponentiations in the CRT domain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i="1" dirty="0" err="1">
                <a:cs typeface="Arial" panose="020B0604020202020204" pitchFamily="34" charset="0"/>
              </a:rPr>
              <a:t>x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≡ </a:t>
            </a:r>
            <a:r>
              <a:rPr lang="sv-SE" altLang="zh-CN" sz="2000" i="1" dirty="0" err="1">
                <a:cs typeface="Arial" panose="020B0604020202020204" pitchFamily="34" charset="0"/>
              </a:rPr>
              <a:t>y</a:t>
            </a:r>
            <a:r>
              <a:rPr lang="sv-S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sv-SE" altLang="zh-CN" sz="2000" i="1" baseline="30000" dirty="0" err="1">
                <a:cs typeface="Arial" panose="020B0604020202020204" pitchFamily="34" charset="0"/>
              </a:rPr>
              <a:t>d</a:t>
            </a:r>
            <a:r>
              <a:rPr lang="sv-SE" altLang="zh-CN" sz="2000" i="1" baseline="20000" dirty="0" err="1">
                <a:cs typeface="Arial" panose="020B0604020202020204" pitchFamily="34" charset="0"/>
              </a:rPr>
              <a:t>p</a:t>
            </a:r>
            <a:r>
              <a:rPr lang="sv-SE" altLang="zh-CN" sz="2000" i="1" baseline="30000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mod p      </a:t>
            </a:r>
            <a:r>
              <a:rPr lang="sv-SE" altLang="zh-CN" sz="2000" dirty="0">
                <a:cs typeface="Arial" panose="020B0604020202020204" pitchFamily="34" charset="0"/>
              </a:rPr>
              <a:t>and</a:t>
            </a:r>
            <a:r>
              <a:rPr lang="sv-SE" altLang="zh-CN" sz="2000" i="1" dirty="0">
                <a:cs typeface="Arial" panose="020B0604020202020204" pitchFamily="34" charset="0"/>
              </a:rPr>
              <a:t>      </a:t>
            </a:r>
            <a:r>
              <a:rPr lang="sv-SE" altLang="zh-CN" sz="2000" i="1" dirty="0" err="1">
                <a:cs typeface="Arial" panose="020B0604020202020204" pitchFamily="34" charset="0"/>
              </a:rPr>
              <a:t>x</a:t>
            </a:r>
            <a:r>
              <a:rPr lang="sv-S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sv-SE" altLang="zh-CN" sz="2000" i="1" dirty="0">
                <a:cs typeface="Arial" panose="020B0604020202020204" pitchFamily="34" charset="0"/>
              </a:rPr>
              <a:t> ≡ </a:t>
            </a:r>
            <a:r>
              <a:rPr lang="sv-SE" altLang="zh-CN" sz="2000" i="1" dirty="0" err="1">
                <a:cs typeface="Arial" panose="020B0604020202020204" pitchFamily="34" charset="0"/>
              </a:rPr>
              <a:t>y</a:t>
            </a:r>
            <a:r>
              <a:rPr lang="sv-S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sv-SE" altLang="zh-CN" sz="2000" i="1" baseline="30000" dirty="0" err="1">
                <a:cs typeface="Arial" panose="020B0604020202020204" pitchFamily="34" charset="0"/>
              </a:rPr>
              <a:t>d</a:t>
            </a:r>
            <a:r>
              <a:rPr lang="sv-SE" altLang="zh-CN" sz="2000" i="1" baseline="20000" dirty="0" err="1">
                <a:cs typeface="Arial" panose="020B0604020202020204" pitchFamily="34" charset="0"/>
              </a:rPr>
              <a:t>q</a:t>
            </a:r>
            <a:r>
              <a:rPr lang="sv-SE" altLang="zh-CN" sz="2000" i="1" dirty="0">
                <a:cs typeface="Arial" panose="020B0604020202020204" pitchFamily="34" charset="0"/>
              </a:rPr>
              <a:t> mod q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practice,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are chosen to have half the bit length of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, i.e.,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|p|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≈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|q|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≈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|n|/2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liennummernplatzhalter 3">
            <a:extLst>
              <a:ext uri="{FF2B5EF4-FFF2-40B4-BE49-F238E27FC236}">
                <a16:creationId xmlns:a16="http://schemas.microsoft.com/office/drawing/2014/main" id="{F021CE1A-DCA0-0A4B-7C22-CC065A23D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BB6432-601D-634D-99BB-A9D85E1C988E}" type="slidenum">
              <a:rPr lang="ar-SA" altLang="zh-CN">
                <a:solidFill>
                  <a:srgbClr val="394073"/>
                </a:solidFill>
              </a:rPr>
              <a:pPr/>
              <a:t>19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3555" name="Fußzeilenplatzhalter 4">
            <a:extLst>
              <a:ext uri="{FF2B5EF4-FFF2-40B4-BE49-F238E27FC236}">
                <a16:creationId xmlns:a16="http://schemas.microsoft.com/office/drawing/2014/main" id="{757A6CF8-CD49-1D51-210C-ED74DC35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0535A754-4A70-670D-FDB5-C5547FD150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CRT: Step 3 – Inverse Transformation</a:t>
            </a:r>
          </a:p>
        </p:txBody>
      </p:sp>
      <p:sp>
        <p:nvSpPr>
          <p:cNvPr id="23557" name="Text Box 3">
            <a:extLst>
              <a:ext uri="{FF2B5EF4-FFF2-40B4-BE49-F238E27FC236}">
                <a16:creationId xmlns:a16="http://schemas.microsoft.com/office/drawing/2014/main" id="{7390DDB9-31BD-8576-D2B6-A3E23D472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Inverse transformation requires modular inversion twice, which is computationally expensive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cs typeface="Arial" panose="020B0604020202020204" pitchFamily="34" charset="0"/>
              </a:rPr>
              <a:t> q</a:t>
            </a:r>
            <a:r>
              <a:rPr lang="de-DE" altLang="zh-CN" sz="2000" i="1" baseline="30000" dirty="0">
                <a:cs typeface="Arial" panose="020B0604020202020204" pitchFamily="34" charset="0"/>
              </a:rPr>
              <a:t>-1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cs typeface="Arial" panose="020B0604020202020204" pitchFamily="34" charset="0"/>
              </a:rPr>
              <a:t> p      </a:t>
            </a:r>
            <a:r>
              <a:rPr lang="de-DE" altLang="zh-CN" sz="2000" dirty="0">
                <a:cs typeface="Arial" panose="020B0604020202020204" pitchFamily="34" charset="0"/>
              </a:rPr>
              <a:t>and</a:t>
            </a:r>
            <a:r>
              <a:rPr lang="de-DE" altLang="zh-CN" sz="2000" i="1" dirty="0">
                <a:cs typeface="Arial" panose="020B0604020202020204" pitchFamily="34" charset="0"/>
              </a:rPr>
              <a:t>      </a:t>
            </a: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sv-SE" altLang="zh-CN" sz="2000" i="1" dirty="0"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latin typeface="Times New Roman" panose="02020603050405020304" pitchFamily="18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p</a:t>
            </a:r>
            <a:r>
              <a:rPr lang="de-DE" altLang="zh-CN" sz="2000" i="1" baseline="30000" dirty="0">
                <a:cs typeface="Arial" panose="020B0604020202020204" pitchFamily="34" charset="0"/>
              </a:rPr>
              <a:t>-1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cs typeface="Arial" panose="020B0604020202020204" pitchFamily="34" charset="0"/>
              </a:rPr>
              <a:t>q</a:t>
            </a:r>
            <a:endParaRPr lang="de-DE" altLang="zh-CN" sz="2000" i="1" dirty="0"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Inverse transformation assembles </a:t>
            </a:r>
            <a:r>
              <a:rPr lang="en-US" altLang="zh-CN" sz="2000" i="1" dirty="0" err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000" i="1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to the final result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y mod n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in the problem domain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000" i="1" dirty="0">
                <a:cs typeface="Arial" panose="020B0604020202020204" pitchFamily="34" charset="0"/>
              </a:rPr>
              <a:t>x </a:t>
            </a:r>
            <a:r>
              <a:rPr lang="sv-SE" altLang="zh-CN" sz="2000" i="1" dirty="0">
                <a:cs typeface="Arial" panose="020B0604020202020204" pitchFamily="34" charset="0"/>
              </a:rPr>
              <a:t>≡</a:t>
            </a:r>
            <a:r>
              <a:rPr lang="de-DE" altLang="zh-CN" sz="2000" i="1" dirty="0">
                <a:cs typeface="Arial" panose="020B0604020202020204" pitchFamily="34" charset="0"/>
              </a:rPr>
              <a:t> [ </a:t>
            </a:r>
            <a:r>
              <a:rPr lang="de-DE" altLang="zh-CN" sz="2000" i="1" dirty="0" err="1"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cs typeface="Arial" panose="020B0604020202020204" pitchFamily="34" charset="0"/>
              </a:rPr>
              <a:t> * </a:t>
            </a: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baseline="-25000" dirty="0">
                <a:cs typeface="Arial" panose="020B0604020202020204" pitchFamily="34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] * </a:t>
            </a:r>
            <a:r>
              <a:rPr lang="de-DE" altLang="zh-CN" sz="2000" i="1" dirty="0" err="1">
                <a:cs typeface="Arial" panose="020B0604020202020204" pitchFamily="34" charset="0"/>
              </a:rPr>
              <a:t>x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dirty="0">
                <a:cs typeface="Arial" panose="020B0604020202020204" pitchFamily="34" charset="0"/>
              </a:rPr>
              <a:t> + [ p * </a:t>
            </a: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i="1" baseline="-25000" dirty="0">
                <a:cs typeface="Arial" panose="020B0604020202020204" pitchFamily="34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] * </a:t>
            </a:r>
            <a:r>
              <a:rPr lang="de-DE" altLang="zh-CN" sz="2000" i="1" dirty="0" err="1">
                <a:cs typeface="Arial" panose="020B0604020202020204" pitchFamily="34" charset="0"/>
              </a:rPr>
              <a:t>x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cs typeface="Arial" panose="020B0604020202020204" pitchFamily="34" charset="0"/>
              </a:rPr>
              <a:t>mod</a:t>
            </a:r>
            <a:r>
              <a:rPr lang="de-DE" altLang="zh-CN" sz="2000" i="1" dirty="0">
                <a:cs typeface="Arial" panose="020B0604020202020204" pitchFamily="34" charset="0"/>
              </a:rPr>
              <a:t> </a:t>
            </a:r>
            <a:r>
              <a:rPr lang="de-DE" altLang="zh-CN" sz="2000" i="1" dirty="0" err="1">
                <a:cs typeface="Arial" panose="020B0604020202020204" pitchFamily="34" charset="0"/>
              </a:rPr>
              <a:t>n</a:t>
            </a:r>
            <a:endParaRPr lang="de-DE" altLang="zh-CN" sz="2000" i="1" dirty="0"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primes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typically change infrequently, therefore the cost of inversion can be neglected because the two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expresssions</a:t>
            </a:r>
            <a:b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		</a:t>
            </a:r>
            <a:r>
              <a:rPr lang="de-DE" altLang="zh-CN" sz="2000" i="1" dirty="0">
                <a:cs typeface="Arial" panose="020B0604020202020204" pitchFamily="34" charset="0"/>
              </a:rPr>
              <a:t>[ </a:t>
            </a:r>
            <a:r>
              <a:rPr lang="de-DE" altLang="zh-CN" sz="2000" i="1" dirty="0" err="1">
                <a:cs typeface="Arial" panose="020B0604020202020204" pitchFamily="34" charset="0"/>
              </a:rPr>
              <a:t>q</a:t>
            </a:r>
            <a:r>
              <a:rPr lang="de-DE" altLang="zh-CN" sz="2000" i="1" dirty="0">
                <a:cs typeface="Arial" panose="020B0604020202020204" pitchFamily="34" charset="0"/>
              </a:rPr>
              <a:t> * </a:t>
            </a: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p</a:t>
            </a:r>
            <a:r>
              <a:rPr lang="de-DE" altLang="zh-CN" sz="2000" i="1" baseline="-25000" dirty="0">
                <a:cs typeface="Arial" panose="020B0604020202020204" pitchFamily="34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] 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and </a:t>
            </a:r>
            <a:r>
              <a:rPr lang="de-DE" altLang="zh-CN" sz="2000" i="1" dirty="0">
                <a:cs typeface="Arial" panose="020B0604020202020204" pitchFamily="34" charset="0"/>
              </a:rPr>
              <a:t>[ p * </a:t>
            </a:r>
            <a:r>
              <a:rPr lang="de-DE" altLang="zh-CN" sz="2000" i="1" dirty="0" err="1">
                <a:cs typeface="Arial" panose="020B0604020202020204" pitchFamily="34" charset="0"/>
              </a:rPr>
              <a:t>c</a:t>
            </a:r>
            <a:r>
              <a:rPr lang="de-DE" altLang="zh-CN" sz="2000" i="1" baseline="-25000" dirty="0" err="1">
                <a:cs typeface="Arial" panose="020B0604020202020204" pitchFamily="34" charset="0"/>
              </a:rPr>
              <a:t>q</a:t>
            </a:r>
            <a:r>
              <a:rPr lang="de-DE" altLang="zh-CN" sz="2000" i="1" baseline="-25000" dirty="0">
                <a:cs typeface="Arial" panose="020B0604020202020204" pitchFamily="34" charset="0"/>
              </a:rPr>
              <a:t> </a:t>
            </a:r>
            <a:r>
              <a:rPr lang="de-DE" altLang="zh-CN" sz="2000" i="1" dirty="0">
                <a:cs typeface="Arial" panose="020B0604020202020204" pitchFamily="34" charset="0"/>
              </a:rPr>
              <a:t>]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b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can be precomputed and stored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liennummernplatzhalter 3">
            <a:extLst>
              <a:ext uri="{FF2B5EF4-FFF2-40B4-BE49-F238E27FC236}">
                <a16:creationId xmlns:a16="http://schemas.microsoft.com/office/drawing/2014/main" id="{E10D8BB5-AAE3-F6EF-79F0-869D0AC46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1E2A78-DB5A-9940-B0EE-95FB77A0C8DE}" type="slidenum">
              <a:rPr lang="ar-SA" altLang="zh-CN">
                <a:solidFill>
                  <a:srgbClr val="394073"/>
                </a:solidFill>
              </a:rPr>
              <a:pPr/>
              <a:t>20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4579" name="Fußzeilenplatzhalter 4">
            <a:extLst>
              <a:ext uri="{FF2B5EF4-FFF2-40B4-BE49-F238E27FC236}">
                <a16:creationId xmlns:a16="http://schemas.microsoft.com/office/drawing/2014/main" id="{0FAE212A-A1B3-476C-A5F8-9F3C2A59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529DAF4-6C2F-4E9F-3D54-CBEE20AC59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Complexity of CRT</a:t>
            </a:r>
          </a:p>
        </p:txBody>
      </p:sp>
      <p:sp>
        <p:nvSpPr>
          <p:cNvPr id="24581" name="Text Box 3">
            <a:extLst>
              <a:ext uri="{FF2B5EF4-FFF2-40B4-BE49-F238E27FC236}">
                <a16:creationId xmlns:a16="http://schemas.microsoft.com/office/drawing/2014/main" id="{0E49BE15-080A-1747-8334-CA79B332C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785813"/>
            <a:ext cx="802798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We ignore the transformation and inverse transformation steps since their costs can be neglected under reasonable assumptions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Assuming that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has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t+1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bits, both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are about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t/2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bits long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complexity is determined by the two exponentiations in the CRT domain. The operands are only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t/2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bits long. For the exponentiations we use the square-and-multiply algorithm: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squarings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(one exp.):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#SQ = 0.5 t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# aver. multiplications (one exp.): #MUL = 0.25t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Total complexity: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2 * (#MUL + #SQ) = 1.5t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This looks the same as regular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exponentations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, but since the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operands have half the bit length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compared to regular exponent., each operation (i.e., 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multipl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. and squaring) is 4 times faster! 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Hence CRT is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4 times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faster than straightforward exponentiation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liennummernplatzhalter 3">
            <a:extLst>
              <a:ext uri="{FF2B5EF4-FFF2-40B4-BE49-F238E27FC236}">
                <a16:creationId xmlns:a16="http://schemas.microsoft.com/office/drawing/2014/main" id="{3FE2A4F2-C53C-72EB-728A-94662F6FA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483A16-4714-0943-94B9-4CCCC35AA5CA}" type="slidenum">
              <a:rPr lang="ar-SA" altLang="zh-CN">
                <a:solidFill>
                  <a:srgbClr val="394073"/>
                </a:solidFill>
              </a:rPr>
              <a:pPr/>
              <a:t>21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5603" name="Fußzeilenplatzhalter 4">
            <a:extLst>
              <a:ext uri="{FF2B5EF4-FFF2-40B4-BE49-F238E27FC236}">
                <a16:creationId xmlns:a16="http://schemas.microsoft.com/office/drawing/2014/main" id="{2F6C5B8E-4D31-07FC-6069-528D6CE1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0A5CC510-646F-EBF9-EDA1-771C1B7D91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25605" name="Text Box 3">
            <a:extLst>
              <a:ext uri="{FF2B5EF4-FFF2-40B4-BE49-F238E27FC236}">
                <a16:creationId xmlns:a16="http://schemas.microsoft.com/office/drawing/2014/main" id="{E06F5A6C-F65B-BCDC-417C-54F7D355E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  <a:endParaRPr lang="en-US" altLang="zh-CN" sz="2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Attacks</a:t>
            </a:r>
            <a:r>
              <a:rPr lang="de-DE" altLang="zh-CN" sz="2000" dirty="0">
                <a:solidFill>
                  <a:srgbClr val="000000"/>
                </a:solidFill>
              </a:rPr>
              <a:t> and </a:t>
            </a:r>
            <a:r>
              <a:rPr lang="de-DE" altLang="zh-CN" sz="2000" dirty="0" err="1">
                <a:solidFill>
                  <a:srgbClr val="000000"/>
                </a:solidFill>
              </a:rPr>
              <a:t>Countermeasures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liennummernplatzhalter 3">
            <a:extLst>
              <a:ext uri="{FF2B5EF4-FFF2-40B4-BE49-F238E27FC236}">
                <a16:creationId xmlns:a16="http://schemas.microsoft.com/office/drawing/2014/main" id="{60BB2496-E28E-57A3-1E3D-B63719527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5C6CD1-00C7-9D45-AEB7-C6E2B1534597}" type="slidenum">
              <a:rPr lang="ar-SA" altLang="zh-CN">
                <a:solidFill>
                  <a:srgbClr val="394073"/>
                </a:solidFill>
              </a:rPr>
              <a:pPr/>
              <a:t>22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6627" name="Fußzeilenplatzhalter 4">
            <a:extLst>
              <a:ext uri="{FF2B5EF4-FFF2-40B4-BE49-F238E27FC236}">
                <a16:creationId xmlns:a16="http://schemas.microsoft.com/office/drawing/2014/main" id="{888CD68A-4B64-F436-1C2D-0F979565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51C589E8-DB27-411A-A66D-EA8A12AE22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Finding Large Primes</a:t>
            </a:r>
          </a:p>
        </p:txBody>
      </p:sp>
      <p:sp>
        <p:nvSpPr>
          <p:cNvPr id="26629" name="Text Box 3">
            <a:extLst>
              <a:ext uri="{FF2B5EF4-FFF2-40B4-BE49-F238E27FC236}">
                <a16:creationId xmlns:a16="http://schemas.microsoft.com/office/drawing/2014/main" id="{8D8E14AF-DC48-BBF2-A25B-B0FDB742A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75612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Generating keys for RSA requires finding two large primes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q 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such that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 = p * q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is sufficiently large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size of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is typically half the size of the desired size of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To find primes, random integers are generated and tested for primality: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random number generator (RNG) should be non-predictable otherwise an attacker could guess the factorization of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630" name="Rectangle 4">
            <a:extLst>
              <a:ext uri="{FF2B5EF4-FFF2-40B4-BE49-F238E27FC236}">
                <a16:creationId xmlns:a16="http://schemas.microsoft.com/office/drawing/2014/main" id="{CCE64C06-601A-98B0-9AE3-269AB1B19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05200"/>
            <a:ext cx="1219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400">
                <a:latin typeface="Times New Roman" panose="02020603050405020304" pitchFamily="18" charset="0"/>
              </a:rPr>
              <a:t>RNG</a:t>
            </a:r>
          </a:p>
        </p:txBody>
      </p:sp>
      <p:sp>
        <p:nvSpPr>
          <p:cNvPr id="26631" name="Rectangle 5">
            <a:extLst>
              <a:ext uri="{FF2B5EF4-FFF2-40B4-BE49-F238E27FC236}">
                <a16:creationId xmlns:a16="http://schemas.microsoft.com/office/drawing/2014/main" id="{F39D3DAF-07F1-2182-81EF-AEC8F1094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05200"/>
            <a:ext cx="2743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2400">
                <a:latin typeface="Times New Roman" panose="02020603050405020304" pitchFamily="18" charset="0"/>
              </a:rPr>
              <a:t>Primality Test</a:t>
            </a:r>
          </a:p>
        </p:txBody>
      </p:sp>
      <p:sp>
        <p:nvSpPr>
          <p:cNvPr id="26632" name="Line 6">
            <a:extLst>
              <a:ext uri="{FF2B5EF4-FFF2-40B4-BE49-F238E27FC236}">
                <a16:creationId xmlns:a16="http://schemas.microsoft.com/office/drawing/2014/main" id="{4AC398D0-2394-7315-5A29-3F01A5F12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810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7">
            <a:extLst>
              <a:ext uri="{FF2B5EF4-FFF2-40B4-BE49-F238E27FC236}">
                <a16:creationId xmlns:a16="http://schemas.microsoft.com/office/drawing/2014/main" id="{6908F340-3FED-0945-A35B-C754AA9309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Text Box 8">
            <a:extLst>
              <a:ext uri="{FF2B5EF4-FFF2-40B4-BE49-F238E27FC236}">
                <a16:creationId xmlns:a16="http://schemas.microsoft.com/office/drawing/2014/main" id="{248F18C4-C39D-0AF6-6A13-20B6CB39B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29000"/>
            <a:ext cx="1768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p'</a:t>
            </a:r>
          </a:p>
        </p:txBody>
      </p:sp>
      <p:sp>
        <p:nvSpPr>
          <p:cNvPr id="26635" name="Line 9">
            <a:extLst>
              <a:ext uri="{FF2B5EF4-FFF2-40B4-BE49-F238E27FC236}">
                <a16:creationId xmlns:a16="http://schemas.microsoft.com/office/drawing/2014/main" id="{09567B24-4EED-C9F4-1DD2-20C24209E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810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Text Box 10">
            <a:extLst>
              <a:ext uri="{FF2B5EF4-FFF2-40B4-BE49-F238E27FC236}">
                <a16:creationId xmlns:a16="http://schemas.microsoft.com/office/drawing/2014/main" id="{7661A542-97C1-9C0C-A9E3-FD8A4EED0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352800"/>
            <a:ext cx="1768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dirty="0">
                <a:cs typeface="Arial" panose="020B0604020202020204" pitchFamily="34" charset="0"/>
              </a:rPr>
              <a:t>p' </a:t>
            </a:r>
            <a:r>
              <a:rPr lang="de-DE" altLang="zh-CN" sz="1600" dirty="0" err="1"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cs typeface="Arial" panose="020B0604020202020204" pitchFamily="34" charset="0"/>
              </a:rPr>
              <a:t> prime</a:t>
            </a:r>
          </a:p>
          <a:p>
            <a:pPr algn="ctr">
              <a:buClr>
                <a:srgbClr val="000000"/>
              </a:buClr>
              <a:buSzPct val="100000"/>
            </a:pPr>
            <a:r>
              <a:rPr lang="de-DE" altLang="zh-CN" sz="1600" dirty="0">
                <a:cs typeface="Arial" panose="020B0604020202020204" pitchFamily="34" charset="0"/>
              </a:rPr>
              <a:t>OR</a:t>
            </a:r>
          </a:p>
          <a:p>
            <a:pPr algn="ctr">
              <a:buClr>
                <a:srgbClr val="000000"/>
              </a:buClr>
              <a:buSzPct val="100000"/>
            </a:pPr>
            <a:r>
              <a:rPr lang="de-DE" altLang="zh-CN" sz="1600" dirty="0">
                <a:cs typeface="Arial" panose="020B0604020202020204" pitchFamily="34" charset="0"/>
              </a:rPr>
              <a:t>p' </a:t>
            </a:r>
            <a:r>
              <a:rPr lang="de-DE" altLang="zh-CN" sz="1600" dirty="0" err="1"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cs typeface="Arial" panose="020B0604020202020204" pitchFamily="34" charset="0"/>
              </a:rPr>
              <a:t>composite</a:t>
            </a:r>
            <a:endParaRPr lang="de-DE" altLang="zh-CN" sz="1600" dirty="0">
              <a:cs typeface="Arial" panose="020B0604020202020204" pitchFamily="34" charset="0"/>
            </a:endParaRPr>
          </a:p>
        </p:txBody>
      </p:sp>
      <p:sp>
        <p:nvSpPr>
          <p:cNvPr id="26637" name="Text Box 11">
            <a:extLst>
              <a:ext uri="{FF2B5EF4-FFF2-40B4-BE49-F238E27FC236}">
                <a16:creationId xmlns:a16="http://schemas.microsoft.com/office/drawing/2014/main" id="{A6F17375-4416-E9E5-F8FC-FB07EF8AC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48200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a</a:t>
            </a:r>
          </a:p>
        </p:txBody>
      </p:sp>
      <p:sp>
        <p:nvSpPr>
          <p:cNvPr id="26638" name="Text Box 12">
            <a:extLst>
              <a:ext uri="{FF2B5EF4-FFF2-40B4-BE49-F238E27FC236}">
                <a16:creationId xmlns:a16="http://schemas.microsoft.com/office/drawing/2014/main" id="{5FEC343C-80B6-9519-88EC-70FBE506B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10000"/>
            <a:ext cx="176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000">
                <a:cs typeface="Arial" panose="020B0604020202020204" pitchFamily="34" charset="0"/>
              </a:rPr>
              <a:t>candidate</a:t>
            </a:r>
          </a:p>
          <a:p>
            <a:pPr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000">
                <a:cs typeface="Arial" panose="020B0604020202020204" pitchFamily="34" charset="0"/>
              </a:rPr>
              <a:t>prime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liennummernplatzhalter 3">
            <a:extLst>
              <a:ext uri="{FF2B5EF4-FFF2-40B4-BE49-F238E27FC236}">
                <a16:creationId xmlns:a16="http://schemas.microsoft.com/office/drawing/2014/main" id="{FF1EFD7A-D6BC-132D-F780-A44472434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16BA91-22C4-5D44-9A22-061464F43B74}" type="slidenum">
              <a:rPr lang="ar-SA" altLang="zh-CN">
                <a:solidFill>
                  <a:srgbClr val="394073"/>
                </a:solidFill>
              </a:rPr>
              <a:pPr/>
              <a:t>23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7651" name="Fußzeilenplatzhalter 4">
            <a:extLst>
              <a:ext uri="{FF2B5EF4-FFF2-40B4-BE49-F238E27FC236}">
                <a16:creationId xmlns:a16="http://schemas.microsoft.com/office/drawing/2014/main" id="{D60E4AB8-D5E2-0D6E-0D11-E06B61D8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24252052-C5B9-847B-B023-E550DB7DEB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Primality Tests</a:t>
            </a:r>
          </a:p>
        </p:txBody>
      </p:sp>
      <p:sp>
        <p:nvSpPr>
          <p:cNvPr id="27653" name="Text Box 3">
            <a:extLst>
              <a:ext uri="{FF2B5EF4-FFF2-40B4-BE49-F238E27FC236}">
                <a16:creationId xmlns:a16="http://schemas.microsoft.com/office/drawing/2014/main" id="{FA4CCD2A-12F3-9C6F-279A-0354D8502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Factoring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to test for primality is typically not feasible 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However, we are not interested in the factorization, we only want to know whether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are composite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Typical primality tests are probabilistic, i.e., they are not 100% accurate but their output is correct with very high probability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 probabilistic test has two outputs: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“p’ is composite” – always true 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“p’ is a prime” – only true with a certain probability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Among the well-known primality tests are the following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Fermat Primality-Test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Miller-Rabin Primality-Test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nummernplatzhalter 3">
            <a:extLst>
              <a:ext uri="{FF2B5EF4-FFF2-40B4-BE49-F238E27FC236}">
                <a16:creationId xmlns:a16="http://schemas.microsoft.com/office/drawing/2014/main" id="{CD78192C-E63B-05FA-2CFC-D47885293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52C40B-A474-BE45-9CC2-DCAC81E86AA9}" type="slidenum">
              <a:rPr lang="ar-SA" altLang="zh-CN">
                <a:solidFill>
                  <a:srgbClr val="394073"/>
                </a:solidFill>
              </a:rPr>
              <a:pPr/>
              <a:t>24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8675" name="Fußzeilenplatzhalter 4">
            <a:extLst>
              <a:ext uri="{FF2B5EF4-FFF2-40B4-BE49-F238E27FC236}">
                <a16:creationId xmlns:a16="http://schemas.microsoft.com/office/drawing/2014/main" id="{BF4F502B-303B-3F5D-6C24-40F387C3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FCF13011-053F-0B7B-E7CC-DE110AC5C8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Fermat Primality-Test</a:t>
            </a:r>
          </a:p>
        </p:txBody>
      </p:sp>
      <p:sp>
        <p:nvSpPr>
          <p:cNvPr id="28677" name="Text Box 3">
            <a:extLst>
              <a:ext uri="{FF2B5EF4-FFF2-40B4-BE49-F238E27FC236}">
                <a16:creationId xmlns:a16="http://schemas.microsoft.com/office/drawing/2014/main" id="{A0FAA894-04F8-10E0-4430-F04580571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Basic idea: Fermat‘s Little Theorem holds for all primes, i.e., if a number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p‘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is found for which 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000" i="1" baseline="3000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p‘-1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≡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1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 mod p‘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, it is not a prime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For certain numbers (“</a:t>
            </a:r>
            <a:r>
              <a:rPr lang="en-US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Carchimchael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numbers”) this test returns “</a:t>
            </a:r>
            <a:r>
              <a:rPr lang="en-US" altLang="zh-CN" sz="2000" i="1" dirty="0">
                <a:solidFill>
                  <a:srgbClr val="000000"/>
                </a:solidFill>
                <a:ea typeface="宋体" panose="02010600030101010101" pitchFamily="2" charset="-122"/>
              </a:rPr>
              <a:t>p‘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is likely a prime” often – although these numbers are composite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Therefore, the Miller-Rabin Test is preferred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678" name="Line 4">
            <a:extLst>
              <a:ext uri="{FF2B5EF4-FFF2-40B4-BE49-F238E27FC236}">
                <a16:creationId xmlns:a16="http://schemas.microsoft.com/office/drawing/2014/main" id="{AD77AEFE-996C-9C79-5B4B-6F619D1FC5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1524000"/>
            <a:ext cx="76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Rectangle 5">
            <a:extLst>
              <a:ext uri="{FF2B5EF4-FFF2-40B4-BE49-F238E27FC236}">
                <a16:creationId xmlns:a16="http://schemas.microsoft.com/office/drawing/2014/main" id="{A5517522-2DDB-CB47-3388-AAEE45F14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057400"/>
            <a:ext cx="6624638" cy="2921000"/>
          </a:xfrm>
          <a:prstGeom prst="rect">
            <a:avLst/>
          </a:prstGeom>
          <a:noFill/>
          <a:ln w="255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544513" indent="-4572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b="1" u="sng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Algorithm: Fermat Primality-Test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Input: 	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Prime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candidate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security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parameter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Output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: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composite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or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p‘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likely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a prime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FOR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i = 1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TO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 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choose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random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 a </a:t>
            </a:r>
            <a:r>
              <a:rPr lang="el-GR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ε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 {2,3, ..., p‘-2}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  IF 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a</a:t>
            </a:r>
            <a:r>
              <a:rPr lang="de-DE" altLang="zh-CN" sz="1600" baseline="30000" dirty="0">
                <a:solidFill>
                  <a:srgbClr val="000000"/>
                </a:solidFill>
                <a:cs typeface="Arial" panose="020B0604020202020204" pitchFamily="34" charset="0"/>
              </a:rPr>
              <a:t>p‘-1  </a:t>
            </a:r>
            <a:r>
              <a:rPr lang="sv-S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≡ 1 mod p’ </a:t>
            </a:r>
            <a:r>
              <a:rPr lang="sv-S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THEN</a:t>
            </a:r>
            <a:endParaRPr lang="de-DE" altLang="zh-CN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    RETURN 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composite</a:t>
            </a:r>
            <a:endParaRPr lang="de-DE" altLang="zh-CN" sz="1600" i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 dirty="0">
                <a:solidFill>
                  <a:srgbClr val="000000"/>
                </a:solidFill>
                <a:cs typeface="Arial" panose="020B0604020202020204" pitchFamily="34" charset="0"/>
              </a:rPr>
              <a:t>RETURN</a:t>
            </a:r>
            <a:r>
              <a:rPr lang="de-DE" altLang="zh-CN" sz="1600" i="1" dirty="0">
                <a:solidFill>
                  <a:srgbClr val="000000"/>
                </a:solidFill>
                <a:cs typeface="Arial" panose="020B0604020202020204" pitchFamily="34" charset="0"/>
              </a:rPr>
              <a:t> p‘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is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dirty="0" err="1">
                <a:solidFill>
                  <a:srgbClr val="000000"/>
                </a:solidFill>
                <a:cs typeface="Arial" panose="020B0604020202020204" pitchFamily="34" charset="0"/>
              </a:rPr>
              <a:t>likely</a:t>
            </a:r>
            <a:r>
              <a:rPr lang="de-DE" altLang="zh-CN" sz="1600" dirty="0">
                <a:solidFill>
                  <a:srgbClr val="000000"/>
                </a:solidFill>
                <a:cs typeface="Arial" panose="020B0604020202020204" pitchFamily="34" charset="0"/>
              </a:rPr>
              <a:t> a prime</a:t>
            </a:r>
            <a:endParaRPr lang="de-DE" altLang="zh-CN" sz="1600" i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8680" name="Line 6">
            <a:extLst>
              <a:ext uri="{FF2B5EF4-FFF2-40B4-BE49-F238E27FC236}">
                <a16:creationId xmlns:a16="http://schemas.microsoft.com/office/drawing/2014/main" id="{05AA9162-B827-F64C-E899-68681500CA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1584" y="3929063"/>
            <a:ext cx="762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nummernplatzhalter 3">
            <a:extLst>
              <a:ext uri="{FF2B5EF4-FFF2-40B4-BE49-F238E27FC236}">
                <a16:creationId xmlns:a16="http://schemas.microsoft.com/office/drawing/2014/main" id="{89CBF847-9591-2AB8-4CFE-7C7481D58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AD1EDF-E599-E441-BD69-EF76F9C73A7E}" type="slidenum">
              <a:rPr lang="ar-SA" altLang="zh-CN">
                <a:solidFill>
                  <a:srgbClr val="394073"/>
                </a:solidFill>
              </a:rPr>
              <a:pPr/>
              <a:t>25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29699" name="Fußzeilenplatzhalter 4">
            <a:extLst>
              <a:ext uri="{FF2B5EF4-FFF2-40B4-BE49-F238E27FC236}">
                <a16:creationId xmlns:a16="http://schemas.microsoft.com/office/drawing/2014/main" id="{64D7F5B8-AEA6-7FFD-80EB-3A70FB7D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565230EF-1D9C-816B-3353-DA9EB697AB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Theorem for Miller-Rabin‘s test</a:t>
            </a:r>
          </a:p>
        </p:txBody>
      </p:sp>
      <p:sp>
        <p:nvSpPr>
          <p:cNvPr id="29701" name="Text Box 3">
            <a:extLst>
              <a:ext uri="{FF2B5EF4-FFF2-40B4-BE49-F238E27FC236}">
                <a16:creationId xmlns:a16="http://schemas.microsoft.com/office/drawing/2014/main" id="{D7CEC8B1-7168-C149-F2FE-E130BC3B3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more powerful Miller-Rabin Test is based on the following theorem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This theorem can be turned into an algorithm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702" name="Rectangle 4">
            <a:extLst>
              <a:ext uri="{FF2B5EF4-FFF2-40B4-BE49-F238E27FC236}">
                <a16:creationId xmlns:a16="http://schemas.microsoft.com/office/drawing/2014/main" id="{2C30DD57-CC22-78A9-6086-B5B3C981C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133600"/>
            <a:ext cx="5715000" cy="2701925"/>
          </a:xfrm>
          <a:prstGeom prst="rect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544513" indent="-4572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cs typeface="Arial" panose="020B0604020202020204" pitchFamily="34" charset="0"/>
              </a:rPr>
              <a:t>Theorem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Given the decomposition of an odd prime candidate </a:t>
            </a:r>
            <a:r>
              <a:rPr lang="de-DE" altLang="zh-CN" sz="1600" i="1">
                <a:cs typeface="Arial" panose="020B0604020202020204" pitchFamily="34" charset="0"/>
              </a:rPr>
              <a:t>p‘ 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i="1">
                <a:cs typeface="Arial" panose="020B0604020202020204" pitchFamily="34" charset="0"/>
              </a:rPr>
              <a:t>p‘ – 1 = 2</a:t>
            </a:r>
            <a:r>
              <a:rPr lang="de-DE" altLang="zh-CN" sz="1600" i="1" baseline="30000">
                <a:cs typeface="Arial" panose="020B0604020202020204" pitchFamily="34" charset="0"/>
              </a:rPr>
              <a:t>u * </a:t>
            </a:r>
            <a:r>
              <a:rPr lang="de-DE" altLang="zh-CN" sz="1600" i="1">
                <a:cs typeface="Arial" panose="020B0604020202020204" pitchFamily="34" charset="0"/>
              </a:rPr>
              <a:t>r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where </a:t>
            </a:r>
            <a:r>
              <a:rPr lang="de-DE" altLang="zh-CN" sz="1600" i="1">
                <a:cs typeface="Arial" panose="020B0604020202020204" pitchFamily="34" charset="0"/>
              </a:rPr>
              <a:t>r </a:t>
            </a:r>
            <a:r>
              <a:rPr lang="de-DE" altLang="zh-CN" sz="1600">
                <a:cs typeface="Arial" panose="020B0604020202020204" pitchFamily="34" charset="0"/>
              </a:rPr>
              <a:t>is odd. If we can find an integer </a:t>
            </a:r>
            <a:r>
              <a:rPr lang="de-DE" altLang="zh-CN" sz="1600" i="1">
                <a:cs typeface="Arial" panose="020B0604020202020204" pitchFamily="34" charset="0"/>
              </a:rPr>
              <a:t>a</a:t>
            </a:r>
            <a:r>
              <a:rPr lang="de-DE" altLang="zh-CN" sz="1600">
                <a:cs typeface="Arial" panose="020B0604020202020204" pitchFamily="34" charset="0"/>
              </a:rPr>
              <a:t> such that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i="1">
                <a:cs typeface="Arial" panose="020B0604020202020204" pitchFamily="34" charset="0"/>
              </a:rPr>
              <a:t>a</a:t>
            </a:r>
            <a:r>
              <a:rPr lang="de-DE" altLang="zh-CN" sz="1600" i="1" baseline="30000">
                <a:cs typeface="Arial" panose="020B0604020202020204" pitchFamily="34" charset="0"/>
              </a:rPr>
              <a:t>r</a:t>
            </a:r>
            <a:r>
              <a:rPr lang="de-DE" altLang="zh-CN" sz="1600" i="1">
                <a:cs typeface="Arial" panose="020B0604020202020204" pitchFamily="34" charset="0"/>
              </a:rPr>
              <a:t>  </a:t>
            </a:r>
            <a:r>
              <a:rPr lang="sv-SE" altLang="zh-CN" sz="1600" i="1">
                <a:cs typeface="Arial" panose="020B0604020202020204" pitchFamily="34" charset="0"/>
              </a:rPr>
              <a:t>≡</a:t>
            </a:r>
            <a:r>
              <a:rPr lang="de-DE" altLang="zh-CN" sz="1600" i="1">
                <a:cs typeface="Arial" panose="020B0604020202020204" pitchFamily="34" charset="0"/>
              </a:rPr>
              <a:t> 1 mod p‘</a:t>
            </a:r>
            <a:r>
              <a:rPr lang="de-DE" altLang="zh-CN" sz="1600">
                <a:cs typeface="Arial" panose="020B0604020202020204" pitchFamily="34" charset="0"/>
              </a:rPr>
              <a:t>        and       </a:t>
            </a:r>
            <a:r>
              <a:rPr lang="de-DE" altLang="zh-CN" sz="1600" i="1">
                <a:cs typeface="Arial" panose="020B0604020202020204" pitchFamily="34" charset="0"/>
              </a:rPr>
              <a:t>a</a:t>
            </a:r>
            <a:r>
              <a:rPr lang="de-DE" altLang="zh-CN" sz="1600" i="1" baseline="30000">
                <a:cs typeface="Arial" panose="020B0604020202020204" pitchFamily="34" charset="0"/>
              </a:rPr>
              <a:t>r</a:t>
            </a:r>
            <a:r>
              <a:rPr lang="de-DE" altLang="zh-CN" sz="1600" i="1" baseline="50000">
                <a:cs typeface="Arial" panose="020B0604020202020204" pitchFamily="34" charset="0"/>
              </a:rPr>
              <a:t>2j</a:t>
            </a:r>
            <a:r>
              <a:rPr lang="de-DE" altLang="zh-CN" sz="1600" i="1">
                <a:cs typeface="Arial" panose="020B0604020202020204" pitchFamily="34" charset="0"/>
              </a:rPr>
              <a:t>  </a:t>
            </a:r>
            <a:r>
              <a:rPr lang="sv-SE" altLang="zh-CN" sz="1600" i="1">
                <a:cs typeface="Arial" panose="020B0604020202020204" pitchFamily="34" charset="0"/>
              </a:rPr>
              <a:t>≡</a:t>
            </a:r>
            <a:r>
              <a:rPr lang="de-DE" altLang="zh-CN" sz="2400" i="1">
                <a:latin typeface="Times New Roman" panose="02020603050405020304" pitchFamily="18" charset="0"/>
              </a:rPr>
              <a:t> </a:t>
            </a:r>
            <a:r>
              <a:rPr lang="de-DE" altLang="zh-CN" sz="1600" i="1">
                <a:cs typeface="Arial" panose="020B0604020202020204" pitchFamily="34" charset="0"/>
              </a:rPr>
              <a:t>p‘ - 1 mod p‘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For all </a:t>
            </a:r>
            <a:r>
              <a:rPr lang="de-DE" altLang="zh-CN" sz="1600" i="1">
                <a:cs typeface="Arial" panose="020B0604020202020204" pitchFamily="34" charset="0"/>
              </a:rPr>
              <a:t>j = {0,1, ..., u-1}</a:t>
            </a:r>
            <a:r>
              <a:rPr lang="de-DE" altLang="zh-CN" sz="1600">
                <a:cs typeface="Arial" panose="020B0604020202020204" pitchFamily="34" charset="0"/>
              </a:rPr>
              <a:t>, then </a:t>
            </a:r>
            <a:r>
              <a:rPr lang="de-DE" altLang="zh-CN" sz="1600" i="1">
                <a:cs typeface="Arial" panose="020B0604020202020204" pitchFamily="34" charset="0"/>
              </a:rPr>
              <a:t>p‘</a:t>
            </a:r>
            <a:r>
              <a:rPr lang="de-DE" altLang="zh-CN" sz="1600">
                <a:cs typeface="Arial" panose="020B0604020202020204" pitchFamily="34" charset="0"/>
              </a:rPr>
              <a:t> is composite. 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>
                <a:cs typeface="Arial" panose="020B0604020202020204" pitchFamily="34" charset="0"/>
              </a:rPr>
              <a:t>Otherwise it is probably a prime.</a:t>
            </a:r>
          </a:p>
        </p:txBody>
      </p:sp>
      <p:sp>
        <p:nvSpPr>
          <p:cNvPr id="29703" name="Line 5">
            <a:extLst>
              <a:ext uri="{FF2B5EF4-FFF2-40B4-BE49-F238E27FC236}">
                <a16:creationId xmlns:a16="http://schemas.microsoft.com/office/drawing/2014/main" id="{F40A97BD-E5D7-200F-5EFB-2916FDB087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810000"/>
            <a:ext cx="762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Line 6">
            <a:extLst>
              <a:ext uri="{FF2B5EF4-FFF2-40B4-BE49-F238E27FC236}">
                <a16:creationId xmlns:a16="http://schemas.microsoft.com/office/drawing/2014/main" id="{CE29C07A-F55A-0D86-3F49-C4AEC03106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810000"/>
            <a:ext cx="762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liennummernplatzhalter 3">
            <a:extLst>
              <a:ext uri="{FF2B5EF4-FFF2-40B4-BE49-F238E27FC236}">
                <a16:creationId xmlns:a16="http://schemas.microsoft.com/office/drawing/2014/main" id="{F92C0B11-9127-18C5-A8C6-7C20A2E5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819141-C6E5-1040-8549-61E23AF5A72A}" type="slidenum">
              <a:rPr lang="ar-SA" altLang="zh-CN">
                <a:solidFill>
                  <a:srgbClr val="394073"/>
                </a:solidFill>
              </a:rPr>
              <a:pPr/>
              <a:t>26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0723" name="Fußzeilenplatzhalter 4">
            <a:extLst>
              <a:ext uri="{FF2B5EF4-FFF2-40B4-BE49-F238E27FC236}">
                <a16:creationId xmlns:a16="http://schemas.microsoft.com/office/drawing/2014/main" id="{6567091D-600E-4A3A-E9FF-50F6381D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E3CA0C59-AC32-E1D4-6271-C375624383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Miller-Rabin Primality-Test</a:t>
            </a:r>
          </a:p>
        </p:txBody>
      </p:sp>
      <p:sp>
        <p:nvSpPr>
          <p:cNvPr id="30725" name="Text Box 3">
            <a:extLst>
              <a:ext uri="{FF2B5EF4-FFF2-40B4-BE49-F238E27FC236}">
                <a16:creationId xmlns:a16="http://schemas.microsoft.com/office/drawing/2014/main" id="{C833C1F3-4974-E3B8-70B4-C6CEFD7EE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40A2105F-1B53-82D2-3AB3-B9EDBBD5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955675"/>
            <a:ext cx="6624638" cy="5140325"/>
          </a:xfrm>
          <a:prstGeom prst="rect">
            <a:avLst/>
          </a:prstGeom>
          <a:noFill/>
          <a:ln w="25527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544513" indent="-4572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zh-CN" sz="1600" b="1" u="sng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Algorithm: Miller-Rabin Primality-Test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Input: 	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Prime candidate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with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p‘-1 = 2</a:t>
            </a:r>
            <a:r>
              <a:rPr lang="de-D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u * r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security parameter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Output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: „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is composite“ or „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is likely a prime“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FOR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i = 1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TO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 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choose random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a </a:t>
            </a:r>
            <a:r>
              <a:rPr lang="el-GR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ε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{2,3, ..., p‘-2}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 z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≡ a</a:t>
            </a:r>
            <a:r>
              <a:rPr lang="sv-S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mod p’</a:t>
            </a:r>
            <a:endParaRPr lang="de-DE" altLang="zh-CN" sz="1600" i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IF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z</a:t>
            </a:r>
            <a:r>
              <a:rPr lang="de-D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≠ 1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AND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z</a:t>
            </a:r>
            <a:r>
              <a:rPr lang="de-D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≠ p’-1</a:t>
            </a:r>
            <a:r>
              <a:rPr lang="sv-S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THEN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  FOR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j = 1</a:t>
            </a: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TO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u-1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     z ≡ z</a:t>
            </a:r>
            <a:r>
              <a:rPr lang="sv-SE" altLang="zh-CN" sz="1600" i="1" baseline="30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mod p’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   </a:t>
            </a: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IF </a:t>
            </a:r>
            <a:r>
              <a:rPr lang="sv-S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z = 1</a:t>
            </a:r>
            <a:r>
              <a:rPr lang="sv-S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THEN</a:t>
            </a:r>
            <a:endParaRPr lang="de-DE" altLang="zh-CN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      RETURN 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„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is composite“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   </a:t>
            </a: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IF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z ≠ p‘-1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THEN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      RETURN 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„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is composite“</a:t>
            </a:r>
          </a:p>
          <a:p>
            <a:pPr>
              <a:lnSpc>
                <a:spcPct val="125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eriod"/>
            </a:pPr>
            <a:r>
              <a:rPr lang="de-DE" altLang="zh-CN" sz="1600" b="1">
                <a:solidFill>
                  <a:srgbClr val="000000"/>
                </a:solidFill>
                <a:cs typeface="Arial" panose="020B0604020202020204" pitchFamily="34" charset="0"/>
              </a:rPr>
              <a:t>RETURN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„</a:t>
            </a:r>
            <a:r>
              <a:rPr lang="de-DE" altLang="zh-CN" sz="1600" i="1">
                <a:solidFill>
                  <a:srgbClr val="000000"/>
                </a:solidFill>
                <a:cs typeface="Arial" panose="020B0604020202020204" pitchFamily="34" charset="0"/>
              </a:rPr>
              <a:t>p‘</a:t>
            </a:r>
            <a:r>
              <a:rPr lang="de-DE" altLang="zh-CN" sz="1600">
                <a:solidFill>
                  <a:srgbClr val="000000"/>
                </a:solidFill>
                <a:cs typeface="Arial" panose="020B0604020202020204" pitchFamily="34" charset="0"/>
              </a:rPr>
              <a:t> is likely a prime“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3">
            <a:extLst>
              <a:ext uri="{FF2B5EF4-FFF2-40B4-BE49-F238E27FC236}">
                <a16:creationId xmlns:a16="http://schemas.microsoft.com/office/drawing/2014/main" id="{A2E393CC-E76E-41F5-EFB2-048062AB7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EE0B9F-588E-9544-9CDD-63736F8B0EAB}" type="slidenum">
              <a:rPr lang="ar-SA" altLang="zh-CN">
                <a:solidFill>
                  <a:srgbClr val="394073"/>
                </a:solidFill>
              </a:rPr>
              <a:pPr/>
              <a:t>27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1747" name="Fußzeilenplatzhalter 4">
            <a:extLst>
              <a:ext uri="{FF2B5EF4-FFF2-40B4-BE49-F238E27FC236}">
                <a16:creationId xmlns:a16="http://schemas.microsoft.com/office/drawing/2014/main" id="{AF9FCC36-1610-7E1A-EB27-3D1368D7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E1206D1-97E8-0F7E-A5E4-C432FBFADF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31749" name="Text Box 3">
            <a:extLst>
              <a:ext uri="{FF2B5EF4-FFF2-40B4-BE49-F238E27FC236}">
                <a16:creationId xmlns:a16="http://schemas.microsoft.com/office/drawing/2014/main" id="{4908B871-76A8-4BD4-5ADA-AF87DD69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Attacks</a:t>
            </a:r>
            <a:r>
              <a:rPr lang="de-DE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 and </a:t>
            </a:r>
            <a:r>
              <a:rPr lang="de-DE" altLang="zh-CN" sz="2000" dirty="0" err="1">
                <a:solidFill>
                  <a:srgbClr val="000000"/>
                </a:solidFill>
                <a:ea typeface="宋体" panose="02010600030101010101" pitchFamily="2" charset="-122"/>
              </a:rPr>
              <a:t>Countermeasures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94603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3">
            <a:extLst>
              <a:ext uri="{FF2B5EF4-FFF2-40B4-BE49-F238E27FC236}">
                <a16:creationId xmlns:a16="http://schemas.microsoft.com/office/drawing/2014/main" id="{A2E393CC-E76E-41F5-EFB2-048062AB7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EE0B9F-588E-9544-9CDD-63736F8B0EAB}" type="slidenum">
              <a:rPr lang="ar-SA" altLang="zh-CN">
                <a:solidFill>
                  <a:srgbClr val="394073"/>
                </a:solidFill>
              </a:rPr>
              <a:pPr/>
              <a:t>28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1747" name="Fußzeilenplatzhalter 4">
            <a:extLst>
              <a:ext uri="{FF2B5EF4-FFF2-40B4-BE49-F238E27FC236}">
                <a16:creationId xmlns:a16="http://schemas.microsoft.com/office/drawing/2014/main" id="{AF9FCC36-1610-7E1A-EB27-3D1368D7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E1206D1-97E8-0F7E-A5E4-C432FBFADF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 dirty="0" err="1"/>
              <a:t>Textbook</a:t>
            </a:r>
            <a:r>
              <a:rPr lang="de-DE" altLang="zh-CN" sz="2800" dirty="0"/>
              <a:t> </a:t>
            </a:r>
            <a:r>
              <a:rPr lang="de-DE" altLang="zh-CN" sz="2800" dirty="0" err="1"/>
              <a:t>is</a:t>
            </a:r>
            <a:r>
              <a:rPr lang="de-DE" altLang="zh-CN" sz="2800" dirty="0"/>
              <a:t> </a:t>
            </a:r>
            <a:r>
              <a:rPr lang="de-DE" altLang="zh-CN" sz="2800" dirty="0" err="1"/>
              <a:t>insecure</a:t>
            </a:r>
            <a:endParaRPr lang="de-DE" altLang="zh-CN" sz="2800" dirty="0"/>
          </a:p>
        </p:txBody>
      </p:sp>
      <p:sp>
        <p:nvSpPr>
          <p:cNvPr id="31749" name="Text Box 3">
            <a:extLst>
              <a:ext uri="{FF2B5EF4-FFF2-40B4-BE49-F238E27FC236}">
                <a16:creationId xmlns:a16="http://schemas.microsoft.com/office/drawing/2014/main" id="{4908B871-76A8-4BD4-5ADA-AF87DD69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Textbook RSA encryption is deterministic.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Small public exponents </a:t>
            </a:r>
            <a:r>
              <a:rPr lang="en-US" altLang="zh-CN" sz="2400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 and small plaintext </a:t>
            </a:r>
            <a:r>
              <a:rPr lang="en-US" altLang="zh-CN" sz="2400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 might be subject to attacks if no padding is used.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rPr>
              <a:t>Textbook RSA is malleable.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56109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encryption in practice</a:t>
            </a:r>
          </a:p>
        </p:txBody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24050"/>
            <a:ext cx="8178800" cy="37147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Never use textbook RSA.</a:t>
            </a:r>
          </a:p>
          <a:p>
            <a:pPr marL="0" indent="0">
              <a:lnSpc>
                <a:spcPct val="90000"/>
              </a:lnSpc>
              <a:spcBef>
                <a:spcPts val="2400"/>
              </a:spcBef>
              <a:buNone/>
            </a:pPr>
            <a:r>
              <a:rPr lang="en-US" dirty="0"/>
              <a:t>RSA in practice: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Main questions: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How should the preprocessing be done?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Can we argue about security of resulting system?</a:t>
            </a:r>
          </a:p>
        </p:txBody>
      </p:sp>
      <p:sp>
        <p:nvSpPr>
          <p:cNvPr id="566276" name="Rectangle 4"/>
          <p:cNvSpPr>
            <a:spLocks noChangeArrowheads="1"/>
          </p:cNvSpPr>
          <p:nvPr/>
        </p:nvSpPr>
        <p:spPr bwMode="auto">
          <a:xfrm>
            <a:off x="1506539" y="3100388"/>
            <a:ext cx="676275" cy="633413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8064A2">
                    <a:lumMod val="20000"/>
                    <a:lumOff val="80000"/>
                  </a:srgbClr>
                </a:solidFill>
                <a:latin typeface="Calibri"/>
              </a:rPr>
              <a:t>msg</a:t>
            </a:r>
            <a:endParaRPr lang="en-US" dirty="0">
              <a:solidFill>
                <a:srgbClr val="8064A2">
                  <a:lumMod val="20000"/>
                  <a:lumOff val="80000"/>
                </a:srgbClr>
              </a:solidFill>
              <a:latin typeface="Calibri"/>
            </a:endParaRPr>
          </a:p>
          <a:p>
            <a:pPr algn="ctr" eaLnBrk="1" fontAlgn="auto" hangingPunct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64A2">
                    <a:lumMod val="20000"/>
                    <a:lumOff val="80000"/>
                  </a:srgbClr>
                </a:solidFill>
                <a:latin typeface="Calibri"/>
              </a:rPr>
              <a:t>key</a:t>
            </a:r>
          </a:p>
        </p:txBody>
      </p:sp>
      <p:sp>
        <p:nvSpPr>
          <p:cNvPr id="566277" name="Rectangle 5"/>
          <p:cNvSpPr>
            <a:spLocks noChangeArrowheads="1"/>
          </p:cNvSpPr>
          <p:nvPr/>
        </p:nvSpPr>
        <p:spPr bwMode="auto">
          <a:xfrm>
            <a:off x="4495800" y="3055144"/>
            <a:ext cx="473076" cy="1193007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6278" name="Line 6"/>
          <p:cNvSpPr>
            <a:spLocks noChangeShapeType="1"/>
          </p:cNvSpPr>
          <p:nvPr/>
        </p:nvSpPr>
        <p:spPr bwMode="auto">
          <a:xfrm>
            <a:off x="2198687" y="3505199"/>
            <a:ext cx="2220913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6279" name="Text Box 7"/>
          <p:cNvSpPr txBox="1">
            <a:spLocks noChangeArrowheads="1"/>
          </p:cNvSpPr>
          <p:nvPr/>
        </p:nvSpPr>
        <p:spPr bwMode="auto">
          <a:xfrm>
            <a:off x="2351088" y="3124200"/>
            <a:ext cx="1644651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Preprocessing</a:t>
            </a:r>
          </a:p>
        </p:txBody>
      </p:sp>
      <p:sp>
        <p:nvSpPr>
          <p:cNvPr id="566281" name="Line 9"/>
          <p:cNvSpPr>
            <a:spLocks noChangeShapeType="1"/>
          </p:cNvSpPr>
          <p:nvPr/>
        </p:nvSpPr>
        <p:spPr bwMode="auto">
          <a:xfrm flipV="1">
            <a:off x="4953001" y="3505199"/>
            <a:ext cx="1817687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6282" name="Rectangle 10"/>
          <p:cNvSpPr>
            <a:spLocks noChangeArrowheads="1"/>
          </p:cNvSpPr>
          <p:nvPr/>
        </p:nvSpPr>
        <p:spPr bwMode="auto">
          <a:xfrm>
            <a:off x="6770688" y="3048000"/>
            <a:ext cx="696913" cy="12001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002060"/>
                </a:solidFill>
                <a:latin typeface="Calibri"/>
              </a:rPr>
              <a:t>ciphertext</a:t>
            </a:r>
            <a:endParaRPr lang="en-US" sz="200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66283" name="Text Box 11"/>
          <p:cNvSpPr txBox="1">
            <a:spLocks noChangeArrowheads="1"/>
          </p:cNvSpPr>
          <p:nvPr/>
        </p:nvSpPr>
        <p:spPr bwMode="auto">
          <a:xfrm>
            <a:off x="5562601" y="3157617"/>
            <a:ext cx="595035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prstClr val="black"/>
                </a:solidFill>
                <a:latin typeface="Calibri"/>
              </a:rPr>
              <a:t>RSA</a:t>
            </a:r>
          </a:p>
        </p:txBody>
      </p:sp>
    </p:spTree>
    <p:extLst>
      <p:ext uri="{BB962C8B-B14F-4D97-AF65-F5344CB8AC3E}">
        <p14:creationId xmlns:p14="http://schemas.microsoft.com/office/powerpoint/2010/main" val="1482751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3">
            <a:extLst>
              <a:ext uri="{FF2B5EF4-FFF2-40B4-BE49-F238E27FC236}">
                <a16:creationId xmlns:a16="http://schemas.microsoft.com/office/drawing/2014/main" id="{A2E393CC-E76E-41F5-EFB2-048062AB7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EE0B9F-588E-9544-9CDD-63736F8B0EAB}" type="slidenum">
              <a:rPr lang="ar-SA" altLang="zh-CN">
                <a:solidFill>
                  <a:srgbClr val="394073"/>
                </a:solidFill>
              </a:rPr>
              <a:pPr/>
              <a:t>30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1747" name="Fußzeilenplatzhalter 4">
            <a:extLst>
              <a:ext uri="{FF2B5EF4-FFF2-40B4-BE49-F238E27FC236}">
                <a16:creationId xmlns:a16="http://schemas.microsoft.com/office/drawing/2014/main" id="{AF9FCC36-1610-7E1A-EB27-3D1368D7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E1206D1-97E8-0F7E-A5E4-C432FBFADF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3749" y="94127"/>
            <a:ext cx="8250237" cy="541337"/>
          </a:xfrm>
        </p:spPr>
        <p:txBody>
          <a:bodyPr/>
          <a:lstStyle/>
          <a:p>
            <a:r>
              <a:rPr lang="en-US" altLang="en-US" sz="2800" dirty="0">
                <a:latin typeface="+mj-lt"/>
                <a:ea typeface="ヒラギノ角ゴ Pro W3" charset="-128"/>
              </a:rPr>
              <a:t>Encryption Using Optimal Asymmetric Encryption Padding (</a:t>
            </a:r>
            <a:r>
              <a:rPr lang="en-US" altLang="en-US" sz="2800" spc="-450" dirty="0">
                <a:latin typeface="+mj-lt"/>
                <a:ea typeface="ヒラギノ角ゴ Pro W3" charset="-128"/>
              </a:rPr>
              <a:t>O A E </a:t>
            </a:r>
            <a:r>
              <a:rPr lang="en-US" altLang="en-US" sz="2800" dirty="0">
                <a:latin typeface="+mj-lt"/>
                <a:ea typeface="ヒラギノ角ゴ Pro W3" charset="-128"/>
              </a:rPr>
              <a:t>P)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F8D293-7D7D-7C29-E831-7A4C85E2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96752"/>
            <a:ext cx="7239799" cy="497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601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liennummernplatzhalter 3">
            <a:extLst>
              <a:ext uri="{FF2B5EF4-FFF2-40B4-BE49-F238E27FC236}">
                <a16:creationId xmlns:a16="http://schemas.microsoft.com/office/drawing/2014/main" id="{A2E393CC-E76E-41F5-EFB2-048062AB7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EE0B9F-588E-9544-9CDD-63736F8B0EAB}" type="slidenum">
              <a:rPr lang="ar-SA" altLang="zh-CN">
                <a:solidFill>
                  <a:srgbClr val="394073"/>
                </a:solidFill>
              </a:rPr>
              <a:pPr/>
              <a:t>31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1747" name="Fußzeilenplatzhalter 4">
            <a:extLst>
              <a:ext uri="{FF2B5EF4-FFF2-40B4-BE49-F238E27FC236}">
                <a16:creationId xmlns:a16="http://schemas.microsoft.com/office/drawing/2014/main" id="{AF9FCC36-1610-7E1A-EB27-3D1368D7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E1206D1-97E8-0F7E-A5E4-C432FBFADF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31749" name="Text Box 3">
            <a:extLst>
              <a:ext uri="{FF2B5EF4-FFF2-40B4-BE49-F238E27FC236}">
                <a16:creationId xmlns:a16="http://schemas.microsoft.com/office/drawing/2014/main" id="{4908B871-76A8-4BD4-5ADA-AF87DD69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RSA</a:t>
            </a:r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ea typeface="宋体" panose="02010600030101010101" pitchFamily="2" charset="-122"/>
              </a:rPr>
              <a:t>in Practice: Padding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 dirty="0" err="1">
                <a:solidFill>
                  <a:srgbClr val="000000"/>
                </a:solidFill>
              </a:rPr>
              <a:t>Attacks</a:t>
            </a:r>
            <a:r>
              <a:rPr lang="de-DE" altLang="zh-CN" sz="2000" b="1" dirty="0">
                <a:solidFill>
                  <a:srgbClr val="000000"/>
                </a:solidFill>
              </a:rPr>
              <a:t> and </a:t>
            </a:r>
            <a:r>
              <a:rPr lang="de-DE" altLang="zh-CN" sz="2000" b="1" dirty="0" err="1">
                <a:solidFill>
                  <a:srgbClr val="000000"/>
                </a:solidFill>
              </a:rPr>
              <a:t>Countermeasures</a:t>
            </a:r>
            <a:endParaRPr lang="en-US" altLang="zh-CN" sz="2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dirty="0" err="1">
                <a:solidFill>
                  <a:srgbClr val="000000"/>
                </a:solidFill>
              </a:rPr>
              <a:t>Lessons</a:t>
            </a:r>
            <a:r>
              <a:rPr lang="de-DE" altLang="zh-CN" sz="2000" dirty="0">
                <a:solidFill>
                  <a:srgbClr val="000000"/>
                </a:solidFill>
              </a:rPr>
              <a:t> </a:t>
            </a:r>
            <a:r>
              <a:rPr lang="de-DE" altLang="zh-CN" sz="2000" dirty="0" err="1">
                <a:solidFill>
                  <a:srgbClr val="000000"/>
                </a:solidFill>
              </a:rPr>
              <a:t>Learned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nummernplatzhalter 3">
            <a:extLst>
              <a:ext uri="{FF2B5EF4-FFF2-40B4-BE49-F238E27FC236}">
                <a16:creationId xmlns:a16="http://schemas.microsoft.com/office/drawing/2014/main" id="{20E49C1B-CC3B-686F-237F-624D298C1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AFD421-3B48-DF49-A29D-350E88088E05}" type="slidenum">
              <a:rPr lang="ar-SA" altLang="zh-CN">
                <a:solidFill>
                  <a:srgbClr val="394073"/>
                </a:solidFill>
              </a:rPr>
              <a:pPr/>
              <a:t>32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2771" name="Fußzeilenplatzhalter 4">
            <a:extLst>
              <a:ext uri="{FF2B5EF4-FFF2-40B4-BE49-F238E27FC236}">
                <a16:creationId xmlns:a16="http://schemas.microsoft.com/office/drawing/2014/main" id="{E24FE24F-0E87-A18F-54B8-F60AA586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CBA67D1B-1E6B-2FD1-B182-EC572D9401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Attacks and Countermeasures 1/3</a:t>
            </a:r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6CEB419D-545D-8077-3113-EFB02B76C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23900" indent="-3683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>
                <a:solidFill>
                  <a:srgbClr val="000000"/>
                </a:solidFill>
              </a:rPr>
              <a:t>There are two distinct types of attacks on cryptosystems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>
                <a:solidFill>
                  <a:srgbClr val="000000"/>
                </a:solidFill>
              </a:rPr>
              <a:t>Analytical attacks</a:t>
            </a:r>
            <a:r>
              <a:rPr lang="de-DE" altLang="zh-CN" sz="2000">
                <a:solidFill>
                  <a:srgbClr val="000000"/>
                </a:solidFill>
              </a:rPr>
              <a:t> try to break the mathematical structure of the underlying problem of RSA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>
                <a:solidFill>
                  <a:srgbClr val="000000"/>
                </a:solidFill>
              </a:rPr>
              <a:t>Implementation attacks</a:t>
            </a:r>
            <a:r>
              <a:rPr lang="de-DE" altLang="zh-CN" sz="2000">
                <a:solidFill>
                  <a:srgbClr val="000000"/>
                </a:solidFill>
              </a:rPr>
              <a:t> try to attack a real-world implementation by exploiting inherent weaknesses in the way RSA is realized in software or hardware</a:t>
            </a: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nummernplatzhalter 3">
            <a:extLst>
              <a:ext uri="{FF2B5EF4-FFF2-40B4-BE49-F238E27FC236}">
                <a16:creationId xmlns:a16="http://schemas.microsoft.com/office/drawing/2014/main" id="{87F0A976-EA36-4C8B-99D9-082E79C1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4609F4-5DA0-044E-BC54-0E9289C549AB}" type="slidenum">
              <a:rPr lang="ar-SA" altLang="zh-CN">
                <a:solidFill>
                  <a:srgbClr val="394073"/>
                </a:solidFill>
              </a:rPr>
              <a:pPr/>
              <a:t>33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3795" name="Fußzeilenplatzhalter 4">
            <a:extLst>
              <a:ext uri="{FF2B5EF4-FFF2-40B4-BE49-F238E27FC236}">
                <a16:creationId xmlns:a16="http://schemas.microsoft.com/office/drawing/2014/main" id="{F0034E4E-310C-25C6-B2E7-7210D475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6DF68340-F253-F64D-4D45-D051A07B52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Attacks and Countermeasures 2/3</a:t>
            </a:r>
          </a:p>
        </p:txBody>
      </p:sp>
      <p:sp>
        <p:nvSpPr>
          <p:cNvPr id="33797" name="Text Box 3">
            <a:extLst>
              <a:ext uri="{FF2B5EF4-FFF2-40B4-BE49-F238E27FC236}">
                <a16:creationId xmlns:a16="http://schemas.microsoft.com/office/drawing/2014/main" id="{CD756E92-BA14-B2AE-7124-08F2A952F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1071563"/>
            <a:ext cx="8639175" cy="5040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23900" indent="-2794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46200" indent="-2667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RSA is typically exposed to these analytical attack vectors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Mathematical attacks</a:t>
            </a: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best known attack is factoring of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in order to obtain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Φ(n)</a:t>
            </a:r>
            <a:r>
              <a:rPr lang="en-US" altLang="zh-CN" sz="2000" i="1" baseline="3000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Can be prevented using a sufficiently large modulus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current factoring record is 664 bits. Thus, it is recommended that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should have a bit length between 1024 and 3072 bits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Protocol attacks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Exploit the malleability of RSA, i.e., the property that a ciphertext can be transformed into another ciphertext which decrypts to a related plaintext – without knowing the private key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Can be prevented by proper padding</a:t>
            </a:r>
            <a:endParaRPr lang="en-US" altLang="zh-CN" sz="2000" i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nummernplatzhalter 3">
            <a:extLst>
              <a:ext uri="{FF2B5EF4-FFF2-40B4-BE49-F238E27FC236}">
                <a16:creationId xmlns:a16="http://schemas.microsoft.com/office/drawing/2014/main" id="{15D475E8-DCFE-8C00-9C88-C998248C2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70EFE2-2211-0C40-9AB3-70CA1470F0FF}" type="slidenum">
              <a:rPr lang="ar-SA" altLang="zh-CN">
                <a:solidFill>
                  <a:srgbClr val="394073"/>
                </a:solidFill>
              </a:rPr>
              <a:pPr/>
              <a:t>34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4819" name="Fußzeilenplatzhalter 4">
            <a:extLst>
              <a:ext uri="{FF2B5EF4-FFF2-40B4-BE49-F238E27FC236}">
                <a16:creationId xmlns:a16="http://schemas.microsoft.com/office/drawing/2014/main" id="{19D9631F-6832-D411-2EB9-1F4B96D8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0DA76BCE-49B0-2398-5A02-6C3E2D6C6A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Attacks and Countermeasures 3/3</a:t>
            </a:r>
          </a:p>
        </p:txBody>
      </p:sp>
      <p:sp>
        <p:nvSpPr>
          <p:cNvPr id="34821" name="Text Box 3">
            <a:extLst>
              <a:ext uri="{FF2B5EF4-FFF2-40B4-BE49-F238E27FC236}">
                <a16:creationId xmlns:a16="http://schemas.microsoft.com/office/drawing/2014/main" id="{1F1BA371-AD28-D214-B525-D14F9A99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82725" indent="-568325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>
                <a:solidFill>
                  <a:srgbClr val="000000"/>
                </a:solidFill>
              </a:rPr>
              <a:t>Implementation attacks can be one of the following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>
                <a:solidFill>
                  <a:srgbClr val="000000"/>
                </a:solidFill>
              </a:rPr>
              <a:t>Side-channel analysis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Exploit physical leakage of RSA implementation (e.g., power consumption, EM emanation, etc.)</a:t>
            </a:r>
          </a:p>
          <a:p>
            <a:pPr lvl="1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>
                <a:solidFill>
                  <a:srgbClr val="000000"/>
                </a:solidFill>
              </a:rPr>
              <a:t>Fault-injection attacks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>
                <a:solidFill>
                  <a:srgbClr val="000000"/>
                </a:solidFill>
              </a:rPr>
              <a:t>Inducing faults in the device while CRT is executed can lead to a complete leakage of the private key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4822" name="Text Box 3">
            <a:extLst>
              <a:ext uri="{FF2B5EF4-FFF2-40B4-BE49-F238E27FC236}">
                <a16:creationId xmlns:a16="http://schemas.microsoft.com/office/drawing/2014/main" id="{F23B04A1-4EA4-4F73-5980-0BFC0258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5072063"/>
            <a:ext cx="85010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More on all attacks can be found in Section 7.8 of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Understanding Cryptography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liennummernplatzhalter 3">
            <a:extLst>
              <a:ext uri="{FF2B5EF4-FFF2-40B4-BE49-F238E27FC236}">
                <a16:creationId xmlns:a16="http://schemas.microsoft.com/office/drawing/2014/main" id="{133E0E83-2895-177F-B28F-473ACBBA8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04F3CF-17F3-0F44-A8F0-3DDB2A451965}" type="slidenum">
              <a:rPr lang="ar-SA" altLang="zh-CN">
                <a:solidFill>
                  <a:srgbClr val="394073"/>
                </a:solidFill>
              </a:rPr>
              <a:pPr/>
              <a:t>35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6867" name="Fußzeilenplatzhalter 4">
            <a:extLst>
              <a:ext uri="{FF2B5EF4-FFF2-40B4-BE49-F238E27FC236}">
                <a16:creationId xmlns:a16="http://schemas.microsoft.com/office/drawing/2014/main" id="{88F4D9CE-AF48-317F-7890-1C7C968C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9D1B2FB8-FA68-DD8C-D71F-538796EF14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Content of this Chapter</a:t>
            </a:r>
          </a:p>
        </p:txBody>
      </p:sp>
      <p:sp>
        <p:nvSpPr>
          <p:cNvPr id="36869" name="Text Box 3">
            <a:extLst>
              <a:ext uri="{FF2B5EF4-FFF2-40B4-BE49-F238E27FC236}">
                <a16:creationId xmlns:a16="http://schemas.microsoft.com/office/drawing/2014/main" id="{C1D9EA7C-92B2-F69F-56E3-1CD80884C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RSA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Implementation aspects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Finding Large Primes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>
                <a:solidFill>
                  <a:srgbClr val="000000"/>
                </a:solidFill>
              </a:rPr>
              <a:t>Attacks and Countermeasures</a:t>
            </a: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de-DE" altLang="zh-CN" sz="2000" b="1">
                <a:solidFill>
                  <a:srgbClr val="000000"/>
                </a:solidFill>
              </a:rPr>
              <a:t>Lessons Learned</a:t>
            </a:r>
            <a:endParaRPr lang="en-US" altLang="zh-CN" sz="20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None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liennummernplatzhalter 3">
            <a:extLst>
              <a:ext uri="{FF2B5EF4-FFF2-40B4-BE49-F238E27FC236}">
                <a16:creationId xmlns:a16="http://schemas.microsoft.com/office/drawing/2014/main" id="{CB2A50B4-B45F-C6B3-4252-7F5636E52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639564-717E-F747-B07D-59D62F08E532}" type="slidenum">
              <a:rPr lang="ar-SA" altLang="zh-CN">
                <a:solidFill>
                  <a:srgbClr val="394073"/>
                </a:solidFill>
              </a:rPr>
              <a:pPr/>
              <a:t>36</a:t>
            </a:fld>
            <a:r>
              <a:rPr lang="de-DE" altLang="zh-CN">
                <a:solidFill>
                  <a:srgbClr val="394073"/>
                </a:solidFill>
              </a:rPr>
              <a:t> /34</a:t>
            </a:r>
          </a:p>
        </p:txBody>
      </p:sp>
      <p:sp>
        <p:nvSpPr>
          <p:cNvPr id="37891" name="Fußzeilenplatzhalter 4">
            <a:extLst>
              <a:ext uri="{FF2B5EF4-FFF2-40B4-BE49-F238E27FC236}">
                <a16:creationId xmlns:a16="http://schemas.microsoft.com/office/drawing/2014/main" id="{BB4B669F-9339-5A5C-DFA3-5E3324FB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7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E3CF299A-1EEF-6C56-9D82-8143037647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322263"/>
            <a:ext cx="8250237" cy="541337"/>
          </a:xfrm>
        </p:spPr>
        <p:txBody>
          <a:bodyPr/>
          <a:lstStyle/>
          <a:p>
            <a:pPr marL="0" indent="0" defTabSz="449263"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zh-CN" sz="2800"/>
              <a:t>Lessons Learned</a:t>
            </a:r>
          </a:p>
        </p:txBody>
      </p:sp>
      <p:sp>
        <p:nvSpPr>
          <p:cNvPr id="37893" name="Text Box 3">
            <a:extLst>
              <a:ext uri="{FF2B5EF4-FFF2-40B4-BE49-F238E27FC236}">
                <a16:creationId xmlns:a16="http://schemas.microsoft.com/office/drawing/2014/main" id="{F761E91B-1037-11D4-4FE7-34E50A30D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9500"/>
            <a:ext cx="80279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38138" indent="-338138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  <a:tab pos="9321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RSA is the most widely used public-key cryptosystem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RSA is mainly used for key transport and digital signatures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The public key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 e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can be a short integer, the private key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 needs to have the full length of the modulus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RSA relies on the fact that it is hard to factorize </a:t>
            </a:r>
            <a:r>
              <a:rPr lang="en-US" altLang="zh-CN" sz="2000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Currently 1024-bit cannot be factored, but progress in factorization could bring this into reach within 10-15 years. Hence, RSA with a 2048 or 3076 bit modulus should be used for long-term security</a:t>
            </a: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00000"/>
                </a:solidFill>
                <a:ea typeface="宋体" panose="02010600030101010101" pitchFamily="2" charset="-122"/>
              </a:rPr>
              <a:t>A naïve implementation of RSA allows several attacks, and in practice RSA should be used together with padding</a:t>
            </a:r>
          </a:p>
          <a:p>
            <a:pPr lvl="3"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25"/>
              </a:spcBef>
            </a:pPr>
            <a:endParaRPr lang="en-US" altLang="zh-CN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1193</TotalTime>
  <Words>3356</Words>
  <Application>Microsoft Macintosh PowerPoint</Application>
  <PresentationFormat>全屏显示(4:3)</PresentationFormat>
  <Paragraphs>526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宋体</vt:lpstr>
      <vt:lpstr>Arial</vt:lpstr>
      <vt:lpstr>Calibri</vt:lpstr>
      <vt:lpstr>Cambria Math</vt:lpstr>
      <vt:lpstr>Symbol</vt:lpstr>
      <vt:lpstr>Times New Roman</vt:lpstr>
      <vt:lpstr>Webdings</vt:lpstr>
      <vt:lpstr>Wingdings</vt:lpstr>
      <vt:lpstr>Folienvorlage2</vt:lpstr>
      <vt:lpstr>1_Lecture</vt:lpstr>
      <vt:lpstr>   Chapter 7 – The RSA Cryptosystem  </vt:lpstr>
      <vt:lpstr>Content of this Chapter</vt:lpstr>
      <vt:lpstr>Content of this Chapter</vt:lpstr>
      <vt:lpstr>The RSA Cryptosystem</vt:lpstr>
      <vt:lpstr>Encryption and Decryption</vt:lpstr>
      <vt:lpstr>Key Generation</vt:lpstr>
      <vt:lpstr>Example: RSA with small numbers</vt:lpstr>
      <vt:lpstr>Content of this Chapter</vt:lpstr>
      <vt:lpstr>Implementation aspects</vt:lpstr>
      <vt:lpstr>Square-and-Multiply</vt:lpstr>
      <vt:lpstr>Example: Square-and-Multiply</vt:lpstr>
      <vt:lpstr>Complexity of Square-and-Multiply Alg.</vt:lpstr>
      <vt:lpstr>Speed-Up Techniques</vt:lpstr>
      <vt:lpstr>Fast encryption with small public exponent</vt:lpstr>
      <vt:lpstr>Fast decryption with CRT</vt:lpstr>
      <vt:lpstr>Basic principle of CRT-based exponentiation</vt:lpstr>
      <vt:lpstr>CRT: Step 1 – Transformation</vt:lpstr>
      <vt:lpstr>CRT: Step 2 – Exponentiation</vt:lpstr>
      <vt:lpstr>CRT: Step 3 – Inverse Transformation</vt:lpstr>
      <vt:lpstr>Complexity of CRT</vt:lpstr>
      <vt:lpstr>Content of this Chapter</vt:lpstr>
      <vt:lpstr>Finding Large Primes</vt:lpstr>
      <vt:lpstr>Primality Tests</vt:lpstr>
      <vt:lpstr>Fermat Primality-Test</vt:lpstr>
      <vt:lpstr>Theorem for Miller-Rabin‘s test</vt:lpstr>
      <vt:lpstr>Miller-Rabin Primality-Test</vt:lpstr>
      <vt:lpstr>Content of this Chapter</vt:lpstr>
      <vt:lpstr>Textbook is insecure</vt:lpstr>
      <vt:lpstr>RSA encryption in practice</vt:lpstr>
      <vt:lpstr>Encryption Using Optimal Asymmetric Encryption Padding (O A E P)</vt:lpstr>
      <vt:lpstr>Content of this Chapter</vt:lpstr>
      <vt:lpstr>Attacks and Countermeasures 1/3</vt:lpstr>
      <vt:lpstr>Attacks and Countermeasures 2/3</vt:lpstr>
      <vt:lpstr>Attacks and Countermeasures 3/3</vt:lpstr>
      <vt:lpstr>Content of this Chapter</vt:lpstr>
      <vt:lpstr>Lessons Learned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>Auswertung</dc:subject>
  <dc:creator>Jan Pelzl</dc:creator>
  <cp:lastModifiedBy>Jing Liu</cp:lastModifiedBy>
  <cp:revision>527</cp:revision>
  <cp:lastPrinted>2003-07-29T11:52:19Z</cp:lastPrinted>
  <dcterms:created xsi:type="dcterms:W3CDTF">2004-07-26T14:24:04Z</dcterms:created>
  <dcterms:modified xsi:type="dcterms:W3CDTF">2024-11-10T11:14:06Z</dcterms:modified>
</cp:coreProperties>
</file>