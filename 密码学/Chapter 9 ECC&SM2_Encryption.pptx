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97" r:id="rId2"/>
    <p:sldMasterId id="2147483713" r:id="rId3"/>
  </p:sldMasterIdLst>
  <p:notesMasterIdLst>
    <p:notesMasterId r:id="rId37"/>
  </p:notesMasterIdLst>
  <p:handoutMasterIdLst>
    <p:handoutMasterId r:id="rId38"/>
  </p:handoutMasterIdLst>
  <p:sldIdLst>
    <p:sldId id="368" r:id="rId4"/>
    <p:sldId id="443" r:id="rId5"/>
    <p:sldId id="455" r:id="rId6"/>
    <p:sldId id="448" r:id="rId7"/>
    <p:sldId id="456" r:id="rId8"/>
    <p:sldId id="465" r:id="rId9"/>
    <p:sldId id="449" r:id="rId10"/>
    <p:sldId id="466" r:id="rId11"/>
    <p:sldId id="451" r:id="rId12"/>
    <p:sldId id="452" r:id="rId13"/>
    <p:sldId id="467" r:id="rId14"/>
    <p:sldId id="461" r:id="rId15"/>
    <p:sldId id="453" r:id="rId16"/>
    <p:sldId id="454" r:id="rId17"/>
    <p:sldId id="457" r:id="rId18"/>
    <p:sldId id="458" r:id="rId19"/>
    <p:sldId id="468" r:id="rId20"/>
    <p:sldId id="459" r:id="rId21"/>
    <p:sldId id="460" r:id="rId22"/>
    <p:sldId id="469" r:id="rId23"/>
    <p:sldId id="462" r:id="rId24"/>
    <p:sldId id="463" r:id="rId25"/>
    <p:sldId id="464" r:id="rId26"/>
    <p:sldId id="445" r:id="rId27"/>
    <p:sldId id="780" r:id="rId28"/>
    <p:sldId id="788" r:id="rId29"/>
    <p:sldId id="822" r:id="rId30"/>
    <p:sldId id="821" r:id="rId31"/>
    <p:sldId id="820" r:id="rId32"/>
    <p:sldId id="819" r:id="rId33"/>
    <p:sldId id="818" r:id="rId34"/>
    <p:sldId id="789" r:id="rId35"/>
    <p:sldId id="823" r:id="rId36"/>
  </p:sldIdLst>
  <p:sldSz cx="9144000" cy="6858000" type="screen4x3"/>
  <p:notesSz cx="7099300" cy="10234613"/>
  <p:custDataLst>
    <p:tags r:id="rId3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5" autoAdjust="0"/>
    <p:restoredTop sz="95351" autoAdjust="0"/>
  </p:normalViewPr>
  <p:slideViewPr>
    <p:cSldViewPr snapToGrid="0">
      <p:cViewPr varScale="1">
        <p:scale>
          <a:sx n="155" d="100"/>
          <a:sy n="155" d="100"/>
        </p:scale>
        <p:origin x="1432" y="200"/>
      </p:cViewPr>
      <p:guideLst>
        <p:guide orient="horz" pos="411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1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gs" Target="tags/tag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98A2A2C-D9AF-BB1B-31E4-CE2820DE44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B0FDE51-97CD-03DB-39A8-C72785635B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A93B5130-1B7D-0EC1-4079-AC395C36D9F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DF3A6FF-E4D1-2CE7-9802-BEC6E5645B6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AF1EE26A-3C5B-D548-96DB-202C9E8BEC88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4T08:06:22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20599 8279 24575,'1'26'0,"3"0"0,2 3 0,-1-3 0,0-10 0,-1-5 0,1-6 0,3-4 0,0-1 0,3 0 0,0 0 0,1 0 0,0-1 0,-3-3 0,-3 0 0,-2-2 0,0 0 0,-1 0 0,-1-1 0,0 1 0,-2-1 0,0 1 0,0-1 0,0-1 0,0 1 0,0-1 0,0-1 0,0 0 0,0-1 0,-3 1 0,-1 3 0,-1 3 0,-1 2 0,-1 0 0,-1 1 0,-1 0 0,2 0 0,0 0 0,1 0 0,0 0 0,-1 1 0,1 2 0,0 2 0,1 1 0,0 1 0,1-1 0,1 0 0,1 0 0,2 0 0,1 0 0,2-2 0,3 2 0,4 1 0,2 0 0,0-1 0,-1-2 0,-1-3 0,-1-1 0,2 0 0,-2-1 0,0-2 0,-4-1 0,0-1 0,-2-1 0,-1 0 0,0-1 0,-2 1 0,0 0 0,0-2 0,-3-4 0,0 4 0,-5-2 0,3 9 0,2 0 0,1 1 0</inkml:trace>
  <inkml:trace contextRef="#ctx0" brushRef="#br0" timeOffset="2819">21399 6837 24575,'-13'8'0,"-6"5"0,-5 7 0,-1 0 0,7-1 0,8-6 0,5-4 0,3-1 0,2-1 0,0 2 0,0 1 0,2-2 0,0-3 0,5-3 0,2-2 0,1 0 0,2 0 0,-2 0 0,-1 0 0,-1 0 0,0 0 0,0 0 0,-1-1 0,-1-2 0,-4-3 0,-1-3 0,0-1 0,-1-1 0,0 0 0,0-1 0,0 2 0,0-4 0,-3-2 0,-4-2 0,-4-4 0,-5 1 0,1 5 0,3 4 0,2 5 0,5 7 0,-1 3 0,1 6 0,-1 3 0,1 0 0,-1-1 0,2-1 0,0-3 0,0-1 0,2-1 0,1-1 0,1 2 0,0 0 0,3 2 0,4 0 0,4-2 0,0-3 0,-3-5 0,-4-4 0,-3-3 0,-1 3 0,0 3 0</inkml:trace>
  <inkml:trace contextRef="#ctx0" brushRef="#br0" timeOffset="5021">17407 8149 24575,'0'8'0,"0"3"0,0 0 0,0 2 0,0 1 0,1-1 0,4 1 0,3-1 0,11 0 0,8-2 0,6-3 0,3-4 0,-7-2 0,-7-2 0,-6 0 0,-6-3 0,-4-3 0,-4-6 0,-8-5 0,-5-3 0,-7 0 0,-5 1 0,0 4 0,2 3 0,5 4 0,4 5 0,5 1 0,1 2 0,-1 1 0,-1 4 0,-1 0 0,1 1 0,0-1 0,1-2 0,1-2 0,-2-1 0,1 0 0,0 0 0,2-1 0,1-2 0,2-3 0,2-4 0,2 0 0,3 0 0,6 3 0,-4 4 0,1 2 0</inkml:trace>
  <inkml:trace contextRef="#ctx0" brushRef="#br0" timeOffset="7453">16687 11256 24575,'-5'5'0,"0"2"0,1 3 0,2 3 0,-1 1 0,1-1 0,0 1 0,1-1 0,1-2 0,0-1 0,3-3 0,5-2 0,7 1 0,3-3 0,0 0 0,-3-1 0,-5-3 0,-3-6 0,-5-9 0,-2-9 0,0-7 0,0-1 0,-2 6 0,-3 8 0,-3 7 0,-1 6 0,1 5 0,2 1 0,2 3 0,1 2 0,-1 4 0,-2 0 0,-1 0 0,2 1 0,2-3 0,2 0 0,1-1 0,0 0 0,1-1 0,3-2 0,4-1 0,3-2 0,-1-1 0,-4-2 0,-3 1 0,-4 0 0</inkml:trace>
  <inkml:trace contextRef="#ctx0" brushRef="#br0" timeOffset="9866">20513 11948 24575,'-10'0'0,"3"0"0,1 0 0,25 9 0,9 2 0,18 8 0,-7-2 0,-7-5 0,-9-5 0,-9-5 0,-6-5 0,-5-8 0,-2-2 0,-1 1 0,-1 3 0,-1 5 0,-4 1 0,-5 2 0,-2 1 0,-3 2 0,0 4 0,3 6 0,2 5 0,1 1 0,1-3 0,0-1 0,-2 0 0,-2-1 0,0-1 0,2-1 0,5-2 0,3-2 0,1-1 0,1-2 0,-2-1 0,-1-1 0,0-2 0,0-1 0,0-5 0,-2-5 0,-2-3 0,0-6 0,0 1 0,3-4 0,3 0 0,2 5 0,0 7 0,0 6 0</inkml:trace>
  <inkml:trace contextRef="#ctx0" brushRef="#br0" timeOffset="12220">21272 13411 24575,'-10'1'0,"0"4"0,2 1 0,1 2 0,1 0 0,-6 1 0,-6 10 0,-7 7 0,-1 2 0,5-2 0,9-8 0,7-8 0,6-4 0,5-4 0,4-2 0,2 0 0,2 0 0,-1 0 0,1 0 0,2 0 0,3 0 0,1 0 0,-2 0 0,-5-1 0,-6-2 0,-5-4 0,-1-6 0,-1-3 0,0-4 0,0 3 0,0 2 0,-1 3 0,-4 3 0,-3 2 0,-4-1 0,-1 0 0,-1 1 0,2 0 0,1 4 0,3 3 0,4 1 0,1 1 0,3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FE93967-FAF6-07FB-F505-2906AE99B5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B7BEEEE-C56C-65BA-0FDF-3D67E98B402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730138C4-7B49-4CD9-9DF6-F7EC443C43A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AA10629-AFD7-C639-AFA4-10956280BE9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38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3D30BAB1-AB33-3916-2EFA-1538509CB8F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51B9C98-FBAB-A215-167F-C7F9E39C48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E2AEE661-E671-CC41-AD3D-0CDABB242CAB}" type="slidenum">
              <a:rPr lang="de-DE" altLang="de-DE"/>
              <a:pPr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60A9EFA-4EDB-AF7B-80D3-27747F164D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3E0BED-3AF6-F34C-9DE7-C65AAD47D5BA}" type="slidenum">
              <a:rPr lang="de-DE" altLang="de-DE">
                <a:latin typeface="Times New Roman" panose="02020603050405020304" pitchFamily="18" charset="0"/>
              </a:rPr>
              <a:pPr/>
              <a:t>1</a:t>
            </a:fld>
            <a:endParaRPr lang="de-DE" altLang="de-DE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E21465B-0157-185A-8266-ECC2F9B62B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ED1558B-3B39-3629-AD4D-AA1A2EE95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E28EAD40-DF78-5E36-F4BB-2A41C13E2F1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18" tIns="47459" rIns="94918" bIns="47459" anchor="b"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454239E-B94D-F540-8754-950D5B6CD39A}" type="slidenum">
              <a:rPr lang="de-DE" altLang="de-DE" sz="1300">
                <a:latin typeface="Times New Roman" panose="02020603050405020304" pitchFamily="18" charset="0"/>
              </a:rPr>
              <a:pPr algn="r"/>
              <a:t>4</a:t>
            </a:fld>
            <a:endParaRPr lang="de-DE" altLang="de-DE" sz="1300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75B3952-7463-D370-BAAC-66ABE9C3D6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0876FD58-A3DF-2C70-03C2-8FEFAC239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A2766B1A-A308-3368-D774-C3301C92055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18" tIns="47459" rIns="94918" bIns="47459" anchor="b"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477261F-8EC3-BA4F-AC82-214DDC339EB0}" type="slidenum">
              <a:rPr lang="de-DE" altLang="de-DE" sz="1300">
                <a:latin typeface="Times New Roman" panose="02020603050405020304" pitchFamily="18" charset="0"/>
              </a:rPr>
              <a:pPr algn="r"/>
              <a:t>7</a:t>
            </a:fld>
            <a:endParaRPr lang="de-DE" altLang="de-DE" sz="1300">
              <a:latin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BF57069-37F8-F8FB-62B7-D237D20E5C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7BF3E23-72C3-6FF3-E5B6-6465B2545B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6B5B286-A3B5-95E8-3D73-F6F21E54620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18" tIns="47459" rIns="94918" bIns="47459" anchor="b"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B7913D7-0B72-3F45-B8E4-DDDD84CA8C32}" type="slidenum">
              <a:rPr lang="de-DE" altLang="de-DE" sz="1300">
                <a:latin typeface="Times New Roman" panose="02020603050405020304" pitchFamily="18" charset="0"/>
              </a:rPr>
              <a:pPr algn="r"/>
              <a:t>8</a:t>
            </a:fld>
            <a:endParaRPr lang="de-DE" altLang="de-DE" sz="13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EA6193B-5B6A-786C-CC4F-5267505AF2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657761D-0C22-8465-3AFB-DFF086B42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71D6B7F1-9BB4-E8B1-D72E-AE4D0F79632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18" tIns="47459" rIns="94918" bIns="47459" anchor="b"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9740BB0-318F-CD4C-A5C2-0B4E586E908E}" type="slidenum">
              <a:rPr lang="de-DE" altLang="de-DE" sz="1300">
                <a:latin typeface="Times New Roman" panose="02020603050405020304" pitchFamily="18" charset="0"/>
              </a:rPr>
              <a:pPr algn="r"/>
              <a:t>9</a:t>
            </a:fld>
            <a:endParaRPr lang="de-DE" altLang="de-DE" sz="130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703F097E-B561-94B2-F9B8-F24F7F3932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76AC18-E5A1-3443-8598-E12428A14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 descr="Paar_Pelz_only Titlepage">
            <a:extLst>
              <a:ext uri="{FF2B5EF4-FFF2-40B4-BE49-F238E27FC236}">
                <a16:creationId xmlns:a16="http://schemas.microsoft.com/office/drawing/2014/main" id="{1DCF23C9-1F11-578D-0A1A-8AFA3CBB81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0000">
            <a:off x="1116013" y="1700213"/>
            <a:ext cx="25415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0034" y="3214686"/>
            <a:ext cx="8215370" cy="1231106"/>
          </a:xfrm>
        </p:spPr>
        <p:txBody>
          <a:bodyPr/>
          <a:lstStyle>
            <a:lvl1pPr marL="0" indent="0" algn="ctr">
              <a:buFontTx/>
              <a:buNone/>
              <a:defRPr kumimoji="0" lang="de-DE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Klicken Sie, um das Format des Untertitelmasters zu bearbeiten</a:t>
            </a:r>
          </a:p>
        </p:txBody>
      </p:sp>
    </p:spTree>
    <p:extLst>
      <p:ext uri="{BB962C8B-B14F-4D97-AF65-F5344CB8AC3E}">
        <p14:creationId xmlns:p14="http://schemas.microsoft.com/office/powerpoint/2010/main" val="2993792955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0034" y="1071546"/>
            <a:ext cx="8215370" cy="1677382"/>
          </a:xfr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3pPr>
              <a:buFont typeface="Symbol" pitchFamily="18" charset="2"/>
              <a:buChar char="-"/>
              <a:defRPr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61C3DFB7-23C3-B10F-7EC1-F4DD0092D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79388" y="6570663"/>
            <a:ext cx="504825" cy="215900"/>
          </a:xfrm>
        </p:spPr>
        <p:txBody>
          <a:bodyPr/>
          <a:lstStyle>
            <a:lvl1pPr>
              <a:defRPr/>
            </a:lvl1pPr>
          </a:lstStyle>
          <a:p>
            <a:fld id="{BC9176AB-DC60-6749-AA7A-2145BFA5F967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0ECA3B4-EEF6-0BF6-ADEE-FD7AB03F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413" y="6572250"/>
            <a:ext cx="4321175" cy="260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XX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i="1"/>
              <a:t>Understanding </a:t>
            </a:r>
            <a:r>
              <a:rPr lang="de-DE" i="1" err="1"/>
              <a:t>Cryptography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Christof Paar </a:t>
            </a:r>
            <a:r>
              <a:rPr lang="de-DE" err="1"/>
              <a:t>and</a:t>
            </a:r>
            <a:r>
              <a:rPr lang="de-DE"/>
              <a:t> Jan Pelzl</a:t>
            </a:r>
          </a:p>
        </p:txBody>
      </p:sp>
    </p:spTree>
    <p:extLst>
      <p:ext uri="{BB962C8B-B14F-4D97-AF65-F5344CB8AC3E}">
        <p14:creationId xmlns:p14="http://schemas.microsoft.com/office/powerpoint/2010/main" val="3149348264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el und Diagramm oder Organi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488" y="322263"/>
            <a:ext cx="8243916" cy="606407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SmartArt-Platzhalter 2"/>
          <p:cNvSpPr>
            <a:spLocks noGrp="1"/>
          </p:cNvSpPr>
          <p:nvPr>
            <p:ph type="dgm" idx="1"/>
          </p:nvPr>
        </p:nvSpPr>
        <p:spPr>
          <a:xfrm>
            <a:off x="849313" y="1130300"/>
            <a:ext cx="6084887" cy="1779588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3044C8-12B4-C2F2-8BC5-0BA7FD698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95847F-2D67-534C-AF08-61043B00A2A7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39B2A4-F846-A11E-93BC-52D0E5EB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XX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i="1"/>
              <a:t>Understanding </a:t>
            </a:r>
            <a:r>
              <a:rPr lang="de-DE" i="1" err="1"/>
              <a:t>Cryptography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Christof Paar </a:t>
            </a:r>
            <a:r>
              <a:rPr lang="de-DE" err="1"/>
              <a:t>and</a:t>
            </a:r>
            <a:r>
              <a:rPr lang="de-DE"/>
              <a:t> Jan Pelzl</a:t>
            </a:r>
          </a:p>
        </p:txBody>
      </p:sp>
    </p:spTree>
    <p:extLst>
      <p:ext uri="{BB962C8B-B14F-4D97-AF65-F5344CB8AC3E}">
        <p14:creationId xmlns:p14="http://schemas.microsoft.com/office/powerpoint/2010/main" val="1700983008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066" y="6426200"/>
            <a:ext cx="762000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87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17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7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29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71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0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26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005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76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370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74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28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912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14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6225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8CAE7944-07AE-50A8-F179-D4D8392AD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7175" y="3490913"/>
            <a:ext cx="1360488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0" rIns="93442" bIns="46725"/>
          <a:lstStyle>
            <a:lvl1pPr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zh-CN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微软雅黑粗体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32-3</a:t>
            </a:r>
            <a:r>
              <a:rPr lang="en-US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主题蓝色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</a:t>
            </a:r>
            <a:r>
              <a:rPr lang="zh-CN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endParaRPr lang="en-US" altLang="zh-CN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主题灰色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685800" y="1434585"/>
            <a:ext cx="7772400" cy="1470025"/>
          </a:xfr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5BA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9" name="副标题 2"/>
          <p:cNvSpPr>
            <a:spLocks noGrp="1"/>
          </p:cNvSpPr>
          <p:nvPr>
            <p:ph type="subTitle" idx="1"/>
          </p:nvPr>
        </p:nvSpPr>
        <p:spPr>
          <a:xfrm>
            <a:off x="1371600" y="2699344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8C8C8C"/>
                </a:solidFill>
                <a:ea typeface="微软雅黑" panose="020B050302020402020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4108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BC42EA1-3669-5360-AF51-DB0505E03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200025"/>
            <a:ext cx="6159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700">
                <a:solidFill>
                  <a:srgbClr val="8C8C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&gt; </a:t>
            </a:r>
            <a:r>
              <a:rPr lang="zh-CN" altLang="en-US" sz="700">
                <a:solidFill>
                  <a:srgbClr val="8C8C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内部</a:t>
            </a:r>
            <a:r>
              <a:rPr lang="zh-CN" altLang="en-US" sz="70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公开</a:t>
            </a:r>
            <a:endParaRPr lang="zh-CN" altLang="en-US" sz="600">
              <a:solidFill>
                <a:srgbClr val="666666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8611" y="619256"/>
            <a:ext cx="4528051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1758611" y="2002452"/>
            <a:ext cx="7062787" cy="419735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358477961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312950C-C0AE-BA99-7F3E-8CC5B2256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5588" y="2905125"/>
            <a:ext cx="1360487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0" rIns="93442" bIns="46725"/>
          <a:lstStyle>
            <a:lvl1pPr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5038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zh-CN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zh-CN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endParaRPr lang="en-US" altLang="zh-CN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30-32pt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主题蓝色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 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(1-5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endParaRPr lang="en-US" altLang="zh-CN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28-12</a:t>
            </a:r>
            <a:r>
              <a:rPr lang="zh-CN" altLang="ja-JP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en-US" altLang="zh-CN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7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</a:t>
            </a:r>
            <a:endParaRPr lang="zh-CN" altLang="ja-JP" sz="7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 27">
            <a:extLst>
              <a:ext uri="{FF2B5EF4-FFF2-40B4-BE49-F238E27FC236}">
                <a16:creationId xmlns:a16="http://schemas.microsoft.com/office/drawing/2014/main" id="{A5275091-2899-E810-6618-2217061C10CB}"/>
              </a:ext>
            </a:extLst>
          </p:cNvPr>
          <p:cNvGrpSpPr>
            <a:grpSpLocks/>
          </p:cNvGrpSpPr>
          <p:nvPr/>
        </p:nvGrpSpPr>
        <p:grpSpPr bwMode="auto">
          <a:xfrm>
            <a:off x="9264650" y="4729163"/>
            <a:ext cx="935038" cy="1735137"/>
            <a:chOff x="9286278" y="1725515"/>
            <a:chExt cx="935158" cy="1301749"/>
          </a:xfrm>
        </p:grpSpPr>
        <p:grpSp>
          <p:nvGrpSpPr>
            <p:cNvPr id="4" name="组 28">
              <a:extLst>
                <a:ext uri="{FF2B5EF4-FFF2-40B4-BE49-F238E27FC236}">
                  <a16:creationId xmlns:a16="http://schemas.microsoft.com/office/drawing/2014/main" id="{09F8A339-BC79-C91F-FACC-77186996A43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286278" y="1725515"/>
              <a:ext cx="795145" cy="254390"/>
              <a:chOff x="9286278" y="1725515"/>
              <a:chExt cx="795145" cy="254390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71608A0-0A29-C1EB-D668-774273132B27}"/>
                  </a:ext>
                </a:extLst>
              </p:cNvPr>
              <p:cNvSpPr/>
              <p:nvPr userDrawn="1"/>
            </p:nvSpPr>
            <p:spPr>
              <a:xfrm>
                <a:off x="9286278" y="1725515"/>
                <a:ext cx="254033" cy="254872"/>
              </a:xfrm>
              <a:prstGeom prst="rect">
                <a:avLst/>
              </a:prstGeom>
              <a:solidFill>
                <a:srgbClr val="005B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kumimoji="1" lang="zh-CN" altLang="en-US" noProof="1"/>
              </a:p>
            </p:txBody>
          </p:sp>
          <p:sp>
            <p:nvSpPr>
              <p:cNvPr id="16" name="文本框 38">
                <a:extLst>
                  <a:ext uri="{FF2B5EF4-FFF2-40B4-BE49-F238E27FC236}">
                    <a16:creationId xmlns:a16="http://schemas.microsoft.com/office/drawing/2014/main" id="{5E502AFB-47FB-0675-F961-DA89CF636265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9503794" y="1756481"/>
                <a:ext cx="577924" cy="1500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r>
                  <a:rPr lang="en-US" altLang="zh-CN" sz="700" i="1">
                    <a:solidFill>
                      <a:schemeClr val="bg1"/>
                    </a:solidFill>
                    <a:latin typeface="Times" panose="02020603050405020304" pitchFamily="18" charset="0"/>
                  </a:rPr>
                  <a:t>G91, B170</a:t>
                </a:r>
                <a:endParaRPr lang="zh-CN" altLang="en-US" sz="700" i="1">
                  <a:solidFill>
                    <a:schemeClr val="bg1"/>
                  </a:solidFill>
                  <a:latin typeface="Times" panose="02020603050405020304" pitchFamily="18" charset="0"/>
                </a:endParaRPr>
              </a:p>
            </p:txBody>
          </p:sp>
        </p:grpSp>
        <p:grpSp>
          <p:nvGrpSpPr>
            <p:cNvPr id="5" name="组 29">
              <a:extLst>
                <a:ext uri="{FF2B5EF4-FFF2-40B4-BE49-F238E27FC236}">
                  <a16:creationId xmlns:a16="http://schemas.microsoft.com/office/drawing/2014/main" id="{3C809D2E-1C5A-89F9-2962-73455BC02F3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286278" y="2062596"/>
              <a:ext cx="935158" cy="254390"/>
              <a:chOff x="9286278" y="2062596"/>
              <a:chExt cx="935158" cy="254390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AB1A877-9F1B-B3AD-2FEC-837A510F0155}"/>
                  </a:ext>
                </a:extLst>
              </p:cNvPr>
              <p:cNvSpPr/>
              <p:nvPr userDrawn="1"/>
            </p:nvSpPr>
            <p:spPr>
              <a:xfrm>
                <a:off x="9286278" y="2062564"/>
                <a:ext cx="254033" cy="254872"/>
              </a:xfrm>
              <a:prstGeom prst="rect">
                <a:avLst/>
              </a:prstGeom>
              <a:solidFill>
                <a:srgbClr val="0089C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kumimoji="1" lang="zh-CN" altLang="en-US" noProof="1"/>
              </a:p>
            </p:txBody>
          </p:sp>
          <p:sp>
            <p:nvSpPr>
              <p:cNvPr id="13" name="文本框 36">
                <a:extLst>
                  <a:ext uri="{FF2B5EF4-FFF2-40B4-BE49-F238E27FC236}">
                    <a16:creationId xmlns:a16="http://schemas.microsoft.com/office/drawing/2014/main" id="{A1AEC97E-A557-C77B-CB9F-B98E9F9989A9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9503794" y="2093529"/>
                <a:ext cx="717642" cy="1500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r>
                  <a:rPr lang="en-US" altLang="zh-CN" sz="700" i="1">
                    <a:solidFill>
                      <a:schemeClr val="bg1"/>
                    </a:solidFill>
                    <a:latin typeface="Times" panose="02020603050405020304" pitchFamily="18" charset="0"/>
                  </a:rPr>
                  <a:t>G137, B207</a:t>
                </a:r>
                <a:endParaRPr lang="zh-CN" altLang="en-US" sz="700" i="1">
                  <a:solidFill>
                    <a:schemeClr val="bg1"/>
                  </a:solidFill>
                  <a:latin typeface="Times" panose="02020603050405020304" pitchFamily="18" charset="0"/>
                </a:endParaRPr>
              </a:p>
            </p:txBody>
          </p:sp>
        </p:grpSp>
        <p:grpSp>
          <p:nvGrpSpPr>
            <p:cNvPr id="6" name="组 30">
              <a:extLst>
                <a:ext uri="{FF2B5EF4-FFF2-40B4-BE49-F238E27FC236}">
                  <a16:creationId xmlns:a16="http://schemas.microsoft.com/office/drawing/2014/main" id="{9B1DF288-8E50-6BA8-C5A9-AC33879AAC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286278" y="2411716"/>
              <a:ext cx="935158" cy="254390"/>
              <a:chOff x="9286278" y="2411716"/>
              <a:chExt cx="935158" cy="254390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70969E9-D2C6-E3A1-F008-0F44A2D8BCCF}"/>
                  </a:ext>
                </a:extLst>
              </p:cNvPr>
              <p:cNvSpPr/>
              <p:nvPr userDrawn="1"/>
            </p:nvSpPr>
            <p:spPr>
              <a:xfrm>
                <a:off x="9286278" y="2411524"/>
                <a:ext cx="254033" cy="254872"/>
              </a:xfrm>
              <a:prstGeom prst="rect">
                <a:avLst/>
              </a:prstGeom>
              <a:solidFill>
                <a:srgbClr val="00AE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kumimoji="1" lang="zh-CN" altLang="en-US" noProof="1"/>
              </a:p>
            </p:txBody>
          </p:sp>
          <p:sp>
            <p:nvSpPr>
              <p:cNvPr id="11" name="文本框 34">
                <a:extLst>
                  <a:ext uri="{FF2B5EF4-FFF2-40B4-BE49-F238E27FC236}">
                    <a16:creationId xmlns:a16="http://schemas.microsoft.com/office/drawing/2014/main" id="{776DF3F3-826B-9123-FFE4-920B93044365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9503794" y="2442490"/>
                <a:ext cx="717642" cy="1500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r>
                  <a:rPr lang="en-US" altLang="zh-CN" sz="700" i="1">
                    <a:solidFill>
                      <a:schemeClr val="bg1"/>
                    </a:solidFill>
                    <a:latin typeface="Times" panose="02020603050405020304" pitchFamily="18" charset="0"/>
                  </a:rPr>
                  <a:t>G174, B239</a:t>
                </a:r>
                <a:endParaRPr lang="zh-CN" altLang="en-US" sz="700" i="1">
                  <a:solidFill>
                    <a:schemeClr val="bg1"/>
                  </a:solidFill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5315165-6550-D816-8B0B-F86C34CBF4A1}"/>
                </a:ext>
              </a:extLst>
            </p:cNvPr>
            <p:cNvSpPr/>
            <p:nvPr userDrawn="1"/>
          </p:nvSpPr>
          <p:spPr>
            <a:xfrm>
              <a:off x="9286278" y="2772393"/>
              <a:ext cx="254033" cy="254871"/>
            </a:xfrm>
            <a:prstGeom prst="rect">
              <a:avLst/>
            </a:prstGeom>
            <a:solidFill>
              <a:srgbClr val="00AB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kumimoji="1" lang="zh-CN" altLang="en-US" noProof="1"/>
            </a:p>
          </p:txBody>
        </p:sp>
        <p:sp>
          <p:nvSpPr>
            <p:cNvPr id="8" name="文本框 32">
              <a:extLst>
                <a:ext uri="{FF2B5EF4-FFF2-40B4-BE49-F238E27FC236}">
                  <a16:creationId xmlns:a16="http://schemas.microsoft.com/office/drawing/2014/main" id="{83F0CADA-BF36-C5A4-8E52-FD2FB7301FB3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9503794" y="2804550"/>
              <a:ext cx="717642" cy="148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700" i="1">
                  <a:solidFill>
                    <a:schemeClr val="bg1"/>
                  </a:solidFill>
                  <a:latin typeface="Times" panose="02020603050405020304" pitchFamily="18" charset="0"/>
                </a:rPr>
                <a:t>G171, B189</a:t>
              </a:r>
              <a:endParaRPr lang="zh-CN" altLang="en-US" sz="700" i="1">
                <a:solidFill>
                  <a:schemeClr val="bg1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17" name="矩形 19">
            <a:extLst>
              <a:ext uri="{FF2B5EF4-FFF2-40B4-BE49-F238E27FC236}">
                <a16:creationId xmlns:a16="http://schemas.microsoft.com/office/drawing/2014/main" id="{2967E60D-7480-15E2-B5AE-3C6A0D684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200025"/>
            <a:ext cx="6159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700">
                <a:solidFill>
                  <a:srgbClr val="8C8C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&gt; </a:t>
            </a:r>
            <a:r>
              <a:rPr lang="zh-CN" altLang="en-US" sz="700">
                <a:solidFill>
                  <a:srgbClr val="8C8C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内部</a:t>
            </a:r>
            <a:r>
              <a:rPr lang="zh-CN" altLang="en-US" sz="70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公开</a:t>
            </a:r>
            <a:endParaRPr lang="zh-CN" altLang="en-US" sz="600">
              <a:solidFill>
                <a:srgbClr val="666666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610841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E20E1A1-0CEF-B38A-F972-262260DEA0A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950913"/>
            <a:ext cx="9110663" cy="76200"/>
          </a:xfrm>
          <a:prstGeom prst="rect">
            <a:avLst/>
          </a:prstGeom>
          <a:solidFill>
            <a:srgbClr val="CC3300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CC3300"/>
              </a:solidFill>
              <a:latin typeface="Arial" panose="020B0604020202020204" pitchFamily="34" charset="0"/>
            </a:endParaRP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B1D832C6-294C-AB37-7CDC-D843E546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CEA8076F-2785-B81F-714F-2C2CE0CA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03629B72-D284-1B14-6DD4-B5290546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fld id="{D4A6B5EC-5753-2D47-B94D-D1F7495CDEFE}" type="slidenum">
              <a:rPr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64490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04E6DA2B-0200-16D3-5D7E-4C6AE2C7356A}"/>
              </a:ext>
            </a:extLst>
          </p:cNvPr>
          <p:cNvCxnSpPr/>
          <p:nvPr/>
        </p:nvCxnSpPr>
        <p:spPr>
          <a:xfrm flipV="1">
            <a:off x="35560" y="6525895"/>
            <a:ext cx="6480810" cy="20955"/>
          </a:xfrm>
          <a:prstGeom prst="line">
            <a:avLst/>
          </a:prstGeom>
          <a:ln w="63500">
            <a:gradFill>
              <a:gsLst>
                <a:gs pos="84000">
                  <a:srgbClr val="C00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直接连接符 7">
            <a:extLst>
              <a:ext uri="{FF2B5EF4-FFF2-40B4-BE49-F238E27FC236}">
                <a16:creationId xmlns:a16="http://schemas.microsoft.com/office/drawing/2014/main" id="{2FF7C09B-24D7-6DBC-70FD-9F5E74F94D37}"/>
              </a:ext>
            </a:extLst>
          </p:cNvPr>
          <p:cNvCxnSpPr/>
          <p:nvPr/>
        </p:nvCxnSpPr>
        <p:spPr>
          <a:xfrm flipV="1">
            <a:off x="1115694" y="593724"/>
            <a:ext cx="8028305" cy="27305"/>
          </a:xfrm>
          <a:prstGeom prst="line">
            <a:avLst/>
          </a:prstGeom>
          <a:ln w="63500">
            <a:gradFill>
              <a:gsLst>
                <a:gs pos="84000">
                  <a:srgbClr val="C00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468385"/>
      </p:ext>
    </p:extLst>
  </p:cSld>
  <p:clrMapOvr>
    <a:masterClrMapping/>
  </p:clrMapOvr>
  <p:transition spd="slow" advClick="0" advTm="5000">
    <p:random/>
  </p:transition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 bwMode="auto">
      <p:bgPr>
        <a:gradFill rotWithShape="0">
          <a:gsLst>
            <a:gs pos="0">
              <a:srgbClr val="F4F4F4"/>
            </a:gs>
            <a:gs pos="35001">
              <a:srgbClr val="D4D4D4"/>
            </a:gs>
            <a:gs pos="100000">
              <a:srgbClr val="BABBB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2B313DA6-5C2E-4AFE-C122-5764750D3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800" y="285750"/>
            <a:ext cx="240982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6">
            <a:extLst>
              <a:ext uri="{FF2B5EF4-FFF2-40B4-BE49-F238E27FC236}">
                <a16:creationId xmlns:a16="http://schemas.microsoft.com/office/drawing/2014/main" id="{211B5259-AE35-223E-B86A-C3F86F327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2238"/>
            <a:ext cx="987425" cy="192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77154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hape">
            <a:extLst>
              <a:ext uri="{FF2B5EF4-FFF2-40B4-BE49-F238E27FC236}">
                <a16:creationId xmlns:a16="http://schemas.microsoft.com/office/drawing/2014/main" id="{D0D1C114-F2DC-B6C6-1A11-7486F6EA737E}"/>
              </a:ext>
            </a:extLst>
          </p:cNvPr>
          <p:cNvSpPr/>
          <p:nvPr/>
        </p:nvSpPr>
        <p:spPr bwMode="auto">
          <a:xfrm>
            <a:off x="392483" y="244368"/>
            <a:ext cx="472334" cy="742371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3000" sy="103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 sz="760" noProof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06879" y="516839"/>
            <a:ext cx="3552825" cy="4699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3" name="日期占位符 1">
            <a:extLst>
              <a:ext uri="{FF2B5EF4-FFF2-40B4-BE49-F238E27FC236}">
                <a16:creationId xmlns:a16="http://schemas.microsoft.com/office/drawing/2014/main" id="{6DC12C9D-90E6-A406-EA6B-639F5C0E54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fld id="{83A761C2-7CEA-A948-9ECC-4F23860E52CE}" type="datetimeFigureOut">
              <a:rPr lang="zh-CN" altLang="en-US"/>
              <a:pPr>
                <a:defRPr/>
              </a:pPr>
              <a:t>2024/8/13</a:t>
            </a:fld>
            <a:endParaRPr lang="zh-CN" altLang="en-US"/>
          </a:p>
        </p:txBody>
      </p:sp>
      <p:sp>
        <p:nvSpPr>
          <p:cNvPr id="4" name="页脚占位符 2">
            <a:extLst>
              <a:ext uri="{FF2B5EF4-FFF2-40B4-BE49-F238E27FC236}">
                <a16:creationId xmlns:a16="http://schemas.microsoft.com/office/drawing/2014/main" id="{2B4B902C-DADF-35FF-090B-D8E5C7DA1F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33F9FDE7-63F8-DDC4-B9EB-E556E9BA5F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457950" y="6356350"/>
            <a:ext cx="2057400" cy="3651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fld id="{3484AEFE-99D7-D348-AE45-6931780D8A7D}" type="slidenum">
              <a:rPr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94596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1946C72-6943-C59C-AFEF-6B49E436EB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836613"/>
            <a:ext cx="9144000" cy="96837"/>
          </a:xfrm>
          <a:prstGeom prst="rect">
            <a:avLst/>
          </a:prstGeom>
          <a:solidFill>
            <a:srgbClr val="CC3300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3200">
              <a:solidFill>
                <a:srgbClr val="CC33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4">
            <a:extLst>
              <a:ext uri="{FF2B5EF4-FFF2-40B4-BE49-F238E27FC236}">
                <a16:creationId xmlns:a16="http://schemas.microsoft.com/office/drawing/2014/main" id="{8CEC50DF-2CFC-5735-465B-88AB18E456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46038"/>
            <a:ext cx="2419350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582125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F16E8F4-C22A-2093-BF3C-6F60495BC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1488" y="322263"/>
            <a:ext cx="8243887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  <a:br>
              <a:rPr lang="de-DE" altLang="de-DE"/>
            </a:br>
            <a:endParaRPr lang="de-DE" altLang="de-DE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971142-2BCF-8054-62A0-247CAF805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0063" y="1071563"/>
            <a:ext cx="821531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D152C8C-1445-CC2D-DA75-DA7534B173B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388" y="6597650"/>
            <a:ext cx="5048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394073"/>
                </a:solidFill>
              </a:defRPr>
            </a:lvl1pPr>
          </a:lstStyle>
          <a:p>
            <a:fld id="{FBA33522-4B2E-E04B-B851-E2A9C9F3DFF8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574" name="Rectangle 550">
            <a:extLst>
              <a:ext uri="{FF2B5EF4-FFF2-40B4-BE49-F238E27FC236}">
                <a16:creationId xmlns:a16="http://schemas.microsoft.com/office/drawing/2014/main" id="{761E62B9-242A-AF6F-D813-B4EF86467E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de-DE"/>
              <a:t>Chapter XX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i="1"/>
              <a:t>Understanding </a:t>
            </a:r>
            <a:r>
              <a:rPr lang="de-DE" i="1" err="1"/>
              <a:t>Cryptography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Christof Paar </a:t>
            </a:r>
            <a:r>
              <a:rPr lang="de-DE" err="1"/>
              <a:t>and</a:t>
            </a:r>
            <a:r>
              <a:rPr lang="de-DE"/>
              <a:t> Jan Pelzl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</p:sldLayoutIdLst>
  <p:transition spd="slow"/>
  <p:hf hdr="0" dt="0"/>
  <p:txStyles>
    <p:titleStyle>
      <a:lvl1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+mj-lt"/>
          <a:ea typeface="+mj-ea"/>
          <a:cs typeface="+mj-cs"/>
        </a:defRPr>
      </a:lvl1pPr>
      <a:lvl2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2pPr>
      <a:lvl3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3pPr>
      <a:lvl4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4pPr>
      <a:lvl5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5pPr>
      <a:lvl6pPr marL="8382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6pPr>
      <a:lvl7pPr marL="12954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7pPr>
      <a:lvl8pPr marL="17526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8pPr>
      <a:lvl9pPr marL="22098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9pPr>
    </p:titleStyle>
    <p:bodyStyle>
      <a:lvl1pPr marL="195263" indent="-1952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8891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2pPr>
      <a:lvl3pPr marL="952500" indent="-187325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3pPr>
      <a:lvl4pPr marL="1325563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4pPr>
      <a:lvl5pPr marL="16986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5pPr>
      <a:lvl6pPr marL="21558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6pPr>
      <a:lvl7pPr marL="26130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7pPr>
      <a:lvl8pPr marL="30702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8pPr>
      <a:lvl9pPr marL="35274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5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7000"/>
            <a:ext cx="8229600" cy="546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8495979" y="6589889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Dan Boneh</a:t>
            </a:r>
          </a:p>
        </p:txBody>
      </p:sp>
    </p:spTree>
    <p:extLst>
      <p:ext uri="{BB962C8B-B14F-4D97-AF65-F5344CB8AC3E}">
        <p14:creationId xmlns:p14="http://schemas.microsoft.com/office/powerpoint/2010/main" val="228382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FAF39932-10D3-56C7-A022-7FC78F83F2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2B6B53D-46BC-B313-8014-8AB1BA340A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28" name="文本框 9">
            <a:extLst>
              <a:ext uri="{FF2B5EF4-FFF2-40B4-BE49-F238E27FC236}">
                <a16:creationId xmlns:a16="http://schemas.microsoft.com/office/drawing/2014/main" id="{51F51573-B180-6545-AE23-F53E16B0B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142875"/>
            <a:ext cx="984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50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05BAA"/>
          </a:solidFill>
          <a:latin typeface="Arial" panose="020B0604020202020204"/>
          <a:ea typeface="微软雅黑" panose="020B0503020204020204" charset="-122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200">
          <a:solidFill>
            <a:srgbClr val="005BAA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200">
          <a:solidFill>
            <a:srgbClr val="005BAA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200">
          <a:solidFill>
            <a:srgbClr val="005BAA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200">
          <a:solidFill>
            <a:srgbClr val="005BAA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3200">
          <a:solidFill>
            <a:srgbClr val="005BAA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3200">
          <a:solidFill>
            <a:srgbClr val="005BAA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3200">
          <a:solidFill>
            <a:srgbClr val="005BAA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3200">
          <a:solidFill>
            <a:srgbClr val="005BAA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charset="-122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微软雅黑" panose="020B0503020204020204" charset="-122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charset="-122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微软雅黑" panose="020B0503020204020204" charset="-122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微软雅黑" panose="020B0503020204020204" charset="-122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7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emf"/><Relationship Id="rId10" Type="http://schemas.openxmlformats.org/officeDocument/2006/relationships/image" Target="../media/image60.png"/><Relationship Id="rId4" Type="http://schemas.openxmlformats.org/officeDocument/2006/relationships/oleObject" Target="../embeddings/oleObject2.bin"/><Relationship Id="rId9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1.emf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11" Type="http://schemas.openxmlformats.org/officeDocument/2006/relationships/image" Target="../media/image14.emf"/><Relationship Id="rId5" Type="http://schemas.openxmlformats.org/officeDocument/2006/relationships/oleObject" Target="../embeddings/oleObject7.bin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12.png"/><Relationship Id="rId9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.bin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22.emf"/><Relationship Id="rId21" Type="http://schemas.openxmlformats.org/officeDocument/2006/relationships/image" Target="../media/image30.emf"/><Relationship Id="rId34" Type="http://schemas.openxmlformats.org/officeDocument/2006/relationships/oleObject" Target="../embeddings/oleObject36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6.emf"/><Relationship Id="rId17" Type="http://schemas.openxmlformats.org/officeDocument/2006/relationships/image" Target="../media/image28.emf"/><Relationship Id="rId25" Type="http://schemas.openxmlformats.org/officeDocument/2006/relationships/image" Target="../media/image32.emf"/><Relationship Id="rId33" Type="http://schemas.openxmlformats.org/officeDocument/2006/relationships/image" Target="../media/image36.e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29" Type="http://schemas.openxmlformats.org/officeDocument/2006/relationships/image" Target="../media/image34.e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24.bin"/><Relationship Id="rId24" Type="http://schemas.openxmlformats.org/officeDocument/2006/relationships/oleObject" Target="../embeddings/oleObject31.bin"/><Relationship Id="rId32" Type="http://schemas.openxmlformats.org/officeDocument/2006/relationships/oleObject" Target="../embeddings/oleObject35.bin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27.emf"/><Relationship Id="rId23" Type="http://schemas.openxmlformats.org/officeDocument/2006/relationships/image" Target="../media/image31.emf"/><Relationship Id="rId28" Type="http://schemas.openxmlformats.org/officeDocument/2006/relationships/oleObject" Target="../embeddings/oleObject33.bin"/><Relationship Id="rId36" Type="http://schemas.openxmlformats.org/officeDocument/2006/relationships/image" Target="../media/image38.emf"/><Relationship Id="rId10" Type="http://schemas.openxmlformats.org/officeDocument/2006/relationships/image" Target="../media/image25.emf"/><Relationship Id="rId19" Type="http://schemas.openxmlformats.org/officeDocument/2006/relationships/image" Target="../media/image29.emf"/><Relationship Id="rId31" Type="http://schemas.openxmlformats.org/officeDocument/2006/relationships/image" Target="../media/image35.emf"/><Relationship Id="rId4" Type="http://schemas.openxmlformats.org/officeDocument/2006/relationships/oleObject" Target="../embeddings/oleObject20.bin"/><Relationship Id="rId9" Type="http://schemas.openxmlformats.org/officeDocument/2006/relationships/oleObject" Target="../embeddings/oleObject23.bin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33.emf"/><Relationship Id="rId30" Type="http://schemas.openxmlformats.org/officeDocument/2006/relationships/oleObject" Target="../embeddings/oleObject34.bin"/><Relationship Id="rId35" Type="http://schemas.openxmlformats.org/officeDocument/2006/relationships/image" Target="../media/image37.emf"/><Relationship Id="rId8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emf"/><Relationship Id="rId18" Type="http://schemas.openxmlformats.org/officeDocument/2006/relationships/oleObject" Target="../embeddings/oleObject45.bin"/><Relationship Id="rId3" Type="http://schemas.openxmlformats.org/officeDocument/2006/relationships/image" Target="../media/image26.emf"/><Relationship Id="rId21" Type="http://schemas.openxmlformats.org/officeDocument/2006/relationships/image" Target="../media/image45.emf"/><Relationship Id="rId7" Type="http://schemas.openxmlformats.org/officeDocument/2006/relationships/image" Target="../media/image39.e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22.e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20" Type="http://schemas.openxmlformats.org/officeDocument/2006/relationships/image" Target="../media/image44.emf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emf"/><Relationship Id="rId24" Type="http://schemas.openxmlformats.org/officeDocument/2006/relationships/image" Target="../media/image46.emf"/><Relationship Id="rId5" Type="http://schemas.openxmlformats.org/officeDocument/2006/relationships/image" Target="../media/image27.emf"/><Relationship Id="rId15" Type="http://schemas.openxmlformats.org/officeDocument/2006/relationships/image" Target="../media/image43.emf"/><Relationship Id="rId23" Type="http://schemas.openxmlformats.org/officeDocument/2006/relationships/image" Target="../media/image29.emf"/><Relationship Id="rId10" Type="http://schemas.openxmlformats.org/officeDocument/2006/relationships/oleObject" Target="../embeddings/oleObject41.bin"/><Relationship Id="rId19" Type="http://schemas.openxmlformats.org/officeDocument/2006/relationships/oleObject" Target="../embeddings/oleObject46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image" Target="../media/image54.emf"/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12" Type="http://schemas.openxmlformats.org/officeDocument/2006/relationships/image" Target="../media/image53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8.bin"/><Relationship Id="rId15" Type="http://schemas.openxmlformats.org/officeDocument/2006/relationships/image" Target="../media/image56.emf"/><Relationship Id="rId10" Type="http://schemas.openxmlformats.org/officeDocument/2006/relationships/image" Target="../media/image52.emf"/><Relationship Id="rId4" Type="http://schemas.openxmlformats.org/officeDocument/2006/relationships/image" Target="../media/image49.e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image" Target="../media/image68.emf"/><Relationship Id="rId3" Type="http://schemas.openxmlformats.org/officeDocument/2006/relationships/image" Target="../media/image58.emf"/><Relationship Id="rId7" Type="http://schemas.openxmlformats.org/officeDocument/2006/relationships/image" Target="../media/image62.emf"/><Relationship Id="rId12" Type="http://schemas.openxmlformats.org/officeDocument/2006/relationships/image" Target="../media/image67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1.emf"/><Relationship Id="rId11" Type="http://schemas.openxmlformats.org/officeDocument/2006/relationships/image" Target="../media/image66.emf"/><Relationship Id="rId5" Type="http://schemas.openxmlformats.org/officeDocument/2006/relationships/image" Target="../media/image60.emf"/><Relationship Id="rId10" Type="http://schemas.openxmlformats.org/officeDocument/2006/relationships/image" Target="../media/image65.emf"/><Relationship Id="rId4" Type="http://schemas.openxmlformats.org/officeDocument/2006/relationships/image" Target="../media/image59.emf"/><Relationship Id="rId9" Type="http://schemas.openxmlformats.org/officeDocument/2006/relationships/image" Target="../media/image64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76.emf"/><Relationship Id="rId18" Type="http://schemas.openxmlformats.org/officeDocument/2006/relationships/oleObject" Target="../embeddings/oleObject57.bin"/><Relationship Id="rId26" Type="http://schemas.openxmlformats.org/officeDocument/2006/relationships/image" Target="../media/image84.emf"/><Relationship Id="rId3" Type="http://schemas.openxmlformats.org/officeDocument/2006/relationships/image" Target="../media/image70.emf"/><Relationship Id="rId21" Type="http://schemas.openxmlformats.org/officeDocument/2006/relationships/image" Target="../media/image81.emf"/><Relationship Id="rId7" Type="http://schemas.openxmlformats.org/officeDocument/2006/relationships/image" Target="../media/image72.emf"/><Relationship Id="rId12" Type="http://schemas.openxmlformats.org/officeDocument/2006/relationships/image" Target="../media/image75.emf"/><Relationship Id="rId17" Type="http://schemas.openxmlformats.org/officeDocument/2006/relationships/image" Target="../media/image79.emf"/><Relationship Id="rId25" Type="http://schemas.openxmlformats.org/officeDocument/2006/relationships/image" Target="../media/image83.e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6.bin"/><Relationship Id="rId20" Type="http://schemas.openxmlformats.org/officeDocument/2006/relationships/image" Target="../media/image80.emf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74.emf"/><Relationship Id="rId24" Type="http://schemas.openxmlformats.org/officeDocument/2006/relationships/oleObject" Target="../embeddings/oleObject60.bin"/><Relationship Id="rId5" Type="http://schemas.openxmlformats.org/officeDocument/2006/relationships/image" Target="../media/image71.emf"/><Relationship Id="rId15" Type="http://schemas.openxmlformats.org/officeDocument/2006/relationships/image" Target="../media/image78.emf"/><Relationship Id="rId23" Type="http://schemas.openxmlformats.org/officeDocument/2006/relationships/oleObject" Target="../embeddings/oleObject59.bin"/><Relationship Id="rId10" Type="http://schemas.openxmlformats.org/officeDocument/2006/relationships/oleObject" Target="../embeddings/oleObject55.bin"/><Relationship Id="rId19" Type="http://schemas.openxmlformats.org/officeDocument/2006/relationships/oleObject" Target="../embeddings/oleObject58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73.emf"/><Relationship Id="rId14" Type="http://schemas.openxmlformats.org/officeDocument/2006/relationships/image" Target="../media/image77.emf"/><Relationship Id="rId22" Type="http://schemas.openxmlformats.org/officeDocument/2006/relationships/image" Target="../media/image82.emf"/><Relationship Id="rId27" Type="http://schemas.openxmlformats.org/officeDocument/2006/relationships/image" Target="../media/image85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6.emf"/><Relationship Id="rId7" Type="http://schemas.openxmlformats.org/officeDocument/2006/relationships/oleObject" Target="../embeddings/oleObject62.bin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87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17E8ED8C-5A44-7F3C-1B74-9BF56146D9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3550" y="642436"/>
            <a:ext cx="8215312" cy="555088"/>
          </a:xfrm>
        </p:spPr>
        <p:txBody>
          <a:bodyPr/>
          <a:lstStyle/>
          <a:p>
            <a:pPr>
              <a:defRPr/>
            </a:pPr>
            <a:r>
              <a:rPr b="0" dirty="0">
                <a:solidFill>
                  <a:schemeClr val="tx1"/>
                </a:solidFill>
              </a:rPr>
              <a:t>Chapter 9 – </a:t>
            </a:r>
            <a:r>
              <a:rPr b="0" dirty="0" err="1">
                <a:solidFill>
                  <a:schemeClr val="tx1"/>
                </a:solidFill>
              </a:rPr>
              <a:t>Elliptic</a:t>
            </a:r>
            <a:r>
              <a:rPr b="0" dirty="0">
                <a:solidFill>
                  <a:schemeClr val="tx1"/>
                </a:solidFill>
              </a:rPr>
              <a:t> </a:t>
            </a:r>
            <a:r>
              <a:rPr b="0" dirty="0" err="1">
                <a:solidFill>
                  <a:schemeClr val="tx1"/>
                </a:solidFill>
              </a:rPr>
              <a:t>Curve</a:t>
            </a:r>
            <a:r>
              <a:rPr b="0" dirty="0">
                <a:solidFill>
                  <a:schemeClr val="tx1"/>
                </a:solidFill>
              </a:rPr>
              <a:t> </a:t>
            </a:r>
            <a:r>
              <a:rPr b="0" dirty="0" err="1">
                <a:solidFill>
                  <a:schemeClr val="tx1"/>
                </a:solidFill>
              </a:rPr>
              <a:t>Cryptograph</a:t>
            </a:r>
            <a:r>
              <a:rPr lang="en" b="0" dirty="0">
                <a:solidFill>
                  <a:schemeClr val="tx1"/>
                </a:solidFill>
              </a:rPr>
              <a:t>y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Inhaltsplatzhalter 1">
            <a:extLst>
              <a:ext uri="{FF2B5EF4-FFF2-40B4-BE49-F238E27FC236}">
                <a16:creationId xmlns:a16="http://schemas.microsoft.com/office/drawing/2014/main" id="{5DF5AE76-9D5E-917A-10CC-9F0953DDB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215312" cy="1987550"/>
          </a:xfrm>
        </p:spPr>
        <p:txBody>
          <a:bodyPr/>
          <a:lstStyle/>
          <a:p>
            <a:pPr marL="342900" indent="-342900"/>
            <a:r>
              <a:rPr lang="en-US" altLang="de-DE"/>
              <a:t>Introduction</a:t>
            </a:r>
          </a:p>
          <a:p>
            <a:pPr marL="342900" indent="-342900"/>
            <a:r>
              <a:rPr lang="en-US" altLang="de-DE"/>
              <a:t>Computations on Elliptic Curves</a:t>
            </a:r>
          </a:p>
          <a:p>
            <a:pPr marL="342900" indent="-342900"/>
            <a:r>
              <a:rPr lang="en-US" altLang="de-DE"/>
              <a:t>The Elliptic Curve Diffie-Hellman Protocol</a:t>
            </a:r>
          </a:p>
          <a:p>
            <a:pPr marL="342900" indent="-342900"/>
            <a:r>
              <a:rPr lang="en-US" altLang="de-DE"/>
              <a:t>Security Aspects</a:t>
            </a:r>
          </a:p>
          <a:p>
            <a:pPr marL="342900" indent="-342900"/>
            <a:r>
              <a:rPr lang="en-US" altLang="de-DE"/>
              <a:t>Implementation in Software and Hardware</a:t>
            </a:r>
          </a:p>
        </p:txBody>
      </p:sp>
      <p:sp>
        <p:nvSpPr>
          <p:cNvPr id="10243" name="Foliennummernplatzhalter 2">
            <a:extLst>
              <a:ext uri="{FF2B5EF4-FFF2-40B4-BE49-F238E27FC236}">
                <a16:creationId xmlns:a16="http://schemas.microsoft.com/office/drawing/2014/main" id="{6B844CCD-F67A-70D0-12FE-0A2320C7E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DCB01F-3B0F-B744-9A6E-73489F9E8A51}" type="slidenum">
              <a:rPr lang="de-DE" altLang="de-DE">
                <a:solidFill>
                  <a:srgbClr val="394073"/>
                </a:solidFill>
              </a:rPr>
              <a:pPr/>
              <a:t>2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  <p:sp>
        <p:nvSpPr>
          <p:cNvPr id="10244" name="Fußzeilenplatzhalter 3">
            <a:extLst>
              <a:ext uri="{FF2B5EF4-FFF2-40B4-BE49-F238E27FC236}">
                <a16:creationId xmlns:a16="http://schemas.microsoft.com/office/drawing/2014/main" id="{5F017710-121B-536A-5A88-C54C58958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/>
              <a:t>Chapter 9 of </a:t>
            </a:r>
            <a:r>
              <a:rPr lang="de-DE" altLang="de-DE" i="1"/>
              <a:t>Understanding Cryptography</a:t>
            </a:r>
            <a:r>
              <a:rPr lang="de-DE" altLang="de-DE"/>
              <a:t> by Christof Paar and Jan Pelzl</a:t>
            </a:r>
          </a:p>
        </p:txBody>
      </p:sp>
      <p:sp>
        <p:nvSpPr>
          <p:cNvPr id="10245" name="Titel 4">
            <a:extLst>
              <a:ext uri="{FF2B5EF4-FFF2-40B4-BE49-F238E27FC236}">
                <a16:creationId xmlns:a16="http://schemas.microsoft.com/office/drawing/2014/main" id="{31F91FE2-2806-5DE3-4E5A-9A96A60A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z="1800"/>
              <a:t>Content of this Chapter</a:t>
            </a:r>
            <a:endParaRPr lang="de-DE" altLang="de-DE"/>
          </a:p>
        </p:txBody>
      </p:sp>
      <p:pic>
        <p:nvPicPr>
          <p:cNvPr id="10246" name="Picture 7">
            <a:extLst>
              <a:ext uri="{FF2B5EF4-FFF2-40B4-BE49-F238E27FC236}">
                <a16:creationId xmlns:a16="http://schemas.microsoft.com/office/drawing/2014/main" id="{5828C43E-578C-9084-C84D-072F895FC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50938"/>
            <a:ext cx="3378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Inhaltsplatzhalter 1">
            <a:extLst>
              <a:ext uri="{FF2B5EF4-FFF2-40B4-BE49-F238E27FC236}">
                <a16:creationId xmlns:a16="http://schemas.microsoft.com/office/drawing/2014/main" id="{592E8572-BC8F-3560-B026-ABC901A7118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0063" y="1071563"/>
            <a:ext cx="8215312" cy="198755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altLang="de-DE" sz="1800" b="1"/>
              <a:t>Introduction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Computations on Elliptic Curves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The Elliptic Curve Diffie-Hellman Protocol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Security Aspects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Implementation in Software and Hardware</a:t>
            </a:r>
          </a:p>
        </p:txBody>
      </p:sp>
      <p:sp>
        <p:nvSpPr>
          <p:cNvPr id="11267" name="Fußzeilenplatzhalter 3">
            <a:extLst>
              <a:ext uri="{FF2B5EF4-FFF2-40B4-BE49-F238E27FC236}">
                <a16:creationId xmlns:a16="http://schemas.microsoft.com/office/drawing/2014/main" id="{0F01A755-08C7-A83D-84CA-3FAF9DD9CB4F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11268" name="Titel 4">
            <a:extLst>
              <a:ext uri="{FF2B5EF4-FFF2-40B4-BE49-F238E27FC236}">
                <a16:creationId xmlns:a16="http://schemas.microsoft.com/office/drawing/2014/main" id="{D6EF8359-B2B5-2C78-F64E-76E87DB84AF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 sz="1800"/>
              <a:t>Content of this Chapter</a:t>
            </a:r>
            <a:endParaRPr lang="de-DE" altLang="de-DE"/>
          </a:p>
        </p:txBody>
      </p:sp>
      <p:pic>
        <p:nvPicPr>
          <p:cNvPr id="11269" name="Picture 6">
            <a:extLst>
              <a:ext uri="{FF2B5EF4-FFF2-40B4-BE49-F238E27FC236}">
                <a16:creationId xmlns:a16="http://schemas.microsoft.com/office/drawing/2014/main" id="{0DD6AC34-678E-35E7-688A-85708232F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50938"/>
            <a:ext cx="3378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Foliennummernplatzhalter 2">
            <a:extLst>
              <a:ext uri="{FF2B5EF4-FFF2-40B4-BE49-F238E27FC236}">
                <a16:creationId xmlns:a16="http://schemas.microsoft.com/office/drawing/2014/main" id="{7AFF674A-1674-9174-5728-F7CBA92E9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76D3EE-9C5E-3D45-B56D-9AE9C57B7BEC}" type="slidenum">
              <a:rPr lang="de-DE" altLang="de-DE">
                <a:solidFill>
                  <a:srgbClr val="394073"/>
                </a:solidFill>
              </a:rPr>
              <a:pPr/>
              <a:t>3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53A78F7F-70D8-7ACE-3B71-FCE069FD0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0"/>
            <a:ext cx="5581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Fußzeilenplatzhalter 4">
            <a:extLst>
              <a:ext uri="{FF2B5EF4-FFF2-40B4-BE49-F238E27FC236}">
                <a16:creationId xmlns:a16="http://schemas.microsoft.com/office/drawing/2014/main" id="{BCC31AE9-1EF3-95E9-C279-D9A1BA87E482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12292" name="Rectangle 7">
            <a:extLst>
              <a:ext uri="{FF2B5EF4-FFF2-40B4-BE49-F238E27FC236}">
                <a16:creationId xmlns:a16="http://schemas.microsoft.com/office/drawing/2014/main" id="{05C62F65-7BB4-3F45-4B98-1A25DBA3B57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071563"/>
            <a:ext cx="8215312" cy="398621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altLang="de-DE" b="1"/>
              <a:t>Problem: </a:t>
            </a:r>
            <a:br>
              <a:rPr lang="en-US" altLang="de-DE" b="1"/>
            </a:br>
            <a:r>
              <a:rPr lang="en-US" altLang="de-DE"/>
              <a:t>Asymmetric schemes like RSA and Elgamal require exponentiations in integer rings and fields with parameters of more than 1000 bits.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de-DE"/>
              <a:t> High computational effort on CPUs with 32-bit or 64-bit arithmetic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de-DE"/>
              <a:t> Large parameter sizes critical for storage on small and embedded</a:t>
            </a:r>
          </a:p>
          <a:p>
            <a:pPr>
              <a:buFont typeface="Wingdings" pitchFamily="2" charset="2"/>
              <a:buChar char="§"/>
            </a:pPr>
            <a:r>
              <a:rPr lang="en-US" altLang="de-DE" b="1"/>
              <a:t>Motivation:</a:t>
            </a:r>
            <a:br>
              <a:rPr lang="en-US" altLang="de-DE" b="1"/>
            </a:br>
            <a:r>
              <a:rPr lang="en-US" altLang="de-DE"/>
              <a:t>Smaller field sizes providing equivalent security are desirable</a:t>
            </a:r>
          </a:p>
          <a:p>
            <a:pPr>
              <a:buFont typeface="Wingdings" pitchFamily="2" charset="2"/>
              <a:buChar char="§"/>
            </a:pPr>
            <a:r>
              <a:rPr lang="en-US" altLang="de-DE" b="1"/>
              <a:t>Solution:</a:t>
            </a:r>
            <a:br>
              <a:rPr lang="en-US" altLang="de-DE" b="1"/>
            </a:br>
            <a:r>
              <a:rPr lang="en-US" altLang="de-DE"/>
              <a:t>Elliptic Curve Cryptography uses a group of points (instead of integers) for cryptographic schemes with coefficient sizes of 160-256 bits, reducing significantly the computational</a:t>
            </a:r>
            <a:br>
              <a:rPr lang="en-US" altLang="de-DE"/>
            </a:br>
            <a:r>
              <a:rPr lang="en-US" altLang="de-DE"/>
              <a:t>effort.</a:t>
            </a:r>
          </a:p>
          <a:p>
            <a:pPr>
              <a:buFont typeface="Wingdings" pitchFamily="2" charset="2"/>
              <a:buChar char="§"/>
            </a:pPr>
            <a:endParaRPr lang="en-US" altLang="de-DE"/>
          </a:p>
        </p:txBody>
      </p:sp>
      <p:sp>
        <p:nvSpPr>
          <p:cNvPr id="12293" name="Rectangle 8">
            <a:extLst>
              <a:ext uri="{FF2B5EF4-FFF2-40B4-BE49-F238E27FC236}">
                <a16:creationId xmlns:a16="http://schemas.microsoft.com/office/drawing/2014/main" id="{659EF672-3A4C-9A1A-F184-511DB201DC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Motivation</a:t>
            </a:r>
          </a:p>
        </p:txBody>
      </p:sp>
      <p:sp>
        <p:nvSpPr>
          <p:cNvPr id="12294" name="Foliennummernplatzhalter 2">
            <a:extLst>
              <a:ext uri="{FF2B5EF4-FFF2-40B4-BE49-F238E27FC236}">
                <a16:creationId xmlns:a16="http://schemas.microsoft.com/office/drawing/2014/main" id="{5B30EF36-BF65-658B-E03C-C1081C470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0BD7F0-97AD-4046-8E9D-622CF1005148}" type="slidenum">
              <a:rPr lang="de-DE" altLang="de-DE">
                <a:solidFill>
                  <a:srgbClr val="394073"/>
                </a:solidFill>
              </a:rPr>
              <a:pPr/>
              <a:t>4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Inhaltsplatzhalter 1">
            <a:extLst>
              <a:ext uri="{FF2B5EF4-FFF2-40B4-BE49-F238E27FC236}">
                <a16:creationId xmlns:a16="http://schemas.microsoft.com/office/drawing/2014/main" id="{62FC6802-50D3-CB53-DCE5-5447C5CC01B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0063" y="1071563"/>
            <a:ext cx="8215312" cy="198755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Introduction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 b="1"/>
              <a:t>Computations on Elliptic Curves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The Elliptic Curve Diffie-Hellman Protocol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Security Aspects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Implementation in Software and Hardware</a:t>
            </a:r>
          </a:p>
        </p:txBody>
      </p:sp>
      <p:sp>
        <p:nvSpPr>
          <p:cNvPr id="14339" name="Fußzeilenplatzhalter 3">
            <a:extLst>
              <a:ext uri="{FF2B5EF4-FFF2-40B4-BE49-F238E27FC236}">
                <a16:creationId xmlns:a16="http://schemas.microsoft.com/office/drawing/2014/main" id="{F904FF25-9045-FECA-0F1E-2A3037025378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14340" name="Titel 4">
            <a:extLst>
              <a:ext uri="{FF2B5EF4-FFF2-40B4-BE49-F238E27FC236}">
                <a16:creationId xmlns:a16="http://schemas.microsoft.com/office/drawing/2014/main" id="{188BE6C8-43E1-8F10-2356-F7569635B7E2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 sz="1800"/>
              <a:t>Content of this Chapter</a:t>
            </a:r>
            <a:endParaRPr lang="de-DE" altLang="de-DE"/>
          </a:p>
        </p:txBody>
      </p:sp>
      <p:pic>
        <p:nvPicPr>
          <p:cNvPr id="14341" name="Picture 6">
            <a:extLst>
              <a:ext uri="{FF2B5EF4-FFF2-40B4-BE49-F238E27FC236}">
                <a16:creationId xmlns:a16="http://schemas.microsoft.com/office/drawing/2014/main" id="{0ECAF772-7EED-8138-B4D4-2EDBC0E60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50938"/>
            <a:ext cx="3378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Foliennummernplatzhalter 2">
            <a:extLst>
              <a:ext uri="{FF2B5EF4-FFF2-40B4-BE49-F238E27FC236}">
                <a16:creationId xmlns:a16="http://schemas.microsoft.com/office/drawing/2014/main" id="{4CBD2211-BA60-D3CE-6D55-E4D146893C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E4C4B9-E10E-A645-9DBC-20A8F3144D86}" type="slidenum">
              <a:rPr lang="de-DE" altLang="de-DE">
                <a:solidFill>
                  <a:srgbClr val="394073"/>
                </a:solidFill>
              </a:rPr>
              <a:pPr/>
              <a:t>5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290A19B-488A-D558-9DC8-45BAB34AE7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Computations on Elliptic Curves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6059C5D4-9BB0-87E2-8B58-E49E800EEE8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4030662" cy="4486275"/>
          </a:xfrm>
        </p:spPr>
        <p:txBody>
          <a:bodyPr/>
          <a:lstStyle/>
          <a:p>
            <a:r>
              <a:rPr lang="de-DE" altLang="de-DE" sz="1400" dirty="0" err="1"/>
              <a:t>Elliptic</a:t>
            </a:r>
            <a:r>
              <a:rPr lang="de-DE" altLang="de-DE" sz="1400" dirty="0"/>
              <a:t> </a:t>
            </a:r>
            <a:r>
              <a:rPr lang="de-DE" altLang="de-DE" sz="1400" dirty="0" err="1"/>
              <a:t>curves</a:t>
            </a:r>
            <a:r>
              <a:rPr lang="de-DE" altLang="de-DE" sz="1400" dirty="0"/>
              <a:t> </a:t>
            </a:r>
            <a:r>
              <a:rPr lang="de-DE" altLang="de-DE" sz="1400" dirty="0" err="1"/>
              <a:t>are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polynomials</a:t>
            </a:r>
            <a:r>
              <a:rPr lang="de-DE" altLang="de-DE" sz="1400" dirty="0"/>
              <a:t> </a:t>
            </a:r>
            <a:r>
              <a:rPr lang="de-DE" altLang="de-DE" sz="1400" dirty="0" err="1"/>
              <a:t>that</a:t>
            </a:r>
            <a:r>
              <a:rPr lang="de-DE" altLang="de-DE" sz="1400" dirty="0"/>
              <a:t> </a:t>
            </a:r>
            <a:r>
              <a:rPr lang="de-DE" altLang="de-DE" sz="1400" dirty="0" err="1"/>
              <a:t>define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points</a:t>
            </a:r>
            <a:r>
              <a:rPr lang="de-DE" altLang="de-DE" sz="1400" dirty="0"/>
              <a:t> </a:t>
            </a:r>
            <a:r>
              <a:rPr lang="de-DE" altLang="de-DE" sz="1400" dirty="0" err="1"/>
              <a:t>based</a:t>
            </a:r>
            <a:r>
              <a:rPr lang="de-DE" altLang="de-DE" sz="1400" dirty="0"/>
              <a:t> on </a:t>
            </a:r>
            <a:r>
              <a:rPr lang="de-DE" altLang="de-DE" sz="1400" dirty="0" err="1"/>
              <a:t>the</a:t>
            </a:r>
            <a:r>
              <a:rPr lang="de-DE" altLang="de-DE" sz="1400" dirty="0"/>
              <a:t> (</a:t>
            </a:r>
            <a:r>
              <a:rPr lang="de-DE" altLang="de-DE" sz="1400" dirty="0" err="1"/>
              <a:t>simplified</a:t>
            </a:r>
            <a:r>
              <a:rPr lang="de-DE" altLang="de-DE" sz="1400" dirty="0"/>
              <a:t>) </a:t>
            </a:r>
            <a:r>
              <a:rPr lang="de-DE" altLang="de-DE" sz="1400" dirty="0" err="1"/>
              <a:t>Weierstrass</a:t>
            </a:r>
            <a:r>
              <a:rPr lang="de-DE" altLang="de-DE" sz="1400" dirty="0"/>
              <a:t> </a:t>
            </a:r>
            <a:r>
              <a:rPr lang="de-DE" altLang="de-DE" sz="1400" dirty="0" err="1"/>
              <a:t>equation</a:t>
            </a:r>
            <a:r>
              <a:rPr lang="de-DE" altLang="de-DE" sz="1400" dirty="0"/>
              <a:t>:</a:t>
            </a:r>
          </a:p>
          <a:p>
            <a:endParaRPr lang="de-DE" altLang="de-DE" sz="1400" dirty="0"/>
          </a:p>
          <a:p>
            <a:pPr lvl="1">
              <a:buFontTx/>
              <a:buNone/>
            </a:pPr>
            <a:r>
              <a:rPr lang="de-DE" altLang="de-DE" sz="1400" b="1" i="1" dirty="0"/>
              <a:t>	   	     y</a:t>
            </a:r>
            <a:r>
              <a:rPr lang="de-DE" altLang="de-DE" sz="1400" b="1" i="1" baseline="30000" dirty="0"/>
              <a:t>2</a:t>
            </a:r>
            <a:r>
              <a:rPr lang="de-DE" altLang="de-DE" sz="1400" b="1" i="1" dirty="0"/>
              <a:t> = x</a:t>
            </a:r>
            <a:r>
              <a:rPr lang="de-DE" altLang="de-DE" sz="1400" b="1" i="1" baseline="30000" dirty="0"/>
              <a:t>3</a:t>
            </a:r>
            <a:r>
              <a:rPr lang="de-DE" altLang="de-DE" sz="1400" b="1" i="1" dirty="0"/>
              <a:t> + </a:t>
            </a:r>
            <a:r>
              <a:rPr lang="de-DE" altLang="de-DE" sz="1400" b="1" i="1" dirty="0" err="1"/>
              <a:t>ax</a:t>
            </a:r>
            <a:r>
              <a:rPr lang="de-DE" altLang="de-DE" sz="1400" b="1" i="1" dirty="0"/>
              <a:t> + b </a:t>
            </a:r>
          </a:p>
          <a:p>
            <a:pPr lvl="1">
              <a:buFontTx/>
              <a:buNone/>
            </a:pPr>
            <a:endParaRPr lang="de-DE" altLang="de-DE" sz="1400" b="1" i="1" dirty="0"/>
          </a:p>
          <a:p>
            <a:pPr>
              <a:buFontTx/>
              <a:buNone/>
            </a:pPr>
            <a:r>
              <a:rPr lang="de-DE" altLang="de-DE" sz="1400" dirty="0"/>
              <a:t>	</a:t>
            </a:r>
            <a:r>
              <a:rPr lang="de-DE" altLang="de-DE" sz="1400" dirty="0" err="1"/>
              <a:t>for</a:t>
            </a:r>
            <a:r>
              <a:rPr lang="de-DE" altLang="de-DE" sz="1400" dirty="0"/>
              <a:t> </a:t>
            </a:r>
            <a:r>
              <a:rPr lang="de-DE" altLang="de-DE" sz="1400" dirty="0" err="1"/>
              <a:t>parameters</a:t>
            </a:r>
            <a:r>
              <a:rPr lang="de-DE" altLang="de-DE" sz="1400" dirty="0"/>
              <a:t> </a:t>
            </a:r>
            <a:r>
              <a:rPr lang="de-DE" altLang="de-DE" sz="1400" dirty="0" err="1"/>
              <a:t>a,b</a:t>
            </a:r>
            <a:r>
              <a:rPr lang="de-DE" altLang="de-DE" sz="1400" dirty="0"/>
              <a:t> </a:t>
            </a:r>
            <a:r>
              <a:rPr lang="de-DE" altLang="de-DE" sz="1400" dirty="0" err="1"/>
              <a:t>that</a:t>
            </a:r>
            <a:r>
              <a:rPr lang="de-DE" altLang="de-DE" sz="1400" dirty="0"/>
              <a:t> </a:t>
            </a:r>
            <a:r>
              <a:rPr lang="de-DE" altLang="de-DE" sz="1400" dirty="0" err="1"/>
              <a:t>specify</a:t>
            </a:r>
            <a:r>
              <a:rPr lang="de-DE" altLang="de-DE" sz="1400" dirty="0"/>
              <a:t> </a:t>
            </a:r>
            <a:r>
              <a:rPr lang="de-DE" altLang="de-DE" sz="1400" dirty="0" err="1"/>
              <a:t>the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exact</a:t>
            </a:r>
            <a:r>
              <a:rPr lang="de-DE" altLang="de-DE" sz="1400" dirty="0"/>
              <a:t> </a:t>
            </a:r>
            <a:r>
              <a:rPr lang="de-DE" altLang="de-DE" sz="1400" dirty="0" err="1"/>
              <a:t>shape</a:t>
            </a:r>
            <a:r>
              <a:rPr lang="de-DE" altLang="de-DE" sz="1400" dirty="0"/>
              <a:t> </a:t>
            </a:r>
            <a:br>
              <a:rPr lang="de-DE" altLang="de-DE" sz="1400" dirty="0"/>
            </a:br>
            <a:r>
              <a:rPr lang="de-DE" altLang="de-DE" sz="1400" dirty="0" err="1"/>
              <a:t>of</a:t>
            </a:r>
            <a:r>
              <a:rPr lang="de-DE" altLang="de-DE" sz="1400" dirty="0"/>
              <a:t> </a:t>
            </a:r>
            <a:r>
              <a:rPr lang="de-DE" altLang="de-DE" sz="1400" dirty="0" err="1"/>
              <a:t>the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curve</a:t>
            </a:r>
            <a:endParaRPr lang="de-DE" altLang="de-DE" sz="1400" dirty="0"/>
          </a:p>
          <a:p>
            <a:pPr lvl="1">
              <a:buFontTx/>
              <a:buNone/>
            </a:pPr>
            <a:endParaRPr lang="de-DE" altLang="de-DE" sz="1400" b="1" i="1" dirty="0"/>
          </a:p>
          <a:p>
            <a:r>
              <a:rPr lang="de-DE" altLang="de-DE" sz="1400" dirty="0"/>
              <a:t>On </a:t>
            </a:r>
            <a:r>
              <a:rPr lang="de-DE" altLang="de-DE" sz="1400" dirty="0" err="1"/>
              <a:t>the</a:t>
            </a:r>
            <a:r>
              <a:rPr lang="de-DE" altLang="de-DE" sz="1400" dirty="0"/>
              <a:t> real </a:t>
            </a:r>
            <a:r>
              <a:rPr lang="de-DE" altLang="de-DE" sz="1400" dirty="0" err="1"/>
              <a:t>numbers</a:t>
            </a:r>
            <a:r>
              <a:rPr lang="de-DE" altLang="de-DE" sz="1400" dirty="0"/>
              <a:t> and </a:t>
            </a:r>
            <a:r>
              <a:rPr lang="de-DE" altLang="de-DE" sz="1400" dirty="0" err="1"/>
              <a:t>with</a:t>
            </a:r>
            <a:r>
              <a:rPr lang="de-DE" altLang="de-DE" sz="1400" dirty="0"/>
              <a:t> </a:t>
            </a:r>
            <a:r>
              <a:rPr lang="de-DE" altLang="de-DE" sz="1400" dirty="0" err="1"/>
              <a:t>parameters</a:t>
            </a:r>
            <a:r>
              <a:rPr lang="de-DE" altLang="de-DE" sz="1400" dirty="0"/>
              <a:t> </a:t>
            </a:r>
            <a:br>
              <a:rPr lang="de-DE" altLang="de-DE" sz="1400" dirty="0"/>
            </a:br>
            <a:r>
              <a:rPr lang="de-DE" altLang="de-DE" sz="1400" dirty="0"/>
              <a:t>a, b    R, an </a:t>
            </a:r>
            <a:r>
              <a:rPr lang="de-DE" altLang="de-DE" sz="1400" dirty="0" err="1"/>
              <a:t>elliptic</a:t>
            </a:r>
            <a:r>
              <a:rPr lang="de-DE" altLang="de-DE" sz="1400" dirty="0"/>
              <a:t> </a:t>
            </a:r>
            <a:r>
              <a:rPr lang="de-DE" altLang="de-DE" sz="1400" dirty="0" err="1"/>
              <a:t>curve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looks</a:t>
            </a:r>
            <a:r>
              <a:rPr lang="de-DE" altLang="de-DE" sz="1400" dirty="0"/>
              <a:t> like </a:t>
            </a:r>
            <a:r>
              <a:rPr lang="de-DE" altLang="de-DE" sz="1400" dirty="0" err="1"/>
              <a:t>this</a:t>
            </a:r>
            <a:r>
              <a:rPr lang="de-DE" altLang="de-DE" sz="1400" dirty="0"/>
              <a:t> </a:t>
            </a:r>
            <a:r>
              <a:rPr lang="de-DE" altLang="de-DE" sz="1400" dirty="0">
                <a:sym typeface="Wingdings" pitchFamily="2" charset="2"/>
              </a:rPr>
              <a:t></a:t>
            </a:r>
          </a:p>
          <a:p>
            <a:endParaRPr lang="de-DE" altLang="de-DE" sz="1400" dirty="0">
              <a:sym typeface="Wingdings" pitchFamily="2" charset="2"/>
            </a:endParaRPr>
          </a:p>
          <a:p>
            <a:r>
              <a:rPr lang="de-DE" altLang="de-DE" sz="1400" dirty="0" err="1">
                <a:sym typeface="Wingdings" pitchFamily="2" charset="2"/>
              </a:rPr>
              <a:t>Elliptic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curves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can</a:t>
            </a:r>
            <a:r>
              <a:rPr lang="de-DE" altLang="de-DE" sz="1400" dirty="0">
                <a:sym typeface="Wingdings" pitchFamily="2" charset="2"/>
              </a:rPr>
              <a:t> not just </a:t>
            </a:r>
            <a:r>
              <a:rPr lang="de-DE" altLang="de-DE" sz="1400" dirty="0" err="1">
                <a:sym typeface="Wingdings" pitchFamily="2" charset="2"/>
              </a:rPr>
              <a:t>be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defined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over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the</a:t>
            </a:r>
            <a:r>
              <a:rPr lang="de-DE" altLang="de-DE" sz="1400" dirty="0">
                <a:sym typeface="Wingdings" pitchFamily="2" charset="2"/>
              </a:rPr>
              <a:t> real </a:t>
            </a:r>
            <a:r>
              <a:rPr lang="de-DE" altLang="de-DE" sz="1400" dirty="0" err="1">
                <a:sym typeface="Wingdings" pitchFamily="2" charset="2"/>
              </a:rPr>
              <a:t>numbers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i="1" dirty="0">
                <a:sym typeface="Wingdings" pitchFamily="2" charset="2"/>
              </a:rPr>
              <a:t>R</a:t>
            </a:r>
            <a:r>
              <a:rPr lang="de-DE" altLang="de-DE" sz="1400" dirty="0">
                <a:sym typeface="Wingdings" pitchFamily="2" charset="2"/>
              </a:rPr>
              <a:t> but </a:t>
            </a:r>
            <a:r>
              <a:rPr lang="de-DE" altLang="de-DE" sz="1400" dirty="0" err="1">
                <a:sym typeface="Wingdings" pitchFamily="2" charset="2"/>
              </a:rPr>
              <a:t>over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many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other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types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of</a:t>
            </a:r>
            <a:r>
              <a:rPr lang="de-DE" altLang="de-DE" sz="1400" dirty="0">
                <a:sym typeface="Wingdings" pitchFamily="2" charset="2"/>
              </a:rPr>
              <a:t> finite </a:t>
            </a:r>
            <a:r>
              <a:rPr lang="de-DE" altLang="de-DE" sz="1400" dirty="0" err="1">
                <a:sym typeface="Wingdings" pitchFamily="2" charset="2"/>
              </a:rPr>
              <a:t>fields</a:t>
            </a:r>
            <a:r>
              <a:rPr lang="de-DE" altLang="de-DE" sz="1400" dirty="0">
                <a:sym typeface="Wingdings" pitchFamily="2" charset="2"/>
              </a:rPr>
              <a:t>.</a:t>
            </a:r>
            <a:endParaRPr lang="de-DE" altLang="de-DE" sz="1400" dirty="0"/>
          </a:p>
          <a:p>
            <a:pPr lvl="1">
              <a:buFontTx/>
              <a:buNone/>
            </a:pPr>
            <a:endParaRPr lang="de-DE" altLang="de-DE" sz="1400" b="1" i="1" dirty="0"/>
          </a:p>
        </p:txBody>
      </p:sp>
      <p:pic>
        <p:nvPicPr>
          <p:cNvPr id="15364" name="Picture 6">
            <a:extLst>
              <a:ext uri="{FF2B5EF4-FFF2-40B4-BE49-F238E27FC236}">
                <a16:creationId xmlns:a16="http://schemas.microsoft.com/office/drawing/2014/main" id="{103ACB44-CB1F-4522-A7DF-46D20ED1C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38" y="727075"/>
            <a:ext cx="4014787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7">
            <a:extLst>
              <a:ext uri="{FF2B5EF4-FFF2-40B4-BE49-F238E27FC236}">
                <a16:creationId xmlns:a16="http://schemas.microsoft.com/office/drawing/2014/main" id="{7C2AE95C-BB33-85C2-6FD5-D37FA55F0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0" y="5829300"/>
            <a:ext cx="2108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200" b="1"/>
              <a:t>Example</a:t>
            </a:r>
            <a:r>
              <a:rPr lang="de-DE" altLang="de-DE" sz="1200"/>
              <a:t>: </a:t>
            </a:r>
            <a:r>
              <a:rPr lang="de-DE" altLang="de-DE" sz="1200" i="1"/>
              <a:t>y</a:t>
            </a:r>
            <a:r>
              <a:rPr lang="de-DE" altLang="de-DE" sz="1200" i="1" baseline="30000"/>
              <a:t>2</a:t>
            </a:r>
            <a:r>
              <a:rPr lang="de-DE" altLang="de-DE" sz="1200" i="1"/>
              <a:t> = x</a:t>
            </a:r>
            <a:r>
              <a:rPr lang="de-DE" altLang="de-DE" sz="1200" i="1" baseline="30000"/>
              <a:t>3</a:t>
            </a:r>
            <a:r>
              <a:rPr lang="de-DE" altLang="de-DE" sz="1200" i="1"/>
              <a:t> −3x+3</a:t>
            </a:r>
            <a:r>
              <a:rPr lang="de-DE" altLang="de-DE" sz="1200"/>
              <a:t> over </a:t>
            </a:r>
            <a:r>
              <a:rPr lang="de-DE" altLang="de-DE" sz="1200" i="1"/>
              <a:t>R</a:t>
            </a:r>
          </a:p>
          <a:p>
            <a:endParaRPr lang="de-DE" altLang="de-DE" sz="1200"/>
          </a:p>
        </p:txBody>
      </p:sp>
      <p:graphicFrame>
        <p:nvGraphicFramePr>
          <p:cNvPr id="15366" name="Object 11">
            <a:extLst>
              <a:ext uri="{FF2B5EF4-FFF2-40B4-BE49-F238E27FC236}">
                <a16:creationId xmlns:a16="http://schemas.microsoft.com/office/drawing/2014/main" id="{BA343677-FDAA-D411-C17B-6A5073FE7A1B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16000" y="3881438"/>
          <a:ext cx="155575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3" imgW="2921000" imgH="2921000" progId="Equation.3">
                  <p:embed/>
                </p:oleObj>
              </mc:Choice>
              <mc:Fallback>
                <p:oleObj name="Formel" r:id="rId3" imgW="2921000" imgH="292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3881438"/>
                        <a:ext cx="155575" cy="15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Fußzeilenplatzhalter 3">
            <a:extLst>
              <a:ext uri="{FF2B5EF4-FFF2-40B4-BE49-F238E27FC236}">
                <a16:creationId xmlns:a16="http://schemas.microsoft.com/office/drawing/2014/main" id="{3C65FA3B-CE57-2186-1B74-9C0481008B03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15368" name="Foliennummernplatzhalter 2">
            <a:extLst>
              <a:ext uri="{FF2B5EF4-FFF2-40B4-BE49-F238E27FC236}">
                <a16:creationId xmlns:a16="http://schemas.microsoft.com/office/drawing/2014/main" id="{7D7DC539-5D30-8A87-0BC6-219A4439E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236235-5C02-9345-8D5E-D528385FB5E1}" type="slidenum">
              <a:rPr lang="de-DE" altLang="de-DE">
                <a:solidFill>
                  <a:srgbClr val="394073"/>
                </a:solidFill>
              </a:rPr>
              <a:pPr/>
              <a:t>6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B1125224-2F6A-EE91-3E5D-590371959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450975"/>
            <a:ext cx="342582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Fußzeilenplatzhalter 4">
            <a:extLst>
              <a:ext uri="{FF2B5EF4-FFF2-40B4-BE49-F238E27FC236}">
                <a16:creationId xmlns:a16="http://schemas.microsoft.com/office/drawing/2014/main" id="{0B82DC41-A595-5ABC-0E9A-6A1DD5A7F970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16388" name="Rectangle 10">
            <a:extLst>
              <a:ext uri="{FF2B5EF4-FFF2-40B4-BE49-F238E27FC236}">
                <a16:creationId xmlns:a16="http://schemas.microsoft.com/office/drawing/2014/main" id="{89C0930E-202F-C3E8-B12C-EC1FE41A10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Computations on Elliptic Curves (ctd.)</a:t>
            </a:r>
          </a:p>
        </p:txBody>
      </p:sp>
      <p:sp>
        <p:nvSpPr>
          <p:cNvPr id="16389" name="Rectangle 6">
            <a:extLst>
              <a:ext uri="{FF2B5EF4-FFF2-40B4-BE49-F238E27FC236}">
                <a16:creationId xmlns:a16="http://schemas.microsoft.com/office/drawing/2014/main" id="{01CF3A82-64CC-0668-2C9E-336F3FACED7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4525962" cy="4371975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sz="1400"/>
              <a:t>In cryptography, we are interested in elliptic curves module a prime </a:t>
            </a:r>
            <a:r>
              <a:rPr lang="de-DE" altLang="de-DE" sz="1400" i="1"/>
              <a:t>p</a:t>
            </a:r>
            <a:r>
              <a:rPr lang="de-DE" altLang="de-DE" sz="1400"/>
              <a:t>:</a:t>
            </a:r>
          </a:p>
          <a:p>
            <a:pPr>
              <a:buFont typeface="Wingdings" pitchFamily="2" charset="2"/>
              <a:buNone/>
            </a:pPr>
            <a:endParaRPr lang="de-DE" altLang="de-DE" sz="1400" i="1"/>
          </a:p>
          <a:p>
            <a:pPr>
              <a:buFont typeface="Wingdings" pitchFamily="2" charset="2"/>
              <a:buNone/>
            </a:pPr>
            <a:endParaRPr lang="de-DE" altLang="de-DE" sz="1400" i="1"/>
          </a:p>
          <a:p>
            <a:pPr>
              <a:buFont typeface="Wingdings" pitchFamily="2" charset="2"/>
              <a:buNone/>
            </a:pPr>
            <a:r>
              <a:rPr lang="de-DE" altLang="de-DE" sz="1200" i="1"/>
              <a:t>	</a:t>
            </a:r>
          </a:p>
          <a:p>
            <a:pPr>
              <a:buFont typeface="Wingdings" pitchFamily="2" charset="2"/>
              <a:buNone/>
            </a:pPr>
            <a:endParaRPr lang="de-DE" altLang="de-DE" sz="1200" i="1"/>
          </a:p>
          <a:p>
            <a:pPr>
              <a:buFont typeface="Wingdings" pitchFamily="2" charset="2"/>
              <a:buNone/>
            </a:pPr>
            <a:endParaRPr lang="de-DE" altLang="de-DE" sz="1200" i="1"/>
          </a:p>
          <a:p>
            <a:pPr>
              <a:buFont typeface="Wingdings" pitchFamily="2" charset="2"/>
              <a:buNone/>
            </a:pPr>
            <a:endParaRPr lang="de-DE" altLang="de-DE" sz="1200" i="1"/>
          </a:p>
          <a:p>
            <a:pPr>
              <a:buFont typeface="Wingdings" pitchFamily="2" charset="2"/>
              <a:buNone/>
            </a:pPr>
            <a:endParaRPr lang="de-DE" altLang="de-DE" sz="1200" i="1"/>
          </a:p>
          <a:p>
            <a:pPr>
              <a:buFont typeface="Wingdings" pitchFamily="2" charset="2"/>
              <a:buNone/>
            </a:pPr>
            <a:endParaRPr lang="de-DE" altLang="de-DE" sz="1200" i="1"/>
          </a:p>
          <a:p>
            <a:pPr>
              <a:buFont typeface="Wingdings" pitchFamily="2" charset="2"/>
              <a:buNone/>
            </a:pPr>
            <a:endParaRPr lang="de-DE" altLang="de-DE" sz="1400" i="1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r>
              <a:rPr lang="de-DE" altLang="de-DE" sz="1400"/>
              <a:t>Note that </a:t>
            </a:r>
            <a:r>
              <a:rPr lang="de-DE" altLang="de-DE" sz="1400" i="1"/>
              <a:t>Z</a:t>
            </a:r>
            <a:r>
              <a:rPr lang="de-DE" altLang="de-DE" sz="1400" i="1" baseline="-25000"/>
              <a:t>p</a:t>
            </a:r>
            <a:r>
              <a:rPr lang="de-DE" altLang="de-DE" sz="1400" i="1"/>
              <a:t> = {0,1,…, p -1}</a:t>
            </a:r>
            <a:r>
              <a:rPr lang="de-DE" altLang="de-DE" sz="1400"/>
              <a:t> is a set of integers</a:t>
            </a:r>
            <a:br>
              <a:rPr lang="de-DE" altLang="de-DE" sz="1400"/>
            </a:br>
            <a:r>
              <a:rPr lang="de-DE" altLang="de-DE" sz="1400"/>
              <a:t>with modulo p arithmetic</a:t>
            </a:r>
            <a:r>
              <a:rPr lang="de-DE" altLang="de-DE" sz="1400">
                <a:sym typeface="Wingdings" pitchFamily="2" charset="2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endParaRPr lang="de-DE" altLang="de-DE" sz="1400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EF163AC6-CE5E-D1D4-2F90-A443082CA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17700"/>
            <a:ext cx="381635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79108A93-E088-E11A-C678-D0B8A4A96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1889125"/>
            <a:ext cx="4257675" cy="2425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16393" name="Text Box 21">
            <a:extLst>
              <a:ext uri="{FF2B5EF4-FFF2-40B4-BE49-F238E27FC236}">
                <a16:creationId xmlns:a16="http://schemas.microsoft.com/office/drawing/2014/main" id="{73B103E3-324F-B193-2568-FECCE1B35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1963738"/>
            <a:ext cx="3624263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Wingdings" pitchFamily="2" charset="2"/>
              <a:buNone/>
            </a:pPr>
            <a:r>
              <a:rPr lang="de-DE" altLang="de-DE" sz="1400" b="1" i="1"/>
              <a:t>Definition: Elliptic Curves over prime fields</a:t>
            </a:r>
          </a:p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Wingdings" pitchFamily="2" charset="2"/>
              <a:buNone/>
            </a:pPr>
            <a:br>
              <a:rPr lang="de-DE" altLang="de-DE" sz="1400" i="1"/>
            </a:br>
            <a:r>
              <a:rPr lang="de-DE" altLang="de-DE" sz="1400" i="1"/>
              <a:t>The elliptic curve over Z</a:t>
            </a:r>
            <a:r>
              <a:rPr lang="de-DE" altLang="de-DE" sz="1400" i="1" baseline="-25000"/>
              <a:t>p</a:t>
            </a:r>
            <a:r>
              <a:rPr lang="de-DE" altLang="de-DE" sz="1400" i="1"/>
              <a:t>, p&gt;3 is the set of all </a:t>
            </a:r>
            <a:br>
              <a:rPr lang="de-DE" altLang="de-DE" sz="1400" i="1"/>
            </a:br>
            <a:r>
              <a:rPr lang="de-DE" altLang="de-DE" sz="1400" i="1"/>
              <a:t>pairs (x,y)    Z</a:t>
            </a:r>
            <a:r>
              <a:rPr lang="de-DE" altLang="de-DE" sz="1400" i="1" baseline="-25000"/>
              <a:t>p</a:t>
            </a:r>
            <a:r>
              <a:rPr lang="de-DE" altLang="de-DE" sz="1400" i="1"/>
              <a:t> which fulfill</a:t>
            </a:r>
            <a:br>
              <a:rPr lang="de-DE" altLang="de-DE" sz="1400" i="1"/>
            </a:br>
            <a:r>
              <a:rPr lang="de-DE" altLang="de-DE" sz="1400" i="1"/>
              <a:t>	</a:t>
            </a:r>
            <a:r>
              <a:rPr lang="de-DE" altLang="de-DE" sz="1400" b="1" i="1"/>
              <a:t>y</a:t>
            </a:r>
            <a:r>
              <a:rPr lang="de-DE" altLang="de-DE" sz="1400" b="1" i="1" baseline="30000"/>
              <a:t>2</a:t>
            </a:r>
            <a:r>
              <a:rPr lang="de-DE" altLang="de-DE" sz="1400" b="1" i="1"/>
              <a:t> = x</a:t>
            </a:r>
            <a:r>
              <a:rPr lang="de-DE" altLang="de-DE" sz="1400" b="1" i="1" baseline="30000"/>
              <a:t>3</a:t>
            </a:r>
            <a:r>
              <a:rPr lang="de-DE" altLang="de-DE" sz="1400" b="1" i="1"/>
              <a:t> + ax + b mod p</a:t>
            </a:r>
            <a:br>
              <a:rPr lang="de-DE" altLang="de-DE" sz="1400" b="1" i="1"/>
            </a:br>
            <a:r>
              <a:rPr lang="de-DE" altLang="de-DE" sz="1400" i="1"/>
              <a:t>together with an imaginary point of infinity </a:t>
            </a:r>
            <a:r>
              <a:rPr lang="el-GR" altLang="de-DE" sz="1400" i="1"/>
              <a:t>θ</a:t>
            </a:r>
            <a:r>
              <a:rPr lang="de-DE" altLang="de-DE" sz="1400" i="1"/>
              <a:t>,</a:t>
            </a:r>
            <a:br>
              <a:rPr lang="de-DE" altLang="de-DE" sz="1400" i="1"/>
            </a:br>
            <a:r>
              <a:rPr lang="de-DE" altLang="de-DE" sz="1400" i="1"/>
              <a:t>where a,b    Z</a:t>
            </a:r>
            <a:r>
              <a:rPr lang="de-DE" altLang="de-DE" sz="1400" i="1" baseline="-25000"/>
              <a:t>p</a:t>
            </a:r>
            <a:r>
              <a:rPr lang="de-DE" altLang="de-DE" sz="1400" i="1"/>
              <a:t> and the condition</a:t>
            </a:r>
            <a:br>
              <a:rPr lang="de-DE" altLang="de-DE" sz="1400" i="1"/>
            </a:br>
            <a:r>
              <a:rPr lang="de-DE" altLang="de-DE" sz="1400" i="1"/>
              <a:t>       	</a:t>
            </a:r>
            <a:r>
              <a:rPr lang="de-DE" altLang="de-DE" sz="1400" b="1" i="1"/>
              <a:t>4a</a:t>
            </a:r>
            <a:r>
              <a:rPr lang="de-DE" altLang="de-DE" sz="1400" b="1" i="1" baseline="30000"/>
              <a:t>3</a:t>
            </a:r>
            <a:r>
              <a:rPr lang="de-DE" altLang="de-DE" sz="1400" b="1" i="1"/>
              <a:t>+27b</a:t>
            </a:r>
            <a:r>
              <a:rPr lang="de-DE" altLang="de-DE" sz="1400" b="1" i="1" baseline="30000"/>
              <a:t>2</a:t>
            </a:r>
            <a:r>
              <a:rPr lang="de-DE" altLang="de-DE" sz="1400" b="1" i="1"/>
              <a:t> ≠ 0 mod p.</a:t>
            </a:r>
          </a:p>
          <a:p>
            <a:endParaRPr lang="de-DE" altLang="de-DE" sz="1400"/>
          </a:p>
        </p:txBody>
      </p:sp>
      <p:graphicFrame>
        <p:nvGraphicFramePr>
          <p:cNvPr id="16394" name="Object 30">
            <a:extLst>
              <a:ext uri="{FF2B5EF4-FFF2-40B4-BE49-F238E27FC236}">
                <a16:creationId xmlns:a16="http://schemas.microsoft.com/office/drawing/2014/main" id="{FCEC3514-82D3-65B1-10DB-DDD21CED22A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481763" y="2039938"/>
          <a:ext cx="4318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4" imgW="2628900" imgH="4978400" progId="Equation.3">
                  <p:embed/>
                </p:oleObj>
              </mc:Choice>
              <mc:Fallback>
                <p:oleObj name="Formel" r:id="rId4" imgW="2628900" imgH="49784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2039938"/>
                        <a:ext cx="4318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32">
            <a:extLst>
              <a:ext uri="{FF2B5EF4-FFF2-40B4-BE49-F238E27FC236}">
                <a16:creationId xmlns:a16="http://schemas.microsoft.com/office/drawing/2014/main" id="{C700886D-933B-5686-7190-5B4307E32D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316944"/>
              </p:ext>
            </p:extLst>
          </p:nvPr>
        </p:nvGraphicFramePr>
        <p:xfrm>
          <a:off x="1914619" y="2879072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6" imgW="2921000" imgH="2921000" progId="Equation.3">
                  <p:embed/>
                </p:oleObj>
              </mc:Choice>
              <mc:Fallback>
                <p:oleObj name="Formel" r:id="rId6" imgW="2921000" imgH="29210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619" y="2879072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33">
            <a:extLst>
              <a:ext uri="{FF2B5EF4-FFF2-40B4-BE49-F238E27FC236}">
                <a16:creationId xmlns:a16="http://schemas.microsoft.com/office/drawing/2014/main" id="{E714469F-A7B8-3185-86AA-DA304C07EC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1513" y="3716338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8" imgW="2921000" imgH="2921000" progId="Equation.3">
                  <p:embed/>
                </p:oleObj>
              </mc:Choice>
              <mc:Fallback>
                <p:oleObj name="Formel" r:id="rId8" imgW="2921000" imgH="29210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3716338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Foliennummernplatzhalter 2">
            <a:extLst>
              <a:ext uri="{FF2B5EF4-FFF2-40B4-BE49-F238E27FC236}">
                <a16:creationId xmlns:a16="http://schemas.microsoft.com/office/drawing/2014/main" id="{5B9F5614-E0BF-93D1-0CDB-EFEF8D764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44ED63-C210-8E4A-8202-D79C32022FE9}" type="slidenum">
              <a:rPr lang="de-DE" altLang="de-DE">
                <a:solidFill>
                  <a:srgbClr val="394073"/>
                </a:solidFill>
              </a:rPr>
              <a:pPr/>
              <a:t>7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E36DC27-CC1F-284C-3F26-81E72ABC2686}"/>
                  </a:ext>
                </a:extLst>
              </p14:cNvPr>
              <p14:cNvContentPartPr/>
              <p14:nvPr/>
            </p14:nvContentPartPr>
            <p14:xfrm>
              <a:off x="5998680" y="2444040"/>
              <a:ext cx="1705320" cy="2446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E36DC27-CC1F-284C-3F26-81E72ABC26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89320" y="2434680"/>
                <a:ext cx="1724040" cy="246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039C16BE-AE9A-23B3-8EBE-1970BF025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450975"/>
            <a:ext cx="342582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Fußzeilenplatzhalter 4">
            <a:extLst>
              <a:ext uri="{FF2B5EF4-FFF2-40B4-BE49-F238E27FC236}">
                <a16:creationId xmlns:a16="http://schemas.microsoft.com/office/drawing/2014/main" id="{488DCCD5-A0F7-F4F7-7305-BB1C225D3247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53043573-83DD-869B-02FE-7AD2DD4F771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Computations on Elliptic Curves (ctd.)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ECF3733A-18E9-EB38-F956-BB6A75EAD60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4525962" cy="438626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sz="1400" dirty="0" err="1"/>
              <a:t>Some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special</a:t>
            </a:r>
            <a:r>
              <a:rPr lang="de-DE" altLang="de-DE" sz="1400" dirty="0"/>
              <a:t> </a:t>
            </a:r>
            <a:r>
              <a:rPr lang="de-DE" altLang="de-DE" sz="1400" dirty="0" err="1"/>
              <a:t>considerations</a:t>
            </a:r>
            <a:r>
              <a:rPr lang="de-DE" altLang="de-DE" sz="1400" dirty="0"/>
              <a:t> </a:t>
            </a:r>
            <a:r>
              <a:rPr lang="de-DE" altLang="de-DE" sz="1400" dirty="0" err="1"/>
              <a:t>are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required</a:t>
            </a:r>
            <a:r>
              <a:rPr lang="de-DE" altLang="de-DE" sz="1400" dirty="0"/>
              <a:t> </a:t>
            </a:r>
            <a:r>
              <a:rPr lang="de-DE" altLang="de-DE" sz="1400" dirty="0" err="1"/>
              <a:t>to</a:t>
            </a:r>
            <a:r>
              <a:rPr lang="de-DE" altLang="de-DE" sz="1400" dirty="0"/>
              <a:t> </a:t>
            </a:r>
            <a:r>
              <a:rPr lang="de-DE" altLang="de-DE" sz="1400" dirty="0" err="1"/>
              <a:t>convert</a:t>
            </a:r>
            <a:r>
              <a:rPr lang="de-DE" altLang="de-DE" sz="1400" dirty="0"/>
              <a:t> </a:t>
            </a:r>
            <a:r>
              <a:rPr lang="de-DE" altLang="de-DE" sz="1400" dirty="0" err="1"/>
              <a:t>elliptic</a:t>
            </a:r>
            <a:r>
              <a:rPr lang="de-DE" altLang="de-DE" sz="1400" dirty="0"/>
              <a:t> </a:t>
            </a:r>
            <a:r>
              <a:rPr lang="de-DE" altLang="de-DE" sz="1400" dirty="0" err="1"/>
              <a:t>curves</a:t>
            </a:r>
            <a:r>
              <a:rPr lang="de-DE" altLang="de-DE" sz="1400" dirty="0"/>
              <a:t> </a:t>
            </a:r>
            <a:r>
              <a:rPr lang="de-DE" altLang="de-DE" sz="1400" dirty="0" err="1"/>
              <a:t>into</a:t>
            </a:r>
            <a:r>
              <a:rPr lang="de-DE" altLang="de-DE" sz="1400" dirty="0"/>
              <a:t> a </a:t>
            </a:r>
            <a:r>
              <a:rPr lang="de-DE" altLang="de-DE" sz="1400" dirty="0" err="1"/>
              <a:t>group</a:t>
            </a:r>
            <a:r>
              <a:rPr lang="de-DE" altLang="de-DE" sz="1400" dirty="0"/>
              <a:t> </a:t>
            </a:r>
            <a:r>
              <a:rPr lang="de-DE" altLang="de-DE" sz="1400" dirty="0" err="1"/>
              <a:t>of</a:t>
            </a:r>
            <a:r>
              <a:rPr lang="de-DE" altLang="de-DE" sz="1400" dirty="0"/>
              <a:t> </a:t>
            </a:r>
            <a:r>
              <a:rPr lang="de-DE" altLang="de-DE" sz="1400" dirty="0" err="1"/>
              <a:t>points</a:t>
            </a:r>
            <a:r>
              <a:rPr lang="de-DE" altLang="de-DE" sz="1400" dirty="0"/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 i="1" dirty="0"/>
              <a:t>In </a:t>
            </a:r>
            <a:r>
              <a:rPr lang="de-DE" altLang="de-DE" sz="1400" i="1" dirty="0" err="1"/>
              <a:t>any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group</a:t>
            </a:r>
            <a:r>
              <a:rPr lang="de-DE" altLang="de-DE" sz="1400" i="1" dirty="0"/>
              <a:t>, a </a:t>
            </a:r>
            <a:r>
              <a:rPr lang="de-DE" altLang="de-DE" sz="1400" i="1" dirty="0" err="1"/>
              <a:t>special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element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is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required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to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allow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for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the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identity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operation</a:t>
            </a:r>
            <a:r>
              <a:rPr lang="de-DE" altLang="de-DE" sz="1400" i="1" dirty="0"/>
              <a:t>, i.e.,</a:t>
            </a:r>
            <a:br>
              <a:rPr lang="de-DE" altLang="de-DE" sz="1400" i="1" dirty="0"/>
            </a:br>
            <a:r>
              <a:rPr lang="de-DE" altLang="de-DE" sz="1400" i="1" dirty="0" err="1"/>
              <a:t>given</a:t>
            </a:r>
            <a:r>
              <a:rPr lang="de-DE" altLang="de-DE" sz="1400" i="1" dirty="0"/>
              <a:t> P   E: P + </a:t>
            </a:r>
            <a:r>
              <a:rPr lang="el-GR" altLang="de-DE" sz="1400" i="1" dirty="0"/>
              <a:t>θ</a:t>
            </a:r>
            <a:r>
              <a:rPr lang="de-DE" altLang="de-DE" sz="1400" i="1" dirty="0"/>
              <a:t> = P = </a:t>
            </a:r>
            <a:r>
              <a:rPr lang="el-GR" altLang="de-DE" sz="1400" i="1" dirty="0"/>
              <a:t>θ</a:t>
            </a:r>
            <a:r>
              <a:rPr lang="de-DE" altLang="de-DE" sz="1400" i="1" dirty="0"/>
              <a:t> + P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 i="1" dirty="0"/>
              <a:t>This </a:t>
            </a:r>
            <a:r>
              <a:rPr lang="de-DE" altLang="de-DE" sz="1400" i="1" dirty="0" err="1"/>
              <a:t>identity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point</a:t>
            </a:r>
            <a:r>
              <a:rPr lang="de-DE" altLang="de-DE" sz="1400" i="1" dirty="0"/>
              <a:t> (</a:t>
            </a:r>
            <a:r>
              <a:rPr lang="de-DE" altLang="de-DE" sz="1400" i="1" dirty="0" err="1"/>
              <a:t>which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is</a:t>
            </a:r>
            <a:r>
              <a:rPr lang="de-DE" altLang="de-DE" sz="1400" i="1" dirty="0"/>
              <a:t> not on </a:t>
            </a:r>
            <a:r>
              <a:rPr lang="de-DE" altLang="de-DE" sz="1400" i="1" dirty="0" err="1"/>
              <a:t>the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curve</a:t>
            </a:r>
            <a:r>
              <a:rPr lang="de-DE" altLang="de-DE" sz="1400" i="1" dirty="0"/>
              <a:t>) </a:t>
            </a:r>
            <a:r>
              <a:rPr lang="de-DE" altLang="de-DE" sz="1400" i="1" dirty="0" err="1"/>
              <a:t>is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additionally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added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to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the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group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definition</a:t>
            </a:r>
            <a:r>
              <a:rPr lang="de-DE" altLang="de-DE" sz="1400" i="1" dirty="0"/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 i="1" dirty="0"/>
              <a:t>This (infinite) </a:t>
            </a:r>
            <a:r>
              <a:rPr lang="de-DE" altLang="de-DE" sz="1400" i="1" dirty="0" err="1"/>
              <a:t>identity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point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is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denoted</a:t>
            </a:r>
            <a:r>
              <a:rPr lang="de-DE" altLang="de-DE" sz="1400" i="1" dirty="0"/>
              <a:t> </a:t>
            </a:r>
            <a:r>
              <a:rPr lang="de-DE" altLang="de-DE" sz="1400" i="1" dirty="0" err="1"/>
              <a:t>by</a:t>
            </a:r>
            <a:r>
              <a:rPr lang="de-DE" altLang="de-DE" sz="1400" i="1" dirty="0"/>
              <a:t> </a:t>
            </a:r>
            <a:r>
              <a:rPr lang="el-GR" altLang="de-DE" sz="1400" i="1" dirty="0"/>
              <a:t>θ</a:t>
            </a:r>
            <a:r>
              <a:rPr lang="de-DE" altLang="de-DE" sz="1400" i="1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de-DE" altLang="de-DE" sz="1200" i="1" dirty="0"/>
              <a:t>	</a:t>
            </a:r>
            <a:endParaRPr lang="de-DE" altLang="de-DE" sz="1400" dirty="0"/>
          </a:p>
          <a:p>
            <a:pPr>
              <a:buFont typeface="Wingdings" pitchFamily="2" charset="2"/>
              <a:buChar char="§"/>
            </a:pPr>
            <a:r>
              <a:rPr lang="de-DE" altLang="de-DE" sz="1400" dirty="0" err="1"/>
              <a:t>Elliptic</a:t>
            </a:r>
            <a:r>
              <a:rPr lang="de-DE" altLang="de-DE" sz="1400" dirty="0"/>
              <a:t> </a:t>
            </a:r>
            <a:r>
              <a:rPr lang="de-DE" altLang="de-DE" sz="1400" dirty="0" err="1"/>
              <a:t>Curve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are</a:t>
            </a:r>
            <a:r>
              <a:rPr lang="de-DE" altLang="de-DE" sz="1400" dirty="0"/>
              <a:t> </a:t>
            </a:r>
            <a:r>
              <a:rPr lang="de-DE" altLang="de-DE" sz="1400" dirty="0" err="1"/>
              <a:t>symmetric</a:t>
            </a:r>
            <a:r>
              <a:rPr lang="de-DE" altLang="de-DE" sz="1400" dirty="0"/>
              <a:t> </a:t>
            </a:r>
            <a:r>
              <a:rPr lang="de-DE" altLang="de-DE" sz="1400" dirty="0" err="1"/>
              <a:t>along</a:t>
            </a:r>
            <a:r>
              <a:rPr lang="de-DE" altLang="de-DE" sz="1400" dirty="0"/>
              <a:t> </a:t>
            </a:r>
            <a:r>
              <a:rPr lang="de-DE" altLang="de-DE" sz="1400" dirty="0" err="1"/>
              <a:t>the</a:t>
            </a:r>
            <a:r>
              <a:rPr lang="de-DE" altLang="de-DE" sz="1400" dirty="0"/>
              <a:t> </a:t>
            </a:r>
            <a:r>
              <a:rPr lang="de-DE" altLang="de-DE" sz="1400" i="1" dirty="0"/>
              <a:t>x</a:t>
            </a:r>
            <a:r>
              <a:rPr lang="de-DE" altLang="de-DE" sz="1400" dirty="0"/>
              <a:t>-</a:t>
            </a:r>
            <a:r>
              <a:rPr lang="de-DE" altLang="de-DE" sz="1400" dirty="0" err="1"/>
              <a:t>axis</a:t>
            </a:r>
            <a:endParaRPr lang="de-DE" altLang="de-DE" sz="1400" dirty="0"/>
          </a:p>
          <a:p>
            <a:pPr lvl="1">
              <a:buFont typeface="Wingdings" pitchFamily="2" charset="2"/>
              <a:buChar char="§"/>
            </a:pPr>
            <a:r>
              <a:rPr lang="de-DE" altLang="de-DE" sz="1400" dirty="0">
                <a:sym typeface="Wingdings" pitchFamily="2" charset="2"/>
              </a:rPr>
              <a:t>Up </a:t>
            </a:r>
            <a:r>
              <a:rPr lang="de-DE" altLang="de-DE" sz="1400" dirty="0" err="1">
                <a:sym typeface="Wingdings" pitchFamily="2" charset="2"/>
              </a:rPr>
              <a:t>to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two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solutions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i="1" dirty="0" err="1">
                <a:sym typeface="Wingdings" pitchFamily="2" charset="2"/>
              </a:rPr>
              <a:t>y</a:t>
            </a:r>
            <a:r>
              <a:rPr lang="de-DE" altLang="de-DE" sz="1400" i="1" dirty="0">
                <a:sym typeface="Wingdings" pitchFamily="2" charset="2"/>
              </a:rPr>
              <a:t> and -</a:t>
            </a:r>
            <a:r>
              <a:rPr lang="de-DE" altLang="de-DE" sz="1400" i="1" dirty="0" err="1">
                <a:sym typeface="Wingdings" pitchFamily="2" charset="2"/>
              </a:rPr>
              <a:t>y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exist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for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each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i="1" dirty="0">
                <a:sym typeface="Wingdings" pitchFamily="2" charset="2"/>
              </a:rPr>
              <a:t>x </a:t>
            </a:r>
            <a:r>
              <a:rPr lang="de-DE" altLang="de-DE" sz="1400" dirty="0" err="1">
                <a:sym typeface="Wingdings" pitchFamily="2" charset="2"/>
              </a:rPr>
              <a:t>of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the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elliptic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curve</a:t>
            </a:r>
            <a:endParaRPr lang="de-DE" altLang="de-DE" sz="14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§"/>
            </a:pPr>
            <a:r>
              <a:rPr lang="de-DE" altLang="de-DE" sz="1400" dirty="0" err="1">
                <a:sym typeface="Wingdings" pitchFamily="2" charset="2"/>
              </a:rPr>
              <a:t>For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each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point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i="1" dirty="0">
                <a:sym typeface="Wingdings" pitchFamily="2" charset="2"/>
              </a:rPr>
              <a:t>P =(</a:t>
            </a:r>
            <a:r>
              <a:rPr lang="de-DE" altLang="de-DE" sz="1400" i="1" dirty="0" err="1">
                <a:sym typeface="Wingdings" pitchFamily="2" charset="2"/>
              </a:rPr>
              <a:t>x,y</a:t>
            </a:r>
            <a:r>
              <a:rPr lang="de-DE" altLang="de-DE" sz="1400" i="1" dirty="0">
                <a:sym typeface="Wingdings" pitchFamily="2" charset="2"/>
              </a:rPr>
              <a:t>),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the</a:t>
            </a:r>
            <a:r>
              <a:rPr lang="de-DE" altLang="de-DE" sz="1400" dirty="0">
                <a:sym typeface="Wingdings" pitchFamily="2" charset="2"/>
              </a:rPr>
              <a:t> inverse </a:t>
            </a:r>
            <a:r>
              <a:rPr lang="de-DE" altLang="de-DE" sz="1400" dirty="0" err="1">
                <a:sym typeface="Wingdings" pitchFamily="2" charset="2"/>
              </a:rPr>
              <a:t>or</a:t>
            </a:r>
            <a:r>
              <a:rPr lang="de-DE" altLang="de-DE" sz="1400" dirty="0">
                <a:sym typeface="Wingdings" pitchFamily="2" charset="2"/>
              </a:rPr>
              <a:t> negative </a:t>
            </a:r>
            <a:r>
              <a:rPr lang="de-DE" altLang="de-DE" sz="1400" dirty="0" err="1">
                <a:sym typeface="Wingdings" pitchFamily="2" charset="2"/>
              </a:rPr>
              <a:t>point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is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defined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dirty="0" err="1">
                <a:sym typeface="Wingdings" pitchFamily="2" charset="2"/>
              </a:rPr>
              <a:t>as</a:t>
            </a:r>
            <a:r>
              <a:rPr lang="de-DE" altLang="de-DE" sz="1400" dirty="0">
                <a:sym typeface="Wingdings" pitchFamily="2" charset="2"/>
              </a:rPr>
              <a:t> </a:t>
            </a:r>
            <a:r>
              <a:rPr lang="de-DE" altLang="de-DE" sz="1400" i="1" dirty="0">
                <a:sym typeface="Wingdings" pitchFamily="2" charset="2"/>
              </a:rPr>
              <a:t>-P =(x,-</a:t>
            </a:r>
            <a:r>
              <a:rPr lang="de-DE" altLang="de-DE" sz="1400" i="1" dirty="0" err="1">
                <a:sym typeface="Wingdings" pitchFamily="2" charset="2"/>
              </a:rPr>
              <a:t>y</a:t>
            </a:r>
            <a:r>
              <a:rPr lang="de-DE" altLang="de-DE" sz="1400" i="1" dirty="0">
                <a:sym typeface="Wingdings" pitchFamily="2" charset="2"/>
              </a:rPr>
              <a:t>)</a:t>
            </a:r>
            <a:r>
              <a:rPr lang="de-DE" altLang="de-DE" sz="1400" dirty="0">
                <a:sym typeface="Wingdings" pitchFamily="2" charset="2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endParaRPr lang="de-DE" altLang="de-DE" sz="1400" dirty="0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75FB61E6-C92F-984B-DEFA-499E7AB3B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17700"/>
            <a:ext cx="381635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graphicFrame>
        <p:nvGraphicFramePr>
          <p:cNvPr id="18440" name="Object 11">
            <a:extLst>
              <a:ext uri="{FF2B5EF4-FFF2-40B4-BE49-F238E27FC236}">
                <a16:creationId xmlns:a16="http://schemas.microsoft.com/office/drawing/2014/main" id="{11EDAB61-CE63-BF5A-97E1-9C6076EBD566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481763" y="2039938"/>
          <a:ext cx="4318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4" imgW="2628900" imgH="4978400" progId="Equation.3">
                  <p:embed/>
                </p:oleObj>
              </mc:Choice>
              <mc:Fallback>
                <p:oleObj name="Formel" r:id="rId4" imgW="2628900" imgH="4978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2039938"/>
                        <a:ext cx="4318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Oval 14">
            <a:extLst>
              <a:ext uri="{FF2B5EF4-FFF2-40B4-BE49-F238E27FC236}">
                <a16:creationId xmlns:a16="http://schemas.microsoft.com/office/drawing/2014/main" id="{A65A22FE-FBF7-254A-65E1-2880C9EEE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425" y="3660775"/>
            <a:ext cx="73025" cy="793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18444" name="Oval 16">
            <a:extLst>
              <a:ext uri="{FF2B5EF4-FFF2-40B4-BE49-F238E27FC236}">
                <a16:creationId xmlns:a16="http://schemas.microsoft.com/office/drawing/2014/main" id="{CE19C29A-5A4B-6375-4415-42A517EA3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600" y="2865438"/>
            <a:ext cx="73025" cy="793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18445" name="Oval 17">
            <a:extLst>
              <a:ext uri="{FF2B5EF4-FFF2-40B4-BE49-F238E27FC236}">
                <a16:creationId xmlns:a16="http://schemas.microsoft.com/office/drawing/2014/main" id="{3DDFBD61-A700-A8E7-C44F-CEAB35826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4457700"/>
            <a:ext cx="73025" cy="793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18446" name="Line 18">
            <a:extLst>
              <a:ext uri="{FF2B5EF4-FFF2-40B4-BE49-F238E27FC236}">
                <a16:creationId xmlns:a16="http://schemas.microsoft.com/office/drawing/2014/main" id="{3A8DCD4B-2587-CBB7-2C4C-421EE1165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938" y="2505075"/>
            <a:ext cx="0" cy="24828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8447" name="Rectangle 19">
            <a:extLst>
              <a:ext uri="{FF2B5EF4-FFF2-40B4-BE49-F238E27FC236}">
                <a16:creationId xmlns:a16="http://schemas.microsoft.com/office/drawing/2014/main" id="{877D8739-5E81-F8BE-F9CE-6F064BE8F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2676525"/>
            <a:ext cx="134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600" i="1"/>
              <a:t>P</a:t>
            </a:r>
          </a:p>
        </p:txBody>
      </p:sp>
      <p:sp>
        <p:nvSpPr>
          <p:cNvPr id="18448" name="Rectangle 20">
            <a:extLst>
              <a:ext uri="{FF2B5EF4-FFF2-40B4-BE49-F238E27FC236}">
                <a16:creationId xmlns:a16="http://schemas.microsoft.com/office/drawing/2014/main" id="{80575728-3469-F00E-FA21-5A7B54208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4484688"/>
            <a:ext cx="203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600" i="1"/>
              <a:t>-P</a:t>
            </a:r>
          </a:p>
        </p:txBody>
      </p:sp>
      <p:graphicFrame>
        <p:nvGraphicFramePr>
          <p:cNvPr id="18449" name="Object 21">
            <a:extLst>
              <a:ext uri="{FF2B5EF4-FFF2-40B4-BE49-F238E27FC236}">
                <a16:creationId xmlns:a16="http://schemas.microsoft.com/office/drawing/2014/main" id="{BF019ADE-16B2-9F31-DE20-77C3215917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278521"/>
              </p:ext>
            </p:extLst>
          </p:nvPr>
        </p:nvGraphicFramePr>
        <p:xfrm>
          <a:off x="1671554" y="2266700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6" imgW="2921000" imgH="2921000" progId="Equation.3">
                  <p:embed/>
                </p:oleObj>
              </mc:Choice>
              <mc:Fallback>
                <p:oleObj name="Formel" r:id="rId6" imgW="2921000" imgH="29210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554" y="2266700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Rectangle 23">
            <a:extLst>
              <a:ext uri="{FF2B5EF4-FFF2-40B4-BE49-F238E27FC236}">
                <a16:creationId xmlns:a16="http://schemas.microsoft.com/office/drawing/2014/main" id="{E944F575-AE68-B499-7EEF-E81C94BF0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418" y="1147763"/>
            <a:ext cx="63023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 i="1" dirty="0" err="1"/>
              <a:t>point</a:t>
            </a:r>
            <a:r>
              <a:rPr lang="de-DE" altLang="de-DE" sz="1400" i="1" dirty="0"/>
              <a:t> at </a:t>
            </a:r>
          </a:p>
          <a:p>
            <a:r>
              <a:rPr lang="de-DE" altLang="de-DE" sz="1400" i="1" dirty="0" err="1"/>
              <a:t>infinity</a:t>
            </a:r>
            <a:endParaRPr lang="de-DE" altLang="de-DE" sz="1400" i="1" dirty="0"/>
          </a:p>
        </p:txBody>
      </p:sp>
      <p:sp>
        <p:nvSpPr>
          <p:cNvPr id="18452" name="Foliennummernplatzhalter 2">
            <a:extLst>
              <a:ext uri="{FF2B5EF4-FFF2-40B4-BE49-F238E27FC236}">
                <a16:creationId xmlns:a16="http://schemas.microsoft.com/office/drawing/2014/main" id="{DAE170FB-DC35-14F9-9C85-F67992EC2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02321C-D480-0F4E-B8DD-679587BFB1CC}" type="slidenum">
              <a:rPr lang="de-DE" altLang="de-DE">
                <a:solidFill>
                  <a:srgbClr val="394073"/>
                </a:solidFill>
              </a:rPr>
              <a:pPr/>
              <a:t>8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E1775BA5-2423-4DC6-7469-F7279B3AF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300" y="1413960"/>
            <a:ext cx="123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l-GR" altLang="de-DE" i="1" dirty="0"/>
              <a:t>θ</a:t>
            </a:r>
            <a:endParaRPr lang="de-DE" altLang="de-DE" i="1" dirty="0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B627879D-0680-2FF0-BBAA-4E16D5E50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279" y="5633033"/>
            <a:ext cx="123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l-GR" altLang="de-DE" i="1" dirty="0"/>
              <a:t>θ</a:t>
            </a:r>
            <a:endParaRPr lang="de-DE" altLang="de-DE" i="1" dirty="0"/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BE3CEC2D-74A3-62D3-5926-A4074EAF5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563" y="5592343"/>
            <a:ext cx="63023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 i="1" dirty="0" err="1"/>
              <a:t>point</a:t>
            </a:r>
            <a:r>
              <a:rPr lang="de-DE" altLang="de-DE" sz="1400" i="1" dirty="0"/>
              <a:t> at </a:t>
            </a:r>
          </a:p>
          <a:p>
            <a:r>
              <a:rPr lang="de-DE" altLang="de-DE" sz="1400" i="1" dirty="0" err="1"/>
              <a:t>infinity</a:t>
            </a:r>
            <a:endParaRPr lang="de-DE" altLang="de-DE" sz="1400" i="1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ußzeilenplatzhalter 4">
            <a:extLst>
              <a:ext uri="{FF2B5EF4-FFF2-40B4-BE49-F238E27FC236}">
                <a16:creationId xmlns:a16="http://schemas.microsoft.com/office/drawing/2014/main" id="{D6B9289A-8104-7821-E357-24FF9E739D00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20483" name="Rectangle 12">
            <a:extLst>
              <a:ext uri="{FF2B5EF4-FFF2-40B4-BE49-F238E27FC236}">
                <a16:creationId xmlns:a16="http://schemas.microsoft.com/office/drawing/2014/main" id="{C773F0C9-5A9B-E14B-F01D-8A3AFDDA1A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Computations on Elliptic Curves (ctd.)</a:t>
            </a:r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7F9B174F-C7E7-0B36-D58B-D292D0053DF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6430962" cy="3741737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/>
              <a:t>Generating a </a:t>
            </a:r>
            <a:r>
              <a:rPr lang="de-DE" altLang="de-DE" i="1"/>
              <a:t>group of points</a:t>
            </a:r>
            <a:r>
              <a:rPr lang="de-DE" altLang="de-DE"/>
              <a:t> on elliptic curves </a:t>
            </a:r>
            <a:br>
              <a:rPr lang="de-DE" altLang="de-DE"/>
            </a:br>
            <a:r>
              <a:rPr lang="de-DE" altLang="de-DE"/>
              <a:t>based on point addition operation </a:t>
            </a:r>
            <a:r>
              <a:rPr lang="de-DE" altLang="de-DE" i="1"/>
              <a:t>P+Q = R, i.e.,</a:t>
            </a:r>
            <a:br>
              <a:rPr lang="de-DE" altLang="de-DE" i="1"/>
            </a:br>
            <a:r>
              <a:rPr lang="de-DE" altLang="de-DE" i="1"/>
              <a:t> (x</a:t>
            </a:r>
            <a:r>
              <a:rPr lang="de-DE" altLang="de-DE" i="1" baseline="-25000"/>
              <a:t>P</a:t>
            </a:r>
            <a:r>
              <a:rPr lang="de-DE" altLang="de-DE" i="1"/>
              <a:t>,y</a:t>
            </a:r>
            <a:r>
              <a:rPr lang="de-DE" altLang="de-DE" i="1" baseline="-25000"/>
              <a:t>P</a:t>
            </a:r>
            <a:r>
              <a:rPr lang="de-DE" altLang="de-DE" i="1"/>
              <a:t>)+(x</a:t>
            </a:r>
            <a:r>
              <a:rPr lang="de-DE" altLang="de-DE" i="1" baseline="-25000"/>
              <a:t>Q</a:t>
            </a:r>
            <a:r>
              <a:rPr lang="de-DE" altLang="de-DE" i="1"/>
              <a:t>,y</a:t>
            </a:r>
            <a:r>
              <a:rPr lang="de-DE" altLang="de-DE" i="1" baseline="-25000"/>
              <a:t>Q</a:t>
            </a:r>
            <a:r>
              <a:rPr lang="de-DE" altLang="de-DE" i="1"/>
              <a:t>) = (x</a:t>
            </a:r>
            <a:r>
              <a:rPr lang="de-DE" altLang="de-DE" i="1" baseline="-25000"/>
              <a:t>R</a:t>
            </a:r>
            <a:r>
              <a:rPr lang="de-DE" altLang="de-DE" i="1"/>
              <a:t>,y</a:t>
            </a:r>
            <a:r>
              <a:rPr lang="de-DE" altLang="de-DE" i="1" baseline="-25000"/>
              <a:t>R</a:t>
            </a:r>
            <a:r>
              <a:rPr lang="de-DE" altLang="de-DE" i="1"/>
              <a:t>)</a:t>
            </a:r>
          </a:p>
          <a:p>
            <a:pPr>
              <a:buFont typeface="Wingdings" pitchFamily="2" charset="2"/>
              <a:buChar char="§"/>
            </a:pPr>
            <a:r>
              <a:rPr lang="de-DE" altLang="de-DE"/>
              <a:t>Geometric Interpretation of point addition operation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i="1"/>
              <a:t>Draw straight line through P and Q; if P=Q use</a:t>
            </a:r>
            <a:br>
              <a:rPr lang="de-DE" altLang="de-DE" i="1"/>
            </a:br>
            <a:r>
              <a:rPr lang="de-DE" altLang="de-DE" i="1"/>
              <a:t>tangent line instead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i="1"/>
              <a:t>Mirror third intersection point of drawn line with </a:t>
            </a:r>
            <a:br>
              <a:rPr lang="de-DE" altLang="de-DE" i="1"/>
            </a:br>
            <a:r>
              <a:rPr lang="de-DE" altLang="de-DE" i="1"/>
              <a:t>the elliptic curve along the x-axis</a:t>
            </a:r>
          </a:p>
          <a:p>
            <a:pPr>
              <a:buFont typeface="Wingdings" pitchFamily="2" charset="2"/>
              <a:buChar char="§"/>
            </a:pPr>
            <a:r>
              <a:rPr lang="de-DE" altLang="de-DE"/>
              <a:t>Elliptic Curve Point Addition and Doubling Formulas</a:t>
            </a:r>
          </a:p>
          <a:p>
            <a:pPr>
              <a:buFont typeface="Wingdings" pitchFamily="2" charset="2"/>
              <a:buChar char="§"/>
            </a:pPr>
            <a:endParaRPr lang="de-DE" altLang="de-DE"/>
          </a:p>
          <a:p>
            <a:pPr>
              <a:buFont typeface="Wingdings" pitchFamily="2" charset="2"/>
              <a:buChar char="§"/>
            </a:pPr>
            <a:endParaRPr lang="de-DE" altLang="de-DE" i="1"/>
          </a:p>
        </p:txBody>
      </p:sp>
      <p:sp>
        <p:nvSpPr>
          <p:cNvPr id="20485" name="Rectangle 6">
            <a:extLst>
              <a:ext uri="{FF2B5EF4-FFF2-40B4-BE49-F238E27FC236}">
                <a16:creationId xmlns:a16="http://schemas.microsoft.com/office/drawing/2014/main" id="{156D94D5-B0D7-AC8A-1A29-6BEC0D818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060575"/>
            <a:ext cx="381635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pic>
        <p:nvPicPr>
          <p:cNvPr id="20486" name="Picture 7">
            <a:extLst>
              <a:ext uri="{FF2B5EF4-FFF2-40B4-BE49-F238E27FC236}">
                <a16:creationId xmlns:a16="http://schemas.microsoft.com/office/drawing/2014/main" id="{8CE06D80-3016-F289-A5D5-B5FB30A17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052513"/>
            <a:ext cx="2128838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Text Box 8">
            <a:extLst>
              <a:ext uri="{FF2B5EF4-FFF2-40B4-BE49-F238E27FC236}">
                <a16:creationId xmlns:a16="http://schemas.microsoft.com/office/drawing/2014/main" id="{002DE773-FC51-BE07-3449-9F8610797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100" y="1914525"/>
            <a:ext cx="10461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200" b="1"/>
              <a:t>Point Addition</a:t>
            </a:r>
          </a:p>
        </p:txBody>
      </p:sp>
      <p:pic>
        <p:nvPicPr>
          <p:cNvPr id="20488" name="Picture 9">
            <a:extLst>
              <a:ext uri="{FF2B5EF4-FFF2-40B4-BE49-F238E27FC236}">
                <a16:creationId xmlns:a16="http://schemas.microsoft.com/office/drawing/2014/main" id="{AE7D9850-73EC-39AD-3863-954904A21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163" y="3716338"/>
            <a:ext cx="2101850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9" name="Text Box 10">
            <a:extLst>
              <a:ext uri="{FF2B5EF4-FFF2-40B4-BE49-F238E27FC236}">
                <a16:creationId xmlns:a16="http://schemas.microsoft.com/office/drawing/2014/main" id="{6CE4DD65-6B4C-AFC3-4706-D9896A1FA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025" y="4578350"/>
            <a:ext cx="108902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200" b="1"/>
              <a:t>Point Doubling</a:t>
            </a:r>
          </a:p>
        </p:txBody>
      </p:sp>
      <p:sp>
        <p:nvSpPr>
          <p:cNvPr id="20490" name="Rectangle 11">
            <a:extLst>
              <a:ext uri="{FF2B5EF4-FFF2-40B4-BE49-F238E27FC236}">
                <a16:creationId xmlns:a16="http://schemas.microsoft.com/office/drawing/2014/main" id="{CC807844-20B0-E4EB-8A83-9B1281E8C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365625"/>
            <a:ext cx="4370388" cy="1866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0491" name="Text Box 14">
            <a:extLst>
              <a:ext uri="{FF2B5EF4-FFF2-40B4-BE49-F238E27FC236}">
                <a16:creationId xmlns:a16="http://schemas.microsoft.com/office/drawing/2014/main" id="{8B94C267-218E-C843-A9B5-C46537544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4459288"/>
            <a:ext cx="4344988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 i="1"/>
              <a:t>x</a:t>
            </a:r>
            <a:r>
              <a:rPr lang="de-DE" altLang="de-DE" sz="1400" i="1" baseline="-25000"/>
              <a:t>3</a:t>
            </a:r>
            <a:r>
              <a:rPr lang="de-DE" altLang="de-DE" sz="1400" i="1"/>
              <a:t> = s</a:t>
            </a:r>
            <a:r>
              <a:rPr lang="de-DE" altLang="de-DE" sz="1400" i="1" baseline="30000"/>
              <a:t>2</a:t>
            </a:r>
            <a:r>
              <a:rPr lang="de-DE" altLang="de-DE" sz="1400" i="1"/>
              <a:t> −x</a:t>
            </a:r>
            <a:r>
              <a:rPr lang="de-DE" altLang="de-DE" sz="1400" i="1" baseline="-25000"/>
              <a:t>1</a:t>
            </a:r>
            <a:r>
              <a:rPr lang="de-DE" altLang="de-DE" sz="1400" i="1"/>
              <a:t>−x</a:t>
            </a:r>
            <a:r>
              <a:rPr lang="de-DE" altLang="de-DE" sz="1400" i="1" baseline="-25000"/>
              <a:t>2</a:t>
            </a:r>
            <a:r>
              <a:rPr lang="de-DE" altLang="de-DE" sz="1400" i="1"/>
              <a:t> mod p  </a:t>
            </a:r>
            <a:r>
              <a:rPr lang="de-DE" altLang="de-DE" sz="1400"/>
              <a:t>and</a:t>
            </a:r>
            <a:r>
              <a:rPr lang="de-DE" altLang="de-DE" sz="1400" i="1"/>
              <a:t>  y</a:t>
            </a:r>
            <a:r>
              <a:rPr lang="de-DE" altLang="de-DE" sz="1400" i="1" baseline="-25000"/>
              <a:t>3</a:t>
            </a:r>
            <a:r>
              <a:rPr lang="de-DE" altLang="de-DE" sz="1400" i="1"/>
              <a:t> = s(x</a:t>
            </a:r>
            <a:r>
              <a:rPr lang="de-DE" altLang="de-DE" sz="1400" i="1" baseline="-25000"/>
              <a:t>1</a:t>
            </a:r>
            <a:r>
              <a:rPr lang="de-DE" altLang="de-DE" sz="1400" i="1"/>
              <a:t> −x</a:t>
            </a:r>
            <a:r>
              <a:rPr lang="de-DE" altLang="de-DE" sz="1400" i="1" baseline="-25000"/>
              <a:t>3</a:t>
            </a:r>
            <a:r>
              <a:rPr lang="de-DE" altLang="de-DE" sz="1400" i="1"/>
              <a:t>)−y</a:t>
            </a:r>
            <a:r>
              <a:rPr lang="de-DE" altLang="de-DE" sz="1400" i="1" baseline="-25000"/>
              <a:t>1</a:t>
            </a:r>
            <a:r>
              <a:rPr lang="de-DE" altLang="de-DE" sz="1400" i="1"/>
              <a:t> mod p</a:t>
            </a:r>
          </a:p>
          <a:p>
            <a:endParaRPr lang="de-DE" altLang="de-DE" sz="1400" i="1"/>
          </a:p>
          <a:p>
            <a:r>
              <a:rPr lang="de-DE" altLang="de-DE" sz="1400" i="1"/>
              <a:t>where</a:t>
            </a:r>
          </a:p>
          <a:p>
            <a:endParaRPr lang="de-DE" altLang="de-DE" sz="1400" i="1"/>
          </a:p>
          <a:p>
            <a:endParaRPr lang="de-DE" altLang="de-DE" sz="1400" i="1"/>
          </a:p>
          <a:p>
            <a:r>
              <a:rPr lang="de-DE" altLang="de-DE" sz="1400" i="1"/>
              <a:t>s = </a:t>
            </a:r>
          </a:p>
          <a:p>
            <a:endParaRPr lang="de-DE" altLang="de-DE" sz="1400" i="1"/>
          </a:p>
          <a:p>
            <a:endParaRPr lang="de-DE" altLang="de-DE" sz="1400" i="1"/>
          </a:p>
        </p:txBody>
      </p:sp>
      <p:sp>
        <p:nvSpPr>
          <p:cNvPr id="20492" name="AutoShape 15">
            <a:extLst>
              <a:ext uri="{FF2B5EF4-FFF2-40B4-BE49-F238E27FC236}">
                <a16:creationId xmlns:a16="http://schemas.microsoft.com/office/drawing/2014/main" id="{0C7F28C2-8BC6-6FA7-CB45-816CD4DC5CD4}"/>
              </a:ext>
            </a:extLst>
          </p:cNvPr>
          <p:cNvSpPr>
            <a:spLocks/>
          </p:cNvSpPr>
          <p:nvPr/>
        </p:nvSpPr>
        <p:spPr bwMode="auto">
          <a:xfrm>
            <a:off x="1668463" y="5251450"/>
            <a:ext cx="96837" cy="863600"/>
          </a:xfrm>
          <a:prstGeom prst="leftBrace">
            <a:avLst>
              <a:gd name="adj1" fmla="val 743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graphicFrame>
        <p:nvGraphicFramePr>
          <p:cNvPr id="20493" name="Object 16">
            <a:extLst>
              <a:ext uri="{FF2B5EF4-FFF2-40B4-BE49-F238E27FC236}">
                <a16:creationId xmlns:a16="http://schemas.microsoft.com/office/drawing/2014/main" id="{19C1E0C2-7AB1-4B4E-E7E9-AD27E21675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613" y="150813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5" imgW="2628900" imgH="4978400" progId="Equation.3">
                  <p:embed/>
                </p:oleObj>
              </mc:Choice>
              <mc:Fallback>
                <p:oleObj name="Formel" r:id="rId5" imgW="2628900" imgH="4978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150813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8">
            <a:extLst>
              <a:ext uri="{FF2B5EF4-FFF2-40B4-BE49-F238E27FC236}">
                <a16:creationId xmlns:a16="http://schemas.microsoft.com/office/drawing/2014/main" id="{44ED8358-A719-7F60-BC5C-AD3E073337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8255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7" imgW="2628900" imgH="4978400" progId="Equation.3">
                  <p:embed/>
                </p:oleObj>
              </mc:Choice>
              <mc:Fallback>
                <p:oleObj name="Formel" r:id="rId7" imgW="2628900" imgH="4978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8255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20">
            <a:extLst>
              <a:ext uri="{FF2B5EF4-FFF2-40B4-BE49-F238E27FC236}">
                <a16:creationId xmlns:a16="http://schemas.microsoft.com/office/drawing/2014/main" id="{61E1CD9E-227E-38B5-7038-96BECB9CA84A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855788" y="5160963"/>
          <a:ext cx="10652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8" imgW="20777200" imgH="9067800" progId="Equation.3">
                  <p:embed/>
                </p:oleObj>
              </mc:Choice>
              <mc:Fallback>
                <p:oleObj name="Formel" r:id="rId8" imgW="20777200" imgH="9067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5160963"/>
                        <a:ext cx="10652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22">
            <a:extLst>
              <a:ext uri="{FF2B5EF4-FFF2-40B4-BE49-F238E27FC236}">
                <a16:creationId xmlns:a16="http://schemas.microsoft.com/office/drawing/2014/main" id="{26B433FA-780B-4433-71E9-9B7749C188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6100" y="5618163"/>
          <a:ext cx="110966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10" imgW="21653500" imgH="10236200" progId="Equation.3">
                  <p:embed/>
                </p:oleObj>
              </mc:Choice>
              <mc:Fallback>
                <p:oleObj name="Formel" r:id="rId10" imgW="21653500" imgH="10236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5618163"/>
                        <a:ext cx="1109663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7" name="Text Box 23">
            <a:extLst>
              <a:ext uri="{FF2B5EF4-FFF2-40B4-BE49-F238E27FC236}">
                <a16:creationId xmlns:a16="http://schemas.microsoft.com/office/drawing/2014/main" id="{1F7C830A-7DB4-5B1E-581E-1E7F7D565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6725" y="5289550"/>
            <a:ext cx="19097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/>
              <a:t>; if P </a:t>
            </a:r>
            <a:r>
              <a:rPr lang="de-DE" altLang="de-DE" sz="1400">
                <a:cs typeface="Arial" panose="020B0604020202020204" pitchFamily="34" charset="0"/>
              </a:rPr>
              <a:t>≠ Q (point addition)</a:t>
            </a:r>
          </a:p>
        </p:txBody>
      </p:sp>
      <p:sp>
        <p:nvSpPr>
          <p:cNvPr id="20498" name="Text Box 24">
            <a:extLst>
              <a:ext uri="{FF2B5EF4-FFF2-40B4-BE49-F238E27FC236}">
                <a16:creationId xmlns:a16="http://schemas.microsoft.com/office/drawing/2014/main" id="{B361B259-06B7-2AA6-B9BA-0B6AEF295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613" y="5751513"/>
            <a:ext cx="19653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/>
              <a:t>; if P </a:t>
            </a:r>
            <a:r>
              <a:rPr lang="de-DE" altLang="de-DE" sz="1400">
                <a:cs typeface="Arial" panose="020B0604020202020204" pitchFamily="34" charset="0"/>
              </a:rPr>
              <a:t>= Q (point doubling)</a:t>
            </a:r>
          </a:p>
        </p:txBody>
      </p:sp>
      <p:sp>
        <p:nvSpPr>
          <p:cNvPr id="20499" name="Text Box 25">
            <a:extLst>
              <a:ext uri="{FF2B5EF4-FFF2-40B4-BE49-F238E27FC236}">
                <a16:creationId xmlns:a16="http://schemas.microsoft.com/office/drawing/2014/main" id="{75B8C374-4ABA-6358-0EB7-4E8FBE784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665788"/>
            <a:ext cx="3937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200" i="1">
                <a:latin typeface="Times" pitchFamily="18" charset="0"/>
              </a:rPr>
              <a:t>=P+P</a:t>
            </a:r>
          </a:p>
        </p:txBody>
      </p:sp>
      <p:sp>
        <p:nvSpPr>
          <p:cNvPr id="20500" name="Foliennummernplatzhalter 2">
            <a:extLst>
              <a:ext uri="{FF2B5EF4-FFF2-40B4-BE49-F238E27FC236}">
                <a16:creationId xmlns:a16="http://schemas.microsoft.com/office/drawing/2014/main" id="{A6891974-7B19-439F-563A-DD70DC6B2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F100E8-1B88-214C-AA9E-4B20D30DCCBA}" type="slidenum">
              <a:rPr lang="de-DE" altLang="de-DE">
                <a:solidFill>
                  <a:srgbClr val="394073"/>
                </a:solidFill>
              </a:rPr>
              <a:pPr/>
              <a:t>9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D9503DA-1C44-3344-6263-4BEA9C85B8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Computations on Elliptic Curves (ctd.)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6397749-7D16-F651-538A-A514F165475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7264400" cy="4524375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sz="1800" b="1"/>
              <a:t>Example</a:t>
            </a:r>
            <a:r>
              <a:rPr lang="de-DE" altLang="de-DE" sz="1800"/>
              <a:t>: Given </a:t>
            </a:r>
            <a:r>
              <a:rPr lang="de-DE" altLang="de-DE" sz="1800" i="1"/>
              <a:t>E: y</a:t>
            </a:r>
            <a:r>
              <a:rPr lang="de-DE" altLang="de-DE" sz="1800" i="1" baseline="30000"/>
              <a:t>2</a:t>
            </a:r>
            <a:r>
              <a:rPr lang="de-DE" altLang="de-DE" sz="1800" i="1"/>
              <a:t> = x</a:t>
            </a:r>
            <a:r>
              <a:rPr lang="de-DE" altLang="de-DE" sz="1800" i="1" baseline="30000"/>
              <a:t>3</a:t>
            </a:r>
            <a:r>
              <a:rPr lang="de-DE" altLang="de-DE" sz="1800" i="1"/>
              <a:t>+2x+2 mod 17</a:t>
            </a:r>
            <a:r>
              <a:rPr lang="de-DE" altLang="de-DE" sz="1800"/>
              <a:t> and point </a:t>
            </a:r>
            <a:r>
              <a:rPr lang="de-DE" altLang="de-DE" sz="1800" i="1"/>
              <a:t>P=(5,1)</a:t>
            </a:r>
            <a:br>
              <a:rPr lang="de-DE" altLang="de-DE" sz="1800"/>
            </a:br>
            <a:r>
              <a:rPr lang="de-DE" altLang="de-DE" sz="1800" b="1"/>
              <a:t>Goal:</a:t>
            </a:r>
            <a:r>
              <a:rPr lang="de-DE" altLang="de-DE" sz="1800"/>
              <a:t> Compute </a:t>
            </a:r>
            <a:r>
              <a:rPr lang="de-DE" altLang="de-DE" sz="1800" i="1"/>
              <a:t>2P = P+P = (5,1)+(5,1)= (x</a:t>
            </a:r>
            <a:r>
              <a:rPr lang="de-DE" altLang="de-DE" sz="1800" i="1" baseline="-25000"/>
              <a:t>3</a:t>
            </a:r>
            <a:r>
              <a:rPr lang="de-DE" altLang="de-DE" sz="1800" i="1"/>
              <a:t>,y</a:t>
            </a:r>
            <a:r>
              <a:rPr lang="de-DE" altLang="de-DE" sz="1800" i="1" baseline="-25000"/>
              <a:t>3</a:t>
            </a:r>
            <a:r>
              <a:rPr lang="de-DE" altLang="de-DE" sz="1800" i="1"/>
              <a:t>)</a:t>
            </a:r>
            <a:br>
              <a:rPr lang="de-DE" altLang="de-DE" sz="1800" i="1"/>
            </a:br>
            <a:endParaRPr lang="de-DE" altLang="de-DE" sz="1800" i="1"/>
          </a:p>
          <a:p>
            <a:pPr>
              <a:buFont typeface="Wingdings" pitchFamily="2" charset="2"/>
              <a:buChar char="§"/>
            </a:pPr>
            <a:endParaRPr lang="de-DE" altLang="de-DE" sz="1800" i="1"/>
          </a:p>
          <a:p>
            <a:pPr>
              <a:buFont typeface="Wingdings" pitchFamily="2" charset="2"/>
              <a:buNone/>
            </a:pPr>
            <a:r>
              <a:rPr lang="de-DE" altLang="de-DE" sz="1800" i="1"/>
              <a:t>		s =            = (2 · 1)</a:t>
            </a:r>
            <a:r>
              <a:rPr lang="de-DE" altLang="de-DE" sz="1800" i="1" baseline="30000"/>
              <a:t>−1</a:t>
            </a:r>
            <a:r>
              <a:rPr lang="de-DE" altLang="de-DE" sz="1800" i="1"/>
              <a:t>(3 · 5</a:t>
            </a:r>
            <a:r>
              <a:rPr lang="de-DE" altLang="de-DE" sz="1800" i="1" baseline="30000"/>
              <a:t>2 </a:t>
            </a:r>
            <a:r>
              <a:rPr lang="de-DE" altLang="de-DE" sz="1800" i="1"/>
              <a:t>+ 2) = 2</a:t>
            </a:r>
            <a:r>
              <a:rPr lang="de-DE" altLang="de-DE" sz="1800" i="1" baseline="30000"/>
              <a:t>−1</a:t>
            </a:r>
            <a:r>
              <a:rPr lang="de-DE" altLang="de-DE" sz="1800" i="1"/>
              <a:t> · 9 ≡ 9 · 9 ≡ 13 mod 17</a:t>
            </a:r>
            <a:br>
              <a:rPr lang="de-DE" altLang="de-DE" sz="1800" i="1"/>
            </a:br>
            <a:endParaRPr lang="de-DE" altLang="de-DE" sz="1800" i="1"/>
          </a:p>
          <a:p>
            <a:pPr>
              <a:buFont typeface="Wingdings" pitchFamily="2" charset="2"/>
              <a:buNone/>
            </a:pPr>
            <a:r>
              <a:rPr lang="de-DE" altLang="de-DE" sz="1800" i="1"/>
              <a:t>		x</a:t>
            </a:r>
            <a:r>
              <a:rPr lang="de-DE" altLang="de-DE" sz="1800" i="1" baseline="-25000"/>
              <a:t>3</a:t>
            </a:r>
            <a:r>
              <a:rPr lang="de-DE" altLang="de-DE" sz="1800" i="1"/>
              <a:t> = s</a:t>
            </a:r>
            <a:r>
              <a:rPr lang="de-DE" altLang="de-DE" sz="1800" i="1" baseline="30000"/>
              <a:t>2 </a:t>
            </a:r>
            <a:r>
              <a:rPr lang="de-DE" altLang="de-DE" sz="1800" i="1"/>
              <a:t>− x</a:t>
            </a:r>
            <a:r>
              <a:rPr lang="de-DE" altLang="de-DE" sz="1800" i="1" baseline="-25000"/>
              <a:t>1 </a:t>
            </a:r>
            <a:r>
              <a:rPr lang="de-DE" altLang="de-DE" sz="1800" i="1"/>
              <a:t>− x</a:t>
            </a:r>
            <a:r>
              <a:rPr lang="de-DE" altLang="de-DE" sz="1800" i="1" baseline="-25000"/>
              <a:t>2</a:t>
            </a:r>
            <a:r>
              <a:rPr lang="de-DE" altLang="de-DE" sz="1800" i="1"/>
              <a:t> = 13</a:t>
            </a:r>
            <a:r>
              <a:rPr lang="de-DE" altLang="de-DE" sz="1800" i="1" baseline="30000"/>
              <a:t>2 </a:t>
            </a:r>
            <a:r>
              <a:rPr lang="de-DE" altLang="de-DE" sz="1800" i="1"/>
              <a:t>− 5 − 5 = 159 ≡ 6 mod 17</a:t>
            </a:r>
            <a:br>
              <a:rPr lang="de-DE" altLang="de-DE" sz="1800" i="1"/>
            </a:br>
            <a:r>
              <a:rPr lang="de-DE" altLang="de-DE" sz="1800" i="1"/>
              <a:t>	y</a:t>
            </a:r>
            <a:r>
              <a:rPr lang="de-DE" altLang="de-DE" sz="1800" i="1" baseline="-25000"/>
              <a:t>3</a:t>
            </a:r>
            <a:r>
              <a:rPr lang="de-DE" altLang="de-DE" sz="1800" i="1"/>
              <a:t> = s(x</a:t>
            </a:r>
            <a:r>
              <a:rPr lang="de-DE" altLang="de-DE" sz="1800" i="1" baseline="-25000"/>
              <a:t>1</a:t>
            </a:r>
            <a:r>
              <a:rPr lang="de-DE" altLang="de-DE" sz="1800" i="1"/>
              <a:t>−x</a:t>
            </a:r>
            <a:r>
              <a:rPr lang="de-DE" altLang="de-DE" sz="1800" i="1" baseline="-25000"/>
              <a:t>3</a:t>
            </a:r>
            <a:r>
              <a:rPr lang="de-DE" altLang="de-DE" sz="1800" i="1"/>
              <a:t>) − y</a:t>
            </a:r>
            <a:r>
              <a:rPr lang="de-DE" altLang="de-DE" sz="1800" i="1" baseline="-25000"/>
              <a:t>1</a:t>
            </a:r>
            <a:r>
              <a:rPr lang="de-DE" altLang="de-DE" sz="1800" i="1"/>
              <a:t> = 13(5 − 6) − 1= −14 ≡ 3 mod 17</a:t>
            </a:r>
            <a:br>
              <a:rPr lang="de-DE" altLang="de-DE" sz="1800" i="1"/>
            </a:br>
            <a:endParaRPr lang="de-DE" altLang="de-DE" sz="1800" i="1"/>
          </a:p>
          <a:p>
            <a:pPr>
              <a:buFont typeface="Wingdings" pitchFamily="2" charset="2"/>
              <a:buNone/>
            </a:pPr>
            <a:endParaRPr lang="de-DE" altLang="de-DE" sz="1800" i="1"/>
          </a:p>
          <a:p>
            <a:pPr>
              <a:buFont typeface="Wingdings" pitchFamily="2" charset="2"/>
              <a:buNone/>
            </a:pPr>
            <a:r>
              <a:rPr lang="de-DE" altLang="de-DE" sz="1800"/>
              <a:t>	</a:t>
            </a:r>
            <a:r>
              <a:rPr lang="de-DE" altLang="de-DE" sz="1800" b="1"/>
              <a:t>Finally </a:t>
            </a:r>
            <a:r>
              <a:rPr lang="de-DE" altLang="de-DE" sz="1800" b="1" i="1"/>
              <a:t>2P = (5,1) + (5,1) = (6,3)</a:t>
            </a:r>
          </a:p>
          <a:p>
            <a:pPr>
              <a:buFont typeface="Wingdings" pitchFamily="2" charset="2"/>
              <a:buChar char="§"/>
            </a:pPr>
            <a:endParaRPr lang="de-DE" altLang="de-DE" sz="1800" b="1"/>
          </a:p>
        </p:txBody>
      </p:sp>
      <p:graphicFrame>
        <p:nvGraphicFramePr>
          <p:cNvPr id="22532" name="Object 44">
            <a:extLst>
              <a:ext uri="{FF2B5EF4-FFF2-40B4-BE49-F238E27FC236}">
                <a16:creationId xmlns:a16="http://schemas.microsoft.com/office/drawing/2014/main" id="{F285D52F-6E05-99F9-9E11-D8DE63DDEEEB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790700" y="2481263"/>
          <a:ext cx="6699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2" imgW="12001500" imgH="10236200" progId="Equation.3">
                  <p:embed/>
                </p:oleObj>
              </mc:Choice>
              <mc:Fallback>
                <p:oleObj name="Formel" r:id="rId2" imgW="12001500" imgH="102362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2481263"/>
                        <a:ext cx="6699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Fußzeilenplatzhalter 4">
            <a:extLst>
              <a:ext uri="{FF2B5EF4-FFF2-40B4-BE49-F238E27FC236}">
                <a16:creationId xmlns:a16="http://schemas.microsoft.com/office/drawing/2014/main" id="{BCD3AF2A-BA8B-EB34-0304-6C456C86EA85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5637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22534" name="Rectangle 54">
            <a:extLst>
              <a:ext uri="{FF2B5EF4-FFF2-40B4-BE49-F238E27FC236}">
                <a16:creationId xmlns:a16="http://schemas.microsoft.com/office/drawing/2014/main" id="{4ABEA552-DBDD-151C-A995-66B88EDE6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2333625"/>
            <a:ext cx="6646863" cy="1949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2535" name="Foliennummernplatzhalter 2">
            <a:extLst>
              <a:ext uri="{FF2B5EF4-FFF2-40B4-BE49-F238E27FC236}">
                <a16:creationId xmlns:a16="http://schemas.microsoft.com/office/drawing/2014/main" id="{407B91FA-945A-B5F4-E423-C8A76F51C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F7D944-7010-7945-A19C-BAE0A60B1746}" type="slidenum">
              <a:rPr lang="de-DE" altLang="de-DE">
                <a:solidFill>
                  <a:srgbClr val="394073"/>
                </a:solidFill>
              </a:rPr>
              <a:pPr/>
              <a:t>10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0F443CD-9E1E-2243-4A50-545701EDA7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Computations on Elliptic Curves (ctd.)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9CB9E11-D5C9-8F2B-C388-ED08591924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071563"/>
            <a:ext cx="8215312" cy="570706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sz="1800"/>
              <a:t>The points on an elliptic curve and the point at infinity </a:t>
            </a:r>
            <a:r>
              <a:rPr lang="el-GR" altLang="de-DE" sz="1800" i="1"/>
              <a:t>θ</a:t>
            </a:r>
            <a:r>
              <a:rPr lang="de-DE" altLang="de-DE" sz="1800"/>
              <a:t> form cyclic subgroups</a:t>
            </a:r>
            <a:br>
              <a:rPr lang="de-DE" altLang="de-DE" sz="1800"/>
            </a:br>
            <a:r>
              <a:rPr lang="de-DE" altLang="de-DE" sz="1800"/>
              <a:t>	</a:t>
            </a:r>
            <a:br>
              <a:rPr lang="de-DE" altLang="de-DE" sz="1800"/>
            </a:br>
            <a:r>
              <a:rPr lang="de-DE" altLang="de-DE" sz="1800"/>
              <a:t>	</a:t>
            </a:r>
            <a:r>
              <a:rPr lang="de-DE" altLang="de-DE" i="1"/>
              <a:t>2P = (5,1)+(5,1) = (6,3) 		11P = (13,10)</a:t>
            </a:r>
            <a:br>
              <a:rPr lang="de-DE" altLang="de-DE" i="1"/>
            </a:br>
            <a:r>
              <a:rPr lang="de-DE" altLang="de-DE" i="1"/>
              <a:t>	3P = 2P+P = (10,6) 			12P = (0,11)</a:t>
            </a:r>
            <a:br>
              <a:rPr lang="de-DE" altLang="de-DE" i="1"/>
            </a:br>
            <a:r>
              <a:rPr lang="de-DE" altLang="de-DE" i="1"/>
              <a:t>	4P = (3,1) 			13P = (16,4)</a:t>
            </a:r>
            <a:br>
              <a:rPr lang="de-DE" altLang="de-DE" i="1"/>
            </a:br>
            <a:r>
              <a:rPr lang="de-DE" altLang="de-DE" i="1"/>
              <a:t>	5P = (9,16) 			14P = (9,1)</a:t>
            </a:r>
            <a:br>
              <a:rPr lang="de-DE" altLang="de-DE" i="1"/>
            </a:br>
            <a:r>
              <a:rPr lang="de-DE" altLang="de-DE" i="1"/>
              <a:t>	6P = (16,13)			15P = (3,16)</a:t>
            </a:r>
            <a:br>
              <a:rPr lang="de-DE" altLang="de-DE" i="1"/>
            </a:br>
            <a:r>
              <a:rPr lang="de-DE" altLang="de-DE" i="1"/>
              <a:t>	7P = (0,6) 			16P = (10,11)</a:t>
            </a:r>
            <a:br>
              <a:rPr lang="de-DE" altLang="de-DE" i="1"/>
            </a:br>
            <a:r>
              <a:rPr lang="de-DE" altLang="de-DE" i="1"/>
              <a:t>	8P = (13,7) 			17P = (6,14)</a:t>
            </a:r>
            <a:br>
              <a:rPr lang="de-DE" altLang="de-DE" i="1"/>
            </a:br>
            <a:r>
              <a:rPr lang="de-DE" altLang="de-DE" i="1"/>
              <a:t>	9P = (7,6) 			18P = (5,16)</a:t>
            </a:r>
            <a:br>
              <a:rPr lang="de-DE" altLang="de-DE" i="1"/>
            </a:br>
            <a:r>
              <a:rPr lang="de-DE" altLang="de-DE" i="1"/>
              <a:t>	10P = (7,11) 			19P = </a:t>
            </a:r>
            <a:r>
              <a:rPr lang="el-GR" altLang="de-DE" sz="1800" i="1"/>
              <a:t>θ</a:t>
            </a:r>
            <a:endParaRPr lang="de-DE" altLang="de-DE" i="1"/>
          </a:p>
          <a:p>
            <a:pPr lvl="1">
              <a:buFontTx/>
              <a:buNone/>
            </a:pPr>
            <a:r>
              <a:rPr lang="de-DE" altLang="de-DE" i="1"/>
              <a:t>	</a:t>
            </a:r>
          </a:p>
          <a:p>
            <a:pPr lvl="1">
              <a:buFontTx/>
              <a:buNone/>
            </a:pPr>
            <a:r>
              <a:rPr lang="de-DE" altLang="de-DE" i="1"/>
              <a:t>	This elliptic curve has order #E = |E| = 19 since it contains </a:t>
            </a:r>
            <a:br>
              <a:rPr lang="de-DE" altLang="de-DE" i="1"/>
            </a:br>
            <a:r>
              <a:rPr lang="de-DE" altLang="de-DE" i="1"/>
              <a:t>19 points in its cyclic group.</a:t>
            </a:r>
          </a:p>
          <a:p>
            <a:endParaRPr lang="de-DE" altLang="de-DE" i="1"/>
          </a:p>
          <a:p>
            <a:endParaRPr lang="de-DE" altLang="de-DE" sz="1800"/>
          </a:p>
          <a:p>
            <a:endParaRPr lang="de-DE" altLang="de-DE"/>
          </a:p>
        </p:txBody>
      </p:sp>
      <p:grpSp>
        <p:nvGrpSpPr>
          <p:cNvPr id="23556" name="Group 24">
            <a:extLst>
              <a:ext uri="{FF2B5EF4-FFF2-40B4-BE49-F238E27FC236}">
                <a16:creationId xmlns:a16="http://schemas.microsoft.com/office/drawing/2014/main" id="{14F74105-DBAF-D6BD-4D2B-FE9232CD159D}"/>
              </a:ext>
            </a:extLst>
          </p:cNvPr>
          <p:cNvGrpSpPr>
            <a:grpSpLocks/>
          </p:cNvGrpSpPr>
          <p:nvPr/>
        </p:nvGrpSpPr>
        <p:grpSpPr bwMode="auto">
          <a:xfrm>
            <a:off x="6316663" y="2873375"/>
            <a:ext cx="2930525" cy="3624263"/>
            <a:chOff x="4542" y="2432"/>
            <a:chExt cx="1218" cy="1497"/>
          </a:xfrm>
        </p:grpSpPr>
        <p:pic>
          <p:nvPicPr>
            <p:cNvPr id="23559" name="Picture 4">
              <a:extLst>
                <a:ext uri="{FF2B5EF4-FFF2-40B4-BE49-F238E27FC236}">
                  <a16:creationId xmlns:a16="http://schemas.microsoft.com/office/drawing/2014/main" id="{72A9D51F-9E39-42DF-64E4-F5CFAAF842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2" y="2432"/>
              <a:ext cx="1218" cy="1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0" name="Oval 5">
              <a:extLst>
                <a:ext uri="{FF2B5EF4-FFF2-40B4-BE49-F238E27FC236}">
                  <a16:creationId xmlns:a16="http://schemas.microsoft.com/office/drawing/2014/main" id="{6060B390-3584-FFC5-6E19-1BEEE3B04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3" y="3330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1" name="Oval 6">
              <a:extLst>
                <a:ext uri="{FF2B5EF4-FFF2-40B4-BE49-F238E27FC236}">
                  <a16:creationId xmlns:a16="http://schemas.microsoft.com/office/drawing/2014/main" id="{479E9A38-184D-7BE5-827C-0B57D984B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3123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2" name="Oval 7">
              <a:extLst>
                <a:ext uri="{FF2B5EF4-FFF2-40B4-BE49-F238E27FC236}">
                  <a16:creationId xmlns:a16="http://schemas.microsoft.com/office/drawing/2014/main" id="{E1B8AAA2-AD98-9C74-620A-D928A9B38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" y="3223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3" name="Oval 8">
              <a:extLst>
                <a:ext uri="{FF2B5EF4-FFF2-40B4-BE49-F238E27FC236}">
                  <a16:creationId xmlns:a16="http://schemas.microsoft.com/office/drawing/2014/main" id="{59611F73-F708-5720-8019-EF4C47102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2941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4" name="Oval 9">
              <a:extLst>
                <a:ext uri="{FF2B5EF4-FFF2-40B4-BE49-F238E27FC236}">
                  <a16:creationId xmlns:a16="http://schemas.microsoft.com/office/drawing/2014/main" id="{552F56EF-A1BF-5367-6A0B-1FD4E7194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3" y="3501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5" name="Oval 10">
              <a:extLst>
                <a:ext uri="{FF2B5EF4-FFF2-40B4-BE49-F238E27FC236}">
                  <a16:creationId xmlns:a16="http://schemas.microsoft.com/office/drawing/2014/main" id="{9D6B39A2-2988-4714-8C75-6F979368A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2" y="3076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6" name="Oval 11">
              <a:extLst>
                <a:ext uri="{FF2B5EF4-FFF2-40B4-BE49-F238E27FC236}">
                  <a16:creationId xmlns:a16="http://schemas.microsoft.com/office/drawing/2014/main" id="{CD4F12AD-DF00-EB89-8E43-35139B41C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9" y="3358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7" name="Oval 12">
              <a:extLst>
                <a:ext uri="{FF2B5EF4-FFF2-40B4-BE49-F238E27FC236}">
                  <a16:creationId xmlns:a16="http://schemas.microsoft.com/office/drawing/2014/main" id="{D96F7B0A-2018-0E96-ECEF-B15F7A7F0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" y="2902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8" name="Oval 13">
              <a:extLst>
                <a:ext uri="{FF2B5EF4-FFF2-40B4-BE49-F238E27FC236}">
                  <a16:creationId xmlns:a16="http://schemas.microsoft.com/office/drawing/2014/main" id="{C7B54D5D-3C9E-6E6E-401B-EC2C2FF20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5" y="3529"/>
              <a:ext cx="27" cy="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de-DE"/>
            </a:p>
          </p:txBody>
        </p:sp>
        <p:sp>
          <p:nvSpPr>
            <p:cNvPr id="23569" name="Line 14">
              <a:extLst>
                <a:ext uri="{FF2B5EF4-FFF2-40B4-BE49-F238E27FC236}">
                  <a16:creationId xmlns:a16="http://schemas.microsoft.com/office/drawing/2014/main" id="{68E05D71-B11B-5174-F2C8-6A8DF2939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8" y="3138"/>
              <a:ext cx="528" cy="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0" name="Text Box 15">
              <a:extLst>
                <a:ext uri="{FF2B5EF4-FFF2-40B4-BE49-F238E27FC236}">
                  <a16:creationId xmlns:a16="http://schemas.microsoft.com/office/drawing/2014/main" id="{146444D4-91DF-2630-B0D2-FBD11A748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0" y="2969"/>
              <a:ext cx="42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de-DE" altLang="de-DE" sz="1200" i="1"/>
                <a:t>P</a:t>
              </a:r>
            </a:p>
          </p:txBody>
        </p:sp>
        <p:sp>
          <p:nvSpPr>
            <p:cNvPr id="23571" name="Line 16">
              <a:extLst>
                <a:ext uri="{FF2B5EF4-FFF2-40B4-BE49-F238E27FC236}">
                  <a16:creationId xmlns:a16="http://schemas.microsoft.com/office/drawing/2014/main" id="{8FE59124-FFAE-3740-0B5F-B4E8E2C015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4" y="3087"/>
              <a:ext cx="405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2" name="Line 17">
              <a:extLst>
                <a:ext uri="{FF2B5EF4-FFF2-40B4-BE49-F238E27FC236}">
                  <a16:creationId xmlns:a16="http://schemas.microsoft.com/office/drawing/2014/main" id="{FE50B143-7310-AC7D-B4BC-C9D2E9D8A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44" y="3354"/>
              <a:ext cx="519" cy="1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3" name="Line 18">
              <a:extLst>
                <a:ext uri="{FF2B5EF4-FFF2-40B4-BE49-F238E27FC236}">
                  <a16:creationId xmlns:a16="http://schemas.microsoft.com/office/drawing/2014/main" id="{3C60674E-382A-9A10-5A8E-3F6327821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6" y="2968"/>
              <a:ext cx="6" cy="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4" name="Line 19">
              <a:extLst>
                <a:ext uri="{FF2B5EF4-FFF2-40B4-BE49-F238E27FC236}">
                  <a16:creationId xmlns:a16="http://schemas.microsoft.com/office/drawing/2014/main" id="{758E8394-B57E-113C-911C-F96EE57127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68" y="2927"/>
              <a:ext cx="113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5" name="Line 20">
              <a:extLst>
                <a:ext uri="{FF2B5EF4-FFF2-40B4-BE49-F238E27FC236}">
                  <a16:creationId xmlns:a16="http://schemas.microsoft.com/office/drawing/2014/main" id="{27701B61-2D1E-C61A-7733-B6D67A598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4" y="2960"/>
              <a:ext cx="194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6" name="Line 21">
              <a:extLst>
                <a:ext uri="{FF2B5EF4-FFF2-40B4-BE49-F238E27FC236}">
                  <a16:creationId xmlns:a16="http://schemas.microsoft.com/office/drawing/2014/main" id="{4E314ECD-704F-7B07-D7C0-BC9A9B25B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" y="3339"/>
              <a:ext cx="399" cy="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7" name="Line 22">
              <a:extLst>
                <a:ext uri="{FF2B5EF4-FFF2-40B4-BE49-F238E27FC236}">
                  <a16:creationId xmlns:a16="http://schemas.microsoft.com/office/drawing/2014/main" id="{D6AEED86-7D2E-2361-07E7-D386D8407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0" y="2930"/>
              <a:ext cx="330" cy="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8" name="Text Box 23">
              <a:extLst>
                <a:ext uri="{FF2B5EF4-FFF2-40B4-BE49-F238E27FC236}">
                  <a16:creationId xmlns:a16="http://schemas.microsoft.com/office/drawing/2014/main" id="{9B7EC013-74E5-BDDA-D892-AE94022CB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3168"/>
              <a:ext cx="34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l-GR" altLang="de-DE" sz="1200" i="1">
                  <a:cs typeface="Arial" panose="020B0604020202020204" pitchFamily="34" charset="0"/>
                </a:rPr>
                <a:t>θ</a:t>
              </a:r>
            </a:p>
          </p:txBody>
        </p:sp>
      </p:grpSp>
      <p:sp>
        <p:nvSpPr>
          <p:cNvPr id="23557" name="Fußzeilenplatzhalter 3">
            <a:extLst>
              <a:ext uri="{FF2B5EF4-FFF2-40B4-BE49-F238E27FC236}">
                <a16:creationId xmlns:a16="http://schemas.microsoft.com/office/drawing/2014/main" id="{DF3A26BB-FF6D-38EC-0919-318BA22999B6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23558" name="Foliennummernplatzhalter 2">
            <a:extLst>
              <a:ext uri="{FF2B5EF4-FFF2-40B4-BE49-F238E27FC236}">
                <a16:creationId xmlns:a16="http://schemas.microsoft.com/office/drawing/2014/main" id="{22D0B5BA-1D1F-F441-5F4A-D3A54B927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0665FB-A39E-2F46-A4DF-888F63FC4792}" type="slidenum">
              <a:rPr lang="de-DE" altLang="de-DE">
                <a:solidFill>
                  <a:srgbClr val="394073"/>
                </a:solidFill>
              </a:rPr>
              <a:pPr/>
              <a:t>11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5">
            <a:extLst>
              <a:ext uri="{FF2B5EF4-FFF2-40B4-BE49-F238E27FC236}">
                <a16:creationId xmlns:a16="http://schemas.microsoft.com/office/drawing/2014/main" id="{62859C03-ED1A-285F-92B7-FE399D2E9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338" y="503238"/>
            <a:ext cx="4665662" cy="573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2">
            <a:extLst>
              <a:ext uri="{FF2B5EF4-FFF2-40B4-BE49-F238E27FC236}">
                <a16:creationId xmlns:a16="http://schemas.microsoft.com/office/drawing/2014/main" id="{6D2E6C8B-8B0C-3C9B-08CC-70ACD3A18C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Number of Points on an Elliptic Curve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F17F833-9EF2-E7D1-1EC7-8AF3EF9F28A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8208962" cy="4908550"/>
          </a:xfrm>
        </p:spPr>
        <p:txBody>
          <a:bodyPr/>
          <a:lstStyle/>
          <a:p>
            <a:r>
              <a:rPr lang="de-DE" altLang="de-DE"/>
              <a:t>How many points can be on an arbitrary elliptic curve?</a:t>
            </a:r>
          </a:p>
          <a:p>
            <a:pPr lvl="1"/>
            <a:r>
              <a:rPr lang="de-DE" altLang="de-DE"/>
              <a:t>Consider previous example: </a:t>
            </a:r>
            <a:r>
              <a:rPr lang="de-DE" altLang="de-DE" i="1"/>
              <a:t>E: y</a:t>
            </a:r>
            <a:r>
              <a:rPr lang="de-DE" altLang="de-DE" i="1" baseline="30000"/>
              <a:t>2</a:t>
            </a:r>
            <a:r>
              <a:rPr lang="de-DE" altLang="de-DE" i="1"/>
              <a:t> = x</a:t>
            </a:r>
            <a:r>
              <a:rPr lang="de-DE" altLang="de-DE" i="1" baseline="30000"/>
              <a:t>3</a:t>
            </a:r>
            <a:r>
              <a:rPr lang="de-DE" altLang="de-DE" i="1"/>
              <a:t>+2x+2 mod 17</a:t>
            </a:r>
            <a:r>
              <a:rPr lang="de-DE" altLang="de-DE"/>
              <a:t> has 19 points</a:t>
            </a:r>
          </a:p>
          <a:p>
            <a:pPr lvl="1"/>
            <a:r>
              <a:rPr lang="de-DE" altLang="de-DE"/>
              <a:t>However, determining the point count on elliptic curves in general is hard</a:t>
            </a:r>
          </a:p>
          <a:p>
            <a:r>
              <a:rPr lang="de-DE" altLang="de-DE"/>
              <a:t>But Hasse‘s theorem bounds the number of points to a restricted interval</a:t>
            </a:r>
          </a:p>
          <a:p>
            <a:endParaRPr lang="de-DE" altLang="de-DE" i="1">
              <a:cs typeface="Arial" panose="020B0604020202020204" pitchFamily="34" charset="0"/>
            </a:endParaRPr>
          </a:p>
          <a:p>
            <a:pPr lvl="2">
              <a:buFontTx/>
              <a:buNone/>
            </a:pPr>
            <a:r>
              <a:rPr lang="de-DE" altLang="de-DE"/>
              <a:t>		</a:t>
            </a:r>
            <a:r>
              <a:rPr lang="de-DE" altLang="de-DE" b="1" i="1"/>
              <a:t>Definition:</a:t>
            </a:r>
            <a:r>
              <a:rPr lang="de-DE" altLang="de-DE"/>
              <a:t> </a:t>
            </a:r>
            <a:r>
              <a:rPr lang="de-DE" altLang="de-DE" b="1" i="1"/>
              <a:t>Hasse‘s Theorem:</a:t>
            </a:r>
          </a:p>
          <a:p>
            <a:pPr lvl="2">
              <a:buFontTx/>
              <a:buNone/>
            </a:pPr>
            <a:r>
              <a:rPr lang="de-DE" altLang="de-DE"/>
              <a:t>		</a:t>
            </a:r>
            <a:r>
              <a:rPr lang="de-DE" altLang="de-DE" i="1"/>
              <a:t>Given an elliptic curve module p, the number of points </a:t>
            </a:r>
            <a:br>
              <a:rPr lang="de-DE" altLang="de-DE" i="1"/>
            </a:br>
            <a:r>
              <a:rPr lang="de-DE" altLang="de-DE" i="1"/>
              <a:t>	on the curve is denoted by #E and is bounded by</a:t>
            </a:r>
            <a:br>
              <a:rPr lang="de-DE" altLang="de-DE" i="1"/>
            </a:br>
            <a:r>
              <a:rPr lang="de-DE" altLang="de-DE" i="1"/>
              <a:t>		</a:t>
            </a:r>
            <a:r>
              <a:rPr lang="de-DE" altLang="de-DE" b="1" i="1"/>
              <a:t>p+1-2</a:t>
            </a:r>
            <a:r>
              <a:rPr lang="de-DE" altLang="de-DE" b="1" i="1">
                <a:cs typeface="Arial" panose="020B0604020202020204" pitchFamily="34" charset="0"/>
              </a:rPr>
              <a:t>     ≤ #E ≤ p+1+2   </a:t>
            </a:r>
          </a:p>
          <a:p>
            <a:pPr>
              <a:buFontTx/>
              <a:buNone/>
            </a:pPr>
            <a:endParaRPr lang="de-DE" altLang="de-DE" b="1" i="1"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de-DE" altLang="de-DE" i="1">
              <a:cs typeface="Arial" panose="020B0604020202020204" pitchFamily="34" charset="0"/>
            </a:endParaRPr>
          </a:p>
          <a:p>
            <a:r>
              <a:rPr lang="de-DE" altLang="de-DE" b="1">
                <a:cs typeface="Arial" panose="020B0604020202020204" pitchFamily="34" charset="0"/>
              </a:rPr>
              <a:t>Interpretation: </a:t>
            </a:r>
            <a:r>
              <a:rPr lang="de-DE" altLang="de-DE">
                <a:cs typeface="Arial" panose="020B0604020202020204" pitchFamily="34" charset="0"/>
              </a:rPr>
              <a:t>The number of points is „close to“ the prime p</a:t>
            </a:r>
          </a:p>
          <a:p>
            <a:r>
              <a:rPr lang="de-DE" altLang="de-DE" b="1">
                <a:cs typeface="Arial" panose="020B0604020202020204" pitchFamily="34" charset="0"/>
              </a:rPr>
              <a:t>Example:</a:t>
            </a:r>
            <a:r>
              <a:rPr lang="de-DE" altLang="de-DE">
                <a:cs typeface="Arial" panose="020B0604020202020204" pitchFamily="34" charset="0"/>
              </a:rPr>
              <a:t> To generate a curve with about 2</a:t>
            </a:r>
            <a:r>
              <a:rPr lang="de-DE" altLang="de-DE" baseline="30000">
                <a:cs typeface="Arial" panose="020B0604020202020204" pitchFamily="34" charset="0"/>
              </a:rPr>
              <a:t>160</a:t>
            </a:r>
            <a:r>
              <a:rPr lang="de-DE" altLang="de-DE">
                <a:cs typeface="Arial" panose="020B0604020202020204" pitchFamily="34" charset="0"/>
              </a:rPr>
              <a:t> points, a prime with a length of about </a:t>
            </a:r>
            <a:br>
              <a:rPr lang="de-DE" altLang="de-DE">
                <a:cs typeface="Arial" panose="020B0604020202020204" pitchFamily="34" charset="0"/>
              </a:rPr>
            </a:br>
            <a:r>
              <a:rPr lang="de-DE" altLang="de-DE">
                <a:cs typeface="Arial" panose="020B0604020202020204" pitchFamily="34" charset="0"/>
              </a:rPr>
              <a:t>160 bits is required</a:t>
            </a:r>
            <a:r>
              <a:rPr lang="de-DE" altLang="de-DE" i="1">
                <a:cs typeface="Arial" panose="020B0604020202020204" pitchFamily="34" charset="0"/>
              </a:rPr>
              <a:t>			</a:t>
            </a: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DE6560E1-3BEB-D672-3D62-C76A53AC0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25" y="2841625"/>
            <a:ext cx="5592763" cy="1601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4582" name="Fußzeilenplatzhalter 4">
            <a:extLst>
              <a:ext uri="{FF2B5EF4-FFF2-40B4-BE49-F238E27FC236}">
                <a16:creationId xmlns:a16="http://schemas.microsoft.com/office/drawing/2014/main" id="{9E2C6249-6F35-25CC-D225-BAC2E11310E7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graphicFrame>
        <p:nvGraphicFramePr>
          <p:cNvPr id="24583" name="Object 8">
            <a:extLst>
              <a:ext uri="{FF2B5EF4-FFF2-40B4-BE49-F238E27FC236}">
                <a16:creationId xmlns:a16="http://schemas.microsoft.com/office/drawing/2014/main" id="{01F455FB-39A6-58CE-576B-41B99E1DD7D2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763963" y="3894138"/>
          <a:ext cx="3381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3" imgW="6146800" imgH="5854700" progId="Equation.3">
                  <p:embed/>
                </p:oleObj>
              </mc:Choice>
              <mc:Fallback>
                <p:oleObj name="Formel" r:id="rId3" imgW="6146800" imgH="5854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3894138"/>
                        <a:ext cx="33813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10">
            <a:extLst>
              <a:ext uri="{FF2B5EF4-FFF2-40B4-BE49-F238E27FC236}">
                <a16:creationId xmlns:a16="http://schemas.microsoft.com/office/drawing/2014/main" id="{0D4FB122-1F34-4747-5E37-5A1C2D1A3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9388" y="3911600"/>
          <a:ext cx="3381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5" imgW="6146800" imgH="5854700" progId="Equation.3">
                  <p:embed/>
                </p:oleObj>
              </mc:Choice>
              <mc:Fallback>
                <p:oleObj name="Formel" r:id="rId5" imgW="6146800" imgH="5854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8" y="3911600"/>
                        <a:ext cx="33813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Foliennummernplatzhalter 2">
            <a:extLst>
              <a:ext uri="{FF2B5EF4-FFF2-40B4-BE49-F238E27FC236}">
                <a16:creationId xmlns:a16="http://schemas.microsoft.com/office/drawing/2014/main" id="{6C514ED0-52D5-2629-4F1D-90C0A3F7F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502E9D-ACD1-714F-8037-417DFA0D3901}" type="slidenum">
              <a:rPr lang="de-DE" altLang="de-DE">
                <a:solidFill>
                  <a:srgbClr val="394073"/>
                </a:solidFill>
              </a:rPr>
              <a:pPr/>
              <a:t>12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7">
            <a:extLst>
              <a:ext uri="{FF2B5EF4-FFF2-40B4-BE49-F238E27FC236}">
                <a16:creationId xmlns:a16="http://schemas.microsoft.com/office/drawing/2014/main" id="{36AADFDF-2859-DE8E-4D57-6B0BF0502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338" y="503238"/>
            <a:ext cx="4665662" cy="573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2">
            <a:extLst>
              <a:ext uri="{FF2B5EF4-FFF2-40B4-BE49-F238E27FC236}">
                <a16:creationId xmlns:a16="http://schemas.microsoft.com/office/drawing/2014/main" id="{AA3529D5-3A39-BA1B-7E13-0D3697C1DC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Elliptic Curve Discrete Logarithm Problem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F3F52AC-1B6B-7073-C14E-90BEA81CBA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49313" y="1130300"/>
            <a:ext cx="7737475" cy="469741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/>
              <a:t>Cryptosystems rely on the hardness of the Elliptic Curve Discrete</a:t>
            </a:r>
            <a:br>
              <a:rPr lang="de-DE" altLang="de-DE"/>
            </a:br>
            <a:r>
              <a:rPr lang="de-DE" altLang="de-DE"/>
              <a:t>Logarithm Problem (ECDLP)</a:t>
            </a:r>
          </a:p>
          <a:p>
            <a:pPr>
              <a:buFont typeface="Wingdings" pitchFamily="2" charset="2"/>
              <a:buNone/>
            </a:pPr>
            <a:r>
              <a:rPr lang="de-DE" altLang="de-DE"/>
              <a:t>		</a:t>
            </a:r>
          </a:p>
          <a:p>
            <a:pPr>
              <a:buFont typeface="Wingdings" pitchFamily="2" charset="2"/>
              <a:buNone/>
            </a:pPr>
            <a:r>
              <a:rPr lang="de-DE" altLang="de-DE"/>
              <a:t>		</a:t>
            </a:r>
            <a:r>
              <a:rPr lang="de-DE" altLang="de-DE" sz="1400" b="1" i="1"/>
              <a:t>Definition: Elliptic Curve Discrete Logarithm Problem (ECDLP)</a:t>
            </a:r>
          </a:p>
          <a:p>
            <a:pPr>
              <a:buFont typeface="Wingdings" pitchFamily="2" charset="2"/>
              <a:buNone/>
            </a:pPr>
            <a:r>
              <a:rPr lang="de-DE" altLang="de-DE" sz="1400" i="1"/>
              <a:t>		Given a primitive element P and another element T on an elliptic curve E.</a:t>
            </a:r>
            <a:br>
              <a:rPr lang="de-DE" altLang="de-DE" sz="1400" i="1"/>
            </a:br>
            <a:r>
              <a:rPr lang="de-DE" altLang="de-DE" sz="1400" i="1"/>
              <a:t>	The ECDL problem is finding the integer d, where 1 </a:t>
            </a:r>
            <a:r>
              <a:rPr lang="de-DE" altLang="de-DE" sz="1400" i="1">
                <a:cs typeface="Arial" panose="020B0604020202020204" pitchFamily="34" charset="0"/>
              </a:rPr>
              <a:t>≤ d ≤ #E such that</a:t>
            </a:r>
            <a:br>
              <a:rPr lang="de-DE" altLang="de-DE" sz="1400" i="1">
                <a:cs typeface="Arial" panose="020B0604020202020204" pitchFamily="34" charset="0"/>
              </a:rPr>
            </a:br>
            <a:r>
              <a:rPr lang="de-DE" altLang="de-DE" sz="1400" i="1">
                <a:cs typeface="Arial" panose="020B0604020202020204" pitchFamily="34" charset="0"/>
              </a:rPr>
              <a:t>		P + P +…+ P = dP = T.</a:t>
            </a:r>
          </a:p>
          <a:p>
            <a:pPr>
              <a:buFont typeface="Wingdings" pitchFamily="2" charset="2"/>
              <a:buNone/>
            </a:pPr>
            <a:r>
              <a:rPr lang="de-DE" altLang="de-DE" sz="1200" i="1">
                <a:cs typeface="Arial" panose="020B0604020202020204" pitchFamily="34" charset="0"/>
              </a:rPr>
              <a:t>			        </a:t>
            </a:r>
            <a:r>
              <a:rPr lang="de-DE" altLang="de-DE" sz="1000" i="1">
                <a:cs typeface="Arial" panose="020B0604020202020204" pitchFamily="34" charset="0"/>
              </a:rPr>
              <a:t>d times</a:t>
            </a:r>
          </a:p>
          <a:p>
            <a:pPr>
              <a:buFont typeface="Wingdings" pitchFamily="2" charset="2"/>
              <a:buChar char="§"/>
            </a:pPr>
            <a:endParaRPr lang="de-DE" altLang="de-DE" sz="1000" i="1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de-DE" altLang="de-DE"/>
              <a:t>Cryptosystems are based on the idea that </a:t>
            </a:r>
            <a:r>
              <a:rPr lang="de-DE" altLang="de-DE" i="1"/>
              <a:t>d</a:t>
            </a:r>
            <a:r>
              <a:rPr lang="de-DE" altLang="de-DE"/>
              <a:t> is large and kept secret and attackers cannot compute it easily</a:t>
            </a:r>
          </a:p>
          <a:p>
            <a:pPr>
              <a:buFont typeface="Wingdings" pitchFamily="2" charset="2"/>
              <a:buChar char="§"/>
            </a:pPr>
            <a:r>
              <a:rPr lang="de-DE" altLang="de-DE"/>
              <a:t>If </a:t>
            </a:r>
            <a:r>
              <a:rPr lang="de-DE" altLang="de-DE" i="1"/>
              <a:t>d</a:t>
            </a:r>
            <a:r>
              <a:rPr lang="de-DE" altLang="de-DE"/>
              <a:t> is known, an efficient method to compute the point multiplication </a:t>
            </a:r>
            <a:r>
              <a:rPr lang="de-DE" altLang="de-DE" i="1"/>
              <a:t>dP</a:t>
            </a:r>
            <a:r>
              <a:rPr lang="de-DE" altLang="de-DE"/>
              <a:t> is required to create a reasonable cryptosystem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>
                <a:cs typeface="Arial" panose="020B0604020202020204" pitchFamily="34" charset="0"/>
              </a:rPr>
              <a:t>Known Square-and-Multiply Method can be adapted to Elliptic Curves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>
                <a:cs typeface="Arial" panose="020B0604020202020204" pitchFamily="34" charset="0"/>
              </a:rPr>
              <a:t>The method for efficient point multiplication on elliptic curves: Double-and-Add Algorithm</a:t>
            </a: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1ADFF231-559E-DBCD-EA21-4FB6408B1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088" y="2000250"/>
            <a:ext cx="6262687" cy="1722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5606" name="AutoShape 5">
            <a:extLst>
              <a:ext uri="{FF2B5EF4-FFF2-40B4-BE49-F238E27FC236}">
                <a16:creationId xmlns:a16="http://schemas.microsoft.com/office/drawing/2014/main" id="{035B966F-848F-9719-8F8E-F29BC3B9276C}"/>
              </a:ext>
            </a:extLst>
          </p:cNvPr>
          <p:cNvSpPr>
            <a:spLocks/>
          </p:cNvSpPr>
          <p:nvPr/>
        </p:nvSpPr>
        <p:spPr bwMode="auto">
          <a:xfrm rot="-5400000">
            <a:off x="3163094" y="2858294"/>
            <a:ext cx="103188" cy="1035050"/>
          </a:xfrm>
          <a:prstGeom prst="leftBrace">
            <a:avLst>
              <a:gd name="adj1" fmla="val 835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5607" name="Fußzeilenplatzhalter 4">
            <a:extLst>
              <a:ext uri="{FF2B5EF4-FFF2-40B4-BE49-F238E27FC236}">
                <a16:creationId xmlns:a16="http://schemas.microsoft.com/office/drawing/2014/main" id="{270C340C-F68A-748B-3495-29A45AB1A49D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25608" name="Foliennummernplatzhalter 2">
            <a:extLst>
              <a:ext uri="{FF2B5EF4-FFF2-40B4-BE49-F238E27FC236}">
                <a16:creationId xmlns:a16="http://schemas.microsoft.com/office/drawing/2014/main" id="{FB116469-0349-55BD-309F-0C73544AB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450CF3-349B-9049-86C7-E54AD5CB6F4C}" type="slidenum">
              <a:rPr lang="de-DE" altLang="de-DE">
                <a:solidFill>
                  <a:srgbClr val="394073"/>
                </a:solidFill>
              </a:rPr>
              <a:pPr/>
              <a:t>13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FC0F837-272D-B33A-66C1-A9D6BFD747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Double-and-Add Algorithm for Point Multiplication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18EC5AE-982B-F53D-D734-12871BC4E0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071563"/>
            <a:ext cx="8215312" cy="4295775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b="1"/>
              <a:t>Double-and-Add Algorithm</a:t>
            </a:r>
          </a:p>
          <a:p>
            <a:pPr>
              <a:buFontTx/>
              <a:buNone/>
            </a:pPr>
            <a:r>
              <a:rPr lang="de-DE" altLang="de-DE" b="1"/>
              <a:t>	Input</a:t>
            </a:r>
            <a:r>
              <a:rPr lang="de-DE" altLang="de-DE"/>
              <a:t>: Elliptic curve </a:t>
            </a:r>
            <a:r>
              <a:rPr lang="de-DE" altLang="de-DE" i="1"/>
              <a:t>E, </a:t>
            </a:r>
            <a:r>
              <a:rPr lang="de-DE" altLang="de-DE"/>
              <a:t>an elliptic curve point </a:t>
            </a:r>
            <a:r>
              <a:rPr lang="de-DE" altLang="de-DE" i="1"/>
              <a:t>P </a:t>
            </a:r>
            <a:r>
              <a:rPr lang="de-DE" altLang="de-DE"/>
              <a:t>and</a:t>
            </a:r>
            <a:r>
              <a:rPr lang="de-DE" altLang="de-DE" i="1"/>
              <a:t> a </a:t>
            </a:r>
            <a:r>
              <a:rPr lang="de-DE" altLang="de-DE"/>
              <a:t>scalar</a:t>
            </a:r>
            <a:r>
              <a:rPr lang="de-DE" altLang="de-DE" i="1"/>
              <a:t> d </a:t>
            </a:r>
            <a:r>
              <a:rPr lang="de-DE" altLang="de-DE"/>
              <a:t>with bits</a:t>
            </a:r>
            <a:r>
              <a:rPr lang="de-DE" altLang="de-DE" i="1"/>
              <a:t> d</a:t>
            </a:r>
            <a:r>
              <a:rPr lang="de-DE" altLang="de-DE" i="1" baseline="-25000"/>
              <a:t>i</a:t>
            </a:r>
            <a:br>
              <a:rPr lang="de-DE" altLang="de-DE" i="1"/>
            </a:br>
            <a:r>
              <a:rPr lang="de-DE" altLang="de-DE" b="1"/>
              <a:t>Output</a:t>
            </a:r>
            <a:r>
              <a:rPr lang="de-DE" altLang="de-DE"/>
              <a:t>: </a:t>
            </a:r>
            <a:r>
              <a:rPr lang="de-DE" altLang="de-DE" i="1"/>
              <a:t>T </a:t>
            </a:r>
            <a:r>
              <a:rPr lang="de-DE" altLang="de-DE"/>
              <a:t>= </a:t>
            </a:r>
            <a:r>
              <a:rPr lang="de-DE" altLang="de-DE" i="1"/>
              <a:t>d P </a:t>
            </a:r>
          </a:p>
          <a:p>
            <a:pPr>
              <a:buFontTx/>
              <a:buNone/>
            </a:pPr>
            <a:r>
              <a:rPr lang="de-DE" altLang="de-DE" b="1"/>
              <a:t>	Initialization</a:t>
            </a:r>
            <a:r>
              <a:rPr lang="de-DE" altLang="de-DE"/>
              <a:t>:</a:t>
            </a:r>
          </a:p>
          <a:p>
            <a:pPr>
              <a:buFontTx/>
              <a:buNone/>
            </a:pPr>
            <a:r>
              <a:rPr lang="de-DE" altLang="de-DE" i="1"/>
              <a:t>	T </a:t>
            </a:r>
            <a:r>
              <a:rPr lang="de-DE" altLang="de-DE"/>
              <a:t>= </a:t>
            </a:r>
            <a:r>
              <a:rPr lang="de-DE" altLang="de-DE" i="1"/>
              <a:t>P</a:t>
            </a:r>
          </a:p>
          <a:p>
            <a:pPr>
              <a:buFontTx/>
              <a:buNone/>
            </a:pPr>
            <a:r>
              <a:rPr lang="de-DE" altLang="de-DE" b="1"/>
              <a:t>	Algorithm</a:t>
            </a:r>
            <a:r>
              <a:rPr lang="de-DE" altLang="de-DE"/>
              <a:t>:</a:t>
            </a:r>
          </a:p>
          <a:p>
            <a:pPr>
              <a:buFontTx/>
              <a:buNone/>
            </a:pPr>
            <a:r>
              <a:rPr lang="de-DE" altLang="de-DE"/>
              <a:t>	FOR </a:t>
            </a:r>
            <a:r>
              <a:rPr lang="de-DE" altLang="de-DE" i="1"/>
              <a:t>i </a:t>
            </a:r>
            <a:r>
              <a:rPr lang="de-DE" altLang="de-DE"/>
              <a:t>= </a:t>
            </a:r>
            <a:r>
              <a:rPr lang="de-DE" altLang="de-DE" i="1"/>
              <a:t>t </a:t>
            </a:r>
            <a:r>
              <a:rPr lang="de-DE" altLang="de-DE"/>
              <a:t>−1 DOWNTO 0</a:t>
            </a:r>
          </a:p>
          <a:p>
            <a:pPr>
              <a:buFontTx/>
              <a:buNone/>
            </a:pPr>
            <a:r>
              <a:rPr lang="de-DE" altLang="de-DE" i="1"/>
              <a:t>	    T </a:t>
            </a:r>
            <a:r>
              <a:rPr lang="de-DE" altLang="de-DE"/>
              <a:t>= </a:t>
            </a:r>
            <a:r>
              <a:rPr lang="de-DE" altLang="de-DE" i="1"/>
              <a:t>T </a:t>
            </a:r>
            <a:r>
              <a:rPr lang="de-DE" altLang="de-DE"/>
              <a:t>+</a:t>
            </a:r>
            <a:r>
              <a:rPr lang="de-DE" altLang="de-DE" i="1"/>
              <a:t>T </a:t>
            </a:r>
            <a:r>
              <a:rPr lang="de-DE" altLang="de-DE"/>
              <a:t>mod </a:t>
            </a:r>
            <a:r>
              <a:rPr lang="de-DE" altLang="de-DE" i="1"/>
              <a:t>n</a:t>
            </a:r>
          </a:p>
          <a:p>
            <a:pPr>
              <a:buFontTx/>
              <a:buNone/>
            </a:pPr>
            <a:r>
              <a:rPr lang="de-DE" altLang="de-DE"/>
              <a:t>	    IF </a:t>
            </a:r>
            <a:r>
              <a:rPr lang="de-DE" altLang="de-DE" i="1"/>
              <a:t>d</a:t>
            </a:r>
            <a:r>
              <a:rPr lang="de-DE" altLang="de-DE" i="1" baseline="-25000"/>
              <a:t>i</a:t>
            </a:r>
            <a:r>
              <a:rPr lang="de-DE" altLang="de-DE" i="1"/>
              <a:t> </a:t>
            </a:r>
            <a:r>
              <a:rPr lang="de-DE" altLang="de-DE"/>
              <a:t>= 1</a:t>
            </a:r>
          </a:p>
          <a:p>
            <a:pPr>
              <a:buFontTx/>
              <a:buNone/>
            </a:pPr>
            <a:r>
              <a:rPr lang="de-DE" altLang="de-DE" i="1"/>
              <a:t>  	        T </a:t>
            </a:r>
            <a:r>
              <a:rPr lang="de-DE" altLang="de-DE"/>
              <a:t>= </a:t>
            </a:r>
            <a:r>
              <a:rPr lang="de-DE" altLang="de-DE" i="1"/>
              <a:t>T </a:t>
            </a:r>
            <a:r>
              <a:rPr lang="de-DE" altLang="de-DE"/>
              <a:t>+</a:t>
            </a:r>
            <a:r>
              <a:rPr lang="de-DE" altLang="de-DE" i="1"/>
              <a:t>P </a:t>
            </a:r>
            <a:r>
              <a:rPr lang="de-DE" altLang="de-DE"/>
              <a:t>mod </a:t>
            </a:r>
            <a:r>
              <a:rPr lang="de-DE" altLang="de-DE" i="1"/>
              <a:t>n</a:t>
            </a:r>
          </a:p>
          <a:p>
            <a:pPr>
              <a:buFontTx/>
              <a:buNone/>
            </a:pPr>
            <a:r>
              <a:rPr lang="de-DE" altLang="de-DE"/>
              <a:t>   RETURN (</a:t>
            </a:r>
            <a:r>
              <a:rPr lang="de-DE" altLang="de-DE" i="1"/>
              <a:t>T</a:t>
            </a:r>
            <a:r>
              <a:rPr lang="de-DE" altLang="de-DE"/>
              <a:t>)</a:t>
            </a:r>
          </a:p>
          <a:p>
            <a:endParaRPr lang="de-DE" altLang="de-DE"/>
          </a:p>
        </p:txBody>
      </p:sp>
      <p:sp>
        <p:nvSpPr>
          <p:cNvPr id="26628" name="Fußzeilenplatzhalter 4">
            <a:extLst>
              <a:ext uri="{FF2B5EF4-FFF2-40B4-BE49-F238E27FC236}">
                <a16:creationId xmlns:a16="http://schemas.microsoft.com/office/drawing/2014/main" id="{13E9CC0F-E115-8C17-3130-A09BB1A1626D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2BECC307-F221-775A-861F-DBF36DA13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2697163"/>
            <a:ext cx="4772025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 b="1"/>
              <a:t>Example</a:t>
            </a:r>
            <a:r>
              <a:rPr lang="de-DE" altLang="de-DE" sz="1400"/>
              <a:t>: 26</a:t>
            </a:r>
            <a:r>
              <a:rPr lang="de-DE" altLang="de-DE" sz="1400" i="1"/>
              <a:t>P </a:t>
            </a:r>
            <a:r>
              <a:rPr lang="de-DE" altLang="de-DE" sz="1400"/>
              <a:t>= (11010</a:t>
            </a:r>
            <a:r>
              <a:rPr lang="de-DE" altLang="de-DE" sz="1400" baseline="-25000"/>
              <a:t>2</a:t>
            </a:r>
            <a:r>
              <a:rPr lang="de-DE" altLang="de-DE" sz="1400"/>
              <a:t>)</a:t>
            </a:r>
            <a:r>
              <a:rPr lang="de-DE" altLang="de-DE" sz="1400" i="1"/>
              <a:t>P </a:t>
            </a:r>
            <a:r>
              <a:rPr lang="de-DE" altLang="de-DE" sz="1400"/>
              <a:t>= (</a:t>
            </a:r>
            <a:r>
              <a:rPr lang="de-DE" altLang="de-DE" sz="1400" i="1"/>
              <a:t>d</a:t>
            </a:r>
            <a:r>
              <a:rPr lang="de-DE" altLang="de-DE" sz="1400" baseline="-25000"/>
              <a:t>4</a:t>
            </a:r>
            <a:r>
              <a:rPr lang="de-DE" altLang="de-DE" sz="1400" i="1"/>
              <a:t>d</a:t>
            </a:r>
            <a:r>
              <a:rPr lang="de-DE" altLang="de-DE" sz="1400" baseline="-25000"/>
              <a:t>3</a:t>
            </a:r>
            <a:r>
              <a:rPr lang="de-DE" altLang="de-DE" sz="1400" i="1"/>
              <a:t>d</a:t>
            </a:r>
            <a:r>
              <a:rPr lang="de-DE" altLang="de-DE" sz="1400" baseline="-25000"/>
              <a:t>2</a:t>
            </a:r>
            <a:r>
              <a:rPr lang="de-DE" altLang="de-DE" sz="1400" i="1"/>
              <a:t>d</a:t>
            </a:r>
            <a:r>
              <a:rPr lang="de-DE" altLang="de-DE" sz="1400" baseline="-25000"/>
              <a:t>1</a:t>
            </a:r>
            <a:r>
              <a:rPr lang="de-DE" altLang="de-DE" sz="1400" i="1"/>
              <a:t>d</a:t>
            </a:r>
            <a:r>
              <a:rPr lang="de-DE" altLang="de-DE" sz="1400" baseline="-25000"/>
              <a:t>0</a:t>
            </a:r>
            <a:r>
              <a:rPr lang="de-DE" altLang="de-DE" sz="1400"/>
              <a:t>)</a:t>
            </a:r>
            <a:r>
              <a:rPr lang="de-DE" altLang="de-DE" sz="1400" baseline="-25000"/>
              <a:t>2</a:t>
            </a:r>
            <a:r>
              <a:rPr lang="de-DE" altLang="de-DE" sz="1400"/>
              <a:t> </a:t>
            </a:r>
            <a:r>
              <a:rPr lang="de-DE" altLang="de-DE" sz="1400" i="1"/>
              <a:t>P</a:t>
            </a:r>
            <a:r>
              <a:rPr lang="de-DE" altLang="de-DE" sz="1400"/>
              <a:t>.</a:t>
            </a:r>
          </a:p>
          <a:p>
            <a:endParaRPr lang="de-DE" altLang="de-DE" sz="1200"/>
          </a:p>
          <a:p>
            <a:r>
              <a:rPr lang="de-DE" altLang="de-DE" sz="1200"/>
              <a:t>Step</a:t>
            </a:r>
          </a:p>
          <a:p>
            <a:r>
              <a:rPr lang="de-DE" altLang="de-DE" sz="1200"/>
              <a:t>#0 	</a:t>
            </a:r>
            <a:r>
              <a:rPr lang="de-DE" altLang="de-DE" sz="1200" i="1"/>
              <a:t>P </a:t>
            </a:r>
            <a:r>
              <a:rPr lang="de-DE" altLang="de-DE" sz="1200"/>
              <a:t>= </a:t>
            </a:r>
            <a:r>
              <a:rPr lang="de-DE" altLang="de-DE" sz="1200" b="1"/>
              <a:t>1</a:t>
            </a:r>
            <a:r>
              <a:rPr lang="de-DE" altLang="de-DE" sz="1200" baseline="-25000"/>
              <a:t>2</a:t>
            </a:r>
            <a:r>
              <a:rPr lang="de-DE" altLang="de-DE" sz="1200" i="1"/>
              <a:t>P 			</a:t>
            </a:r>
            <a:r>
              <a:rPr lang="de-DE" altLang="de-DE" sz="1200"/>
              <a:t>inital setting</a:t>
            </a:r>
          </a:p>
          <a:p>
            <a:r>
              <a:rPr lang="de-DE" altLang="de-DE" sz="1200"/>
              <a:t>#1</a:t>
            </a:r>
            <a:r>
              <a:rPr lang="de-DE" altLang="de-DE" sz="1200" i="1"/>
              <a:t>a 	P</a:t>
            </a:r>
            <a:r>
              <a:rPr lang="de-DE" altLang="de-DE" sz="1200"/>
              <a:t>+</a:t>
            </a:r>
            <a:r>
              <a:rPr lang="de-DE" altLang="de-DE" sz="1200" i="1"/>
              <a:t>P </a:t>
            </a:r>
            <a:r>
              <a:rPr lang="de-DE" altLang="de-DE" sz="1200"/>
              <a:t>= 2</a:t>
            </a:r>
            <a:r>
              <a:rPr lang="de-DE" altLang="de-DE" sz="1200" i="1"/>
              <a:t>P </a:t>
            </a:r>
            <a:r>
              <a:rPr lang="de-DE" altLang="de-DE" sz="1200"/>
              <a:t>= </a:t>
            </a:r>
            <a:r>
              <a:rPr lang="de-DE" altLang="de-DE" sz="1200" b="1"/>
              <a:t>10</a:t>
            </a:r>
            <a:r>
              <a:rPr lang="de-DE" altLang="de-DE" sz="1200" baseline="-25000"/>
              <a:t>2</a:t>
            </a:r>
            <a:r>
              <a:rPr lang="de-DE" altLang="de-DE" sz="1200" i="1"/>
              <a:t>P 		</a:t>
            </a:r>
            <a:r>
              <a:rPr lang="de-DE" altLang="de-DE" sz="1200"/>
              <a:t>DOUBLE (bit d</a:t>
            </a:r>
            <a:r>
              <a:rPr lang="de-DE" altLang="de-DE" sz="1200" baseline="-25000"/>
              <a:t>3</a:t>
            </a:r>
            <a:r>
              <a:rPr lang="de-DE" altLang="de-DE" sz="1200"/>
              <a:t>)</a:t>
            </a:r>
          </a:p>
          <a:p>
            <a:r>
              <a:rPr lang="de-DE" altLang="de-DE" sz="1200"/>
              <a:t>#1</a:t>
            </a:r>
            <a:r>
              <a:rPr lang="de-DE" altLang="de-DE" sz="1200" i="1"/>
              <a:t>b 	</a:t>
            </a:r>
            <a:r>
              <a:rPr lang="de-DE" altLang="de-DE" sz="1200"/>
              <a:t>2</a:t>
            </a:r>
            <a:r>
              <a:rPr lang="de-DE" altLang="de-DE" sz="1200" i="1"/>
              <a:t>P</a:t>
            </a:r>
            <a:r>
              <a:rPr lang="de-DE" altLang="de-DE" sz="1200"/>
              <a:t>+</a:t>
            </a:r>
            <a:r>
              <a:rPr lang="de-DE" altLang="de-DE" sz="1200" i="1"/>
              <a:t>P </a:t>
            </a:r>
            <a:r>
              <a:rPr lang="de-DE" altLang="de-DE" sz="1200"/>
              <a:t>= 3</a:t>
            </a:r>
            <a:r>
              <a:rPr lang="de-DE" altLang="de-DE" sz="1200" i="1"/>
              <a:t>P </a:t>
            </a:r>
            <a:r>
              <a:rPr lang="de-DE" altLang="de-DE" sz="1200"/>
              <a:t>= 10</a:t>
            </a:r>
            <a:r>
              <a:rPr lang="de-DE" altLang="de-DE" sz="1200" baseline="30000"/>
              <a:t>2</a:t>
            </a:r>
            <a:r>
              <a:rPr lang="de-DE" altLang="de-DE" sz="1200"/>
              <a:t> </a:t>
            </a:r>
            <a:r>
              <a:rPr lang="de-DE" altLang="de-DE" sz="1200" i="1"/>
              <a:t>P</a:t>
            </a:r>
            <a:r>
              <a:rPr lang="de-DE" altLang="de-DE" sz="1200"/>
              <a:t>+1</a:t>
            </a:r>
            <a:r>
              <a:rPr lang="de-DE" altLang="de-DE" sz="1200" baseline="-25000"/>
              <a:t>2</a:t>
            </a:r>
            <a:r>
              <a:rPr lang="de-DE" altLang="de-DE" sz="1200" i="1"/>
              <a:t>P </a:t>
            </a:r>
            <a:r>
              <a:rPr lang="de-DE" altLang="de-DE" sz="1200"/>
              <a:t>= </a:t>
            </a:r>
            <a:r>
              <a:rPr lang="de-DE" altLang="de-DE" sz="1200" b="1"/>
              <a:t>11</a:t>
            </a:r>
            <a:r>
              <a:rPr lang="de-DE" altLang="de-DE" sz="1200" baseline="-25000"/>
              <a:t>2</a:t>
            </a:r>
            <a:r>
              <a:rPr lang="de-DE" altLang="de-DE" sz="1200" i="1"/>
              <a:t>P 	</a:t>
            </a:r>
            <a:r>
              <a:rPr lang="de-DE" altLang="de-DE" sz="1200"/>
              <a:t>ADD (bit d</a:t>
            </a:r>
            <a:r>
              <a:rPr lang="de-DE" altLang="de-DE" sz="1200" baseline="-25000"/>
              <a:t>3</a:t>
            </a:r>
            <a:r>
              <a:rPr lang="de-DE" altLang="de-DE" sz="1200"/>
              <a:t>=1)</a:t>
            </a:r>
          </a:p>
          <a:p>
            <a:r>
              <a:rPr lang="de-DE" altLang="de-DE" sz="1200"/>
              <a:t>#2</a:t>
            </a:r>
            <a:r>
              <a:rPr lang="de-DE" altLang="de-DE" sz="1200" i="1"/>
              <a:t>a 	</a:t>
            </a:r>
            <a:r>
              <a:rPr lang="de-DE" altLang="de-DE" sz="1200"/>
              <a:t>3</a:t>
            </a:r>
            <a:r>
              <a:rPr lang="de-DE" altLang="de-DE" sz="1200" i="1"/>
              <a:t>P</a:t>
            </a:r>
            <a:r>
              <a:rPr lang="de-DE" altLang="de-DE" sz="1200"/>
              <a:t>+3</a:t>
            </a:r>
            <a:r>
              <a:rPr lang="de-DE" altLang="de-DE" sz="1200" i="1"/>
              <a:t>P </a:t>
            </a:r>
            <a:r>
              <a:rPr lang="de-DE" altLang="de-DE" sz="1200"/>
              <a:t>= 6</a:t>
            </a:r>
            <a:r>
              <a:rPr lang="de-DE" altLang="de-DE" sz="1200" i="1"/>
              <a:t>P </a:t>
            </a:r>
            <a:r>
              <a:rPr lang="de-DE" altLang="de-DE" sz="1200"/>
              <a:t>= 2(11</a:t>
            </a:r>
            <a:r>
              <a:rPr lang="de-DE" altLang="de-DE" sz="1200" baseline="-25000"/>
              <a:t>2</a:t>
            </a:r>
            <a:r>
              <a:rPr lang="de-DE" altLang="de-DE" sz="1200" i="1"/>
              <a:t>P</a:t>
            </a:r>
            <a:r>
              <a:rPr lang="de-DE" altLang="de-DE" sz="1200"/>
              <a:t>) = </a:t>
            </a:r>
            <a:r>
              <a:rPr lang="de-DE" altLang="de-DE" sz="1200" b="1"/>
              <a:t>110</a:t>
            </a:r>
            <a:r>
              <a:rPr lang="de-DE" altLang="de-DE" sz="1200" b="1" baseline="-25000"/>
              <a:t>2</a:t>
            </a:r>
            <a:r>
              <a:rPr lang="de-DE" altLang="de-DE" sz="1200" i="1"/>
              <a:t>P 	</a:t>
            </a:r>
            <a:r>
              <a:rPr lang="de-DE" altLang="de-DE" sz="1200"/>
              <a:t>DOUBLE (bit d</a:t>
            </a:r>
            <a:r>
              <a:rPr lang="de-DE" altLang="de-DE" sz="1200" baseline="-25000"/>
              <a:t>2</a:t>
            </a:r>
            <a:r>
              <a:rPr lang="de-DE" altLang="de-DE" sz="1200"/>
              <a:t>)</a:t>
            </a:r>
          </a:p>
          <a:p>
            <a:r>
              <a:rPr lang="de-DE" altLang="de-DE" sz="1200"/>
              <a:t>#2</a:t>
            </a:r>
            <a:r>
              <a:rPr lang="de-DE" altLang="de-DE" sz="1200" i="1"/>
              <a:t>b 				</a:t>
            </a:r>
            <a:r>
              <a:rPr lang="de-DE" altLang="de-DE" sz="1200"/>
              <a:t>no ADD (</a:t>
            </a:r>
            <a:r>
              <a:rPr lang="de-DE" altLang="de-DE" sz="1200" i="1"/>
              <a:t>d</a:t>
            </a:r>
            <a:r>
              <a:rPr lang="de-DE" altLang="de-DE" sz="1200" baseline="-25000"/>
              <a:t>2</a:t>
            </a:r>
            <a:r>
              <a:rPr lang="de-DE" altLang="de-DE" sz="1200"/>
              <a:t> = 0)</a:t>
            </a:r>
          </a:p>
          <a:p>
            <a:r>
              <a:rPr lang="de-DE" altLang="de-DE" sz="1200"/>
              <a:t>#3</a:t>
            </a:r>
            <a:r>
              <a:rPr lang="de-DE" altLang="de-DE" sz="1200" i="1"/>
              <a:t>a 	</a:t>
            </a:r>
            <a:r>
              <a:rPr lang="de-DE" altLang="de-DE" sz="1200"/>
              <a:t>6</a:t>
            </a:r>
            <a:r>
              <a:rPr lang="de-DE" altLang="de-DE" sz="1200" i="1"/>
              <a:t>P</a:t>
            </a:r>
            <a:r>
              <a:rPr lang="de-DE" altLang="de-DE" sz="1200"/>
              <a:t>+6</a:t>
            </a:r>
            <a:r>
              <a:rPr lang="de-DE" altLang="de-DE" sz="1200" i="1"/>
              <a:t>P </a:t>
            </a:r>
            <a:r>
              <a:rPr lang="de-DE" altLang="de-DE" sz="1200"/>
              <a:t>= 12</a:t>
            </a:r>
            <a:r>
              <a:rPr lang="de-DE" altLang="de-DE" sz="1200" i="1"/>
              <a:t>P </a:t>
            </a:r>
            <a:r>
              <a:rPr lang="de-DE" altLang="de-DE" sz="1200"/>
              <a:t>= 2(110</a:t>
            </a:r>
            <a:r>
              <a:rPr lang="de-DE" altLang="de-DE" sz="1200" baseline="-25000"/>
              <a:t>2</a:t>
            </a:r>
            <a:r>
              <a:rPr lang="de-DE" altLang="de-DE" sz="1200" i="1"/>
              <a:t>P</a:t>
            </a:r>
            <a:r>
              <a:rPr lang="de-DE" altLang="de-DE" sz="1200"/>
              <a:t>) = </a:t>
            </a:r>
            <a:r>
              <a:rPr lang="de-DE" altLang="de-DE" sz="1200" b="1"/>
              <a:t>1100</a:t>
            </a:r>
            <a:r>
              <a:rPr lang="de-DE" altLang="de-DE" sz="1200" b="1" baseline="-25000"/>
              <a:t>2</a:t>
            </a:r>
            <a:r>
              <a:rPr lang="de-DE" altLang="de-DE" sz="1200" i="1"/>
              <a:t>P 	</a:t>
            </a:r>
            <a:r>
              <a:rPr lang="de-DE" altLang="de-DE" sz="1200"/>
              <a:t>DOUBLE (bit d</a:t>
            </a:r>
            <a:r>
              <a:rPr lang="de-DE" altLang="de-DE" sz="1200" baseline="-25000"/>
              <a:t>1</a:t>
            </a:r>
            <a:r>
              <a:rPr lang="de-DE" altLang="de-DE" sz="1200"/>
              <a:t>)</a:t>
            </a:r>
          </a:p>
          <a:p>
            <a:r>
              <a:rPr lang="de-DE" altLang="de-DE" sz="1200"/>
              <a:t>#3</a:t>
            </a:r>
            <a:r>
              <a:rPr lang="de-DE" altLang="de-DE" sz="1200" i="1"/>
              <a:t>b 	</a:t>
            </a:r>
            <a:r>
              <a:rPr lang="de-DE" altLang="de-DE" sz="1200"/>
              <a:t>12</a:t>
            </a:r>
            <a:r>
              <a:rPr lang="de-DE" altLang="de-DE" sz="1200" i="1"/>
              <a:t>P</a:t>
            </a:r>
            <a:r>
              <a:rPr lang="de-DE" altLang="de-DE" sz="1200"/>
              <a:t>+</a:t>
            </a:r>
            <a:r>
              <a:rPr lang="de-DE" altLang="de-DE" sz="1200" i="1"/>
              <a:t>P </a:t>
            </a:r>
            <a:r>
              <a:rPr lang="de-DE" altLang="de-DE" sz="1200"/>
              <a:t>= 13</a:t>
            </a:r>
            <a:r>
              <a:rPr lang="de-DE" altLang="de-DE" sz="1200" i="1"/>
              <a:t>P </a:t>
            </a:r>
            <a:r>
              <a:rPr lang="de-DE" altLang="de-DE" sz="1200"/>
              <a:t>= 1100</a:t>
            </a:r>
            <a:r>
              <a:rPr lang="de-DE" altLang="de-DE" sz="1200" baseline="-25000"/>
              <a:t>2</a:t>
            </a:r>
            <a:r>
              <a:rPr lang="de-DE" altLang="de-DE" sz="1200" i="1"/>
              <a:t>P</a:t>
            </a:r>
            <a:r>
              <a:rPr lang="de-DE" altLang="de-DE" sz="1200"/>
              <a:t>+1</a:t>
            </a:r>
            <a:r>
              <a:rPr lang="de-DE" altLang="de-DE" sz="1200" baseline="-25000"/>
              <a:t>2</a:t>
            </a:r>
            <a:r>
              <a:rPr lang="de-DE" altLang="de-DE" sz="1200"/>
              <a:t> </a:t>
            </a:r>
            <a:r>
              <a:rPr lang="de-DE" altLang="de-DE" sz="1200" i="1"/>
              <a:t>P </a:t>
            </a:r>
            <a:r>
              <a:rPr lang="de-DE" altLang="de-DE" sz="1200"/>
              <a:t>= </a:t>
            </a:r>
            <a:r>
              <a:rPr lang="de-DE" altLang="de-DE" sz="1200" b="1"/>
              <a:t>1101</a:t>
            </a:r>
            <a:r>
              <a:rPr lang="de-DE" altLang="de-DE" sz="1200" baseline="-25000"/>
              <a:t>2</a:t>
            </a:r>
            <a:r>
              <a:rPr lang="de-DE" altLang="de-DE" sz="1200" i="1"/>
              <a:t>P 	</a:t>
            </a:r>
            <a:r>
              <a:rPr lang="de-DE" altLang="de-DE" sz="1200"/>
              <a:t>ADD (bit d</a:t>
            </a:r>
            <a:r>
              <a:rPr lang="de-DE" altLang="de-DE" sz="1200" baseline="-25000"/>
              <a:t>1</a:t>
            </a:r>
            <a:r>
              <a:rPr lang="de-DE" altLang="de-DE" sz="1200"/>
              <a:t>=1)</a:t>
            </a:r>
          </a:p>
          <a:p>
            <a:r>
              <a:rPr lang="de-DE" altLang="de-DE" sz="1200"/>
              <a:t>#4</a:t>
            </a:r>
            <a:r>
              <a:rPr lang="de-DE" altLang="de-DE" sz="1200" i="1"/>
              <a:t>a 	</a:t>
            </a:r>
            <a:r>
              <a:rPr lang="de-DE" altLang="de-DE" sz="1200"/>
              <a:t>13</a:t>
            </a:r>
            <a:r>
              <a:rPr lang="de-DE" altLang="de-DE" sz="1200" i="1"/>
              <a:t>P</a:t>
            </a:r>
            <a:r>
              <a:rPr lang="de-DE" altLang="de-DE" sz="1200"/>
              <a:t>+13</a:t>
            </a:r>
            <a:r>
              <a:rPr lang="de-DE" altLang="de-DE" sz="1200" i="1"/>
              <a:t>P </a:t>
            </a:r>
            <a:r>
              <a:rPr lang="de-DE" altLang="de-DE" sz="1200"/>
              <a:t>= 26</a:t>
            </a:r>
            <a:r>
              <a:rPr lang="de-DE" altLang="de-DE" sz="1200" i="1"/>
              <a:t>P </a:t>
            </a:r>
            <a:r>
              <a:rPr lang="de-DE" altLang="de-DE" sz="1200"/>
              <a:t>= 2(1101</a:t>
            </a:r>
            <a:r>
              <a:rPr lang="de-DE" altLang="de-DE" sz="1200" baseline="-25000"/>
              <a:t>2</a:t>
            </a:r>
            <a:r>
              <a:rPr lang="de-DE" altLang="de-DE" sz="1200" i="1"/>
              <a:t>P</a:t>
            </a:r>
            <a:r>
              <a:rPr lang="de-DE" altLang="de-DE" sz="1200"/>
              <a:t>) = </a:t>
            </a:r>
            <a:r>
              <a:rPr lang="de-DE" altLang="de-DE" sz="1200" b="1"/>
              <a:t>11010</a:t>
            </a:r>
            <a:r>
              <a:rPr lang="de-DE" altLang="de-DE" sz="1200" b="1" baseline="-25000"/>
              <a:t>2</a:t>
            </a:r>
            <a:r>
              <a:rPr lang="de-DE" altLang="de-DE" sz="1200" i="1"/>
              <a:t>P </a:t>
            </a:r>
            <a:r>
              <a:rPr lang="de-DE" altLang="de-DE" sz="1200"/>
              <a:t>DOUBLE (bit d</a:t>
            </a:r>
            <a:r>
              <a:rPr lang="de-DE" altLang="de-DE" sz="1200" baseline="-25000"/>
              <a:t>0</a:t>
            </a:r>
            <a:r>
              <a:rPr lang="de-DE" altLang="de-DE" sz="1200"/>
              <a:t>)</a:t>
            </a:r>
          </a:p>
          <a:p>
            <a:r>
              <a:rPr lang="de-DE" altLang="de-DE" sz="1200"/>
              <a:t>#4</a:t>
            </a:r>
            <a:r>
              <a:rPr lang="de-DE" altLang="de-DE" sz="1200" i="1"/>
              <a:t>b 				</a:t>
            </a:r>
            <a:r>
              <a:rPr lang="de-DE" altLang="de-DE" sz="1200"/>
              <a:t>no ADD (</a:t>
            </a:r>
            <a:r>
              <a:rPr lang="de-DE" altLang="de-DE" sz="1200" i="1"/>
              <a:t>d</a:t>
            </a:r>
            <a:r>
              <a:rPr lang="de-DE" altLang="de-DE" sz="1200" baseline="-25000"/>
              <a:t>0</a:t>
            </a:r>
            <a:r>
              <a:rPr lang="de-DE" altLang="de-DE" sz="1200"/>
              <a:t> = 0)</a:t>
            </a:r>
          </a:p>
          <a:p>
            <a:endParaRPr lang="de-DE" altLang="de-DE" sz="1200"/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F8E42102-004C-4D72-AFAA-6CB56D9EE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975" y="2538413"/>
            <a:ext cx="5164138" cy="2671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6631" name="Foliennummernplatzhalter 2">
            <a:extLst>
              <a:ext uri="{FF2B5EF4-FFF2-40B4-BE49-F238E27FC236}">
                <a16:creationId xmlns:a16="http://schemas.microsoft.com/office/drawing/2014/main" id="{2F8D0488-2051-8436-CD7B-00A409F10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21501A-631F-EB4E-AA25-FBBFC12306A0}" type="slidenum">
              <a:rPr lang="de-DE" altLang="de-DE">
                <a:solidFill>
                  <a:srgbClr val="394073"/>
                </a:solidFill>
              </a:rPr>
              <a:pPr/>
              <a:t>14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Inhaltsplatzhalter 1">
            <a:extLst>
              <a:ext uri="{FF2B5EF4-FFF2-40B4-BE49-F238E27FC236}">
                <a16:creationId xmlns:a16="http://schemas.microsoft.com/office/drawing/2014/main" id="{5B3A695B-DC40-5660-9674-E1C36D80B9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0063" y="1071563"/>
            <a:ext cx="8215312" cy="198755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Introduction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Computations on Elliptic Curves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 b="1"/>
              <a:t>The Elliptic Curve Diffie-Hellman Protocol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Security Aspects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Implementation in Software and Hardware</a:t>
            </a:r>
          </a:p>
        </p:txBody>
      </p:sp>
      <p:sp>
        <p:nvSpPr>
          <p:cNvPr id="27651" name="Fußzeilenplatzhalter 3">
            <a:extLst>
              <a:ext uri="{FF2B5EF4-FFF2-40B4-BE49-F238E27FC236}">
                <a16:creationId xmlns:a16="http://schemas.microsoft.com/office/drawing/2014/main" id="{AA2E2BFD-8F52-3E16-906E-C3A166F35E70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27652" name="Titel 4">
            <a:extLst>
              <a:ext uri="{FF2B5EF4-FFF2-40B4-BE49-F238E27FC236}">
                <a16:creationId xmlns:a16="http://schemas.microsoft.com/office/drawing/2014/main" id="{C76124A9-6C5A-A4C3-A4E2-7AF412FF25F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 sz="1800"/>
              <a:t>Content of this Chapter</a:t>
            </a:r>
            <a:endParaRPr lang="de-DE" altLang="de-DE"/>
          </a:p>
        </p:txBody>
      </p:sp>
      <p:pic>
        <p:nvPicPr>
          <p:cNvPr id="27653" name="Picture 6">
            <a:extLst>
              <a:ext uri="{FF2B5EF4-FFF2-40B4-BE49-F238E27FC236}">
                <a16:creationId xmlns:a16="http://schemas.microsoft.com/office/drawing/2014/main" id="{D5FAC5F2-A7D8-3341-2F35-F80B01038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50938"/>
            <a:ext cx="3378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Foliennummernplatzhalter 2">
            <a:extLst>
              <a:ext uri="{FF2B5EF4-FFF2-40B4-BE49-F238E27FC236}">
                <a16:creationId xmlns:a16="http://schemas.microsoft.com/office/drawing/2014/main" id="{6E0DC746-0712-AC6A-3496-03240777AE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39F050-4E44-1049-AAF8-6D8A97E344C2}" type="slidenum">
              <a:rPr lang="de-DE" altLang="de-DE">
                <a:solidFill>
                  <a:srgbClr val="394073"/>
                </a:solidFill>
              </a:rPr>
              <a:pPr/>
              <a:t>15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741F62DE-9DDF-413B-A037-CC6ED5A35B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The Elliptic Curve Diffie-Hellman Key Exchange (ECDH)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7377BE18-5197-61B5-B437-CDBFDBBCC88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7640637" cy="51054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sz="1400"/>
              <a:t>Given a prime </a:t>
            </a:r>
            <a:r>
              <a:rPr lang="de-DE" altLang="de-DE" sz="1400" i="1"/>
              <a:t>p</a:t>
            </a:r>
            <a:r>
              <a:rPr lang="de-DE" altLang="de-DE" sz="1400"/>
              <a:t>, a suitable elliptic curve </a:t>
            </a:r>
            <a:r>
              <a:rPr lang="de-DE" altLang="de-DE" sz="1400" i="1"/>
              <a:t>E</a:t>
            </a:r>
            <a:r>
              <a:rPr lang="de-DE" altLang="de-DE" sz="1400"/>
              <a:t> and a point P=(x</a:t>
            </a:r>
            <a:r>
              <a:rPr lang="de-DE" altLang="de-DE" sz="1400" baseline="-25000"/>
              <a:t>P</a:t>
            </a:r>
            <a:r>
              <a:rPr lang="de-DE" altLang="de-DE" sz="1400"/>
              <a:t>,y</a:t>
            </a:r>
            <a:r>
              <a:rPr lang="de-DE" altLang="de-DE" sz="1400" baseline="-25000"/>
              <a:t>P</a:t>
            </a:r>
            <a:r>
              <a:rPr lang="de-DE" altLang="de-DE" sz="1400"/>
              <a:t>)</a:t>
            </a:r>
          </a:p>
          <a:p>
            <a:pPr>
              <a:buFont typeface="Wingdings" pitchFamily="2" charset="2"/>
              <a:buChar char="§"/>
            </a:pPr>
            <a:r>
              <a:rPr lang="de-DE" altLang="de-DE" sz="1400"/>
              <a:t>The Elliptic Curve Diffie-Hellman Key Exchange is defined by the following protocol:</a:t>
            </a:r>
            <a:br>
              <a:rPr lang="de-DE" altLang="de-DE" sz="1400"/>
            </a:b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r>
              <a:rPr lang="de-DE" altLang="de-DE" sz="1400"/>
              <a:t>Joint secret between Alice and Bob: T</a:t>
            </a:r>
            <a:r>
              <a:rPr lang="de-DE" altLang="de-DE" sz="1400" baseline="-25000"/>
              <a:t>AB</a:t>
            </a:r>
            <a:r>
              <a:rPr lang="de-DE" altLang="de-DE" sz="1400"/>
              <a:t> = (x</a:t>
            </a:r>
            <a:r>
              <a:rPr lang="de-DE" altLang="de-DE" sz="1400" baseline="-25000"/>
              <a:t>AB</a:t>
            </a:r>
            <a:r>
              <a:rPr lang="de-DE" altLang="de-DE" sz="1400"/>
              <a:t>, y</a:t>
            </a:r>
            <a:r>
              <a:rPr lang="de-DE" altLang="de-DE" sz="1400" baseline="-25000"/>
              <a:t>AB</a:t>
            </a:r>
            <a:r>
              <a:rPr lang="de-DE" altLang="de-DE" sz="1400"/>
              <a:t>)</a:t>
            </a:r>
          </a:p>
          <a:p>
            <a:pPr>
              <a:buFont typeface="Wingdings" pitchFamily="2" charset="2"/>
              <a:buChar char="§"/>
            </a:pPr>
            <a:r>
              <a:rPr lang="de-DE" altLang="de-DE" sz="1400"/>
              <a:t>Proof for correctness: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000">
                <a:cs typeface="Arial" panose="020B0604020202020204" pitchFamily="34" charset="0"/>
              </a:rPr>
              <a:t>Alice computes aB=a(bP)=abP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000">
                <a:cs typeface="Arial" panose="020B0604020202020204" pitchFamily="34" charset="0"/>
              </a:rPr>
              <a:t>Bob computes bA=b(aP)=abP since group is associative</a:t>
            </a:r>
          </a:p>
          <a:p>
            <a:pPr>
              <a:buFont typeface="Wingdings" pitchFamily="2" charset="2"/>
              <a:buChar char="§"/>
            </a:pPr>
            <a:r>
              <a:rPr lang="de-DE" altLang="de-DE" sz="1400">
                <a:cs typeface="Arial" panose="020B0604020202020204" pitchFamily="34" charset="0"/>
              </a:rPr>
              <a:t>One of the coordinates of the point T</a:t>
            </a:r>
            <a:r>
              <a:rPr lang="de-DE" altLang="de-DE" sz="1400" baseline="-25000">
                <a:cs typeface="Arial" panose="020B0604020202020204" pitchFamily="34" charset="0"/>
              </a:rPr>
              <a:t>AB</a:t>
            </a:r>
            <a:r>
              <a:rPr lang="de-DE" altLang="de-DE" sz="1400">
                <a:cs typeface="Arial" panose="020B0604020202020204" pitchFamily="34" charset="0"/>
              </a:rPr>
              <a:t> (usually the x-coordinate) can be used as session key (often after applying a hash function)</a:t>
            </a:r>
          </a:p>
        </p:txBody>
      </p:sp>
      <p:sp>
        <p:nvSpPr>
          <p:cNvPr id="28676" name="Fußzeilenplatzhalter 4">
            <a:extLst>
              <a:ext uri="{FF2B5EF4-FFF2-40B4-BE49-F238E27FC236}">
                <a16:creationId xmlns:a16="http://schemas.microsoft.com/office/drawing/2014/main" id="{CAF0FEB1-107D-9977-F537-5AD7EA7C972C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28677" name="Rectangle 9">
            <a:extLst>
              <a:ext uri="{FF2B5EF4-FFF2-40B4-BE49-F238E27FC236}">
                <a16:creationId xmlns:a16="http://schemas.microsoft.com/office/drawing/2014/main" id="{E4FE47BF-194E-A1E0-B9CB-27EFE400C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2055813"/>
            <a:ext cx="2997200" cy="2152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8678" name="Rectangle 10">
            <a:extLst>
              <a:ext uri="{FF2B5EF4-FFF2-40B4-BE49-F238E27FC236}">
                <a16:creationId xmlns:a16="http://schemas.microsoft.com/office/drawing/2014/main" id="{7C0B75E9-2E09-BB48-BB57-BA34B54A8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2022475"/>
            <a:ext cx="3067050" cy="2208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8679" name="Text Box 11">
            <a:extLst>
              <a:ext uri="{FF2B5EF4-FFF2-40B4-BE49-F238E27FC236}">
                <a16:creationId xmlns:a16="http://schemas.microsoft.com/office/drawing/2014/main" id="{308EC890-919F-76B0-A8C6-CC2029676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160588"/>
            <a:ext cx="2549525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 b="1" i="1"/>
              <a:t>Alice</a:t>
            </a:r>
          </a:p>
          <a:p>
            <a:endParaRPr lang="de-DE" altLang="de-DE" sz="1400" b="1" i="1"/>
          </a:p>
          <a:p>
            <a:r>
              <a:rPr lang="de-DE" altLang="de-DE" sz="1400"/>
              <a:t>Choose k</a:t>
            </a:r>
            <a:r>
              <a:rPr lang="de-DE" altLang="de-DE" sz="1400" baseline="-25000"/>
              <a:t>PrA</a:t>
            </a:r>
            <a:r>
              <a:rPr lang="de-DE" altLang="de-DE" sz="1400"/>
              <a:t>= </a:t>
            </a:r>
            <a:r>
              <a:rPr lang="de-DE" altLang="de-DE" sz="1400" i="1"/>
              <a:t>a     {2, 3,…, #E-1}</a:t>
            </a:r>
          </a:p>
          <a:p>
            <a:r>
              <a:rPr lang="de-DE" altLang="de-DE" sz="1400"/>
              <a:t>Compute k</a:t>
            </a:r>
            <a:r>
              <a:rPr lang="de-DE" altLang="de-DE" sz="1400" baseline="-25000"/>
              <a:t>PubA</a:t>
            </a:r>
            <a:r>
              <a:rPr lang="de-DE" altLang="de-DE" sz="1400"/>
              <a:t>= </a:t>
            </a:r>
            <a:r>
              <a:rPr lang="de-DE" altLang="de-DE" sz="1400" i="1"/>
              <a:t>A = aP = (x</a:t>
            </a:r>
            <a:r>
              <a:rPr lang="de-DE" altLang="de-DE" sz="1400" i="1" baseline="-25000"/>
              <a:t>A</a:t>
            </a:r>
            <a:r>
              <a:rPr lang="de-DE" altLang="de-DE" sz="1400" i="1"/>
              <a:t>,y</a:t>
            </a:r>
            <a:r>
              <a:rPr lang="de-DE" altLang="de-DE" sz="1400" i="1" baseline="-25000"/>
              <a:t>A</a:t>
            </a:r>
            <a:r>
              <a:rPr lang="de-DE" altLang="de-DE" sz="1400" i="1"/>
              <a:t>)</a:t>
            </a:r>
          </a:p>
          <a:p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r>
              <a:rPr lang="de-DE" altLang="de-DE" sz="1400"/>
              <a:t>Compute </a:t>
            </a:r>
            <a:r>
              <a:rPr lang="de-DE" altLang="de-DE" sz="1400" i="1"/>
              <a:t>aB = T</a:t>
            </a:r>
            <a:r>
              <a:rPr lang="de-DE" altLang="de-DE" sz="1400" i="1" baseline="-25000"/>
              <a:t>ab</a:t>
            </a:r>
          </a:p>
          <a:p>
            <a:endParaRPr lang="de-DE" altLang="de-DE" sz="1400" i="1"/>
          </a:p>
        </p:txBody>
      </p:sp>
      <p:graphicFrame>
        <p:nvGraphicFramePr>
          <p:cNvPr id="28680" name="Object 2">
            <a:extLst>
              <a:ext uri="{FF2B5EF4-FFF2-40B4-BE49-F238E27FC236}">
                <a16:creationId xmlns:a16="http://schemas.microsoft.com/office/drawing/2014/main" id="{38DD3CA3-EDCD-E2E6-BDAF-21DC1FC84198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103438" y="2614613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2" imgW="3505200" imgH="3505200" progId="Equation.3">
                  <p:embed/>
                </p:oleObj>
              </mc:Choice>
              <mc:Fallback>
                <p:oleObj name="Formel" r:id="rId2" imgW="3505200" imgH="3505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8" y="2614613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16">
            <a:extLst>
              <a:ext uri="{FF2B5EF4-FFF2-40B4-BE49-F238E27FC236}">
                <a16:creationId xmlns:a16="http://schemas.microsoft.com/office/drawing/2014/main" id="{8E79CE1D-FD6F-95CF-933D-2AD65614B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75" y="2089150"/>
            <a:ext cx="2549525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 b="1" i="1"/>
              <a:t>Bob</a:t>
            </a:r>
          </a:p>
          <a:p>
            <a:endParaRPr lang="de-DE" altLang="de-DE" sz="1400" b="1" i="1"/>
          </a:p>
          <a:p>
            <a:r>
              <a:rPr lang="de-DE" altLang="de-DE" sz="1400"/>
              <a:t>Choose k</a:t>
            </a:r>
            <a:r>
              <a:rPr lang="de-DE" altLang="de-DE" sz="1400" baseline="-25000"/>
              <a:t>PrB</a:t>
            </a:r>
            <a:r>
              <a:rPr lang="de-DE" altLang="de-DE" sz="1400"/>
              <a:t>= </a:t>
            </a:r>
            <a:r>
              <a:rPr lang="de-DE" altLang="de-DE" sz="1400" i="1"/>
              <a:t>b     {2, 3,…, #E-1}</a:t>
            </a:r>
          </a:p>
          <a:p>
            <a:r>
              <a:rPr lang="de-DE" altLang="de-DE" sz="1400"/>
              <a:t>Compute k</a:t>
            </a:r>
            <a:r>
              <a:rPr lang="de-DE" altLang="de-DE" sz="1400" baseline="-25000"/>
              <a:t>PubB</a:t>
            </a:r>
            <a:r>
              <a:rPr lang="de-DE" altLang="de-DE" sz="1400"/>
              <a:t>= </a:t>
            </a:r>
            <a:r>
              <a:rPr lang="de-DE" altLang="de-DE" sz="1400" i="1"/>
              <a:t>B = bP = (x</a:t>
            </a:r>
            <a:r>
              <a:rPr lang="de-DE" altLang="de-DE" sz="1400" i="1" baseline="-25000"/>
              <a:t>B</a:t>
            </a:r>
            <a:r>
              <a:rPr lang="de-DE" altLang="de-DE" sz="1400" i="1"/>
              <a:t>,y</a:t>
            </a:r>
            <a:r>
              <a:rPr lang="de-DE" altLang="de-DE" sz="1400" i="1" baseline="-25000"/>
              <a:t>B</a:t>
            </a:r>
            <a:r>
              <a:rPr lang="de-DE" altLang="de-DE" sz="1400" i="1"/>
              <a:t>)</a:t>
            </a:r>
          </a:p>
          <a:p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r>
              <a:rPr lang="de-DE" altLang="de-DE" sz="1400"/>
              <a:t>Compute </a:t>
            </a:r>
            <a:r>
              <a:rPr lang="de-DE" altLang="de-DE" sz="1400" i="1"/>
              <a:t>bA = T</a:t>
            </a:r>
            <a:r>
              <a:rPr lang="de-DE" altLang="de-DE" sz="1400" i="1" baseline="-25000"/>
              <a:t>ab</a:t>
            </a:r>
          </a:p>
          <a:p>
            <a:endParaRPr lang="de-DE" altLang="de-DE" sz="1400" i="1"/>
          </a:p>
        </p:txBody>
      </p:sp>
      <p:sp>
        <p:nvSpPr>
          <p:cNvPr id="28682" name="Line 17">
            <a:extLst>
              <a:ext uri="{FF2B5EF4-FFF2-40B4-BE49-F238E27FC236}">
                <a16:creationId xmlns:a16="http://schemas.microsoft.com/office/drawing/2014/main" id="{AA85C385-7A62-FEEE-7AF4-571375050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232150"/>
            <a:ext cx="197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8683" name="Line 18">
            <a:extLst>
              <a:ext uri="{FF2B5EF4-FFF2-40B4-BE49-F238E27FC236}">
                <a16:creationId xmlns:a16="http://schemas.microsoft.com/office/drawing/2014/main" id="{1D27DE5A-4038-487A-8F72-1D5C0927C1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8688" y="3584575"/>
            <a:ext cx="199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8684" name="Text Box 19">
            <a:extLst>
              <a:ext uri="{FF2B5EF4-FFF2-40B4-BE49-F238E27FC236}">
                <a16:creationId xmlns:a16="http://schemas.microsoft.com/office/drawing/2014/main" id="{B7DD09E7-92D0-DB48-4DF9-C209F1069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6425" y="3014663"/>
            <a:ext cx="1190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/>
              <a:t>A</a:t>
            </a:r>
          </a:p>
        </p:txBody>
      </p:sp>
      <p:sp>
        <p:nvSpPr>
          <p:cNvPr id="28685" name="Text Box 20">
            <a:extLst>
              <a:ext uri="{FF2B5EF4-FFF2-40B4-BE49-F238E27FC236}">
                <a16:creationId xmlns:a16="http://schemas.microsoft.com/office/drawing/2014/main" id="{C0014084-4C3E-60BB-B077-B6E1A1D86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138" y="3367088"/>
            <a:ext cx="1190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/>
              <a:t>B</a:t>
            </a:r>
          </a:p>
        </p:txBody>
      </p:sp>
      <p:graphicFrame>
        <p:nvGraphicFramePr>
          <p:cNvPr id="28686" name="Object 21">
            <a:extLst>
              <a:ext uri="{FF2B5EF4-FFF2-40B4-BE49-F238E27FC236}">
                <a16:creationId xmlns:a16="http://schemas.microsoft.com/office/drawing/2014/main" id="{FFF5C04C-AEC0-EDA5-1308-69F24A282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6888" y="2552700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4" imgW="3505200" imgH="3505200" progId="Equation.3">
                  <p:embed/>
                </p:oleObj>
              </mc:Choice>
              <mc:Fallback>
                <p:oleObj name="Formel" r:id="rId4" imgW="3505200" imgH="3505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8" y="2552700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Foliennummernplatzhalter 2">
            <a:extLst>
              <a:ext uri="{FF2B5EF4-FFF2-40B4-BE49-F238E27FC236}">
                <a16:creationId xmlns:a16="http://schemas.microsoft.com/office/drawing/2014/main" id="{F2BD6E9F-1F3C-2544-1675-F17161EA8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C7B06E-9E8A-964A-9A1D-C06F66BA20A4}" type="slidenum">
              <a:rPr lang="de-DE" altLang="de-DE">
                <a:solidFill>
                  <a:srgbClr val="394073"/>
                </a:solidFill>
              </a:rPr>
              <a:pPr/>
              <a:t>16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56B28FB-D6FF-481D-2842-6A9C94C1C8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The Elliptic Curve Diffie-Hellman Key Exchange (ECDH) (ctd.)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F192804-7560-2B43-7A5D-027F5136754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7640637" cy="5076825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sz="1400">
                <a:cs typeface="Arial" panose="020B0604020202020204" pitchFamily="34" charset="0"/>
              </a:rPr>
              <a:t>The ECDH is often used to derive session keys for (symmetric) encryption</a:t>
            </a:r>
          </a:p>
          <a:p>
            <a:pPr>
              <a:buFont typeface="Wingdings" pitchFamily="2" charset="2"/>
              <a:buChar char="§"/>
            </a:pPr>
            <a:r>
              <a:rPr lang="de-DE" altLang="de-DE" sz="1400">
                <a:cs typeface="Arial" panose="020B0604020202020204" pitchFamily="34" charset="0"/>
              </a:rPr>
              <a:t>One of the coordinates of the point T</a:t>
            </a:r>
            <a:r>
              <a:rPr lang="de-DE" altLang="de-DE" sz="1400" baseline="-25000">
                <a:cs typeface="Arial" panose="020B0604020202020204" pitchFamily="34" charset="0"/>
              </a:rPr>
              <a:t>AB</a:t>
            </a:r>
            <a:r>
              <a:rPr lang="de-DE" altLang="de-DE" sz="1400">
                <a:cs typeface="Arial" panose="020B0604020202020204" pitchFamily="34" charset="0"/>
              </a:rPr>
              <a:t> (usually the x-coordinate) is taken as session key</a:t>
            </a: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r>
              <a:rPr lang="de-DE" altLang="de-DE" sz="1400"/>
              <a:t>In some cases, a hash function (see next chapters) is used to derive the session key</a:t>
            </a:r>
          </a:p>
        </p:txBody>
      </p:sp>
      <p:sp>
        <p:nvSpPr>
          <p:cNvPr id="29700" name="Fußzeilenplatzhalter 4">
            <a:extLst>
              <a:ext uri="{FF2B5EF4-FFF2-40B4-BE49-F238E27FC236}">
                <a16:creationId xmlns:a16="http://schemas.microsoft.com/office/drawing/2014/main" id="{CD5E9BE1-C0C2-0549-4BD2-C160E20D8702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29701" name="Rectangle 6">
            <a:extLst>
              <a:ext uri="{FF2B5EF4-FFF2-40B4-BE49-F238E27FC236}">
                <a16:creationId xmlns:a16="http://schemas.microsoft.com/office/drawing/2014/main" id="{8AB64410-55D9-776E-965C-CC0F6AE79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2055813"/>
            <a:ext cx="2997200" cy="2152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9702" name="Rectangle 7">
            <a:extLst>
              <a:ext uri="{FF2B5EF4-FFF2-40B4-BE49-F238E27FC236}">
                <a16:creationId xmlns:a16="http://schemas.microsoft.com/office/drawing/2014/main" id="{7ED1AAED-9B1D-9BA2-4366-DED2E73F0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2025650"/>
            <a:ext cx="3060700" cy="2208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9703" name="Text Box 8">
            <a:extLst>
              <a:ext uri="{FF2B5EF4-FFF2-40B4-BE49-F238E27FC236}">
                <a16:creationId xmlns:a16="http://schemas.microsoft.com/office/drawing/2014/main" id="{B204D587-CE60-6A59-E4B0-87A7ED107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160588"/>
            <a:ext cx="2549525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 b="1" i="1"/>
              <a:t>Alice</a:t>
            </a:r>
          </a:p>
          <a:p>
            <a:endParaRPr lang="de-DE" altLang="de-DE" sz="1400" b="1" i="1"/>
          </a:p>
          <a:p>
            <a:r>
              <a:rPr lang="de-DE" altLang="de-DE" sz="1400"/>
              <a:t>Choose k</a:t>
            </a:r>
            <a:r>
              <a:rPr lang="de-DE" altLang="de-DE" sz="1400" baseline="-25000"/>
              <a:t>PrA</a:t>
            </a:r>
            <a:r>
              <a:rPr lang="de-DE" altLang="de-DE" sz="1400"/>
              <a:t>= </a:t>
            </a:r>
            <a:r>
              <a:rPr lang="de-DE" altLang="de-DE" sz="1400" i="1"/>
              <a:t>a     {2, 3,…, #E-1}</a:t>
            </a:r>
          </a:p>
          <a:p>
            <a:r>
              <a:rPr lang="de-DE" altLang="de-DE" sz="1400"/>
              <a:t>Compute k</a:t>
            </a:r>
            <a:r>
              <a:rPr lang="de-DE" altLang="de-DE" sz="1400" baseline="-25000"/>
              <a:t>PubA</a:t>
            </a:r>
            <a:r>
              <a:rPr lang="de-DE" altLang="de-DE" sz="1400"/>
              <a:t>= </a:t>
            </a:r>
            <a:r>
              <a:rPr lang="de-DE" altLang="de-DE" sz="1400" i="1"/>
              <a:t>A = aP = (x</a:t>
            </a:r>
            <a:r>
              <a:rPr lang="de-DE" altLang="de-DE" sz="1400" i="1" baseline="-25000"/>
              <a:t>A</a:t>
            </a:r>
            <a:r>
              <a:rPr lang="de-DE" altLang="de-DE" sz="1400" i="1"/>
              <a:t>,y</a:t>
            </a:r>
            <a:r>
              <a:rPr lang="de-DE" altLang="de-DE" sz="1400" i="1" baseline="-25000"/>
              <a:t>A</a:t>
            </a:r>
            <a:r>
              <a:rPr lang="de-DE" altLang="de-DE" sz="1400" i="1"/>
              <a:t>)</a:t>
            </a:r>
          </a:p>
          <a:p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r>
              <a:rPr lang="de-DE" altLang="de-DE" sz="1400"/>
              <a:t>Compute </a:t>
            </a:r>
            <a:r>
              <a:rPr lang="de-DE" altLang="de-DE" sz="1400" i="1"/>
              <a:t>aB = T</a:t>
            </a:r>
            <a:r>
              <a:rPr lang="de-DE" altLang="de-DE" sz="1400" i="1" baseline="-25000"/>
              <a:t>ab </a:t>
            </a:r>
            <a:r>
              <a:rPr lang="de-DE" altLang="de-DE" sz="1400" i="1"/>
              <a:t>= (x</a:t>
            </a:r>
            <a:r>
              <a:rPr lang="de-DE" altLang="de-DE" sz="1400" i="1" baseline="-25000"/>
              <a:t>T</a:t>
            </a:r>
            <a:r>
              <a:rPr lang="de-DE" altLang="de-DE" sz="1400" i="1"/>
              <a:t>,y</a:t>
            </a:r>
            <a:r>
              <a:rPr lang="de-DE" altLang="de-DE" sz="1400" i="1" baseline="-25000"/>
              <a:t>T</a:t>
            </a:r>
            <a:r>
              <a:rPr lang="de-DE" altLang="de-DE" sz="1400" i="1"/>
              <a:t>)</a:t>
            </a:r>
          </a:p>
          <a:p>
            <a:endParaRPr lang="de-DE" altLang="de-DE" sz="1400" i="1"/>
          </a:p>
          <a:p>
            <a:endParaRPr lang="de-DE" altLang="de-DE" sz="1400" i="1"/>
          </a:p>
          <a:p>
            <a:r>
              <a:rPr lang="de-DE" altLang="de-DE" sz="1400"/>
              <a:t>Define</a:t>
            </a:r>
            <a:r>
              <a:rPr lang="de-DE" altLang="de-DE" sz="1400" i="1"/>
              <a:t> </a:t>
            </a:r>
            <a:r>
              <a:rPr lang="de-DE" altLang="de-DE" sz="1400"/>
              <a:t>key</a:t>
            </a:r>
            <a:r>
              <a:rPr lang="de-DE" altLang="de-DE" sz="1400" i="1"/>
              <a:t> k</a:t>
            </a:r>
            <a:r>
              <a:rPr lang="de-DE" altLang="de-DE" sz="1400" i="1" baseline="-25000"/>
              <a:t>AES </a:t>
            </a:r>
            <a:r>
              <a:rPr lang="de-DE" altLang="de-DE" sz="1400" i="1"/>
              <a:t>= x</a:t>
            </a:r>
            <a:r>
              <a:rPr lang="de-DE" altLang="de-DE" sz="1400" i="1" baseline="-25000"/>
              <a:t>T</a:t>
            </a:r>
            <a:endParaRPr lang="de-DE" altLang="de-DE" sz="1400" baseline="-25000"/>
          </a:p>
          <a:p>
            <a:endParaRPr lang="de-DE" altLang="de-DE" sz="1400" i="1" baseline="-25000"/>
          </a:p>
          <a:p>
            <a:r>
              <a:rPr lang="de-DE" altLang="de-DE" sz="1400"/>
              <a:t>Given a message</a:t>
            </a:r>
            <a:r>
              <a:rPr lang="de-DE" altLang="de-DE" sz="1400" i="1"/>
              <a:t> m:</a:t>
            </a:r>
          </a:p>
          <a:p>
            <a:r>
              <a:rPr lang="de-DE" altLang="de-DE" sz="1400"/>
              <a:t>Encrypt</a:t>
            </a:r>
            <a:r>
              <a:rPr lang="de-DE" altLang="de-DE" sz="1400" i="1"/>
              <a:t> c = AES</a:t>
            </a:r>
            <a:r>
              <a:rPr lang="de-DE" altLang="de-DE" sz="1400" i="1" baseline="-25000"/>
              <a:t>kAES</a:t>
            </a:r>
            <a:r>
              <a:rPr lang="de-DE" altLang="de-DE" sz="1400" i="1"/>
              <a:t>(m)</a:t>
            </a:r>
          </a:p>
          <a:p>
            <a:endParaRPr lang="de-DE" altLang="de-DE" sz="1400" i="1"/>
          </a:p>
          <a:p>
            <a:endParaRPr lang="de-DE" altLang="de-DE" sz="1400" i="1"/>
          </a:p>
        </p:txBody>
      </p:sp>
      <p:graphicFrame>
        <p:nvGraphicFramePr>
          <p:cNvPr id="29704" name="Object 2">
            <a:extLst>
              <a:ext uri="{FF2B5EF4-FFF2-40B4-BE49-F238E27FC236}">
                <a16:creationId xmlns:a16="http://schemas.microsoft.com/office/drawing/2014/main" id="{628C622B-6427-6C4E-4B93-5AF5C863C8F1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103438" y="2614613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2" imgW="3505200" imgH="3505200" progId="Equation.3">
                  <p:embed/>
                </p:oleObj>
              </mc:Choice>
              <mc:Fallback>
                <p:oleObj name="Formel" r:id="rId2" imgW="3505200" imgH="3505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8" y="2614613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 Box 10">
            <a:extLst>
              <a:ext uri="{FF2B5EF4-FFF2-40B4-BE49-F238E27FC236}">
                <a16:creationId xmlns:a16="http://schemas.microsoft.com/office/drawing/2014/main" id="{455125DD-3435-2D8F-0ECB-4C1664877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75" y="2159000"/>
            <a:ext cx="2549525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 b="1" i="1"/>
              <a:t>Bob</a:t>
            </a:r>
          </a:p>
          <a:p>
            <a:endParaRPr lang="de-DE" altLang="de-DE" sz="1400" b="1" i="1"/>
          </a:p>
          <a:p>
            <a:r>
              <a:rPr lang="de-DE" altLang="de-DE" sz="1400"/>
              <a:t>Choose k</a:t>
            </a:r>
            <a:r>
              <a:rPr lang="de-DE" altLang="de-DE" sz="1400" baseline="-25000"/>
              <a:t>PrB</a:t>
            </a:r>
            <a:r>
              <a:rPr lang="de-DE" altLang="de-DE" sz="1400"/>
              <a:t>= </a:t>
            </a:r>
            <a:r>
              <a:rPr lang="de-DE" altLang="de-DE" sz="1400" i="1"/>
              <a:t>b     {2, 3,…, #E-1}</a:t>
            </a:r>
          </a:p>
          <a:p>
            <a:r>
              <a:rPr lang="de-DE" altLang="de-DE" sz="1400"/>
              <a:t>Compute k</a:t>
            </a:r>
            <a:r>
              <a:rPr lang="de-DE" altLang="de-DE" sz="1400" baseline="-25000"/>
              <a:t>PubB</a:t>
            </a:r>
            <a:r>
              <a:rPr lang="de-DE" altLang="de-DE" sz="1400"/>
              <a:t>= </a:t>
            </a:r>
            <a:r>
              <a:rPr lang="de-DE" altLang="de-DE" sz="1400" i="1"/>
              <a:t>B = bP = (x</a:t>
            </a:r>
            <a:r>
              <a:rPr lang="de-DE" altLang="de-DE" sz="1400" i="1" baseline="-25000"/>
              <a:t>B</a:t>
            </a:r>
            <a:r>
              <a:rPr lang="de-DE" altLang="de-DE" sz="1400" i="1"/>
              <a:t>,y</a:t>
            </a:r>
            <a:r>
              <a:rPr lang="de-DE" altLang="de-DE" sz="1400" i="1" baseline="-25000"/>
              <a:t>B</a:t>
            </a:r>
            <a:r>
              <a:rPr lang="de-DE" altLang="de-DE" sz="1400" i="1"/>
              <a:t>)</a:t>
            </a:r>
          </a:p>
          <a:p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r>
              <a:rPr lang="de-DE" altLang="de-DE" sz="1400"/>
              <a:t>Compute </a:t>
            </a:r>
            <a:r>
              <a:rPr lang="de-DE" altLang="de-DE" sz="1400" i="1"/>
              <a:t>bA = T</a:t>
            </a:r>
            <a:r>
              <a:rPr lang="de-DE" altLang="de-DE" sz="1400" i="1" baseline="-25000"/>
              <a:t>ab</a:t>
            </a:r>
            <a:r>
              <a:rPr lang="de-DE" altLang="de-DE" sz="1400" i="1"/>
              <a:t>= (x</a:t>
            </a:r>
            <a:r>
              <a:rPr lang="de-DE" altLang="de-DE" sz="1400" i="1" baseline="-25000"/>
              <a:t>T</a:t>
            </a:r>
            <a:r>
              <a:rPr lang="de-DE" altLang="de-DE" sz="1400" i="1"/>
              <a:t>,y</a:t>
            </a:r>
            <a:r>
              <a:rPr lang="de-DE" altLang="de-DE" sz="1400" i="1" baseline="-25000"/>
              <a:t>T</a:t>
            </a:r>
            <a:r>
              <a:rPr lang="de-DE" altLang="de-DE" sz="1400" i="1"/>
              <a:t>)</a:t>
            </a:r>
          </a:p>
          <a:p>
            <a:endParaRPr lang="de-DE" altLang="de-DE" sz="1400" i="1"/>
          </a:p>
          <a:p>
            <a:endParaRPr lang="de-DE" altLang="de-DE" sz="1400" i="1"/>
          </a:p>
          <a:p>
            <a:r>
              <a:rPr lang="de-DE" altLang="de-DE" sz="1400"/>
              <a:t>Define key</a:t>
            </a:r>
            <a:r>
              <a:rPr lang="de-DE" altLang="de-DE" sz="1400" i="1"/>
              <a:t> k</a:t>
            </a:r>
            <a:r>
              <a:rPr lang="de-DE" altLang="de-DE" sz="1400" i="1" baseline="-25000"/>
              <a:t>AES </a:t>
            </a:r>
            <a:r>
              <a:rPr lang="de-DE" altLang="de-DE" sz="1400" i="1"/>
              <a:t>= x</a:t>
            </a:r>
            <a:r>
              <a:rPr lang="de-DE" altLang="de-DE" sz="1400" i="1" baseline="-25000"/>
              <a:t>T</a:t>
            </a:r>
            <a:endParaRPr lang="de-DE" altLang="de-DE" sz="1400" i="1"/>
          </a:p>
          <a:p>
            <a:endParaRPr lang="de-DE" altLang="de-DE" sz="1400" i="1"/>
          </a:p>
          <a:p>
            <a:endParaRPr lang="de-DE" altLang="de-DE" sz="1400" i="1"/>
          </a:p>
          <a:p>
            <a:r>
              <a:rPr lang="de-DE" altLang="de-DE" sz="1400"/>
              <a:t>Received ciphertext</a:t>
            </a:r>
            <a:r>
              <a:rPr lang="de-DE" altLang="de-DE" sz="1400" i="1"/>
              <a:t> c:</a:t>
            </a:r>
          </a:p>
          <a:p>
            <a:r>
              <a:rPr lang="de-DE" altLang="de-DE" sz="1400"/>
              <a:t>Decrypt</a:t>
            </a:r>
            <a:r>
              <a:rPr lang="de-DE" altLang="de-DE" sz="1400" i="1"/>
              <a:t> m = AES</a:t>
            </a:r>
            <a:r>
              <a:rPr lang="de-DE" altLang="de-DE" sz="1400" i="1" baseline="30000"/>
              <a:t>-1</a:t>
            </a:r>
            <a:r>
              <a:rPr lang="de-DE" altLang="de-DE" sz="1400" i="1" baseline="-25000"/>
              <a:t>kAES</a:t>
            </a:r>
            <a:r>
              <a:rPr lang="de-DE" altLang="de-DE" sz="1400" i="1"/>
              <a:t>(c)</a:t>
            </a:r>
          </a:p>
          <a:p>
            <a:endParaRPr lang="de-DE" altLang="de-DE" sz="1400" i="1" baseline="-25000"/>
          </a:p>
          <a:p>
            <a:endParaRPr lang="de-DE" altLang="de-DE" sz="1400" i="1"/>
          </a:p>
        </p:txBody>
      </p:sp>
      <p:sp>
        <p:nvSpPr>
          <p:cNvPr id="29706" name="Line 11">
            <a:extLst>
              <a:ext uri="{FF2B5EF4-FFF2-40B4-BE49-F238E27FC236}">
                <a16:creationId xmlns:a16="http://schemas.microsoft.com/office/drawing/2014/main" id="{FA77C388-0791-9309-9B74-38C64187F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0913" y="3232150"/>
            <a:ext cx="197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9707" name="Line 12">
            <a:extLst>
              <a:ext uri="{FF2B5EF4-FFF2-40B4-BE49-F238E27FC236}">
                <a16:creationId xmlns:a16="http://schemas.microsoft.com/office/drawing/2014/main" id="{D2F8A370-251D-C957-AF9E-EF196FBF6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8688" y="3584575"/>
            <a:ext cx="199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9708" name="Text Box 13">
            <a:extLst>
              <a:ext uri="{FF2B5EF4-FFF2-40B4-BE49-F238E27FC236}">
                <a16:creationId xmlns:a16="http://schemas.microsoft.com/office/drawing/2014/main" id="{C1DBE86B-B90C-E68B-744E-9E4A643A2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6425" y="3014663"/>
            <a:ext cx="1190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/>
              <a:t>A</a:t>
            </a:r>
          </a:p>
        </p:txBody>
      </p:sp>
      <p:sp>
        <p:nvSpPr>
          <p:cNvPr id="29709" name="Text Box 14">
            <a:extLst>
              <a:ext uri="{FF2B5EF4-FFF2-40B4-BE49-F238E27FC236}">
                <a16:creationId xmlns:a16="http://schemas.microsoft.com/office/drawing/2014/main" id="{835160BF-CE8F-148B-00AB-955C4FA3D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138" y="3367088"/>
            <a:ext cx="1190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/>
              <a:t>B</a:t>
            </a:r>
          </a:p>
        </p:txBody>
      </p:sp>
      <p:graphicFrame>
        <p:nvGraphicFramePr>
          <p:cNvPr id="29710" name="Object 15">
            <a:extLst>
              <a:ext uri="{FF2B5EF4-FFF2-40B4-BE49-F238E27FC236}">
                <a16:creationId xmlns:a16="http://schemas.microsoft.com/office/drawing/2014/main" id="{B7087068-5318-5114-246E-CF4C848DB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610580"/>
              </p:ext>
            </p:extLst>
          </p:nvPr>
        </p:nvGraphicFramePr>
        <p:xfrm>
          <a:off x="6846888" y="2624889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4" imgW="3505200" imgH="3505200" progId="Equation.3">
                  <p:embed/>
                </p:oleObj>
              </mc:Choice>
              <mc:Fallback>
                <p:oleObj name="Formel" r:id="rId4" imgW="3505200" imgH="3505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8" y="2624889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1" name="Rectangle 16">
            <a:extLst>
              <a:ext uri="{FF2B5EF4-FFF2-40B4-BE49-F238E27FC236}">
                <a16:creationId xmlns:a16="http://schemas.microsoft.com/office/drawing/2014/main" id="{41395600-48E3-21CC-2CE0-1E607598C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4205288"/>
            <a:ext cx="2997200" cy="1549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9712" name="Rectangle 17">
            <a:extLst>
              <a:ext uri="{FF2B5EF4-FFF2-40B4-BE49-F238E27FC236}">
                <a16:creationId xmlns:a16="http://schemas.microsoft.com/office/drawing/2014/main" id="{4E44DB7D-5706-B404-A3A2-43FFBCF20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4229100"/>
            <a:ext cx="3062287" cy="1549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9713" name="Line 18">
            <a:extLst>
              <a:ext uri="{FF2B5EF4-FFF2-40B4-BE49-F238E27FC236}">
                <a16:creationId xmlns:a16="http://schemas.microsoft.com/office/drawing/2014/main" id="{D8BFFE90-AF83-FEBE-F756-D70B82A6C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0113" y="5187950"/>
            <a:ext cx="197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9714" name="Text Box 19">
            <a:extLst>
              <a:ext uri="{FF2B5EF4-FFF2-40B4-BE49-F238E27FC236}">
                <a16:creationId xmlns:a16="http://schemas.microsoft.com/office/drawing/2014/main" id="{071CD54F-7AB2-E657-1584-7F203B6CD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5" y="4970463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400"/>
              <a:t>c</a:t>
            </a:r>
          </a:p>
        </p:txBody>
      </p:sp>
      <p:sp>
        <p:nvSpPr>
          <p:cNvPr id="29715" name="AutoShape 20">
            <a:extLst>
              <a:ext uri="{FF2B5EF4-FFF2-40B4-BE49-F238E27FC236}">
                <a16:creationId xmlns:a16="http://schemas.microsoft.com/office/drawing/2014/main" id="{A2F52E71-B133-C012-23A2-1F618ADA100E}"/>
              </a:ext>
            </a:extLst>
          </p:cNvPr>
          <p:cNvSpPr>
            <a:spLocks/>
          </p:cNvSpPr>
          <p:nvPr/>
        </p:nvSpPr>
        <p:spPr bwMode="auto">
          <a:xfrm>
            <a:off x="8451850" y="2044700"/>
            <a:ext cx="88900" cy="2178050"/>
          </a:xfrm>
          <a:prstGeom prst="rightBrace">
            <a:avLst>
              <a:gd name="adj1" fmla="val 20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9716" name="AutoShape 21">
            <a:extLst>
              <a:ext uri="{FF2B5EF4-FFF2-40B4-BE49-F238E27FC236}">
                <a16:creationId xmlns:a16="http://schemas.microsoft.com/office/drawing/2014/main" id="{91D27CEA-D9EB-865E-67EA-407C8C2C1CFE}"/>
              </a:ext>
            </a:extLst>
          </p:cNvPr>
          <p:cNvSpPr>
            <a:spLocks/>
          </p:cNvSpPr>
          <p:nvPr/>
        </p:nvSpPr>
        <p:spPr bwMode="auto">
          <a:xfrm>
            <a:off x="8442325" y="4286250"/>
            <a:ext cx="111125" cy="1504950"/>
          </a:xfrm>
          <a:prstGeom prst="rightBrace">
            <a:avLst>
              <a:gd name="adj1" fmla="val 1128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9717" name="Text Box 22">
            <a:extLst>
              <a:ext uri="{FF2B5EF4-FFF2-40B4-BE49-F238E27FC236}">
                <a16:creationId xmlns:a16="http://schemas.microsoft.com/office/drawing/2014/main" id="{5D5F3394-3894-10D6-10F0-99CBFC3472D6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522494" y="3058319"/>
            <a:ext cx="5730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z="1600" b="1"/>
              <a:t>ECDH</a:t>
            </a:r>
          </a:p>
        </p:txBody>
      </p:sp>
      <p:sp>
        <p:nvSpPr>
          <p:cNvPr id="29718" name="Text Box 23">
            <a:extLst>
              <a:ext uri="{FF2B5EF4-FFF2-40B4-BE49-F238E27FC236}">
                <a16:creationId xmlns:a16="http://schemas.microsoft.com/office/drawing/2014/main" id="{35A1EEC2-AABD-ACDF-9D83-9BB50E4A289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009732" y="4871244"/>
            <a:ext cx="16017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de-DE" altLang="de-DE" sz="1200" b="1"/>
              <a:t>Symmetric</a:t>
            </a:r>
            <a:br>
              <a:rPr lang="de-DE" altLang="de-DE" sz="1200" b="1"/>
            </a:br>
            <a:r>
              <a:rPr lang="de-DE" altLang="de-DE" sz="1200" b="1"/>
              <a:t>encryption/decryption</a:t>
            </a:r>
          </a:p>
        </p:txBody>
      </p:sp>
      <p:sp>
        <p:nvSpPr>
          <p:cNvPr id="29719" name="Foliennummernplatzhalter 2">
            <a:extLst>
              <a:ext uri="{FF2B5EF4-FFF2-40B4-BE49-F238E27FC236}">
                <a16:creationId xmlns:a16="http://schemas.microsoft.com/office/drawing/2014/main" id="{4E6AABF8-3C17-FC78-D5F2-03D0964D3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B26B06-7563-3F42-AF7D-B001035FDB18}" type="slidenum">
              <a:rPr lang="de-DE" altLang="de-DE">
                <a:solidFill>
                  <a:srgbClr val="394073"/>
                </a:solidFill>
              </a:rPr>
              <a:pPr/>
              <a:t>17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Inhaltsplatzhalter 1">
            <a:extLst>
              <a:ext uri="{FF2B5EF4-FFF2-40B4-BE49-F238E27FC236}">
                <a16:creationId xmlns:a16="http://schemas.microsoft.com/office/drawing/2014/main" id="{30499FFD-6617-5499-BB88-64971EC37D3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0063" y="1071563"/>
            <a:ext cx="8215312" cy="198755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Introduction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Computations on Elliptic Curves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The Elliptic Curve Diffie-Hellman Protocol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 b="1"/>
              <a:t>Security Aspects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Implementation in Software and Hardware</a:t>
            </a:r>
          </a:p>
        </p:txBody>
      </p:sp>
      <p:sp>
        <p:nvSpPr>
          <p:cNvPr id="30723" name="Fußzeilenplatzhalter 3">
            <a:extLst>
              <a:ext uri="{FF2B5EF4-FFF2-40B4-BE49-F238E27FC236}">
                <a16:creationId xmlns:a16="http://schemas.microsoft.com/office/drawing/2014/main" id="{7F7412B6-1054-3685-9650-4E2F089C9222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30724" name="Titel 4">
            <a:extLst>
              <a:ext uri="{FF2B5EF4-FFF2-40B4-BE49-F238E27FC236}">
                <a16:creationId xmlns:a16="http://schemas.microsoft.com/office/drawing/2014/main" id="{2B5E9348-58BC-1787-F0D4-699012D6D32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 sz="1800"/>
              <a:t>Content of this Chapter</a:t>
            </a:r>
            <a:endParaRPr lang="de-DE" altLang="de-DE"/>
          </a:p>
        </p:txBody>
      </p:sp>
      <p:pic>
        <p:nvPicPr>
          <p:cNvPr id="30725" name="Picture 6">
            <a:extLst>
              <a:ext uri="{FF2B5EF4-FFF2-40B4-BE49-F238E27FC236}">
                <a16:creationId xmlns:a16="http://schemas.microsoft.com/office/drawing/2014/main" id="{29E1852C-39C8-2FD0-B4BC-7C30313D6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50938"/>
            <a:ext cx="3378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Foliennummernplatzhalter 2">
            <a:extLst>
              <a:ext uri="{FF2B5EF4-FFF2-40B4-BE49-F238E27FC236}">
                <a16:creationId xmlns:a16="http://schemas.microsoft.com/office/drawing/2014/main" id="{487EFB90-383B-9B39-373E-928B48D7B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6B4912-1C67-B845-BDD4-79993150D196}" type="slidenum">
              <a:rPr lang="de-DE" altLang="de-DE">
                <a:solidFill>
                  <a:srgbClr val="394073"/>
                </a:solidFill>
              </a:rPr>
              <a:pPr/>
              <a:t>18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>
            <a:extLst>
              <a:ext uri="{FF2B5EF4-FFF2-40B4-BE49-F238E27FC236}">
                <a16:creationId xmlns:a16="http://schemas.microsoft.com/office/drawing/2014/main" id="{23319DA7-08E4-8698-AED4-E11621A64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338" y="503238"/>
            <a:ext cx="4665662" cy="573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2">
            <a:extLst>
              <a:ext uri="{FF2B5EF4-FFF2-40B4-BE49-F238E27FC236}">
                <a16:creationId xmlns:a16="http://schemas.microsoft.com/office/drawing/2014/main" id="{27DF5165-D64A-C645-8A40-7B29DE1E4B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Security Aspects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A8750F1-D323-B526-3449-B38531660CA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8364537" cy="509111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/>
              <a:t>Why are parameters signficantly smaller for elliptic curves (160-256 bit) than for RSA (1024-3076 bit)?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/>
              <a:t>Attacks on groups of elliptic curves are weaker than available factoring algorithms or integer DL attacks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/>
              <a:t>Best known attacks on elliptic curves (chosen according to cryptographic criterions)</a:t>
            </a:r>
            <a:br>
              <a:rPr lang="de-DE" altLang="de-DE"/>
            </a:br>
            <a:r>
              <a:rPr lang="de-DE" altLang="de-DE"/>
              <a:t>are the Baby-Step Giant-Step and Pollard-Rho method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/>
              <a:t>Complexity of these methods: on average, roughly </a:t>
            </a:r>
            <a:r>
              <a:rPr lang="de-DE" altLang="de-DE" i="1">
                <a:cs typeface="Arial" panose="020B0604020202020204" pitchFamily="34" charset="0"/>
              </a:rPr>
              <a:t>      </a:t>
            </a:r>
            <a:r>
              <a:rPr lang="de-DE" altLang="de-DE">
                <a:cs typeface="Arial" panose="020B0604020202020204" pitchFamily="34" charset="0"/>
              </a:rPr>
              <a:t> steps are required before the ECDLP can be successfully solved</a:t>
            </a:r>
          </a:p>
          <a:p>
            <a:pPr lvl="1">
              <a:buFont typeface="Wingdings" pitchFamily="2" charset="2"/>
              <a:buChar char="§"/>
            </a:pPr>
            <a:endParaRPr lang="de-DE" altLang="de-DE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de-DE" altLang="de-DE">
                <a:cs typeface="Arial" panose="020B0604020202020204" pitchFamily="34" charset="0"/>
              </a:rPr>
              <a:t>Implications to practical parameter sizes for elliptic curves: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>
                <a:cs typeface="Arial" panose="020B0604020202020204" pitchFamily="34" charset="0"/>
              </a:rPr>
              <a:t>An elliptic curve using a prime p with 160 bit (and roughly 2</a:t>
            </a:r>
            <a:r>
              <a:rPr lang="de-DE" altLang="de-DE" baseline="30000">
                <a:cs typeface="Arial" panose="020B0604020202020204" pitchFamily="34" charset="0"/>
              </a:rPr>
              <a:t>160</a:t>
            </a:r>
            <a:r>
              <a:rPr lang="de-DE" altLang="de-DE">
                <a:cs typeface="Arial" panose="020B0604020202020204" pitchFamily="34" charset="0"/>
              </a:rPr>
              <a:t> points) provides a security of 2</a:t>
            </a:r>
            <a:r>
              <a:rPr lang="de-DE" altLang="de-DE" baseline="30000">
                <a:cs typeface="Arial" panose="020B0604020202020204" pitchFamily="34" charset="0"/>
              </a:rPr>
              <a:t>80</a:t>
            </a:r>
            <a:r>
              <a:rPr lang="de-DE" altLang="de-DE">
                <a:cs typeface="Arial" panose="020B0604020202020204" pitchFamily="34" charset="0"/>
              </a:rPr>
              <a:t> steps that required by an attacker (on average) 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>
                <a:cs typeface="Arial" panose="020B0604020202020204" pitchFamily="34" charset="0"/>
              </a:rPr>
              <a:t>An elliptic curve using a prime p with 256 bit (roughly 2</a:t>
            </a:r>
            <a:r>
              <a:rPr lang="de-DE" altLang="de-DE" baseline="30000">
                <a:cs typeface="Arial" panose="020B0604020202020204" pitchFamily="34" charset="0"/>
              </a:rPr>
              <a:t>256</a:t>
            </a:r>
            <a:r>
              <a:rPr lang="de-DE" altLang="de-DE">
                <a:cs typeface="Arial" panose="020B0604020202020204" pitchFamily="34" charset="0"/>
              </a:rPr>
              <a:t> points) provides a security of 2</a:t>
            </a:r>
            <a:r>
              <a:rPr lang="de-DE" altLang="de-DE" baseline="30000">
                <a:cs typeface="Arial" panose="020B0604020202020204" pitchFamily="34" charset="0"/>
              </a:rPr>
              <a:t>128</a:t>
            </a:r>
            <a:r>
              <a:rPr lang="de-DE" altLang="de-DE">
                <a:cs typeface="Arial" panose="020B0604020202020204" pitchFamily="34" charset="0"/>
              </a:rPr>
              <a:t> steps on average</a:t>
            </a:r>
          </a:p>
          <a:p>
            <a:pPr lvl="1">
              <a:buFont typeface="Wingdings" pitchFamily="2" charset="2"/>
              <a:buChar char="§"/>
            </a:pPr>
            <a:endParaRPr lang="de-DE" altLang="de-DE">
              <a:cs typeface="Arial" panose="020B0604020202020204" pitchFamily="34" charset="0"/>
            </a:endParaRPr>
          </a:p>
        </p:txBody>
      </p:sp>
      <p:sp>
        <p:nvSpPr>
          <p:cNvPr id="31749" name="Fußzeilenplatzhalter 3">
            <a:extLst>
              <a:ext uri="{FF2B5EF4-FFF2-40B4-BE49-F238E27FC236}">
                <a16:creationId xmlns:a16="http://schemas.microsoft.com/office/drawing/2014/main" id="{F35FF2F0-4E41-0108-287D-C5B7659D9197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graphicFrame>
        <p:nvGraphicFramePr>
          <p:cNvPr id="31750" name="Object 9">
            <a:extLst>
              <a:ext uri="{FF2B5EF4-FFF2-40B4-BE49-F238E27FC236}">
                <a16:creationId xmlns:a16="http://schemas.microsoft.com/office/drawing/2014/main" id="{FFDD544B-A5AB-E7D2-8972-DC2E4E272AAF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673725" y="3084513"/>
          <a:ext cx="3556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3" imgW="6146800" imgH="5854700" progId="Equation.3">
                  <p:embed/>
                </p:oleObj>
              </mc:Choice>
              <mc:Fallback>
                <p:oleObj name="Formel" r:id="rId3" imgW="6146800" imgH="5854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725" y="3084513"/>
                        <a:ext cx="3556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Foliennummernplatzhalter 2">
            <a:extLst>
              <a:ext uri="{FF2B5EF4-FFF2-40B4-BE49-F238E27FC236}">
                <a16:creationId xmlns:a16="http://schemas.microsoft.com/office/drawing/2014/main" id="{785B865D-24B5-0CAD-D900-C82FFC258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CD4EBD-8853-164F-B74C-82D452CF62B5}" type="slidenum">
              <a:rPr lang="de-DE" altLang="de-DE">
                <a:solidFill>
                  <a:srgbClr val="394073"/>
                </a:solidFill>
              </a:rPr>
              <a:pPr/>
              <a:t>19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62C20-0923-054A-B843-6A628E2C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177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Bit lengths of Public-key Algorithms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9440DA-928E-0BBF-52F7-488C38A24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3" y="1870687"/>
            <a:ext cx="8831390" cy="207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32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Inhaltsplatzhalter 1">
            <a:extLst>
              <a:ext uri="{FF2B5EF4-FFF2-40B4-BE49-F238E27FC236}">
                <a16:creationId xmlns:a16="http://schemas.microsoft.com/office/drawing/2014/main" id="{C25526B0-514C-44D7-9BAD-92B2C9A61BD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0063" y="1071563"/>
            <a:ext cx="8215312" cy="198755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Introduction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Computations on Elliptic Curves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The Elliptic Curve Diffie-Hellman Protocol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/>
              <a:t>Security Aspects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de-DE" sz="1800" b="1"/>
              <a:t>Implementation in Software and Hardware</a:t>
            </a:r>
          </a:p>
        </p:txBody>
      </p:sp>
      <p:sp>
        <p:nvSpPr>
          <p:cNvPr id="32771" name="Fußzeilenplatzhalter 3">
            <a:extLst>
              <a:ext uri="{FF2B5EF4-FFF2-40B4-BE49-F238E27FC236}">
                <a16:creationId xmlns:a16="http://schemas.microsoft.com/office/drawing/2014/main" id="{7C159B34-AD27-9295-7E93-FCA47D75CFC9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sp>
        <p:nvSpPr>
          <p:cNvPr id="32772" name="Titel 4">
            <a:extLst>
              <a:ext uri="{FF2B5EF4-FFF2-40B4-BE49-F238E27FC236}">
                <a16:creationId xmlns:a16="http://schemas.microsoft.com/office/drawing/2014/main" id="{4C5947A5-165A-FF6E-F377-3FE9FA6FD1B6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 sz="1800"/>
              <a:t>Content of this Chapter</a:t>
            </a:r>
            <a:endParaRPr lang="de-DE" altLang="de-DE"/>
          </a:p>
        </p:txBody>
      </p:sp>
      <p:pic>
        <p:nvPicPr>
          <p:cNvPr id="32773" name="Picture 6">
            <a:extLst>
              <a:ext uri="{FF2B5EF4-FFF2-40B4-BE49-F238E27FC236}">
                <a16:creationId xmlns:a16="http://schemas.microsoft.com/office/drawing/2014/main" id="{4BFCEC3C-411C-0551-D328-B2F71A0A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50938"/>
            <a:ext cx="3378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Foliennummernplatzhalter 2">
            <a:extLst>
              <a:ext uri="{FF2B5EF4-FFF2-40B4-BE49-F238E27FC236}">
                <a16:creationId xmlns:a16="http://schemas.microsoft.com/office/drawing/2014/main" id="{72F28BCC-A6F9-63EB-CC30-D17C4F262C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A9DC02-C653-3242-AB83-4DA8B548C213}" type="slidenum">
              <a:rPr lang="de-DE" altLang="de-DE">
                <a:solidFill>
                  <a:srgbClr val="394073"/>
                </a:solidFill>
              </a:rPr>
              <a:pPr/>
              <a:t>21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48C6668D-324B-4879-B1E7-D3979CF61F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Implementations in Hardware and Software</a:t>
            </a:r>
          </a:p>
        </p:txBody>
      </p:sp>
      <p:sp>
        <p:nvSpPr>
          <p:cNvPr id="33795" name="Rectangle 9">
            <a:extLst>
              <a:ext uri="{FF2B5EF4-FFF2-40B4-BE49-F238E27FC236}">
                <a16:creationId xmlns:a16="http://schemas.microsoft.com/office/drawing/2014/main" id="{EBFD95B1-7D19-B120-89B0-3F1DBF76919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4030662" cy="507365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sz="1400"/>
              <a:t>Elliptic curve computations usually regarded as consisting of four layers: 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Basic modular arithmetic operations are computationally most expensive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Group operation implements point doubling</a:t>
            </a:r>
            <a:br>
              <a:rPr lang="de-DE" altLang="de-DE" sz="1400"/>
            </a:br>
            <a:r>
              <a:rPr lang="de-DE" altLang="de-DE" sz="1400"/>
              <a:t>and point addition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Point multiplication can be implemented using the Double-and-Add method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Upper layer protocols like ECDH and ECDSA</a:t>
            </a:r>
          </a:p>
          <a:p>
            <a:pPr lvl="1"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r>
              <a:rPr lang="de-DE" altLang="de-DE" sz="1400"/>
              <a:t>Most efforts should go in optimizations of the modular arithmetic operations, such as 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Modular addition and subtraction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Modular multiplication 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Modular inversion</a:t>
            </a:r>
          </a:p>
          <a:p>
            <a:pPr lvl="1">
              <a:buFont typeface="Wingdings" pitchFamily="2" charset="2"/>
              <a:buChar char="§"/>
            </a:pPr>
            <a:endParaRPr lang="de-DE" altLang="de-DE" sz="1400"/>
          </a:p>
        </p:txBody>
      </p:sp>
      <p:sp>
        <p:nvSpPr>
          <p:cNvPr id="33796" name="Fußzeilenplatzhalter 3">
            <a:extLst>
              <a:ext uri="{FF2B5EF4-FFF2-40B4-BE49-F238E27FC236}">
                <a16:creationId xmlns:a16="http://schemas.microsoft.com/office/drawing/2014/main" id="{981B43D4-DFFF-6D82-50E4-52A3CFF47CAB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pic>
        <p:nvPicPr>
          <p:cNvPr id="33797" name="Picture 13" descr="pyramid">
            <a:extLst>
              <a:ext uri="{FF2B5EF4-FFF2-40B4-BE49-F238E27FC236}">
                <a16:creationId xmlns:a16="http://schemas.microsoft.com/office/drawing/2014/main" id="{9ECBB090-BEC7-8DF6-D457-0D98806A5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5" y="1887538"/>
            <a:ext cx="3700463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Foliennummernplatzhalter 2">
            <a:extLst>
              <a:ext uri="{FF2B5EF4-FFF2-40B4-BE49-F238E27FC236}">
                <a16:creationId xmlns:a16="http://schemas.microsoft.com/office/drawing/2014/main" id="{C3197D9D-02BC-AF02-A12F-20F261D70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9CC794-2A95-8045-8916-A22878EED223}" type="slidenum">
              <a:rPr lang="de-DE" altLang="de-DE">
                <a:solidFill>
                  <a:srgbClr val="394073"/>
                </a:solidFill>
              </a:rPr>
              <a:pPr/>
              <a:t>22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2AA90B6-328F-CDF5-F06B-9E70D3D36D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altLang="de-DE"/>
              <a:t>Implementations in Hardware and Software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188CBB7-776F-6390-E92F-22959E2EFD3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0063" y="1071563"/>
            <a:ext cx="4030662" cy="4911725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altLang="de-DE" sz="1400"/>
              <a:t>Software implementations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Optimized 256-bit ECC implementation on 3GHz 64-bit CPU requires about </a:t>
            </a:r>
            <a:r>
              <a:rPr lang="de-DE" altLang="de-DE" sz="1400" i="1"/>
              <a:t>2 ms</a:t>
            </a:r>
            <a:r>
              <a:rPr lang="de-DE" altLang="de-DE" sz="1400"/>
              <a:t> per point multiplication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Less powerful microprocessors (e.g, on SmartCards or cell phones) even take significantly longer (&gt;</a:t>
            </a:r>
            <a:r>
              <a:rPr lang="de-DE" altLang="de-DE" sz="1400" i="1"/>
              <a:t>10 ms</a:t>
            </a:r>
            <a:r>
              <a:rPr lang="de-DE" altLang="de-DE" sz="1400"/>
              <a:t>)</a:t>
            </a:r>
          </a:p>
          <a:p>
            <a:pPr lvl="1">
              <a:buFont typeface="Wingdings" pitchFamily="2" charset="2"/>
              <a:buChar char="§"/>
            </a:pPr>
            <a:endParaRPr lang="de-DE" altLang="de-DE" sz="1400"/>
          </a:p>
          <a:p>
            <a:pPr>
              <a:buFont typeface="Wingdings" pitchFamily="2" charset="2"/>
              <a:buChar char="§"/>
            </a:pPr>
            <a:r>
              <a:rPr lang="de-DE" altLang="de-DE" sz="1400"/>
              <a:t>Hardware implementations 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High-performance implementations with 256-bit special primes can compute a point multiplication in a few hundred microseconds on reconfigurable hardware</a:t>
            </a:r>
          </a:p>
          <a:p>
            <a:pPr lvl="1">
              <a:buFont typeface="Wingdings" pitchFamily="2" charset="2"/>
              <a:buChar char="§"/>
            </a:pPr>
            <a:r>
              <a:rPr lang="de-DE" altLang="de-DE" sz="1400"/>
              <a:t>Dedicated chips for ECC can compute a point multiplication even in a few ten microseconds</a:t>
            </a:r>
          </a:p>
          <a:p>
            <a:pPr lvl="1">
              <a:buFont typeface="Wingdings" pitchFamily="2" charset="2"/>
              <a:buNone/>
            </a:pPr>
            <a:endParaRPr lang="de-DE" altLang="de-DE" sz="1400"/>
          </a:p>
        </p:txBody>
      </p:sp>
      <p:sp>
        <p:nvSpPr>
          <p:cNvPr id="34820" name="Fußzeilenplatzhalter 3">
            <a:extLst>
              <a:ext uri="{FF2B5EF4-FFF2-40B4-BE49-F238E27FC236}">
                <a16:creationId xmlns:a16="http://schemas.microsoft.com/office/drawing/2014/main" id="{DB2C957C-3B07-E626-9F69-6476789ECD79}"/>
              </a:ext>
            </a:extLst>
          </p:cNvPr>
          <p:cNvSpPr txBox="1">
            <a:spLocks noGrp="1"/>
          </p:cNvSpPr>
          <p:nvPr/>
        </p:nvSpPr>
        <p:spPr bwMode="auto">
          <a:xfrm>
            <a:off x="2411413" y="6572250"/>
            <a:ext cx="43211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de-DE" altLang="de-DE" sz="1000"/>
              <a:t>Chapter 9 of </a:t>
            </a:r>
            <a:r>
              <a:rPr lang="de-DE" altLang="de-DE" sz="1000" i="1"/>
              <a:t>Understanding Cryptography</a:t>
            </a:r>
            <a:r>
              <a:rPr lang="de-DE" altLang="de-DE" sz="1000"/>
              <a:t> by Christof Paar and Jan Pelzl</a:t>
            </a:r>
          </a:p>
        </p:txBody>
      </p:sp>
      <p:pic>
        <p:nvPicPr>
          <p:cNvPr id="34821" name="Picture 7">
            <a:extLst>
              <a:ext uri="{FF2B5EF4-FFF2-40B4-BE49-F238E27FC236}">
                <a16:creationId xmlns:a16="http://schemas.microsoft.com/office/drawing/2014/main" id="{17BA1A21-CB8C-594F-F365-838162830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50938"/>
            <a:ext cx="3378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8" descr="chip">
            <a:extLst>
              <a:ext uri="{FF2B5EF4-FFF2-40B4-BE49-F238E27FC236}">
                <a16:creationId xmlns:a16="http://schemas.microsoft.com/office/drawing/2014/main" id="{4A6EFEF4-9582-7171-0F6F-2CAD21252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6996">
            <a:off x="7515225" y="1838325"/>
            <a:ext cx="828675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9" descr="chip">
            <a:extLst>
              <a:ext uri="{FF2B5EF4-FFF2-40B4-BE49-F238E27FC236}">
                <a16:creationId xmlns:a16="http://schemas.microsoft.com/office/drawing/2014/main" id="{A74C2E2D-12C4-4290-46DB-86FAAE4A3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285454">
            <a:off x="7470775" y="4106863"/>
            <a:ext cx="82867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Text Box 10">
            <a:extLst>
              <a:ext uri="{FF2B5EF4-FFF2-40B4-BE49-F238E27FC236}">
                <a16:creationId xmlns:a16="http://schemas.microsoft.com/office/drawing/2014/main" id="{DF457ABB-77E5-F60B-E6F7-81266A3895B5}"/>
              </a:ext>
            </a:extLst>
          </p:cNvPr>
          <p:cNvSpPr txBox="1">
            <a:spLocks noChangeArrowheads="1"/>
          </p:cNvSpPr>
          <p:nvPr/>
        </p:nvSpPr>
        <p:spPr bwMode="auto">
          <a:xfrm rot="1381530">
            <a:off x="7747000" y="2092325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b="1">
                <a:solidFill>
                  <a:schemeClr val="bg1"/>
                </a:solidFill>
              </a:rPr>
              <a:t>HW</a:t>
            </a:r>
          </a:p>
        </p:txBody>
      </p:sp>
      <p:sp>
        <p:nvSpPr>
          <p:cNvPr id="34825" name="Text Box 11">
            <a:extLst>
              <a:ext uri="{FF2B5EF4-FFF2-40B4-BE49-F238E27FC236}">
                <a16:creationId xmlns:a16="http://schemas.microsoft.com/office/drawing/2014/main" id="{70DBEE11-1D65-29CF-6EA5-212E259431E6}"/>
              </a:ext>
            </a:extLst>
          </p:cNvPr>
          <p:cNvSpPr txBox="1">
            <a:spLocks noChangeArrowheads="1"/>
          </p:cNvSpPr>
          <p:nvPr/>
        </p:nvSpPr>
        <p:spPr bwMode="auto">
          <a:xfrm rot="-1263028">
            <a:off x="7700963" y="4362450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b="1">
                <a:solidFill>
                  <a:schemeClr val="bg1"/>
                </a:solidFill>
              </a:rPr>
              <a:t>SW</a:t>
            </a:r>
          </a:p>
        </p:txBody>
      </p:sp>
      <p:sp>
        <p:nvSpPr>
          <p:cNvPr id="34826" name="Foliennummernplatzhalter 2">
            <a:extLst>
              <a:ext uri="{FF2B5EF4-FFF2-40B4-BE49-F238E27FC236}">
                <a16:creationId xmlns:a16="http://schemas.microsoft.com/office/drawing/2014/main" id="{C2AC6B28-3BCD-6D6D-F896-858015A6E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062A86-AFB2-514B-8B96-7BE08C438D25}" type="slidenum">
              <a:rPr lang="de-DE" altLang="de-DE">
                <a:solidFill>
                  <a:srgbClr val="394073"/>
                </a:solidFill>
              </a:rPr>
              <a:pPr/>
              <a:t>23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Inhaltsplatzhalter 1">
            <a:extLst>
              <a:ext uri="{FF2B5EF4-FFF2-40B4-BE49-F238E27FC236}">
                <a16:creationId xmlns:a16="http://schemas.microsoft.com/office/drawing/2014/main" id="{76201C7D-967B-47AF-F4A8-2B8506726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215312" cy="4867275"/>
          </a:xfrm>
        </p:spPr>
        <p:txBody>
          <a:bodyPr/>
          <a:lstStyle/>
          <a:p>
            <a:r>
              <a:rPr lang="en-US" altLang="de-DE"/>
              <a:t>Elliptic Curve Cryptography (ECC) is based on the discrete logarithm problem. It requires, for instance, arithmetic modulo a prime.</a:t>
            </a:r>
          </a:p>
          <a:p>
            <a:r>
              <a:rPr lang="en-US" altLang="de-DE"/>
              <a:t>ECC can be used for key exchange, for digital signatures and for encryption.</a:t>
            </a:r>
          </a:p>
          <a:p>
            <a:r>
              <a:rPr lang="en-US" altLang="de-DE"/>
              <a:t>ECC provides the same level of security as RSA or discrete logarithm systems over Z</a:t>
            </a:r>
            <a:r>
              <a:rPr lang="en-US" altLang="de-DE" baseline="-25000"/>
              <a:t>p</a:t>
            </a:r>
            <a:r>
              <a:rPr lang="en-US" altLang="de-DE"/>
              <a:t> with considerably shorter operands (approximately 160–256 bit vs. 1024–3072 bit), which results in shorter ciphertexts and signatures.</a:t>
            </a:r>
          </a:p>
          <a:p>
            <a:r>
              <a:rPr lang="en-US" altLang="de-DE"/>
              <a:t>In many cases ECC has performance advantages over other public-key algorithms.</a:t>
            </a:r>
          </a:p>
          <a:p>
            <a:r>
              <a:rPr lang="en-US" altLang="de-DE"/>
              <a:t>ECC is slowly gaining popularity in applications, compared to other public-key schemes, i.e., many new applications, especially on embedded platforms, make use of elliptic curve cryptography.</a:t>
            </a:r>
          </a:p>
          <a:p>
            <a:pPr>
              <a:buFont typeface="Wingdings" pitchFamily="2" charset="2"/>
              <a:buNone/>
            </a:pPr>
            <a:endParaRPr lang="en-US" altLang="de-DE"/>
          </a:p>
          <a:p>
            <a:endParaRPr lang="en-US" altLang="de-DE"/>
          </a:p>
        </p:txBody>
      </p:sp>
      <p:sp>
        <p:nvSpPr>
          <p:cNvPr id="35843" name="Fußzeilenplatzhalter 3">
            <a:extLst>
              <a:ext uri="{FF2B5EF4-FFF2-40B4-BE49-F238E27FC236}">
                <a16:creationId xmlns:a16="http://schemas.microsoft.com/office/drawing/2014/main" id="{7EDC066D-CB3B-B01B-0016-EA90CC5C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/>
              <a:t>Chapter 9 of </a:t>
            </a:r>
            <a:r>
              <a:rPr lang="de-DE" altLang="de-DE" i="1"/>
              <a:t>Understanding Cryptography</a:t>
            </a:r>
            <a:r>
              <a:rPr lang="de-DE" altLang="de-DE"/>
              <a:t> by Christof Paar and Jan Pelzl</a:t>
            </a:r>
          </a:p>
        </p:txBody>
      </p:sp>
      <p:sp>
        <p:nvSpPr>
          <p:cNvPr id="35844" name="Titel 4">
            <a:extLst>
              <a:ext uri="{FF2B5EF4-FFF2-40B4-BE49-F238E27FC236}">
                <a16:creationId xmlns:a16="http://schemas.microsoft.com/office/drawing/2014/main" id="{CEE95E74-F219-BF25-50DE-9FEFF96F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Lessons Learned</a:t>
            </a:r>
          </a:p>
        </p:txBody>
      </p:sp>
      <p:sp>
        <p:nvSpPr>
          <p:cNvPr id="35845" name="Foliennummernplatzhalter 2">
            <a:extLst>
              <a:ext uri="{FF2B5EF4-FFF2-40B4-BE49-F238E27FC236}">
                <a16:creationId xmlns:a16="http://schemas.microsoft.com/office/drawing/2014/main" id="{08835BD9-73B7-B0BB-7E76-D7911DB55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243E6E-E8FB-EE46-871A-51670221C1D3}" type="slidenum">
              <a:rPr lang="de-DE" altLang="de-DE">
                <a:solidFill>
                  <a:srgbClr val="394073"/>
                </a:solidFill>
              </a:rPr>
              <a:pPr/>
              <a:t>24</a:t>
            </a:fld>
            <a:r>
              <a:rPr lang="de-DE" altLang="de-DE">
                <a:solidFill>
                  <a:srgbClr val="394073"/>
                </a:solidFill>
              </a:rPr>
              <a:t>/24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文本框 4">
            <a:extLst>
              <a:ext uri="{FF2B5EF4-FFF2-40B4-BE49-F238E27FC236}">
                <a16:creationId xmlns:a16="http://schemas.microsoft.com/office/drawing/2014/main" id="{1AD7C3DE-1B58-D3CC-BF51-79F033D77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58" y="705645"/>
            <a:ext cx="92840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中国商用密码算法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SM2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椭圆曲线公钥密码加密算法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4C7E2-E410-0FD8-8435-990CE0600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1669" name="文本框 7">
            <a:extLst>
              <a:ext uri="{FF2B5EF4-FFF2-40B4-BE49-F238E27FC236}">
                <a16:creationId xmlns:a16="http://schemas.microsoft.com/office/drawing/2014/main" id="{B324E8EB-5299-5891-664A-7495C8DC2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27138"/>
            <a:ext cx="76327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SM2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是中国国家密码管理局颁布的中国商用公钥密码标准算法，它是一组椭圆曲线密码算法，其中包含加解密算法、数字签名算法。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81C94C-A931-F937-09BA-8A3AF681D760}"/>
              </a:ext>
            </a:extLst>
          </p:cNvPr>
          <p:cNvSpPr txBox="1"/>
          <p:nvPr/>
        </p:nvSpPr>
        <p:spPr>
          <a:xfrm>
            <a:off x="684213" y="2452688"/>
            <a:ext cx="7632700" cy="3416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算法与国际标准的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ECC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算法比较：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ECC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算法通常采用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NIST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等国际机构建议的曲线及参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数，而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算法的参数需要利用一定的算法产生。而由于算法中加入了用户特异性的曲线参数、基点、用户的公钥点信息，故使得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算法的安全性明显提高。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ECC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算法中，用户可以选择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MD5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SHA-1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等国际通用的哈希算法。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算法中则使用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哈希算法，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算法输出为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256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比特，其安全性与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SHA-256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算法基本相当。</a:t>
            </a:r>
          </a:p>
        </p:txBody>
      </p:sp>
    </p:spTree>
  </p:cSld>
  <p:clrMapOvr>
    <a:masterClrMapping/>
  </p:clrMapOvr>
  <p:transition spd="slow" advClick="0" advTm="5000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B7443F-BAE4-18AA-5EF7-6074AF828433}"/>
              </a:ext>
            </a:extLst>
          </p:cNvPr>
          <p:cNvSpPr/>
          <p:nvPr/>
        </p:nvSpPr>
        <p:spPr>
          <a:xfrm>
            <a:off x="684213" y="765175"/>
            <a:ext cx="7704137" cy="830263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SM2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算法分为基于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素数域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和基于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二元扩域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两种。本文仅介绍基于素数域的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SM2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D4683-4F1A-9F1F-1851-2AF7903E6E44}"/>
              </a:ext>
            </a:extLst>
          </p:cNvPr>
          <p:cNvSpPr/>
          <p:nvPr/>
        </p:nvSpPr>
        <p:spPr>
          <a:xfrm>
            <a:off x="468313" y="1546225"/>
            <a:ext cx="1998662" cy="5064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基本参数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2692" name="文本框 3">
            <a:extLst>
              <a:ext uri="{FF2B5EF4-FFF2-40B4-BE49-F238E27FC236}">
                <a16:creationId xmlns:a16="http://schemas.microsoft.com/office/drawing/2014/main" id="{812A07BD-FD40-82EB-0E24-8C2DBEA5D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052638"/>
            <a:ext cx="5975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基于素数域     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算法参数如下：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F84707-DC04-5510-6F08-02F1D0314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694" name="对象 5">
            <a:extLst>
              <a:ext uri="{FF2B5EF4-FFF2-40B4-BE49-F238E27FC236}">
                <a16:creationId xmlns:a16="http://schemas.microsoft.com/office/drawing/2014/main" id="{CC405F78-4AA0-7DB5-ACC7-18C3F94FAA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193925"/>
          <a:ext cx="32226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4200" imgH="5562600" progId="Equation.DSMT4">
                  <p:embed/>
                </p:oleObj>
              </mc:Choice>
              <mc:Fallback>
                <p:oleObj name="Equation" r:id="rId2" imgW="4394200" imgH="5562600" progId="Equation.DSMT4">
                  <p:embed/>
                  <p:pic>
                    <p:nvPicPr>
                      <p:cNvPr id="242694" name="对象 5">
                        <a:extLst>
                          <a:ext uri="{FF2B5EF4-FFF2-40B4-BE49-F238E27FC236}">
                            <a16:creationId xmlns:a16="http://schemas.microsoft.com/office/drawing/2014/main" id="{CC405F78-4AA0-7DB5-ACC7-18C3F94FAA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93925"/>
                        <a:ext cx="32226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98E219F0-DD92-F1AE-01E1-113272A09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2696" name="文本框 7">
            <a:extLst>
              <a:ext uri="{FF2B5EF4-FFF2-40B4-BE49-F238E27FC236}">
                <a16:creationId xmlns:a16="http://schemas.microsoft.com/office/drawing/2014/main" id="{F999C4FD-46CB-9568-1835-AAEA420E1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487613"/>
            <a:ext cx="75612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的特征 ，为     比特长的素数    ，   要尽可能大，但太大会影响计算速度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697" name="对象 8">
            <a:extLst>
              <a:ext uri="{FF2B5EF4-FFF2-40B4-BE49-F238E27FC236}">
                <a16:creationId xmlns:a16="http://schemas.microsoft.com/office/drawing/2014/main" id="{BF3EAEB6-E4A7-5995-A66E-8A66EE6798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568575"/>
          <a:ext cx="32385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94200" imgH="5562600" progId="Equation.DSMT4">
                  <p:embed/>
                </p:oleObj>
              </mc:Choice>
              <mc:Fallback>
                <p:oleObj name="Equation" r:id="rId4" imgW="4394200" imgH="5562600" progId="Equation.DSMT4">
                  <p:embed/>
                  <p:pic>
                    <p:nvPicPr>
                      <p:cNvPr id="242697" name="对象 8">
                        <a:extLst>
                          <a:ext uri="{FF2B5EF4-FFF2-40B4-BE49-F238E27FC236}">
                            <a16:creationId xmlns:a16="http://schemas.microsoft.com/office/drawing/2014/main" id="{BF3EAEB6-E4A7-5995-A66E-8A66EE6798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568575"/>
                        <a:ext cx="32385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8" name="对象 9">
            <a:extLst>
              <a:ext uri="{FF2B5EF4-FFF2-40B4-BE49-F238E27FC236}">
                <a16:creationId xmlns:a16="http://schemas.microsoft.com/office/drawing/2014/main" id="{CBB0F50F-9E83-825B-6D05-FBE8018669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6288" y="2570163"/>
          <a:ext cx="3032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05200" imgH="3797300" progId="Equation.DSMT4">
                  <p:embed/>
                </p:oleObj>
              </mc:Choice>
              <mc:Fallback>
                <p:oleObj name="Equation" r:id="rId5" imgW="3505200" imgH="3797300" progId="Equation.DSMT4">
                  <p:embed/>
                  <p:pic>
                    <p:nvPicPr>
                      <p:cNvPr id="242698" name="对象 9">
                        <a:extLst>
                          <a:ext uri="{FF2B5EF4-FFF2-40B4-BE49-F238E27FC236}">
                            <a16:creationId xmlns:a16="http://schemas.microsoft.com/office/drawing/2014/main" id="{CBB0F50F-9E83-825B-6D05-FBE8018669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2570163"/>
                        <a:ext cx="30321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9" name="对象 10">
            <a:extLst>
              <a:ext uri="{FF2B5EF4-FFF2-40B4-BE49-F238E27FC236}">
                <a16:creationId xmlns:a16="http://schemas.microsoft.com/office/drawing/2014/main" id="{2715AB3B-1656-2188-3C35-391245DCF3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2578100"/>
          <a:ext cx="3032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05200" imgH="3797300" progId="Equation.DSMT4">
                  <p:embed/>
                </p:oleObj>
              </mc:Choice>
              <mc:Fallback>
                <p:oleObj name="Equation" r:id="rId7" imgW="3505200" imgH="3797300" progId="Equation.DSMT4">
                  <p:embed/>
                  <p:pic>
                    <p:nvPicPr>
                      <p:cNvPr id="242699" name="对象 10">
                        <a:extLst>
                          <a:ext uri="{FF2B5EF4-FFF2-40B4-BE49-F238E27FC236}">
                            <a16:creationId xmlns:a16="http://schemas.microsoft.com/office/drawing/2014/main" id="{2715AB3B-1656-2188-3C35-391245DCF3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2578100"/>
                        <a:ext cx="30321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0" name="对象 11">
            <a:extLst>
              <a:ext uri="{FF2B5EF4-FFF2-40B4-BE49-F238E27FC236}">
                <a16:creationId xmlns:a16="http://schemas.microsoft.com/office/drawing/2014/main" id="{5BCFBD3E-8465-36BC-B005-15AC4D94B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0050" y="2595563"/>
          <a:ext cx="328613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97300" imgH="3213100" progId="Equation.DSMT4">
                  <p:embed/>
                </p:oleObj>
              </mc:Choice>
              <mc:Fallback>
                <p:oleObj name="Equation" r:id="rId9" imgW="3797300" imgH="3213100" progId="Equation.DSMT4">
                  <p:embed/>
                  <p:pic>
                    <p:nvPicPr>
                      <p:cNvPr id="242700" name="对象 11">
                        <a:extLst>
                          <a:ext uri="{FF2B5EF4-FFF2-40B4-BE49-F238E27FC236}">
                            <a16:creationId xmlns:a16="http://schemas.microsoft.com/office/drawing/2014/main" id="{5BCFBD3E-8465-36BC-B005-15AC4D94B6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2595563"/>
                        <a:ext cx="328613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1" name="文本框 12">
            <a:extLst>
              <a:ext uri="{FF2B5EF4-FFF2-40B4-BE49-F238E27FC236}">
                <a16:creationId xmlns:a16="http://schemas.microsoft.com/office/drawing/2014/main" id="{71FBC8A6-F736-0530-574D-47CB7EC2A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257550"/>
            <a:ext cx="7561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长度不小于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192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比特的比特串        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1D3010A8-BE07-8561-5592-7B0C871B3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03" name="对象 14">
            <a:extLst>
              <a:ext uri="{FF2B5EF4-FFF2-40B4-BE49-F238E27FC236}">
                <a16:creationId xmlns:a16="http://schemas.microsoft.com/office/drawing/2014/main" id="{1723EFC3-2584-07A8-DE0F-AF85690D27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6338" y="3332163"/>
          <a:ext cx="7588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944100" imgH="4102100" progId="Equation.DSMT4">
                  <p:embed/>
                </p:oleObj>
              </mc:Choice>
              <mc:Fallback>
                <p:oleObj name="Equation" r:id="rId11" imgW="9944100" imgH="4102100" progId="Equation.DSMT4">
                  <p:embed/>
                  <p:pic>
                    <p:nvPicPr>
                      <p:cNvPr id="242703" name="对象 14">
                        <a:extLst>
                          <a:ext uri="{FF2B5EF4-FFF2-40B4-BE49-F238E27FC236}">
                            <a16:creationId xmlns:a16="http://schemas.microsoft.com/office/drawing/2014/main" id="{1723EFC3-2584-07A8-DE0F-AF85690D27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3332163"/>
                        <a:ext cx="758825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728F81E9-8617-0AE7-FCDE-F464F79211F4}"/>
              </a:ext>
            </a:extLst>
          </p:cNvPr>
          <p:cNvSpPr txBox="1"/>
          <p:nvPr/>
        </p:nvSpPr>
        <p:spPr>
          <a:xfrm>
            <a:off x="755650" y="3727450"/>
            <a:ext cx="7561263" cy="8318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342900" indent="-3429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上的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个元素       ，满足                      ，定义曲线     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       ；</a:t>
            </a:r>
          </a:p>
        </p:txBody>
      </p:sp>
      <p:graphicFrame>
        <p:nvGraphicFramePr>
          <p:cNvPr id="242705" name="对象 16">
            <a:extLst>
              <a:ext uri="{FF2B5EF4-FFF2-40B4-BE49-F238E27FC236}">
                <a16:creationId xmlns:a16="http://schemas.microsoft.com/office/drawing/2014/main" id="{9537DEC6-AD91-541D-E3BF-3CB566A19E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9050" y="3795713"/>
          <a:ext cx="3238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94200" imgH="5562600" progId="Equation.DSMT4">
                  <p:embed/>
                </p:oleObj>
              </mc:Choice>
              <mc:Fallback>
                <p:oleObj name="Equation" r:id="rId13" imgW="4394200" imgH="5562600" progId="Equation.DSMT4">
                  <p:embed/>
                  <p:pic>
                    <p:nvPicPr>
                      <p:cNvPr id="242705" name="对象 16">
                        <a:extLst>
                          <a:ext uri="{FF2B5EF4-FFF2-40B4-BE49-F238E27FC236}">
                            <a16:creationId xmlns:a16="http://schemas.microsoft.com/office/drawing/2014/main" id="{9537DEC6-AD91-541D-E3BF-3CB566A19E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3795713"/>
                        <a:ext cx="3238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7">
            <a:extLst>
              <a:ext uri="{FF2B5EF4-FFF2-40B4-BE49-F238E27FC236}">
                <a16:creationId xmlns:a16="http://schemas.microsoft.com/office/drawing/2014/main" id="{880EFEE6-31C1-78D3-0E61-853AD132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07" name="对象 18">
            <a:extLst>
              <a:ext uri="{FF2B5EF4-FFF2-40B4-BE49-F238E27FC236}">
                <a16:creationId xmlns:a16="http://schemas.microsoft.com/office/drawing/2014/main" id="{A0877C87-D9F4-9C59-A01F-83B33D9287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3817938"/>
          <a:ext cx="466725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54700" imgH="4686300" progId="Equation.DSMT4">
                  <p:embed/>
                </p:oleObj>
              </mc:Choice>
              <mc:Fallback>
                <p:oleObj name="Equation" r:id="rId14" imgW="5854700" imgH="4686300" progId="Equation.DSMT4">
                  <p:embed/>
                  <p:pic>
                    <p:nvPicPr>
                      <p:cNvPr id="242707" name="对象 18">
                        <a:extLst>
                          <a:ext uri="{FF2B5EF4-FFF2-40B4-BE49-F238E27FC236}">
                            <a16:creationId xmlns:a16="http://schemas.microsoft.com/office/drawing/2014/main" id="{A0877C87-D9F4-9C59-A01F-83B33D9287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817938"/>
                        <a:ext cx="466725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9">
            <a:extLst>
              <a:ext uri="{FF2B5EF4-FFF2-40B4-BE49-F238E27FC236}">
                <a16:creationId xmlns:a16="http://schemas.microsoft.com/office/drawing/2014/main" id="{7356543E-AD54-027D-4E6E-00D5ED2B5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09" name="对象 20">
            <a:extLst>
              <a:ext uri="{FF2B5EF4-FFF2-40B4-BE49-F238E27FC236}">
                <a16:creationId xmlns:a16="http://schemas.microsoft.com/office/drawing/2014/main" id="{BB8E6787-A977-763E-BDD1-F6354171C2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5038" y="3760788"/>
          <a:ext cx="161131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361400" imgH="4686300" progId="Equation.DSMT4">
                  <p:embed/>
                </p:oleObj>
              </mc:Choice>
              <mc:Fallback>
                <p:oleObj name="Equation" r:id="rId16" imgW="21361400" imgH="4686300" progId="Equation.DSMT4">
                  <p:embed/>
                  <p:pic>
                    <p:nvPicPr>
                      <p:cNvPr id="242709" name="对象 20">
                        <a:extLst>
                          <a:ext uri="{FF2B5EF4-FFF2-40B4-BE49-F238E27FC236}">
                            <a16:creationId xmlns:a16="http://schemas.microsoft.com/office/drawing/2014/main" id="{BB8E6787-A977-763E-BDD1-F6354171C2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8" y="3760788"/>
                        <a:ext cx="1611312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0">
            <a:extLst>
              <a:ext uri="{FF2B5EF4-FFF2-40B4-BE49-F238E27FC236}">
                <a16:creationId xmlns:a16="http://schemas.microsoft.com/office/drawing/2014/main" id="{DDCA7A9E-5F2F-DEE7-69DE-4188EE161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11" name="对象 22">
            <a:extLst>
              <a:ext uri="{FF2B5EF4-FFF2-40B4-BE49-F238E27FC236}">
                <a16:creationId xmlns:a16="http://schemas.microsoft.com/office/drawing/2014/main" id="{CBCD462F-AC63-26E2-7DD9-1868E1E39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7775" y="4210050"/>
          <a:ext cx="22685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2766000" imgH="5854700" progId="Equation.DSMT4">
                  <p:embed/>
                </p:oleObj>
              </mc:Choice>
              <mc:Fallback>
                <p:oleObj name="Equation" r:id="rId18" imgW="32766000" imgH="5854700" progId="Equation.DSMT4">
                  <p:embed/>
                  <p:pic>
                    <p:nvPicPr>
                      <p:cNvPr id="242711" name="对象 22">
                        <a:extLst>
                          <a:ext uri="{FF2B5EF4-FFF2-40B4-BE49-F238E27FC236}">
                            <a16:creationId xmlns:a16="http://schemas.microsoft.com/office/drawing/2014/main" id="{CBCD462F-AC63-26E2-7DD9-1868E1E39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4210050"/>
                        <a:ext cx="22685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12" name="文本框 23">
            <a:extLst>
              <a:ext uri="{FF2B5EF4-FFF2-40B4-BE49-F238E27FC236}">
                <a16:creationId xmlns:a16="http://schemas.microsoft.com/office/drawing/2014/main" id="{6E0DA02B-1CBF-A285-0241-2B3049131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62475"/>
            <a:ext cx="7561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基点                                  ；</a:t>
            </a: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F9ED10CE-24CE-6DDF-373F-0F17D696F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14" name="对象 25">
            <a:extLst>
              <a:ext uri="{FF2B5EF4-FFF2-40B4-BE49-F238E27FC236}">
                <a16:creationId xmlns:a16="http://schemas.microsoft.com/office/drawing/2014/main" id="{9CFA9F10-567D-8705-4587-B14B3634E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651375"/>
          <a:ext cx="25209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9789100" imgH="5562600" progId="Equation.DSMT4">
                  <p:embed/>
                </p:oleObj>
              </mc:Choice>
              <mc:Fallback>
                <p:oleObj name="Equation" r:id="rId20" imgW="39789100" imgH="5562600" progId="Equation.DSMT4">
                  <p:embed/>
                  <p:pic>
                    <p:nvPicPr>
                      <p:cNvPr id="242714" name="对象 25">
                        <a:extLst>
                          <a:ext uri="{FF2B5EF4-FFF2-40B4-BE49-F238E27FC236}">
                            <a16:creationId xmlns:a16="http://schemas.microsoft.com/office/drawing/2014/main" id="{9CFA9F10-567D-8705-4587-B14B3634E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651375"/>
                        <a:ext cx="25209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15" name="文本框 26">
            <a:extLst>
              <a:ext uri="{FF2B5EF4-FFF2-40B4-BE49-F238E27FC236}">
                <a16:creationId xmlns:a16="http://schemas.microsoft.com/office/drawing/2014/main" id="{B121AAB2-889F-CBBA-7E12-E2175790F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24438"/>
            <a:ext cx="77771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的阶   为    比特长的素数，满足          且            ；</a:t>
            </a:r>
          </a:p>
        </p:txBody>
      </p:sp>
      <p:graphicFrame>
        <p:nvGraphicFramePr>
          <p:cNvPr id="242716" name="对象 27">
            <a:extLst>
              <a:ext uri="{FF2B5EF4-FFF2-40B4-BE49-F238E27FC236}">
                <a16:creationId xmlns:a16="http://schemas.microsoft.com/office/drawing/2014/main" id="{72A2BA73-B6EA-FD3F-E18D-A06778F42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6338" y="5099050"/>
          <a:ext cx="290512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797300" imgH="4102100" progId="Equation.DSMT4">
                  <p:embed/>
                </p:oleObj>
              </mc:Choice>
              <mc:Fallback>
                <p:oleObj name="Equation" r:id="rId22" imgW="3797300" imgH="4102100" progId="Equation.DSMT4">
                  <p:embed/>
                  <p:pic>
                    <p:nvPicPr>
                      <p:cNvPr id="242716" name="对象 27">
                        <a:extLst>
                          <a:ext uri="{FF2B5EF4-FFF2-40B4-BE49-F238E27FC236}">
                            <a16:creationId xmlns:a16="http://schemas.microsoft.com/office/drawing/2014/main" id="{72A2BA73-B6EA-FD3F-E18D-A06778F427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5099050"/>
                        <a:ext cx="290512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17" name="对象 28">
            <a:extLst>
              <a:ext uri="{FF2B5EF4-FFF2-40B4-BE49-F238E27FC236}">
                <a16:creationId xmlns:a16="http://schemas.microsoft.com/office/drawing/2014/main" id="{24AB40F8-FA5B-D312-B479-CAE5D20F71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180013"/>
          <a:ext cx="223838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21000" imgH="3213100" progId="Equation.DSMT4">
                  <p:embed/>
                </p:oleObj>
              </mc:Choice>
              <mc:Fallback>
                <p:oleObj name="Equation" r:id="rId24" imgW="2921000" imgH="3213100" progId="Equation.DSMT4">
                  <p:embed/>
                  <p:pic>
                    <p:nvPicPr>
                      <p:cNvPr id="242717" name="对象 28">
                        <a:extLst>
                          <a:ext uri="{FF2B5EF4-FFF2-40B4-BE49-F238E27FC236}">
                            <a16:creationId xmlns:a16="http://schemas.microsoft.com/office/drawing/2014/main" id="{24AB40F8-FA5B-D312-B479-CAE5D20F71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180013"/>
                        <a:ext cx="223838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18" name="对象 29">
            <a:extLst>
              <a:ext uri="{FF2B5EF4-FFF2-40B4-BE49-F238E27FC236}">
                <a16:creationId xmlns:a16="http://schemas.microsoft.com/office/drawing/2014/main" id="{A00D8498-A39E-19D8-1795-959265EB65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8575" y="5180013"/>
          <a:ext cx="2921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797300" imgH="3213100" progId="Equation.DSMT4">
                  <p:embed/>
                </p:oleObj>
              </mc:Choice>
              <mc:Fallback>
                <p:oleObj name="Equation" r:id="rId26" imgW="3797300" imgH="3213100" progId="Equation.DSMT4">
                  <p:embed/>
                  <p:pic>
                    <p:nvPicPr>
                      <p:cNvPr id="242718" name="对象 29">
                        <a:extLst>
                          <a:ext uri="{FF2B5EF4-FFF2-40B4-BE49-F238E27FC236}">
                            <a16:creationId xmlns:a16="http://schemas.microsoft.com/office/drawing/2014/main" id="{A00D8498-A39E-19D8-1795-959265EB65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5180013"/>
                        <a:ext cx="2921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24">
            <a:extLst>
              <a:ext uri="{FF2B5EF4-FFF2-40B4-BE49-F238E27FC236}">
                <a16:creationId xmlns:a16="http://schemas.microsoft.com/office/drawing/2014/main" id="{C205E684-CFB4-C92A-C342-494D85D1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20" name="对象 31">
            <a:extLst>
              <a:ext uri="{FF2B5EF4-FFF2-40B4-BE49-F238E27FC236}">
                <a16:creationId xmlns:a16="http://schemas.microsoft.com/office/drawing/2014/main" id="{ED84C9EC-D982-F88C-5772-10226B3078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6888" y="5056188"/>
          <a:ext cx="8715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112500" imgH="4686300" progId="Equation.DSMT4">
                  <p:embed/>
                </p:oleObj>
              </mc:Choice>
              <mc:Fallback>
                <p:oleObj name="Equation" r:id="rId28" imgW="11112500" imgH="4686300" progId="Equation.DSMT4">
                  <p:embed/>
                  <p:pic>
                    <p:nvPicPr>
                      <p:cNvPr id="242720" name="对象 31">
                        <a:extLst>
                          <a:ext uri="{FF2B5EF4-FFF2-40B4-BE49-F238E27FC236}">
                            <a16:creationId xmlns:a16="http://schemas.microsoft.com/office/drawing/2014/main" id="{ED84C9EC-D982-F88C-5772-10226B3078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6888" y="5056188"/>
                        <a:ext cx="87153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26">
            <a:extLst>
              <a:ext uri="{FF2B5EF4-FFF2-40B4-BE49-F238E27FC236}">
                <a16:creationId xmlns:a16="http://schemas.microsoft.com/office/drawing/2014/main" id="{7A658BBF-5083-99DA-1807-CD9E4FC71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22" name="对象 33">
            <a:extLst>
              <a:ext uri="{FF2B5EF4-FFF2-40B4-BE49-F238E27FC236}">
                <a16:creationId xmlns:a16="http://schemas.microsoft.com/office/drawing/2014/main" id="{BCBF1F84-38FE-D9B6-54D1-22B40B4EA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2575" y="5056188"/>
          <a:ext cx="9271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169900" imgH="5854700" progId="Equation.DSMT4">
                  <p:embed/>
                </p:oleObj>
              </mc:Choice>
              <mc:Fallback>
                <p:oleObj name="Equation" r:id="rId30" imgW="13169900" imgH="5854700" progId="Equation.DSMT4">
                  <p:embed/>
                  <p:pic>
                    <p:nvPicPr>
                      <p:cNvPr id="242722" name="对象 33">
                        <a:extLst>
                          <a:ext uri="{FF2B5EF4-FFF2-40B4-BE49-F238E27FC236}">
                            <a16:creationId xmlns:a16="http://schemas.microsoft.com/office/drawing/2014/main" id="{BCBF1F84-38FE-D9B6-54D1-22B40B4EA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575" y="5056188"/>
                        <a:ext cx="9271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23" name="文本框 34">
            <a:extLst>
              <a:ext uri="{FF2B5EF4-FFF2-40B4-BE49-F238E27FC236}">
                <a16:creationId xmlns:a16="http://schemas.microsoft.com/office/drawing/2014/main" id="{E2A6A3CC-8286-A8FD-240C-5F7C51628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503863"/>
            <a:ext cx="77771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称为余因子，其中        是曲线        的点数。</a:t>
            </a:r>
          </a:p>
        </p:txBody>
      </p:sp>
      <p:sp>
        <p:nvSpPr>
          <p:cNvPr id="41" name="Rectangle 28">
            <a:extLst>
              <a:ext uri="{FF2B5EF4-FFF2-40B4-BE49-F238E27FC236}">
                <a16:creationId xmlns:a16="http://schemas.microsoft.com/office/drawing/2014/main" id="{0457B0A7-C41E-097F-5811-98E402D3B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25" name="对象 41">
            <a:extLst>
              <a:ext uri="{FF2B5EF4-FFF2-40B4-BE49-F238E27FC236}">
                <a16:creationId xmlns:a16="http://schemas.microsoft.com/office/drawing/2014/main" id="{B4A3F60A-1D32-B93C-36B7-F69C3CCAB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7613" y="5438775"/>
          <a:ext cx="9779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5798800" imgH="10528300" progId="Equation.DSMT4">
                  <p:embed/>
                </p:oleObj>
              </mc:Choice>
              <mc:Fallback>
                <p:oleObj name="Equation" r:id="rId32" imgW="15798800" imgH="10528300" progId="Equation.DSMT4">
                  <p:embed/>
                  <p:pic>
                    <p:nvPicPr>
                      <p:cNvPr id="242725" name="对象 41">
                        <a:extLst>
                          <a:ext uri="{FF2B5EF4-FFF2-40B4-BE49-F238E27FC236}">
                            <a16:creationId xmlns:a16="http://schemas.microsoft.com/office/drawing/2014/main" id="{B4A3F60A-1D32-B93C-36B7-F69C3CCAB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5438775"/>
                        <a:ext cx="9779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30">
            <a:extLst>
              <a:ext uri="{FF2B5EF4-FFF2-40B4-BE49-F238E27FC236}">
                <a16:creationId xmlns:a16="http://schemas.microsoft.com/office/drawing/2014/main" id="{83223520-05AF-1D9D-F812-43F300A0C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2727" name="对象 43">
            <a:extLst>
              <a:ext uri="{FF2B5EF4-FFF2-40B4-BE49-F238E27FC236}">
                <a16:creationId xmlns:a16="http://schemas.microsoft.com/office/drawing/2014/main" id="{2836C2C1-F13F-1711-0CEF-E5372EEC52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5545138"/>
          <a:ext cx="611188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9944100" imgH="6438900" progId="Equation.DSMT4">
                  <p:embed/>
                </p:oleObj>
              </mc:Choice>
              <mc:Fallback>
                <p:oleObj name="Equation" r:id="rId34" imgW="9944100" imgH="6438900" progId="Equation.DSMT4">
                  <p:embed/>
                  <p:pic>
                    <p:nvPicPr>
                      <p:cNvPr id="242727" name="对象 43">
                        <a:extLst>
                          <a:ext uri="{FF2B5EF4-FFF2-40B4-BE49-F238E27FC236}">
                            <a16:creationId xmlns:a16="http://schemas.microsoft.com/office/drawing/2014/main" id="{2836C2C1-F13F-1711-0CEF-E5372EEC52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5545138"/>
                        <a:ext cx="611188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2728" name="图片 2306">
            <a:extLst>
              <a:ext uri="{FF2B5EF4-FFF2-40B4-BE49-F238E27FC236}">
                <a16:creationId xmlns:a16="http://schemas.microsoft.com/office/drawing/2014/main" id="{2ADD0916-8099-1B97-03A2-93DE1FB7E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5607050"/>
            <a:ext cx="55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000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文本框 1">
            <a:extLst>
              <a:ext uri="{FF2B5EF4-FFF2-40B4-BE49-F238E27FC236}">
                <a16:creationId xmlns:a16="http://schemas.microsoft.com/office/drawing/2014/main" id="{322EDC89-BA49-DFE3-462B-283BF7970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60450"/>
            <a:ext cx="4824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和       的产生算法如下：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C85F28-6C8D-FA60-600F-7ACA013CE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3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3716" name="对象 3">
            <a:extLst>
              <a:ext uri="{FF2B5EF4-FFF2-40B4-BE49-F238E27FC236}">
                <a16:creationId xmlns:a16="http://schemas.microsoft.com/office/drawing/2014/main" id="{EF4D0643-BA4D-1648-74D6-E8B09607CC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400" y="1125538"/>
          <a:ext cx="8318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44100" imgH="4102100" progId="Equation.DSMT4">
                  <p:embed/>
                </p:oleObj>
              </mc:Choice>
              <mc:Fallback>
                <p:oleObj name="Equation" r:id="rId2" imgW="9944100" imgH="4102100" progId="Equation.DSMT4">
                  <p:embed/>
                  <p:pic>
                    <p:nvPicPr>
                      <p:cNvPr id="243716" name="对象 3">
                        <a:extLst>
                          <a:ext uri="{FF2B5EF4-FFF2-40B4-BE49-F238E27FC236}">
                            <a16:creationId xmlns:a16="http://schemas.microsoft.com/office/drawing/2014/main" id="{EF4D0643-BA4D-1648-74D6-E8B09607CC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1125538"/>
                        <a:ext cx="83185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AC0E893-DB9D-A2F2-584D-890133993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3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3718" name="对象 5">
            <a:extLst>
              <a:ext uri="{FF2B5EF4-FFF2-40B4-BE49-F238E27FC236}">
                <a16:creationId xmlns:a16="http://schemas.microsoft.com/office/drawing/2014/main" id="{6DC810E5-A2AB-1C9E-E9CC-C6D9DD2F6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125538"/>
          <a:ext cx="46831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54700" imgH="4686300" progId="Equation.DSMT4">
                  <p:embed/>
                </p:oleObj>
              </mc:Choice>
              <mc:Fallback>
                <p:oleObj name="Equation" r:id="rId4" imgW="5854700" imgH="4686300" progId="Equation.DSMT4">
                  <p:embed/>
                  <p:pic>
                    <p:nvPicPr>
                      <p:cNvPr id="243718" name="对象 5">
                        <a:extLst>
                          <a:ext uri="{FF2B5EF4-FFF2-40B4-BE49-F238E27FC236}">
                            <a16:creationId xmlns:a16="http://schemas.microsoft.com/office/drawing/2014/main" id="{6DC810E5-A2AB-1C9E-E9CC-C6D9DD2F6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125538"/>
                        <a:ext cx="46831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9" name="文本框 6">
            <a:extLst>
              <a:ext uri="{FF2B5EF4-FFF2-40B4-BE49-F238E27FC236}">
                <a16:creationId xmlns:a16="http://schemas.microsoft.com/office/drawing/2014/main" id="{A44CEA25-E7AE-3C86-4DCF-22DB4F1C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5"/>
            <a:ext cx="792003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）任意选取长度不小于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192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比特的比特串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                       ，记                            ，其中      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表示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256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比特输出的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哈希算法；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）取              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）取                 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）在     上任意选择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个元素       ，满足                      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）若                           ，则转向 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）所选择的     上曲线是                             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）输出                 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B544AAD-B891-8D2F-D638-C7A5B64C2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3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3721" name="对象 8">
            <a:extLst>
              <a:ext uri="{FF2B5EF4-FFF2-40B4-BE49-F238E27FC236}">
                <a16:creationId xmlns:a16="http://schemas.microsoft.com/office/drawing/2014/main" id="{6D1A250D-638B-F7EE-2F95-1ABC8B1B0A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046288"/>
          <a:ext cx="16891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42900" imgH="5854700" progId="Equation.DSMT4">
                  <p:embed/>
                </p:oleObj>
              </mc:Choice>
              <mc:Fallback>
                <p:oleObj name="Equation" r:id="rId6" imgW="25742900" imgH="5854700" progId="Equation.DSMT4">
                  <p:embed/>
                  <p:pic>
                    <p:nvPicPr>
                      <p:cNvPr id="243721" name="对象 8">
                        <a:extLst>
                          <a:ext uri="{FF2B5EF4-FFF2-40B4-BE49-F238E27FC236}">
                            <a16:creationId xmlns:a16="http://schemas.microsoft.com/office/drawing/2014/main" id="{6D1A250D-638B-F7EE-2F95-1ABC8B1B0A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046288"/>
                        <a:ext cx="16891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>
            <a:extLst>
              <a:ext uri="{FF2B5EF4-FFF2-40B4-BE49-F238E27FC236}">
                <a16:creationId xmlns:a16="http://schemas.microsoft.com/office/drawing/2014/main" id="{664ADE13-BB0D-0D34-EFCC-8BF4D0008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3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3723" name="对象 10">
            <a:extLst>
              <a:ext uri="{FF2B5EF4-FFF2-40B4-BE49-F238E27FC236}">
                <a16:creationId xmlns:a16="http://schemas.microsoft.com/office/drawing/2014/main" id="{2BA8AE23-0928-D634-8B07-6953905EA924}"/>
              </a:ext>
            </a:extLst>
          </p:cNvPr>
          <p:cNvGraphicFramePr>
            <a:graphicFrameLocks/>
          </p:cNvGraphicFramePr>
          <p:nvPr/>
        </p:nvGraphicFramePr>
        <p:xfrm>
          <a:off x="4284663" y="2046288"/>
          <a:ext cx="20875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260800" imgH="5854700" progId="Equation.DSMT4">
                  <p:embed/>
                </p:oleObj>
              </mc:Choice>
              <mc:Fallback>
                <p:oleObj name="Equation" r:id="rId8" imgW="29260800" imgH="5854700" progId="Equation.DSMT4">
                  <p:embed/>
                  <p:pic>
                    <p:nvPicPr>
                      <p:cNvPr id="243723" name="对象 10">
                        <a:extLst>
                          <a:ext uri="{FF2B5EF4-FFF2-40B4-BE49-F238E27FC236}">
                            <a16:creationId xmlns:a16="http://schemas.microsoft.com/office/drawing/2014/main" id="{2BA8AE23-0928-D634-8B07-6953905EA9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046288"/>
                        <a:ext cx="20875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>
            <a:extLst>
              <a:ext uri="{FF2B5EF4-FFF2-40B4-BE49-F238E27FC236}">
                <a16:creationId xmlns:a16="http://schemas.microsoft.com/office/drawing/2014/main" id="{2302CA81-4418-CB78-7FFC-1F7CD3B1A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3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3725" name="对象 12">
            <a:extLst>
              <a:ext uri="{FF2B5EF4-FFF2-40B4-BE49-F238E27FC236}">
                <a16:creationId xmlns:a16="http://schemas.microsoft.com/office/drawing/2014/main" id="{BDC0463E-A739-70AD-09E1-DD4106EF6AE6}"/>
              </a:ext>
            </a:extLst>
          </p:cNvPr>
          <p:cNvGraphicFramePr>
            <a:graphicFrameLocks/>
          </p:cNvGraphicFramePr>
          <p:nvPr/>
        </p:nvGraphicFramePr>
        <p:xfrm>
          <a:off x="7308850" y="2087563"/>
          <a:ext cx="5397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023100" imgH="5270500" progId="Equation.DSMT4">
                  <p:embed/>
                </p:oleObj>
              </mc:Choice>
              <mc:Fallback>
                <p:oleObj name="Equation" r:id="rId10" imgW="7023100" imgH="5270500" progId="Equation.DSMT4">
                  <p:embed/>
                  <p:pic>
                    <p:nvPicPr>
                      <p:cNvPr id="243725" name="对象 12">
                        <a:extLst>
                          <a:ext uri="{FF2B5EF4-FFF2-40B4-BE49-F238E27FC236}">
                            <a16:creationId xmlns:a16="http://schemas.microsoft.com/office/drawing/2014/main" id="{BDC0463E-A739-70AD-09E1-DD4106EF6A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087563"/>
                        <a:ext cx="5397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4">
            <a:extLst>
              <a:ext uri="{FF2B5EF4-FFF2-40B4-BE49-F238E27FC236}">
                <a16:creationId xmlns:a16="http://schemas.microsoft.com/office/drawing/2014/main" id="{D72FB9E3-2E43-DD89-7933-055D3CE1C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3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3727" name="对象 14">
            <a:extLst>
              <a:ext uri="{FF2B5EF4-FFF2-40B4-BE49-F238E27FC236}">
                <a16:creationId xmlns:a16="http://schemas.microsoft.com/office/drawing/2014/main" id="{28195F5C-33D6-4B7F-1C20-86B5CD5FB697}"/>
              </a:ext>
            </a:extLst>
          </p:cNvPr>
          <p:cNvGraphicFramePr>
            <a:graphicFrameLocks/>
          </p:cNvGraphicFramePr>
          <p:nvPr/>
        </p:nvGraphicFramePr>
        <p:xfrm>
          <a:off x="1619250" y="2724150"/>
          <a:ext cx="97155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383000" imgH="9944100" progId="Equation.DSMT4">
                  <p:embed/>
                </p:oleObj>
              </mc:Choice>
              <mc:Fallback>
                <p:oleObj name="Equation" r:id="rId12" imgW="16383000" imgH="9944100" progId="Equation.DSMT4">
                  <p:embed/>
                  <p:pic>
                    <p:nvPicPr>
                      <p:cNvPr id="243727" name="对象 14">
                        <a:extLst>
                          <a:ext uri="{FF2B5EF4-FFF2-40B4-BE49-F238E27FC236}">
                            <a16:creationId xmlns:a16="http://schemas.microsoft.com/office/drawing/2014/main" id="{28195F5C-33D6-4B7F-1C20-86B5CD5FB6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724150"/>
                        <a:ext cx="97155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6">
            <a:extLst>
              <a:ext uri="{FF2B5EF4-FFF2-40B4-BE49-F238E27FC236}">
                <a16:creationId xmlns:a16="http://schemas.microsoft.com/office/drawing/2014/main" id="{8CE52926-F9EE-FAA5-9D71-DFE44767E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3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3729" name="对象 16">
            <a:extLst>
              <a:ext uri="{FF2B5EF4-FFF2-40B4-BE49-F238E27FC236}">
                <a16:creationId xmlns:a16="http://schemas.microsoft.com/office/drawing/2014/main" id="{3973109B-64EF-BD9B-BBDC-A224E7F991A9}"/>
              </a:ext>
            </a:extLst>
          </p:cNvPr>
          <p:cNvGraphicFramePr>
            <a:graphicFrameLocks/>
          </p:cNvGraphicFramePr>
          <p:nvPr/>
        </p:nvGraphicFramePr>
        <p:xfrm>
          <a:off x="1619250" y="3375025"/>
          <a:ext cx="12239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843500" imgH="4686300" progId="Equation.DSMT4">
                  <p:embed/>
                </p:oleObj>
              </mc:Choice>
              <mc:Fallback>
                <p:oleObj name="Equation" r:id="rId14" imgW="17843500" imgH="4686300" progId="Equation.DSMT4">
                  <p:embed/>
                  <p:pic>
                    <p:nvPicPr>
                      <p:cNvPr id="243729" name="对象 16">
                        <a:extLst>
                          <a:ext uri="{FF2B5EF4-FFF2-40B4-BE49-F238E27FC236}">
                            <a16:creationId xmlns:a16="http://schemas.microsoft.com/office/drawing/2014/main" id="{3973109B-64EF-BD9B-BBDC-A224E7F991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375025"/>
                        <a:ext cx="12239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0" name="对象 17">
            <a:extLst>
              <a:ext uri="{FF2B5EF4-FFF2-40B4-BE49-F238E27FC236}">
                <a16:creationId xmlns:a16="http://schemas.microsoft.com/office/drawing/2014/main" id="{A15136F0-140E-0F75-568D-A72FAF103E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706813"/>
          <a:ext cx="3238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94200" imgH="5562600" progId="Equation.DSMT4">
                  <p:embed/>
                </p:oleObj>
              </mc:Choice>
              <mc:Fallback>
                <p:oleObj name="Equation" r:id="rId16" imgW="4394200" imgH="5562600" progId="Equation.DSMT4">
                  <p:embed/>
                  <p:pic>
                    <p:nvPicPr>
                      <p:cNvPr id="243730" name="对象 17">
                        <a:extLst>
                          <a:ext uri="{FF2B5EF4-FFF2-40B4-BE49-F238E27FC236}">
                            <a16:creationId xmlns:a16="http://schemas.microsoft.com/office/drawing/2014/main" id="{A15136F0-140E-0F75-568D-A72FAF103E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706813"/>
                        <a:ext cx="3238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1" name="对象 18">
            <a:extLst>
              <a:ext uri="{FF2B5EF4-FFF2-40B4-BE49-F238E27FC236}">
                <a16:creationId xmlns:a16="http://schemas.microsoft.com/office/drawing/2014/main" id="{812CB03F-94DE-170D-63A5-2F3399CAD0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727450"/>
          <a:ext cx="46831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854700" imgH="4686300" progId="Equation.DSMT4">
                  <p:embed/>
                </p:oleObj>
              </mc:Choice>
              <mc:Fallback>
                <p:oleObj name="Equation" r:id="rId18" imgW="5854700" imgH="4686300" progId="Equation.DSMT4">
                  <p:embed/>
                  <p:pic>
                    <p:nvPicPr>
                      <p:cNvPr id="243731" name="对象 18">
                        <a:extLst>
                          <a:ext uri="{FF2B5EF4-FFF2-40B4-BE49-F238E27FC236}">
                            <a16:creationId xmlns:a16="http://schemas.microsoft.com/office/drawing/2014/main" id="{812CB03F-94DE-170D-63A5-2F3399CAD0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727450"/>
                        <a:ext cx="468313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8">
            <a:extLst>
              <a:ext uri="{FF2B5EF4-FFF2-40B4-BE49-F238E27FC236}">
                <a16:creationId xmlns:a16="http://schemas.microsoft.com/office/drawing/2014/main" id="{DC55E5AC-9F98-0204-408F-FE333DD97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3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3733" name="对象 20">
            <a:extLst>
              <a:ext uri="{FF2B5EF4-FFF2-40B4-BE49-F238E27FC236}">
                <a16:creationId xmlns:a16="http://schemas.microsoft.com/office/drawing/2014/main" id="{4785D804-23A9-47B6-DF1D-C69AA152CA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3662363"/>
          <a:ext cx="163988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653500" imgH="5270500" progId="Equation.DSMT4">
                  <p:embed/>
                </p:oleObj>
              </mc:Choice>
              <mc:Fallback>
                <p:oleObj name="Equation" r:id="rId19" imgW="21653500" imgH="5270500" progId="Equation.DSMT4">
                  <p:embed/>
                  <p:pic>
                    <p:nvPicPr>
                      <p:cNvPr id="243733" name="对象 20">
                        <a:extLst>
                          <a:ext uri="{FF2B5EF4-FFF2-40B4-BE49-F238E27FC236}">
                            <a16:creationId xmlns:a16="http://schemas.microsoft.com/office/drawing/2014/main" id="{4785D804-23A9-47B6-DF1D-C69AA152CA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3662363"/>
                        <a:ext cx="163988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3734" name="对象 2320">
            <a:extLst>
              <a:ext uri="{FF2B5EF4-FFF2-40B4-BE49-F238E27FC236}">
                <a16:creationId xmlns:a16="http://schemas.microsoft.com/office/drawing/2014/main" id="{DBD8F3B6-C024-5638-E3DD-A385E47AE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4064000"/>
            <a:ext cx="207803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3735" name="对象 22">
            <a:extLst>
              <a:ext uri="{FF2B5EF4-FFF2-40B4-BE49-F238E27FC236}">
                <a16:creationId xmlns:a16="http://schemas.microsoft.com/office/drawing/2014/main" id="{F74BA320-F502-03F9-BF16-2C44CAC45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4450" y="4459288"/>
          <a:ext cx="3238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394200" imgH="5562600" progId="Equation.DSMT4">
                  <p:embed/>
                </p:oleObj>
              </mc:Choice>
              <mc:Fallback>
                <p:oleObj name="Equation" r:id="rId22" imgW="4394200" imgH="5562600" progId="Equation.DSMT4">
                  <p:embed/>
                  <p:pic>
                    <p:nvPicPr>
                      <p:cNvPr id="243735" name="对象 22">
                        <a:extLst>
                          <a:ext uri="{FF2B5EF4-FFF2-40B4-BE49-F238E27FC236}">
                            <a16:creationId xmlns:a16="http://schemas.microsoft.com/office/drawing/2014/main" id="{F74BA320-F502-03F9-BF16-2C44CAC450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4459288"/>
                        <a:ext cx="3238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3736" name="对象 2322">
            <a:extLst>
              <a:ext uri="{FF2B5EF4-FFF2-40B4-BE49-F238E27FC236}">
                <a16:creationId xmlns:a16="http://schemas.microsoft.com/office/drawing/2014/main" id="{E943A721-FBD8-5DEB-7E63-E67DCB83D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4438650"/>
            <a:ext cx="215582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3737" name="对象 2323">
            <a:extLst>
              <a:ext uri="{FF2B5EF4-FFF2-40B4-BE49-F238E27FC236}">
                <a16:creationId xmlns:a16="http://schemas.microsoft.com/office/drawing/2014/main" id="{7AAA39E4-241C-E609-BA81-4C87BB95B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4795838"/>
            <a:ext cx="1292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000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DB9E9E-EC41-9A06-6DCF-BF009A188C3F}"/>
              </a:ext>
            </a:extLst>
          </p:cNvPr>
          <p:cNvSpPr/>
          <p:nvPr/>
        </p:nvSpPr>
        <p:spPr>
          <a:xfrm>
            <a:off x="468313" y="692150"/>
            <a:ext cx="2152650" cy="508000"/>
          </a:xfrm>
          <a:prstGeom prst="rect">
            <a:avLst/>
          </a:prstGeom>
        </p:spPr>
        <p:txBody>
          <a:bodyPr wrap="none">
            <a:spAutoFit/>
          </a:bodyPr>
          <a:lstStyle>
            <a:lvl1pPr indent="2667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密钥产生</a:t>
            </a: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4739" name="文本框 2">
            <a:extLst>
              <a:ext uri="{FF2B5EF4-FFF2-40B4-BE49-F238E27FC236}">
                <a16:creationId xmlns:a16="http://schemas.microsoft.com/office/drawing/2014/main" id="{A00C4571-C8FC-AF5A-2278-96C085996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00150"/>
            <a:ext cx="7561263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设接收方为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的秘密钥取为                  中的一个随机数     ，记为                          ，其中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是基点    的阶。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的公开钥取为椭圆曲线上的点：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其中                是基点。</a:t>
            </a:r>
          </a:p>
        </p:txBody>
      </p:sp>
      <p:pic>
        <p:nvPicPr>
          <p:cNvPr id="244740" name="对象 2324">
            <a:extLst>
              <a:ext uri="{FF2B5EF4-FFF2-40B4-BE49-F238E27FC236}">
                <a16:creationId xmlns:a16="http://schemas.microsoft.com/office/drawing/2014/main" id="{8539F99F-1065-10EC-17C3-91D3D6BA2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1249363"/>
            <a:ext cx="1366838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41" name="对象 2325">
            <a:extLst>
              <a:ext uri="{FF2B5EF4-FFF2-40B4-BE49-F238E27FC236}">
                <a16:creationId xmlns:a16="http://schemas.microsoft.com/office/drawing/2014/main" id="{6BE7B9B0-C42E-7CFF-0B83-A60C2437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628775"/>
            <a:ext cx="31750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42" name="对象 2326">
            <a:extLst>
              <a:ext uri="{FF2B5EF4-FFF2-40B4-BE49-F238E27FC236}">
                <a16:creationId xmlns:a16="http://schemas.microsoft.com/office/drawing/2014/main" id="{992211DA-5D11-3A08-91D4-BAAD84985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1628775"/>
            <a:ext cx="19653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4743" name="对象 6">
            <a:extLst>
              <a:ext uri="{FF2B5EF4-FFF2-40B4-BE49-F238E27FC236}">
                <a16:creationId xmlns:a16="http://schemas.microsoft.com/office/drawing/2014/main" id="{167D9282-F94C-2B15-A9FD-5FAA901C31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5463" y="1655763"/>
          <a:ext cx="2921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97300" imgH="4102100" progId="Equation.DSMT4">
                  <p:embed/>
                </p:oleObj>
              </mc:Choice>
              <mc:Fallback>
                <p:oleObj name="Equation" r:id="rId5" imgW="3797300" imgH="4102100" progId="Equation.DSMT4">
                  <p:embed/>
                  <p:pic>
                    <p:nvPicPr>
                      <p:cNvPr id="244743" name="对象 6">
                        <a:extLst>
                          <a:ext uri="{FF2B5EF4-FFF2-40B4-BE49-F238E27FC236}">
                            <a16:creationId xmlns:a16="http://schemas.microsoft.com/office/drawing/2014/main" id="{167D9282-F94C-2B15-A9FD-5FAA901C31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1655763"/>
                        <a:ext cx="2921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4" name="对象 2329">
            <a:extLst>
              <a:ext uri="{FF2B5EF4-FFF2-40B4-BE49-F238E27FC236}">
                <a16:creationId xmlns:a16="http://schemas.microsoft.com/office/drawing/2014/main" id="{A4BE0210-1EC3-7BC4-5FA4-47FF95BB4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370138"/>
            <a:ext cx="11096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45" name="对象 2330">
            <a:extLst>
              <a:ext uri="{FF2B5EF4-FFF2-40B4-BE49-F238E27FC236}">
                <a16:creationId xmlns:a16="http://schemas.microsoft.com/office/drawing/2014/main" id="{CDA7298C-06E3-C6B5-8652-DAFC2891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2752725"/>
            <a:ext cx="12096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A70002A-3F13-B8D9-BAE4-CED7FED4C0E3}"/>
              </a:ext>
            </a:extLst>
          </p:cNvPr>
          <p:cNvSpPr/>
          <p:nvPr/>
        </p:nvSpPr>
        <p:spPr>
          <a:xfrm>
            <a:off x="490538" y="3306763"/>
            <a:ext cx="2076450" cy="5540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 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加密算法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4747" name="文本框 3">
            <a:extLst>
              <a:ext uri="{FF2B5EF4-FFF2-40B4-BE49-F238E27FC236}">
                <a16:creationId xmlns:a16="http://schemas.microsoft.com/office/drawing/2014/main" id="{10C98230-94CD-BCD9-0C3F-10BC659A8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3860800"/>
            <a:ext cx="75596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设发送方是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要发送的消息表示成比特串    ，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的长度为        。加密运算如下：</a:t>
            </a:r>
          </a:p>
        </p:txBody>
      </p:sp>
      <p:graphicFrame>
        <p:nvGraphicFramePr>
          <p:cNvPr id="244748" name="对象 4">
            <a:extLst>
              <a:ext uri="{FF2B5EF4-FFF2-40B4-BE49-F238E27FC236}">
                <a16:creationId xmlns:a16="http://schemas.microsoft.com/office/drawing/2014/main" id="{5C4F81D3-3697-90AC-1A29-60A4AE00F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0" y="3922713"/>
          <a:ext cx="3810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686300" imgH="3797300" progId="Equation.DSMT4">
                  <p:embed/>
                </p:oleObj>
              </mc:Choice>
              <mc:Fallback>
                <p:oleObj name="Equation" r:id="rId9" imgW="4686300" imgH="3797300" progId="Equation.DSMT4">
                  <p:embed/>
                  <p:pic>
                    <p:nvPicPr>
                      <p:cNvPr id="244748" name="对象 4">
                        <a:extLst>
                          <a:ext uri="{FF2B5EF4-FFF2-40B4-BE49-F238E27FC236}">
                            <a16:creationId xmlns:a16="http://schemas.microsoft.com/office/drawing/2014/main" id="{5C4F81D3-3697-90AC-1A29-60A4AE00F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3922713"/>
                        <a:ext cx="3810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9" name="对象 12">
            <a:extLst>
              <a:ext uri="{FF2B5EF4-FFF2-40B4-BE49-F238E27FC236}">
                <a16:creationId xmlns:a16="http://schemas.microsoft.com/office/drawing/2014/main" id="{037FC560-E7CB-77DB-3B1A-C60A530547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3338" y="3922713"/>
          <a:ext cx="3825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686300" imgH="3797300" progId="Equation.DSMT4">
                  <p:embed/>
                </p:oleObj>
              </mc:Choice>
              <mc:Fallback>
                <p:oleObj name="Equation" r:id="rId11" imgW="4686300" imgH="3797300" progId="Equation.DSMT4">
                  <p:embed/>
                  <p:pic>
                    <p:nvPicPr>
                      <p:cNvPr id="244749" name="对象 12">
                        <a:extLst>
                          <a:ext uri="{FF2B5EF4-FFF2-40B4-BE49-F238E27FC236}">
                            <a16:creationId xmlns:a16="http://schemas.microsoft.com/office/drawing/2014/main" id="{037FC560-E7CB-77DB-3B1A-C60A530547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3338" y="3922713"/>
                        <a:ext cx="382587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50" name="对象 2333">
            <a:extLst>
              <a:ext uri="{FF2B5EF4-FFF2-40B4-BE49-F238E27FC236}">
                <a16:creationId xmlns:a16="http://schemas.microsoft.com/office/drawing/2014/main" id="{CEC8A224-2BCF-FE81-1704-3718E293C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825" y="4292600"/>
            <a:ext cx="6397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4751" name="文本框 14">
            <a:extLst>
              <a:ext uri="{FF2B5EF4-FFF2-40B4-BE49-F238E27FC236}">
                <a16:creationId xmlns:a16="http://schemas.microsoft.com/office/drawing/2014/main" id="{E8E0E707-A5BF-C38C-E3AD-49E1148C7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4692650"/>
            <a:ext cx="7921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）选择随机数                           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）计算椭圆曲线点                         ，将           表示为比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特串；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44752" name="对象 2334">
            <a:extLst>
              <a:ext uri="{FF2B5EF4-FFF2-40B4-BE49-F238E27FC236}">
                <a16:creationId xmlns:a16="http://schemas.microsoft.com/office/drawing/2014/main" id="{469939A0-9D1F-8B1C-A3E1-9F7522381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4756150"/>
            <a:ext cx="1966913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53" name="对象 2335">
            <a:extLst>
              <a:ext uri="{FF2B5EF4-FFF2-40B4-BE49-F238E27FC236}">
                <a16:creationId xmlns:a16="http://schemas.microsoft.com/office/drawing/2014/main" id="{27DD0423-CC0A-1F2E-E87F-BB517F2D1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488" y="5111750"/>
            <a:ext cx="1825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54" name="对象 2336">
            <a:extLst>
              <a:ext uri="{FF2B5EF4-FFF2-40B4-BE49-F238E27FC236}">
                <a16:creationId xmlns:a16="http://schemas.microsoft.com/office/drawing/2014/main" id="{B13ED37E-A59F-2477-74E6-49C54A13F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5100638"/>
            <a:ext cx="766762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000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文本框 1">
            <a:extLst>
              <a:ext uri="{FF2B5EF4-FFF2-40B4-BE49-F238E27FC236}">
                <a16:creationId xmlns:a16="http://schemas.microsoft.com/office/drawing/2014/main" id="{23B93F9D-EECB-CFC4-A484-B302506A8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8135937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）计算椭圆曲线点           ，若    是无穷远点，则报错并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退出；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）计算椭圆曲线点                   ，将          表示为比特串；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                                ，若  为全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的比特串，则返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               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                               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）输出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密文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45763" name="对象 2337">
            <a:extLst>
              <a:ext uri="{FF2B5EF4-FFF2-40B4-BE49-F238E27FC236}">
                <a16:creationId xmlns:a16="http://schemas.microsoft.com/office/drawing/2014/main" id="{CCAFD21C-1E59-0E93-42E0-F84F8725D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868363"/>
            <a:ext cx="755650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64" name="对象 2338">
            <a:extLst>
              <a:ext uri="{FF2B5EF4-FFF2-40B4-BE49-F238E27FC236}">
                <a16:creationId xmlns:a16="http://schemas.microsoft.com/office/drawing/2014/main" id="{1B0E02A6-B996-AB40-6D48-98BFC1041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836613"/>
            <a:ext cx="241300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65" name="对象 2339">
            <a:extLst>
              <a:ext uri="{FF2B5EF4-FFF2-40B4-BE49-F238E27FC236}">
                <a16:creationId xmlns:a16="http://schemas.microsoft.com/office/drawing/2014/main" id="{3B13D036-7931-E411-77F8-98443A13B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1557338"/>
            <a:ext cx="14398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66" name="对象 2340">
            <a:extLst>
              <a:ext uri="{FF2B5EF4-FFF2-40B4-BE49-F238E27FC236}">
                <a16:creationId xmlns:a16="http://schemas.microsoft.com/office/drawing/2014/main" id="{F96D3AD3-DEC8-342D-2B6F-030B9A6D4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557338"/>
            <a:ext cx="719138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67" name="对象 2341">
            <a:extLst>
              <a:ext uri="{FF2B5EF4-FFF2-40B4-BE49-F238E27FC236}">
                <a16:creationId xmlns:a16="http://schemas.microsoft.com/office/drawing/2014/main" id="{FEFD96BB-E12F-D548-3479-12D7E5F89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916113"/>
            <a:ext cx="22860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68" name="对象 2342">
            <a:extLst>
              <a:ext uri="{FF2B5EF4-FFF2-40B4-BE49-F238E27FC236}">
                <a16:creationId xmlns:a16="http://schemas.microsoft.com/office/drawing/2014/main" id="{0ACACB7D-6422-D0BD-F385-66100AF16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700" y="1966913"/>
            <a:ext cx="174625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69" name="对象 2343">
            <a:extLst>
              <a:ext uri="{FF2B5EF4-FFF2-40B4-BE49-F238E27FC236}">
                <a16:creationId xmlns:a16="http://schemas.microsoft.com/office/drawing/2014/main" id="{5592B691-1689-A6E1-53CC-173D9FBB2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2668588"/>
            <a:ext cx="1082675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70" name="对象 2344">
            <a:extLst>
              <a:ext uri="{FF2B5EF4-FFF2-40B4-BE49-F238E27FC236}">
                <a16:creationId xmlns:a16="http://schemas.microsoft.com/office/drawing/2014/main" id="{83129C44-B767-8427-7BE9-6B8E6C32D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3021013"/>
            <a:ext cx="2344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71" name="对象 2345">
            <a:extLst>
              <a:ext uri="{FF2B5EF4-FFF2-40B4-BE49-F238E27FC236}">
                <a16:creationId xmlns:a16="http://schemas.microsoft.com/office/drawing/2014/main" id="{02179927-DDF0-4D65-1AC3-E9F40CCF3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3421063"/>
            <a:ext cx="1423988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72" name="文本框 2">
            <a:extLst>
              <a:ext uri="{FF2B5EF4-FFF2-40B4-BE49-F238E27FC236}">
                <a16:creationId xmlns:a16="http://schemas.microsoft.com/office/drawing/2014/main" id="{57B0D92E-BAB3-0905-66FA-8FC68674F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933825"/>
            <a:ext cx="76327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其中第（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）步 是            密钥派生函数，其本质上就是一个伪随机数产生函数，用来产生密钥，取为密码哈希函数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。第（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）步        函数也取为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45773" name="对象 2387">
            <a:extLst>
              <a:ext uri="{FF2B5EF4-FFF2-40B4-BE49-F238E27FC236}">
                <a16:creationId xmlns:a16="http://schemas.microsoft.com/office/drawing/2014/main" id="{1450A412-1FD2-2CE3-83B8-89DDBBE0F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5" y="3997325"/>
            <a:ext cx="860425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74" name="文本框 4">
            <a:extLst>
              <a:ext uri="{FF2B5EF4-FFF2-40B4-BE49-F238E27FC236}">
                <a16:creationId xmlns:a16="http://schemas.microsoft.com/office/drawing/2014/main" id="{D5E9A523-6154-B954-75EE-01BDC951E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264150"/>
            <a:ext cx="568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图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4-5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          加密算法的流程图。</a:t>
            </a:r>
          </a:p>
        </p:txBody>
      </p:sp>
      <p:pic>
        <p:nvPicPr>
          <p:cNvPr id="245775" name="对象 2388">
            <a:extLst>
              <a:ext uri="{FF2B5EF4-FFF2-40B4-BE49-F238E27FC236}">
                <a16:creationId xmlns:a16="http://schemas.microsoft.com/office/drawing/2014/main" id="{BDFA8558-BE2F-2822-D4A6-E20026519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5" y="4772025"/>
            <a:ext cx="6064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76" name="对象 2389">
            <a:extLst>
              <a:ext uri="{FF2B5EF4-FFF2-40B4-BE49-F238E27FC236}">
                <a16:creationId xmlns:a16="http://schemas.microsoft.com/office/drawing/2014/main" id="{1AE76273-743B-A8DD-C05F-DAA7D64D5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25" y="5367338"/>
            <a:ext cx="54292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000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950C2A-6AC9-BBFE-7F1D-B6F92C446106}"/>
              </a:ext>
            </a:extLst>
          </p:cNvPr>
          <p:cNvSpPr/>
          <p:nvPr/>
        </p:nvSpPr>
        <p:spPr>
          <a:xfrm>
            <a:off x="5221288" y="3141663"/>
            <a:ext cx="2414444" cy="40011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图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SM2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加密流程图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46788" name="图片 2">
            <a:extLst>
              <a:ext uri="{FF2B5EF4-FFF2-40B4-BE49-F238E27FC236}">
                <a16:creationId xmlns:a16="http://schemas.microsoft.com/office/drawing/2014/main" id="{9EB0F054-08D4-1A87-DB10-2D6797AA5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765175"/>
            <a:ext cx="4022725" cy="572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000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F51629-3F6A-85C0-4CB9-C4C75C3393A9}"/>
              </a:ext>
            </a:extLst>
          </p:cNvPr>
          <p:cNvSpPr/>
          <p:nvPr/>
        </p:nvSpPr>
        <p:spPr>
          <a:xfrm>
            <a:off x="468313" y="692150"/>
            <a:ext cx="2074862" cy="5540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 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解密算法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7811" name="文本框 2">
            <a:extLst>
              <a:ext uri="{FF2B5EF4-FFF2-40B4-BE49-F238E27FC236}">
                <a16:creationId xmlns:a16="http://schemas.microsoft.com/office/drawing/2014/main" id="{43A3F9D2-B707-AA99-9F96-736C056B4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25538"/>
            <a:ext cx="7561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B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收到密文后，执行以下解密运算：</a:t>
            </a:r>
          </a:p>
        </p:txBody>
      </p:sp>
      <p:sp>
        <p:nvSpPr>
          <p:cNvPr id="247812" name="文本框 3">
            <a:extLst>
              <a:ext uri="{FF2B5EF4-FFF2-40B4-BE49-F238E27FC236}">
                <a16:creationId xmlns:a16="http://schemas.microsoft.com/office/drawing/2014/main" id="{1DD9D183-0C31-60BB-84C4-B942B177E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1585913"/>
            <a:ext cx="81724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    中取出比特串     ，将     表示为椭圆曲线上的点，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验证     是否满足椭圆曲线方程，若不满足则报错并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退出；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）计算椭圆曲线点            ，若   是无穷远点，则报错并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退出；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                      ，将坐标     ，   表示为比特串；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                              ，若   为全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比特串，则报错并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退出；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    中取出比特串     ，计算                   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）计算                             ，从     中取出      ，若          ，则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报错并退出；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）输出明文     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7813" name="对象 3">
            <a:extLst>
              <a:ext uri="{FF2B5EF4-FFF2-40B4-BE49-F238E27FC236}">
                <a16:creationId xmlns:a16="http://schemas.microsoft.com/office/drawing/2014/main" id="{416A3B58-0B24-5A5E-8F7D-677656EC5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657350"/>
          <a:ext cx="28416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05200" imgH="4102100" progId="Equation.DSMT4">
                  <p:embed/>
                </p:oleObj>
              </mc:Choice>
              <mc:Fallback>
                <p:oleObj name="Equation" r:id="rId2" imgW="3505200" imgH="4102100" progId="Equation.DSMT4">
                  <p:embed/>
                  <p:pic>
                    <p:nvPicPr>
                      <p:cNvPr id="247813" name="对象 3">
                        <a:extLst>
                          <a:ext uri="{FF2B5EF4-FFF2-40B4-BE49-F238E27FC236}">
                            <a16:creationId xmlns:a16="http://schemas.microsoft.com/office/drawing/2014/main" id="{416A3B58-0B24-5A5E-8F7D-677656EC52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657350"/>
                        <a:ext cx="284162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4" name="对象 10">
            <a:extLst>
              <a:ext uri="{FF2B5EF4-FFF2-40B4-BE49-F238E27FC236}">
                <a16:creationId xmlns:a16="http://schemas.microsoft.com/office/drawing/2014/main" id="{1008A3A1-FA75-088F-3C86-AD4586AB3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9850" y="1633538"/>
          <a:ext cx="3317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02100" imgH="5270500" progId="Equation.DSMT4">
                  <p:embed/>
                </p:oleObj>
              </mc:Choice>
              <mc:Fallback>
                <p:oleObj name="Equation" r:id="rId4" imgW="4102100" imgH="5270500" progId="Equation.DSMT4">
                  <p:embed/>
                  <p:pic>
                    <p:nvPicPr>
                      <p:cNvPr id="247814" name="对象 10">
                        <a:extLst>
                          <a:ext uri="{FF2B5EF4-FFF2-40B4-BE49-F238E27FC236}">
                            <a16:creationId xmlns:a16="http://schemas.microsoft.com/office/drawing/2014/main" id="{1008A3A1-FA75-088F-3C86-AD4586AB33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1633538"/>
                        <a:ext cx="331788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5" name="对象 11">
            <a:extLst>
              <a:ext uri="{FF2B5EF4-FFF2-40B4-BE49-F238E27FC236}">
                <a16:creationId xmlns:a16="http://schemas.microsoft.com/office/drawing/2014/main" id="{028C524F-3A19-7BD8-CB08-85EAF75D86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1633538"/>
          <a:ext cx="3317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02100" imgH="5270500" progId="Equation.DSMT4">
                  <p:embed/>
                </p:oleObj>
              </mc:Choice>
              <mc:Fallback>
                <p:oleObj name="Equation" r:id="rId6" imgW="4102100" imgH="5270500" progId="Equation.DSMT4">
                  <p:embed/>
                  <p:pic>
                    <p:nvPicPr>
                      <p:cNvPr id="247815" name="对象 11">
                        <a:extLst>
                          <a:ext uri="{FF2B5EF4-FFF2-40B4-BE49-F238E27FC236}">
                            <a16:creationId xmlns:a16="http://schemas.microsoft.com/office/drawing/2014/main" id="{028C524F-3A19-7BD8-CB08-85EAF75D86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633538"/>
                        <a:ext cx="331787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6" name="对象 12">
            <a:extLst>
              <a:ext uri="{FF2B5EF4-FFF2-40B4-BE49-F238E27FC236}">
                <a16:creationId xmlns:a16="http://schemas.microsoft.com/office/drawing/2014/main" id="{6F9736EC-B58D-ABA6-5AE1-7FE295B54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7875" y="1992313"/>
          <a:ext cx="3317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02100" imgH="5270500" progId="Equation.DSMT4">
                  <p:embed/>
                </p:oleObj>
              </mc:Choice>
              <mc:Fallback>
                <p:oleObj name="Equation" r:id="rId8" imgW="4102100" imgH="5270500" progId="Equation.DSMT4">
                  <p:embed/>
                  <p:pic>
                    <p:nvPicPr>
                      <p:cNvPr id="247816" name="对象 12">
                        <a:extLst>
                          <a:ext uri="{FF2B5EF4-FFF2-40B4-BE49-F238E27FC236}">
                            <a16:creationId xmlns:a16="http://schemas.microsoft.com/office/drawing/2014/main" id="{6F9736EC-B58D-ABA6-5AE1-7FE295B543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992313"/>
                        <a:ext cx="331788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7817" name="对象 2394">
            <a:extLst>
              <a:ext uri="{FF2B5EF4-FFF2-40B4-BE49-F238E27FC236}">
                <a16:creationId xmlns:a16="http://schemas.microsoft.com/office/drawing/2014/main" id="{3A014F86-7E79-760A-3926-0E111290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925" y="2768600"/>
            <a:ext cx="909638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7818" name="对象 14">
            <a:extLst>
              <a:ext uri="{FF2B5EF4-FFF2-40B4-BE49-F238E27FC236}">
                <a16:creationId xmlns:a16="http://schemas.microsoft.com/office/drawing/2014/main" id="{531971C7-9E1D-524F-78D5-6D3371C3A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60950" y="2768600"/>
          <a:ext cx="2603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13100" imgH="4102100" progId="Equation.DSMT4">
                  <p:embed/>
                </p:oleObj>
              </mc:Choice>
              <mc:Fallback>
                <p:oleObj name="Equation" r:id="rId10" imgW="3213100" imgH="4102100" progId="Equation.DSMT4">
                  <p:embed/>
                  <p:pic>
                    <p:nvPicPr>
                      <p:cNvPr id="247818" name="对象 14">
                        <a:extLst>
                          <a:ext uri="{FF2B5EF4-FFF2-40B4-BE49-F238E27FC236}">
                            <a16:creationId xmlns:a16="http://schemas.microsoft.com/office/drawing/2014/main" id="{531971C7-9E1D-524F-78D5-6D3371C3A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50" y="2768600"/>
                        <a:ext cx="26035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7819" name="对象 2396">
            <a:extLst>
              <a:ext uri="{FF2B5EF4-FFF2-40B4-BE49-F238E27FC236}">
                <a16:creationId xmlns:a16="http://schemas.microsoft.com/office/drawing/2014/main" id="{88F1DC4F-252C-6E0C-097D-204E9126F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3486150"/>
            <a:ext cx="1557338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820" name="对象 2397">
            <a:extLst>
              <a:ext uri="{FF2B5EF4-FFF2-40B4-BE49-F238E27FC236}">
                <a16:creationId xmlns:a16="http://schemas.microsoft.com/office/drawing/2014/main" id="{3D5F258F-D0C0-885E-EDB0-1899B9C1E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3395663"/>
            <a:ext cx="33020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821" name="对象 2398">
            <a:extLst>
              <a:ext uri="{FF2B5EF4-FFF2-40B4-BE49-F238E27FC236}">
                <a16:creationId xmlns:a16="http://schemas.microsoft.com/office/drawing/2014/main" id="{277F3BD4-3158-13F3-859A-FDB8E826A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427413"/>
            <a:ext cx="31750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822" name="对象 2399">
            <a:extLst>
              <a:ext uri="{FF2B5EF4-FFF2-40B4-BE49-F238E27FC236}">
                <a16:creationId xmlns:a16="http://schemas.microsoft.com/office/drawing/2014/main" id="{93C58191-52D4-4F95-E2CC-492BD2BA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3854450"/>
            <a:ext cx="221456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7823" name="对象 20">
            <a:extLst>
              <a:ext uri="{FF2B5EF4-FFF2-40B4-BE49-F238E27FC236}">
                <a16:creationId xmlns:a16="http://schemas.microsoft.com/office/drawing/2014/main" id="{872D5B9A-5C9A-E9F4-67E5-092DB35F47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3898900"/>
          <a:ext cx="166687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44700" imgH="3505200" progId="Equation.DSMT4">
                  <p:embed/>
                </p:oleObj>
              </mc:Choice>
              <mc:Fallback>
                <p:oleObj name="Equation" r:id="rId16" imgW="2044700" imgH="3505200" progId="Equation.DSMT4">
                  <p:embed/>
                  <p:pic>
                    <p:nvPicPr>
                      <p:cNvPr id="247823" name="对象 20">
                        <a:extLst>
                          <a:ext uri="{FF2B5EF4-FFF2-40B4-BE49-F238E27FC236}">
                            <a16:creationId xmlns:a16="http://schemas.microsoft.com/office/drawing/2014/main" id="{872D5B9A-5C9A-E9F4-67E5-092DB35F47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3898900"/>
                        <a:ext cx="166687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4" name="对象 21">
            <a:extLst>
              <a:ext uri="{FF2B5EF4-FFF2-40B4-BE49-F238E27FC236}">
                <a16:creationId xmlns:a16="http://schemas.microsoft.com/office/drawing/2014/main" id="{5A0AE913-5E93-5D2B-AC5D-8E4AE7BC0E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581525"/>
          <a:ext cx="28416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05200" imgH="4102100" progId="Equation.DSMT4">
                  <p:embed/>
                </p:oleObj>
              </mc:Choice>
              <mc:Fallback>
                <p:oleObj name="Equation" r:id="rId18" imgW="3505200" imgH="4102100" progId="Equation.DSMT4">
                  <p:embed/>
                  <p:pic>
                    <p:nvPicPr>
                      <p:cNvPr id="247824" name="对象 21">
                        <a:extLst>
                          <a:ext uri="{FF2B5EF4-FFF2-40B4-BE49-F238E27FC236}">
                            <a16:creationId xmlns:a16="http://schemas.microsoft.com/office/drawing/2014/main" id="{5A0AE913-5E93-5D2B-AC5D-8E4AE7BC0E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581525"/>
                        <a:ext cx="284162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5" name="对象 22">
            <a:extLst>
              <a:ext uri="{FF2B5EF4-FFF2-40B4-BE49-F238E27FC236}">
                <a16:creationId xmlns:a16="http://schemas.microsoft.com/office/drawing/2014/main" id="{62EBD560-D56B-0C1E-20AF-D6A4BAB53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8738" y="4586288"/>
          <a:ext cx="3556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394200" imgH="5270500" progId="Equation.DSMT4">
                  <p:embed/>
                </p:oleObj>
              </mc:Choice>
              <mc:Fallback>
                <p:oleObj name="Equation" r:id="rId19" imgW="4394200" imgH="5270500" progId="Equation.DSMT4">
                  <p:embed/>
                  <p:pic>
                    <p:nvPicPr>
                      <p:cNvPr id="247825" name="对象 22">
                        <a:extLst>
                          <a:ext uri="{FF2B5EF4-FFF2-40B4-BE49-F238E27FC236}">
                            <a16:creationId xmlns:a16="http://schemas.microsoft.com/office/drawing/2014/main" id="{62EBD560-D56B-0C1E-20AF-D6A4BAB53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4586288"/>
                        <a:ext cx="3556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7826" name="对象 2403">
            <a:extLst>
              <a:ext uri="{FF2B5EF4-FFF2-40B4-BE49-F238E27FC236}">
                <a16:creationId xmlns:a16="http://schemas.microsoft.com/office/drawing/2014/main" id="{C2CA98F8-B1B7-03BE-246C-CA02C590C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238" y="4540250"/>
            <a:ext cx="13112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827" name="对象 2404">
            <a:extLst>
              <a:ext uri="{FF2B5EF4-FFF2-40B4-BE49-F238E27FC236}">
                <a16:creationId xmlns:a16="http://schemas.microsoft.com/office/drawing/2014/main" id="{AD9D931D-C703-EE71-097E-B6248DC8D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88" y="4933950"/>
            <a:ext cx="21986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7828" name="对象 25">
            <a:extLst>
              <a:ext uri="{FF2B5EF4-FFF2-40B4-BE49-F238E27FC236}">
                <a16:creationId xmlns:a16="http://schemas.microsoft.com/office/drawing/2014/main" id="{775EC45E-BCE6-7277-1CB2-04669FD9B7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8075" y="4968875"/>
          <a:ext cx="2841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505200" imgH="4102100" progId="Equation.DSMT4">
                  <p:embed/>
                </p:oleObj>
              </mc:Choice>
              <mc:Fallback>
                <p:oleObj name="Equation" r:id="rId23" imgW="3505200" imgH="4102100" progId="Equation.DSMT4">
                  <p:embed/>
                  <p:pic>
                    <p:nvPicPr>
                      <p:cNvPr id="247828" name="对象 25">
                        <a:extLst>
                          <a:ext uri="{FF2B5EF4-FFF2-40B4-BE49-F238E27FC236}">
                            <a16:creationId xmlns:a16="http://schemas.microsoft.com/office/drawing/2014/main" id="{775EC45E-BCE6-7277-1CB2-04669FD9B7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4968875"/>
                        <a:ext cx="2841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9" name="对象 26">
            <a:extLst>
              <a:ext uri="{FF2B5EF4-FFF2-40B4-BE49-F238E27FC236}">
                <a16:creationId xmlns:a16="http://schemas.microsoft.com/office/drawing/2014/main" id="{27575F34-87EF-C623-982F-66E778AF3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0613" y="4913313"/>
          <a:ext cx="3556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394200" imgH="5270500" progId="Equation.DSMT4">
                  <p:embed/>
                </p:oleObj>
              </mc:Choice>
              <mc:Fallback>
                <p:oleObj name="Equation" r:id="rId24" imgW="4394200" imgH="5270500" progId="Equation.DSMT4">
                  <p:embed/>
                  <p:pic>
                    <p:nvPicPr>
                      <p:cNvPr id="247829" name="对象 26">
                        <a:extLst>
                          <a:ext uri="{FF2B5EF4-FFF2-40B4-BE49-F238E27FC236}">
                            <a16:creationId xmlns:a16="http://schemas.microsoft.com/office/drawing/2014/main" id="{27575F34-87EF-C623-982F-66E778AF3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613" y="4913313"/>
                        <a:ext cx="3556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7830" name="对象 2407">
            <a:extLst>
              <a:ext uri="{FF2B5EF4-FFF2-40B4-BE49-F238E27FC236}">
                <a16:creationId xmlns:a16="http://schemas.microsoft.com/office/drawing/2014/main" id="{677F2478-BF8C-F84E-5A74-CFD705F26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5" y="4930775"/>
            <a:ext cx="75088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831" name="对象 2408">
            <a:extLst>
              <a:ext uri="{FF2B5EF4-FFF2-40B4-BE49-F238E27FC236}">
                <a16:creationId xmlns:a16="http://schemas.microsoft.com/office/drawing/2014/main" id="{155BCC69-DF4A-AE21-CF24-D7FF8C672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0" y="5692775"/>
            <a:ext cx="3603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000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文本框 1">
            <a:extLst>
              <a:ext uri="{FF2B5EF4-FFF2-40B4-BE49-F238E27FC236}">
                <a16:creationId xmlns:a16="http://schemas.microsoft.com/office/drawing/2014/main" id="{BB72560E-08B7-47D1-A637-4C1D54A5F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412875"/>
            <a:ext cx="75930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解密的正确性：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因为             ，                         ，由解密算法的第（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）步可得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所以解密算法第（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）步得到的   与加密算法第（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）步得到的    相等，由           ，便得到明文 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33AD49-7E92-F070-C458-81DFDA73F75D}"/>
              </a:ext>
            </a:extLst>
          </p:cNvPr>
          <p:cNvSpPr/>
          <p:nvPr/>
        </p:nvSpPr>
        <p:spPr>
          <a:xfrm>
            <a:off x="755650" y="836613"/>
            <a:ext cx="5400675" cy="461962"/>
          </a:xfrm>
          <a:prstGeom prst="rect">
            <a:avLst/>
          </a:prstGeom>
        </p:spPr>
        <p:txBody>
          <a:bodyPr>
            <a:spAutoFit/>
          </a:bodyPr>
          <a:lstStyle>
            <a:lvl1pPr indent="2667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4-6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SM2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解密算法的流程图。</a:t>
            </a:r>
          </a:p>
        </p:txBody>
      </p:sp>
      <p:pic>
        <p:nvPicPr>
          <p:cNvPr id="248836" name="对象 2369">
            <a:extLst>
              <a:ext uri="{FF2B5EF4-FFF2-40B4-BE49-F238E27FC236}">
                <a16:creationId xmlns:a16="http://schemas.microsoft.com/office/drawing/2014/main" id="{FEEEFF7E-C38F-F56A-86A0-D6B2A3874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844675"/>
            <a:ext cx="10017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8837" name="对象 2370">
            <a:extLst>
              <a:ext uri="{FF2B5EF4-FFF2-40B4-BE49-F238E27FC236}">
                <a16:creationId xmlns:a16="http://schemas.microsoft.com/office/drawing/2014/main" id="{26A85CEF-FF6A-23C2-B174-6DB5FCFDF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793875"/>
            <a:ext cx="194468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8838" name="对象 2371">
            <a:extLst>
              <a:ext uri="{FF2B5EF4-FFF2-40B4-BE49-F238E27FC236}">
                <a16:creationId xmlns:a16="http://schemas.microsoft.com/office/drawing/2014/main" id="{068B0C76-358D-4BE0-A1D2-315F3DFAB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498725"/>
            <a:ext cx="40322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8839" name="对象 1">
            <a:extLst>
              <a:ext uri="{FF2B5EF4-FFF2-40B4-BE49-F238E27FC236}">
                <a16:creationId xmlns:a16="http://schemas.microsoft.com/office/drawing/2014/main" id="{216226BA-7DD8-6C7E-2197-9271500FBD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2965450"/>
          <a:ext cx="185737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44700" imgH="3505200" progId="Equation.DSMT4">
                  <p:embed/>
                </p:oleObj>
              </mc:Choice>
              <mc:Fallback>
                <p:oleObj name="Equation" r:id="rId5" imgW="2044700" imgH="3505200" progId="Equation.DSMT4">
                  <p:embed/>
                  <p:pic>
                    <p:nvPicPr>
                      <p:cNvPr id="248839" name="对象 1">
                        <a:extLst>
                          <a:ext uri="{FF2B5EF4-FFF2-40B4-BE49-F238E27FC236}">
                            <a16:creationId xmlns:a16="http://schemas.microsoft.com/office/drawing/2014/main" id="{216226BA-7DD8-6C7E-2197-9271500FBD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965450"/>
                        <a:ext cx="185737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0" name="对象 8">
            <a:extLst>
              <a:ext uri="{FF2B5EF4-FFF2-40B4-BE49-F238E27FC236}">
                <a16:creationId xmlns:a16="http://schemas.microsoft.com/office/drawing/2014/main" id="{F5EE7E34-6286-7396-3B62-DF3800B9E8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75" y="3325813"/>
          <a:ext cx="18573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44700" imgH="3505200" progId="Equation.DSMT4">
                  <p:embed/>
                </p:oleObj>
              </mc:Choice>
              <mc:Fallback>
                <p:oleObj name="Equation" r:id="rId7" imgW="2044700" imgH="3505200" progId="Equation.DSMT4">
                  <p:embed/>
                  <p:pic>
                    <p:nvPicPr>
                      <p:cNvPr id="248840" name="对象 8">
                        <a:extLst>
                          <a:ext uri="{FF2B5EF4-FFF2-40B4-BE49-F238E27FC236}">
                            <a16:creationId xmlns:a16="http://schemas.microsoft.com/office/drawing/2014/main" id="{F5EE7E34-6286-7396-3B62-DF3800B9E8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3325813"/>
                        <a:ext cx="185738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8841" name="对象 2374">
            <a:extLst>
              <a:ext uri="{FF2B5EF4-FFF2-40B4-BE49-F238E27FC236}">
                <a16:creationId xmlns:a16="http://schemas.microsoft.com/office/drawing/2014/main" id="{89C992C2-A5EA-6032-DF78-BAB92D94F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328988"/>
            <a:ext cx="7112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000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矩形 2">
            <a:extLst>
              <a:ext uri="{FF2B5EF4-FFF2-40B4-BE49-F238E27FC236}">
                <a16:creationId xmlns:a16="http://schemas.microsoft.com/office/drawing/2014/main" id="{0ED2AF3D-E5DE-A269-309C-D289BAEEA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136900"/>
            <a:ext cx="23503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SM2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解密流程图</a:t>
            </a:r>
          </a:p>
        </p:txBody>
      </p:sp>
      <p:pic>
        <p:nvPicPr>
          <p:cNvPr id="249860" name="图片 1">
            <a:extLst>
              <a:ext uri="{FF2B5EF4-FFF2-40B4-BE49-F238E27FC236}">
                <a16:creationId xmlns:a16="http://schemas.microsoft.com/office/drawing/2014/main" id="{70FDB892-D8C3-972C-382A-0DAACAF59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692150"/>
            <a:ext cx="4219575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000"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4"/>
  <p:tag name="DEFAULTHEIGHT" val="319"/>
</p:tagLst>
</file>

<file path=ppt/theme/theme1.xml><?xml version="1.0" encoding="utf-8"?>
<a:theme xmlns:a="http://schemas.openxmlformats.org/drawingml/2006/main" name="Folienvorlage2">
  <a:themeElements>
    <a:clrScheme name="Folienvorlage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vorlag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lienvorlag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vorlag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自定义设计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F81BD"/>
        </a:solidFill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Folienvorlage2</Template>
  <TotalTime>279</TotalTime>
  <Words>3461</Words>
  <Application>Microsoft Macintosh PowerPoint</Application>
  <PresentationFormat>全屏显示(4:3)</PresentationFormat>
  <Paragraphs>406</Paragraphs>
  <Slides>33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微软雅黑</vt:lpstr>
      <vt:lpstr>Times</vt:lpstr>
      <vt:lpstr>Arial</vt:lpstr>
      <vt:lpstr>Calibri</vt:lpstr>
      <vt:lpstr>Symbol</vt:lpstr>
      <vt:lpstr>Times New Roman</vt:lpstr>
      <vt:lpstr>Webdings</vt:lpstr>
      <vt:lpstr>Wingdings</vt:lpstr>
      <vt:lpstr>Folienvorlage2</vt:lpstr>
      <vt:lpstr>1_Lecture</vt:lpstr>
      <vt:lpstr>自定义设计</vt:lpstr>
      <vt:lpstr>Formel</vt:lpstr>
      <vt:lpstr>Equation</vt:lpstr>
      <vt:lpstr>PowerPoint 演示文稿</vt:lpstr>
      <vt:lpstr>Content of this Chapter</vt:lpstr>
      <vt:lpstr>Content of this Chapter</vt:lpstr>
      <vt:lpstr>Motivation</vt:lpstr>
      <vt:lpstr>Content of this Chapter</vt:lpstr>
      <vt:lpstr>Computations on Elliptic Curves</vt:lpstr>
      <vt:lpstr>Computations on Elliptic Curves (ctd.)</vt:lpstr>
      <vt:lpstr>Computations on Elliptic Curves (ctd.)</vt:lpstr>
      <vt:lpstr>Computations on Elliptic Curves (ctd.)</vt:lpstr>
      <vt:lpstr>Computations on Elliptic Curves (ctd.)</vt:lpstr>
      <vt:lpstr>Computations on Elliptic Curves (ctd.)</vt:lpstr>
      <vt:lpstr>Number of Points on an Elliptic Curve</vt:lpstr>
      <vt:lpstr>Elliptic Curve Discrete Logarithm Problem</vt:lpstr>
      <vt:lpstr>Double-and-Add Algorithm for Point Multiplication</vt:lpstr>
      <vt:lpstr>Content of this Chapter</vt:lpstr>
      <vt:lpstr>The Elliptic Curve Diffie-Hellman Key Exchange (ECDH)</vt:lpstr>
      <vt:lpstr>The Elliptic Curve Diffie-Hellman Key Exchange (ECDH) (ctd.)</vt:lpstr>
      <vt:lpstr>Content of this Chapter</vt:lpstr>
      <vt:lpstr>Security Aspects</vt:lpstr>
      <vt:lpstr>Bit lengths of Public-key Algorithms</vt:lpstr>
      <vt:lpstr>Content of this Chapter</vt:lpstr>
      <vt:lpstr>Implementations in Hardware and Software</vt:lpstr>
      <vt:lpstr>Implementations in Hardware and Software</vt:lpstr>
      <vt:lpstr>Lessons Learned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Cryptography</dc:title>
  <dc:subject>Elliptic Curve Cryptography</dc:subject>
  <dc:creator>Tim Güneysu</dc:creator>
  <cp:lastModifiedBy>Jing Liu</cp:lastModifiedBy>
  <cp:revision>539</cp:revision>
  <cp:lastPrinted>2003-07-29T11:52:19Z</cp:lastPrinted>
  <dcterms:created xsi:type="dcterms:W3CDTF">2004-07-26T14:24:04Z</dcterms:created>
  <dcterms:modified xsi:type="dcterms:W3CDTF">2024-08-13T07:42:58Z</dcterms:modified>
</cp:coreProperties>
</file>