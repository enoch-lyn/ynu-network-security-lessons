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p:sldMasterIdLst>
    <p:sldMasterId id="2147483648" r:id="rId1"/>
    <p:sldMasterId id="2147483663" r:id="rId3"/>
    <p:sldMasterId id="2147483675" r:id="rId4"/>
  </p:sldMasterIdLst>
  <p:notesMasterIdLst>
    <p:notesMasterId r:id="rId12"/>
  </p:notesMasterIdLst>
  <p:handoutMasterIdLst>
    <p:handoutMasterId r:id="rId57"/>
  </p:handoutMasterIdLst>
  <p:sldIdLst>
    <p:sldId id="1460" r:id="rId5"/>
    <p:sldId id="350" r:id="rId6"/>
    <p:sldId id="349" r:id="rId7"/>
    <p:sldId id="10205528" r:id="rId8"/>
    <p:sldId id="395" r:id="rId9"/>
    <p:sldId id="10205533" r:id="rId10"/>
    <p:sldId id="261" r:id="rId11"/>
    <p:sldId id="416" r:id="rId13"/>
    <p:sldId id="10205535" r:id="rId14"/>
    <p:sldId id="10205537" r:id="rId15"/>
    <p:sldId id="10205530" r:id="rId16"/>
    <p:sldId id="10205529" r:id="rId17"/>
    <p:sldId id="394" r:id="rId18"/>
    <p:sldId id="265" r:id="rId19"/>
    <p:sldId id="424" r:id="rId20"/>
    <p:sldId id="266" r:id="rId21"/>
    <p:sldId id="267" r:id="rId22"/>
    <p:sldId id="418" r:id="rId23"/>
    <p:sldId id="423" r:id="rId24"/>
    <p:sldId id="271" r:id="rId25"/>
    <p:sldId id="10205532" r:id="rId26"/>
    <p:sldId id="272" r:id="rId27"/>
    <p:sldId id="427" r:id="rId28"/>
    <p:sldId id="428" r:id="rId29"/>
    <p:sldId id="273" r:id="rId30"/>
    <p:sldId id="420" r:id="rId31"/>
    <p:sldId id="422" r:id="rId32"/>
    <p:sldId id="419" r:id="rId33"/>
    <p:sldId id="10205531" r:id="rId34"/>
    <p:sldId id="284" r:id="rId35"/>
    <p:sldId id="285" r:id="rId36"/>
    <p:sldId id="286" r:id="rId37"/>
    <p:sldId id="287" r:id="rId38"/>
    <p:sldId id="270" r:id="rId39"/>
    <p:sldId id="425" r:id="rId40"/>
    <p:sldId id="399" r:id="rId41"/>
    <p:sldId id="429" r:id="rId42"/>
    <p:sldId id="430" r:id="rId43"/>
    <p:sldId id="431" r:id="rId44"/>
    <p:sldId id="437" r:id="rId45"/>
    <p:sldId id="438" r:id="rId46"/>
    <p:sldId id="433" r:id="rId47"/>
    <p:sldId id="442" r:id="rId48"/>
    <p:sldId id="443" r:id="rId49"/>
    <p:sldId id="426" r:id="rId50"/>
    <p:sldId id="434" r:id="rId51"/>
    <p:sldId id="435" r:id="rId52"/>
    <p:sldId id="390" r:id="rId53"/>
    <p:sldId id="436" r:id="rId54"/>
    <p:sldId id="10205536" r:id="rId55"/>
    <p:sldId id="441" r:id="rId56"/>
  </p:sldIdLst>
  <p:sldSz cx="9144000" cy="6858000" type="screen4x3"/>
  <p:notesSz cx="7099300" cy="10234295"/>
  <p:custDataLst>
    <p:tags r:id="rId61"/>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411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980" autoAdjust="0"/>
    <p:restoredTop sz="74541" autoAdjust="0"/>
  </p:normalViewPr>
  <p:slideViewPr>
    <p:cSldViewPr showGuides="1">
      <p:cViewPr varScale="1">
        <p:scale>
          <a:sx n="120" d="100"/>
          <a:sy n="120" d="100"/>
        </p:scale>
        <p:origin x="1704" y="176"/>
      </p:cViewPr>
      <p:guideLst>
        <p:guide orient="horz" pos="411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2859"/>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1" Type="http://schemas.openxmlformats.org/officeDocument/2006/relationships/tags" Target="tags/tag6.xml"/><Relationship Id="rId60" Type="http://schemas.openxmlformats.org/officeDocument/2006/relationships/tableStyles" Target="tableStyles.xml"/><Relationship Id="rId6" Type="http://schemas.openxmlformats.org/officeDocument/2006/relationships/slide" Target="slides/slide2.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handoutMaster" Target="handoutMasters/handoutMaster1.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3111500" cy="552450"/>
          </a:xfrm>
          <a:prstGeom prst="rect">
            <a:avLst/>
          </a:prstGeom>
          <a:noFill/>
          <a:ln w="9525">
            <a:noFill/>
            <a:miter lim="800000"/>
          </a:ln>
          <a:effectLst/>
        </p:spPr>
        <p:txBody>
          <a:bodyPr vert="horz" wrap="square" lIns="94918" tIns="47459" rIns="94918" bIns="47459" numCol="1" anchor="t" anchorCtr="0" compatLnSpc="1"/>
          <a:lstStyle>
            <a:lvl1pPr defTabSz="949325">
              <a:defRPr sz="1300">
                <a:latin typeface="Times New Roman" panose="02020603050405020304" pitchFamily="18" charset="0"/>
              </a:defRPr>
            </a:lvl1pPr>
          </a:lstStyle>
          <a:p>
            <a:pPr>
              <a:defRPr/>
            </a:pPr>
            <a:endParaRPr lang="de-DE"/>
          </a:p>
        </p:txBody>
      </p:sp>
      <p:sp>
        <p:nvSpPr>
          <p:cNvPr id="32771" name="Rectangle 3"/>
          <p:cNvSpPr>
            <a:spLocks noGrp="1" noChangeArrowheads="1"/>
          </p:cNvSpPr>
          <p:nvPr>
            <p:ph type="dt" sz="quarter" idx="1"/>
          </p:nvPr>
        </p:nvSpPr>
        <p:spPr bwMode="auto">
          <a:xfrm>
            <a:off x="3987800" y="0"/>
            <a:ext cx="3111500" cy="552450"/>
          </a:xfrm>
          <a:prstGeom prst="rect">
            <a:avLst/>
          </a:prstGeom>
          <a:noFill/>
          <a:ln w="9525">
            <a:noFill/>
            <a:miter lim="800000"/>
          </a:ln>
          <a:effectLst/>
        </p:spPr>
        <p:txBody>
          <a:bodyPr vert="horz" wrap="square" lIns="94918" tIns="47459" rIns="94918" bIns="47459" numCol="1" anchor="t" anchorCtr="0" compatLnSpc="1"/>
          <a:lstStyle>
            <a:lvl1pPr algn="r" defTabSz="949325">
              <a:defRPr sz="1300">
                <a:latin typeface="Times New Roman" panose="02020603050405020304" pitchFamily="18" charset="0"/>
              </a:defRPr>
            </a:lvl1pPr>
          </a:lstStyle>
          <a:p>
            <a:pPr>
              <a:defRPr/>
            </a:pPr>
            <a:endParaRPr lang="de-DE"/>
          </a:p>
        </p:txBody>
      </p:sp>
      <p:sp>
        <p:nvSpPr>
          <p:cNvPr id="32772" name="Rectangle 4"/>
          <p:cNvSpPr>
            <a:spLocks noGrp="1" noChangeArrowheads="1"/>
          </p:cNvSpPr>
          <p:nvPr>
            <p:ph type="ftr" sz="quarter" idx="2"/>
          </p:nvPr>
        </p:nvSpPr>
        <p:spPr bwMode="auto">
          <a:xfrm>
            <a:off x="0" y="9756775"/>
            <a:ext cx="3111500" cy="471488"/>
          </a:xfrm>
          <a:prstGeom prst="rect">
            <a:avLst/>
          </a:prstGeom>
          <a:noFill/>
          <a:ln w="9525">
            <a:noFill/>
            <a:miter lim="800000"/>
          </a:ln>
          <a:effectLst/>
        </p:spPr>
        <p:txBody>
          <a:bodyPr vert="horz" wrap="square" lIns="94918" tIns="47459" rIns="94918" bIns="47459" numCol="1" anchor="b" anchorCtr="0" compatLnSpc="1"/>
          <a:lstStyle>
            <a:lvl1pPr defTabSz="949325">
              <a:defRPr sz="1300">
                <a:latin typeface="Times New Roman" panose="02020603050405020304" pitchFamily="18" charset="0"/>
              </a:defRPr>
            </a:lvl1pPr>
          </a:lstStyle>
          <a:p>
            <a:pPr>
              <a:defRPr/>
            </a:pPr>
            <a:endParaRPr lang="de-DE"/>
          </a:p>
        </p:txBody>
      </p:sp>
      <p:sp>
        <p:nvSpPr>
          <p:cNvPr id="32773" name="Rectangle 5"/>
          <p:cNvSpPr>
            <a:spLocks noGrp="1" noChangeArrowheads="1"/>
          </p:cNvSpPr>
          <p:nvPr>
            <p:ph type="sldNum" sz="quarter" idx="3"/>
          </p:nvPr>
        </p:nvSpPr>
        <p:spPr bwMode="auto">
          <a:xfrm>
            <a:off x="3987800" y="9756775"/>
            <a:ext cx="3111500" cy="471488"/>
          </a:xfrm>
          <a:prstGeom prst="rect">
            <a:avLst/>
          </a:prstGeom>
          <a:noFill/>
          <a:ln w="9525">
            <a:noFill/>
            <a:miter lim="800000"/>
          </a:ln>
          <a:effectLst/>
        </p:spPr>
        <p:txBody>
          <a:bodyPr vert="horz" wrap="square" lIns="94918" tIns="47459" rIns="94918" bIns="47459" numCol="1" anchor="b" anchorCtr="0" compatLnSpc="1"/>
          <a:lstStyle>
            <a:lvl1pPr algn="r" defTabSz="949325">
              <a:defRPr sz="1300">
                <a:latin typeface="Times New Roman" panose="02020603050405020304" pitchFamily="18" charset="0"/>
              </a:defRPr>
            </a:lvl1pPr>
          </a:lstStyle>
          <a:p>
            <a:fld id="{74FDF166-7F7F-9F4B-B818-7CCD12E01D65}" type="slidenum">
              <a:rPr lang="de-DE" altLang="zh-CN"/>
            </a:fld>
            <a:endParaRPr lang="de-DE" altLang="zh-CN"/>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in"/>
          <inkml:channel name="Y" type="integer" max="32767" units="in"/>
          <inkml:channel name="F" type="integer" max="32767" units="dev"/>
        </inkml:traceFormat>
        <inkml:channelProperties>
          <inkml:channelProperty channel="X" name="resolution" value="3139.80444" units="1/in"/>
          <inkml:channelProperty channel="Y" name="resolution" value="4978.27393" units="1/in"/>
          <inkml:channelProperty channel="F" name="resolution" value="0" units="1/dev"/>
        </inkml:channelProperties>
      </inkml:inkSource>
      <inkml:timestamp xml:id="ts0" timeString="2012-01-13T20:17:11"/>
    </inkml:context>
    <inkml:brush xml:id="br0">
      <inkml:brushProperty name="width" value="0.05292" units="cm"/>
      <inkml:brushProperty name="height" value="0.05292" units="cm"/>
      <inkml:brushProperty name="color" value="#ff0000"/>
    </inkml:brush>
  </inkml:definitions>
  <inkml:trace contextRef="#ctx0" brushRef="#br0">9818.000 8242.000 7334,'-22.000'0.000'2050,"22.000"0.000"-352,0.000 0.000-897,0.000 20.000-353,0.000 0.000 289,0.000 19.000 128,0.000 21.000-97,0.000 0.000-159,-19.000 19.000-289,19.000 0.000-63,0.000 1.000-193,0.000 20.000 64,0.000-1.000-96,0.000 0.000 0,0.000 0.000 64,0.000-20.000-96,0.000 1.000 0,0.000 20.000-128,0.000-42.000 160,0.000 24.000-32,0.000-45.000-64,0.000 4.000 32,0.000-20.000 0,0.000-3.000 64,0.000-36.000-257,0.000-23.000 193,0.000-17.000 0,0.000-43.000 0,0.000 1.000-64,0.000 1.000 32,0.000-20.000-160,19.000 20.000 64,-19.000 0.000 0,0.000-1.000 64,22.000 2.000 96,-22.000 18.000-32,0.000 0.000 64,19.000 1.000-32,-19.000 19.000 0,0.000 1.000 96,0.000 19.000 64,0.000 20.000 64,0.000 1.000 96,0.000 19.000 193,0.000 19.000-225,0.000 21.000 32,-19.000 20.000 257,19.000 19.000 64,0.000 40.000-193,-22.000 1.000-160,22.000-1.000-192,0.000 19.000 33,0.000-19.000-33,-19.000 0.000-481,19.000-39.000 770,0.000 0.000-674,0.000-21.000 289,0.000 1.000-320,-20.000-40.000-257,20.000 1.000-255,0.000-21.000-994,0.000 0.000-2818</inkml:trace>
  <inkml:trace contextRef="#ctx0" brushRef="#br0">15812.000 8480.000 5893,'0.000'-19.000'1858,"0.000"19.000"192,0.000 0.000-897,-20.000 19.000-352,20.000 1.000-65,0.000 20.000 289,0.000 0.000-64,0.000 40.000-224,0.000-1.000-257,0.000 0.000-287,0.000 20.000-65,0.000-19.000-64,0.000 20.000-32,0.000-1.000-96,0.000-21.000 64,0.000-17.000-192,0.000-22.000 288,20.000 1.000-96,-20.000-40.000 128,0.000 0.000 160,0.000 0.000-32,0.000-40.000-192,0.000-19.000-32,0.000-1.000 32,0.000-20.000-160,-20.000 2.000 128,20.000-42.000-192,0.000 21.000-160,0.000-21.000-32,0.000 1.000 223,0.000 40.000 97,0.000-1.000 0,0.000 41.000 96,0.000-1.000 193,0.000 20.000 127,0.000 20.000 161,0.000 0.000-161,0.000 0.000-288,0.000 40.000 160,0.000 0.000 289,0.000 39.000-65,0.000 0.000-256,0.000 20.000 1,0.000 21.000-129,20.000-1.000 128,-20.000 0.000-160,0.000 1.000-320,0.000-21.000 96,0.000-20.000-129,19.000 1.000 289,-19.000-41.000 160,0.000-20.000-224,0.000-19.000 353,0.000-19.000-257,-19.000 1.000-160,19.000-43.000 128,-20.000 3.000 0,20.000-24.000-257,0.000-37.000 33,-19.000 0.000-224,19.000 0.000-97,0.000 0.000 33,19.000 20.000 127,-19.000-1.000 161,0.000 21.000 224,0.000 20.000 0,0.000 19.000 0,0.000 20.000 320,0.000 20.000 257,0.000 0.000-353,0.000 40.000 64,-19.000-1.000 321,19.000 41.000-225,0.000-1.000 257,-22.000 21.000-385,22.000 19.000 65,22.000 0.000-353,-22.000 1.000 128,0.000-1.000-224,0.000-20.000 320,19.000-21.000-673,-19.000-17.000 481,0.000-22.000-64,0.000-20.000-544,0.000 2.000-417,0.000-21.000-1410,0.000 0.000-4131</inkml:trace>
  <inkml:trace contextRef="#ctx0" brushRef="#br0">4101.000 9633.000 6021,'0.000'0.000'1602,"0.000"-21.000"63,0.000 21.000 129,0.000 0.000-225,0.000 0.000-512,0.000 21.000-544,0.000-2.000 128,0.000 1.000 287,-22.000 40.000 1,22.000 0.000-128,0.000-1.000-160,-19.000 20.000-257,19.000 2.000-320,0.000-3.000 96,-19.000-19.000-96,19.000 1.000 129,0.000-19.000-97,-20.000-23.000 192,20.000 3.000-416,0.000-1.000 160,0.000-20.000-64,0.000 0.000-513,0.000 0.000-352,0.000-20.000-1153,0.000-1.000-2402</inkml:trace>
  <inkml:trace contextRef="#ctx0" brushRef="#br0">3922.000 9732.000 7623,'0.000'0.000'1153,"0.000"0.000"1217,-21.000 0.000-640,21.000 0.000-577,0.000 0.000-769,21.000 0.000-352,-21.000-21.000 128,20.000 3.000-32,-1.000-3.000 33,0.000 1.000-65,1.000 1.000 96,1.000 19.000 96,-1.000-21.000 0,-20.000 21.000 97,19.000 0.000-1,-19.000 0.000 417,19.000 21.000 192,3.000 18.000 32,-3.000-18.000-417,-19.000 18.000 97,19.000 1.000-128,1.000-20.000-321,1.000 18.000-96,-2.000-17.000-160,1.000-1.000-384,-1.000-20.000-1250,3.000 20.000-1281,-3.000-20.000-8167</inkml:trace>
  <inkml:trace contextRef="#ctx0" brushRef="#br0">10254.000 9693.000 9320,'0.000'-21.000'417,"0.000"21.000"992,0.000 0.000 129,0.000 0.000-417,0.000 21.000 288,0.000 18.000 0,0.000 1.000-320,0.000 18.000-32,0.000 23.000-224,0.000 19.000-352,-20.000-1.000-385,20.000-20.000 128,0.000-19.000-160,-19.000-1.000 192,19.000-38.000 32,0.000-2.000-31,0.000 0.000-353,0.000-19.000 256,0.000 0.000-577,0.000-19.000-512,0.000 0.000-768,19.000-22.000-1058,-19.000 2.000-2402</inkml:trace>
  <inkml:trace contextRef="#ctx0" brushRef="#br0">10135.000 9792.000 8231,'0.000'0.000'1282,"0.000"0.000"1600,-21.000 0.000-1248,21.000 0.000-129,0.000-20.000-672,21.000 20.000-641,-21.000-20.000-64,20.000 0.000 32,-20.000-1.000-160,19.000 3.000 65,0.000-3.000-33,-19.000 1.000 0,22.000 1.000-32,-22.000-2.000 0,19.000 1.000 64,-19.000 20.000 128,0.000-18.000 96,20.000 18.000 96,-20.000 0.000 97,19.000 18.000 224,2.000 2.000 159,-1.000 20.000-31,-1.000 1.000-128,0.000-2.000-449,3.000 1.000 32,-22.000-1.000-160,19.000-20.000-128,0.000 2.000-608,1.000-21.000-1282,-1.000 0.000-1249</inkml:trace>
  <inkml:trace contextRef="#ctx0" brushRef="#br0">16288.000 9693.000 10441,'0.000'0.000'513,"0.000"0.000"95,0.000 0.000 1026,0.000 39.000 288,0.000 1.000-193,0.000 39.000-479,-19.000-19.000-418,19.000 19.000-63,-21.000 20.000-481,1.000-19.000-31,20.000 0.000-225,-19.000-21.000 0,19.000-19.000 160,0.000 0.000-224,0.000-40.000 96,0.000 19.000-224,0.000-19.000-128,0.000-19.000-193,0.000-2.000-608,0.000 2.000-1185,0.000 0.000-2819</inkml:trace>
  <inkml:trace contextRef="#ctx0" brushRef="#br0">16091.000 9871.000 7334,'-22.000'20.000'1250,"22.000"-20.000"1536,0.000 0.000-992,0.000 0.000-321,0.000 0.000-768,22.000-20.000-385,-22.000 20.000-160,19.000-20.000-31,0.000-1.000-33,1.000 2.000-32,-1.000-20.000 0,2.000 19.000 0,-1.000 0.000-32,-1.000-19.000 32,-19.000 18.000 96,20.000 21.000 96,1.000-20.000 193,-21.000 20.000-65,19.000 0.000 97,-19.000 20.000 223,20.000 1.000 321,-20.000 18.000-384,19.000 1.000-33,-19.000-1.000-127,0.000 1.000-129,21.000 0.000-320,-21.000-20.000 192,0.000-1.000-416,20.000 2.000-224,-1.000-21.000-1186,-19.000 0.000-2049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74988" cy="511175"/>
          </a:xfrm>
          <a:prstGeom prst="rect">
            <a:avLst/>
          </a:prstGeom>
          <a:noFill/>
          <a:ln w="9525">
            <a:noFill/>
            <a:miter lim="800000"/>
          </a:ln>
          <a:effectLst/>
        </p:spPr>
        <p:txBody>
          <a:bodyPr vert="horz" wrap="square" lIns="94918" tIns="47459" rIns="94918" bIns="47459" numCol="1" anchor="t" anchorCtr="0" compatLnSpc="1"/>
          <a:lstStyle>
            <a:lvl1pPr defTabSz="949325">
              <a:defRPr sz="1300">
                <a:latin typeface="Times New Roman" panose="02020603050405020304" pitchFamily="18" charset="0"/>
              </a:defRPr>
            </a:lvl1pPr>
          </a:lstStyle>
          <a:p>
            <a:pPr>
              <a:defRPr/>
            </a:pPr>
            <a:endParaRPr lang="de-DE"/>
          </a:p>
        </p:txBody>
      </p:sp>
      <p:sp>
        <p:nvSpPr>
          <p:cNvPr id="4099" name="Rectangle 3"/>
          <p:cNvSpPr>
            <a:spLocks noGrp="1" noChangeArrowheads="1"/>
          </p:cNvSpPr>
          <p:nvPr>
            <p:ph type="dt" idx="1"/>
          </p:nvPr>
        </p:nvSpPr>
        <p:spPr bwMode="auto">
          <a:xfrm>
            <a:off x="4024313" y="0"/>
            <a:ext cx="3074987" cy="511175"/>
          </a:xfrm>
          <a:prstGeom prst="rect">
            <a:avLst/>
          </a:prstGeom>
          <a:noFill/>
          <a:ln w="9525">
            <a:noFill/>
            <a:miter lim="800000"/>
          </a:ln>
          <a:effectLst/>
        </p:spPr>
        <p:txBody>
          <a:bodyPr vert="horz" wrap="square" lIns="94918" tIns="47459" rIns="94918" bIns="47459" numCol="1" anchor="t" anchorCtr="0" compatLnSpc="1"/>
          <a:lstStyle>
            <a:lvl1pPr algn="r" defTabSz="949325">
              <a:defRPr sz="1300">
                <a:latin typeface="Times New Roman" panose="02020603050405020304" pitchFamily="18" charset="0"/>
              </a:defRPr>
            </a:lvl1pPr>
          </a:lstStyle>
          <a:p>
            <a:pPr>
              <a:defRPr/>
            </a:pPr>
            <a:endParaRPr lang="de-DE"/>
          </a:p>
        </p:txBody>
      </p:sp>
      <p:sp>
        <p:nvSpPr>
          <p:cNvPr id="51204" name="Rectangle 4"/>
          <p:cNvSpPr>
            <a:spLocks noGrp="1" noRot="1" noChangeAspect="1" noChangeArrowheads="1" noTextEdit="1"/>
          </p:cNvSpPr>
          <p:nvPr>
            <p:ph type="sldImg" idx="2"/>
          </p:nvPr>
        </p:nvSpPr>
        <p:spPr bwMode="auto">
          <a:xfrm>
            <a:off x="990600" y="766763"/>
            <a:ext cx="5119688" cy="384016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47738" y="4860925"/>
            <a:ext cx="5203825" cy="4606925"/>
          </a:xfrm>
          <a:prstGeom prst="rect">
            <a:avLst/>
          </a:prstGeom>
          <a:noFill/>
          <a:ln w="9525">
            <a:noFill/>
            <a:miter lim="800000"/>
          </a:ln>
          <a:effectLst/>
        </p:spPr>
        <p:txBody>
          <a:bodyPr vert="horz" wrap="square" lIns="94918" tIns="47459" rIns="94918" bIns="47459" numCol="1" anchor="t" anchorCtr="0" compatLnSpc="1"/>
          <a:lstStyle/>
          <a:p>
            <a:pPr lvl="0"/>
            <a:r>
              <a:rPr lang="de-DE" noProof="0"/>
              <a:t>Klicken Sie, um die Formate des Vorlagentextes zu bearbeiten</a:t>
            </a:r>
            <a:endParaRPr lang="de-DE" noProof="0"/>
          </a:p>
          <a:p>
            <a:pPr lvl="1"/>
            <a:r>
              <a:rPr lang="de-DE" noProof="0"/>
              <a:t>Zweite Ebene</a:t>
            </a:r>
            <a:endParaRPr lang="de-DE" noProof="0"/>
          </a:p>
          <a:p>
            <a:pPr lvl="2"/>
            <a:r>
              <a:rPr lang="de-DE" noProof="0"/>
              <a:t>Dritte Ebene</a:t>
            </a:r>
            <a:endParaRPr lang="de-DE" noProof="0"/>
          </a:p>
          <a:p>
            <a:pPr lvl="3"/>
            <a:r>
              <a:rPr lang="de-DE" noProof="0"/>
              <a:t>Vierte Ebene</a:t>
            </a:r>
            <a:endParaRPr lang="de-DE" noProof="0"/>
          </a:p>
          <a:p>
            <a:pPr lvl="4"/>
            <a:r>
              <a:rPr lang="de-DE" noProof="0"/>
              <a:t>Fünfte Ebene</a:t>
            </a:r>
            <a:endParaRPr lang="de-DE" noProof="0"/>
          </a:p>
        </p:txBody>
      </p:sp>
      <p:sp>
        <p:nvSpPr>
          <p:cNvPr id="4102" name="Rectangle 6"/>
          <p:cNvSpPr>
            <a:spLocks noGrp="1" noChangeArrowheads="1"/>
          </p:cNvSpPr>
          <p:nvPr>
            <p:ph type="ftr" sz="quarter" idx="4"/>
          </p:nvPr>
        </p:nvSpPr>
        <p:spPr bwMode="auto">
          <a:xfrm>
            <a:off x="0" y="9723438"/>
            <a:ext cx="3074988" cy="511175"/>
          </a:xfrm>
          <a:prstGeom prst="rect">
            <a:avLst/>
          </a:prstGeom>
          <a:noFill/>
          <a:ln w="9525">
            <a:noFill/>
            <a:miter lim="800000"/>
          </a:ln>
          <a:effectLst/>
        </p:spPr>
        <p:txBody>
          <a:bodyPr vert="horz" wrap="square" lIns="94918" tIns="47459" rIns="94918" bIns="47459" numCol="1" anchor="b" anchorCtr="0" compatLnSpc="1"/>
          <a:lstStyle>
            <a:lvl1pPr defTabSz="949325">
              <a:defRPr sz="1300">
                <a:latin typeface="Times New Roman" panose="02020603050405020304" pitchFamily="18" charset="0"/>
              </a:defRPr>
            </a:lvl1pPr>
          </a:lstStyle>
          <a:p>
            <a:pPr>
              <a:defRPr/>
            </a:pPr>
            <a:endParaRPr lang="de-DE"/>
          </a:p>
        </p:txBody>
      </p:sp>
      <p:sp>
        <p:nvSpPr>
          <p:cNvPr id="4103" name="Rectangle 7"/>
          <p:cNvSpPr>
            <a:spLocks noGrp="1" noChangeArrowheads="1"/>
          </p:cNvSpPr>
          <p:nvPr>
            <p:ph type="sldNum" sz="quarter" idx="5"/>
          </p:nvPr>
        </p:nvSpPr>
        <p:spPr bwMode="auto">
          <a:xfrm>
            <a:off x="4024313" y="9723438"/>
            <a:ext cx="3074987" cy="511175"/>
          </a:xfrm>
          <a:prstGeom prst="rect">
            <a:avLst/>
          </a:prstGeom>
          <a:noFill/>
          <a:ln w="9525">
            <a:noFill/>
            <a:miter lim="800000"/>
          </a:ln>
          <a:effectLst/>
        </p:spPr>
        <p:txBody>
          <a:bodyPr vert="horz" wrap="square" lIns="94918" tIns="47459" rIns="94918" bIns="47459" numCol="1" anchor="b" anchorCtr="0" compatLnSpc="1"/>
          <a:lstStyle>
            <a:lvl1pPr algn="r" defTabSz="949325">
              <a:defRPr sz="1300">
                <a:latin typeface="Times New Roman" panose="02020603050405020304" pitchFamily="18" charset="0"/>
              </a:defRPr>
            </a:lvl1pPr>
          </a:lstStyle>
          <a:p>
            <a:fld id="{1F593008-CC90-B44F-8D09-B8AC2EE9D42A}" type="slidenum">
              <a:rPr lang="de-DE" altLang="zh-CN"/>
            </a:fld>
            <a:endParaRPr lang="de-DE"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41ED0158-34AB-624F-9268-67C86B7552F0}"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p:sp>
      <p:sp>
        <p:nvSpPr>
          <p:cNvPr id="542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04F55EF2-D7E3-8743-A817-3BDD008C0934}"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8B68EA1A-6688-494D-83E5-F6AD2AC8C8DA}"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D7938894-A5B2-E345-B348-5ECE4FAAD4C3}"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p:sp>
      <p:sp>
        <p:nvSpPr>
          <p:cNvPr id="583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EF6CBCE8-2740-D042-9DC2-CA16136245F8}"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016B1F29-CF81-5E44-A948-9460266065D1}"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p:sp>
      <p:sp>
        <p:nvSpPr>
          <p:cNvPr id="604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2CF69AC5-BBA4-0244-80F3-65F62AECA744}"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7DD0A43D-E2C1-6A4E-90DC-F31EF7F52948}"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p:sp>
      <p:sp>
        <p:nvSpPr>
          <p:cNvPr id="62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F9BAFFF1-9F90-AA40-AEAB-B7779C7891B3}"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D4D46B95-C7FE-1E4F-8F82-B293515448AA}"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F51FE315-219D-A842-88CB-378CB1F07199}"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p:sp>
      <p:sp>
        <p:nvSpPr>
          <p:cNvPr id="66564" name="Rectangle 3"/>
          <p:cNvSpPr>
            <a:spLocks noGrp="1" noChangeArrowheads="1"/>
          </p:cNvSpPr>
          <p:nvPr>
            <p:ph type="body" idx="1"/>
          </p:nvPr>
        </p:nvSpPr>
        <p:spPr>
          <a:xfrm>
            <a:off x="946150" y="4860925"/>
            <a:ext cx="5207000" cy="4606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de-DE" altLang="zh-CN" sz="1000"/>
              <a:t>For applications with long term security needs, 128 bit keys should be considered. For thwarting  against attacks with to-be-developed quantum computers, 256 bits are believed to be appropriate. Since a longer key usually does no carry a performance penality for symmetric algorithms, it is a prudent choice to use ciphers with a key lengths of around 128 bits.</a:t>
            </a:r>
            <a:endParaRPr lang="de-DE" altLang="zh-CN" sz="1000"/>
          </a:p>
          <a:p>
            <a:endParaRPr lang="de-DE"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71DE1D6B-5BB4-5D4A-BB42-70AC3131AAA4}"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xfrm>
            <a:off x="946150" y="4860925"/>
            <a:ext cx="5207000" cy="4606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de-DE" altLang="zh-CN" sz="1000"/>
              <a:t>The major weakness of the method is that each plaintext symbol always maps to the same ciphertext symbol. That means that the statistical properties of the plaintext are preserved in the ciphertext. For practical attacks, the following properties of language can be exploited:</a:t>
            </a:r>
            <a:endParaRPr lang="de-DE" altLang="zh-CN" sz="1000"/>
          </a:p>
          <a:p>
            <a:endParaRPr lang="de-DE" altLang="zh-CN"/>
          </a:p>
          <a:p>
            <a:r>
              <a:rPr lang="de-DE" altLang="zh-CN" sz="900"/>
              <a:t>Determine the frequencies of every ciphertext letter. The frequency distribution (even of relatively short pieces of encrypted text) will be close to that of the given language in general. In particular, the most frequent letters (for instance, in English: „e“ is the most frequent one with about 13%, „t“ is the second most frequent one with about 9%, „a“ is the third most frequent one with about 8%, ...) can often easily be spotted in ciphertext.</a:t>
            </a:r>
            <a:endParaRPr lang="de-DE" altLang="zh-CN" sz="900"/>
          </a:p>
          <a:p>
            <a:endParaRPr lang="de-DE" altLang="zh-CN" sz="900"/>
          </a:p>
          <a:p>
            <a:r>
              <a:rPr lang="de-DE" altLang="zh-CN" sz="900"/>
              <a:t>The method above can be generalized by looking at pairs (or triples, or quadruples, or ...) of ciphertext symbols. For instance, in English (and German and other European languages), the letter „q“ is almost always followed by a „u“. This behavior can be exploited for detecting the substitution of the letter „q“ and the letter „u“.</a:t>
            </a:r>
            <a:endParaRPr lang="de-DE" altLang="zh-CN" sz="900"/>
          </a:p>
          <a:p>
            <a:endParaRPr lang="de-DE" altLang="zh-CN" sz="1000"/>
          </a:p>
          <a:p>
            <a:r>
              <a:rPr lang="de-DE" altLang="zh-CN" sz="900"/>
              <a:t>If we assume that word separators (blanks) have been found (which is often an easy task), one can often detect frequent short words such as „the“, „and“, ... , which leaks all the letters in the words involved in those words</a:t>
            </a:r>
            <a:endParaRPr lang="de-DE" altLang="zh-CN" sz="900"/>
          </a:p>
          <a:p>
            <a:endParaRPr lang="de-DE" altLang="zh-CN" sz="1000"/>
          </a:p>
          <a:p>
            <a:endParaRPr lang="de-DE"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484401D8-7AC0-B141-83C8-76F3F5E1FEA7}"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xfrm>
            <a:off x="946150" y="4860925"/>
            <a:ext cx="5207000" cy="4606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de-DE" altLang="zh-CN" sz="1000"/>
              <a:t>The major weakness of the method is that each plaintext symbol always maps to the same ciphertext symbol. That means that the statistical properties of the plaintext are preserved in the ciphertext. For practical attacks, the following properties of language can be exploited:</a:t>
            </a:r>
            <a:endParaRPr lang="de-DE" altLang="zh-CN" sz="1000"/>
          </a:p>
          <a:p>
            <a:endParaRPr lang="de-DE" altLang="zh-CN"/>
          </a:p>
          <a:p>
            <a:r>
              <a:rPr lang="de-DE" altLang="zh-CN" sz="900"/>
              <a:t>Determine the frequencies of every ciphertext letter. The frequency distribution (even of relatively short pieces of encrypted text) will be close to that of the given language in general. In particular, the most frequent letters (for instance, in English: „e“ is the most frequent one with about 13%, „t“ is the second most frequent one with about 9%, „a“ is the third most frequent one with about 8%, ...) can often easily be spotted in ciphertext.</a:t>
            </a:r>
            <a:endParaRPr lang="de-DE" altLang="zh-CN" sz="900"/>
          </a:p>
          <a:p>
            <a:endParaRPr lang="de-DE" altLang="zh-CN" sz="900"/>
          </a:p>
          <a:p>
            <a:r>
              <a:rPr lang="de-DE" altLang="zh-CN" sz="900"/>
              <a:t>The method above can be generalized by looking at pairs (or triples, or quadruples, or ...) of ciphertext symbols. For instance, in English (and German and other European languages), the letter „q“ is almost always followed by a „u“. This behavior can be exploited for detecting the substitution of the letter „q“ and the letter „u“.</a:t>
            </a:r>
            <a:endParaRPr lang="de-DE" altLang="zh-CN" sz="900"/>
          </a:p>
          <a:p>
            <a:endParaRPr lang="de-DE" altLang="zh-CN" sz="1000"/>
          </a:p>
          <a:p>
            <a:r>
              <a:rPr lang="de-DE" altLang="zh-CN" sz="900"/>
              <a:t>If we assume that word separators (blanks) have been found (which is often an easy task), one can often detect frequent short words such as „the“, „and“, ... , which leaks all the letters in the words involved in those words</a:t>
            </a:r>
            <a:endParaRPr lang="de-DE" altLang="zh-CN" sz="900"/>
          </a:p>
          <a:p>
            <a:endParaRPr lang="de-DE" altLang="zh-CN" sz="1000"/>
          </a:p>
          <a:p>
            <a:endParaRPr lang="de-DE"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4B0C49A5-5AB4-F84B-A18B-7F1B532E67EB}"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B390C20B-E70F-094D-98F8-62E4BED487D7}"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D7BA1F67-1ADD-E543-A2D0-34C9F4403532}"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50CFD2DD-2AC8-8C4A-AED1-33EAE24EB00F}"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FFE37383-8071-7342-BAC1-F58DD704B1A4}"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F593008-CC90-B44F-8D09-B8AC2EE9D42A}" type="slidenum">
              <a:rPr lang="de-DE" altLang="zh-CN" smtClean="0"/>
            </a:fld>
            <a:endParaRPr lang="de-DE"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(1)Email Header: From:</a:t>
            </a:r>
            <a:endParaRPr kumimoji="1" lang="en-US" altLang="zh-CN" dirty="0"/>
          </a:p>
          <a:p>
            <a:r>
              <a:rPr kumimoji="1" lang="en-US" altLang="zh-CN" dirty="0"/>
              <a:t>(2)Headers of well-known protocols: HTTP 1.1</a:t>
            </a:r>
            <a:endParaRPr kumimoji="1" lang="zh-CN" altLang="en-US" dirty="0"/>
          </a:p>
        </p:txBody>
      </p:sp>
      <p:sp>
        <p:nvSpPr>
          <p:cNvPr id="4" name="灯片编号占位符 3"/>
          <p:cNvSpPr>
            <a:spLocks noGrp="1"/>
          </p:cNvSpPr>
          <p:nvPr>
            <p:ph type="sldNum" sz="quarter" idx="5"/>
          </p:nvPr>
        </p:nvSpPr>
        <p:spPr/>
        <p:txBody>
          <a:bodyPr/>
          <a:lstStyle/>
          <a:p>
            <a:fld id="{1F593008-CC90-B44F-8D09-B8AC2EE9D42A}" type="slidenum">
              <a:rPr lang="de-DE" altLang="zh-CN" smtClean="0"/>
            </a:fld>
            <a:endParaRPr lang="de-DE"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 famous cryptanalysis story involving the Battle of Midway.</a:t>
            </a:r>
            <a:endParaRPr kumimoji="1" lang="zh-CN" altLang="en-US" dirty="0"/>
          </a:p>
        </p:txBody>
      </p:sp>
      <p:sp>
        <p:nvSpPr>
          <p:cNvPr id="4" name="灯片编号占位符 3"/>
          <p:cNvSpPr>
            <a:spLocks noGrp="1"/>
          </p:cNvSpPr>
          <p:nvPr>
            <p:ph type="sldNum" sz="quarter" idx="5"/>
          </p:nvPr>
        </p:nvSpPr>
        <p:spPr/>
        <p:txBody>
          <a:bodyPr/>
          <a:lstStyle/>
          <a:p>
            <a:fld id="{1F593008-CC90-B44F-8D09-B8AC2EE9D42A}" type="slidenum">
              <a:rPr lang="de-DE" altLang="zh-CN" smtClean="0"/>
            </a:fld>
            <a:endParaRPr lang="de-DE"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GB" altLang="zh-CN" dirty="0" err="1"/>
              <a:t>Bleichenbacher's</a:t>
            </a:r>
            <a:r>
              <a:rPr kumimoji="1" lang="en-GB" altLang="zh-CN" dirty="0"/>
              <a:t> padding-oracle attacks on RSA with PKCS #1 v1.5 padding</a:t>
            </a:r>
            <a:endParaRPr kumimoji="1" lang="zh-CN" altLang="en-US" dirty="0"/>
          </a:p>
        </p:txBody>
      </p:sp>
      <p:sp>
        <p:nvSpPr>
          <p:cNvPr id="4" name="灯片编号占位符 3"/>
          <p:cNvSpPr>
            <a:spLocks noGrp="1"/>
          </p:cNvSpPr>
          <p:nvPr>
            <p:ph type="sldNum" sz="quarter" idx="5"/>
          </p:nvPr>
        </p:nvSpPr>
        <p:spPr/>
        <p:txBody>
          <a:bodyPr/>
          <a:lstStyle/>
          <a:p>
            <a:fld id="{1F593008-CC90-B44F-8D09-B8AC2EE9D42A}" type="slidenum">
              <a:rPr lang="de-DE" altLang="zh-CN" smtClean="0"/>
            </a:fld>
            <a:endParaRPr lang="de-DE"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F51FE315-219D-A842-88CB-378CB1F07199}"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p:sp>
      <p:sp>
        <p:nvSpPr>
          <p:cNvPr id="66564" name="Rectangle 3"/>
          <p:cNvSpPr>
            <a:spLocks noGrp="1" noChangeArrowheads="1"/>
          </p:cNvSpPr>
          <p:nvPr>
            <p:ph type="body" idx="1"/>
          </p:nvPr>
        </p:nvSpPr>
        <p:spPr>
          <a:xfrm>
            <a:off x="946150" y="4860925"/>
            <a:ext cx="5207000" cy="4606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de-DE" altLang="zh-CN" sz="1000"/>
              <a:t>For applications with long term security needs, 128 bit keys should be considered. For thwarting  against attacks with to-be-developed quantum computers, 256 bits are believed to be appropriate. Since a longer key usually does no carry a performance penality for symmetric algorithms, it is a prudent choice to use ciphers with a key lengths of around 128 bits.</a:t>
            </a:r>
            <a:endParaRPr lang="de-DE" altLang="zh-CN" sz="1000"/>
          </a:p>
          <a:p>
            <a:endParaRPr lang="de-DE"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1EFEF9A3-BDBD-474C-8BCF-570904DDE597}"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037D1697-36CE-B446-B46E-14D621A5233C}"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CA4EE054-36A4-1541-AD68-C9A95E3C0501}"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D5C1685F-0B57-334A-90C9-C6BDD708E73A}"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76803" name="Rectangle 2"/>
          <p:cNvSpPr>
            <a:spLocks noGrp="1" noRot="1" noChangeAspect="1" noChangeArrowheads="1" noTextEdit="1"/>
          </p:cNvSpPr>
          <p:nvPr>
            <p:ph type="sldImg"/>
          </p:nvPr>
        </p:nvSpPr>
        <p:spPr/>
      </p:sp>
      <p:sp>
        <p:nvSpPr>
          <p:cNvPr id="768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657A0C9C-1DB2-C140-95D4-E728E17A6D22}"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F0C8FABE-D40C-A743-A62D-544A6D7DC475}"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5E5ED756-80F1-2645-AE7C-CB7614663C68}"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F2243B82-4000-CD48-AD33-04D70EBDB719}"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lienbildplatzhalter 1"/>
          <p:cNvSpPr>
            <a:spLocks noGrp="1" noRot="1" noChangeAspect="1" noTextEdit="1"/>
          </p:cNvSpPr>
          <p:nvPr>
            <p:ph type="sldImg"/>
          </p:nvPr>
        </p:nvSpPr>
        <p:spPr/>
      </p:sp>
      <p:sp>
        <p:nvSpPr>
          <p:cNvPr id="81923" name="Notizenplatzhalt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
        <p:nvSpPr>
          <p:cNvPr id="81924" name="Foliennummernplatzhalt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19E72FB4-BDA8-1841-9DE2-D66321E44BBB}" type="slidenum">
              <a:rPr lang="de-DE" altLang="zh-CN">
                <a:latin typeface="Times New Roman" panose="02020603050405020304" pitchFamily="18" charset="0"/>
              </a:rPr>
            </a:fld>
            <a:endParaRPr lang="de-DE" altLang="zh-CN">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Folienbildplatzhalter 1"/>
          <p:cNvSpPr>
            <a:spLocks noGrp="1" noRot="1" noChangeAspect="1" noTextEdit="1"/>
          </p:cNvSpPr>
          <p:nvPr>
            <p:ph type="sldImg"/>
          </p:nvPr>
        </p:nvSpPr>
        <p:spPr/>
      </p:sp>
      <p:sp>
        <p:nvSpPr>
          <p:cNvPr id="82947" name="Notizenplatzhalt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
        <p:nvSpPr>
          <p:cNvPr id="82948" name="Foliennummernplatzhalt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E6E32AE2-4F5C-2449-B4B9-8C2D5A3AA5C5}" type="slidenum">
              <a:rPr lang="de-DE" altLang="zh-CN">
                <a:latin typeface="Times New Roman" panose="02020603050405020304" pitchFamily="18" charset="0"/>
              </a:rPr>
            </a:fld>
            <a:endParaRPr lang="de-DE" altLang="zh-CN">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AD49BBCE-BCE6-5B4B-9EED-C652FDEDEEE5}"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1742AA17-FF2C-5448-9244-1BA415A9F60A}"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B815EE68-F5BC-CA4A-B9BE-4B63373D2882}"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p:sp>
      <p:sp>
        <p:nvSpPr>
          <p:cNvPr id="860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Explain how to break</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FF38DAD-5F37-4EA5-A798-26ED1E45393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172383AD-67DE-1247-B485-6FEA8061A9E8}"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a:solidFill>
                  <a:schemeClr val="tx1"/>
                </a:solidFill>
                <a:latin typeface="Arial" panose="020B0604020202020204" pitchFamily="34" charset="0"/>
              </a:defRPr>
            </a:lvl1pPr>
            <a:lvl2pPr marL="742950" indent="-285750" defTabSz="949325">
              <a:defRPr>
                <a:solidFill>
                  <a:schemeClr val="tx1"/>
                </a:solidFill>
                <a:latin typeface="Arial" panose="020B0604020202020204" pitchFamily="34" charset="0"/>
              </a:defRPr>
            </a:lvl2pPr>
            <a:lvl3pPr marL="1143000" indent="-228600" defTabSz="949325">
              <a:defRPr>
                <a:solidFill>
                  <a:schemeClr val="tx1"/>
                </a:solidFill>
                <a:latin typeface="Arial" panose="020B0604020202020204" pitchFamily="34" charset="0"/>
              </a:defRPr>
            </a:lvl3pPr>
            <a:lvl4pPr marL="1600200" indent="-228600" defTabSz="949325">
              <a:defRPr>
                <a:solidFill>
                  <a:schemeClr val="tx1"/>
                </a:solidFill>
                <a:latin typeface="Arial" panose="020B0604020202020204" pitchFamily="34" charset="0"/>
              </a:defRPr>
            </a:lvl4pPr>
            <a:lvl5pPr marL="2057400" indent="-228600" defTabSz="949325">
              <a:defRPr>
                <a:solidFill>
                  <a:schemeClr val="tx1"/>
                </a:solidFill>
                <a:latin typeface="Arial" panose="020B0604020202020204" pitchFamily="34" charset="0"/>
              </a:defRPr>
            </a:lvl5pPr>
            <a:lvl6pPr marL="2514600" indent="-228600" defTabSz="949325" eaLnBrk="0" fontAlgn="base" hangingPunct="0">
              <a:spcBef>
                <a:spcPct val="0"/>
              </a:spcBef>
              <a:spcAft>
                <a:spcPct val="0"/>
              </a:spcAft>
              <a:defRPr>
                <a:solidFill>
                  <a:schemeClr val="tx1"/>
                </a:solidFill>
                <a:latin typeface="Arial" panose="020B0604020202020204" pitchFamily="34" charset="0"/>
              </a:defRPr>
            </a:lvl6pPr>
            <a:lvl7pPr marL="2971800" indent="-228600" defTabSz="949325" eaLnBrk="0" fontAlgn="base" hangingPunct="0">
              <a:spcBef>
                <a:spcPct val="0"/>
              </a:spcBef>
              <a:spcAft>
                <a:spcPct val="0"/>
              </a:spcAft>
              <a:defRPr>
                <a:solidFill>
                  <a:schemeClr val="tx1"/>
                </a:solidFill>
                <a:latin typeface="Arial" panose="020B0604020202020204" pitchFamily="34" charset="0"/>
              </a:defRPr>
            </a:lvl7pPr>
            <a:lvl8pPr marL="3429000" indent="-228600" defTabSz="949325" eaLnBrk="0" fontAlgn="base" hangingPunct="0">
              <a:spcBef>
                <a:spcPct val="0"/>
              </a:spcBef>
              <a:spcAft>
                <a:spcPct val="0"/>
              </a:spcAft>
              <a:defRPr>
                <a:solidFill>
                  <a:schemeClr val="tx1"/>
                </a:solidFill>
                <a:latin typeface="Arial" panose="020B0604020202020204" pitchFamily="34" charset="0"/>
              </a:defRPr>
            </a:lvl8pPr>
            <a:lvl9pPr marL="3886200" indent="-228600" defTabSz="949325" eaLnBrk="0" fontAlgn="base" hangingPunct="0">
              <a:spcBef>
                <a:spcPct val="0"/>
              </a:spcBef>
              <a:spcAft>
                <a:spcPct val="0"/>
              </a:spcAft>
              <a:defRPr>
                <a:solidFill>
                  <a:schemeClr val="tx1"/>
                </a:solidFill>
                <a:latin typeface="Arial" panose="020B0604020202020204" pitchFamily="34" charset="0"/>
              </a:defRPr>
            </a:lvl9pPr>
          </a:lstStyle>
          <a:p>
            <a:fld id="{EA5F3E29-13A8-2C45-9BFD-9D28242C3A15}" type="slidenum">
              <a:rPr lang="de-DE" altLang="zh-CN">
                <a:latin typeface="Times New Roman" panose="02020603050405020304" pitchFamily="18" charset="0"/>
              </a:rPr>
            </a:fld>
            <a:endParaRPr lang="de-DE" altLang="zh-CN">
              <a:latin typeface="Times New Roman" panose="02020603050405020304" pitchFamily="18" charset="0"/>
            </a:endParaRPr>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24258" name="Rectangle 2"/>
          <p:cNvSpPr>
            <a:spLocks noGrp="1" noChangeArrowheads="1"/>
          </p:cNvSpPr>
          <p:nvPr>
            <p:ph type="ctrTitle" hasCustomPrompt="1"/>
          </p:nvPr>
        </p:nvSpPr>
        <p:spPr>
          <a:xfrm>
            <a:off x="473075" y="322263"/>
            <a:ext cx="6769100" cy="744537"/>
          </a:xfrm>
        </p:spPr>
        <p:txBody>
          <a:bodyPr/>
          <a:lstStyle>
            <a:lvl1pPr>
              <a:defRPr/>
            </a:lvl1pPr>
          </a:lstStyle>
          <a:p>
            <a:r>
              <a:rPr lang="de-DE"/>
              <a:t>Klicken Sie, um das Titelformat zu bearbeiten</a:t>
            </a:r>
            <a:endParaRPr lang="de-DE"/>
          </a:p>
        </p:txBody>
      </p:sp>
      <p:sp>
        <p:nvSpPr>
          <p:cNvPr id="224259" name="Rectangle 3"/>
          <p:cNvSpPr>
            <a:spLocks noGrp="1" noChangeArrowheads="1"/>
          </p:cNvSpPr>
          <p:nvPr>
            <p:ph type="subTitle" idx="1" hasCustomPrompt="1"/>
          </p:nvPr>
        </p:nvSpPr>
        <p:spPr>
          <a:xfrm>
            <a:off x="858838" y="1108075"/>
            <a:ext cx="6303962" cy="1752600"/>
          </a:xfrm>
        </p:spPr>
        <p:txBody>
          <a:bodyPr/>
          <a:lstStyle>
            <a:lvl1pPr marL="0" indent="0">
              <a:buFontTx/>
              <a:buNone/>
              <a:defRPr sz="1800"/>
            </a:lvl1pPr>
          </a:lstStyle>
          <a:p>
            <a:r>
              <a:rPr lang="de-DE"/>
              <a:t>Klicken Sie, um das Format des Untertitelmasters zu bearbeiten</a:t>
            </a:r>
            <a:endParaRPr lang="de-DE"/>
          </a:p>
        </p:txBody>
      </p:sp>
      <p:sp>
        <p:nvSpPr>
          <p:cNvPr id="2" name="Rectangle 4"/>
          <p:cNvSpPr>
            <a:spLocks noGrp="1" noChangeArrowheads="1"/>
          </p:cNvSpPr>
          <p:nvPr>
            <p:ph type="dt" sz="half" idx="10"/>
          </p:nvPr>
        </p:nvSpPr>
        <p:spPr bwMode="auto">
          <a:xfrm>
            <a:off x="8101013" y="6453188"/>
            <a:ext cx="812800" cy="215900"/>
          </a:xfrm>
          <a:prstGeom prst="rect">
            <a:avLst/>
          </a:prstGeom>
          <a:ln>
            <a:miter lim="800000"/>
          </a:ln>
        </p:spPr>
        <p:txBody>
          <a:bodyPr vert="horz" wrap="square" lIns="0" tIns="0" rIns="0" bIns="0" numCol="1" anchor="t" anchorCtr="0" compatLnSpc="1"/>
          <a:lstStyle>
            <a:lvl1pPr>
              <a:defRPr sz="800">
                <a:solidFill>
                  <a:schemeClr val="bg2"/>
                </a:solidFill>
                <a:latin typeface="Arial" panose="020B0604020202020204" pitchFamily="34" charset="0"/>
              </a:defRPr>
            </a:lvl1pPr>
          </a:lstStyle>
          <a:p>
            <a:pPr>
              <a:defRPr/>
            </a:pPr>
            <a:fld id="{381FB22F-B684-7C49-A02E-94BF9C064773}" type="datetime1">
              <a:rPr lang="de-DE"/>
            </a:fld>
            <a:endParaRPr lang="de-DE"/>
          </a:p>
          <a:p>
            <a:pPr>
              <a:defRPr/>
            </a:pPr>
            <a:r>
              <a:rPr lang="de-DE"/>
              <a:t>6. Sept. 2005</a:t>
            </a:r>
            <a:endParaRPr lang="de-DE"/>
          </a:p>
        </p:txBody>
      </p:sp>
      <p:sp>
        <p:nvSpPr>
          <p:cNvPr id="3" name="Rectangle 5"/>
          <p:cNvSpPr>
            <a:spLocks noGrp="1" noChangeArrowheads="1"/>
          </p:cNvSpPr>
          <p:nvPr>
            <p:ph type="sldNum" sz="quarter" idx="11"/>
          </p:nvPr>
        </p:nvSpPr>
        <p:spPr>
          <a:xfrm>
            <a:off x="34925" y="6623050"/>
            <a:ext cx="720725" cy="334963"/>
          </a:xfrm>
        </p:spPr>
        <p:txBody>
          <a:bodyPr/>
          <a:lstStyle>
            <a:lvl1pPr>
              <a:defRPr>
                <a:solidFill>
                  <a:schemeClr val="bg2"/>
                </a:solidFill>
              </a:defRPr>
            </a:lvl1pPr>
          </a:lstStyle>
          <a:p>
            <a:fld id="{72867351-10F6-5C4D-88E7-1E2D5842A6D7}" type="slidenum">
              <a:rPr lang="de-DE" altLang="zh-CN"/>
            </a:fld>
            <a:r>
              <a:rPr lang="de-DE" altLang="zh-CN"/>
              <a:t>/34</a:t>
            </a:r>
            <a:endParaRPr lang="de-DE" altLang="zh-CN"/>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DE"/>
          </a:p>
        </p:txBody>
      </p:sp>
      <p:sp>
        <p:nvSpPr>
          <p:cNvPr id="3" name="Inhaltsplatzhalter 2"/>
          <p:cNvSpPr>
            <a:spLocks noGrp="1"/>
          </p:cNvSpPr>
          <p:nvPr>
            <p:ph idx="1" hasCustomPrompt="1"/>
          </p:nvPr>
        </p:nvSpPr>
        <p:spPr/>
        <p:txBody>
          <a:bodyPr/>
          <a:lstStyle/>
          <a:p>
            <a:pPr lvl="0"/>
            <a:r>
              <a:rPr lang="de-DE"/>
              <a:t>Textmasterformate durch Klicken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4" name="Rectangle 6"/>
          <p:cNvSpPr>
            <a:spLocks noGrp="1" noChangeArrowheads="1"/>
          </p:cNvSpPr>
          <p:nvPr>
            <p:ph type="sldNum" sz="quarter" idx="10"/>
          </p:nvPr>
        </p:nvSpPr>
        <p:spPr/>
        <p:txBody>
          <a:bodyPr/>
          <a:lstStyle>
            <a:lvl1pPr>
              <a:defRPr/>
            </a:lvl1pPr>
          </a:lstStyle>
          <a:p>
            <a:fld id="{FF793E3B-E8F2-B04A-8335-47426DE3523D}" type="slidenum">
              <a:rPr lang="de-DE" altLang="zh-CN"/>
            </a:fld>
            <a:r>
              <a:rPr lang="de-DE" altLang="zh-CN"/>
              <a:t>/34</a:t>
            </a:r>
            <a:endParaRPr lang="de-DE" altLang="zh-CN"/>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lstStyle>
            <a:lvl1pPr algn="l">
              <a:defRPr sz="4000" b="1" cap="all"/>
            </a:lvl1pPr>
          </a:lstStyle>
          <a:p>
            <a:r>
              <a:rPr lang="de-DE"/>
              <a:t>Titelmasterformat durch Klicken bearbeiten</a:t>
            </a:r>
            <a:endParaRPr lang="de-DE"/>
          </a:p>
        </p:txBody>
      </p:sp>
      <p:sp>
        <p:nvSpPr>
          <p:cNvPr id="3" name="Textplatzhalter 2"/>
          <p:cNvSpPr>
            <a:spLocks noGrp="1"/>
          </p:cNvSpPr>
          <p:nvPr>
            <p:ph type="body" idx="1" hasCustomPrompt="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endParaRPr lang="de-DE"/>
          </a:p>
        </p:txBody>
      </p:sp>
      <p:sp>
        <p:nvSpPr>
          <p:cNvPr id="4" name="Rectangle 6"/>
          <p:cNvSpPr>
            <a:spLocks noGrp="1" noChangeArrowheads="1"/>
          </p:cNvSpPr>
          <p:nvPr>
            <p:ph type="sldNum" sz="quarter" idx="10"/>
          </p:nvPr>
        </p:nvSpPr>
        <p:spPr/>
        <p:txBody>
          <a:bodyPr/>
          <a:lstStyle>
            <a:lvl1pPr>
              <a:defRPr/>
            </a:lvl1pPr>
          </a:lstStyle>
          <a:p>
            <a:fld id="{1A4C4EF9-DCCA-AC4C-B450-A24672A9B7B9}" type="slidenum">
              <a:rPr lang="de-DE" altLang="zh-CN"/>
            </a:fld>
            <a:r>
              <a:rPr lang="de-DE" altLang="zh-CN"/>
              <a:t>/34</a:t>
            </a:r>
            <a:endParaRPr lang="de-DE" altLang="zh-CN"/>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DE"/>
          </a:p>
        </p:txBody>
      </p:sp>
      <p:sp>
        <p:nvSpPr>
          <p:cNvPr id="3" name="Inhaltsplatzhalter 2"/>
          <p:cNvSpPr>
            <a:spLocks noGrp="1"/>
          </p:cNvSpPr>
          <p:nvPr>
            <p:ph sz="half" idx="1" hasCustomPrompt="1"/>
          </p:nvPr>
        </p:nvSpPr>
        <p:spPr>
          <a:xfrm>
            <a:off x="849313" y="1130300"/>
            <a:ext cx="2965450" cy="17795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4" name="Inhaltsplatzhalter 3"/>
          <p:cNvSpPr>
            <a:spLocks noGrp="1"/>
          </p:cNvSpPr>
          <p:nvPr>
            <p:ph sz="half" idx="2" hasCustomPrompt="1"/>
          </p:nvPr>
        </p:nvSpPr>
        <p:spPr>
          <a:xfrm>
            <a:off x="3967163" y="1130300"/>
            <a:ext cx="2967037" cy="17795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5" name="Rectangle 6"/>
          <p:cNvSpPr>
            <a:spLocks noGrp="1" noChangeArrowheads="1"/>
          </p:cNvSpPr>
          <p:nvPr>
            <p:ph type="sldNum" sz="quarter" idx="10"/>
          </p:nvPr>
        </p:nvSpPr>
        <p:spPr/>
        <p:txBody>
          <a:bodyPr/>
          <a:lstStyle>
            <a:lvl1pPr>
              <a:defRPr/>
            </a:lvl1pPr>
          </a:lstStyle>
          <a:p>
            <a:fld id="{9389489C-F953-434E-BD45-06EB994A9EF7}" type="slidenum">
              <a:rPr lang="de-DE" altLang="zh-CN"/>
            </a:fld>
            <a:r>
              <a:rPr lang="de-DE" altLang="zh-CN"/>
              <a:t>/34</a:t>
            </a:r>
            <a:endParaRPr lang="de-DE" altLang="zh-CN"/>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de-DE"/>
              <a:t>Titelmasterformat durch Klicken bearbeiten</a:t>
            </a:r>
            <a:endParaRPr lang="de-DE"/>
          </a:p>
        </p:txBody>
      </p:sp>
      <p:sp>
        <p:nvSpPr>
          <p:cNvPr id="3" name="Textplatzhalter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endParaRPr lang="de-DE"/>
          </a:p>
        </p:txBody>
      </p:sp>
      <p:sp>
        <p:nvSpPr>
          <p:cNvPr id="4" name="Inhaltsplatzhalter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5" name="Textplatzhalter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endParaRPr lang="de-DE"/>
          </a:p>
        </p:txBody>
      </p:sp>
      <p:sp>
        <p:nvSpPr>
          <p:cNvPr id="6" name="Inhaltsplatzhalter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7" name="Rectangle 6"/>
          <p:cNvSpPr>
            <a:spLocks noGrp="1" noChangeArrowheads="1"/>
          </p:cNvSpPr>
          <p:nvPr>
            <p:ph type="sldNum" sz="quarter" idx="10"/>
          </p:nvPr>
        </p:nvSpPr>
        <p:spPr/>
        <p:txBody>
          <a:bodyPr/>
          <a:lstStyle>
            <a:lvl1pPr>
              <a:defRPr/>
            </a:lvl1pPr>
          </a:lstStyle>
          <a:p>
            <a:fld id="{2907EA8B-71E1-B049-B925-C5B678D3D728}" type="slidenum">
              <a:rPr lang="de-DE" altLang="zh-CN"/>
            </a:fld>
            <a:r>
              <a:rPr lang="de-DE" altLang="zh-CN"/>
              <a:t>/34</a:t>
            </a:r>
            <a:endParaRPr lang="de-DE" altLang="zh-CN"/>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DE"/>
          </a:p>
        </p:txBody>
      </p:sp>
      <p:sp>
        <p:nvSpPr>
          <p:cNvPr id="3" name="Rectangle 6"/>
          <p:cNvSpPr>
            <a:spLocks noGrp="1" noChangeArrowheads="1"/>
          </p:cNvSpPr>
          <p:nvPr>
            <p:ph type="sldNum" sz="quarter" idx="10"/>
          </p:nvPr>
        </p:nvSpPr>
        <p:spPr/>
        <p:txBody>
          <a:bodyPr/>
          <a:lstStyle>
            <a:lvl1pPr>
              <a:defRPr/>
            </a:lvl1pPr>
          </a:lstStyle>
          <a:p>
            <a:fld id="{CC14A89E-7C62-FA4D-97EC-A16C1C153596}" type="slidenum">
              <a:rPr lang="de-DE" altLang="zh-CN"/>
            </a:fld>
            <a:r>
              <a:rPr lang="de-DE" altLang="zh-CN"/>
              <a:t>/34</a:t>
            </a:r>
            <a:endParaRPr lang="de-DE" altLang="zh-CN"/>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23F641F1-DCBF-D14F-A4F5-1CD8DE28590A}" type="slidenum">
              <a:rPr lang="de-DE" altLang="zh-CN"/>
            </a:fld>
            <a:r>
              <a:rPr lang="de-DE" altLang="zh-CN"/>
              <a:t>/34</a:t>
            </a:r>
            <a:endParaRPr lang="de-DE" altLang="zh-CN"/>
          </a:p>
        </p:txBody>
      </p:sp>
      <p:sp>
        <p:nvSpPr>
          <p:cNvPr id="3" name="Rectangle 550"/>
          <p:cNvSpPr>
            <a:spLocks noGrp="1" noChangeArrowheads="1"/>
          </p:cNvSpPr>
          <p:nvPr>
            <p:ph type="ftr" sz="quarter" idx="11"/>
          </p:nvPr>
        </p:nvSpPr>
        <p:spPr>
          <a:xfrm>
            <a:off x="2411413" y="6524625"/>
            <a:ext cx="4321175" cy="260350"/>
          </a:xfrm>
          <a:prstGeom prst="rect">
            <a:avLst/>
          </a:prstGeom>
        </p:spPr>
        <p:txBody>
          <a:bodyPr/>
          <a:lstStyle>
            <a:lvl1pPr>
              <a:defRPr/>
            </a:lvl1pPr>
          </a:lstStyle>
          <a:p>
            <a:pPr>
              <a:defRPr/>
            </a:pPr>
            <a:r>
              <a:rPr lang="de-DE"/>
              <a:t>Chapter 1 of </a:t>
            </a:r>
            <a:r>
              <a:rPr lang="de-DE" i="1"/>
              <a:t>Understanding Cryptography</a:t>
            </a:r>
            <a:r>
              <a:rPr lang="de-DE"/>
              <a:t> by Christof Paar and Jan Pelzl</a:t>
            </a:r>
            <a:endParaRPr lang="de-DE"/>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endParaRPr lang="de-DE"/>
          </a:p>
        </p:txBody>
      </p:sp>
      <p:sp>
        <p:nvSpPr>
          <p:cNvPr id="3" name="Inhaltsplatzhalter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Textmasterformate durch Klicken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4" name="Textplatzhalter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endParaRPr lang="de-DE"/>
          </a:p>
        </p:txBody>
      </p:sp>
      <p:sp>
        <p:nvSpPr>
          <p:cNvPr id="5" name="Rectangle 6"/>
          <p:cNvSpPr>
            <a:spLocks noGrp="1" noChangeArrowheads="1"/>
          </p:cNvSpPr>
          <p:nvPr>
            <p:ph type="sldNum" sz="quarter" idx="10"/>
          </p:nvPr>
        </p:nvSpPr>
        <p:spPr/>
        <p:txBody>
          <a:bodyPr/>
          <a:lstStyle>
            <a:lvl1pPr>
              <a:defRPr/>
            </a:lvl1pPr>
          </a:lstStyle>
          <a:p>
            <a:fld id="{B4989A9E-CCCF-D644-9A63-B440BA00533C}" type="slidenum">
              <a:rPr lang="de-DE" altLang="zh-CN"/>
            </a:fld>
            <a:r>
              <a:rPr lang="de-DE" altLang="zh-CN"/>
              <a:t>/34</a:t>
            </a:r>
            <a:endParaRPr lang="de-DE" altLang="zh-CN"/>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endParaRPr lang="de-DE"/>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endParaRPr lang="de-DE"/>
          </a:p>
        </p:txBody>
      </p:sp>
      <p:sp>
        <p:nvSpPr>
          <p:cNvPr id="5" name="Rectangle 6"/>
          <p:cNvSpPr>
            <a:spLocks noGrp="1" noChangeArrowheads="1"/>
          </p:cNvSpPr>
          <p:nvPr>
            <p:ph type="sldNum" sz="quarter" idx="10"/>
          </p:nvPr>
        </p:nvSpPr>
        <p:spPr/>
        <p:txBody>
          <a:bodyPr/>
          <a:lstStyle>
            <a:lvl1pPr>
              <a:defRPr/>
            </a:lvl1pPr>
          </a:lstStyle>
          <a:p>
            <a:fld id="{55A69C06-F9BF-2140-B4B0-814BCD24DD9E}" type="slidenum">
              <a:rPr lang="de-DE" altLang="zh-CN"/>
            </a:fld>
            <a:r>
              <a:rPr lang="de-DE" altLang="zh-CN"/>
              <a:t>/34</a:t>
            </a:r>
            <a:endParaRPr lang="de-DE" altLang="zh-CN"/>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DE"/>
          </a:p>
        </p:txBody>
      </p:sp>
      <p:sp>
        <p:nvSpPr>
          <p:cNvPr id="3" name="Vertikaler Textplatzhalter 2"/>
          <p:cNvSpPr>
            <a:spLocks noGrp="1"/>
          </p:cNvSpPr>
          <p:nvPr>
            <p:ph type="body" orient="vert" idx="1" hasCustomPrompt="1"/>
          </p:nvPr>
        </p:nvSpPr>
        <p:spPr/>
        <p:txBody>
          <a:bodyPr vert="eaVert"/>
          <a:lstStyle/>
          <a:p>
            <a:pPr lvl="0"/>
            <a:r>
              <a:rPr lang="de-DE"/>
              <a:t>Textmasterformate durch Klicken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4" name="Rectangle 6"/>
          <p:cNvSpPr>
            <a:spLocks noGrp="1" noChangeArrowheads="1"/>
          </p:cNvSpPr>
          <p:nvPr>
            <p:ph type="sldNum" sz="quarter" idx="10"/>
          </p:nvPr>
        </p:nvSpPr>
        <p:spPr/>
        <p:txBody>
          <a:bodyPr/>
          <a:lstStyle>
            <a:lvl1pPr>
              <a:defRPr/>
            </a:lvl1pPr>
          </a:lstStyle>
          <a:p>
            <a:fld id="{CE501723-BEF1-024C-8387-AD230354A0F4}" type="slidenum">
              <a:rPr lang="de-DE" altLang="zh-CN"/>
            </a:fld>
            <a:r>
              <a:rPr lang="de-DE" altLang="zh-CN"/>
              <a:t>/34</a:t>
            </a:r>
            <a:endParaRPr lang="de-DE" altLang="zh-CN"/>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5319713" y="322263"/>
            <a:ext cx="1614487" cy="2587625"/>
          </a:xfrm>
        </p:spPr>
        <p:txBody>
          <a:bodyPr vert="eaVert"/>
          <a:lstStyle/>
          <a:p>
            <a:r>
              <a:rPr lang="de-DE"/>
              <a:t>Titelmasterformat durch Klicken bearbeiten</a:t>
            </a:r>
            <a:endParaRPr lang="de-DE"/>
          </a:p>
        </p:txBody>
      </p:sp>
      <p:sp>
        <p:nvSpPr>
          <p:cNvPr id="3" name="Vertikaler Textplatzhalter 2"/>
          <p:cNvSpPr>
            <a:spLocks noGrp="1"/>
          </p:cNvSpPr>
          <p:nvPr>
            <p:ph type="body" orient="vert" idx="1" hasCustomPrompt="1"/>
          </p:nvPr>
        </p:nvSpPr>
        <p:spPr>
          <a:xfrm>
            <a:off x="471488" y="322263"/>
            <a:ext cx="4695825" cy="2587625"/>
          </a:xfrm>
        </p:spPr>
        <p:txBody>
          <a:bodyPr vert="eaVert"/>
          <a:lstStyle/>
          <a:p>
            <a:pPr lvl="0"/>
            <a:r>
              <a:rPr lang="de-DE"/>
              <a:t>Textmasterformate durch Klicken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4" name="Rectangle 6"/>
          <p:cNvSpPr>
            <a:spLocks noGrp="1" noChangeArrowheads="1"/>
          </p:cNvSpPr>
          <p:nvPr>
            <p:ph type="sldNum" sz="quarter" idx="10"/>
          </p:nvPr>
        </p:nvSpPr>
        <p:spPr/>
        <p:txBody>
          <a:bodyPr/>
          <a:lstStyle>
            <a:lvl1pPr>
              <a:defRPr/>
            </a:lvl1pPr>
          </a:lstStyle>
          <a:p>
            <a:fld id="{B4E502FB-F2A8-AB4B-91A1-754A11F35D90}" type="slidenum">
              <a:rPr lang="de-DE" altLang="zh-CN"/>
            </a:fld>
            <a:r>
              <a:rPr lang="de-DE" altLang="zh-CN"/>
              <a:t>/34</a:t>
            </a:r>
            <a:endParaRPr lang="de-DE" altLang="zh-CN"/>
          </a:p>
        </p:txBody>
      </p:sp>
    </p:spTree>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el und Diagramm oder Organigramm">
    <p:spTree>
      <p:nvGrpSpPr>
        <p:cNvPr id="1" name=""/>
        <p:cNvGrpSpPr/>
        <p:nvPr/>
      </p:nvGrpSpPr>
      <p:grpSpPr>
        <a:xfrm>
          <a:off x="0" y="0"/>
          <a:ext cx="0" cy="0"/>
          <a:chOff x="0" y="0"/>
          <a:chExt cx="0" cy="0"/>
        </a:xfrm>
      </p:grpSpPr>
      <p:sp>
        <p:nvSpPr>
          <p:cNvPr id="2" name="Titel 1"/>
          <p:cNvSpPr>
            <a:spLocks noGrp="1"/>
          </p:cNvSpPr>
          <p:nvPr>
            <p:ph type="title"/>
          </p:nvPr>
        </p:nvSpPr>
        <p:spPr>
          <a:xfrm>
            <a:off x="471488" y="322263"/>
            <a:ext cx="6462712" cy="515937"/>
          </a:xfrm>
        </p:spPr>
        <p:txBody>
          <a:bodyPr/>
          <a:lstStyle/>
          <a:p>
            <a:r>
              <a:rPr lang="de-DE"/>
              <a:t>Titelmasterformat durch Klicken bearbeiten</a:t>
            </a:r>
            <a:endParaRPr lang="de-DE"/>
          </a:p>
        </p:txBody>
      </p:sp>
      <p:sp>
        <p:nvSpPr>
          <p:cNvPr id="3" name="SmartArt-Platzhalter 2"/>
          <p:cNvSpPr>
            <a:spLocks noGrp="1"/>
          </p:cNvSpPr>
          <p:nvPr>
            <p:ph type="dgm" idx="1"/>
          </p:nvPr>
        </p:nvSpPr>
        <p:spPr>
          <a:xfrm>
            <a:off x="849313" y="1130300"/>
            <a:ext cx="6084887" cy="1779588"/>
          </a:xfrm>
        </p:spPr>
        <p:txBody>
          <a:bodyPr/>
          <a:lstStyle/>
          <a:p>
            <a:pPr lvl="0"/>
            <a:endParaRPr lang="de-DE" noProof="0"/>
          </a:p>
        </p:txBody>
      </p:sp>
      <p:sp>
        <p:nvSpPr>
          <p:cNvPr id="4" name="Rectangle 6"/>
          <p:cNvSpPr>
            <a:spLocks noGrp="1" noChangeArrowheads="1"/>
          </p:cNvSpPr>
          <p:nvPr>
            <p:ph type="sldNum" sz="quarter" idx="10"/>
          </p:nvPr>
        </p:nvSpPr>
        <p:spPr/>
        <p:txBody>
          <a:bodyPr/>
          <a:lstStyle>
            <a:lvl1pPr>
              <a:defRPr/>
            </a:lvl1pPr>
          </a:lstStyle>
          <a:p>
            <a:fld id="{6702B642-B9C8-2344-A2BE-C2374B1C8420}" type="slidenum">
              <a:rPr lang="de-DE" altLang="zh-CN"/>
            </a:fld>
            <a:r>
              <a:rPr lang="de-DE" altLang="zh-CN"/>
              <a:t>/34</a:t>
            </a:r>
            <a:endParaRPr lang="de-DE" altLang="zh-CN"/>
          </a:p>
        </p:txBody>
      </p:sp>
    </p:spTree>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1" name="Footer Placeholder 4"/>
          <p:cNvSpPr>
            <a:spLocks noGrp="1"/>
          </p:cNvSpPr>
          <p:nvPr>
            <p:ph type="ftr" sz="quarter" idx="11"/>
          </p:nvPr>
        </p:nvSpPr>
        <p:spPr>
          <a:xfrm>
            <a:off x="76200"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
        <p:nvSpPr>
          <p:cNvPr id="5" name="Picture Placeholder 4"/>
          <p:cNvSpPr>
            <a:spLocks noGrp="1"/>
          </p:cNvSpPr>
          <p:nvPr>
            <p:ph type="pic" sz="quarter" idx="14"/>
          </p:nvPr>
        </p:nvSpPr>
        <p:spPr>
          <a:xfrm>
            <a:off x="457200" y="5486400"/>
            <a:ext cx="8229600" cy="609600"/>
          </a:xfrm>
        </p:spPr>
        <p:txBody>
          <a:bodyPr/>
          <a:lstStyle/>
          <a:p>
            <a:endParaRPr lang="en-US"/>
          </a:p>
        </p:txBody>
      </p:sp>
    </p:spTree>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endParaRPr lang="en-US" dirty="0"/>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a:t>
            </a:r>
            <a:endParaRPr lang="en-US" dirty="0"/>
          </a:p>
          <a:p>
            <a:pPr lvl="6"/>
            <a:r>
              <a:rPr lang="en-US" dirty="0"/>
              <a:t>Seventh</a:t>
            </a:r>
            <a:endParaRPr lang="en-US" dirty="0"/>
          </a:p>
          <a:p>
            <a:pPr lvl="7"/>
            <a:r>
              <a:rPr lang="en-US" dirty="0"/>
              <a:t>Eighth</a:t>
            </a:r>
            <a:endParaRPr lang="en-US" dirty="0"/>
          </a:p>
          <a:p>
            <a:pPr lvl="8"/>
            <a:r>
              <a:rPr lang="en-US" dirty="0"/>
              <a:t>Ninth</a:t>
            </a:r>
            <a:endParaRPr lang="en-US" dirty="0"/>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fld>
            <a:endParaRPr lang="en-US" dirty="0"/>
          </a:p>
        </p:txBody>
      </p:sp>
    </p:spTree>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bwMode="ltGray">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77"/>
          <p:cNvSpPr>
            <a:spLocks noChangeArrowheads="1"/>
          </p:cNvSpPr>
          <p:nvPr/>
        </p:nvSpPr>
        <p:spPr bwMode="gray">
          <a:xfrm>
            <a:off x="0" y="3429000"/>
            <a:ext cx="9144000" cy="431800"/>
          </a:xfrm>
          <a:prstGeom prst="rect">
            <a:avLst/>
          </a:prstGeom>
          <a:solidFill>
            <a:schemeClr val="accent1"/>
          </a:solidFill>
          <a:ln w="9525">
            <a:noFill/>
            <a:miter lim="800000"/>
          </a:ln>
          <a:effectLst/>
        </p:spPr>
        <p:txBody>
          <a:bodyPr wrap="none" anchor="ctr"/>
          <a:lstStyle/>
          <a:p>
            <a:pPr>
              <a:defRPr/>
            </a:pPr>
            <a:endParaRPr lang="zh-CN" altLang="en-US">
              <a:ea typeface="+mn-ea"/>
            </a:endParaRPr>
          </a:p>
        </p:txBody>
      </p:sp>
      <p:sp>
        <p:nvSpPr>
          <p:cNvPr id="3074" name="Rectangle 2"/>
          <p:cNvSpPr>
            <a:spLocks noGrp="1" noChangeArrowheads="1"/>
          </p:cNvSpPr>
          <p:nvPr>
            <p:ph type="ctrTitle"/>
          </p:nvPr>
        </p:nvSpPr>
        <p:spPr bwMode="auto">
          <a:xfrm>
            <a:off x="457200" y="990600"/>
            <a:ext cx="5562600" cy="2209800"/>
          </a:xfrm>
        </p:spPr>
        <p:txBody>
          <a:bodyPr/>
          <a:lstStyle>
            <a:lvl1pPr>
              <a:defRPr sz="6600">
                <a:solidFill>
                  <a:schemeClr val="tx2"/>
                </a:solidFill>
              </a:defRPr>
            </a:lvl1pPr>
          </a:lstStyle>
          <a:p>
            <a:r>
              <a:rPr lang="zh-CN" altLang="en-US"/>
              <a:t>单击此处编辑母版标题样式</a:t>
            </a:r>
            <a:endParaRPr lang="zh-CN" altLang="en-US"/>
          </a:p>
        </p:txBody>
      </p:sp>
      <p:sp>
        <p:nvSpPr>
          <p:cNvPr id="3075" name="Rectangle 3"/>
          <p:cNvSpPr>
            <a:spLocks noGrp="1" noChangeArrowheads="1"/>
          </p:cNvSpPr>
          <p:nvPr>
            <p:ph type="subTitle" idx="1"/>
          </p:nvPr>
        </p:nvSpPr>
        <p:spPr bwMode="gray">
          <a:xfrm>
            <a:off x="0" y="3429000"/>
            <a:ext cx="9144000" cy="436563"/>
          </a:xfrm>
          <a:gradFill rotWithShape="1">
            <a:gsLst>
              <a:gs pos="0">
                <a:schemeClr val="accent1">
                  <a:gamma/>
                  <a:shade val="46275"/>
                  <a:invGamma/>
                </a:schemeClr>
              </a:gs>
              <a:gs pos="50000">
                <a:schemeClr val="accent1"/>
              </a:gs>
              <a:gs pos="100000">
                <a:schemeClr val="accent1">
                  <a:gamma/>
                  <a:shade val="46275"/>
                  <a:invGamma/>
                </a:schemeClr>
              </a:gs>
            </a:gsLst>
            <a:lin ang="0" scaled="1"/>
          </a:gradFill>
        </p:spPr>
        <p:txBody>
          <a:bodyPr/>
          <a:lstStyle>
            <a:lvl1pPr marL="0" indent="0" algn="ctr">
              <a:buFont typeface="Wingdings" panose="05000000000000000000" pitchFamily="2" charset="2"/>
              <a:buNone/>
              <a:defRPr sz="1800" b="0">
                <a:solidFill>
                  <a:schemeClr val="bg1"/>
                </a:solidFill>
              </a:defRPr>
            </a:lvl1pPr>
          </a:lstStyle>
          <a:p>
            <a:r>
              <a:rPr lang="zh-CN" altLang="en-US"/>
              <a:t>单击此处编辑母版副标题样式</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r>
              <a:rPr lang="en-US" altLang="zh-CN"/>
              <a:t>XX</a:t>
            </a:r>
            <a:r>
              <a:rPr lang="zh-CN" altLang="en-US"/>
              <a:t>大学</a:t>
            </a:r>
            <a:r>
              <a:rPr lang="en-US" altLang="zh-CN"/>
              <a:t>XX</a:t>
            </a:r>
            <a:r>
              <a:rPr lang="zh-CN" altLang="en-US"/>
              <a:t>学院</a:t>
            </a: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A49DC98C-8031-4701-8969-6C0C0FE5682D}" type="slidenum">
              <a:rPr lang="zh-CN" altLang="en-US"/>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r>
              <a:rPr lang="en-US" altLang="zh-CN"/>
              <a:t>XX</a:t>
            </a:r>
            <a:r>
              <a:rPr lang="zh-CN" altLang="en-US"/>
              <a:t>大学</a:t>
            </a:r>
            <a:r>
              <a:rPr lang="en-US" altLang="zh-CN"/>
              <a:t>XX</a:t>
            </a:r>
            <a:r>
              <a:rPr lang="zh-CN" altLang="en-US"/>
              <a:t>学院</a:t>
            </a: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82DC9F3D-A027-472B-A748-6D9E5CCBA3D2}" type="slidenum">
              <a:rPr lang="zh-CN" altLang="en-US"/>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143000"/>
            <a:ext cx="40386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143000"/>
            <a:ext cx="40386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XX</a:t>
            </a:r>
            <a:r>
              <a:rPr lang="zh-CN" altLang="en-US"/>
              <a:t>大学</a:t>
            </a:r>
            <a:r>
              <a:rPr lang="en-US" altLang="zh-CN"/>
              <a:t>XX</a:t>
            </a:r>
            <a:r>
              <a:rPr lang="zh-CN" altLang="en-US"/>
              <a:t>学院</a:t>
            </a: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0216F6C5-73E1-4A1E-8B88-430019A5824F}" type="slidenum">
              <a:rPr lang="zh-CN" altLang="en-US"/>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5"/>
          <p:cNvSpPr>
            <a:spLocks noGrp="1" noChangeArrowheads="1"/>
          </p:cNvSpPr>
          <p:nvPr>
            <p:ph type="ftr" sz="quarter" idx="10"/>
          </p:nvPr>
        </p:nvSpPr>
        <p:spPr/>
        <p:txBody>
          <a:bodyPr/>
          <a:lstStyle>
            <a:lvl1pPr>
              <a:defRPr/>
            </a:lvl1pPr>
          </a:lstStyle>
          <a:p>
            <a:pPr>
              <a:defRPr/>
            </a:pPr>
            <a:r>
              <a:rPr lang="en-US" altLang="zh-CN"/>
              <a:t>XX</a:t>
            </a:r>
            <a:r>
              <a:rPr lang="zh-CN" altLang="en-US"/>
              <a:t>大学</a:t>
            </a:r>
            <a:r>
              <a:rPr lang="en-US" altLang="zh-CN"/>
              <a:t>XX</a:t>
            </a:r>
            <a:r>
              <a:rPr lang="zh-CN" altLang="en-US"/>
              <a:t>学院</a:t>
            </a:r>
            <a:endParaRPr lang="en-US" altLang="zh-CN"/>
          </a:p>
        </p:txBody>
      </p:sp>
      <p:sp>
        <p:nvSpPr>
          <p:cNvPr id="8" name="Rectangle 6"/>
          <p:cNvSpPr>
            <a:spLocks noGrp="1" noChangeArrowheads="1"/>
          </p:cNvSpPr>
          <p:nvPr>
            <p:ph type="sldNum" sz="quarter" idx="11"/>
          </p:nvPr>
        </p:nvSpPr>
        <p:spPr/>
        <p:txBody>
          <a:bodyPr/>
          <a:lstStyle>
            <a:lvl1pPr>
              <a:defRPr/>
            </a:lvl1pPr>
          </a:lstStyle>
          <a:p>
            <a:pPr>
              <a:defRPr/>
            </a:pPr>
            <a:fld id="{B057A5D9-9E24-4A6A-9DC2-6588B38DF52D}" type="slidenum">
              <a:rPr lang="zh-CN" altLang="en-US"/>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r>
              <a:rPr lang="en-US" altLang="zh-CN"/>
              <a:t>XX</a:t>
            </a:r>
            <a:r>
              <a:rPr lang="zh-CN" altLang="en-US"/>
              <a:t>大学</a:t>
            </a:r>
            <a:r>
              <a:rPr lang="en-US" altLang="zh-CN"/>
              <a:t>XX</a:t>
            </a:r>
            <a:r>
              <a:rPr lang="zh-CN" altLang="en-US"/>
              <a:t>学院</a:t>
            </a:r>
            <a:endParaRPr lang="en-US" altLang="zh-CN"/>
          </a:p>
        </p:txBody>
      </p:sp>
      <p:sp>
        <p:nvSpPr>
          <p:cNvPr id="4" name="Rectangle 6"/>
          <p:cNvSpPr>
            <a:spLocks noGrp="1" noChangeArrowheads="1"/>
          </p:cNvSpPr>
          <p:nvPr>
            <p:ph type="sldNum" sz="quarter" idx="11"/>
          </p:nvPr>
        </p:nvSpPr>
        <p:spPr/>
        <p:txBody>
          <a:bodyPr/>
          <a:lstStyle>
            <a:lvl1pPr>
              <a:defRPr/>
            </a:lvl1pPr>
          </a:lstStyle>
          <a:p>
            <a:pPr>
              <a:defRPr/>
            </a:pPr>
            <a:fld id="{F9328BCC-C46A-4DBB-863A-5C64CA6482FF}" type="slidenum">
              <a:rPr lang="zh-CN" altLang="en-US"/>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XX</a:t>
            </a:r>
            <a:r>
              <a:rPr lang="zh-CN" altLang="en-US"/>
              <a:t>大学</a:t>
            </a:r>
            <a:r>
              <a:rPr lang="en-US" altLang="zh-CN"/>
              <a:t>XX</a:t>
            </a:r>
            <a:r>
              <a:rPr lang="zh-CN" altLang="en-US"/>
              <a:t>学院</a:t>
            </a:r>
            <a:endParaRPr lang="en-US" altLang="zh-CN"/>
          </a:p>
        </p:txBody>
      </p:sp>
      <p:sp>
        <p:nvSpPr>
          <p:cNvPr id="3" name="Rectangle 6"/>
          <p:cNvSpPr>
            <a:spLocks noGrp="1" noChangeArrowheads="1"/>
          </p:cNvSpPr>
          <p:nvPr>
            <p:ph type="sldNum" sz="quarter" idx="11"/>
          </p:nvPr>
        </p:nvSpPr>
        <p:spPr/>
        <p:txBody>
          <a:bodyPr/>
          <a:lstStyle>
            <a:lvl1pPr>
              <a:defRPr/>
            </a:lvl1pPr>
          </a:lstStyle>
          <a:p>
            <a:pPr>
              <a:defRPr/>
            </a:pPr>
            <a:fld id="{D678F0CD-2CDE-449D-BB87-11882B4B6C95}" type="slidenum">
              <a:rPr lang="zh-CN" altLang="en-US"/>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XX</a:t>
            </a:r>
            <a:r>
              <a:rPr lang="zh-CN" altLang="en-US"/>
              <a:t>大学</a:t>
            </a:r>
            <a:r>
              <a:rPr lang="en-US" altLang="zh-CN"/>
              <a:t>XX</a:t>
            </a:r>
            <a:r>
              <a:rPr lang="zh-CN" altLang="en-US"/>
              <a:t>学院</a:t>
            </a: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255C1DCC-038F-4D66-A6C8-CCEA8AE5C07E}" type="slidenum">
              <a:rPr lang="zh-CN" altLang="en-US"/>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XX</a:t>
            </a:r>
            <a:r>
              <a:rPr lang="zh-CN" altLang="en-US"/>
              <a:t>大学</a:t>
            </a:r>
            <a:r>
              <a:rPr lang="en-US" altLang="zh-CN"/>
              <a:t>XX</a:t>
            </a:r>
            <a:r>
              <a:rPr lang="zh-CN" altLang="en-US"/>
              <a:t>学院</a:t>
            </a: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2A056FF7-4990-496F-837C-BC0C6C1D14C7}" type="slidenum">
              <a:rPr lang="zh-CN" altLang="en-US"/>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r>
              <a:rPr lang="en-US" altLang="zh-CN"/>
              <a:t>XX</a:t>
            </a:r>
            <a:r>
              <a:rPr lang="zh-CN" altLang="en-US"/>
              <a:t>大学</a:t>
            </a:r>
            <a:r>
              <a:rPr lang="en-US" altLang="zh-CN"/>
              <a:t>XX</a:t>
            </a:r>
            <a:r>
              <a:rPr lang="zh-CN" altLang="en-US"/>
              <a:t>学院</a:t>
            </a: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83F0EA79-3FBD-46CE-954F-054B50151AD6}" type="slidenum">
              <a:rPr lang="zh-CN" altLang="en-US"/>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4450"/>
            <a:ext cx="2057400" cy="63563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44450"/>
            <a:ext cx="6019800" cy="63563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r>
              <a:rPr lang="en-US" altLang="zh-CN"/>
              <a:t>XX</a:t>
            </a:r>
            <a:r>
              <a:rPr lang="zh-CN" altLang="en-US"/>
              <a:t>大学</a:t>
            </a:r>
            <a:r>
              <a:rPr lang="en-US" altLang="zh-CN"/>
              <a:t>XX</a:t>
            </a:r>
            <a:r>
              <a:rPr lang="zh-CN" altLang="en-US"/>
              <a:t>学院</a:t>
            </a: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21AAD473-3F70-4B4C-83B9-4D960732BD51}" type="slidenum">
              <a:rPr lang="zh-CN" altLang="en-US"/>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8365066" y="6426200"/>
            <a:ext cx="762000" cy="40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2130426"/>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US" dirty="0"/>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9" Type="http://schemas.openxmlformats.org/officeDocument/2006/relationships/theme" Target="../theme/theme2.xml"/><Relationship Id="rId18" Type="http://schemas.openxmlformats.org/officeDocument/2006/relationships/vmlDrawing" Target="../drawings/vmlDrawing1.vml"/><Relationship Id="rId17" Type="http://schemas.openxmlformats.org/officeDocument/2006/relationships/image" Target="../media/image4.png"/><Relationship Id="rId16" Type="http://schemas.openxmlformats.org/officeDocument/2006/relationships/oleObject" Target="../embeddings/oleObject3.bin"/><Relationship Id="rId15" Type="http://schemas.openxmlformats.org/officeDocument/2006/relationships/image" Target="../media/image3.png"/><Relationship Id="rId14" Type="http://schemas.openxmlformats.org/officeDocument/2006/relationships/oleObject" Target="../embeddings/oleObject2.bin"/><Relationship Id="rId13" Type="http://schemas.openxmlformats.org/officeDocument/2006/relationships/image" Target="../media/image2.png"/><Relationship Id="rId12" Type="http://schemas.openxmlformats.org/officeDocument/2006/relationships/oleObject" Target="../embeddings/oleObject1.bin"/><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5" Type="http://schemas.openxmlformats.org/officeDocument/2006/relationships/theme" Target="../theme/theme3.xml"/><Relationship Id="rId14" Type="http://schemas.openxmlformats.org/officeDocument/2006/relationships/slideLayout" Target="../slideLayouts/slideLayout39.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71488" y="322263"/>
            <a:ext cx="6462712"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lvl="0"/>
            <a:r>
              <a:rPr lang="de-DE" altLang="zh-CN"/>
              <a:t>Mastertitelformat bearbeiten</a:t>
            </a:r>
            <a:br>
              <a:rPr lang="de-DE" altLang="zh-CN"/>
            </a:br>
            <a:endParaRPr lang="de-DE" altLang="zh-CN"/>
          </a:p>
        </p:txBody>
      </p:sp>
      <p:sp>
        <p:nvSpPr>
          <p:cNvPr id="2051" name="Rectangle 3"/>
          <p:cNvSpPr>
            <a:spLocks noGrp="1" noChangeArrowheads="1"/>
          </p:cNvSpPr>
          <p:nvPr>
            <p:ph type="body" idx="1"/>
          </p:nvPr>
        </p:nvSpPr>
        <p:spPr bwMode="auto">
          <a:xfrm>
            <a:off x="849313" y="1130300"/>
            <a:ext cx="6084887" cy="17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p>
            <a:pPr lvl="0"/>
            <a:r>
              <a:rPr lang="de-DE" altLang="zh-CN"/>
              <a:t>Mastertextformat bearbeiten</a:t>
            </a:r>
            <a:endParaRPr lang="de-DE" altLang="zh-CN"/>
          </a:p>
          <a:p>
            <a:pPr lvl="1"/>
            <a:r>
              <a:rPr lang="de-DE" altLang="zh-CN"/>
              <a:t>Zweite Ebene</a:t>
            </a:r>
            <a:endParaRPr lang="de-DE" altLang="zh-CN"/>
          </a:p>
          <a:p>
            <a:pPr lvl="2"/>
            <a:r>
              <a:rPr lang="de-DE" altLang="zh-CN"/>
              <a:t>Dritte Ebene</a:t>
            </a:r>
            <a:endParaRPr lang="de-DE" altLang="zh-CN"/>
          </a:p>
          <a:p>
            <a:pPr lvl="3"/>
            <a:r>
              <a:rPr lang="de-DE" altLang="zh-CN"/>
              <a:t>Vierte Ebene</a:t>
            </a:r>
            <a:endParaRPr lang="de-DE" altLang="zh-CN"/>
          </a:p>
          <a:p>
            <a:pPr lvl="4"/>
            <a:r>
              <a:rPr lang="de-DE" altLang="zh-CN"/>
              <a:t>Fünfte Ebene</a:t>
            </a:r>
            <a:endParaRPr lang="de-DE" altLang="zh-CN"/>
          </a:p>
        </p:txBody>
      </p:sp>
      <p:sp>
        <p:nvSpPr>
          <p:cNvPr id="1030" name="Rectangle 6"/>
          <p:cNvSpPr>
            <a:spLocks noGrp="1" noChangeArrowheads="1"/>
          </p:cNvSpPr>
          <p:nvPr>
            <p:ph type="sldNum" sz="quarter" idx="4"/>
          </p:nvPr>
        </p:nvSpPr>
        <p:spPr bwMode="auto">
          <a:xfrm>
            <a:off x="179388" y="6597650"/>
            <a:ext cx="504825" cy="215900"/>
          </a:xfrm>
          <a:prstGeom prst="rect">
            <a:avLst/>
          </a:prstGeom>
          <a:noFill/>
          <a:ln w="9525">
            <a:noFill/>
            <a:miter lim="800000"/>
          </a:ln>
          <a:effectLst/>
        </p:spPr>
        <p:txBody>
          <a:bodyPr vert="horz" wrap="square" lIns="0" tIns="0" rIns="0" bIns="0" numCol="1" anchor="t" anchorCtr="0" compatLnSpc="1"/>
          <a:lstStyle>
            <a:lvl1pPr algn="ctr">
              <a:defRPr sz="900">
                <a:solidFill>
                  <a:srgbClr val="394073"/>
                </a:solidFill>
              </a:defRPr>
            </a:lvl1pPr>
          </a:lstStyle>
          <a:p>
            <a:fld id="{F5B41F23-947C-D44B-9037-2AAEF85F5708}" type="slidenum">
              <a:rPr lang="de-DE" altLang="zh-CN"/>
            </a:fld>
            <a:r>
              <a:rPr lang="de-DE" altLang="zh-CN"/>
              <a:t>/34</a:t>
            </a:r>
            <a:endParaRPr lang="de-DE"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hf hdr="0" dt="0"/>
  <p:txStyles>
    <p:titleStyle>
      <a:lvl1pPr marL="381000" indent="-381000" algn="l" rtl="0" eaLnBrk="0" fontAlgn="base" hangingPunct="0">
        <a:spcBef>
          <a:spcPct val="20000"/>
        </a:spcBef>
        <a:spcAft>
          <a:spcPct val="0"/>
        </a:spcAft>
        <a:buClr>
          <a:srgbClr val="007AC2"/>
        </a:buClr>
        <a:buSzPct val="120000"/>
        <a:buFont typeface="Webdings" panose="05030102010509060703" pitchFamily="2" charset="2"/>
        <a:buChar char="&lt;"/>
        <a:defRPr sz="1900" b="1">
          <a:solidFill>
            <a:schemeClr val="tx2"/>
          </a:solidFill>
          <a:latin typeface="+mj-lt"/>
          <a:ea typeface="+mj-ea"/>
          <a:cs typeface="+mj-cs"/>
        </a:defRPr>
      </a:lvl1pPr>
      <a:lvl2pPr marL="381000" indent="-381000" algn="l" rtl="0" eaLnBrk="0" fontAlgn="base" hangingPunct="0">
        <a:spcBef>
          <a:spcPct val="20000"/>
        </a:spcBef>
        <a:spcAft>
          <a:spcPct val="0"/>
        </a:spcAft>
        <a:buClr>
          <a:srgbClr val="007AC2"/>
        </a:buClr>
        <a:buSzPct val="120000"/>
        <a:buFont typeface="Webdings" panose="05030102010509060703" pitchFamily="2" charset="2"/>
        <a:buChar char="&lt;"/>
        <a:defRPr sz="1900" b="1">
          <a:solidFill>
            <a:schemeClr val="tx2"/>
          </a:solidFill>
          <a:latin typeface="Arial" panose="020B0604020202020204" pitchFamily="34" charset="0"/>
        </a:defRPr>
      </a:lvl2pPr>
      <a:lvl3pPr marL="381000" indent="-381000" algn="l" rtl="0" eaLnBrk="0" fontAlgn="base" hangingPunct="0">
        <a:spcBef>
          <a:spcPct val="20000"/>
        </a:spcBef>
        <a:spcAft>
          <a:spcPct val="0"/>
        </a:spcAft>
        <a:buClr>
          <a:srgbClr val="007AC2"/>
        </a:buClr>
        <a:buSzPct val="120000"/>
        <a:buFont typeface="Webdings" panose="05030102010509060703" pitchFamily="2" charset="2"/>
        <a:buChar char="&lt;"/>
        <a:defRPr sz="1900" b="1">
          <a:solidFill>
            <a:schemeClr val="tx2"/>
          </a:solidFill>
          <a:latin typeface="Arial" panose="020B0604020202020204" pitchFamily="34" charset="0"/>
        </a:defRPr>
      </a:lvl3pPr>
      <a:lvl4pPr marL="381000" indent="-381000" algn="l" rtl="0" eaLnBrk="0" fontAlgn="base" hangingPunct="0">
        <a:spcBef>
          <a:spcPct val="20000"/>
        </a:spcBef>
        <a:spcAft>
          <a:spcPct val="0"/>
        </a:spcAft>
        <a:buClr>
          <a:srgbClr val="007AC2"/>
        </a:buClr>
        <a:buSzPct val="120000"/>
        <a:buFont typeface="Webdings" panose="05030102010509060703" pitchFamily="2" charset="2"/>
        <a:buChar char="&lt;"/>
        <a:defRPr sz="1900" b="1">
          <a:solidFill>
            <a:schemeClr val="tx2"/>
          </a:solidFill>
          <a:latin typeface="Arial" panose="020B0604020202020204" pitchFamily="34" charset="0"/>
        </a:defRPr>
      </a:lvl4pPr>
      <a:lvl5pPr marL="381000" indent="-381000" algn="l" rtl="0" eaLnBrk="0" fontAlgn="base" hangingPunct="0">
        <a:spcBef>
          <a:spcPct val="20000"/>
        </a:spcBef>
        <a:spcAft>
          <a:spcPct val="0"/>
        </a:spcAft>
        <a:buClr>
          <a:srgbClr val="007AC2"/>
        </a:buClr>
        <a:buSzPct val="120000"/>
        <a:buFont typeface="Webdings" panose="05030102010509060703" pitchFamily="2" charset="2"/>
        <a:buChar char="&lt;"/>
        <a:defRPr sz="1900" b="1">
          <a:solidFill>
            <a:schemeClr val="tx2"/>
          </a:solidFill>
          <a:latin typeface="Arial" panose="020B0604020202020204" pitchFamily="34" charset="0"/>
        </a:defRPr>
      </a:lvl5pPr>
      <a:lvl6pPr marL="838200" indent="-381000" algn="l" rtl="0" eaLnBrk="0" fontAlgn="base" hangingPunct="0">
        <a:spcBef>
          <a:spcPct val="20000"/>
        </a:spcBef>
        <a:spcAft>
          <a:spcPct val="0"/>
        </a:spcAft>
        <a:buClr>
          <a:srgbClr val="007AC2"/>
        </a:buClr>
        <a:buSzPct val="120000"/>
        <a:buFont typeface="Webdings" panose="05030102010509060703" pitchFamily="2" charset="2"/>
        <a:buChar char="&lt;"/>
        <a:defRPr sz="1900" b="1">
          <a:solidFill>
            <a:schemeClr val="tx2"/>
          </a:solidFill>
          <a:latin typeface="Arial" panose="020B0604020202020204" pitchFamily="34" charset="0"/>
        </a:defRPr>
      </a:lvl6pPr>
      <a:lvl7pPr marL="1295400" indent="-381000" algn="l" rtl="0" eaLnBrk="0" fontAlgn="base" hangingPunct="0">
        <a:spcBef>
          <a:spcPct val="20000"/>
        </a:spcBef>
        <a:spcAft>
          <a:spcPct val="0"/>
        </a:spcAft>
        <a:buClr>
          <a:srgbClr val="007AC2"/>
        </a:buClr>
        <a:buSzPct val="120000"/>
        <a:buFont typeface="Webdings" panose="05030102010509060703" pitchFamily="2" charset="2"/>
        <a:buChar char="&lt;"/>
        <a:defRPr sz="1900" b="1">
          <a:solidFill>
            <a:schemeClr val="tx2"/>
          </a:solidFill>
          <a:latin typeface="Arial" panose="020B0604020202020204" pitchFamily="34" charset="0"/>
        </a:defRPr>
      </a:lvl7pPr>
      <a:lvl8pPr marL="1752600" indent="-381000" algn="l" rtl="0" eaLnBrk="0" fontAlgn="base" hangingPunct="0">
        <a:spcBef>
          <a:spcPct val="20000"/>
        </a:spcBef>
        <a:spcAft>
          <a:spcPct val="0"/>
        </a:spcAft>
        <a:buClr>
          <a:srgbClr val="007AC2"/>
        </a:buClr>
        <a:buSzPct val="120000"/>
        <a:buFont typeface="Webdings" panose="05030102010509060703" pitchFamily="2" charset="2"/>
        <a:buChar char="&lt;"/>
        <a:defRPr sz="1900" b="1">
          <a:solidFill>
            <a:schemeClr val="tx2"/>
          </a:solidFill>
          <a:latin typeface="Arial" panose="020B0604020202020204" pitchFamily="34" charset="0"/>
        </a:defRPr>
      </a:lvl8pPr>
      <a:lvl9pPr marL="2209800" indent="-381000" algn="l" rtl="0" eaLnBrk="0" fontAlgn="base" hangingPunct="0">
        <a:spcBef>
          <a:spcPct val="20000"/>
        </a:spcBef>
        <a:spcAft>
          <a:spcPct val="0"/>
        </a:spcAft>
        <a:buClr>
          <a:srgbClr val="007AC2"/>
        </a:buClr>
        <a:buSzPct val="120000"/>
        <a:buFont typeface="Webdings" panose="05030102010509060703" pitchFamily="2" charset="2"/>
        <a:buChar char="&lt;"/>
        <a:defRPr sz="1900" b="1">
          <a:solidFill>
            <a:schemeClr val="tx2"/>
          </a:solidFill>
          <a:latin typeface="Arial" panose="020B0604020202020204" pitchFamily="34" charset="0"/>
        </a:defRPr>
      </a:lvl9pPr>
    </p:titleStyle>
    <p:bodyStyle>
      <a:lvl1pPr marL="195580" indent="-195580"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ea typeface="+mn-ea"/>
          <a:cs typeface="+mn-cs"/>
        </a:defRPr>
      </a:lvl1pPr>
      <a:lvl2pPr marL="574675" indent="-189230"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2pPr>
      <a:lvl3pPr marL="952500" indent="-187325"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3pPr>
      <a:lvl4pPr marL="1325880" indent="-182880"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4pPr>
      <a:lvl5pPr marL="1698625" indent="-182880"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5pPr>
      <a:lvl6pPr marL="2155825" indent="-182880"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6pPr>
      <a:lvl7pPr marL="2613025" indent="-182880"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7pPr>
      <a:lvl8pPr marL="3070225" indent="-182880"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8pPr>
      <a:lvl9pPr marL="3527425" indent="-182880"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77"/>
          <p:cNvGraphicFramePr>
            <a:graphicFrameLocks noChangeAspect="1"/>
          </p:cNvGraphicFramePr>
          <p:nvPr/>
        </p:nvGraphicFramePr>
        <p:xfrm>
          <a:off x="0" y="6597650"/>
          <a:ext cx="9144000" cy="271463"/>
        </p:xfrm>
        <a:graphic>
          <a:graphicData uri="http://schemas.openxmlformats.org/presentationml/2006/ole">
            <mc:AlternateContent xmlns:mc="http://schemas.openxmlformats.org/markup-compatibility/2006">
              <mc:Choice xmlns:v="urn:schemas-microsoft-com:vml" Requires="v">
                <p:oleObj spid="_x0000_s0" name="Image" r:id="rId12" imgW="6273800" imgH="304800" progId="">
                  <p:embed/>
                </p:oleObj>
              </mc:Choice>
              <mc:Fallback>
                <p:oleObj name="Image" r:id="rId12" imgW="6273800" imgH="304800" progId="">
                  <p:embed/>
                  <p:pic>
                    <p:nvPicPr>
                      <p:cNvPr id="0" name="Object 7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ltGray">
                      <a:xfrm>
                        <a:off x="0" y="6597650"/>
                        <a:ext cx="9144000" cy="271463"/>
                      </a:xfrm>
                      <a:prstGeom prst="rect">
                        <a:avLst/>
                      </a:prstGeom>
                      <a:noFill/>
                      <a:ln>
                        <a:noFill/>
                      </a:ln>
                      <a:effectLst/>
                      <a:extLst>
                        <a:ext uri="{909E8E84-426E-40DD-AFC4-6F175D3DCCD1}">
                          <a14:hiddenFill xmlns:a14="http://schemas.microsoft.com/office/drawing/2010/main">
                            <a:solidFill>
                              <a:srgbClr val="83AE4E"/>
                            </a:solidFill>
                          </a14:hiddenFill>
                        </a:ext>
                        <a:ext uri="{91240B29-F687-4F45-9708-019B960494DF}">
                          <a14:hiddenLine xmlns:a14="http://schemas.microsoft.com/office/drawing/2010/main" w="9525">
                            <a:solidFill>
                              <a:srgbClr val="666635"/>
                            </a:solidFill>
                            <a:miter lim="800000"/>
                            <a:headEnd/>
                            <a:tailEnd/>
                          </a14:hiddenLine>
                        </a:ext>
                        <a:ext uri="{AF507438-7753-43E0-B8FC-AC1667EBCBE1}">
                          <a14:hiddenEffects xmlns:a14="http://schemas.microsoft.com/office/drawing/2010/main">
                            <a:effectLst>
                              <a:outerShdw dist="35921" dir="2700000" algn="ctr" rotWithShape="0">
                                <a:srgbClr val="B2B2B2"/>
                              </a:outerShdw>
                            </a:effectLst>
                          </a14:hiddenEffects>
                        </a:ext>
                      </a:extLst>
                    </p:spPr>
                  </p:pic>
                </p:oleObj>
              </mc:Fallback>
            </mc:AlternateContent>
          </a:graphicData>
        </a:graphic>
      </p:graphicFrame>
      <p:sp>
        <p:nvSpPr>
          <p:cNvPr id="1102" name="Rectangle 78"/>
          <p:cNvSpPr>
            <a:spLocks noChangeArrowheads="1"/>
          </p:cNvSpPr>
          <p:nvPr/>
        </p:nvSpPr>
        <p:spPr bwMode="ltGray">
          <a:xfrm>
            <a:off x="0" y="0"/>
            <a:ext cx="9144000" cy="908050"/>
          </a:xfrm>
          <a:prstGeom prst="rect">
            <a:avLst/>
          </a:prstGeom>
          <a:gradFill rotWithShape="1">
            <a:gsLst>
              <a:gs pos="0">
                <a:schemeClr val="accent1">
                  <a:gamma/>
                  <a:shade val="46275"/>
                  <a:invGamma/>
                </a:schemeClr>
              </a:gs>
              <a:gs pos="100000">
                <a:schemeClr val="accent1"/>
              </a:gs>
            </a:gsLst>
            <a:lin ang="0" scaled="1"/>
          </a:gradFill>
          <a:ln w="9525">
            <a:noFill/>
            <a:miter lim="800000"/>
          </a:ln>
          <a:effectLst/>
        </p:spPr>
        <p:txBody>
          <a:bodyPr wrap="none" anchor="ctr"/>
          <a:lstStyle/>
          <a:p>
            <a:pPr>
              <a:defRPr/>
            </a:pPr>
            <a:endParaRPr lang="zh-CN" altLang="en-US">
              <a:ea typeface="+mn-ea"/>
            </a:endParaRPr>
          </a:p>
        </p:txBody>
      </p:sp>
      <p:graphicFrame>
        <p:nvGraphicFramePr>
          <p:cNvPr id="1027" name="Object 79"/>
          <p:cNvGraphicFramePr>
            <a:graphicFrameLocks noChangeAspect="1"/>
          </p:cNvGraphicFramePr>
          <p:nvPr/>
        </p:nvGraphicFramePr>
        <p:xfrm>
          <a:off x="7458075" y="-9525"/>
          <a:ext cx="858838" cy="917575"/>
        </p:xfrm>
        <a:graphic>
          <a:graphicData uri="http://schemas.openxmlformats.org/presentationml/2006/ole">
            <mc:AlternateContent xmlns:mc="http://schemas.openxmlformats.org/markup-compatibility/2006">
              <mc:Choice xmlns:v="urn:schemas-microsoft-com:vml" Requires="v">
                <p:oleObj spid="_x0000_s2" name="Image" r:id="rId14" imgW="1905000" imgH="2006600" progId="">
                  <p:embed/>
                </p:oleObj>
              </mc:Choice>
              <mc:Fallback>
                <p:oleObj name="Image" r:id="rId14" imgW="1905000" imgH="2006600" progId="">
                  <p:embed/>
                  <p:pic>
                    <p:nvPicPr>
                      <p:cNvPr id="0" name="Object 7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ltGray">
                      <a:xfrm>
                        <a:off x="7458075" y="-9525"/>
                        <a:ext cx="858838" cy="917575"/>
                      </a:xfrm>
                      <a:prstGeom prst="rect">
                        <a:avLst/>
                      </a:prstGeom>
                      <a:noFill/>
                      <a:ln>
                        <a:noFill/>
                      </a:ln>
                      <a:effectLst/>
                      <a:extLst>
                        <a:ext uri="{909E8E84-426E-40DD-AFC4-6F175D3DCCD1}">
                          <a14:hiddenFill xmlns:a14="http://schemas.microsoft.com/office/drawing/2010/main">
                            <a:solidFill>
                              <a:srgbClr val="83AE4E"/>
                            </a:solidFill>
                          </a14:hiddenFill>
                        </a:ext>
                        <a:ext uri="{91240B29-F687-4F45-9708-019B960494DF}">
                          <a14:hiddenLine xmlns:a14="http://schemas.microsoft.com/office/drawing/2010/main" w="9525">
                            <a:solidFill>
                              <a:srgbClr val="666635"/>
                            </a:solidFill>
                            <a:miter lim="800000"/>
                            <a:headEnd/>
                            <a:tailEnd/>
                          </a14:hiddenLine>
                        </a:ext>
                        <a:ext uri="{AF507438-7753-43E0-B8FC-AC1667EBCBE1}">
                          <a14:hiddenEffects xmlns:a14="http://schemas.microsoft.com/office/drawing/2010/main">
                            <a:effectLst>
                              <a:outerShdw dist="35921" dir="2700000" algn="ctr" rotWithShape="0">
                                <a:srgbClr val="B2B2B2"/>
                              </a:outerShdw>
                            </a:effectLst>
                          </a14:hiddenEffects>
                        </a:ext>
                      </a:extLst>
                    </p:spPr>
                  </p:pic>
                </p:oleObj>
              </mc:Fallback>
            </mc:AlternateContent>
          </a:graphicData>
        </a:graphic>
      </p:graphicFrame>
      <p:graphicFrame>
        <p:nvGraphicFramePr>
          <p:cNvPr id="1028" name="Object 80"/>
          <p:cNvGraphicFramePr>
            <a:graphicFrameLocks noChangeAspect="1"/>
          </p:cNvGraphicFramePr>
          <p:nvPr/>
        </p:nvGraphicFramePr>
        <p:xfrm>
          <a:off x="8316913" y="-9525"/>
          <a:ext cx="827087" cy="917575"/>
        </p:xfrm>
        <a:graphic>
          <a:graphicData uri="http://schemas.openxmlformats.org/presentationml/2006/ole">
            <mc:AlternateContent xmlns:mc="http://schemas.openxmlformats.org/markup-compatibility/2006">
              <mc:Choice xmlns:v="urn:schemas-microsoft-com:vml" Requires="v">
                <p:oleObj spid="_x0000_s3" name="Image" r:id="rId16" imgW="1524000" imgH="1676400" progId="">
                  <p:embed/>
                </p:oleObj>
              </mc:Choice>
              <mc:Fallback>
                <p:oleObj name="Image" r:id="rId16" imgW="1524000" imgH="1676400" progId="">
                  <p:embed/>
                  <p:pic>
                    <p:nvPicPr>
                      <p:cNvPr id="0" name="Object 8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ltGray">
                      <a:xfrm>
                        <a:off x="8316913" y="-9525"/>
                        <a:ext cx="827087" cy="917575"/>
                      </a:xfrm>
                      <a:prstGeom prst="rect">
                        <a:avLst/>
                      </a:prstGeom>
                      <a:noFill/>
                      <a:ln>
                        <a:noFill/>
                      </a:ln>
                      <a:effectLst/>
                      <a:extLst>
                        <a:ext uri="{909E8E84-426E-40DD-AFC4-6F175D3DCCD1}">
                          <a14:hiddenFill xmlns:a14="http://schemas.microsoft.com/office/drawing/2010/main">
                            <a:solidFill>
                              <a:srgbClr val="83AE4E"/>
                            </a:solidFill>
                          </a14:hiddenFill>
                        </a:ext>
                        <a:ext uri="{91240B29-F687-4F45-9708-019B960494DF}">
                          <a14:hiddenLine xmlns:a14="http://schemas.microsoft.com/office/drawing/2010/main" w="9525">
                            <a:solidFill>
                              <a:srgbClr val="666635"/>
                            </a:solidFill>
                            <a:miter lim="800000"/>
                            <a:headEnd/>
                            <a:tailEnd/>
                          </a14:hiddenLine>
                        </a:ext>
                        <a:ext uri="{AF507438-7753-43E0-B8FC-AC1667EBCBE1}">
                          <a14:hiddenEffects xmlns:a14="http://schemas.microsoft.com/office/drawing/2010/main">
                            <a:effectLst>
                              <a:outerShdw dist="35921" dir="2700000" algn="ctr" rotWithShape="0">
                                <a:srgbClr val="B2B2B2"/>
                              </a:outerShdw>
                            </a:effectLst>
                          </a14:hiddenEffects>
                        </a:ext>
                      </a:extLst>
                    </p:spPr>
                  </p:pic>
                </p:oleObj>
              </mc:Fallback>
            </mc:AlternateContent>
          </a:graphicData>
        </a:graphic>
      </p:graphicFrame>
      <p:sp>
        <p:nvSpPr>
          <p:cNvPr id="1031" name="Rectangle 3"/>
          <p:cNvSpPr>
            <a:spLocks noGrp="1" noChangeArrowheads="1"/>
          </p:cNvSpPr>
          <p:nvPr>
            <p:ph type="body" idx="1"/>
          </p:nvPr>
        </p:nvSpPr>
        <p:spPr bwMode="auto">
          <a:xfrm>
            <a:off x="457200" y="1143000"/>
            <a:ext cx="8229600" cy="52578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9" name="Rectangle 5"/>
          <p:cNvSpPr>
            <a:spLocks noGrp="1" noChangeArrowheads="1"/>
          </p:cNvSpPr>
          <p:nvPr>
            <p:ph type="ftr" sz="quarter" idx="3"/>
          </p:nvPr>
        </p:nvSpPr>
        <p:spPr bwMode="white">
          <a:xfrm>
            <a:off x="6365875" y="6624638"/>
            <a:ext cx="2743200" cy="260350"/>
          </a:xfrm>
          <a:prstGeom prst="rect">
            <a:avLst/>
          </a:prstGeom>
          <a:noFill/>
          <a:ln w="9525">
            <a:noFill/>
            <a:miter lim="800000"/>
          </a:ln>
          <a:effectLst/>
        </p:spPr>
        <p:txBody>
          <a:bodyPr vert="horz" wrap="square" lIns="91440" tIns="45720" rIns="91440" bIns="45720" numCol="1" anchor="t" anchorCtr="0" compatLnSpc="1"/>
          <a:lstStyle>
            <a:lvl1pPr algn="r">
              <a:defRPr sz="1200" b="1" smtClean="0">
                <a:solidFill>
                  <a:schemeClr val="bg1"/>
                </a:solidFill>
                <a:latin typeface="Verdana" panose="020B0604030504040204" pitchFamily="34" charset="0"/>
                <a:ea typeface="宋体" panose="02010600030101010101" pitchFamily="2" charset="-122"/>
              </a:defRPr>
            </a:lvl1pPr>
          </a:lstStyle>
          <a:p>
            <a:pPr>
              <a:defRPr/>
            </a:pPr>
            <a:r>
              <a:rPr lang="en-US" altLang="zh-CN"/>
              <a:t>XX</a:t>
            </a:r>
            <a:r>
              <a:rPr lang="zh-CN" altLang="en-US"/>
              <a:t>大学</a:t>
            </a:r>
            <a:r>
              <a:rPr lang="en-US" altLang="zh-CN"/>
              <a:t>XX</a:t>
            </a:r>
            <a:r>
              <a:rPr lang="zh-CN" altLang="en-US"/>
              <a:t>学院</a:t>
            </a:r>
            <a:endParaRPr lang="en-US" altLang="zh-CN"/>
          </a:p>
        </p:txBody>
      </p:sp>
      <p:sp>
        <p:nvSpPr>
          <p:cNvPr id="1033" name="Rectangle 2"/>
          <p:cNvSpPr>
            <a:spLocks noGrp="1" noChangeArrowheads="1"/>
          </p:cNvSpPr>
          <p:nvPr>
            <p:ph type="title"/>
          </p:nvPr>
        </p:nvSpPr>
        <p:spPr bwMode="white">
          <a:xfrm>
            <a:off x="755650" y="44450"/>
            <a:ext cx="6553200" cy="792163"/>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30" name="Rectangle 6"/>
          <p:cNvSpPr>
            <a:spLocks noGrp="1" noChangeArrowheads="1"/>
          </p:cNvSpPr>
          <p:nvPr>
            <p:ph type="sldNum" sz="quarter" idx="4"/>
          </p:nvPr>
        </p:nvSpPr>
        <p:spPr bwMode="white">
          <a:xfrm>
            <a:off x="3419475" y="6594475"/>
            <a:ext cx="2133600" cy="263525"/>
          </a:xfrm>
          <a:prstGeom prst="rect">
            <a:avLst/>
          </a:prstGeom>
          <a:noFill/>
          <a:ln w="9525">
            <a:noFill/>
            <a:miter lim="800000"/>
          </a:ln>
          <a:effectLst/>
        </p:spPr>
        <p:txBody>
          <a:bodyPr vert="horz" wrap="square" lIns="91440" tIns="45720" rIns="91440" bIns="45720" numCol="1" anchor="t" anchorCtr="0" compatLnSpc="1"/>
          <a:lstStyle>
            <a:lvl1pPr algn="ctr">
              <a:defRPr sz="1400">
                <a:solidFill>
                  <a:srgbClr val="000000"/>
                </a:solidFill>
                <a:ea typeface="宋体" panose="02010600030101010101" pitchFamily="2" charset="-122"/>
              </a:defRPr>
            </a:lvl1pPr>
          </a:lstStyle>
          <a:p>
            <a:pPr>
              <a:defRPr/>
            </a:pPr>
            <a:fld id="{51D5209C-A689-4DF0-B6AC-485D1B0EDF8E}"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dt="0"/>
  <p:txStyles>
    <p:titleStyle>
      <a:lvl1pPr algn="l" rtl="0" eaLnBrk="0" fontAlgn="base" hangingPunct="0">
        <a:spcBef>
          <a:spcPct val="0"/>
        </a:spcBef>
        <a:spcAft>
          <a:spcPct val="0"/>
        </a:spcAft>
        <a:defRPr sz="4000" b="1">
          <a:solidFill>
            <a:schemeClr val="bg1"/>
          </a:solidFill>
          <a:latin typeface="+mj-lt"/>
          <a:ea typeface="+mj-ea"/>
          <a:cs typeface="+mj-cs"/>
        </a:defRPr>
      </a:lvl1pPr>
      <a:lvl2pPr algn="l" rtl="0" eaLnBrk="0" fontAlgn="base" hangingPunct="0">
        <a:spcBef>
          <a:spcPct val="0"/>
        </a:spcBef>
        <a:spcAft>
          <a:spcPct val="0"/>
        </a:spcAft>
        <a:defRPr sz="4000" b="1">
          <a:solidFill>
            <a:schemeClr val="bg1"/>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4000" b="1">
          <a:solidFill>
            <a:schemeClr val="bg1"/>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4000" b="1">
          <a:solidFill>
            <a:schemeClr val="bg1"/>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4000" b="1">
          <a:solidFill>
            <a:schemeClr val="bg1"/>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4000" b="1">
          <a:solidFill>
            <a:schemeClr val="bg1"/>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4000" b="1">
          <a:solidFill>
            <a:schemeClr val="bg1"/>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4000" b="1">
          <a:solidFill>
            <a:schemeClr val="bg1"/>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4000" b="1">
          <a:solidFill>
            <a:schemeClr val="bg1"/>
          </a:solidFill>
          <a:latin typeface="黑体" panose="02010609060101010101" pitchFamily="2" charset="-122"/>
          <a:ea typeface="黑体" panose="02010609060101010101" pitchFamily="2" charset="-122"/>
        </a:defRPr>
      </a:lvl9pPr>
    </p:titleStyle>
    <p:bodyStyle>
      <a:lvl1pPr marL="342900" indent="-342900" algn="l" rtl="0" eaLnBrk="0" fontAlgn="base" hangingPunct="0">
        <a:lnSpc>
          <a:spcPct val="110000"/>
        </a:lnSpc>
        <a:spcBef>
          <a:spcPct val="20000"/>
        </a:spcBef>
        <a:spcAft>
          <a:spcPct val="10000"/>
        </a:spcAft>
        <a:buClr>
          <a:srgbClr val="FF0000"/>
        </a:buClr>
        <a:buFont typeface="Wingdings" panose="05000000000000000000" pitchFamily="2" charset="2"/>
        <a:buChar char="v"/>
        <a:defRPr sz="2800" b="1">
          <a:solidFill>
            <a:srgbClr val="000000"/>
          </a:solidFill>
          <a:latin typeface="+mn-lt"/>
          <a:ea typeface="+mn-ea"/>
          <a:cs typeface="+mn-cs"/>
        </a:defRPr>
      </a:lvl1pPr>
      <a:lvl2pPr marL="742950" indent="-285750" algn="l" rtl="0" eaLnBrk="0" fontAlgn="base" hangingPunct="0">
        <a:lnSpc>
          <a:spcPct val="110000"/>
        </a:lnSpc>
        <a:spcBef>
          <a:spcPct val="20000"/>
        </a:spcBef>
        <a:spcAft>
          <a:spcPct val="0"/>
        </a:spcAft>
        <a:buClr>
          <a:schemeClr val="accent1"/>
        </a:buClr>
        <a:buFont typeface="Wingdings" panose="05000000000000000000" pitchFamily="2" charset="2"/>
        <a:buChar char="§"/>
        <a:defRPr sz="2400" b="1">
          <a:solidFill>
            <a:srgbClr val="000000"/>
          </a:solidFill>
          <a:latin typeface="+mn-lt"/>
          <a:ea typeface="+mn-ea"/>
        </a:defRPr>
      </a:lvl2pPr>
      <a:lvl3pPr marL="1143000" indent="-228600" algn="l" rtl="0" eaLnBrk="0" fontAlgn="base" hangingPunct="0">
        <a:spcBef>
          <a:spcPct val="20000"/>
        </a:spcBef>
        <a:spcAft>
          <a:spcPct val="0"/>
        </a:spcAft>
        <a:buClr>
          <a:schemeClr val="tx1"/>
        </a:buClr>
        <a:buChar char="•"/>
        <a:defRPr sz="2200" b="1">
          <a:solidFill>
            <a:schemeClr val="tx2"/>
          </a:solidFill>
          <a:latin typeface="+mn-lt"/>
          <a:ea typeface="+mn-ea"/>
        </a:defRPr>
      </a:lvl3pPr>
      <a:lvl4pPr marL="1600200" indent="-228600" algn="l" rtl="0" eaLnBrk="0" fontAlgn="base" hangingPunct="0">
        <a:spcBef>
          <a:spcPct val="20000"/>
        </a:spcBef>
        <a:spcAft>
          <a:spcPct val="0"/>
        </a:spcAft>
        <a:buChar char="–"/>
        <a:defRPr sz="2000" b="1">
          <a:solidFill>
            <a:schemeClr val="tx2"/>
          </a:solidFill>
          <a:latin typeface="+mn-lt"/>
          <a:ea typeface="+mn-ea"/>
        </a:defRPr>
      </a:lvl4pPr>
      <a:lvl5pPr marL="2057400" indent="-228600" algn="l" rtl="0" eaLnBrk="0" fontAlgn="base" hangingPunct="0">
        <a:spcBef>
          <a:spcPct val="20000"/>
        </a:spcBef>
        <a:spcAft>
          <a:spcPct val="0"/>
        </a:spcAft>
        <a:buChar char="»"/>
        <a:defRPr sz="2000" b="1">
          <a:solidFill>
            <a:schemeClr val="tx2"/>
          </a:solidFill>
          <a:latin typeface="+mn-lt"/>
          <a:ea typeface="+mn-ea"/>
        </a:defRPr>
      </a:lvl5pPr>
      <a:lvl6pPr marL="2514600" indent="-228600" algn="l" rtl="0" fontAlgn="base">
        <a:spcBef>
          <a:spcPct val="20000"/>
        </a:spcBef>
        <a:spcAft>
          <a:spcPct val="0"/>
        </a:spcAft>
        <a:buChar char="»"/>
        <a:defRPr sz="2000" b="1">
          <a:solidFill>
            <a:schemeClr val="tx2"/>
          </a:solidFill>
          <a:latin typeface="+mn-lt"/>
          <a:ea typeface="+mn-ea"/>
        </a:defRPr>
      </a:lvl6pPr>
      <a:lvl7pPr marL="2971800" indent="-228600" algn="l" rtl="0" fontAlgn="base">
        <a:spcBef>
          <a:spcPct val="20000"/>
        </a:spcBef>
        <a:spcAft>
          <a:spcPct val="0"/>
        </a:spcAft>
        <a:buChar char="»"/>
        <a:defRPr sz="2000" b="1">
          <a:solidFill>
            <a:schemeClr val="tx2"/>
          </a:solidFill>
          <a:latin typeface="+mn-lt"/>
          <a:ea typeface="+mn-ea"/>
        </a:defRPr>
      </a:lvl7pPr>
      <a:lvl8pPr marL="3429000" indent="-228600" algn="l" rtl="0" fontAlgn="base">
        <a:spcBef>
          <a:spcPct val="20000"/>
        </a:spcBef>
        <a:spcAft>
          <a:spcPct val="0"/>
        </a:spcAft>
        <a:buChar char="»"/>
        <a:defRPr sz="2000" b="1">
          <a:solidFill>
            <a:schemeClr val="tx2"/>
          </a:solidFill>
          <a:latin typeface="+mn-lt"/>
          <a:ea typeface="+mn-ea"/>
        </a:defRPr>
      </a:lvl8pPr>
      <a:lvl9pPr marL="3886200" indent="-228600" algn="l" rtl="0" fontAlgn="base">
        <a:spcBef>
          <a:spcPct val="20000"/>
        </a:spcBef>
        <a:spcAft>
          <a:spcPct val="0"/>
        </a:spcAft>
        <a:buChar char="»"/>
        <a:defRPr sz="2000" b="1">
          <a:solidFill>
            <a:schemeClr val="tx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5400"/>
            <a:ext cx="8229600" cy="1143000"/>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457200" y="1397000"/>
            <a:ext cx="8229600" cy="5461000"/>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fld>
            <a:endParaRPr lang="en-US" dirty="0">
              <a:solidFill>
                <a:prstClr val="black">
                  <a:tint val="75000"/>
                </a:prstClr>
              </a:solidFill>
            </a:endParaRPr>
          </a:p>
        </p:txBody>
      </p:sp>
      <p:sp>
        <p:nvSpPr>
          <p:cNvPr id="7" name="TextBox 6"/>
          <p:cNvSpPr txBox="1"/>
          <p:nvPr userDrawn="1"/>
        </p:nvSpPr>
        <p:spPr>
          <a:xfrm>
            <a:off x="8495979" y="6589889"/>
            <a:ext cx="761747" cy="230832"/>
          </a:xfrm>
          <a:prstGeom prst="rect">
            <a:avLst/>
          </a:prstGeom>
          <a:noFill/>
        </p:spPr>
        <p:txBody>
          <a:bodyPr wrap="none" rtlCol="0">
            <a:spAutoFit/>
          </a:bodyPr>
          <a:lstStyle/>
          <a:p>
            <a:r>
              <a:rPr lang="en-US" sz="900" dirty="0"/>
              <a:t>Dan Boneh</a:t>
            </a:r>
            <a:endParaRPr lang="en-US" sz="900" dirty="0"/>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10.pn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4.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8.xml.rels><?xml version="1.0" encoding="UTF-8" standalone="yes"?>
<Relationships xmlns="http://schemas.openxmlformats.org/package/2006/relationships"><Relationship Id="rId9" Type="http://schemas.openxmlformats.org/officeDocument/2006/relationships/notesSlide" Target="../notesSlides/notesSlide37.xml"/><Relationship Id="rId8" Type="http://schemas.openxmlformats.org/officeDocument/2006/relationships/slideLayout" Target="../slideLayouts/slideLayout27.xml"/><Relationship Id="rId7" Type="http://schemas.openxmlformats.org/officeDocument/2006/relationships/image" Target="../media/image27.png"/><Relationship Id="rId6" Type="http://schemas.openxmlformats.org/officeDocument/2006/relationships/customXml" Target="../ink/ink1.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15372"/>
            <a:ext cx="1600200" cy="622828"/>
          </a:xfrm>
        </p:spPr>
        <p:txBody>
          <a:bodyPr/>
          <a:lstStyle/>
          <a:p>
            <a:pPr algn="ctr"/>
            <a:r>
              <a:rPr kumimoji="1" lang="zh-CN" altLang="en-US" dirty="0"/>
              <a:t>课程</a:t>
            </a:r>
            <a:r>
              <a:rPr kumimoji="1" lang="en-US" altLang="zh-CN" dirty="0"/>
              <a:t>QQ</a:t>
            </a:r>
            <a:r>
              <a:rPr kumimoji="1" lang="zh-CN" altLang="en-US" dirty="0"/>
              <a:t>群</a:t>
            </a:r>
            <a:endParaRPr kumimoji="1"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48524" y="0"/>
            <a:ext cx="3846952" cy="6858000"/>
          </a:xfrm>
          <a:prstGeom prst="rect">
            <a:avLst/>
          </a:prstGeom>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15372"/>
            <a:ext cx="8229600" cy="775228"/>
          </a:xfrm>
        </p:spPr>
        <p:txBody>
          <a:bodyPr/>
          <a:lstStyle/>
          <a:p>
            <a:r>
              <a:rPr kumimoji="1" lang="zh-CN" altLang="en-US" dirty="0"/>
              <a:t>考核方式和成绩评定</a:t>
            </a:r>
            <a:endParaRPr kumimoji="1" lang="zh-CN" altLang="en-US" dirty="0"/>
          </a:p>
        </p:txBody>
      </p:sp>
      <p:pic>
        <p:nvPicPr>
          <p:cNvPr id="5" name="图片 4"/>
          <p:cNvPicPr>
            <a:picLocks noChangeAspect="1"/>
          </p:cNvPicPr>
          <p:nvPr/>
        </p:nvPicPr>
        <p:blipFill>
          <a:blip r:embed="rId1"/>
          <a:stretch>
            <a:fillRect/>
          </a:stretch>
        </p:blipFill>
        <p:spPr>
          <a:xfrm>
            <a:off x="1066800" y="999565"/>
            <a:ext cx="7010400" cy="5128281"/>
          </a:xfrm>
          <a:prstGeom prst="rect">
            <a:avLst/>
          </a:prstGeom>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15372"/>
            <a:ext cx="8229600" cy="699028"/>
          </a:xfrm>
        </p:spPr>
        <p:txBody>
          <a:bodyPr/>
          <a:lstStyle/>
          <a:p>
            <a:r>
              <a:rPr kumimoji="1" lang="en-US" altLang="zh-CN" dirty="0"/>
              <a:t>Textbooks</a:t>
            </a:r>
            <a:endParaRPr kumimoji="1" lang="zh-CN" altLang="en-US" dirty="0"/>
          </a:p>
        </p:txBody>
      </p:sp>
      <p:pic>
        <p:nvPicPr>
          <p:cNvPr id="102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69197" y="716629"/>
            <a:ext cx="2960059" cy="296005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356" y="3284984"/>
            <a:ext cx="2277778" cy="343215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0497" y="3356992"/>
            <a:ext cx="2680580" cy="343216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692" y="701210"/>
            <a:ext cx="3176083" cy="31760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15372"/>
            <a:ext cx="8229600" cy="699028"/>
          </a:xfrm>
        </p:spPr>
        <p:txBody>
          <a:bodyPr/>
          <a:lstStyle/>
          <a:p>
            <a:r>
              <a:rPr kumimoji="1" lang="zh-CN" altLang="en-US" dirty="0"/>
              <a:t>网课：</a:t>
            </a:r>
            <a:r>
              <a:rPr kumimoji="1" lang="en-US" altLang="zh-CN" dirty="0" err="1"/>
              <a:t>Youtube</a:t>
            </a:r>
            <a:r>
              <a:rPr kumimoji="1" lang="zh-CN" altLang="en-US" dirty="0"/>
              <a:t> </a:t>
            </a:r>
            <a:r>
              <a:rPr kumimoji="1" lang="en-US" altLang="zh-CN" dirty="0"/>
              <a:t>Channel</a:t>
            </a:r>
            <a:endParaRPr kumimoji="1" lang="zh-CN" altLang="en-US" dirty="0"/>
          </a:p>
        </p:txBody>
      </p:sp>
      <p:pic>
        <p:nvPicPr>
          <p:cNvPr id="3" name="图片 2"/>
          <p:cNvPicPr>
            <a:picLocks noChangeAspect="1"/>
          </p:cNvPicPr>
          <p:nvPr/>
        </p:nvPicPr>
        <p:blipFill>
          <a:blip r:embed="rId1"/>
          <a:stretch>
            <a:fillRect/>
          </a:stretch>
        </p:blipFill>
        <p:spPr>
          <a:xfrm>
            <a:off x="685800" y="990600"/>
            <a:ext cx="7772400" cy="4951437"/>
          </a:xfrm>
          <a:prstGeom prst="rect">
            <a:avLst/>
          </a:prstGeom>
        </p:spPr>
      </p:pic>
      <p:sp>
        <p:nvSpPr>
          <p:cNvPr id="5" name="文本框 4"/>
          <p:cNvSpPr txBox="1"/>
          <p:nvPr/>
        </p:nvSpPr>
        <p:spPr>
          <a:xfrm>
            <a:off x="685800" y="6015189"/>
            <a:ext cx="8229600" cy="369332"/>
          </a:xfrm>
          <a:prstGeom prst="rect">
            <a:avLst/>
          </a:prstGeom>
          <a:noFill/>
        </p:spPr>
        <p:txBody>
          <a:bodyPr wrap="square">
            <a:spAutoFit/>
          </a:bodyPr>
          <a:lstStyle/>
          <a:p>
            <a:r>
              <a:rPr lang="zh-CN" altLang="en-US" dirty="0"/>
              <a:t>https://www.youtube.com/channel/UC1usFRN4LCMcfIV7UjHNuQg/videos</a:t>
            </a:r>
            <a:endParaRPr lang="zh-CN" altLang="en-US" dirty="0"/>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650" y="44450"/>
            <a:ext cx="7416750" cy="792163"/>
          </a:xfrm>
        </p:spPr>
        <p:txBody>
          <a:bodyPr/>
          <a:lstStyle/>
          <a:p>
            <a:r>
              <a:rPr lang="en-US" altLang="zh-TW" b="0" dirty="0"/>
              <a:t>Curiosity, Passion, Love</a:t>
            </a:r>
            <a:endParaRPr lang="zh-CN" altLang="en-US" dirty="0"/>
          </a:p>
        </p:txBody>
      </p:sp>
      <p:sp>
        <p:nvSpPr>
          <p:cNvPr id="3" name="内容占位符 2"/>
          <p:cNvSpPr>
            <a:spLocks noGrp="1"/>
          </p:cNvSpPr>
          <p:nvPr>
            <p:ph idx="1"/>
          </p:nvPr>
        </p:nvSpPr>
        <p:spPr>
          <a:xfrm>
            <a:off x="457200" y="1484784"/>
            <a:ext cx="8229600" cy="4916016"/>
          </a:xfrm>
        </p:spPr>
        <p:txBody>
          <a:bodyPr/>
          <a:lstStyle/>
          <a:p>
            <a:r>
              <a:rPr lang="zh-TW" altLang="en-US" b="0" dirty="0">
                <a:latin typeface="+mn-ea"/>
              </a:rPr>
              <a:t>爱因斯坦</a:t>
            </a:r>
            <a:r>
              <a:rPr lang="zh-CN" altLang="en-US" b="0" dirty="0">
                <a:latin typeface="+mn-ea"/>
              </a:rPr>
              <a:t>：“我没有特殊的天赋，只是拥有热切的好奇心。”</a:t>
            </a:r>
            <a:endParaRPr lang="en-US" altLang="zh-TW" b="0" dirty="0">
              <a:latin typeface="+mn-ea"/>
            </a:endParaRPr>
          </a:p>
          <a:p>
            <a:r>
              <a:rPr lang="zh-CN" altLang="en-US" b="0" dirty="0"/>
              <a:t>美国哈佛大学教授、数学诺贝尔奖“菲尔兹”奖、沃尔夫数学奖得主</a:t>
            </a:r>
            <a:r>
              <a:rPr lang="en-US" altLang="zh-CN" b="0" dirty="0"/>
              <a:t>——</a:t>
            </a:r>
            <a:r>
              <a:rPr lang="zh-CN" altLang="en-US" b="0" dirty="0"/>
              <a:t>丘成桐教授：“对不懂的事情要有好奇心，对自己选定的目标要有热情。”</a:t>
            </a:r>
            <a:endParaRPr lang="zh-CN" altLang="en-US" b="0" dirty="0"/>
          </a:p>
          <a:p>
            <a:r>
              <a:rPr lang="en-US" altLang="zh-TW" b="0" dirty="0"/>
              <a:t>Curiosity➡️Passion➡️Love</a:t>
            </a:r>
            <a:endParaRPr lang="zh-TW" altLang="en-US" b="0" dirty="0"/>
          </a:p>
          <a:p>
            <a:endParaRPr lang="zh-CN" altLang="en-US" dirty="0"/>
          </a:p>
        </p:txBody>
      </p:sp>
      <p:sp>
        <p:nvSpPr>
          <p:cNvPr id="4" name="灯片编号占位符 3"/>
          <p:cNvSpPr>
            <a:spLocks noGrp="1"/>
          </p:cNvSpPr>
          <p:nvPr>
            <p:ph type="sldNum"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fld id="{A49DC98C-8031-4701-8969-6C0C0FE5682D}" type="slidenum">
              <a:rPr kumimoji="0" lang="zh-CN" altLang="en-US" sz="14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19672" y="1215442"/>
            <a:ext cx="5472608" cy="792163"/>
          </a:xfrm>
        </p:spPr>
        <p:txBody>
          <a:bodyPr/>
          <a:lstStyle/>
          <a:p>
            <a:r>
              <a:rPr lang="en-US" altLang="zh-CN" sz="3600" dirty="0">
                <a:solidFill>
                  <a:schemeClr val="tx2"/>
                </a:solidFill>
              </a:rPr>
              <a:t>Chapter 1 Introduction</a:t>
            </a:r>
            <a:endParaRPr lang="zh-CN" altLang="en-US" sz="3600" dirty="0">
              <a:solidFill>
                <a:schemeClr val="tx2"/>
              </a:solidFill>
            </a:endParaRPr>
          </a:p>
        </p:txBody>
      </p:sp>
      <p:sp>
        <p:nvSpPr>
          <p:cNvPr id="4" name="页脚占位符 3"/>
          <p:cNvSpPr>
            <a:spLocks noGrp="1"/>
          </p:cNvSpPr>
          <p:nvPr>
            <p:ph type="ftr" sz="quarter" idx="10"/>
          </p:nvPr>
        </p:nvSpPr>
        <p:spPr/>
        <p:txBody>
          <a:bodyPr/>
          <a:lstStyle/>
          <a:p>
            <a:pPr>
              <a:defRPr/>
            </a:pPr>
            <a:r>
              <a:rPr lang="zh-CN" altLang="en-US" dirty="0"/>
              <a:t>云南大学软件学院</a:t>
            </a:r>
            <a:endParaRPr lang="en-US" altLang="zh-CN" dirty="0"/>
          </a:p>
        </p:txBody>
      </p:sp>
      <p:sp>
        <p:nvSpPr>
          <p:cNvPr id="5" name="灯片编号占位符 4"/>
          <p:cNvSpPr>
            <a:spLocks noGrp="1"/>
          </p:cNvSpPr>
          <p:nvPr>
            <p:ph type="sldNum" sz="quarter" idx="11"/>
          </p:nvPr>
        </p:nvSpPr>
        <p:spPr/>
        <p:txBody>
          <a:bodyPr/>
          <a:lstStyle/>
          <a:p>
            <a:pPr>
              <a:defRPr/>
            </a:pPr>
            <a:fld id="{A49DC98C-8031-4701-8969-6C0C0FE5682D}" type="slidenum">
              <a:rPr lang="zh-CN" altLang="en-US" smtClean="0"/>
            </a:fld>
            <a:endParaRPr lang="en-US" altLang="zh-CN"/>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2278" y="2007605"/>
            <a:ext cx="8094177" cy="44012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178C611-0470-E04E-9464-3F478773EBD9}"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17412" name="Rectangle 4"/>
          <p:cNvSpPr>
            <a:spLocks noGrp="1" noChangeArrowheads="1"/>
          </p:cNvSpPr>
          <p:nvPr>
            <p:ph type="title"/>
          </p:nvPr>
        </p:nvSpPr>
        <p:spPr>
          <a:xfrm>
            <a:off x="471488" y="322263"/>
            <a:ext cx="8204200" cy="515937"/>
          </a:xfrm>
        </p:spPr>
        <p:txBody>
          <a:bodyPr/>
          <a:lstStyle/>
          <a:p>
            <a:pPr>
              <a:buFont typeface="Webdings" panose="05030102010509060703" pitchFamily="2" charset="2"/>
              <a:buNone/>
            </a:pPr>
            <a:r>
              <a:rPr lang="de-DE" altLang="zh-CN" sz="2800" dirty="0"/>
              <a:t>Content </a:t>
            </a:r>
            <a:r>
              <a:rPr lang="de-DE" altLang="zh-CN" sz="2800" dirty="0" err="1"/>
              <a:t>of</a:t>
            </a:r>
            <a:r>
              <a:rPr lang="de-DE" altLang="zh-CN" sz="2800" dirty="0"/>
              <a:t> </a:t>
            </a:r>
            <a:r>
              <a:rPr lang="de-DE" altLang="zh-CN" sz="2800" dirty="0" err="1"/>
              <a:t>this</a:t>
            </a:r>
            <a:r>
              <a:rPr lang="de-DE" altLang="zh-CN" sz="2800" dirty="0"/>
              <a:t> Chapter</a:t>
            </a:r>
            <a:endParaRPr lang="de-DE" altLang="zh-CN" sz="2800" dirty="0"/>
          </a:p>
        </p:txBody>
      </p:sp>
      <p:sp>
        <p:nvSpPr>
          <p:cNvPr id="17413" name="Rectangle 7"/>
          <p:cNvSpPr>
            <a:spLocks noGrp="1" noChangeArrowheads="1"/>
          </p:cNvSpPr>
          <p:nvPr>
            <p:ph type="body" idx="1"/>
          </p:nvPr>
        </p:nvSpPr>
        <p:spPr>
          <a:xfrm>
            <a:off x="539750" y="1844675"/>
            <a:ext cx="7394575" cy="2667000"/>
          </a:xfrm>
          <a:noFill/>
        </p:spPr>
        <p:txBody>
          <a:bodyPr/>
          <a:lstStyle/>
          <a:p>
            <a:pPr marL="342900" indent="-342900"/>
            <a:r>
              <a:rPr lang="de-DE" altLang="zh-CN" sz="2000" dirty="0" err="1"/>
              <a:t>Overview</a:t>
            </a:r>
            <a:r>
              <a:rPr lang="de-DE" altLang="zh-CN" sz="2000" dirty="0"/>
              <a:t> on </a:t>
            </a:r>
            <a:r>
              <a:rPr lang="de-DE" altLang="zh-CN" sz="2000" dirty="0" err="1"/>
              <a:t>the</a:t>
            </a:r>
            <a:r>
              <a:rPr lang="de-DE" altLang="zh-CN" sz="2000" dirty="0"/>
              <a:t> </a:t>
            </a:r>
            <a:r>
              <a:rPr lang="de-DE" altLang="zh-CN" sz="2000" dirty="0" err="1"/>
              <a:t>field</a:t>
            </a:r>
            <a:r>
              <a:rPr lang="de-DE" altLang="zh-CN" sz="2000" dirty="0"/>
              <a:t> </a:t>
            </a:r>
            <a:r>
              <a:rPr lang="de-DE" altLang="zh-CN" sz="2000" dirty="0" err="1"/>
              <a:t>of</a:t>
            </a:r>
            <a:r>
              <a:rPr lang="de-DE" altLang="zh-CN" sz="2000" dirty="0"/>
              <a:t> </a:t>
            </a:r>
            <a:r>
              <a:rPr lang="de-DE" altLang="zh-CN" sz="2000" dirty="0" err="1"/>
              <a:t>cryptology</a:t>
            </a:r>
            <a:endParaRPr lang="de-DE" altLang="zh-CN" sz="2000" dirty="0"/>
          </a:p>
          <a:p>
            <a:pPr marL="342900" indent="-342900"/>
            <a:r>
              <a:rPr lang="de-DE" altLang="zh-CN" sz="2000" dirty="0"/>
              <a:t>Basics </a:t>
            </a:r>
            <a:r>
              <a:rPr lang="de-DE" altLang="zh-CN" sz="2000" dirty="0" err="1"/>
              <a:t>of</a:t>
            </a:r>
            <a:r>
              <a:rPr lang="de-DE" altLang="zh-CN" sz="2000" dirty="0"/>
              <a:t> </a:t>
            </a:r>
            <a:r>
              <a:rPr lang="de-DE" altLang="zh-CN" sz="2000" dirty="0" err="1"/>
              <a:t>symmetric</a:t>
            </a:r>
            <a:r>
              <a:rPr lang="de-DE" altLang="zh-CN" sz="2000" dirty="0"/>
              <a:t> </a:t>
            </a:r>
            <a:r>
              <a:rPr lang="de-DE" altLang="zh-CN" sz="2000" dirty="0" err="1"/>
              <a:t>cryptography</a:t>
            </a:r>
            <a:endParaRPr lang="de-DE" altLang="zh-CN" sz="2000" dirty="0"/>
          </a:p>
          <a:p>
            <a:pPr marL="342900" indent="-342900"/>
            <a:r>
              <a:rPr lang="de-DE" altLang="zh-CN" sz="2000" dirty="0"/>
              <a:t>Substitution </a:t>
            </a:r>
            <a:r>
              <a:rPr lang="de-DE" altLang="zh-CN" sz="2000" dirty="0" err="1"/>
              <a:t>Cipher</a:t>
            </a:r>
            <a:endParaRPr lang="de-DE" altLang="zh-CN" sz="2000" dirty="0"/>
          </a:p>
          <a:p>
            <a:pPr marL="342900" indent="-342900"/>
            <a:r>
              <a:rPr lang="de-DE" altLang="zh-CN" sz="2000" dirty="0" err="1"/>
              <a:t>Cryptanalysis</a:t>
            </a:r>
            <a:endParaRPr lang="de-DE" altLang="zh-CN" sz="2000" dirty="0"/>
          </a:p>
          <a:p>
            <a:pPr marL="342900" indent="-342900"/>
            <a:r>
              <a:rPr lang="de-DE" altLang="zh-CN" sz="2000" dirty="0"/>
              <a:t>Modular </a:t>
            </a:r>
            <a:r>
              <a:rPr lang="de-DE" altLang="zh-CN" sz="2000" dirty="0" err="1"/>
              <a:t>arithmetic</a:t>
            </a:r>
            <a:endParaRPr lang="de-DE" altLang="zh-CN" sz="2000" dirty="0"/>
          </a:p>
          <a:p>
            <a:pPr marL="342900" indent="-342900"/>
            <a:r>
              <a:rPr lang="de-DE" altLang="zh-CN" sz="2000" dirty="0"/>
              <a:t>Shift (</a:t>
            </a:r>
            <a:r>
              <a:rPr lang="de-DE" altLang="zh-CN" sz="2000" dirty="0" err="1"/>
              <a:t>or</a:t>
            </a:r>
            <a:r>
              <a:rPr lang="de-DE" altLang="zh-CN" sz="2000" dirty="0"/>
              <a:t> Caesar) </a:t>
            </a:r>
            <a:r>
              <a:rPr lang="de-DE" altLang="zh-CN" sz="2000" dirty="0" err="1"/>
              <a:t>Cipher</a:t>
            </a:r>
            <a:r>
              <a:rPr lang="de-DE" altLang="zh-CN" sz="2000" dirty="0"/>
              <a:t>, </a:t>
            </a:r>
            <a:r>
              <a:rPr lang="de-DE" altLang="zh-CN" sz="2000" dirty="0" err="1"/>
              <a:t>Vigenere</a:t>
            </a:r>
            <a:r>
              <a:rPr lang="de-DE" altLang="zh-CN" sz="2000" dirty="0"/>
              <a:t> </a:t>
            </a:r>
            <a:r>
              <a:rPr lang="de-DE" altLang="zh-CN" sz="2000" dirty="0" err="1"/>
              <a:t>Cipher</a:t>
            </a:r>
            <a:r>
              <a:rPr lang="de-DE" altLang="zh-CN" sz="2000" dirty="0"/>
              <a:t> and Affine </a:t>
            </a:r>
            <a:r>
              <a:rPr lang="de-DE" altLang="zh-CN" sz="2000" dirty="0" err="1"/>
              <a:t>Cipher</a:t>
            </a:r>
            <a:endParaRPr lang="de-DE" altLang="zh-CN" sz="2000" dirty="0"/>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4BEC459-0D0D-4A4E-8BAE-29FAAFC5C96A}"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18436" name="Rectangle 2"/>
          <p:cNvSpPr>
            <a:spLocks noGrp="1" noChangeArrowheads="1"/>
          </p:cNvSpPr>
          <p:nvPr>
            <p:ph type="title"/>
          </p:nvPr>
        </p:nvSpPr>
        <p:spPr>
          <a:xfrm>
            <a:off x="471488" y="322263"/>
            <a:ext cx="8204200" cy="515937"/>
          </a:xfrm>
        </p:spPr>
        <p:txBody>
          <a:bodyPr/>
          <a:lstStyle/>
          <a:p>
            <a:pPr>
              <a:buFont typeface="Webdings" panose="05030102010509060703" pitchFamily="2" charset="2"/>
              <a:buNone/>
            </a:pPr>
            <a:r>
              <a:rPr lang="de-DE" altLang="zh-CN" sz="2800"/>
              <a:t>Content of this Chapter</a:t>
            </a:r>
            <a:endParaRPr lang="de-DE" altLang="zh-CN" sz="2800"/>
          </a:p>
        </p:txBody>
      </p:sp>
      <p:sp>
        <p:nvSpPr>
          <p:cNvPr id="18437" name="Rectangle 5"/>
          <p:cNvSpPr>
            <a:spLocks noGrp="1" noChangeArrowheads="1"/>
          </p:cNvSpPr>
          <p:nvPr>
            <p:ph type="body" idx="1"/>
          </p:nvPr>
        </p:nvSpPr>
        <p:spPr>
          <a:xfrm>
            <a:off x="611188" y="1484313"/>
            <a:ext cx="7705228" cy="3039935"/>
          </a:xfrm>
          <a:noFill/>
        </p:spPr>
        <p:txBody>
          <a:bodyPr/>
          <a:lstStyle/>
          <a:p>
            <a:pPr marL="342900" indent="-342900"/>
            <a:r>
              <a:rPr lang="de-DE" altLang="zh-CN" sz="2000" b="1" dirty="0" err="1"/>
              <a:t>Overview</a:t>
            </a:r>
            <a:r>
              <a:rPr lang="de-DE" altLang="zh-CN" sz="2000" b="1" dirty="0"/>
              <a:t> on </a:t>
            </a:r>
            <a:r>
              <a:rPr lang="de-DE" altLang="zh-CN" sz="2000" b="1" dirty="0" err="1"/>
              <a:t>the</a:t>
            </a:r>
            <a:r>
              <a:rPr lang="de-DE" altLang="zh-CN" sz="2000" b="1" dirty="0"/>
              <a:t> </a:t>
            </a:r>
            <a:r>
              <a:rPr lang="de-DE" altLang="zh-CN" sz="2000" b="1" dirty="0" err="1"/>
              <a:t>field</a:t>
            </a:r>
            <a:r>
              <a:rPr lang="de-DE" altLang="zh-CN" sz="2000" b="1" dirty="0"/>
              <a:t> </a:t>
            </a:r>
            <a:r>
              <a:rPr lang="de-DE" altLang="zh-CN" sz="2000" b="1" dirty="0" err="1"/>
              <a:t>of</a:t>
            </a:r>
            <a:r>
              <a:rPr lang="de-DE" altLang="zh-CN" sz="2000" b="1" dirty="0"/>
              <a:t> </a:t>
            </a:r>
            <a:r>
              <a:rPr lang="de-DE" altLang="zh-CN" sz="2000" b="1" dirty="0" err="1"/>
              <a:t>cryptology</a:t>
            </a:r>
            <a:endParaRPr lang="de-DE" altLang="zh-CN" sz="2000" b="1" dirty="0"/>
          </a:p>
          <a:p>
            <a:pPr marL="342900" indent="-342900"/>
            <a:r>
              <a:rPr lang="de-DE" altLang="zh-CN" sz="2000" dirty="0"/>
              <a:t>Basics </a:t>
            </a:r>
            <a:r>
              <a:rPr lang="de-DE" altLang="zh-CN" sz="2000" dirty="0" err="1"/>
              <a:t>of</a:t>
            </a:r>
            <a:r>
              <a:rPr lang="de-DE" altLang="zh-CN" sz="2000" dirty="0"/>
              <a:t> </a:t>
            </a:r>
            <a:r>
              <a:rPr lang="de-DE" altLang="zh-CN" sz="2000" dirty="0" err="1"/>
              <a:t>symmetric</a:t>
            </a:r>
            <a:r>
              <a:rPr lang="de-DE" altLang="zh-CN" sz="2000" dirty="0"/>
              <a:t> </a:t>
            </a:r>
            <a:r>
              <a:rPr lang="de-DE" altLang="zh-CN" sz="2000" dirty="0" err="1"/>
              <a:t>cryptography</a:t>
            </a:r>
            <a:endParaRPr lang="de-DE" altLang="zh-CN" sz="2000" dirty="0"/>
          </a:p>
          <a:p>
            <a:pPr marL="342900" indent="-342900"/>
            <a:r>
              <a:rPr lang="de-DE" altLang="zh-CN" sz="2000" dirty="0"/>
              <a:t>Substitution </a:t>
            </a:r>
            <a:r>
              <a:rPr lang="de-DE" altLang="zh-CN" sz="2000" dirty="0" err="1"/>
              <a:t>Cipher</a:t>
            </a:r>
            <a:endParaRPr lang="de-DE" altLang="zh-CN" sz="2000" dirty="0"/>
          </a:p>
          <a:p>
            <a:pPr marL="342900" indent="-342900"/>
            <a:r>
              <a:rPr lang="de-DE" altLang="zh-CN" sz="2000" dirty="0" err="1"/>
              <a:t>Cryptanalysis</a:t>
            </a:r>
            <a:endParaRPr lang="de-DE" altLang="zh-CN" sz="2000" dirty="0"/>
          </a:p>
          <a:p>
            <a:pPr marL="342900" indent="-342900"/>
            <a:r>
              <a:rPr lang="de-DE" altLang="zh-CN" sz="2000" dirty="0"/>
              <a:t>Modular </a:t>
            </a:r>
            <a:r>
              <a:rPr lang="de-DE" altLang="zh-CN" sz="2000" dirty="0" err="1"/>
              <a:t>arithmetic</a:t>
            </a:r>
            <a:endParaRPr lang="de-DE" altLang="zh-CN" sz="2000" dirty="0"/>
          </a:p>
          <a:p>
            <a:pPr marL="342900" indent="-342900"/>
            <a:r>
              <a:rPr lang="de-DE" altLang="zh-CN" sz="2000" dirty="0"/>
              <a:t>Shift (</a:t>
            </a:r>
            <a:r>
              <a:rPr lang="de-DE" altLang="zh-CN" sz="2000" dirty="0" err="1"/>
              <a:t>or</a:t>
            </a:r>
            <a:r>
              <a:rPr lang="de-DE" altLang="zh-CN" sz="2000" dirty="0"/>
              <a:t> Caesar) </a:t>
            </a:r>
            <a:r>
              <a:rPr lang="de-DE" altLang="zh-CN" sz="2000" dirty="0" err="1"/>
              <a:t>Cipher</a:t>
            </a:r>
            <a:r>
              <a:rPr lang="de-DE" altLang="zh-CN" sz="2000" dirty="0"/>
              <a:t>, </a:t>
            </a:r>
            <a:r>
              <a:rPr lang="de-DE" altLang="zh-CN" sz="2000" dirty="0" err="1"/>
              <a:t>Vigenere</a:t>
            </a:r>
            <a:r>
              <a:rPr lang="de-DE" altLang="zh-CN" sz="2000" dirty="0"/>
              <a:t> </a:t>
            </a:r>
            <a:r>
              <a:rPr lang="de-DE" altLang="zh-CN" sz="2000" dirty="0" err="1"/>
              <a:t>Cipher</a:t>
            </a:r>
            <a:r>
              <a:rPr lang="de-DE" altLang="zh-CN" sz="2000" dirty="0"/>
              <a:t> and Affine </a:t>
            </a:r>
            <a:r>
              <a:rPr lang="de-DE" altLang="zh-CN" sz="2000" dirty="0" err="1"/>
              <a:t>Cipher</a:t>
            </a:r>
            <a:endParaRPr lang="de-DE" altLang="zh-CN" sz="2000" dirty="0"/>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Cryptography and Cybersecurity</a:t>
            </a:r>
            <a:endParaRPr kumimoji="1" lang="zh-CN" altLang="en-US" dirty="0"/>
          </a:p>
        </p:txBody>
      </p:sp>
      <p:sp>
        <p:nvSpPr>
          <p:cNvPr id="3" name="内容占位符 2"/>
          <p:cNvSpPr>
            <a:spLocks noGrp="1"/>
          </p:cNvSpPr>
          <p:nvPr>
            <p:ph idx="1"/>
          </p:nvPr>
        </p:nvSpPr>
        <p:spPr>
          <a:xfrm>
            <a:off x="849313" y="1130300"/>
            <a:ext cx="7827143" cy="1274260"/>
          </a:xfrm>
        </p:spPr>
        <p:txBody>
          <a:bodyPr/>
          <a:lstStyle/>
          <a:p>
            <a:r>
              <a:rPr kumimoji="1" lang="en-US" altLang="zh-CN" sz="2000" dirty="0"/>
              <a:t>If cybersecurity is a Car, cryptography is its engine.</a:t>
            </a:r>
            <a:endParaRPr kumimoji="1" lang="en-US" altLang="zh-CN" sz="2000" dirty="0"/>
          </a:p>
          <a:p>
            <a:r>
              <a:rPr kumimoji="1" lang="en-GB" altLang="zh-CN" sz="2000" dirty="0"/>
              <a:t>It is hard to build secure digital systems without cryptographic algorithms</a:t>
            </a:r>
            <a:r>
              <a:rPr lang="en-GB" altLang="zh-CN" sz="2400" dirty="0">
                <a:effectLst/>
                <a:latin typeface="Helvetica" pitchFamily="2" charset="0"/>
              </a:rPr>
              <a:t>.</a:t>
            </a:r>
            <a:endParaRPr kumimoji="1" lang="zh-CN" altLang="en-US" sz="2000" dirty="0"/>
          </a:p>
        </p:txBody>
      </p:sp>
      <p:sp>
        <p:nvSpPr>
          <p:cNvPr id="4" name="灯片编号占位符 3"/>
          <p:cNvSpPr>
            <a:spLocks noGrp="1"/>
          </p:cNvSpPr>
          <p:nvPr>
            <p:ph type="sldNum" sz="quarter" idx="10"/>
          </p:nvPr>
        </p:nvSpPr>
        <p:spPr/>
        <p:txBody>
          <a:bodyPr/>
          <a:lstStyle/>
          <a:p>
            <a:fld id="{FF793E3B-E8F2-B04A-8335-47426DE3523D}" type="slidenum">
              <a:rPr lang="de-DE" altLang="zh-CN" smtClean="0"/>
            </a:fld>
            <a:r>
              <a:rPr lang="de-DE" altLang="zh-CN"/>
              <a:t>/34</a:t>
            </a:r>
            <a:endParaRPr lang="de-DE" altLang="zh-CN"/>
          </a:p>
        </p:txBody>
      </p:sp>
      <p:pic>
        <p:nvPicPr>
          <p:cNvPr id="5" name="Picture 2" descr="Automobile | Definition, History, Industry, Design, &amp; Facts | Britannic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640" y="2852936"/>
            <a:ext cx="5818584" cy="30769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History of Cryptology</a:t>
            </a:r>
            <a:endParaRPr kumimoji="1" lang="zh-CN" altLang="en-US" dirty="0"/>
          </a:p>
        </p:txBody>
      </p:sp>
      <p:sp>
        <p:nvSpPr>
          <p:cNvPr id="3" name="内容占位符 2"/>
          <p:cNvSpPr>
            <a:spLocks noGrp="1"/>
          </p:cNvSpPr>
          <p:nvPr>
            <p:ph idx="1"/>
          </p:nvPr>
        </p:nvSpPr>
        <p:spPr>
          <a:xfrm>
            <a:off x="849313" y="1130300"/>
            <a:ext cx="7827143" cy="808555"/>
          </a:xfrm>
        </p:spPr>
        <p:txBody>
          <a:bodyPr/>
          <a:lstStyle/>
          <a:p>
            <a:r>
              <a:rPr kumimoji="1" lang="en-US" altLang="zh-CN" sz="2000" dirty="0"/>
              <a:t>2000 B.C. ——</a:t>
            </a:r>
            <a:r>
              <a:rPr kumimoji="1" lang="zh-CN" altLang="en-US" sz="2000" dirty="0"/>
              <a:t> </a:t>
            </a:r>
            <a:r>
              <a:rPr kumimoji="1" lang="en-US" altLang="zh-CN" sz="2000" dirty="0"/>
              <a:t>1970s: Classic Cryptography</a:t>
            </a:r>
            <a:endParaRPr kumimoji="1" lang="en-US" altLang="zh-CN" sz="2000" dirty="0"/>
          </a:p>
          <a:p>
            <a:r>
              <a:rPr kumimoji="1" lang="en-GB" altLang="zh-CN" sz="2000" dirty="0"/>
              <a:t>1970s </a:t>
            </a:r>
            <a:r>
              <a:rPr kumimoji="1" lang="en-US" altLang="zh-CN" sz="2000" dirty="0"/>
              <a:t>——</a:t>
            </a:r>
            <a:r>
              <a:rPr kumimoji="1" lang="zh-CN" altLang="en-US" sz="2000" dirty="0"/>
              <a:t> </a:t>
            </a:r>
            <a:r>
              <a:rPr kumimoji="1" lang="zh-CN" altLang="en-GB" sz="2000" dirty="0"/>
              <a:t>现在</a:t>
            </a:r>
            <a:r>
              <a:rPr kumimoji="1" lang="zh-CN" altLang="en-US" sz="2000" dirty="0"/>
              <a:t>：</a:t>
            </a:r>
            <a:r>
              <a:rPr kumimoji="1" lang="en-US" altLang="zh-CN" sz="2000" dirty="0"/>
              <a:t>Modern</a:t>
            </a:r>
            <a:r>
              <a:rPr kumimoji="1" lang="zh-CN" altLang="en-US" sz="2000" dirty="0"/>
              <a:t> </a:t>
            </a:r>
            <a:r>
              <a:rPr kumimoji="1" lang="en-US" altLang="zh-CN" sz="2000" dirty="0"/>
              <a:t>Cryptography</a:t>
            </a:r>
            <a:endParaRPr kumimoji="1" lang="zh-CN" altLang="en-US" sz="2000" dirty="0"/>
          </a:p>
        </p:txBody>
      </p:sp>
      <p:sp>
        <p:nvSpPr>
          <p:cNvPr id="4" name="灯片编号占位符 3"/>
          <p:cNvSpPr>
            <a:spLocks noGrp="1"/>
          </p:cNvSpPr>
          <p:nvPr>
            <p:ph type="sldNum" sz="quarter" idx="10"/>
          </p:nvPr>
        </p:nvSpPr>
        <p:spPr/>
        <p:txBody>
          <a:bodyPr/>
          <a:lstStyle/>
          <a:p>
            <a:fld id="{FF793E3B-E8F2-B04A-8335-47426DE3523D}" type="slidenum">
              <a:rPr lang="de-DE" altLang="zh-CN" smtClean="0"/>
            </a:fld>
            <a:r>
              <a:rPr lang="de-DE" altLang="zh-CN"/>
              <a:t>/34</a:t>
            </a:r>
            <a:endParaRPr lang="de-DE" altLang="zh-CN"/>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3347864" y="44624"/>
            <a:ext cx="5076572" cy="6700443"/>
          </a:xfrm>
          <a:prstGeom prst="rect">
            <a:avLst/>
          </a:prstGeom>
        </p:spPr>
      </p:pic>
      <p:sp>
        <p:nvSpPr>
          <p:cNvPr id="2" name="文本框 1"/>
          <p:cNvSpPr txBox="1"/>
          <p:nvPr/>
        </p:nvSpPr>
        <p:spPr>
          <a:xfrm>
            <a:off x="251520" y="548680"/>
            <a:ext cx="3203848" cy="1384995"/>
          </a:xfrm>
          <a:prstGeom prst="rect">
            <a:avLst/>
          </a:prstGeom>
          <a:noFill/>
        </p:spPr>
        <p:txBody>
          <a:bodyPr wrap="square" rtlCol="0">
            <a:spAutoFit/>
          </a:bodyPr>
          <a:lstStyle/>
          <a:p>
            <a:r>
              <a:rPr kumimoji="1" lang="en-US" altLang="zh-CN" sz="2800" dirty="0"/>
              <a:t>Very long history:</a:t>
            </a:r>
            <a:endParaRPr kumimoji="1" lang="en-US" altLang="zh-CN" sz="2800" dirty="0"/>
          </a:p>
          <a:p>
            <a:r>
              <a:rPr kumimoji="1" lang="en-US" altLang="zh-CN" sz="2800" dirty="0"/>
              <a:t> since 2000</a:t>
            </a:r>
            <a:r>
              <a:rPr kumimoji="1" lang="zh-CN" altLang="en-US" sz="2800" dirty="0"/>
              <a:t> </a:t>
            </a:r>
            <a:r>
              <a:rPr kumimoji="1" lang="en-US" altLang="zh-CN" sz="2800" dirty="0"/>
              <a:t>B.C. ancient Egypt.</a:t>
            </a:r>
            <a:endParaRPr kumimoji="1" lang="zh-CN" altLang="en-US" sz="2800" dirty="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FF793E3B-E8F2-B04A-8335-47426DE3523D}" type="slidenum">
              <a:rPr lang="de-DE" altLang="zh-CN" smtClean="0"/>
            </a:fld>
            <a:r>
              <a:rPr lang="de-DE" altLang="zh-CN"/>
              <a:t>/34</a:t>
            </a:r>
            <a:endParaRPr lang="de-DE" altLang="zh-CN"/>
          </a:p>
        </p:txBody>
      </p:sp>
      <p:pic>
        <p:nvPicPr>
          <p:cNvPr id="5" name="图片 4"/>
          <p:cNvPicPr>
            <a:picLocks noChangeAspect="1"/>
          </p:cNvPicPr>
          <p:nvPr/>
        </p:nvPicPr>
        <p:blipFill>
          <a:blip r:embed="rId1"/>
          <a:stretch>
            <a:fillRect/>
          </a:stretch>
        </p:blipFill>
        <p:spPr>
          <a:xfrm>
            <a:off x="5441249" y="436815"/>
            <a:ext cx="2548081" cy="5157316"/>
          </a:xfrm>
          <a:prstGeom prst="rect">
            <a:avLst/>
          </a:prstGeom>
        </p:spPr>
      </p:pic>
      <p:sp>
        <p:nvSpPr>
          <p:cNvPr id="6" name="文本框 5"/>
          <p:cNvSpPr txBox="1"/>
          <p:nvPr/>
        </p:nvSpPr>
        <p:spPr>
          <a:xfrm>
            <a:off x="4286580" y="5805264"/>
            <a:ext cx="4857420" cy="584775"/>
          </a:xfrm>
          <a:prstGeom prst="rect">
            <a:avLst/>
          </a:prstGeom>
          <a:noFill/>
        </p:spPr>
        <p:txBody>
          <a:bodyPr wrap="none" rtlCol="0">
            <a:spAutoFit/>
          </a:bodyPr>
          <a:lstStyle/>
          <a:p>
            <a:r>
              <a:rPr kumimoji="1" lang="en-US" altLang="zh-CN" sz="2000" dirty="0"/>
              <a:t>The German Enigma encryption machine</a:t>
            </a:r>
            <a:endParaRPr kumimoji="1" lang="en-US" altLang="zh-CN" sz="2000" dirty="0"/>
          </a:p>
          <a:p>
            <a:r>
              <a:rPr kumimoji="1" lang="en-US" altLang="zh-CN" sz="1200" dirty="0"/>
              <a:t>World War II</a:t>
            </a:r>
            <a:endParaRPr kumimoji="1" lang="en-US" altLang="zh-CN" sz="1200" dirty="0"/>
          </a:p>
        </p:txBody>
      </p:sp>
      <p:pic>
        <p:nvPicPr>
          <p:cNvPr id="8" name="图片 7"/>
          <p:cNvPicPr>
            <a:picLocks noChangeAspect="1"/>
          </p:cNvPicPr>
          <p:nvPr/>
        </p:nvPicPr>
        <p:blipFill>
          <a:blip r:embed="rId2"/>
          <a:stretch>
            <a:fillRect/>
          </a:stretch>
        </p:blipFill>
        <p:spPr>
          <a:xfrm>
            <a:off x="977372" y="539894"/>
            <a:ext cx="3420120" cy="1905212"/>
          </a:xfrm>
          <a:prstGeom prst="rect">
            <a:avLst/>
          </a:prstGeom>
        </p:spPr>
      </p:pic>
      <p:sp>
        <p:nvSpPr>
          <p:cNvPr id="9" name="文本框 8"/>
          <p:cNvSpPr txBox="1"/>
          <p:nvPr/>
        </p:nvSpPr>
        <p:spPr>
          <a:xfrm>
            <a:off x="1681238" y="2430698"/>
            <a:ext cx="2304256" cy="584775"/>
          </a:xfrm>
          <a:prstGeom prst="rect">
            <a:avLst/>
          </a:prstGeom>
          <a:noFill/>
        </p:spPr>
        <p:txBody>
          <a:bodyPr wrap="square" rtlCol="0">
            <a:spAutoFit/>
          </a:bodyPr>
          <a:lstStyle/>
          <a:p>
            <a:r>
              <a:rPr kumimoji="1" lang="en-US" altLang="zh-CN" sz="2000" dirty="0"/>
              <a:t>Scytale of Sparta</a:t>
            </a:r>
            <a:endParaRPr kumimoji="1" lang="en-US" altLang="zh-CN" sz="2000" dirty="0"/>
          </a:p>
          <a:p>
            <a:r>
              <a:rPr kumimoji="1" lang="en-US" altLang="zh-CN" sz="1200" dirty="0"/>
              <a:t>Ancient Greece</a:t>
            </a:r>
            <a:endParaRPr kumimoji="1" lang="zh-CN" altLang="en-US" sz="1200" dirty="0"/>
          </a:p>
        </p:txBody>
      </p:sp>
      <p:pic>
        <p:nvPicPr>
          <p:cNvPr id="4098" name="Picture 2" descr="Caesar Cipher Techniq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3456773"/>
            <a:ext cx="3876294" cy="1621583"/>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1475656" y="5077527"/>
            <a:ext cx="1838965" cy="584775"/>
          </a:xfrm>
          <a:prstGeom prst="rect">
            <a:avLst/>
          </a:prstGeom>
          <a:noFill/>
        </p:spPr>
        <p:txBody>
          <a:bodyPr wrap="none" rtlCol="0">
            <a:spAutoFit/>
          </a:bodyPr>
          <a:lstStyle/>
          <a:p>
            <a:r>
              <a:rPr kumimoji="1" lang="en-US" altLang="zh-CN" sz="2000" dirty="0"/>
              <a:t>Caesar Cipher</a:t>
            </a:r>
            <a:endParaRPr kumimoji="1" lang="en-US" altLang="zh-CN" sz="2000" dirty="0"/>
          </a:p>
          <a:p>
            <a:r>
              <a:rPr kumimoji="1" lang="en-US" altLang="zh-CN" sz="1200" dirty="0"/>
              <a:t>Ancient Rome</a:t>
            </a:r>
            <a:endParaRPr kumimoji="1" lang="en-US" altLang="zh-CN" sz="1200"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ADE8A9F-3A64-F347-BB49-FD6348BF3E13}"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20484" name="Rectangle 2"/>
          <p:cNvSpPr>
            <a:spLocks noGrp="1" noChangeArrowheads="1"/>
          </p:cNvSpPr>
          <p:nvPr>
            <p:ph type="title"/>
          </p:nvPr>
        </p:nvSpPr>
        <p:spPr/>
        <p:txBody>
          <a:bodyPr/>
          <a:lstStyle/>
          <a:p>
            <a:r>
              <a:rPr lang="de-DE" altLang="zh-CN"/>
              <a:t>Classification of the Field of Cryptology</a:t>
            </a:r>
            <a:endParaRPr lang="de-DE" altLang="zh-CN"/>
          </a:p>
        </p:txBody>
      </p:sp>
      <p:grpSp>
        <p:nvGrpSpPr>
          <p:cNvPr id="2" name="Group 54"/>
          <p:cNvGrpSpPr/>
          <p:nvPr/>
        </p:nvGrpSpPr>
        <p:grpSpPr bwMode="auto">
          <a:xfrm>
            <a:off x="4932363" y="1196975"/>
            <a:ext cx="1800225" cy="463550"/>
            <a:chOff x="3107" y="754"/>
            <a:chExt cx="1134" cy="292"/>
          </a:xfrm>
        </p:grpSpPr>
        <p:sp>
          <p:nvSpPr>
            <p:cNvPr id="20523" name="AutoShape 21"/>
            <p:cNvSpPr>
              <a:spLocks noChangeArrowheads="1"/>
            </p:cNvSpPr>
            <p:nvPr/>
          </p:nvSpPr>
          <p:spPr bwMode="auto">
            <a:xfrm>
              <a:off x="3107" y="774"/>
              <a:ext cx="1134" cy="272"/>
            </a:xfrm>
            <a:prstGeom prst="flowChartTerminator">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0524" name="Text Box 29"/>
            <p:cNvSpPr txBox="1">
              <a:spLocks noChangeArrowheads="1"/>
            </p:cNvSpPr>
            <p:nvPr/>
          </p:nvSpPr>
          <p:spPr bwMode="auto">
            <a:xfrm>
              <a:off x="3243" y="754"/>
              <a:ext cx="59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sz="2000"/>
            </a:p>
          </p:txBody>
        </p:sp>
        <p:sp>
          <p:nvSpPr>
            <p:cNvPr id="20525" name="Text Box 30"/>
            <p:cNvSpPr txBox="1">
              <a:spLocks noChangeArrowheads="1"/>
            </p:cNvSpPr>
            <p:nvPr/>
          </p:nvSpPr>
          <p:spPr bwMode="auto">
            <a:xfrm>
              <a:off x="3152" y="819"/>
              <a:ext cx="10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a:t>Cryptology</a:t>
              </a:r>
              <a:endParaRPr lang="de-DE" altLang="zh-CN"/>
            </a:p>
          </p:txBody>
        </p:sp>
      </p:grpSp>
      <p:grpSp>
        <p:nvGrpSpPr>
          <p:cNvPr id="3" name="Group 62"/>
          <p:cNvGrpSpPr/>
          <p:nvPr/>
        </p:nvGrpSpPr>
        <p:grpSpPr bwMode="auto">
          <a:xfrm>
            <a:off x="3132138" y="1660525"/>
            <a:ext cx="5329237" cy="1079500"/>
            <a:chOff x="1973" y="1046"/>
            <a:chExt cx="3357" cy="680"/>
          </a:xfrm>
        </p:grpSpPr>
        <p:grpSp>
          <p:nvGrpSpPr>
            <p:cNvPr id="20513" name="Group 55"/>
            <p:cNvGrpSpPr/>
            <p:nvPr/>
          </p:nvGrpSpPr>
          <p:grpSpPr bwMode="auto">
            <a:xfrm>
              <a:off x="1973" y="1454"/>
              <a:ext cx="1134" cy="272"/>
              <a:chOff x="1973" y="1454"/>
              <a:chExt cx="1134" cy="272"/>
            </a:xfrm>
          </p:grpSpPr>
          <p:sp>
            <p:nvSpPr>
              <p:cNvPr id="20521" name="AutoShape 23"/>
              <p:cNvSpPr>
                <a:spLocks noChangeArrowheads="1"/>
              </p:cNvSpPr>
              <p:nvPr/>
            </p:nvSpPr>
            <p:spPr bwMode="auto">
              <a:xfrm>
                <a:off x="1973" y="1454"/>
                <a:ext cx="1134" cy="272"/>
              </a:xfrm>
              <a:prstGeom prst="flowChartTerminator">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0522" name="Text Box 31"/>
              <p:cNvSpPr txBox="1">
                <a:spLocks noChangeArrowheads="1"/>
              </p:cNvSpPr>
              <p:nvPr/>
            </p:nvSpPr>
            <p:spPr bwMode="auto">
              <a:xfrm>
                <a:off x="2018" y="1499"/>
                <a:ext cx="10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a:t>Cryptography</a:t>
                </a:r>
                <a:endParaRPr lang="de-DE" altLang="zh-CN"/>
              </a:p>
            </p:txBody>
          </p:sp>
        </p:grpSp>
        <p:grpSp>
          <p:nvGrpSpPr>
            <p:cNvPr id="20514" name="Group 56"/>
            <p:cNvGrpSpPr/>
            <p:nvPr/>
          </p:nvGrpSpPr>
          <p:grpSpPr bwMode="auto">
            <a:xfrm>
              <a:off x="4196" y="1454"/>
              <a:ext cx="1134" cy="272"/>
              <a:chOff x="4196" y="1454"/>
              <a:chExt cx="1134" cy="272"/>
            </a:xfrm>
          </p:grpSpPr>
          <p:sp>
            <p:nvSpPr>
              <p:cNvPr id="20519" name="AutoShape 22"/>
              <p:cNvSpPr>
                <a:spLocks noChangeArrowheads="1"/>
              </p:cNvSpPr>
              <p:nvPr/>
            </p:nvSpPr>
            <p:spPr bwMode="auto">
              <a:xfrm>
                <a:off x="4196" y="1454"/>
                <a:ext cx="1134" cy="272"/>
              </a:xfrm>
              <a:prstGeom prst="flowChartTerminator">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0520" name="Text Box 32"/>
              <p:cNvSpPr txBox="1">
                <a:spLocks noChangeArrowheads="1"/>
              </p:cNvSpPr>
              <p:nvPr/>
            </p:nvSpPr>
            <p:spPr bwMode="auto">
              <a:xfrm>
                <a:off x="4241" y="1499"/>
                <a:ext cx="10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a:t>Cryptanalysis</a:t>
                </a:r>
                <a:endParaRPr lang="de-DE" altLang="zh-CN"/>
              </a:p>
            </p:txBody>
          </p:sp>
        </p:grpSp>
        <p:sp>
          <p:nvSpPr>
            <p:cNvPr id="20515" name="Line 40"/>
            <p:cNvSpPr>
              <a:spLocks noChangeShapeType="1"/>
            </p:cNvSpPr>
            <p:nvPr/>
          </p:nvSpPr>
          <p:spPr bwMode="auto">
            <a:xfrm>
              <a:off x="3651" y="1046"/>
              <a:ext cx="0" cy="18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516" name="Line 41"/>
            <p:cNvSpPr>
              <a:spLocks noChangeShapeType="1"/>
            </p:cNvSpPr>
            <p:nvPr/>
          </p:nvSpPr>
          <p:spPr bwMode="auto">
            <a:xfrm>
              <a:off x="2517" y="1227"/>
              <a:ext cx="226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517" name="Line 42"/>
            <p:cNvSpPr>
              <a:spLocks noChangeShapeType="1"/>
            </p:cNvSpPr>
            <p:nvPr/>
          </p:nvSpPr>
          <p:spPr bwMode="auto">
            <a:xfrm>
              <a:off x="2517" y="1227"/>
              <a:ext cx="0" cy="22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518" name="Line 43"/>
            <p:cNvSpPr>
              <a:spLocks noChangeShapeType="1"/>
            </p:cNvSpPr>
            <p:nvPr/>
          </p:nvSpPr>
          <p:spPr bwMode="auto">
            <a:xfrm>
              <a:off x="4785" y="1227"/>
              <a:ext cx="0" cy="22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grpSp>
        <p:nvGrpSpPr>
          <p:cNvPr id="6" name="Group 63"/>
          <p:cNvGrpSpPr/>
          <p:nvPr/>
        </p:nvGrpSpPr>
        <p:grpSpPr bwMode="auto">
          <a:xfrm>
            <a:off x="827088" y="2740025"/>
            <a:ext cx="6408737" cy="1225550"/>
            <a:chOff x="521" y="1726"/>
            <a:chExt cx="4037" cy="772"/>
          </a:xfrm>
        </p:grpSpPr>
        <p:grpSp>
          <p:nvGrpSpPr>
            <p:cNvPr id="20499" name="Group 57"/>
            <p:cNvGrpSpPr/>
            <p:nvPr/>
          </p:nvGrpSpPr>
          <p:grpSpPr bwMode="auto">
            <a:xfrm>
              <a:off x="521" y="2226"/>
              <a:ext cx="1135" cy="272"/>
              <a:chOff x="521" y="2226"/>
              <a:chExt cx="1135" cy="272"/>
            </a:xfrm>
          </p:grpSpPr>
          <p:sp>
            <p:nvSpPr>
              <p:cNvPr id="20511" name="AutoShape 26"/>
              <p:cNvSpPr>
                <a:spLocks noChangeArrowheads="1"/>
              </p:cNvSpPr>
              <p:nvPr/>
            </p:nvSpPr>
            <p:spPr bwMode="auto">
              <a:xfrm>
                <a:off x="521" y="2226"/>
                <a:ext cx="1134" cy="272"/>
              </a:xfrm>
              <a:prstGeom prst="flowChartTerminator">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0512" name="Text Box 33"/>
              <p:cNvSpPr txBox="1">
                <a:spLocks noChangeArrowheads="1"/>
              </p:cNvSpPr>
              <p:nvPr/>
            </p:nvSpPr>
            <p:spPr bwMode="auto">
              <a:xfrm>
                <a:off x="567" y="2271"/>
                <a:ext cx="108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sz="1400" b="1"/>
                  <a:t>Symmetric Ciphers</a:t>
                </a:r>
                <a:endParaRPr lang="de-DE" altLang="zh-CN" sz="1400" b="1"/>
              </a:p>
            </p:txBody>
          </p:sp>
        </p:grpSp>
        <p:grpSp>
          <p:nvGrpSpPr>
            <p:cNvPr id="20500" name="Group 58"/>
            <p:cNvGrpSpPr/>
            <p:nvPr/>
          </p:nvGrpSpPr>
          <p:grpSpPr bwMode="auto">
            <a:xfrm>
              <a:off x="1973" y="2226"/>
              <a:ext cx="1134" cy="272"/>
              <a:chOff x="1973" y="2226"/>
              <a:chExt cx="1134" cy="272"/>
            </a:xfrm>
          </p:grpSpPr>
          <p:sp>
            <p:nvSpPr>
              <p:cNvPr id="20509" name="AutoShape 25"/>
              <p:cNvSpPr>
                <a:spLocks noChangeArrowheads="1"/>
              </p:cNvSpPr>
              <p:nvPr/>
            </p:nvSpPr>
            <p:spPr bwMode="auto">
              <a:xfrm>
                <a:off x="1973" y="2226"/>
                <a:ext cx="1134" cy="272"/>
              </a:xfrm>
              <a:prstGeom prst="flowChartTerminator">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0510" name="Text Box 34"/>
              <p:cNvSpPr txBox="1">
                <a:spLocks noChangeArrowheads="1"/>
              </p:cNvSpPr>
              <p:nvPr/>
            </p:nvSpPr>
            <p:spPr bwMode="auto">
              <a:xfrm>
                <a:off x="1973" y="2271"/>
                <a:ext cx="108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sz="1400" b="1"/>
                  <a:t>Asymmetric Ciphers</a:t>
                </a:r>
                <a:endParaRPr lang="de-DE" altLang="zh-CN" sz="1400" b="1"/>
              </a:p>
            </p:txBody>
          </p:sp>
        </p:grpSp>
        <p:grpSp>
          <p:nvGrpSpPr>
            <p:cNvPr id="20501" name="Group 59"/>
            <p:cNvGrpSpPr/>
            <p:nvPr/>
          </p:nvGrpSpPr>
          <p:grpSpPr bwMode="auto">
            <a:xfrm>
              <a:off x="3424" y="2225"/>
              <a:ext cx="1134" cy="272"/>
              <a:chOff x="3424" y="2225"/>
              <a:chExt cx="1134" cy="272"/>
            </a:xfrm>
          </p:grpSpPr>
          <p:sp>
            <p:nvSpPr>
              <p:cNvPr id="20507" name="AutoShape 24"/>
              <p:cNvSpPr>
                <a:spLocks noChangeArrowheads="1"/>
              </p:cNvSpPr>
              <p:nvPr/>
            </p:nvSpPr>
            <p:spPr bwMode="auto">
              <a:xfrm>
                <a:off x="3424" y="2225"/>
                <a:ext cx="1134" cy="272"/>
              </a:xfrm>
              <a:prstGeom prst="flowChartTerminator">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0508" name="Text Box 35"/>
              <p:cNvSpPr txBox="1">
                <a:spLocks noChangeArrowheads="1"/>
              </p:cNvSpPr>
              <p:nvPr/>
            </p:nvSpPr>
            <p:spPr bwMode="auto">
              <a:xfrm>
                <a:off x="3424" y="2270"/>
                <a:ext cx="108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sz="1400" b="1"/>
                  <a:t>Protocols </a:t>
                </a:r>
                <a:endParaRPr lang="de-DE" altLang="zh-CN" sz="1400" b="1"/>
              </a:p>
            </p:txBody>
          </p:sp>
        </p:grpSp>
        <p:sp>
          <p:nvSpPr>
            <p:cNvPr id="20502" name="Line 44"/>
            <p:cNvSpPr>
              <a:spLocks noChangeShapeType="1"/>
            </p:cNvSpPr>
            <p:nvPr/>
          </p:nvSpPr>
          <p:spPr bwMode="auto">
            <a:xfrm>
              <a:off x="2517" y="1726"/>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503" name="Line 46"/>
            <p:cNvSpPr>
              <a:spLocks noChangeShapeType="1"/>
            </p:cNvSpPr>
            <p:nvPr/>
          </p:nvSpPr>
          <p:spPr bwMode="auto">
            <a:xfrm>
              <a:off x="1111" y="1953"/>
              <a:ext cx="285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504" name="Line 47"/>
            <p:cNvSpPr>
              <a:spLocks noChangeShapeType="1"/>
            </p:cNvSpPr>
            <p:nvPr/>
          </p:nvSpPr>
          <p:spPr bwMode="auto">
            <a:xfrm>
              <a:off x="3969" y="1953"/>
              <a:ext cx="0"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505" name="Line 48"/>
            <p:cNvSpPr>
              <a:spLocks noChangeShapeType="1"/>
            </p:cNvSpPr>
            <p:nvPr/>
          </p:nvSpPr>
          <p:spPr bwMode="auto">
            <a:xfrm>
              <a:off x="2517" y="1953"/>
              <a:ext cx="0"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506" name="Line 49"/>
            <p:cNvSpPr>
              <a:spLocks noChangeShapeType="1"/>
            </p:cNvSpPr>
            <p:nvPr/>
          </p:nvSpPr>
          <p:spPr bwMode="auto">
            <a:xfrm>
              <a:off x="1111" y="1953"/>
              <a:ext cx="0"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grpSp>
        <p:nvGrpSpPr>
          <p:cNvPr id="10" name="Group 64"/>
          <p:cNvGrpSpPr/>
          <p:nvPr/>
        </p:nvGrpSpPr>
        <p:grpSpPr bwMode="auto">
          <a:xfrm>
            <a:off x="252413" y="3963988"/>
            <a:ext cx="4103687" cy="1225550"/>
            <a:chOff x="159" y="2497"/>
            <a:chExt cx="2585" cy="772"/>
          </a:xfrm>
        </p:grpSpPr>
        <p:grpSp>
          <p:nvGrpSpPr>
            <p:cNvPr id="20489" name="Group 60"/>
            <p:cNvGrpSpPr/>
            <p:nvPr/>
          </p:nvGrpSpPr>
          <p:grpSpPr bwMode="auto">
            <a:xfrm>
              <a:off x="159" y="2997"/>
              <a:ext cx="1134" cy="272"/>
              <a:chOff x="159" y="2997"/>
              <a:chExt cx="1134" cy="272"/>
            </a:xfrm>
          </p:grpSpPr>
          <p:sp>
            <p:nvSpPr>
              <p:cNvPr id="20497" name="AutoShape 28"/>
              <p:cNvSpPr>
                <a:spLocks noChangeArrowheads="1"/>
              </p:cNvSpPr>
              <p:nvPr/>
            </p:nvSpPr>
            <p:spPr bwMode="auto">
              <a:xfrm>
                <a:off x="159" y="2997"/>
                <a:ext cx="1134" cy="272"/>
              </a:xfrm>
              <a:prstGeom prst="flowChartTerminator">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0498" name="Text Box 36"/>
              <p:cNvSpPr txBox="1">
                <a:spLocks noChangeArrowheads="1"/>
              </p:cNvSpPr>
              <p:nvPr/>
            </p:nvSpPr>
            <p:spPr bwMode="auto">
              <a:xfrm>
                <a:off x="204" y="3042"/>
                <a:ext cx="108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sz="1400" b="1"/>
                  <a:t>Block Ciphers</a:t>
                </a:r>
                <a:endParaRPr lang="de-DE" altLang="zh-CN" sz="1400" b="1"/>
              </a:p>
            </p:txBody>
          </p:sp>
        </p:grpSp>
        <p:grpSp>
          <p:nvGrpSpPr>
            <p:cNvPr id="20490" name="Group 61"/>
            <p:cNvGrpSpPr/>
            <p:nvPr/>
          </p:nvGrpSpPr>
          <p:grpSpPr bwMode="auto">
            <a:xfrm>
              <a:off x="1610" y="2997"/>
              <a:ext cx="1134" cy="272"/>
              <a:chOff x="1610" y="2997"/>
              <a:chExt cx="1134" cy="272"/>
            </a:xfrm>
          </p:grpSpPr>
          <p:sp>
            <p:nvSpPr>
              <p:cNvPr id="20495" name="AutoShape 27"/>
              <p:cNvSpPr>
                <a:spLocks noChangeArrowheads="1"/>
              </p:cNvSpPr>
              <p:nvPr/>
            </p:nvSpPr>
            <p:spPr bwMode="auto">
              <a:xfrm>
                <a:off x="1610" y="2997"/>
                <a:ext cx="1134" cy="272"/>
              </a:xfrm>
              <a:prstGeom prst="flowChartTerminator">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0496" name="Text Box 37"/>
              <p:cNvSpPr txBox="1">
                <a:spLocks noChangeArrowheads="1"/>
              </p:cNvSpPr>
              <p:nvPr/>
            </p:nvSpPr>
            <p:spPr bwMode="auto">
              <a:xfrm>
                <a:off x="1655" y="3042"/>
                <a:ext cx="108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sz="1400" b="1"/>
                  <a:t>Stream Ciphers</a:t>
                </a:r>
                <a:endParaRPr lang="de-DE" altLang="zh-CN" sz="1400" b="1"/>
              </a:p>
            </p:txBody>
          </p:sp>
        </p:grpSp>
        <p:sp>
          <p:nvSpPr>
            <p:cNvPr id="20491" name="Line 45"/>
            <p:cNvSpPr>
              <a:spLocks noChangeShapeType="1"/>
            </p:cNvSpPr>
            <p:nvPr/>
          </p:nvSpPr>
          <p:spPr bwMode="auto">
            <a:xfrm>
              <a:off x="1111" y="2497"/>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492" name="Line 51"/>
            <p:cNvSpPr>
              <a:spLocks noChangeShapeType="1"/>
            </p:cNvSpPr>
            <p:nvPr/>
          </p:nvSpPr>
          <p:spPr bwMode="auto">
            <a:xfrm>
              <a:off x="703" y="2724"/>
              <a:ext cx="149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493" name="Line 52"/>
            <p:cNvSpPr>
              <a:spLocks noChangeShapeType="1"/>
            </p:cNvSpPr>
            <p:nvPr/>
          </p:nvSpPr>
          <p:spPr bwMode="auto">
            <a:xfrm>
              <a:off x="703" y="2724"/>
              <a:ext cx="0"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494" name="Line 53"/>
            <p:cNvSpPr>
              <a:spLocks noChangeShapeType="1"/>
            </p:cNvSpPr>
            <p:nvPr/>
          </p:nvSpPr>
          <p:spPr bwMode="auto">
            <a:xfrm>
              <a:off x="2200" y="2724"/>
              <a:ext cx="0"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BA07BA5-5999-9A42-936C-3AB356896CBD}"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21508" name="Rectangle 4"/>
          <p:cNvSpPr>
            <a:spLocks noGrp="1" noChangeArrowheads="1"/>
          </p:cNvSpPr>
          <p:nvPr>
            <p:ph type="title"/>
          </p:nvPr>
        </p:nvSpPr>
        <p:spPr/>
        <p:txBody>
          <a:bodyPr/>
          <a:lstStyle/>
          <a:p>
            <a:r>
              <a:rPr lang="de-DE" altLang="zh-CN"/>
              <a:t>Some Basic Facts</a:t>
            </a:r>
            <a:endParaRPr lang="de-DE" altLang="zh-CN"/>
          </a:p>
        </p:txBody>
      </p:sp>
      <p:sp>
        <p:nvSpPr>
          <p:cNvPr id="21509" name="Rectangle 5"/>
          <p:cNvSpPr>
            <a:spLocks noGrp="1" noChangeArrowheads="1"/>
          </p:cNvSpPr>
          <p:nvPr>
            <p:ph type="body" idx="1"/>
          </p:nvPr>
        </p:nvSpPr>
        <p:spPr>
          <a:xfrm>
            <a:off x="827088" y="1341438"/>
            <a:ext cx="7777162" cy="4846637"/>
          </a:xfrm>
        </p:spPr>
        <p:txBody>
          <a:bodyPr/>
          <a:lstStyle/>
          <a:p>
            <a:r>
              <a:rPr lang="de-DE" altLang="zh-CN" b="1" dirty="0" err="1"/>
              <a:t>Ancient</a:t>
            </a:r>
            <a:r>
              <a:rPr lang="de-DE" altLang="zh-CN" b="1" dirty="0"/>
              <a:t> Crypto: </a:t>
            </a:r>
            <a:r>
              <a:rPr lang="de-DE" altLang="zh-CN" dirty="0"/>
              <a:t>Early </a:t>
            </a:r>
            <a:r>
              <a:rPr lang="de-DE" altLang="zh-CN" dirty="0" err="1"/>
              <a:t>signs</a:t>
            </a:r>
            <a:r>
              <a:rPr lang="de-DE" altLang="zh-CN" dirty="0"/>
              <a:t> </a:t>
            </a:r>
            <a:r>
              <a:rPr lang="de-DE" altLang="zh-CN" dirty="0" err="1"/>
              <a:t>of</a:t>
            </a:r>
            <a:r>
              <a:rPr lang="de-DE" altLang="zh-CN" dirty="0"/>
              <a:t> </a:t>
            </a:r>
            <a:r>
              <a:rPr lang="de-DE" altLang="zh-CN" dirty="0" err="1"/>
              <a:t>encryption</a:t>
            </a:r>
            <a:r>
              <a:rPr lang="de-DE" altLang="zh-CN" dirty="0"/>
              <a:t> in </a:t>
            </a:r>
            <a:r>
              <a:rPr lang="de-DE" altLang="zh-CN" dirty="0" err="1"/>
              <a:t>Eqypt</a:t>
            </a:r>
            <a:r>
              <a:rPr lang="de-DE" altLang="zh-CN" dirty="0"/>
              <a:t> in ca. 2000 B.C. </a:t>
            </a:r>
            <a:br>
              <a:rPr lang="de-DE" altLang="zh-CN" dirty="0"/>
            </a:br>
            <a:r>
              <a:rPr lang="de-DE" altLang="zh-CN" dirty="0"/>
              <a:t>Letter-</a:t>
            </a:r>
            <a:r>
              <a:rPr lang="de-DE" altLang="zh-CN" dirty="0" err="1"/>
              <a:t>based</a:t>
            </a:r>
            <a:r>
              <a:rPr lang="de-DE" altLang="zh-CN" dirty="0"/>
              <a:t> </a:t>
            </a:r>
            <a:r>
              <a:rPr lang="de-DE" altLang="zh-CN" dirty="0" err="1"/>
              <a:t>encryption</a:t>
            </a:r>
            <a:r>
              <a:rPr lang="de-DE" altLang="zh-CN" dirty="0"/>
              <a:t> </a:t>
            </a:r>
            <a:r>
              <a:rPr lang="de-DE" altLang="zh-CN" dirty="0" err="1"/>
              <a:t>schemes</a:t>
            </a:r>
            <a:r>
              <a:rPr lang="de-DE" altLang="zh-CN" dirty="0"/>
              <a:t> (e.g., Caesar </a:t>
            </a:r>
            <a:r>
              <a:rPr lang="de-DE" altLang="zh-CN" dirty="0" err="1"/>
              <a:t>cipher</a:t>
            </a:r>
            <a:r>
              <a:rPr lang="de-DE" altLang="zh-CN" dirty="0"/>
              <a:t>) </a:t>
            </a:r>
            <a:r>
              <a:rPr lang="de-DE" altLang="zh-CN" dirty="0" err="1"/>
              <a:t>popular</a:t>
            </a:r>
            <a:r>
              <a:rPr lang="de-DE" altLang="zh-CN" dirty="0"/>
              <a:t> </a:t>
            </a:r>
            <a:r>
              <a:rPr lang="de-DE" altLang="zh-CN" dirty="0" err="1"/>
              <a:t>ever</a:t>
            </a:r>
            <a:r>
              <a:rPr lang="de-DE" altLang="zh-CN" dirty="0"/>
              <a:t> </a:t>
            </a:r>
            <a:r>
              <a:rPr lang="de-DE" altLang="zh-CN" dirty="0" err="1"/>
              <a:t>since</a:t>
            </a:r>
            <a:r>
              <a:rPr lang="de-DE" altLang="zh-CN" dirty="0"/>
              <a:t>.</a:t>
            </a:r>
            <a:endParaRPr lang="de-DE" altLang="zh-CN" dirty="0"/>
          </a:p>
          <a:p>
            <a:endParaRPr lang="de-DE" altLang="zh-CN" dirty="0"/>
          </a:p>
          <a:p>
            <a:r>
              <a:rPr lang="de-DE" altLang="zh-CN" b="1" dirty="0" err="1"/>
              <a:t>Symmetric</a:t>
            </a:r>
            <a:r>
              <a:rPr lang="de-DE" altLang="zh-CN" b="1" dirty="0"/>
              <a:t> </a:t>
            </a:r>
            <a:r>
              <a:rPr lang="de-DE" altLang="zh-CN" b="1" dirty="0" err="1"/>
              <a:t>ciphers</a:t>
            </a:r>
            <a:r>
              <a:rPr lang="de-DE" altLang="zh-CN" b="1" dirty="0"/>
              <a:t>:</a:t>
            </a:r>
            <a:r>
              <a:rPr lang="de-DE" altLang="zh-CN" dirty="0"/>
              <a:t> All </a:t>
            </a:r>
            <a:r>
              <a:rPr lang="de-DE" altLang="zh-CN" dirty="0" err="1"/>
              <a:t>encryption</a:t>
            </a:r>
            <a:r>
              <a:rPr lang="de-DE" altLang="zh-CN" dirty="0"/>
              <a:t> </a:t>
            </a:r>
            <a:r>
              <a:rPr lang="de-DE" altLang="zh-CN" dirty="0" err="1"/>
              <a:t>schemes</a:t>
            </a:r>
            <a:r>
              <a:rPr lang="de-DE" altLang="zh-CN" dirty="0"/>
              <a:t> </a:t>
            </a:r>
            <a:r>
              <a:rPr lang="de-DE" altLang="zh-CN" dirty="0" err="1"/>
              <a:t>from</a:t>
            </a:r>
            <a:r>
              <a:rPr lang="de-DE" altLang="zh-CN" dirty="0"/>
              <a:t> </a:t>
            </a:r>
            <a:r>
              <a:rPr lang="de-DE" altLang="zh-CN" dirty="0" err="1"/>
              <a:t>ancient</a:t>
            </a:r>
            <a:r>
              <a:rPr lang="de-DE" altLang="zh-CN" dirty="0"/>
              <a:t> </a:t>
            </a:r>
            <a:r>
              <a:rPr lang="de-DE" altLang="zh-CN" dirty="0" err="1"/>
              <a:t>times</a:t>
            </a:r>
            <a:r>
              <a:rPr lang="de-DE" altLang="zh-CN" dirty="0"/>
              <a:t> </a:t>
            </a:r>
            <a:r>
              <a:rPr lang="de-DE" altLang="zh-CN" dirty="0" err="1"/>
              <a:t>until</a:t>
            </a:r>
            <a:r>
              <a:rPr lang="de-DE" altLang="zh-CN" dirty="0"/>
              <a:t> 1976 </a:t>
            </a:r>
            <a:r>
              <a:rPr lang="de-DE" altLang="zh-CN" dirty="0" err="1"/>
              <a:t>were</a:t>
            </a:r>
            <a:r>
              <a:rPr lang="de-DE" altLang="zh-CN" dirty="0"/>
              <a:t> </a:t>
            </a:r>
            <a:r>
              <a:rPr lang="de-DE" altLang="zh-CN" dirty="0" err="1"/>
              <a:t>symmetric</a:t>
            </a:r>
            <a:r>
              <a:rPr lang="de-DE" altLang="zh-CN" dirty="0"/>
              <a:t> </a:t>
            </a:r>
            <a:r>
              <a:rPr lang="de-DE" altLang="zh-CN" dirty="0" err="1"/>
              <a:t>ones</a:t>
            </a:r>
            <a:r>
              <a:rPr lang="de-DE" altLang="zh-CN" dirty="0"/>
              <a:t>.</a:t>
            </a:r>
            <a:endParaRPr lang="de-DE" altLang="zh-CN" dirty="0"/>
          </a:p>
          <a:p>
            <a:endParaRPr lang="de-DE" altLang="zh-CN" dirty="0"/>
          </a:p>
          <a:p>
            <a:r>
              <a:rPr lang="de-DE" altLang="zh-CN" b="1" dirty="0" err="1"/>
              <a:t>Asymmetric</a:t>
            </a:r>
            <a:r>
              <a:rPr lang="de-DE" altLang="zh-CN" b="1" dirty="0"/>
              <a:t> </a:t>
            </a:r>
            <a:r>
              <a:rPr lang="de-DE" altLang="zh-CN" b="1" dirty="0" err="1"/>
              <a:t>ciphers</a:t>
            </a:r>
            <a:r>
              <a:rPr lang="de-DE" altLang="zh-CN" b="1" dirty="0"/>
              <a:t>:</a:t>
            </a:r>
            <a:r>
              <a:rPr lang="de-DE" altLang="zh-CN" dirty="0"/>
              <a:t> In 1976 </a:t>
            </a:r>
            <a:r>
              <a:rPr lang="de-DE" altLang="zh-CN" dirty="0" err="1"/>
              <a:t>public-key</a:t>
            </a:r>
            <a:r>
              <a:rPr lang="de-DE" altLang="zh-CN" dirty="0"/>
              <a:t> (</a:t>
            </a:r>
            <a:r>
              <a:rPr lang="de-DE" altLang="zh-CN" dirty="0" err="1"/>
              <a:t>or</a:t>
            </a:r>
            <a:r>
              <a:rPr lang="de-DE" altLang="zh-CN" dirty="0"/>
              <a:t> </a:t>
            </a:r>
            <a:r>
              <a:rPr lang="de-DE" altLang="zh-CN" dirty="0" err="1"/>
              <a:t>asymmetric</a:t>
            </a:r>
            <a:r>
              <a:rPr lang="de-DE" altLang="zh-CN" dirty="0"/>
              <a:t>) </a:t>
            </a:r>
            <a:r>
              <a:rPr lang="de-DE" altLang="zh-CN" dirty="0" err="1"/>
              <a:t>cryptography</a:t>
            </a:r>
            <a:r>
              <a:rPr lang="de-DE" altLang="zh-CN" dirty="0"/>
              <a:t> was </a:t>
            </a:r>
            <a:r>
              <a:rPr lang="de-DE" altLang="zh-CN" dirty="0" err="1"/>
              <a:t>openly</a:t>
            </a:r>
            <a:r>
              <a:rPr lang="de-DE" altLang="zh-CN" dirty="0"/>
              <a:t> </a:t>
            </a:r>
            <a:r>
              <a:rPr lang="de-DE" altLang="zh-CN" dirty="0" err="1"/>
              <a:t>proposed</a:t>
            </a:r>
            <a:r>
              <a:rPr lang="de-DE" altLang="zh-CN" dirty="0"/>
              <a:t> </a:t>
            </a:r>
            <a:r>
              <a:rPr lang="de-DE" altLang="zh-CN" dirty="0" err="1"/>
              <a:t>by</a:t>
            </a:r>
            <a:r>
              <a:rPr lang="de-DE" altLang="zh-CN" dirty="0"/>
              <a:t> Diffie, Hellman and Merkle.</a:t>
            </a:r>
            <a:endParaRPr lang="de-DE" altLang="zh-CN" dirty="0"/>
          </a:p>
          <a:p>
            <a:endParaRPr lang="de-DE" altLang="zh-CN" dirty="0"/>
          </a:p>
          <a:p>
            <a:r>
              <a:rPr lang="de-DE" altLang="zh-CN" b="1" dirty="0"/>
              <a:t>Hybrid Schemes:</a:t>
            </a:r>
            <a:r>
              <a:rPr lang="de-DE" altLang="zh-CN" dirty="0"/>
              <a:t> The </a:t>
            </a:r>
            <a:r>
              <a:rPr lang="de-DE" altLang="zh-CN" dirty="0" err="1"/>
              <a:t>majority</a:t>
            </a:r>
            <a:r>
              <a:rPr lang="de-DE" altLang="zh-CN" dirty="0"/>
              <a:t> </a:t>
            </a:r>
            <a:r>
              <a:rPr lang="de-DE" altLang="zh-CN" dirty="0" err="1"/>
              <a:t>of</a:t>
            </a:r>
            <a:r>
              <a:rPr lang="de-DE" altLang="zh-CN" dirty="0"/>
              <a:t> </a:t>
            </a:r>
            <a:r>
              <a:rPr lang="de-DE" altLang="zh-CN" dirty="0" err="1"/>
              <a:t>today‘s</a:t>
            </a:r>
            <a:r>
              <a:rPr lang="de-DE" altLang="zh-CN" dirty="0"/>
              <a:t> </a:t>
            </a:r>
            <a:r>
              <a:rPr lang="de-DE" altLang="zh-CN" dirty="0" err="1"/>
              <a:t>protocols</a:t>
            </a:r>
            <a:r>
              <a:rPr lang="de-DE" altLang="zh-CN" dirty="0"/>
              <a:t> </a:t>
            </a:r>
            <a:r>
              <a:rPr lang="de-DE" altLang="zh-CN" dirty="0" err="1"/>
              <a:t>are</a:t>
            </a:r>
            <a:r>
              <a:rPr lang="de-DE" altLang="zh-CN" dirty="0"/>
              <a:t> hybrid </a:t>
            </a:r>
            <a:r>
              <a:rPr lang="de-DE" altLang="zh-CN" dirty="0" err="1"/>
              <a:t>schemes</a:t>
            </a:r>
            <a:r>
              <a:rPr lang="de-DE" altLang="zh-CN" dirty="0"/>
              <a:t>, i.e., </a:t>
            </a:r>
            <a:r>
              <a:rPr lang="de-DE" altLang="zh-CN" dirty="0" err="1"/>
              <a:t>the</a:t>
            </a:r>
            <a:r>
              <a:rPr lang="de-DE" altLang="zh-CN" dirty="0"/>
              <a:t> </a:t>
            </a:r>
            <a:r>
              <a:rPr lang="de-DE" altLang="zh-CN" dirty="0" err="1"/>
              <a:t>use</a:t>
            </a:r>
            <a:r>
              <a:rPr lang="de-DE" altLang="zh-CN" dirty="0"/>
              <a:t> </a:t>
            </a:r>
            <a:r>
              <a:rPr lang="de-DE" altLang="zh-CN" dirty="0" err="1"/>
              <a:t>both</a:t>
            </a:r>
            <a:endParaRPr lang="de-DE" altLang="zh-CN" dirty="0"/>
          </a:p>
          <a:p>
            <a:pPr lvl="1"/>
            <a:r>
              <a:rPr lang="de-DE" altLang="zh-CN" dirty="0" err="1"/>
              <a:t>symmteric</a:t>
            </a:r>
            <a:r>
              <a:rPr lang="de-DE" altLang="zh-CN" dirty="0"/>
              <a:t> </a:t>
            </a:r>
            <a:r>
              <a:rPr lang="de-DE" altLang="zh-CN" dirty="0" err="1"/>
              <a:t>ciphers</a:t>
            </a:r>
            <a:r>
              <a:rPr lang="de-DE" altLang="zh-CN" dirty="0"/>
              <a:t> (e.g., </a:t>
            </a:r>
            <a:r>
              <a:rPr lang="de-DE" altLang="zh-CN" dirty="0" err="1"/>
              <a:t>for</a:t>
            </a:r>
            <a:r>
              <a:rPr lang="de-DE" altLang="zh-CN" dirty="0"/>
              <a:t> </a:t>
            </a:r>
            <a:r>
              <a:rPr lang="de-DE" altLang="zh-CN" dirty="0" err="1"/>
              <a:t>encryption</a:t>
            </a:r>
            <a:r>
              <a:rPr lang="de-DE" altLang="zh-CN" dirty="0"/>
              <a:t> and </a:t>
            </a:r>
            <a:r>
              <a:rPr lang="de-DE" altLang="zh-CN" dirty="0" err="1"/>
              <a:t>message</a:t>
            </a:r>
            <a:r>
              <a:rPr lang="de-DE" altLang="zh-CN" dirty="0"/>
              <a:t> </a:t>
            </a:r>
            <a:r>
              <a:rPr lang="de-DE" altLang="zh-CN" dirty="0" err="1"/>
              <a:t>authentication</a:t>
            </a:r>
            <a:r>
              <a:rPr lang="de-DE" altLang="zh-CN" dirty="0"/>
              <a:t>) and</a:t>
            </a:r>
            <a:endParaRPr lang="de-DE" altLang="zh-CN" dirty="0"/>
          </a:p>
          <a:p>
            <a:pPr lvl="1"/>
            <a:r>
              <a:rPr lang="de-DE" altLang="zh-CN" dirty="0" err="1"/>
              <a:t>asymmetric</a:t>
            </a:r>
            <a:r>
              <a:rPr lang="de-DE" altLang="zh-CN" dirty="0"/>
              <a:t> </a:t>
            </a:r>
            <a:r>
              <a:rPr lang="de-DE" altLang="zh-CN" dirty="0" err="1"/>
              <a:t>ciphers</a:t>
            </a:r>
            <a:r>
              <a:rPr lang="de-DE" altLang="zh-CN" dirty="0"/>
              <a:t> (e.g., </a:t>
            </a:r>
            <a:r>
              <a:rPr lang="de-DE" altLang="zh-CN" dirty="0" err="1"/>
              <a:t>for</a:t>
            </a:r>
            <a:r>
              <a:rPr lang="de-DE" altLang="zh-CN" dirty="0"/>
              <a:t> </a:t>
            </a:r>
            <a:r>
              <a:rPr lang="de-DE" altLang="zh-CN" dirty="0" err="1"/>
              <a:t>key</a:t>
            </a:r>
            <a:r>
              <a:rPr lang="de-DE" altLang="zh-CN" dirty="0"/>
              <a:t> </a:t>
            </a:r>
            <a:r>
              <a:rPr lang="de-DE" altLang="zh-CN" dirty="0" err="1"/>
              <a:t>exchange</a:t>
            </a:r>
            <a:r>
              <a:rPr lang="de-DE" altLang="zh-CN" dirty="0"/>
              <a:t> and digital </a:t>
            </a:r>
            <a:r>
              <a:rPr lang="de-DE" altLang="zh-CN" dirty="0" err="1"/>
              <a:t>signature</a:t>
            </a:r>
            <a:r>
              <a:rPr lang="de-DE" altLang="zh-CN" dirty="0"/>
              <a:t>).</a:t>
            </a:r>
            <a:endParaRPr lang="de-DE" altLang="zh-CN" dirty="0"/>
          </a:p>
          <a:p>
            <a:endParaRPr lang="de-DE" altLang="zh-CN" dirty="0"/>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2CE868F-528E-A645-819C-24EE2383F8F8}"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22532" name="Rectangle 2"/>
          <p:cNvSpPr>
            <a:spLocks noGrp="1" noChangeArrowheads="1"/>
          </p:cNvSpPr>
          <p:nvPr>
            <p:ph type="title"/>
          </p:nvPr>
        </p:nvSpPr>
        <p:spPr>
          <a:xfrm>
            <a:off x="471488" y="322263"/>
            <a:ext cx="8204200" cy="515937"/>
          </a:xfrm>
        </p:spPr>
        <p:txBody>
          <a:bodyPr/>
          <a:lstStyle/>
          <a:p>
            <a:pPr>
              <a:buFont typeface="Webdings" panose="05030102010509060703" pitchFamily="2" charset="2"/>
              <a:buNone/>
            </a:pPr>
            <a:r>
              <a:rPr lang="de-DE" altLang="zh-CN" sz="2800"/>
              <a:t>Content of this Chapter</a:t>
            </a:r>
            <a:endParaRPr lang="de-DE" altLang="zh-CN" sz="2800"/>
          </a:p>
        </p:txBody>
      </p:sp>
      <p:sp>
        <p:nvSpPr>
          <p:cNvPr id="22533" name="Rectangle 3"/>
          <p:cNvSpPr>
            <a:spLocks noGrp="1" noChangeArrowheads="1"/>
          </p:cNvSpPr>
          <p:nvPr>
            <p:ph type="body" idx="1"/>
          </p:nvPr>
        </p:nvSpPr>
        <p:spPr>
          <a:xfrm>
            <a:off x="539750" y="1844675"/>
            <a:ext cx="7394575" cy="2667000"/>
          </a:xfrm>
          <a:noFill/>
        </p:spPr>
        <p:txBody>
          <a:bodyPr/>
          <a:lstStyle/>
          <a:p>
            <a:pPr marL="342900" indent="-342900"/>
            <a:r>
              <a:rPr lang="de-DE" altLang="zh-CN" sz="2000" dirty="0" err="1"/>
              <a:t>Overview</a:t>
            </a:r>
            <a:r>
              <a:rPr lang="de-DE" altLang="zh-CN" sz="2000" dirty="0"/>
              <a:t> on </a:t>
            </a:r>
            <a:r>
              <a:rPr lang="de-DE" altLang="zh-CN" sz="2000" dirty="0" err="1"/>
              <a:t>the</a:t>
            </a:r>
            <a:r>
              <a:rPr lang="de-DE" altLang="zh-CN" sz="2000" dirty="0"/>
              <a:t> </a:t>
            </a:r>
            <a:r>
              <a:rPr lang="de-DE" altLang="zh-CN" sz="2000" dirty="0" err="1"/>
              <a:t>field</a:t>
            </a:r>
            <a:r>
              <a:rPr lang="de-DE" altLang="zh-CN" sz="2000" dirty="0"/>
              <a:t> </a:t>
            </a:r>
            <a:r>
              <a:rPr lang="de-DE" altLang="zh-CN" sz="2000" dirty="0" err="1"/>
              <a:t>of</a:t>
            </a:r>
            <a:r>
              <a:rPr lang="de-DE" altLang="zh-CN" sz="2000" dirty="0"/>
              <a:t> </a:t>
            </a:r>
            <a:r>
              <a:rPr lang="de-DE" altLang="zh-CN" sz="2000" dirty="0" err="1"/>
              <a:t>cryptology</a:t>
            </a:r>
            <a:endParaRPr lang="de-DE" altLang="zh-CN" sz="2000" dirty="0"/>
          </a:p>
          <a:p>
            <a:pPr marL="342900" indent="-342900"/>
            <a:r>
              <a:rPr lang="de-DE" altLang="zh-CN" sz="2000" b="1" dirty="0"/>
              <a:t>Basics </a:t>
            </a:r>
            <a:r>
              <a:rPr lang="de-DE" altLang="zh-CN" sz="2000" b="1" dirty="0" err="1"/>
              <a:t>of</a:t>
            </a:r>
            <a:r>
              <a:rPr lang="de-DE" altLang="zh-CN" sz="2000" b="1" dirty="0"/>
              <a:t> </a:t>
            </a:r>
            <a:r>
              <a:rPr lang="de-DE" altLang="zh-CN" sz="2000" b="1" dirty="0" err="1"/>
              <a:t>symmetric</a:t>
            </a:r>
            <a:r>
              <a:rPr lang="de-DE" altLang="zh-CN" sz="2000" b="1" dirty="0"/>
              <a:t> </a:t>
            </a:r>
            <a:r>
              <a:rPr lang="de-DE" altLang="zh-CN" sz="2000" b="1" dirty="0" err="1"/>
              <a:t>cryptography</a:t>
            </a:r>
            <a:endParaRPr lang="de-DE" altLang="zh-CN" sz="2000" b="1" dirty="0"/>
          </a:p>
          <a:p>
            <a:pPr marL="342900" indent="-342900"/>
            <a:r>
              <a:rPr lang="de-DE" altLang="zh-CN" sz="2000" dirty="0"/>
              <a:t>Substitution </a:t>
            </a:r>
            <a:r>
              <a:rPr lang="de-DE" altLang="zh-CN" sz="2000" dirty="0" err="1"/>
              <a:t>Cipher</a:t>
            </a:r>
            <a:endParaRPr lang="de-DE" altLang="zh-CN" sz="2000" dirty="0"/>
          </a:p>
          <a:p>
            <a:pPr marL="342900" indent="-342900"/>
            <a:r>
              <a:rPr lang="de-DE" altLang="zh-CN" sz="2000" dirty="0" err="1"/>
              <a:t>Cryptanalysis</a:t>
            </a:r>
            <a:endParaRPr lang="de-DE" altLang="zh-CN" sz="2000" dirty="0"/>
          </a:p>
          <a:p>
            <a:pPr marL="342900" indent="-342900"/>
            <a:r>
              <a:rPr lang="de-DE" altLang="zh-CN" sz="2000" dirty="0"/>
              <a:t>Modular </a:t>
            </a:r>
            <a:r>
              <a:rPr lang="de-DE" altLang="zh-CN" sz="2000" dirty="0" err="1"/>
              <a:t>arithmetic</a:t>
            </a:r>
            <a:endParaRPr lang="de-DE" altLang="zh-CN" sz="2000" dirty="0"/>
          </a:p>
          <a:p>
            <a:pPr marL="342900" indent="-342900"/>
            <a:r>
              <a:rPr lang="de-DE" altLang="zh-CN" sz="2000" dirty="0"/>
              <a:t>Shift (</a:t>
            </a:r>
            <a:r>
              <a:rPr lang="de-DE" altLang="zh-CN" sz="2000" dirty="0" err="1"/>
              <a:t>or</a:t>
            </a:r>
            <a:r>
              <a:rPr lang="de-DE" altLang="zh-CN" sz="2000" dirty="0"/>
              <a:t> Caesar) </a:t>
            </a:r>
            <a:r>
              <a:rPr lang="de-DE" altLang="zh-CN" sz="2000" dirty="0" err="1"/>
              <a:t>Cipher</a:t>
            </a:r>
            <a:r>
              <a:rPr lang="de-DE" altLang="zh-CN" sz="2000" dirty="0"/>
              <a:t>, </a:t>
            </a:r>
            <a:r>
              <a:rPr lang="de-DE" altLang="zh-CN" sz="2000" dirty="0" err="1"/>
              <a:t>Vigenere</a:t>
            </a:r>
            <a:r>
              <a:rPr lang="de-DE" altLang="zh-CN" sz="2000" dirty="0"/>
              <a:t> </a:t>
            </a:r>
            <a:r>
              <a:rPr lang="de-DE" altLang="zh-CN" sz="2000" dirty="0" err="1"/>
              <a:t>Cipher</a:t>
            </a:r>
            <a:r>
              <a:rPr lang="de-DE" altLang="zh-CN" sz="2000" dirty="0"/>
              <a:t> and Affine </a:t>
            </a:r>
            <a:r>
              <a:rPr lang="de-DE" altLang="zh-CN" sz="2000" dirty="0" err="1"/>
              <a:t>Cipher</a:t>
            </a:r>
            <a:endParaRPr lang="de-DE" altLang="zh-CN" sz="2000" dirty="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11213D3-E163-F447-8D59-5E14C9F0597F}"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23556" name="Rectangle 4"/>
          <p:cNvSpPr>
            <a:spLocks noGrp="1" noChangeArrowheads="1"/>
          </p:cNvSpPr>
          <p:nvPr>
            <p:ph type="title"/>
          </p:nvPr>
        </p:nvSpPr>
        <p:spPr>
          <a:xfrm>
            <a:off x="323850" y="176213"/>
            <a:ext cx="6462713" cy="515937"/>
          </a:xfrm>
        </p:spPr>
        <p:txBody>
          <a:bodyPr/>
          <a:lstStyle/>
          <a:p>
            <a:r>
              <a:rPr lang="de-DE" altLang="zh-CN"/>
              <a:t>Symmetric Cryptography</a:t>
            </a:r>
            <a:endParaRPr lang="de-DE" altLang="zh-CN"/>
          </a:p>
        </p:txBody>
      </p:sp>
      <p:sp>
        <p:nvSpPr>
          <p:cNvPr id="23557" name="Rectangle 5"/>
          <p:cNvSpPr>
            <a:spLocks noGrp="1" noChangeArrowheads="1"/>
          </p:cNvSpPr>
          <p:nvPr>
            <p:ph type="body" idx="1"/>
          </p:nvPr>
        </p:nvSpPr>
        <p:spPr>
          <a:xfrm>
            <a:off x="539750" y="620713"/>
            <a:ext cx="7251700" cy="646844"/>
          </a:xfrm>
        </p:spPr>
        <p:txBody>
          <a:bodyPr/>
          <a:lstStyle/>
          <a:p>
            <a:r>
              <a:rPr lang="de-DE" altLang="zh-CN" dirty="0"/>
              <a:t>Alternative </a:t>
            </a:r>
            <a:r>
              <a:rPr lang="de-DE" altLang="zh-CN" dirty="0" err="1"/>
              <a:t>names</a:t>
            </a:r>
            <a:r>
              <a:rPr lang="de-DE" altLang="zh-CN" dirty="0"/>
              <a:t>: </a:t>
            </a:r>
            <a:r>
              <a:rPr lang="de-DE" altLang="zh-CN" b="1" dirty="0" err="1"/>
              <a:t>symmetic-key</a:t>
            </a:r>
            <a:r>
              <a:rPr lang="de-DE" altLang="zh-CN" dirty="0"/>
              <a:t>, </a:t>
            </a:r>
            <a:r>
              <a:rPr lang="de-DE" altLang="zh-CN" b="1" dirty="0"/>
              <a:t>single-</a:t>
            </a:r>
            <a:r>
              <a:rPr lang="de-DE" altLang="zh-CN" b="1" dirty="0" err="1"/>
              <a:t>key</a:t>
            </a:r>
            <a:r>
              <a:rPr lang="de-DE" altLang="zh-CN" b="1" dirty="0"/>
              <a:t> </a:t>
            </a:r>
            <a:r>
              <a:rPr lang="de-DE" altLang="zh-CN" dirty="0" err="1"/>
              <a:t>or</a:t>
            </a:r>
            <a:r>
              <a:rPr lang="de-DE" altLang="zh-CN" dirty="0"/>
              <a:t> </a:t>
            </a:r>
            <a:r>
              <a:rPr lang="de-DE" altLang="zh-CN" b="1" dirty="0" err="1"/>
              <a:t>secret-key</a:t>
            </a:r>
            <a:r>
              <a:rPr lang="de-DE" altLang="zh-CN" b="1" dirty="0"/>
              <a:t> </a:t>
            </a:r>
            <a:r>
              <a:rPr lang="de-DE" altLang="zh-CN" dirty="0" err="1"/>
              <a:t>cryptography</a:t>
            </a:r>
            <a:r>
              <a:rPr lang="de-DE" altLang="zh-CN" dirty="0"/>
              <a:t>.</a:t>
            </a:r>
            <a:endParaRPr lang="de-DE" altLang="zh-CN" dirty="0"/>
          </a:p>
          <a:p>
            <a:endParaRPr lang="de-DE" altLang="zh-CN" dirty="0"/>
          </a:p>
        </p:txBody>
      </p:sp>
      <p:sp>
        <p:nvSpPr>
          <p:cNvPr id="23558" name="AutoShape 6"/>
          <p:cNvSpPr>
            <a:spLocks noChangeArrowheads="1"/>
          </p:cNvSpPr>
          <p:nvPr/>
        </p:nvSpPr>
        <p:spPr bwMode="auto">
          <a:xfrm>
            <a:off x="2339975" y="3933825"/>
            <a:ext cx="1439863" cy="142875"/>
          </a:xfrm>
          <a:prstGeom prst="flowChartMagneticDrum">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grpSp>
        <p:nvGrpSpPr>
          <p:cNvPr id="2" name="Group 13"/>
          <p:cNvGrpSpPr/>
          <p:nvPr/>
        </p:nvGrpSpPr>
        <p:grpSpPr bwMode="auto">
          <a:xfrm>
            <a:off x="323850" y="2924175"/>
            <a:ext cx="1152525" cy="720725"/>
            <a:chOff x="884" y="1026"/>
            <a:chExt cx="726" cy="454"/>
          </a:xfrm>
        </p:grpSpPr>
        <p:sp>
          <p:nvSpPr>
            <p:cNvPr id="23575" name="AutoShape 14"/>
            <p:cNvSpPr>
              <a:spLocks noChangeArrowheads="1"/>
            </p:cNvSpPr>
            <p:nvPr/>
          </p:nvSpPr>
          <p:spPr bwMode="auto">
            <a:xfrm>
              <a:off x="884" y="1026"/>
              <a:ext cx="726" cy="454"/>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3576" name="Text Box 15"/>
            <p:cNvSpPr txBox="1">
              <a:spLocks noChangeArrowheads="1"/>
            </p:cNvSpPr>
            <p:nvPr/>
          </p:nvSpPr>
          <p:spPr bwMode="auto">
            <a:xfrm>
              <a:off x="930" y="1071"/>
              <a:ext cx="635"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a:t>Alice</a:t>
              </a:r>
              <a:br>
                <a:rPr lang="de-DE" altLang="zh-CN"/>
              </a:br>
              <a:r>
                <a:rPr lang="de-DE" altLang="zh-CN"/>
                <a:t>(good)</a:t>
              </a:r>
              <a:endParaRPr lang="de-DE" altLang="zh-CN"/>
            </a:p>
          </p:txBody>
        </p:sp>
      </p:grpSp>
      <p:grpSp>
        <p:nvGrpSpPr>
          <p:cNvPr id="3" name="Group 16"/>
          <p:cNvGrpSpPr/>
          <p:nvPr/>
        </p:nvGrpSpPr>
        <p:grpSpPr bwMode="auto">
          <a:xfrm>
            <a:off x="7524750" y="2924175"/>
            <a:ext cx="1152525" cy="720725"/>
            <a:chOff x="884" y="1026"/>
            <a:chExt cx="726" cy="454"/>
          </a:xfrm>
        </p:grpSpPr>
        <p:sp>
          <p:nvSpPr>
            <p:cNvPr id="23573" name="AutoShape 17"/>
            <p:cNvSpPr>
              <a:spLocks noChangeArrowheads="1"/>
            </p:cNvSpPr>
            <p:nvPr/>
          </p:nvSpPr>
          <p:spPr bwMode="auto">
            <a:xfrm>
              <a:off x="884" y="1026"/>
              <a:ext cx="726" cy="454"/>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3574" name="Text Box 18"/>
            <p:cNvSpPr txBox="1">
              <a:spLocks noChangeArrowheads="1"/>
            </p:cNvSpPr>
            <p:nvPr/>
          </p:nvSpPr>
          <p:spPr bwMode="auto">
            <a:xfrm>
              <a:off x="930" y="1071"/>
              <a:ext cx="635"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a:t>Bob</a:t>
              </a:r>
              <a:br>
                <a:rPr lang="de-DE" altLang="zh-CN"/>
              </a:br>
              <a:r>
                <a:rPr lang="de-DE" altLang="zh-CN"/>
                <a:t>(good)</a:t>
              </a:r>
              <a:endParaRPr lang="de-DE" altLang="zh-CN"/>
            </a:p>
          </p:txBody>
        </p:sp>
      </p:grpSp>
      <p:grpSp>
        <p:nvGrpSpPr>
          <p:cNvPr id="4" name="Group 19"/>
          <p:cNvGrpSpPr/>
          <p:nvPr/>
        </p:nvGrpSpPr>
        <p:grpSpPr bwMode="auto">
          <a:xfrm>
            <a:off x="4140200" y="1125538"/>
            <a:ext cx="1152525" cy="720725"/>
            <a:chOff x="884" y="1026"/>
            <a:chExt cx="726" cy="454"/>
          </a:xfrm>
        </p:grpSpPr>
        <p:sp>
          <p:nvSpPr>
            <p:cNvPr id="23571" name="AutoShape 20"/>
            <p:cNvSpPr>
              <a:spLocks noChangeArrowheads="1"/>
            </p:cNvSpPr>
            <p:nvPr/>
          </p:nvSpPr>
          <p:spPr bwMode="auto">
            <a:xfrm>
              <a:off x="884" y="1026"/>
              <a:ext cx="726" cy="454"/>
            </a:xfrm>
            <a:prstGeom prst="roundRect">
              <a:avLst>
                <a:gd name="adj" fmla="val 16667"/>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3572" name="Text Box 21"/>
            <p:cNvSpPr txBox="1">
              <a:spLocks noChangeArrowheads="1"/>
            </p:cNvSpPr>
            <p:nvPr/>
          </p:nvSpPr>
          <p:spPr bwMode="auto">
            <a:xfrm>
              <a:off x="930" y="1071"/>
              <a:ext cx="635"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a:solidFill>
                    <a:srgbClr val="FF0000"/>
                  </a:solidFill>
                </a:rPr>
                <a:t>Oscar</a:t>
              </a:r>
              <a:br>
                <a:rPr lang="de-DE" altLang="zh-CN">
                  <a:solidFill>
                    <a:srgbClr val="FF0000"/>
                  </a:solidFill>
                </a:rPr>
              </a:br>
              <a:r>
                <a:rPr lang="de-DE" altLang="zh-CN">
                  <a:solidFill>
                    <a:srgbClr val="FF0000"/>
                  </a:solidFill>
                </a:rPr>
                <a:t>(bad guy)</a:t>
              </a:r>
              <a:endParaRPr lang="de-DE" altLang="zh-CN">
                <a:solidFill>
                  <a:srgbClr val="FF0000"/>
                </a:solidFill>
              </a:endParaRPr>
            </a:p>
          </p:txBody>
        </p:sp>
      </p:grpSp>
      <p:sp>
        <p:nvSpPr>
          <p:cNvPr id="500762" name="Line 26"/>
          <p:cNvSpPr>
            <a:spLocks noChangeShapeType="1"/>
          </p:cNvSpPr>
          <p:nvPr/>
        </p:nvSpPr>
        <p:spPr bwMode="auto">
          <a:xfrm>
            <a:off x="1476375" y="3284538"/>
            <a:ext cx="60483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500765" name="Line 29"/>
          <p:cNvSpPr>
            <a:spLocks noChangeShapeType="1"/>
          </p:cNvSpPr>
          <p:nvPr/>
        </p:nvSpPr>
        <p:spPr bwMode="auto">
          <a:xfrm flipV="1">
            <a:off x="4716463" y="1844675"/>
            <a:ext cx="0" cy="1439863"/>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500766" name="Text Box 30"/>
          <p:cNvSpPr txBox="1">
            <a:spLocks noChangeArrowheads="1"/>
          </p:cNvSpPr>
          <p:nvPr/>
        </p:nvSpPr>
        <p:spPr bwMode="auto">
          <a:xfrm>
            <a:off x="1692275" y="3284538"/>
            <a:ext cx="114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i="1"/>
              <a:t>x</a:t>
            </a:r>
            <a:endParaRPr lang="de-DE" altLang="zh-CN" i="1"/>
          </a:p>
        </p:txBody>
      </p:sp>
      <p:sp>
        <p:nvSpPr>
          <p:cNvPr id="500768" name="Text Box 32"/>
          <p:cNvSpPr txBox="1">
            <a:spLocks noChangeArrowheads="1"/>
          </p:cNvSpPr>
          <p:nvPr/>
        </p:nvSpPr>
        <p:spPr bwMode="auto">
          <a:xfrm>
            <a:off x="7164388" y="3284538"/>
            <a:ext cx="114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i="1"/>
              <a:t>x</a:t>
            </a:r>
            <a:endParaRPr lang="de-DE" altLang="zh-CN" i="1"/>
          </a:p>
        </p:txBody>
      </p:sp>
      <p:grpSp>
        <p:nvGrpSpPr>
          <p:cNvPr id="5" name="Group 33"/>
          <p:cNvGrpSpPr/>
          <p:nvPr/>
        </p:nvGrpSpPr>
        <p:grpSpPr bwMode="auto">
          <a:xfrm>
            <a:off x="3708400" y="1700213"/>
            <a:ext cx="3671888" cy="2089150"/>
            <a:chOff x="2336" y="1071"/>
            <a:chExt cx="2313" cy="1316"/>
          </a:xfrm>
        </p:grpSpPr>
        <p:sp>
          <p:nvSpPr>
            <p:cNvPr id="23568" name="AutoShape 34"/>
            <p:cNvSpPr>
              <a:spLocks noChangeArrowheads="1"/>
            </p:cNvSpPr>
            <p:nvPr/>
          </p:nvSpPr>
          <p:spPr bwMode="auto">
            <a:xfrm>
              <a:off x="2336" y="1752"/>
              <a:ext cx="1043" cy="635"/>
            </a:xfrm>
            <a:prstGeom prst="cloudCallout">
              <a:avLst>
                <a:gd name="adj1" fmla="val -23537"/>
                <a:gd name="adj2" fmla="val 35199"/>
              </a:avLst>
            </a:prstGeom>
            <a:solidFill>
              <a:srgbClr val="FFCC00">
                <a:alpha val="50195"/>
              </a:srgbClr>
            </a:solidFill>
            <a:ln w="9525">
              <a:solidFill>
                <a:schemeClr val="tx1"/>
              </a:solidFill>
              <a:round/>
            </a:ln>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lang="de-DE" altLang="zh-CN"/>
            </a:p>
          </p:txBody>
        </p:sp>
        <p:sp>
          <p:nvSpPr>
            <p:cNvPr id="23569" name="Line 35"/>
            <p:cNvSpPr>
              <a:spLocks noChangeShapeType="1"/>
            </p:cNvSpPr>
            <p:nvPr/>
          </p:nvSpPr>
          <p:spPr bwMode="auto">
            <a:xfrm flipH="1">
              <a:off x="3334" y="1298"/>
              <a:ext cx="408" cy="49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3570" name="Text Box 36"/>
            <p:cNvSpPr txBox="1">
              <a:spLocks noChangeArrowheads="1"/>
            </p:cNvSpPr>
            <p:nvPr/>
          </p:nvSpPr>
          <p:spPr bwMode="auto">
            <a:xfrm>
              <a:off x="3651" y="1071"/>
              <a:ext cx="998"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sz="1600"/>
                <a:t>Unsecure channel </a:t>
              </a:r>
              <a:br>
                <a:rPr lang="de-DE" altLang="zh-CN" sz="1600"/>
              </a:br>
              <a:r>
                <a:rPr lang="de-DE" altLang="zh-CN" sz="1600"/>
                <a:t>(e.g. Internet)</a:t>
              </a:r>
              <a:endParaRPr lang="de-DE" altLang="zh-CN" sz="1600"/>
            </a:p>
          </p:txBody>
        </p:sp>
      </p:grpSp>
      <p:sp>
        <p:nvSpPr>
          <p:cNvPr id="500773" name="Rectangle 37"/>
          <p:cNvSpPr>
            <a:spLocks noChangeArrowheads="1"/>
          </p:cNvSpPr>
          <p:nvPr/>
        </p:nvSpPr>
        <p:spPr bwMode="auto">
          <a:xfrm>
            <a:off x="323850" y="4437063"/>
            <a:ext cx="7251700"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de-DE" altLang="zh-CN" sz="1600" b="1"/>
              <a:t>Problem Statement:</a:t>
            </a:r>
            <a:r>
              <a:rPr lang="de-DE" altLang="zh-CN" sz="1600"/>
              <a:t> </a:t>
            </a:r>
            <a:br>
              <a:rPr lang="de-DE" altLang="zh-CN" sz="1600"/>
            </a:br>
            <a:r>
              <a:rPr lang="de-DE" altLang="zh-CN" sz="1600"/>
              <a:t>1) Alice and Bob would like to communicate via an unsecure channel (e.g., WLAN or Internet). </a:t>
            </a:r>
            <a:br>
              <a:rPr lang="de-DE" altLang="zh-CN" sz="1600"/>
            </a:br>
            <a:r>
              <a:rPr lang="de-DE" altLang="zh-CN" sz="1600"/>
              <a:t>2) A malicious third party Oscar (the bad guy) has channel access but should not be able to understand the communication.</a:t>
            </a:r>
            <a:endParaRPr lang="de-DE" altLang="zh-CN" sz="160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par>
                                <p:cTn id="11" presetID="9" presetClass="entr" presetSubtype="0" fill="hold" nodeType="withEffect">
                                  <p:stCondLst>
                                    <p:cond delay="0"/>
                                  </p:stCondLst>
                                  <p:childTnLst>
                                    <p:set>
                                      <p:cBhvr>
                                        <p:cTn id="12" dur="1" fill="hold">
                                          <p:stCondLst>
                                            <p:cond delay="0"/>
                                          </p:stCondLst>
                                        </p:cTn>
                                        <p:tgtEl>
                                          <p:spTgt spid="500766"/>
                                        </p:tgtEl>
                                        <p:attrNameLst>
                                          <p:attrName>style.visibility</p:attrName>
                                        </p:attrNameLst>
                                      </p:cBhvr>
                                      <p:to>
                                        <p:strVal val="visible"/>
                                      </p:to>
                                    </p:set>
                                    <p:animEffect transition="in" filter="dissolve">
                                      <p:cBhvr>
                                        <p:cTn id="13" dur="500"/>
                                        <p:tgtEl>
                                          <p:spTgt spid="500766"/>
                                        </p:tgtEl>
                                      </p:cBhvr>
                                    </p:animEffect>
                                  </p:childTnLst>
                                </p:cTn>
                              </p:par>
                              <p:par>
                                <p:cTn id="14" presetID="9" presetClass="entr" presetSubtype="0" fill="hold" nodeType="withEffect">
                                  <p:stCondLst>
                                    <p:cond delay="0"/>
                                  </p:stCondLst>
                                  <p:childTnLst>
                                    <p:set>
                                      <p:cBhvr>
                                        <p:cTn id="15" dur="1" fill="hold">
                                          <p:stCondLst>
                                            <p:cond delay="0"/>
                                          </p:stCondLst>
                                        </p:cTn>
                                        <p:tgtEl>
                                          <p:spTgt spid="500762"/>
                                        </p:tgtEl>
                                        <p:attrNameLst>
                                          <p:attrName>style.visibility</p:attrName>
                                        </p:attrNameLst>
                                      </p:cBhvr>
                                      <p:to>
                                        <p:strVal val="visible"/>
                                      </p:to>
                                    </p:set>
                                    <p:animEffect transition="in" filter="dissolve">
                                      <p:cBhvr>
                                        <p:cTn id="16" dur="500"/>
                                        <p:tgtEl>
                                          <p:spTgt spid="500762"/>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500768"/>
                                        </p:tgtEl>
                                        <p:attrNameLst>
                                          <p:attrName>style.visibility</p:attrName>
                                        </p:attrNameLst>
                                      </p:cBhvr>
                                      <p:to>
                                        <p:strVal val="visible"/>
                                      </p:to>
                                    </p:set>
                                    <p:animEffect transition="in" filter="dissolve">
                                      <p:cBhvr>
                                        <p:cTn id="20" dur="500"/>
                                        <p:tgtEl>
                                          <p:spTgt spid="500768"/>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500765"/>
                                        </p:tgtEl>
                                        <p:attrNameLst>
                                          <p:attrName>style.visibility</p:attrName>
                                        </p:attrNameLst>
                                      </p:cBhvr>
                                      <p:to>
                                        <p:strVal val="visible"/>
                                      </p:to>
                                    </p:set>
                                    <p:animEffect transition="in" filter="dissolve">
                                      <p:cBhvr>
                                        <p:cTn id="25" dur="500"/>
                                        <p:tgtEl>
                                          <p:spTgt spid="500765"/>
                                        </p:tgtEl>
                                      </p:cBhvr>
                                    </p:animEffect>
                                  </p:childTnLst>
                                </p:cTn>
                              </p:par>
                              <p:par>
                                <p:cTn id="26" presetID="9" presetClass="entr" presetSubtype="0" fill="hold"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dissolve">
                                      <p:cBhvr>
                                        <p:cTn id="28" dur="500"/>
                                        <p:tgtEl>
                                          <p:spTgt spid="4"/>
                                        </p:tgtEl>
                                      </p:cBhvr>
                                    </p:animEffect>
                                  </p:childTnLst>
                                </p:cTn>
                              </p:par>
                              <p:par>
                                <p:cTn id="29" presetID="9"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dissolv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007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66" grpId="0"/>
      <p:bldP spid="500768" grpId="0"/>
      <p:bldP spid="50077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53B520D-D7F8-CE44-99B2-D385F0AE3553}"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24580" name="Rectangle 5"/>
          <p:cNvSpPr>
            <a:spLocks noGrp="1" noChangeArrowheads="1"/>
          </p:cNvSpPr>
          <p:nvPr>
            <p:ph type="title"/>
          </p:nvPr>
        </p:nvSpPr>
        <p:spPr>
          <a:xfrm>
            <a:off x="179388" y="188913"/>
            <a:ext cx="6462712" cy="515937"/>
          </a:xfrm>
        </p:spPr>
        <p:txBody>
          <a:bodyPr/>
          <a:lstStyle/>
          <a:p>
            <a:r>
              <a:rPr lang="de-DE" altLang="zh-CN"/>
              <a:t>Symmetric Cryptography</a:t>
            </a:r>
            <a:endParaRPr lang="de-DE" altLang="zh-CN"/>
          </a:p>
        </p:txBody>
      </p:sp>
      <p:grpSp>
        <p:nvGrpSpPr>
          <p:cNvPr id="24581" name="Group 9"/>
          <p:cNvGrpSpPr/>
          <p:nvPr/>
        </p:nvGrpSpPr>
        <p:grpSpPr bwMode="auto">
          <a:xfrm>
            <a:off x="682625" y="2525713"/>
            <a:ext cx="1152525" cy="720725"/>
            <a:chOff x="884" y="1026"/>
            <a:chExt cx="726" cy="454"/>
          </a:xfrm>
        </p:grpSpPr>
        <p:sp>
          <p:nvSpPr>
            <p:cNvPr id="24617" name="AutoShape 7"/>
            <p:cNvSpPr>
              <a:spLocks noChangeArrowheads="1"/>
            </p:cNvSpPr>
            <p:nvPr/>
          </p:nvSpPr>
          <p:spPr bwMode="auto">
            <a:xfrm>
              <a:off x="884" y="1026"/>
              <a:ext cx="726" cy="454"/>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4618" name="Text Box 8"/>
            <p:cNvSpPr txBox="1">
              <a:spLocks noChangeArrowheads="1"/>
            </p:cNvSpPr>
            <p:nvPr/>
          </p:nvSpPr>
          <p:spPr bwMode="auto">
            <a:xfrm>
              <a:off x="930" y="1071"/>
              <a:ext cx="635"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a:t>Alice</a:t>
              </a:r>
              <a:br>
                <a:rPr lang="de-DE" altLang="zh-CN"/>
              </a:br>
              <a:r>
                <a:rPr lang="de-DE" altLang="zh-CN"/>
                <a:t>(good)</a:t>
              </a:r>
              <a:endParaRPr lang="de-DE" altLang="zh-CN"/>
            </a:p>
          </p:txBody>
        </p:sp>
      </p:grpSp>
      <p:grpSp>
        <p:nvGrpSpPr>
          <p:cNvPr id="24582" name="Group 10"/>
          <p:cNvGrpSpPr/>
          <p:nvPr/>
        </p:nvGrpSpPr>
        <p:grpSpPr bwMode="auto">
          <a:xfrm>
            <a:off x="7883525" y="2525713"/>
            <a:ext cx="1152525" cy="720725"/>
            <a:chOff x="884" y="1026"/>
            <a:chExt cx="726" cy="454"/>
          </a:xfrm>
        </p:grpSpPr>
        <p:sp>
          <p:nvSpPr>
            <p:cNvPr id="24615" name="AutoShape 11"/>
            <p:cNvSpPr>
              <a:spLocks noChangeArrowheads="1"/>
            </p:cNvSpPr>
            <p:nvPr/>
          </p:nvSpPr>
          <p:spPr bwMode="auto">
            <a:xfrm>
              <a:off x="884" y="1026"/>
              <a:ext cx="726" cy="454"/>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4616" name="Text Box 12"/>
            <p:cNvSpPr txBox="1">
              <a:spLocks noChangeArrowheads="1"/>
            </p:cNvSpPr>
            <p:nvPr/>
          </p:nvSpPr>
          <p:spPr bwMode="auto">
            <a:xfrm>
              <a:off x="930" y="1071"/>
              <a:ext cx="635"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a:t>Bob</a:t>
              </a:r>
              <a:br>
                <a:rPr lang="de-DE" altLang="zh-CN"/>
              </a:br>
              <a:r>
                <a:rPr lang="de-DE" altLang="zh-CN"/>
                <a:t>(good)</a:t>
              </a:r>
              <a:endParaRPr lang="de-DE" altLang="zh-CN"/>
            </a:p>
          </p:txBody>
        </p:sp>
      </p:grpSp>
      <p:grpSp>
        <p:nvGrpSpPr>
          <p:cNvPr id="24583" name="Group 13"/>
          <p:cNvGrpSpPr/>
          <p:nvPr/>
        </p:nvGrpSpPr>
        <p:grpSpPr bwMode="auto">
          <a:xfrm>
            <a:off x="4498975" y="727075"/>
            <a:ext cx="1152525" cy="720725"/>
            <a:chOff x="884" y="1026"/>
            <a:chExt cx="726" cy="454"/>
          </a:xfrm>
        </p:grpSpPr>
        <p:sp>
          <p:nvSpPr>
            <p:cNvPr id="24613" name="AutoShape 14"/>
            <p:cNvSpPr>
              <a:spLocks noChangeArrowheads="1"/>
            </p:cNvSpPr>
            <p:nvPr/>
          </p:nvSpPr>
          <p:spPr bwMode="auto">
            <a:xfrm>
              <a:off x="884" y="1026"/>
              <a:ext cx="726" cy="454"/>
            </a:xfrm>
            <a:prstGeom prst="roundRect">
              <a:avLst>
                <a:gd name="adj" fmla="val 16667"/>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4614" name="Text Box 15"/>
            <p:cNvSpPr txBox="1">
              <a:spLocks noChangeArrowheads="1"/>
            </p:cNvSpPr>
            <p:nvPr/>
          </p:nvSpPr>
          <p:spPr bwMode="auto">
            <a:xfrm>
              <a:off x="930" y="1071"/>
              <a:ext cx="635"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a:solidFill>
                    <a:srgbClr val="FF0000"/>
                  </a:solidFill>
                </a:rPr>
                <a:t>Oscar</a:t>
              </a:r>
              <a:br>
                <a:rPr lang="de-DE" altLang="zh-CN">
                  <a:solidFill>
                    <a:srgbClr val="FF0000"/>
                  </a:solidFill>
                </a:rPr>
              </a:br>
              <a:r>
                <a:rPr lang="de-DE" altLang="zh-CN">
                  <a:solidFill>
                    <a:srgbClr val="FF0000"/>
                  </a:solidFill>
                </a:rPr>
                <a:t>(bad guy)</a:t>
              </a:r>
              <a:endParaRPr lang="de-DE" altLang="zh-CN">
                <a:solidFill>
                  <a:srgbClr val="FF0000"/>
                </a:solidFill>
              </a:endParaRPr>
            </a:p>
          </p:txBody>
        </p:sp>
      </p:grpSp>
      <p:sp>
        <p:nvSpPr>
          <p:cNvPr id="24584" name="Rectangle 16"/>
          <p:cNvSpPr>
            <a:spLocks noChangeArrowheads="1"/>
          </p:cNvSpPr>
          <p:nvPr/>
        </p:nvSpPr>
        <p:spPr bwMode="auto">
          <a:xfrm>
            <a:off x="2409825" y="2598738"/>
            <a:ext cx="1511300" cy="57626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4585" name="Text Box 17"/>
          <p:cNvSpPr txBox="1">
            <a:spLocks noChangeArrowheads="1"/>
          </p:cNvSpPr>
          <p:nvPr/>
        </p:nvSpPr>
        <p:spPr bwMode="auto">
          <a:xfrm>
            <a:off x="2409825" y="2670175"/>
            <a:ext cx="15113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sz="1600" b="1"/>
              <a:t>Encryption</a:t>
            </a:r>
            <a:br>
              <a:rPr lang="de-DE" altLang="zh-CN" sz="1600" b="1"/>
            </a:br>
            <a:r>
              <a:rPr lang="de-DE" altLang="zh-CN" sz="1600" b="1"/>
              <a:t>e( )</a:t>
            </a:r>
            <a:endParaRPr lang="de-DE" altLang="zh-CN" sz="1600" b="1"/>
          </a:p>
        </p:txBody>
      </p:sp>
      <p:grpSp>
        <p:nvGrpSpPr>
          <p:cNvPr id="24586" name="Group 19"/>
          <p:cNvGrpSpPr/>
          <p:nvPr/>
        </p:nvGrpSpPr>
        <p:grpSpPr bwMode="auto">
          <a:xfrm>
            <a:off x="2409825" y="4110038"/>
            <a:ext cx="1511300" cy="576262"/>
            <a:chOff x="1474" y="2704"/>
            <a:chExt cx="952" cy="409"/>
          </a:xfrm>
        </p:grpSpPr>
        <p:sp>
          <p:nvSpPr>
            <p:cNvPr id="24611" name="Rectangle 20"/>
            <p:cNvSpPr>
              <a:spLocks noChangeArrowheads="1"/>
            </p:cNvSpPr>
            <p:nvPr/>
          </p:nvSpPr>
          <p:spPr bwMode="auto">
            <a:xfrm>
              <a:off x="1474" y="2704"/>
              <a:ext cx="952" cy="409"/>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4612" name="Text Box 21"/>
            <p:cNvSpPr txBox="1">
              <a:spLocks noChangeArrowheads="1"/>
            </p:cNvSpPr>
            <p:nvPr/>
          </p:nvSpPr>
          <p:spPr bwMode="auto">
            <a:xfrm>
              <a:off x="1474" y="2795"/>
              <a:ext cx="95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sz="1200" b="1"/>
                <a:t>Key Generator</a:t>
              </a:r>
              <a:endParaRPr lang="de-DE" altLang="zh-CN" sz="1200" b="1"/>
            </a:p>
          </p:txBody>
        </p:sp>
      </p:grpSp>
      <p:sp>
        <p:nvSpPr>
          <p:cNvPr id="24587" name="Rectangle 23"/>
          <p:cNvSpPr>
            <a:spLocks noChangeArrowheads="1"/>
          </p:cNvSpPr>
          <p:nvPr/>
        </p:nvSpPr>
        <p:spPr bwMode="auto">
          <a:xfrm>
            <a:off x="5867400" y="2598738"/>
            <a:ext cx="1511300" cy="57626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4588" name="Text Box 24"/>
          <p:cNvSpPr txBox="1">
            <a:spLocks noChangeArrowheads="1"/>
          </p:cNvSpPr>
          <p:nvPr/>
        </p:nvSpPr>
        <p:spPr bwMode="auto">
          <a:xfrm>
            <a:off x="5867400" y="2670175"/>
            <a:ext cx="15113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sz="1600" b="1"/>
              <a:t>Decryption</a:t>
            </a:r>
            <a:br>
              <a:rPr lang="de-DE" altLang="zh-CN" sz="1600" b="1"/>
            </a:br>
            <a:r>
              <a:rPr lang="de-DE" altLang="zh-CN" sz="1600" b="1"/>
              <a:t>d( )</a:t>
            </a:r>
            <a:endParaRPr lang="de-DE" altLang="zh-CN" sz="1600" b="1"/>
          </a:p>
        </p:txBody>
      </p:sp>
      <p:grpSp>
        <p:nvGrpSpPr>
          <p:cNvPr id="24589" name="Group 40"/>
          <p:cNvGrpSpPr/>
          <p:nvPr/>
        </p:nvGrpSpPr>
        <p:grpSpPr bwMode="auto">
          <a:xfrm>
            <a:off x="4210050" y="4183063"/>
            <a:ext cx="1657350" cy="685800"/>
            <a:chOff x="2426" y="2886"/>
            <a:chExt cx="1044" cy="432"/>
          </a:xfrm>
        </p:grpSpPr>
        <p:sp>
          <p:nvSpPr>
            <p:cNvPr id="24609" name="AutoShape 25"/>
            <p:cNvSpPr>
              <a:spLocks noChangeArrowheads="1"/>
            </p:cNvSpPr>
            <p:nvPr/>
          </p:nvSpPr>
          <p:spPr bwMode="auto">
            <a:xfrm>
              <a:off x="2562" y="2886"/>
              <a:ext cx="772" cy="272"/>
            </a:xfrm>
            <a:prstGeom prst="flowChartMagneticDrum">
              <a:avLst/>
            </a:prstGeom>
            <a:solidFill>
              <a:schemeClr val="bg1"/>
            </a:solidFill>
            <a:ln w="9525">
              <a:solidFill>
                <a:schemeClr val="tx1"/>
              </a:solidFill>
              <a:round/>
            </a:ln>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24610" name="Text Box 26"/>
            <p:cNvSpPr txBox="1">
              <a:spLocks noChangeArrowheads="1"/>
            </p:cNvSpPr>
            <p:nvPr/>
          </p:nvSpPr>
          <p:spPr bwMode="auto">
            <a:xfrm>
              <a:off x="2426" y="3203"/>
              <a:ext cx="104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sz="1200" b="1"/>
                <a:t>Secure Channel</a:t>
              </a:r>
              <a:endParaRPr lang="de-DE" altLang="zh-CN" sz="1200" b="1"/>
            </a:p>
          </p:txBody>
        </p:sp>
      </p:grpSp>
      <p:sp>
        <p:nvSpPr>
          <p:cNvPr id="24590" name="Line 28"/>
          <p:cNvSpPr>
            <a:spLocks noChangeShapeType="1"/>
          </p:cNvSpPr>
          <p:nvPr/>
        </p:nvSpPr>
        <p:spPr bwMode="auto">
          <a:xfrm>
            <a:off x="1835150" y="2886075"/>
            <a:ext cx="5746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91" name="Line 29"/>
          <p:cNvSpPr>
            <a:spLocks noChangeShapeType="1"/>
          </p:cNvSpPr>
          <p:nvPr/>
        </p:nvSpPr>
        <p:spPr bwMode="auto">
          <a:xfrm>
            <a:off x="3922713" y="2886075"/>
            <a:ext cx="194468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92" name="Line 30"/>
          <p:cNvSpPr>
            <a:spLocks noChangeShapeType="1"/>
          </p:cNvSpPr>
          <p:nvPr/>
        </p:nvSpPr>
        <p:spPr bwMode="auto">
          <a:xfrm>
            <a:off x="7378700" y="2886075"/>
            <a:ext cx="5048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93" name="Line 31"/>
          <p:cNvSpPr>
            <a:spLocks noChangeShapeType="1"/>
          </p:cNvSpPr>
          <p:nvPr/>
        </p:nvSpPr>
        <p:spPr bwMode="auto">
          <a:xfrm flipV="1">
            <a:off x="5075238" y="1446213"/>
            <a:ext cx="0" cy="143986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94" name="Line 32"/>
          <p:cNvSpPr>
            <a:spLocks noChangeShapeType="1"/>
          </p:cNvSpPr>
          <p:nvPr/>
        </p:nvSpPr>
        <p:spPr bwMode="auto">
          <a:xfrm flipV="1">
            <a:off x="3201988" y="3175000"/>
            <a:ext cx="0" cy="9350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95" name="Line 33"/>
          <p:cNvSpPr>
            <a:spLocks noChangeShapeType="1"/>
          </p:cNvSpPr>
          <p:nvPr/>
        </p:nvSpPr>
        <p:spPr bwMode="auto">
          <a:xfrm>
            <a:off x="3922713" y="4398963"/>
            <a:ext cx="27368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96" name="Line 34"/>
          <p:cNvSpPr>
            <a:spLocks noChangeShapeType="1"/>
          </p:cNvSpPr>
          <p:nvPr/>
        </p:nvSpPr>
        <p:spPr bwMode="auto">
          <a:xfrm flipV="1">
            <a:off x="6659563" y="3175000"/>
            <a:ext cx="0" cy="12239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597" name="Text Box 35"/>
          <p:cNvSpPr txBox="1">
            <a:spLocks noChangeArrowheads="1"/>
          </p:cNvSpPr>
          <p:nvPr/>
        </p:nvSpPr>
        <p:spPr bwMode="auto">
          <a:xfrm>
            <a:off x="3275013" y="3535363"/>
            <a:ext cx="2889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de-DE" altLang="zh-CN" i="1"/>
              <a:t>K</a:t>
            </a:r>
            <a:endParaRPr lang="de-DE" altLang="zh-CN" i="1"/>
          </a:p>
        </p:txBody>
      </p:sp>
      <p:sp>
        <p:nvSpPr>
          <p:cNvPr id="24598" name="Text Box 36"/>
          <p:cNvSpPr txBox="1">
            <a:spLocks noChangeArrowheads="1"/>
          </p:cNvSpPr>
          <p:nvPr/>
        </p:nvSpPr>
        <p:spPr bwMode="auto">
          <a:xfrm>
            <a:off x="2051050" y="2886075"/>
            <a:ext cx="114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i="1"/>
              <a:t>x</a:t>
            </a:r>
            <a:endParaRPr lang="de-DE" altLang="zh-CN" i="1"/>
          </a:p>
        </p:txBody>
      </p:sp>
      <p:sp>
        <p:nvSpPr>
          <p:cNvPr id="24599" name="Text Box 37"/>
          <p:cNvSpPr txBox="1">
            <a:spLocks noChangeArrowheads="1"/>
          </p:cNvSpPr>
          <p:nvPr/>
        </p:nvSpPr>
        <p:spPr bwMode="auto">
          <a:xfrm>
            <a:off x="4859338" y="2886075"/>
            <a:ext cx="114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i="1"/>
              <a:t>y</a:t>
            </a:r>
            <a:endParaRPr lang="de-DE" altLang="zh-CN" i="1"/>
          </a:p>
        </p:txBody>
      </p:sp>
      <p:sp>
        <p:nvSpPr>
          <p:cNvPr id="24600" name="Text Box 38"/>
          <p:cNvSpPr txBox="1">
            <a:spLocks noChangeArrowheads="1"/>
          </p:cNvSpPr>
          <p:nvPr/>
        </p:nvSpPr>
        <p:spPr bwMode="auto">
          <a:xfrm>
            <a:off x="6731000" y="3535363"/>
            <a:ext cx="2889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de-DE" altLang="zh-CN" i="1"/>
              <a:t>K</a:t>
            </a:r>
            <a:endParaRPr lang="de-DE" altLang="zh-CN" i="1"/>
          </a:p>
        </p:txBody>
      </p:sp>
      <p:sp>
        <p:nvSpPr>
          <p:cNvPr id="24601" name="Text Box 39"/>
          <p:cNvSpPr txBox="1">
            <a:spLocks noChangeArrowheads="1"/>
          </p:cNvSpPr>
          <p:nvPr/>
        </p:nvSpPr>
        <p:spPr bwMode="auto">
          <a:xfrm>
            <a:off x="7523163" y="2886075"/>
            <a:ext cx="114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i="1"/>
              <a:t>x</a:t>
            </a:r>
            <a:endParaRPr lang="de-DE" altLang="zh-CN" i="1"/>
          </a:p>
        </p:txBody>
      </p:sp>
      <p:grpSp>
        <p:nvGrpSpPr>
          <p:cNvPr id="24602" name="Group 45"/>
          <p:cNvGrpSpPr/>
          <p:nvPr/>
        </p:nvGrpSpPr>
        <p:grpSpPr bwMode="auto">
          <a:xfrm>
            <a:off x="4067175" y="1301750"/>
            <a:ext cx="3671888" cy="2089150"/>
            <a:chOff x="2336" y="1071"/>
            <a:chExt cx="2313" cy="1316"/>
          </a:xfrm>
        </p:grpSpPr>
        <p:sp>
          <p:nvSpPr>
            <p:cNvPr id="24606" name="AutoShape 42"/>
            <p:cNvSpPr>
              <a:spLocks noChangeArrowheads="1"/>
            </p:cNvSpPr>
            <p:nvPr/>
          </p:nvSpPr>
          <p:spPr bwMode="auto">
            <a:xfrm>
              <a:off x="2336" y="1752"/>
              <a:ext cx="1043" cy="635"/>
            </a:xfrm>
            <a:prstGeom prst="cloudCallout">
              <a:avLst>
                <a:gd name="adj1" fmla="val -23537"/>
                <a:gd name="adj2" fmla="val 35199"/>
              </a:avLst>
            </a:prstGeom>
            <a:solidFill>
              <a:srgbClr val="FFCC00">
                <a:alpha val="50195"/>
              </a:srgbClr>
            </a:solidFill>
            <a:ln w="9525">
              <a:solidFill>
                <a:schemeClr val="tx1"/>
              </a:solidFill>
              <a:round/>
            </a:ln>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lang="de-DE" altLang="zh-CN"/>
            </a:p>
          </p:txBody>
        </p:sp>
        <p:sp>
          <p:nvSpPr>
            <p:cNvPr id="24607" name="Line 43"/>
            <p:cNvSpPr>
              <a:spLocks noChangeShapeType="1"/>
            </p:cNvSpPr>
            <p:nvPr/>
          </p:nvSpPr>
          <p:spPr bwMode="auto">
            <a:xfrm flipH="1">
              <a:off x="3334" y="1298"/>
              <a:ext cx="408" cy="49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608" name="Text Box 44"/>
            <p:cNvSpPr txBox="1">
              <a:spLocks noChangeArrowheads="1"/>
            </p:cNvSpPr>
            <p:nvPr/>
          </p:nvSpPr>
          <p:spPr bwMode="auto">
            <a:xfrm>
              <a:off x="3651" y="1071"/>
              <a:ext cx="998"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de-DE" altLang="zh-CN" sz="1600"/>
                <a:t>Unsecure channel </a:t>
              </a:r>
              <a:br>
                <a:rPr lang="de-DE" altLang="zh-CN" sz="1600"/>
              </a:br>
              <a:r>
                <a:rPr lang="de-DE" altLang="zh-CN" sz="1600"/>
                <a:t>(e.g. Internet)</a:t>
              </a:r>
              <a:endParaRPr lang="de-DE" altLang="zh-CN" sz="1600"/>
            </a:p>
          </p:txBody>
        </p:sp>
      </p:grpSp>
      <p:sp>
        <p:nvSpPr>
          <p:cNvPr id="24603" name="Rectangle 47"/>
          <p:cNvSpPr>
            <a:spLocks noGrp="1" noChangeArrowheads="1"/>
          </p:cNvSpPr>
          <p:nvPr>
            <p:ph type="body" idx="1"/>
          </p:nvPr>
        </p:nvSpPr>
        <p:spPr>
          <a:xfrm>
            <a:off x="179388" y="4970463"/>
            <a:ext cx="5040312" cy="1411287"/>
          </a:xfrm>
          <a:noFill/>
        </p:spPr>
        <p:txBody>
          <a:bodyPr/>
          <a:lstStyle/>
          <a:p>
            <a:pPr marL="342900" indent="-342900"/>
            <a:r>
              <a:rPr lang="de-DE" altLang="zh-CN"/>
              <a:t>x is the. </a:t>
            </a:r>
            <a:r>
              <a:rPr lang="de-DE" altLang="zh-CN" b="1"/>
              <a:t>plaintext</a:t>
            </a:r>
            <a:endParaRPr lang="de-DE" altLang="zh-CN" b="1"/>
          </a:p>
          <a:p>
            <a:pPr marL="342900" indent="-342900"/>
            <a:r>
              <a:rPr lang="de-DE" altLang="zh-CN"/>
              <a:t>y is the </a:t>
            </a:r>
            <a:r>
              <a:rPr lang="de-DE" altLang="zh-CN" b="1"/>
              <a:t>ciphertext</a:t>
            </a:r>
            <a:endParaRPr lang="de-DE" altLang="zh-CN" b="1"/>
          </a:p>
          <a:p>
            <a:pPr marL="342900" indent="-342900"/>
            <a:r>
              <a:rPr lang="de-DE" altLang="zh-CN" i="1"/>
              <a:t>K</a:t>
            </a:r>
            <a:r>
              <a:rPr lang="de-DE" altLang="zh-CN"/>
              <a:t> is the </a:t>
            </a:r>
            <a:r>
              <a:rPr lang="de-DE" altLang="zh-CN" b="1"/>
              <a:t>key</a:t>
            </a:r>
            <a:endParaRPr lang="de-DE" altLang="zh-CN" b="1"/>
          </a:p>
          <a:p>
            <a:pPr marL="342900" indent="-342900"/>
            <a:r>
              <a:rPr lang="de-DE" altLang="zh-CN"/>
              <a:t>Set of all keys {</a:t>
            </a:r>
            <a:r>
              <a:rPr lang="de-DE" altLang="zh-CN" i="1"/>
              <a:t>K</a:t>
            </a:r>
            <a:r>
              <a:rPr lang="de-DE" altLang="zh-CN"/>
              <a:t>1, </a:t>
            </a:r>
            <a:r>
              <a:rPr lang="de-DE" altLang="zh-CN" i="1"/>
              <a:t>K</a:t>
            </a:r>
            <a:r>
              <a:rPr lang="de-DE" altLang="zh-CN"/>
              <a:t>2, ...,</a:t>
            </a:r>
            <a:r>
              <a:rPr lang="de-DE" altLang="zh-CN" i="1"/>
              <a:t>Kn</a:t>
            </a:r>
            <a:r>
              <a:rPr lang="de-DE" altLang="zh-CN"/>
              <a:t>} is the </a:t>
            </a:r>
            <a:r>
              <a:rPr lang="de-DE" altLang="zh-CN" b="1"/>
              <a:t>key space</a:t>
            </a:r>
            <a:endParaRPr lang="de-DE" altLang="zh-CN" b="1"/>
          </a:p>
        </p:txBody>
      </p:sp>
      <p:sp>
        <p:nvSpPr>
          <p:cNvPr id="24604" name="Rectangle 70"/>
          <p:cNvSpPr>
            <a:spLocks noChangeArrowheads="1"/>
          </p:cNvSpPr>
          <p:nvPr/>
        </p:nvSpPr>
        <p:spPr bwMode="auto">
          <a:xfrm>
            <a:off x="179388" y="908050"/>
            <a:ext cx="4067175"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pPr>
            <a:r>
              <a:rPr lang="de-DE" altLang="zh-CN" sz="1600" b="1"/>
              <a:t>Solution:</a:t>
            </a:r>
            <a:r>
              <a:rPr lang="de-DE" altLang="zh-CN" sz="1600"/>
              <a:t> Encryption with symmetric cipher. </a:t>
            </a:r>
            <a:br>
              <a:rPr lang="de-DE" altLang="zh-CN" sz="1600"/>
            </a:br>
            <a:r>
              <a:rPr lang="de-DE" altLang="zh-CN" sz="1600">
                <a:sym typeface="Symbol" panose="05050102010706020507" pitchFamily="2" charset="2"/>
              </a:rPr>
              <a:t> Oscar obtains only ciphertext y, that looks like random bits</a:t>
            </a:r>
            <a:endParaRPr lang="de-DE" altLang="zh-CN" sz="1600"/>
          </a:p>
        </p:txBody>
      </p:sp>
      <p:sp>
        <p:nvSpPr>
          <p:cNvPr id="24605" name="Text Box 71"/>
          <p:cNvSpPr txBox="1">
            <a:spLocks noChangeArrowheads="1"/>
          </p:cNvSpPr>
          <p:nvPr/>
        </p:nvSpPr>
        <p:spPr bwMode="auto">
          <a:xfrm>
            <a:off x="4816475" y="1662113"/>
            <a:ext cx="114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i="1"/>
              <a:t>y</a:t>
            </a:r>
            <a:endParaRPr lang="de-DE" altLang="zh-CN" i="1"/>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BCFC3AE-5F52-5143-9D3D-11A752AC4A49}"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25604" name="Rectangle 2"/>
          <p:cNvSpPr>
            <a:spLocks noGrp="1" noChangeArrowheads="1"/>
          </p:cNvSpPr>
          <p:nvPr>
            <p:ph type="title"/>
          </p:nvPr>
        </p:nvSpPr>
        <p:spPr/>
        <p:txBody>
          <a:bodyPr/>
          <a:lstStyle/>
          <a:p>
            <a:r>
              <a:rPr lang="de-DE" altLang="zh-CN"/>
              <a:t>Symmetric Cryptography</a:t>
            </a:r>
            <a:endParaRPr lang="de-DE" altLang="zh-CN"/>
          </a:p>
        </p:txBody>
      </p:sp>
      <p:sp>
        <p:nvSpPr>
          <p:cNvPr id="25605" name="Rectangle 3"/>
          <p:cNvSpPr>
            <a:spLocks noGrp="1" noChangeArrowheads="1"/>
          </p:cNvSpPr>
          <p:nvPr>
            <p:ph type="body" idx="1"/>
          </p:nvPr>
        </p:nvSpPr>
        <p:spPr>
          <a:xfrm>
            <a:off x="2232025" y="1196975"/>
            <a:ext cx="4679950" cy="700088"/>
          </a:xfrm>
          <a:noFill/>
          <a:ln w="25400">
            <a:solidFill>
              <a:srgbClr val="FF0000"/>
            </a:solidFill>
            <a:miter lim="800000"/>
          </a:ln>
        </p:spPr>
        <p:txBody>
          <a:bodyPr/>
          <a:lstStyle/>
          <a:p>
            <a:pPr algn="ctr"/>
            <a:r>
              <a:rPr lang="de-DE" altLang="zh-CN"/>
              <a:t>Encryption equation	</a:t>
            </a:r>
            <a:r>
              <a:rPr lang="de-DE" altLang="zh-CN" b="1"/>
              <a:t>y = e</a:t>
            </a:r>
            <a:r>
              <a:rPr lang="de-DE" altLang="zh-CN" b="1" baseline="-25000"/>
              <a:t>K</a:t>
            </a:r>
            <a:r>
              <a:rPr lang="de-DE" altLang="zh-CN" b="1"/>
              <a:t>(x)</a:t>
            </a:r>
            <a:endParaRPr lang="de-DE" altLang="zh-CN" b="1"/>
          </a:p>
          <a:p>
            <a:pPr algn="ctr"/>
            <a:r>
              <a:rPr lang="de-DE" altLang="zh-CN"/>
              <a:t>Decryption equation	</a:t>
            </a:r>
            <a:r>
              <a:rPr lang="de-DE" altLang="zh-CN" b="1"/>
              <a:t>x = d</a:t>
            </a:r>
            <a:r>
              <a:rPr lang="de-DE" altLang="zh-CN" b="1" baseline="-25000"/>
              <a:t>K</a:t>
            </a:r>
            <a:r>
              <a:rPr lang="de-DE" altLang="zh-CN" b="1"/>
              <a:t>(y)</a:t>
            </a:r>
            <a:endParaRPr lang="de-DE" altLang="zh-CN" b="1"/>
          </a:p>
        </p:txBody>
      </p:sp>
      <p:sp>
        <p:nvSpPr>
          <p:cNvPr id="25606" name="Rectangle 4"/>
          <p:cNvSpPr>
            <a:spLocks noChangeArrowheads="1"/>
          </p:cNvSpPr>
          <p:nvPr/>
        </p:nvSpPr>
        <p:spPr bwMode="auto">
          <a:xfrm>
            <a:off x="539750" y="3789363"/>
            <a:ext cx="8135938" cy="202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66700" indent="-266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en-US" altLang="zh-CN" sz="1600" dirty="0">
                <a:ea typeface="宋体" panose="02010600030101010101" pitchFamily="2" charset="-122"/>
              </a:rPr>
              <a:t>Important: The key must be transmitted via a </a:t>
            </a:r>
            <a:r>
              <a:rPr lang="en-US" altLang="zh-CN" sz="1600" b="1" dirty="0">
                <a:ea typeface="宋体" panose="02010600030101010101" pitchFamily="2" charset="-122"/>
              </a:rPr>
              <a:t>secure channel</a:t>
            </a:r>
            <a:r>
              <a:rPr lang="en-US" altLang="zh-CN" sz="1600" dirty="0">
                <a:ea typeface="宋体" panose="02010600030101010101" pitchFamily="2" charset="-122"/>
              </a:rPr>
              <a:t> between Alice and Bob.</a:t>
            </a:r>
            <a:endParaRPr lang="en-US" altLang="zh-CN" sz="1600" dirty="0">
              <a:ea typeface="宋体" panose="02010600030101010101" pitchFamily="2" charset="-122"/>
            </a:endParaRPr>
          </a:p>
          <a:p>
            <a:pPr>
              <a:lnSpc>
                <a:spcPct val="125000"/>
              </a:lnSpc>
              <a:spcBef>
                <a:spcPct val="25000"/>
              </a:spcBef>
              <a:buClr>
                <a:srgbClr val="007AC2"/>
              </a:buClr>
              <a:buSzPct val="120000"/>
              <a:buFontTx/>
              <a:buChar char="•"/>
            </a:pPr>
            <a:r>
              <a:rPr lang="en-US" altLang="zh-CN" sz="1600" dirty="0">
                <a:ea typeface="宋体" panose="02010600030101010101" pitchFamily="2" charset="-122"/>
              </a:rPr>
              <a:t>The secure channel can be realized, e.g., by manually installing the key for the Wi-Fi Protected Access (WPA) protocol or a human courier.</a:t>
            </a:r>
            <a:endParaRPr lang="en-US" altLang="zh-CN" sz="1600" dirty="0">
              <a:ea typeface="宋体" panose="02010600030101010101" pitchFamily="2" charset="-122"/>
            </a:endParaRPr>
          </a:p>
          <a:p>
            <a:pPr>
              <a:lnSpc>
                <a:spcPct val="125000"/>
              </a:lnSpc>
              <a:spcBef>
                <a:spcPct val="25000"/>
              </a:spcBef>
              <a:buClr>
                <a:srgbClr val="007AC2"/>
              </a:buClr>
              <a:buSzPct val="120000"/>
              <a:buFontTx/>
              <a:buChar char="•"/>
            </a:pPr>
            <a:r>
              <a:rPr lang="en-US" altLang="zh-CN" sz="1600" dirty="0">
                <a:ea typeface="宋体" panose="02010600030101010101" pitchFamily="2" charset="-122"/>
              </a:rPr>
              <a:t>However, the system is only secure if an attacker does not learn the key K!</a:t>
            </a:r>
            <a:endParaRPr lang="en-US" altLang="zh-CN" sz="1600" dirty="0">
              <a:ea typeface="宋体" panose="02010600030101010101" pitchFamily="2" charset="-122"/>
            </a:endParaRPr>
          </a:p>
          <a:p>
            <a:pPr>
              <a:lnSpc>
                <a:spcPct val="125000"/>
              </a:lnSpc>
              <a:spcBef>
                <a:spcPct val="25000"/>
              </a:spcBef>
              <a:buClr>
                <a:srgbClr val="007AC2"/>
              </a:buClr>
              <a:buSzPct val="120000"/>
            </a:pPr>
            <a:r>
              <a:rPr lang="en-US" altLang="zh-CN" sz="1600" dirty="0">
                <a:solidFill>
                  <a:srgbClr val="FF0000"/>
                </a:solidFill>
                <a:ea typeface="宋体" panose="02010600030101010101" pitchFamily="2" charset="-122"/>
                <a:sym typeface="Symbol" panose="05050102010706020507" pitchFamily="2" charset="2"/>
              </a:rPr>
              <a:t></a:t>
            </a:r>
            <a:r>
              <a:rPr lang="en-US" altLang="zh-CN" sz="1600" b="1" dirty="0">
                <a:solidFill>
                  <a:srgbClr val="FF0000"/>
                </a:solidFill>
                <a:ea typeface="宋体" panose="02010600030101010101" pitchFamily="2" charset="-122"/>
                <a:sym typeface="Symbol" panose="05050102010706020507" pitchFamily="2" charset="2"/>
              </a:rPr>
              <a:t> The problem of secure communication is reduced to secure transmission and storage of the key K.</a:t>
            </a:r>
            <a:endParaRPr lang="en-US" altLang="zh-CN" sz="1600" b="1" dirty="0">
              <a:solidFill>
                <a:srgbClr val="FF0000"/>
              </a:solidFill>
              <a:ea typeface="宋体" panose="02010600030101010101" pitchFamily="2" charset="-122"/>
              <a:sym typeface="Symbol" panose="05050102010706020507" pitchFamily="2" charset="2"/>
            </a:endParaRPr>
          </a:p>
        </p:txBody>
      </p:sp>
      <p:sp>
        <p:nvSpPr>
          <p:cNvPr id="25607" name="Rectangle 5"/>
          <p:cNvSpPr>
            <a:spLocks noChangeArrowheads="1"/>
          </p:cNvSpPr>
          <p:nvPr/>
        </p:nvSpPr>
        <p:spPr bwMode="auto">
          <a:xfrm>
            <a:off x="539750" y="2060575"/>
            <a:ext cx="8353425"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de-DE" altLang="zh-CN" sz="1600"/>
              <a:t>Encryption and decryption are inverse operations if the same key K is used on both sides:</a:t>
            </a:r>
            <a:endParaRPr lang="de-DE" altLang="zh-CN" sz="1600"/>
          </a:p>
          <a:p>
            <a:pPr lvl="4">
              <a:lnSpc>
                <a:spcPct val="125000"/>
              </a:lnSpc>
              <a:spcBef>
                <a:spcPct val="25000"/>
              </a:spcBef>
              <a:buClr>
                <a:srgbClr val="007AC2"/>
              </a:buClr>
              <a:buSzPct val="120000"/>
            </a:pPr>
            <a:r>
              <a:rPr lang="de-DE" altLang="zh-CN" sz="1600"/>
              <a:t>			 d</a:t>
            </a:r>
            <a:r>
              <a:rPr lang="de-DE" altLang="zh-CN" sz="1600" baseline="-25000"/>
              <a:t>K</a:t>
            </a:r>
            <a:r>
              <a:rPr lang="de-DE" altLang="zh-CN" sz="1600"/>
              <a:t>(y) = d</a:t>
            </a:r>
            <a:r>
              <a:rPr lang="de-DE" altLang="zh-CN" sz="1600" baseline="-25000"/>
              <a:t>K</a:t>
            </a:r>
            <a:r>
              <a:rPr lang="de-DE" altLang="zh-CN" sz="1600"/>
              <a:t>(e</a:t>
            </a:r>
            <a:r>
              <a:rPr lang="de-DE" altLang="zh-CN" sz="1600" baseline="-25000"/>
              <a:t>K</a:t>
            </a:r>
            <a:r>
              <a:rPr lang="de-DE" altLang="zh-CN" sz="1600"/>
              <a:t>(x)) = x</a:t>
            </a:r>
            <a:endParaRPr lang="de-DE" altLang="zh-CN" sz="1600"/>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B1EB336-39B4-9743-B90B-1E05A1C2CC6D}"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26628" name="Rectangle 2"/>
          <p:cNvSpPr>
            <a:spLocks noGrp="1" noChangeArrowheads="1"/>
          </p:cNvSpPr>
          <p:nvPr>
            <p:ph type="title"/>
          </p:nvPr>
        </p:nvSpPr>
        <p:spPr>
          <a:xfrm>
            <a:off x="471488" y="322263"/>
            <a:ext cx="8204200" cy="515937"/>
          </a:xfrm>
        </p:spPr>
        <p:txBody>
          <a:bodyPr/>
          <a:lstStyle/>
          <a:p>
            <a:pPr>
              <a:buFont typeface="Webdings" panose="05030102010509060703" pitchFamily="2" charset="2"/>
              <a:buNone/>
            </a:pPr>
            <a:r>
              <a:rPr lang="de-DE" altLang="zh-CN" sz="2800"/>
              <a:t>Content of this Chapter</a:t>
            </a:r>
            <a:endParaRPr lang="de-DE" altLang="zh-CN" sz="2800"/>
          </a:p>
        </p:txBody>
      </p:sp>
      <p:sp>
        <p:nvSpPr>
          <p:cNvPr id="26629" name="Rectangle 3"/>
          <p:cNvSpPr>
            <a:spLocks noGrp="1" noChangeArrowheads="1"/>
          </p:cNvSpPr>
          <p:nvPr>
            <p:ph type="body" idx="1"/>
          </p:nvPr>
        </p:nvSpPr>
        <p:spPr>
          <a:xfrm>
            <a:off x="539750" y="1844675"/>
            <a:ext cx="7394575" cy="2667000"/>
          </a:xfrm>
          <a:noFill/>
        </p:spPr>
        <p:txBody>
          <a:bodyPr/>
          <a:lstStyle/>
          <a:p>
            <a:pPr marL="342900" indent="-342900"/>
            <a:r>
              <a:rPr lang="de-DE" altLang="zh-CN" sz="2000" dirty="0" err="1"/>
              <a:t>Overview</a:t>
            </a:r>
            <a:r>
              <a:rPr lang="de-DE" altLang="zh-CN" sz="2000" dirty="0"/>
              <a:t> on </a:t>
            </a:r>
            <a:r>
              <a:rPr lang="de-DE" altLang="zh-CN" sz="2000" dirty="0" err="1"/>
              <a:t>the</a:t>
            </a:r>
            <a:r>
              <a:rPr lang="de-DE" altLang="zh-CN" sz="2000" dirty="0"/>
              <a:t> </a:t>
            </a:r>
            <a:r>
              <a:rPr lang="de-DE" altLang="zh-CN" sz="2000" dirty="0" err="1"/>
              <a:t>field</a:t>
            </a:r>
            <a:r>
              <a:rPr lang="de-DE" altLang="zh-CN" sz="2000" dirty="0"/>
              <a:t> </a:t>
            </a:r>
            <a:r>
              <a:rPr lang="de-DE" altLang="zh-CN" sz="2000" dirty="0" err="1"/>
              <a:t>of</a:t>
            </a:r>
            <a:r>
              <a:rPr lang="de-DE" altLang="zh-CN" sz="2000" dirty="0"/>
              <a:t> </a:t>
            </a:r>
            <a:r>
              <a:rPr lang="de-DE" altLang="zh-CN" sz="2000" dirty="0" err="1"/>
              <a:t>cryptology</a:t>
            </a:r>
            <a:endParaRPr lang="de-DE" altLang="zh-CN" sz="2000" dirty="0"/>
          </a:p>
          <a:p>
            <a:pPr marL="342900" indent="-342900"/>
            <a:r>
              <a:rPr lang="de-DE" altLang="zh-CN" sz="2000" dirty="0"/>
              <a:t>Basics </a:t>
            </a:r>
            <a:r>
              <a:rPr lang="de-DE" altLang="zh-CN" sz="2000" dirty="0" err="1"/>
              <a:t>of</a:t>
            </a:r>
            <a:r>
              <a:rPr lang="de-DE" altLang="zh-CN" sz="2000" dirty="0"/>
              <a:t> </a:t>
            </a:r>
            <a:r>
              <a:rPr lang="de-DE" altLang="zh-CN" sz="2000" dirty="0" err="1"/>
              <a:t>symmetric</a:t>
            </a:r>
            <a:r>
              <a:rPr lang="de-DE" altLang="zh-CN" sz="2000" dirty="0"/>
              <a:t> </a:t>
            </a:r>
            <a:r>
              <a:rPr lang="de-DE" altLang="zh-CN" sz="2000" dirty="0" err="1"/>
              <a:t>cryptography</a:t>
            </a:r>
            <a:endParaRPr lang="de-DE" altLang="zh-CN" sz="2000" dirty="0"/>
          </a:p>
          <a:p>
            <a:pPr marL="342900" indent="-342900"/>
            <a:r>
              <a:rPr lang="de-DE" altLang="zh-CN" sz="2000" b="1" dirty="0"/>
              <a:t>Substitution </a:t>
            </a:r>
            <a:r>
              <a:rPr lang="de-DE" altLang="zh-CN" sz="2000" b="1" dirty="0" err="1"/>
              <a:t>Cipher</a:t>
            </a:r>
            <a:endParaRPr lang="de-DE" altLang="zh-CN" sz="2000" b="1" dirty="0"/>
          </a:p>
          <a:p>
            <a:pPr marL="342900" indent="-342900"/>
            <a:r>
              <a:rPr lang="de-DE" altLang="zh-CN" sz="2000" dirty="0" err="1"/>
              <a:t>Cryptanalysis</a:t>
            </a:r>
            <a:endParaRPr lang="de-DE" altLang="zh-CN" sz="2000" dirty="0"/>
          </a:p>
          <a:p>
            <a:pPr marL="342900" indent="-342900"/>
            <a:r>
              <a:rPr lang="de-DE" altLang="zh-CN" sz="2000" dirty="0"/>
              <a:t>Modular </a:t>
            </a:r>
            <a:r>
              <a:rPr lang="de-DE" altLang="zh-CN" sz="2000" dirty="0" err="1"/>
              <a:t>arithmetic</a:t>
            </a:r>
            <a:endParaRPr lang="de-DE" altLang="zh-CN" sz="2000" dirty="0"/>
          </a:p>
          <a:p>
            <a:pPr marL="342900" indent="-342900"/>
            <a:r>
              <a:rPr lang="de-DE" altLang="zh-CN" sz="2000" dirty="0"/>
              <a:t>Shift (</a:t>
            </a:r>
            <a:r>
              <a:rPr lang="de-DE" altLang="zh-CN" sz="2000" dirty="0" err="1"/>
              <a:t>or</a:t>
            </a:r>
            <a:r>
              <a:rPr lang="de-DE" altLang="zh-CN" sz="2000" dirty="0"/>
              <a:t> Caesar) </a:t>
            </a:r>
            <a:r>
              <a:rPr lang="de-DE" altLang="zh-CN" sz="2000" dirty="0" err="1"/>
              <a:t>Cipher</a:t>
            </a:r>
            <a:r>
              <a:rPr lang="de-DE" altLang="zh-CN" sz="2000" dirty="0"/>
              <a:t>, </a:t>
            </a:r>
            <a:r>
              <a:rPr lang="de-DE" altLang="zh-CN" sz="2000" dirty="0" err="1"/>
              <a:t>Vigenere</a:t>
            </a:r>
            <a:r>
              <a:rPr lang="de-DE" altLang="zh-CN" sz="2000" dirty="0"/>
              <a:t> </a:t>
            </a:r>
            <a:r>
              <a:rPr lang="de-DE" altLang="zh-CN" sz="2000" dirty="0" err="1"/>
              <a:t>Cipher</a:t>
            </a:r>
            <a:r>
              <a:rPr lang="de-DE" altLang="zh-CN" sz="2000" dirty="0"/>
              <a:t> and Affine </a:t>
            </a:r>
            <a:r>
              <a:rPr lang="de-DE" altLang="zh-CN" sz="2000" dirty="0" err="1"/>
              <a:t>Cipher</a:t>
            </a:r>
            <a:endParaRPr lang="de-DE" altLang="zh-CN" sz="2000" dirty="0"/>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4EF5EC5-65A5-CC40-813E-88E82C5E5066}"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31748" name="Rectangle 6"/>
          <p:cNvSpPr>
            <a:spLocks noGrp="1" noChangeArrowheads="1"/>
          </p:cNvSpPr>
          <p:nvPr>
            <p:ph type="title"/>
          </p:nvPr>
        </p:nvSpPr>
        <p:spPr/>
        <p:txBody>
          <a:bodyPr/>
          <a:lstStyle/>
          <a:p>
            <a:r>
              <a:rPr lang="de-DE" altLang="zh-CN"/>
              <a:t>Substitution Cipher</a:t>
            </a:r>
            <a:endParaRPr lang="de-DE" altLang="zh-CN"/>
          </a:p>
        </p:txBody>
      </p:sp>
      <p:sp>
        <p:nvSpPr>
          <p:cNvPr id="31749" name="Rectangle 7"/>
          <p:cNvSpPr>
            <a:spLocks noGrp="1" noChangeArrowheads="1"/>
          </p:cNvSpPr>
          <p:nvPr>
            <p:ph type="body" idx="1"/>
          </p:nvPr>
        </p:nvSpPr>
        <p:spPr>
          <a:xfrm>
            <a:off x="395288" y="836613"/>
            <a:ext cx="8353425" cy="1042987"/>
          </a:xfrm>
        </p:spPr>
        <p:txBody>
          <a:bodyPr/>
          <a:lstStyle/>
          <a:p>
            <a:r>
              <a:rPr lang="de-DE" altLang="zh-CN"/>
              <a:t>Historical cipher </a:t>
            </a:r>
            <a:endParaRPr lang="de-DE" altLang="zh-CN"/>
          </a:p>
          <a:p>
            <a:r>
              <a:rPr lang="de-DE" altLang="zh-CN"/>
              <a:t>Great tool for understanding brute-force vs. analytical attacks</a:t>
            </a:r>
            <a:endParaRPr lang="de-DE" altLang="zh-CN"/>
          </a:p>
          <a:p>
            <a:r>
              <a:rPr lang="de-DE" altLang="zh-CN"/>
              <a:t>Encrypts letters rather than bits (like all ciphers until after WW II)</a:t>
            </a:r>
            <a:endParaRPr lang="de-DE" altLang="zh-CN"/>
          </a:p>
        </p:txBody>
      </p:sp>
      <p:sp>
        <p:nvSpPr>
          <p:cNvPr id="31750" name="Rectangle 9"/>
          <p:cNvSpPr>
            <a:spLocks noChangeArrowheads="1"/>
          </p:cNvSpPr>
          <p:nvPr/>
        </p:nvSpPr>
        <p:spPr bwMode="auto">
          <a:xfrm>
            <a:off x="0" y="2276475"/>
            <a:ext cx="8353425"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lnSpc>
                <a:spcPct val="125000"/>
              </a:lnSpc>
              <a:spcBef>
                <a:spcPct val="25000"/>
              </a:spcBef>
              <a:buClr>
                <a:srgbClr val="007AC2"/>
              </a:buClr>
              <a:buSzPct val="120000"/>
            </a:pPr>
            <a:r>
              <a:rPr lang="de-DE" altLang="zh-CN" sz="1600" b="1"/>
              <a:t>Idea: replace each plaintext letter by a fixed other letter.</a:t>
            </a:r>
            <a:endParaRPr lang="de-DE" altLang="zh-CN" sz="1600" b="1"/>
          </a:p>
          <a:p>
            <a:pPr lvl="1">
              <a:lnSpc>
                <a:spcPct val="125000"/>
              </a:lnSpc>
              <a:spcBef>
                <a:spcPct val="25000"/>
              </a:spcBef>
              <a:buClr>
                <a:srgbClr val="007AC2"/>
              </a:buClr>
              <a:buSzPct val="120000"/>
            </a:pPr>
            <a:r>
              <a:rPr lang="de-DE" altLang="zh-CN" sz="1600"/>
              <a:t>  				Plaintext             Ciphertext</a:t>
            </a:r>
            <a:endParaRPr lang="de-DE" altLang="zh-CN" sz="1600"/>
          </a:p>
          <a:p>
            <a:pPr lvl="2">
              <a:spcBef>
                <a:spcPct val="10000"/>
              </a:spcBef>
              <a:buClr>
                <a:srgbClr val="007AC2"/>
              </a:buClr>
              <a:buSzPct val="120000"/>
            </a:pPr>
            <a:r>
              <a:rPr lang="de-DE" altLang="zh-CN" sz="1600">
                <a:latin typeface="Courier New" panose="02070309020205020404" pitchFamily="49" charset="0"/>
              </a:rPr>
              <a:t> 			  A      </a:t>
            </a:r>
            <a:r>
              <a:rPr lang="de-DE" altLang="zh-CN" sz="1600">
                <a:latin typeface="Courier New" panose="02070309020205020404" pitchFamily="49" charset="0"/>
                <a:sym typeface="Symbol" panose="05050102010706020507" pitchFamily="2" charset="2"/>
              </a:rPr>
              <a:t></a:t>
            </a:r>
            <a:r>
              <a:rPr lang="de-DE" altLang="zh-CN" sz="1600">
                <a:latin typeface="Courier New" panose="02070309020205020404" pitchFamily="49" charset="0"/>
              </a:rPr>
              <a:t>      k</a:t>
            </a:r>
            <a:endParaRPr lang="de-DE" altLang="zh-CN" sz="1600">
              <a:latin typeface="Courier New" panose="02070309020205020404" pitchFamily="49" charset="0"/>
            </a:endParaRPr>
          </a:p>
          <a:p>
            <a:pPr lvl="2">
              <a:spcBef>
                <a:spcPct val="10000"/>
              </a:spcBef>
              <a:buClr>
                <a:srgbClr val="007AC2"/>
              </a:buClr>
              <a:buSzPct val="120000"/>
            </a:pPr>
            <a:r>
              <a:rPr lang="de-DE" altLang="zh-CN" sz="1600">
                <a:latin typeface="Courier New" panose="02070309020205020404" pitchFamily="49" charset="0"/>
              </a:rPr>
              <a:t>			  B      </a:t>
            </a:r>
            <a:r>
              <a:rPr lang="de-DE" altLang="zh-CN" sz="1600">
                <a:latin typeface="Courier New" panose="02070309020205020404" pitchFamily="49" charset="0"/>
                <a:sym typeface="Symbol" panose="05050102010706020507" pitchFamily="2" charset="2"/>
              </a:rPr>
              <a:t></a:t>
            </a:r>
            <a:r>
              <a:rPr lang="de-DE" altLang="zh-CN" sz="1600">
                <a:latin typeface="Courier New" panose="02070309020205020404" pitchFamily="49" charset="0"/>
              </a:rPr>
              <a:t>      d</a:t>
            </a:r>
            <a:endParaRPr lang="de-DE" altLang="zh-CN" sz="1600">
              <a:latin typeface="Courier New" panose="02070309020205020404" pitchFamily="49" charset="0"/>
            </a:endParaRPr>
          </a:p>
          <a:p>
            <a:pPr lvl="2">
              <a:spcBef>
                <a:spcPct val="10000"/>
              </a:spcBef>
              <a:buClr>
                <a:srgbClr val="007AC2"/>
              </a:buClr>
              <a:buSzPct val="120000"/>
            </a:pPr>
            <a:r>
              <a:rPr lang="de-DE" altLang="zh-CN" sz="1600">
                <a:latin typeface="Courier New" panose="02070309020205020404" pitchFamily="49" charset="0"/>
              </a:rPr>
              <a:t> 			  C      </a:t>
            </a:r>
            <a:r>
              <a:rPr lang="de-DE" altLang="zh-CN" sz="1600">
                <a:latin typeface="Courier New" panose="02070309020205020404" pitchFamily="49" charset="0"/>
                <a:sym typeface="Symbol" panose="05050102010706020507" pitchFamily="2" charset="2"/>
              </a:rPr>
              <a:t></a:t>
            </a:r>
            <a:r>
              <a:rPr lang="de-DE" altLang="zh-CN" sz="1600">
                <a:latin typeface="Courier New" panose="02070309020205020404" pitchFamily="49" charset="0"/>
              </a:rPr>
              <a:t>      w</a:t>
            </a:r>
            <a:endParaRPr lang="de-DE" altLang="zh-CN" sz="1600">
              <a:latin typeface="Courier New" panose="02070309020205020404" pitchFamily="49" charset="0"/>
            </a:endParaRPr>
          </a:p>
          <a:p>
            <a:pPr lvl="2">
              <a:spcBef>
                <a:spcPct val="10000"/>
              </a:spcBef>
              <a:buClr>
                <a:srgbClr val="007AC2"/>
              </a:buClr>
              <a:buSzPct val="120000"/>
            </a:pPr>
            <a:r>
              <a:rPr lang="de-DE" altLang="zh-CN" sz="1600">
                <a:latin typeface="Courier New" panose="02070309020205020404" pitchFamily="49" charset="0"/>
              </a:rPr>
              <a:t> </a:t>
            </a:r>
            <a:r>
              <a:rPr lang="de-DE" altLang="zh-CN" sz="1600"/>
              <a:t>            			   ....</a:t>
            </a:r>
            <a:endParaRPr lang="de-DE" altLang="zh-CN" sz="1600"/>
          </a:p>
          <a:p>
            <a:pPr lvl="2">
              <a:spcBef>
                <a:spcPct val="10000"/>
              </a:spcBef>
              <a:buClr>
                <a:srgbClr val="007AC2"/>
              </a:buClr>
              <a:buSzPct val="120000"/>
            </a:pPr>
            <a:r>
              <a:rPr lang="de-DE" altLang="zh-CN" sz="1600"/>
              <a:t>for instance, </a:t>
            </a:r>
            <a:r>
              <a:rPr lang="de-DE" altLang="zh-CN" sz="1600">
                <a:latin typeface="Courier New" panose="02070309020205020404" pitchFamily="49" charset="0"/>
              </a:rPr>
              <a:t>ABBA</a:t>
            </a:r>
            <a:r>
              <a:rPr lang="de-DE" altLang="zh-CN" sz="1600"/>
              <a:t> would be encrypted as </a:t>
            </a:r>
            <a:r>
              <a:rPr lang="de-DE" altLang="zh-CN" sz="1600">
                <a:latin typeface="Courier New" panose="02070309020205020404" pitchFamily="49" charset="0"/>
              </a:rPr>
              <a:t>kddk</a:t>
            </a:r>
            <a:endParaRPr lang="de-DE" altLang="zh-CN" sz="1600">
              <a:latin typeface="Courier New" panose="02070309020205020404" pitchFamily="49" charset="0"/>
            </a:endParaRPr>
          </a:p>
          <a:p>
            <a:pPr lvl="2">
              <a:spcBef>
                <a:spcPct val="10000"/>
              </a:spcBef>
              <a:buClr>
                <a:srgbClr val="007AC2"/>
              </a:buClr>
              <a:buSzPct val="120000"/>
            </a:pPr>
            <a:endParaRPr lang="de-DE" altLang="zh-CN" sz="1600"/>
          </a:p>
          <a:p>
            <a:pPr lvl="1">
              <a:lnSpc>
                <a:spcPct val="125000"/>
              </a:lnSpc>
              <a:spcBef>
                <a:spcPct val="25000"/>
              </a:spcBef>
              <a:buClr>
                <a:srgbClr val="007AC2"/>
              </a:buClr>
              <a:buSzPct val="120000"/>
              <a:buFontTx/>
              <a:buChar char="•"/>
            </a:pPr>
            <a:r>
              <a:rPr lang="de-DE" altLang="zh-CN" sz="1600"/>
              <a:t>Example (ciphertext): </a:t>
            </a:r>
            <a:endParaRPr lang="de-DE" altLang="zh-CN" sz="1600"/>
          </a:p>
          <a:p>
            <a:pPr lvl="1">
              <a:lnSpc>
                <a:spcPct val="125000"/>
              </a:lnSpc>
              <a:spcBef>
                <a:spcPct val="25000"/>
              </a:spcBef>
              <a:buClr>
                <a:srgbClr val="007AC2"/>
              </a:buClr>
              <a:buSzPct val="120000"/>
            </a:pPr>
            <a:r>
              <a:rPr lang="de-DE" altLang="zh-CN" sz="1600"/>
              <a:t>           </a:t>
            </a:r>
            <a:r>
              <a:rPr lang="de-DE" altLang="zh-CN" sz="1600">
                <a:latin typeface="Courier New" panose="02070309020205020404" pitchFamily="49" charset="0"/>
              </a:rPr>
              <a:t>iq ifcc vqqr fb rdq vfllcq na rdq cfjwhwz hr bnnb  hcc 				hwwhbsqvqbre hwq vhlq</a:t>
            </a:r>
            <a:endParaRPr lang="de-DE" altLang="zh-CN" sz="1600">
              <a:latin typeface="Courier New" panose="02070309020205020404" pitchFamily="49" charset="0"/>
            </a:endParaRPr>
          </a:p>
          <a:p>
            <a:pPr lvl="1">
              <a:lnSpc>
                <a:spcPct val="125000"/>
              </a:lnSpc>
              <a:spcBef>
                <a:spcPct val="25000"/>
              </a:spcBef>
              <a:buClr>
                <a:srgbClr val="007AC2"/>
              </a:buClr>
              <a:buSzPct val="120000"/>
              <a:buFontTx/>
              <a:buChar char="•"/>
            </a:pPr>
            <a:r>
              <a:rPr lang="de-DE" altLang="zh-CN" sz="1600"/>
              <a:t>How secure is the Substitution Cipher? Let‘s look at attacks…</a:t>
            </a:r>
            <a:endParaRPr lang="de-DE" altLang="zh-CN" sz="1600">
              <a:latin typeface="Courier New" panose="02070309020205020404" pitchFamily="49" charset="0"/>
            </a:endParaRPr>
          </a:p>
          <a:p>
            <a:pPr>
              <a:lnSpc>
                <a:spcPct val="125000"/>
              </a:lnSpc>
              <a:spcBef>
                <a:spcPct val="25000"/>
              </a:spcBef>
              <a:buClr>
                <a:srgbClr val="007AC2"/>
              </a:buClr>
              <a:buSzPct val="120000"/>
              <a:buFontTx/>
              <a:buChar char="•"/>
            </a:pPr>
            <a:endParaRPr lang="de-DE" altLang="zh-CN" sz="1600"/>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7459A24-7A69-A94F-B50F-06C917147394}"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29700" name="Rectangle 235"/>
          <p:cNvSpPr>
            <a:spLocks noGrp="1" noChangeArrowheads="1"/>
          </p:cNvSpPr>
          <p:nvPr>
            <p:ph type="body" idx="1"/>
          </p:nvPr>
        </p:nvSpPr>
        <p:spPr>
          <a:xfrm>
            <a:off x="395288" y="828675"/>
            <a:ext cx="8353425" cy="1016176"/>
          </a:xfrm>
          <a:noFill/>
        </p:spPr>
        <p:txBody>
          <a:bodyPr/>
          <a:lstStyle/>
          <a:p>
            <a:pPr marL="342900" indent="-342900"/>
            <a:r>
              <a:rPr lang="de-DE" altLang="zh-CN" dirty="0" err="1"/>
              <a:t>Treats</a:t>
            </a:r>
            <a:r>
              <a:rPr lang="de-DE" altLang="zh-CN" dirty="0"/>
              <a:t> </a:t>
            </a:r>
            <a:r>
              <a:rPr lang="de-DE" altLang="zh-CN" dirty="0" err="1"/>
              <a:t>the</a:t>
            </a:r>
            <a:r>
              <a:rPr lang="de-DE" altLang="zh-CN" dirty="0"/>
              <a:t> </a:t>
            </a:r>
            <a:r>
              <a:rPr lang="de-DE" altLang="zh-CN" dirty="0" err="1"/>
              <a:t>cipher</a:t>
            </a:r>
            <a:r>
              <a:rPr lang="de-DE" altLang="zh-CN" dirty="0"/>
              <a:t> </a:t>
            </a:r>
            <a:r>
              <a:rPr lang="de-DE" altLang="zh-CN" dirty="0" err="1"/>
              <a:t>as</a:t>
            </a:r>
            <a:r>
              <a:rPr lang="de-DE" altLang="zh-CN" dirty="0"/>
              <a:t> a </a:t>
            </a:r>
            <a:r>
              <a:rPr lang="de-DE" altLang="zh-CN" dirty="0" err="1"/>
              <a:t>black</a:t>
            </a:r>
            <a:r>
              <a:rPr lang="de-DE" altLang="zh-CN" dirty="0"/>
              <a:t> box</a:t>
            </a:r>
            <a:endParaRPr lang="de-DE" altLang="zh-CN" dirty="0"/>
          </a:p>
          <a:p>
            <a:pPr marL="342900" indent="-342900"/>
            <a:r>
              <a:rPr lang="de-DE" altLang="zh-CN" dirty="0" err="1"/>
              <a:t>Requires</a:t>
            </a:r>
            <a:r>
              <a:rPr lang="de-DE" altLang="zh-CN" dirty="0"/>
              <a:t> (at least) 1 </a:t>
            </a:r>
            <a:r>
              <a:rPr lang="de-DE" altLang="zh-CN" dirty="0" err="1"/>
              <a:t>plaintext-ciphertext</a:t>
            </a:r>
            <a:r>
              <a:rPr lang="de-DE" altLang="zh-CN" dirty="0"/>
              <a:t> pair (x</a:t>
            </a:r>
            <a:r>
              <a:rPr lang="de-DE" altLang="zh-CN" baseline="-25000" dirty="0"/>
              <a:t>0</a:t>
            </a:r>
            <a:r>
              <a:rPr lang="de-DE" altLang="zh-CN" dirty="0"/>
              <a:t>, y</a:t>
            </a:r>
            <a:r>
              <a:rPr lang="de-DE" altLang="zh-CN" baseline="-25000" dirty="0"/>
              <a:t>0</a:t>
            </a:r>
            <a:r>
              <a:rPr lang="de-DE" altLang="zh-CN" dirty="0"/>
              <a:t>)</a:t>
            </a:r>
            <a:endParaRPr lang="de-DE" altLang="zh-CN" dirty="0"/>
          </a:p>
          <a:p>
            <a:pPr marL="342900" indent="-342900"/>
            <a:r>
              <a:rPr lang="de-DE" altLang="zh-CN" dirty="0"/>
              <a:t>Check all possible </a:t>
            </a:r>
            <a:r>
              <a:rPr lang="de-DE" altLang="zh-CN" dirty="0" err="1"/>
              <a:t>keys</a:t>
            </a:r>
            <a:r>
              <a:rPr lang="de-DE" altLang="zh-CN" dirty="0"/>
              <a:t> </a:t>
            </a:r>
            <a:r>
              <a:rPr lang="de-DE" altLang="zh-CN" dirty="0" err="1"/>
              <a:t>until</a:t>
            </a:r>
            <a:r>
              <a:rPr lang="de-DE" altLang="zh-CN" dirty="0"/>
              <a:t> </a:t>
            </a:r>
            <a:r>
              <a:rPr lang="de-DE" altLang="zh-CN" dirty="0" err="1"/>
              <a:t>condition</a:t>
            </a:r>
            <a:r>
              <a:rPr lang="de-DE" altLang="zh-CN" dirty="0"/>
              <a:t> </a:t>
            </a:r>
            <a:r>
              <a:rPr lang="de-DE" altLang="zh-CN" dirty="0" err="1"/>
              <a:t>is</a:t>
            </a:r>
            <a:r>
              <a:rPr lang="de-DE" altLang="zh-CN" dirty="0"/>
              <a:t> </a:t>
            </a:r>
            <a:r>
              <a:rPr lang="de-DE" altLang="zh-CN" dirty="0" err="1"/>
              <a:t>fulfilled</a:t>
            </a:r>
            <a:r>
              <a:rPr lang="de-DE" altLang="zh-CN" dirty="0"/>
              <a:t>: </a:t>
            </a:r>
            <a:r>
              <a:rPr lang="de-DE" altLang="zh-CN" b="1" dirty="0" err="1"/>
              <a:t>d</a:t>
            </a:r>
            <a:r>
              <a:rPr lang="de-DE" altLang="zh-CN" b="1" baseline="-25000" dirty="0" err="1"/>
              <a:t>K</a:t>
            </a:r>
            <a:r>
              <a:rPr lang="de-DE" altLang="zh-CN" b="1" dirty="0"/>
              <a:t>(y</a:t>
            </a:r>
            <a:r>
              <a:rPr lang="de-DE" altLang="zh-CN" b="1" baseline="-25000" dirty="0"/>
              <a:t>0</a:t>
            </a:r>
            <a:r>
              <a:rPr lang="de-DE" altLang="zh-CN" b="1" dirty="0"/>
              <a:t>)  = x</a:t>
            </a:r>
            <a:r>
              <a:rPr lang="de-DE" altLang="zh-CN" b="1" baseline="-25000" dirty="0"/>
              <a:t>0</a:t>
            </a:r>
            <a:endParaRPr lang="de-DE" altLang="zh-CN" b="1" dirty="0"/>
          </a:p>
        </p:txBody>
      </p:sp>
      <p:sp>
        <p:nvSpPr>
          <p:cNvPr id="29701" name="Rectangle 34"/>
          <p:cNvSpPr>
            <a:spLocks noGrp="1" noChangeArrowheads="1"/>
          </p:cNvSpPr>
          <p:nvPr>
            <p:ph type="title"/>
          </p:nvPr>
        </p:nvSpPr>
        <p:spPr>
          <a:xfrm>
            <a:off x="471488" y="322263"/>
            <a:ext cx="8132762" cy="515937"/>
          </a:xfrm>
        </p:spPr>
        <p:txBody>
          <a:bodyPr/>
          <a:lstStyle/>
          <a:p>
            <a:r>
              <a:rPr lang="en-US" altLang="zh-CN" sz="1700" dirty="0">
                <a:ea typeface="宋体" panose="02010600030101010101" pitchFamily="2" charset="-122"/>
              </a:rPr>
              <a:t>Frist Attack: Brute-Force Attack (or Exhaustive Key Search)</a:t>
            </a:r>
            <a:endParaRPr lang="en-US" altLang="zh-CN" sz="1700" dirty="0">
              <a:ea typeface="宋体" panose="02010600030101010101" pitchFamily="2" charset="-122"/>
            </a:endParaRPr>
          </a:p>
        </p:txBody>
      </p:sp>
      <p:sp>
        <p:nvSpPr>
          <p:cNvPr id="29720" name="Text Box 249"/>
          <p:cNvSpPr txBox="1">
            <a:spLocks noChangeArrowheads="1"/>
          </p:cNvSpPr>
          <p:nvPr/>
        </p:nvSpPr>
        <p:spPr bwMode="auto">
          <a:xfrm>
            <a:off x="5796136" y="1419036"/>
            <a:ext cx="2166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de-DE" altLang="zh-CN" dirty="0"/>
              <a:t>?</a:t>
            </a:r>
            <a:endParaRPr lang="de-DE" altLang="zh-CN" dirty="0"/>
          </a:p>
        </p:txBody>
      </p:sp>
      <p:pic>
        <p:nvPicPr>
          <p:cNvPr id="2" name="图片 1"/>
          <p:cNvPicPr>
            <a:picLocks noChangeAspect="1"/>
          </p:cNvPicPr>
          <p:nvPr/>
        </p:nvPicPr>
        <p:blipFill>
          <a:blip r:embed="rId1"/>
          <a:stretch>
            <a:fillRect/>
          </a:stretch>
        </p:blipFill>
        <p:spPr>
          <a:xfrm>
            <a:off x="322898" y="1916703"/>
            <a:ext cx="7772400" cy="4052127"/>
          </a:xfrm>
          <a:prstGeom prst="rect">
            <a:avLst/>
          </a:prstGeom>
        </p:spPr>
      </p:pic>
      <p:sp>
        <p:nvSpPr>
          <p:cNvPr id="3" name="文本框 2"/>
          <p:cNvSpPr txBox="1"/>
          <p:nvPr/>
        </p:nvSpPr>
        <p:spPr>
          <a:xfrm>
            <a:off x="4321908" y="2407138"/>
            <a:ext cx="184731" cy="369332"/>
          </a:xfrm>
          <a:prstGeom prst="rect">
            <a:avLst/>
          </a:prstGeom>
          <a:noFill/>
        </p:spPr>
        <p:txBody>
          <a:bodyPr wrap="none" rtlCol="0">
            <a:spAutoFit/>
          </a:bodyPr>
          <a:lstStyle/>
          <a:p>
            <a:endParaRPr kumimoji="1" lang="zh-CN" altLang="en-US" dirty="0"/>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15D8A6A-2556-5446-9474-191E02F07300}"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32772" name="Rectangle 6"/>
          <p:cNvSpPr>
            <a:spLocks noGrp="1" noChangeArrowheads="1"/>
          </p:cNvSpPr>
          <p:nvPr>
            <p:ph type="title"/>
          </p:nvPr>
        </p:nvSpPr>
        <p:spPr/>
        <p:txBody>
          <a:bodyPr/>
          <a:lstStyle/>
          <a:p>
            <a:r>
              <a:rPr lang="en-US" altLang="zh-CN" sz="2000" dirty="0">
                <a:ea typeface="宋体" panose="02010600030101010101" pitchFamily="2" charset="-122"/>
              </a:rPr>
              <a:t>Brute-Force Attack</a:t>
            </a:r>
            <a:endParaRPr lang="de-DE" altLang="zh-CN" dirty="0"/>
          </a:p>
        </p:txBody>
      </p:sp>
      <p:sp>
        <p:nvSpPr>
          <p:cNvPr id="32773" name="Rectangle 7"/>
          <p:cNvSpPr>
            <a:spLocks noGrp="1" noChangeArrowheads="1"/>
          </p:cNvSpPr>
          <p:nvPr>
            <p:ph type="body" idx="1"/>
          </p:nvPr>
        </p:nvSpPr>
        <p:spPr>
          <a:xfrm>
            <a:off x="395288" y="1196975"/>
            <a:ext cx="7467600" cy="3741738"/>
          </a:xfrm>
        </p:spPr>
        <p:txBody>
          <a:bodyPr/>
          <a:lstStyle/>
          <a:p>
            <a:pPr marL="304800" indent="-304800">
              <a:buFontTx/>
              <a:buAutoNum type="arabicPeriod"/>
            </a:pPr>
            <a:r>
              <a:rPr lang="de-DE" altLang="zh-CN" b="1"/>
              <a:t>Attack: Exhaustive Key Search (Brute-Force Attack)</a:t>
            </a:r>
            <a:endParaRPr lang="de-DE" altLang="zh-CN" b="1"/>
          </a:p>
          <a:p>
            <a:pPr marL="304800" indent="-304800"/>
            <a:r>
              <a:rPr lang="de-DE" altLang="zh-CN"/>
              <a:t>Simply try every possible subsititution table until an intelligent plaintext appears (note that each substitution table is a key)..</a:t>
            </a:r>
            <a:endParaRPr lang="de-DE" altLang="zh-CN"/>
          </a:p>
          <a:p>
            <a:pPr marL="304800" indent="-304800"/>
            <a:r>
              <a:rPr lang="de-DE" altLang="zh-CN"/>
              <a:t>How many substitution tables (= keys) are there?</a:t>
            </a:r>
            <a:endParaRPr lang="de-DE" altLang="zh-CN"/>
          </a:p>
          <a:p>
            <a:pPr marL="304800" indent="-304800" algn="ctr">
              <a:buFontTx/>
              <a:buNone/>
            </a:pPr>
            <a:r>
              <a:rPr lang="de-DE" altLang="zh-CN"/>
              <a:t>26 x 25 x … x 3 x 2 x 1 = 26! </a:t>
            </a:r>
            <a:r>
              <a:rPr lang="en-US" altLang="zh-CN">
                <a:latin typeface="Sylfaen" panose="010A0502050306030303" pitchFamily="18" charset="0"/>
                <a:ea typeface="宋体" panose="02010600030101010101" pitchFamily="2" charset="-122"/>
              </a:rPr>
              <a:t> </a:t>
            </a:r>
            <a:r>
              <a:rPr lang="en-US" altLang="zh-CN">
                <a:latin typeface="Sylfaen" panose="010A0502050306030303" pitchFamily="18" charset="0"/>
                <a:ea typeface="宋体" panose="02010600030101010101" pitchFamily="2" charset="-122"/>
                <a:sym typeface="Symbol" panose="05050102010706020507" pitchFamily="2" charset="2"/>
              </a:rPr>
              <a:t></a:t>
            </a:r>
            <a:r>
              <a:rPr lang="de-DE" altLang="zh-CN"/>
              <a:t>  2</a:t>
            </a:r>
            <a:r>
              <a:rPr lang="de-DE" altLang="zh-CN" baseline="30000"/>
              <a:t>88</a:t>
            </a:r>
            <a:endParaRPr lang="de-DE" altLang="zh-CN" baseline="30000"/>
          </a:p>
          <a:p>
            <a:pPr marL="304800" indent="-304800">
              <a:buFontTx/>
              <a:buNone/>
            </a:pPr>
            <a:r>
              <a:rPr lang="de-DE" altLang="zh-CN"/>
              <a:t>	</a:t>
            </a:r>
            <a:r>
              <a:rPr lang="de-DE" altLang="zh-CN" b="1"/>
              <a:t>Search through 2</a:t>
            </a:r>
            <a:r>
              <a:rPr lang="de-DE" altLang="zh-CN" b="1" baseline="30000"/>
              <a:t>88</a:t>
            </a:r>
            <a:r>
              <a:rPr lang="de-DE" altLang="zh-CN" b="1"/>
              <a:t> keys is completely infeasible with today‘s computers!</a:t>
            </a:r>
            <a:r>
              <a:rPr lang="de-DE" altLang="zh-CN"/>
              <a:t> (cf.  earlier table on key lengths)</a:t>
            </a:r>
            <a:br>
              <a:rPr lang="de-DE" altLang="zh-CN"/>
            </a:br>
            <a:endParaRPr lang="de-DE" altLang="zh-CN"/>
          </a:p>
          <a:p>
            <a:pPr marL="304800" indent="-304800"/>
            <a:r>
              <a:rPr lang="de-DE" altLang="zh-CN"/>
              <a:t>Q: Can we now conclude that the substitution cipher is secure since a brute-forece attack is not feasible?</a:t>
            </a:r>
            <a:endParaRPr lang="de-DE" altLang="zh-CN"/>
          </a:p>
          <a:p>
            <a:pPr marL="304800" indent="-304800"/>
            <a:r>
              <a:rPr lang="de-DE" altLang="zh-CN"/>
              <a:t>A: No! We have to protect against </a:t>
            </a:r>
            <a:r>
              <a:rPr lang="de-DE" altLang="zh-CN" b="1"/>
              <a:t>all</a:t>
            </a:r>
            <a:r>
              <a:rPr lang="de-DE" altLang="zh-CN"/>
              <a:t> possible attacks…</a:t>
            </a:r>
            <a:endParaRPr lang="de-DE" altLang="zh-CN"/>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4993E19-81A6-204F-BA56-6AF8A9AA644C}"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1029" name="Rectangle 2"/>
          <p:cNvSpPr>
            <a:spLocks noGrp="1" noChangeArrowheads="1"/>
          </p:cNvSpPr>
          <p:nvPr>
            <p:ph type="title"/>
          </p:nvPr>
        </p:nvSpPr>
        <p:spPr>
          <a:xfrm>
            <a:off x="471488" y="44450"/>
            <a:ext cx="7629525" cy="515938"/>
          </a:xfrm>
        </p:spPr>
        <p:txBody>
          <a:bodyPr/>
          <a:lstStyle/>
          <a:p>
            <a:r>
              <a:rPr lang="de-DE" altLang="zh-CN" b="0" dirty="0"/>
              <a:t>Second </a:t>
            </a:r>
            <a:r>
              <a:rPr lang="de-DE" altLang="zh-CN" b="0" dirty="0" err="1"/>
              <a:t>Attack</a:t>
            </a:r>
            <a:r>
              <a:rPr lang="de-DE" altLang="zh-CN" b="0" dirty="0"/>
              <a:t>: Letter </a:t>
            </a:r>
            <a:r>
              <a:rPr lang="de-DE" altLang="zh-CN" b="0" dirty="0" err="1"/>
              <a:t>Frequency</a:t>
            </a:r>
            <a:r>
              <a:rPr lang="de-DE" altLang="zh-CN" b="0" dirty="0"/>
              <a:t> Analysis</a:t>
            </a:r>
            <a:endParaRPr lang="de-DE" altLang="zh-CN" dirty="0"/>
          </a:p>
        </p:txBody>
      </p:sp>
      <p:sp>
        <p:nvSpPr>
          <p:cNvPr id="1030" name="Rectangle 3"/>
          <p:cNvSpPr>
            <a:spLocks noGrp="1" noChangeArrowheads="1"/>
          </p:cNvSpPr>
          <p:nvPr>
            <p:ph type="body" idx="1"/>
          </p:nvPr>
        </p:nvSpPr>
        <p:spPr>
          <a:xfrm>
            <a:off x="403036" y="548680"/>
            <a:ext cx="8633460" cy="1693284"/>
          </a:xfrm>
        </p:spPr>
        <p:txBody>
          <a:bodyPr/>
          <a:lstStyle/>
          <a:p>
            <a:pPr marL="304800" indent="-304800"/>
            <a:r>
              <a:rPr lang="de-DE" altLang="zh-CN" dirty="0"/>
              <a:t>Letters </a:t>
            </a:r>
            <a:r>
              <a:rPr lang="de-DE" altLang="zh-CN" dirty="0" err="1"/>
              <a:t>have</a:t>
            </a:r>
            <a:r>
              <a:rPr lang="de-DE" altLang="zh-CN" dirty="0"/>
              <a:t> </a:t>
            </a:r>
            <a:r>
              <a:rPr lang="de-DE" altLang="zh-CN" dirty="0" err="1"/>
              <a:t>very</a:t>
            </a:r>
            <a:r>
              <a:rPr lang="de-DE" altLang="zh-CN" dirty="0"/>
              <a:t> different </a:t>
            </a:r>
            <a:r>
              <a:rPr lang="de-DE" altLang="zh-CN" dirty="0" err="1"/>
              <a:t>frequencies</a:t>
            </a:r>
            <a:r>
              <a:rPr lang="de-DE" altLang="zh-CN" dirty="0"/>
              <a:t> in </a:t>
            </a:r>
            <a:r>
              <a:rPr lang="de-DE" altLang="zh-CN" dirty="0" err="1"/>
              <a:t>the</a:t>
            </a:r>
            <a:r>
              <a:rPr lang="de-DE" altLang="zh-CN" dirty="0"/>
              <a:t> English </a:t>
            </a:r>
            <a:r>
              <a:rPr lang="de-DE" altLang="zh-CN" dirty="0" err="1"/>
              <a:t>language</a:t>
            </a:r>
            <a:endParaRPr lang="de-DE" altLang="zh-CN" dirty="0"/>
          </a:p>
          <a:p>
            <a:pPr marL="304800" indent="-304800"/>
            <a:r>
              <a:rPr lang="de-DE" altLang="zh-CN" dirty="0" err="1"/>
              <a:t>Moreover</a:t>
            </a:r>
            <a:r>
              <a:rPr lang="de-DE" altLang="zh-CN" dirty="0"/>
              <a:t>: </a:t>
            </a:r>
            <a:r>
              <a:rPr lang="de-DE" altLang="zh-CN" dirty="0" err="1"/>
              <a:t>the</a:t>
            </a:r>
            <a:r>
              <a:rPr lang="de-DE" altLang="zh-CN" dirty="0"/>
              <a:t> </a:t>
            </a:r>
            <a:r>
              <a:rPr lang="de-DE" altLang="zh-CN" dirty="0" err="1"/>
              <a:t>frequency</a:t>
            </a:r>
            <a:r>
              <a:rPr lang="de-DE" altLang="zh-CN" dirty="0"/>
              <a:t> </a:t>
            </a:r>
            <a:r>
              <a:rPr lang="de-DE" altLang="zh-CN" dirty="0" err="1"/>
              <a:t>of</a:t>
            </a:r>
            <a:r>
              <a:rPr lang="de-DE" altLang="zh-CN" dirty="0"/>
              <a:t> </a:t>
            </a:r>
            <a:r>
              <a:rPr lang="de-DE" altLang="zh-CN" dirty="0" err="1"/>
              <a:t>plaintext</a:t>
            </a:r>
            <a:r>
              <a:rPr lang="de-DE" altLang="zh-CN" dirty="0"/>
              <a:t> </a:t>
            </a:r>
            <a:r>
              <a:rPr lang="de-DE" altLang="zh-CN" dirty="0" err="1"/>
              <a:t>letters</a:t>
            </a:r>
            <a:r>
              <a:rPr lang="de-DE" altLang="zh-CN" dirty="0"/>
              <a:t> </a:t>
            </a:r>
            <a:r>
              <a:rPr lang="de-DE" altLang="zh-CN" dirty="0" err="1"/>
              <a:t>is</a:t>
            </a:r>
            <a:r>
              <a:rPr lang="de-DE" altLang="zh-CN" dirty="0"/>
              <a:t> </a:t>
            </a:r>
            <a:r>
              <a:rPr lang="de-DE" altLang="zh-CN" dirty="0" err="1"/>
              <a:t>preserved</a:t>
            </a:r>
            <a:r>
              <a:rPr lang="de-DE" altLang="zh-CN" dirty="0"/>
              <a:t> in </a:t>
            </a:r>
            <a:r>
              <a:rPr lang="de-DE" altLang="zh-CN" dirty="0" err="1"/>
              <a:t>the</a:t>
            </a:r>
            <a:r>
              <a:rPr lang="de-DE" altLang="zh-CN" dirty="0"/>
              <a:t> </a:t>
            </a:r>
            <a:r>
              <a:rPr lang="de-DE" altLang="zh-CN" dirty="0" err="1"/>
              <a:t>ciphertext</a:t>
            </a:r>
            <a:r>
              <a:rPr lang="de-DE" altLang="zh-CN" dirty="0"/>
              <a:t>.</a:t>
            </a:r>
            <a:endParaRPr lang="de-DE" altLang="zh-CN" dirty="0"/>
          </a:p>
          <a:p>
            <a:pPr marL="304800" indent="-304800"/>
            <a:r>
              <a:rPr lang="de-DE" altLang="zh-CN" dirty="0" err="1"/>
              <a:t>For</a:t>
            </a:r>
            <a:r>
              <a:rPr lang="de-DE" altLang="zh-CN" dirty="0"/>
              <a:t> </a:t>
            </a:r>
            <a:r>
              <a:rPr lang="de-DE" altLang="zh-CN" dirty="0" err="1"/>
              <a:t>instance</a:t>
            </a:r>
            <a:r>
              <a:rPr lang="de-DE" altLang="zh-CN" dirty="0"/>
              <a:t>, </a:t>
            </a:r>
            <a:r>
              <a:rPr lang="zh-CN" altLang="en-US" dirty="0"/>
              <a:t>“</a:t>
            </a:r>
            <a:r>
              <a:rPr lang="de-DE" altLang="zh-CN" dirty="0" err="1"/>
              <a:t>e</a:t>
            </a:r>
            <a:r>
              <a:rPr lang="zh-CN" altLang="en-US" dirty="0"/>
              <a:t>”</a:t>
            </a:r>
            <a:r>
              <a:rPr lang="de-DE" altLang="zh-CN" dirty="0"/>
              <a:t>  </a:t>
            </a:r>
            <a:r>
              <a:rPr lang="de-DE" altLang="zh-CN" dirty="0" err="1"/>
              <a:t>is</a:t>
            </a:r>
            <a:r>
              <a:rPr lang="de-DE" altLang="zh-CN" dirty="0"/>
              <a:t> </a:t>
            </a:r>
            <a:r>
              <a:rPr lang="de-DE" altLang="zh-CN" dirty="0" err="1"/>
              <a:t>the</a:t>
            </a:r>
            <a:r>
              <a:rPr lang="de-DE" altLang="zh-CN" dirty="0"/>
              <a:t> </a:t>
            </a:r>
            <a:r>
              <a:rPr lang="de-DE" altLang="zh-CN" dirty="0" err="1"/>
              <a:t>most</a:t>
            </a:r>
            <a:r>
              <a:rPr lang="de-DE" altLang="zh-CN" dirty="0"/>
              <a:t> </a:t>
            </a:r>
            <a:r>
              <a:rPr lang="de-DE" altLang="zh-CN" dirty="0" err="1"/>
              <a:t>common</a:t>
            </a:r>
            <a:r>
              <a:rPr lang="de-DE" altLang="zh-CN" dirty="0"/>
              <a:t> </a:t>
            </a:r>
            <a:r>
              <a:rPr lang="de-DE" altLang="zh-CN" dirty="0" err="1"/>
              <a:t>letter</a:t>
            </a:r>
            <a:r>
              <a:rPr lang="de-DE" altLang="zh-CN" dirty="0"/>
              <a:t> in English; </a:t>
            </a:r>
            <a:r>
              <a:rPr lang="de-DE" altLang="zh-CN" dirty="0" err="1"/>
              <a:t>almost</a:t>
            </a:r>
            <a:r>
              <a:rPr lang="de-DE" altLang="zh-CN" dirty="0"/>
              <a:t> 13% </a:t>
            </a:r>
            <a:r>
              <a:rPr lang="de-DE" altLang="zh-CN" dirty="0" err="1"/>
              <a:t>of</a:t>
            </a:r>
            <a:r>
              <a:rPr lang="de-DE" altLang="zh-CN" dirty="0"/>
              <a:t> all </a:t>
            </a:r>
            <a:r>
              <a:rPr lang="de-DE" altLang="zh-CN" dirty="0" err="1"/>
              <a:t>letters</a:t>
            </a:r>
            <a:r>
              <a:rPr lang="de-DE" altLang="zh-CN" dirty="0"/>
              <a:t> in a </a:t>
            </a:r>
            <a:r>
              <a:rPr lang="de-DE" altLang="zh-CN" dirty="0" err="1"/>
              <a:t>typical</a:t>
            </a:r>
            <a:r>
              <a:rPr lang="de-DE" altLang="zh-CN" dirty="0"/>
              <a:t> English </a:t>
            </a:r>
            <a:r>
              <a:rPr lang="de-DE" altLang="zh-CN" dirty="0" err="1"/>
              <a:t>text</a:t>
            </a:r>
            <a:r>
              <a:rPr lang="de-DE" altLang="zh-CN" dirty="0"/>
              <a:t> </a:t>
            </a:r>
            <a:r>
              <a:rPr lang="de-DE" altLang="zh-CN" dirty="0" err="1"/>
              <a:t>are</a:t>
            </a:r>
            <a:r>
              <a:rPr lang="de-DE" altLang="zh-CN" dirty="0"/>
              <a:t> </a:t>
            </a:r>
            <a:r>
              <a:rPr lang="zh-CN" altLang="en-US" dirty="0"/>
              <a:t>“</a:t>
            </a:r>
            <a:r>
              <a:rPr lang="en-US" altLang="zh-CN" dirty="0"/>
              <a:t>e</a:t>
            </a:r>
            <a:r>
              <a:rPr lang="zh-CN" altLang="en-US" dirty="0"/>
              <a:t>”</a:t>
            </a:r>
            <a:r>
              <a:rPr lang="de-DE" altLang="zh-CN" dirty="0"/>
              <a:t>.</a:t>
            </a:r>
            <a:endParaRPr lang="de-DE" altLang="zh-CN" dirty="0"/>
          </a:p>
          <a:p>
            <a:pPr marL="304800" indent="-304800"/>
            <a:r>
              <a:rPr lang="de-DE" altLang="zh-CN" dirty="0"/>
              <a:t>The </a:t>
            </a:r>
            <a:r>
              <a:rPr lang="de-DE" altLang="zh-CN" dirty="0" err="1"/>
              <a:t>next</a:t>
            </a:r>
            <a:r>
              <a:rPr lang="de-DE" altLang="zh-CN" dirty="0"/>
              <a:t> </a:t>
            </a:r>
            <a:r>
              <a:rPr lang="de-DE" altLang="zh-CN" dirty="0" err="1"/>
              <a:t>most</a:t>
            </a:r>
            <a:r>
              <a:rPr lang="de-DE" altLang="zh-CN" dirty="0"/>
              <a:t> </a:t>
            </a:r>
            <a:r>
              <a:rPr lang="de-DE" altLang="zh-CN" dirty="0" err="1"/>
              <a:t>common</a:t>
            </a:r>
            <a:r>
              <a:rPr lang="de-DE" altLang="zh-CN" dirty="0"/>
              <a:t> </a:t>
            </a:r>
            <a:r>
              <a:rPr lang="de-DE" altLang="zh-CN" dirty="0" err="1"/>
              <a:t>one</a:t>
            </a:r>
            <a:r>
              <a:rPr lang="de-DE" altLang="zh-CN" dirty="0"/>
              <a:t> </a:t>
            </a:r>
            <a:r>
              <a:rPr lang="de-DE" altLang="zh-CN" dirty="0" err="1"/>
              <a:t>is</a:t>
            </a:r>
            <a:r>
              <a:rPr lang="de-DE" altLang="zh-CN" dirty="0"/>
              <a:t> </a:t>
            </a:r>
            <a:r>
              <a:rPr lang="zh-CN" altLang="en-US" dirty="0"/>
              <a:t>“</a:t>
            </a:r>
            <a:r>
              <a:rPr lang="en-US" altLang="zh-CN" dirty="0"/>
              <a:t>t</a:t>
            </a:r>
            <a:r>
              <a:rPr lang="zh-CN" altLang="en-US" dirty="0"/>
              <a:t>”</a:t>
            </a:r>
            <a:r>
              <a:rPr lang="de-DE" altLang="zh-CN" dirty="0"/>
              <a:t> </a:t>
            </a:r>
            <a:r>
              <a:rPr lang="de-DE" altLang="zh-CN" dirty="0" err="1"/>
              <a:t>with</a:t>
            </a:r>
            <a:r>
              <a:rPr lang="de-DE" altLang="zh-CN" dirty="0"/>
              <a:t> </a:t>
            </a:r>
            <a:r>
              <a:rPr lang="de-DE" altLang="zh-CN" dirty="0" err="1"/>
              <a:t>about</a:t>
            </a:r>
            <a:r>
              <a:rPr lang="de-DE" altLang="zh-CN" dirty="0"/>
              <a:t> 9%. </a:t>
            </a:r>
            <a:endParaRPr lang="de-DE" altLang="zh-CN" dirty="0"/>
          </a:p>
        </p:txBody>
      </p:sp>
      <p:graphicFrame>
        <p:nvGraphicFramePr>
          <p:cNvPr id="1026" name="Object 6"/>
          <p:cNvGraphicFramePr>
            <a:graphicFrameLocks noChangeAspect="1"/>
          </p:cNvGraphicFramePr>
          <p:nvPr/>
        </p:nvGraphicFramePr>
        <p:xfrm>
          <a:off x="500063" y="2349500"/>
          <a:ext cx="8143875" cy="4248150"/>
        </p:xfrm>
        <a:graphic>
          <a:graphicData uri="http://schemas.openxmlformats.org/presentationml/2006/ole">
            <mc:AlternateContent xmlns:mc="http://schemas.openxmlformats.org/markup-compatibility/2006">
              <mc:Choice xmlns:v="urn:schemas-microsoft-com:vml" Requires="v">
                <p:oleObj spid="_x0000_s0" name="" r:id="rId1" imgW="6962775" imgH="4352925" progId="">
                  <p:embed/>
                </p:oleObj>
              </mc:Choice>
              <mc:Fallback>
                <p:oleObj name="" r:id="rId1" imgW="6962775" imgH="4352925" progId="">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2349500"/>
                        <a:ext cx="8143875" cy="4248150"/>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66CAD8B-4EAC-BF47-ADB9-54CFF0E45A2F}"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33796" name="Rectangle 2"/>
          <p:cNvSpPr>
            <a:spLocks noGrp="1" noChangeArrowheads="1"/>
          </p:cNvSpPr>
          <p:nvPr>
            <p:ph type="title"/>
          </p:nvPr>
        </p:nvSpPr>
        <p:spPr>
          <a:xfrm>
            <a:off x="471488" y="322263"/>
            <a:ext cx="8493125" cy="515937"/>
          </a:xfrm>
        </p:spPr>
        <p:txBody>
          <a:bodyPr/>
          <a:lstStyle/>
          <a:p>
            <a:r>
              <a:rPr lang="de-DE" altLang="zh-CN"/>
              <a:t>Breaking the Substitution Cipher with Letter Frequency Attack</a:t>
            </a:r>
            <a:endParaRPr lang="de-DE" altLang="zh-CN"/>
          </a:p>
        </p:txBody>
      </p:sp>
      <p:sp>
        <p:nvSpPr>
          <p:cNvPr id="33797" name="Rectangle 3"/>
          <p:cNvSpPr>
            <a:spLocks noGrp="1" noChangeArrowheads="1"/>
          </p:cNvSpPr>
          <p:nvPr>
            <p:ph type="body" idx="1"/>
          </p:nvPr>
        </p:nvSpPr>
        <p:spPr>
          <a:xfrm>
            <a:off x="34925" y="1125538"/>
            <a:ext cx="8424863" cy="1349375"/>
          </a:xfrm>
        </p:spPr>
        <p:txBody>
          <a:bodyPr/>
          <a:lstStyle/>
          <a:p>
            <a:pPr lvl="1"/>
            <a:r>
              <a:rPr lang="de-DE" altLang="zh-CN"/>
              <a:t>Let‘s retun to our example and identify the most frequent letter: </a:t>
            </a:r>
            <a:endParaRPr lang="de-DE" altLang="zh-CN"/>
          </a:p>
          <a:p>
            <a:pPr lvl="1" algn="ctr">
              <a:buFontTx/>
              <a:buNone/>
            </a:pPr>
            <a:r>
              <a:rPr lang="de-DE" altLang="zh-CN"/>
              <a:t>           </a:t>
            </a:r>
            <a:r>
              <a:rPr lang="de-DE" altLang="zh-CN">
                <a:latin typeface="Courier New" panose="02070309020205020404" pitchFamily="49" charset="0"/>
              </a:rPr>
              <a:t>i</a:t>
            </a:r>
            <a:r>
              <a:rPr lang="de-DE" altLang="zh-CN">
                <a:solidFill>
                  <a:srgbClr val="FF0000"/>
                </a:solidFill>
                <a:latin typeface="Courier New" panose="02070309020205020404" pitchFamily="49" charset="0"/>
              </a:rPr>
              <a:t>q</a:t>
            </a:r>
            <a:r>
              <a:rPr lang="de-DE" altLang="zh-CN">
                <a:latin typeface="Courier New" panose="02070309020205020404" pitchFamily="49" charset="0"/>
              </a:rPr>
              <a:t> ifcc v</a:t>
            </a:r>
            <a:r>
              <a:rPr lang="de-DE" altLang="zh-CN">
                <a:solidFill>
                  <a:srgbClr val="FF0000"/>
                </a:solidFill>
                <a:latin typeface="Courier New" panose="02070309020205020404" pitchFamily="49" charset="0"/>
              </a:rPr>
              <a:t>qq</a:t>
            </a:r>
            <a:r>
              <a:rPr lang="de-DE" altLang="zh-CN">
                <a:latin typeface="Courier New" panose="02070309020205020404" pitchFamily="49" charset="0"/>
              </a:rPr>
              <a:t>r fb rd</a:t>
            </a:r>
            <a:r>
              <a:rPr lang="de-DE" altLang="zh-CN">
                <a:solidFill>
                  <a:srgbClr val="FF0000"/>
                </a:solidFill>
                <a:latin typeface="Courier New" panose="02070309020205020404" pitchFamily="49" charset="0"/>
              </a:rPr>
              <a:t>q</a:t>
            </a:r>
            <a:r>
              <a:rPr lang="de-DE" altLang="zh-CN">
                <a:latin typeface="Courier New" panose="02070309020205020404" pitchFamily="49" charset="0"/>
              </a:rPr>
              <a:t> vfllc</a:t>
            </a:r>
            <a:r>
              <a:rPr lang="de-DE" altLang="zh-CN">
                <a:solidFill>
                  <a:srgbClr val="FF0000"/>
                </a:solidFill>
                <a:latin typeface="Courier New" panose="02070309020205020404" pitchFamily="49" charset="0"/>
              </a:rPr>
              <a:t>q</a:t>
            </a:r>
            <a:r>
              <a:rPr lang="de-DE" altLang="zh-CN">
                <a:latin typeface="Courier New" panose="02070309020205020404" pitchFamily="49" charset="0"/>
              </a:rPr>
              <a:t> na rd</a:t>
            </a:r>
            <a:r>
              <a:rPr lang="de-DE" altLang="zh-CN">
                <a:solidFill>
                  <a:srgbClr val="FF0000"/>
                </a:solidFill>
                <a:latin typeface="Courier New" panose="02070309020205020404" pitchFamily="49" charset="0"/>
              </a:rPr>
              <a:t>q</a:t>
            </a:r>
            <a:r>
              <a:rPr lang="de-DE" altLang="zh-CN">
                <a:latin typeface="Courier New" panose="02070309020205020404" pitchFamily="49" charset="0"/>
              </a:rPr>
              <a:t> cfjwhwz hr bnnb hcc hwwhbs</a:t>
            </a:r>
            <a:r>
              <a:rPr lang="de-DE" altLang="zh-CN">
                <a:solidFill>
                  <a:srgbClr val="FF0000"/>
                </a:solidFill>
                <a:latin typeface="Courier New" panose="02070309020205020404" pitchFamily="49" charset="0"/>
              </a:rPr>
              <a:t>q</a:t>
            </a:r>
            <a:r>
              <a:rPr lang="de-DE" altLang="zh-CN">
                <a:latin typeface="Courier New" panose="02070309020205020404" pitchFamily="49" charset="0"/>
              </a:rPr>
              <a:t>v</a:t>
            </a:r>
            <a:r>
              <a:rPr lang="de-DE" altLang="zh-CN">
                <a:solidFill>
                  <a:srgbClr val="FF0000"/>
                </a:solidFill>
                <a:latin typeface="Courier New" panose="02070309020205020404" pitchFamily="49" charset="0"/>
              </a:rPr>
              <a:t>q</a:t>
            </a:r>
            <a:r>
              <a:rPr lang="de-DE" altLang="zh-CN">
                <a:latin typeface="Courier New" panose="02070309020205020404" pitchFamily="49" charset="0"/>
              </a:rPr>
              <a:t>bre hw</a:t>
            </a:r>
            <a:r>
              <a:rPr lang="de-DE" altLang="zh-CN">
                <a:solidFill>
                  <a:srgbClr val="FF0000"/>
                </a:solidFill>
                <a:latin typeface="Courier New" panose="02070309020205020404" pitchFamily="49" charset="0"/>
              </a:rPr>
              <a:t>q</a:t>
            </a:r>
            <a:r>
              <a:rPr lang="de-DE" altLang="zh-CN">
                <a:latin typeface="Courier New" panose="02070309020205020404" pitchFamily="49" charset="0"/>
              </a:rPr>
              <a:t> vhl</a:t>
            </a:r>
            <a:r>
              <a:rPr lang="de-DE" altLang="zh-CN">
                <a:solidFill>
                  <a:srgbClr val="FF0000"/>
                </a:solidFill>
                <a:latin typeface="Courier New" panose="02070309020205020404" pitchFamily="49" charset="0"/>
              </a:rPr>
              <a:t>q</a:t>
            </a:r>
            <a:endParaRPr lang="de-DE" altLang="zh-CN">
              <a:solidFill>
                <a:srgbClr val="FF0000"/>
              </a:solidFill>
              <a:latin typeface="Courier New" panose="02070309020205020404" pitchFamily="49" charset="0"/>
            </a:endParaRPr>
          </a:p>
          <a:p>
            <a:pPr>
              <a:buFontTx/>
              <a:buNone/>
            </a:pPr>
            <a:endParaRPr lang="de-DE" altLang="zh-CN"/>
          </a:p>
        </p:txBody>
      </p:sp>
      <p:sp>
        <p:nvSpPr>
          <p:cNvPr id="33798" name="Rectangle 5"/>
          <p:cNvSpPr>
            <a:spLocks noChangeArrowheads="1"/>
          </p:cNvSpPr>
          <p:nvPr/>
        </p:nvSpPr>
        <p:spPr bwMode="auto">
          <a:xfrm>
            <a:off x="0" y="2349500"/>
            <a:ext cx="8424863"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lnSpc>
                <a:spcPct val="125000"/>
              </a:lnSpc>
              <a:spcBef>
                <a:spcPct val="25000"/>
              </a:spcBef>
              <a:buClr>
                <a:srgbClr val="007AC2"/>
              </a:buClr>
              <a:buSzPct val="120000"/>
              <a:buFontTx/>
              <a:buChar char="•"/>
            </a:pPr>
            <a:r>
              <a:rPr lang="de-DE" altLang="zh-CN" sz="1600"/>
              <a:t>We replace the ciphertext letter </a:t>
            </a:r>
            <a:r>
              <a:rPr lang="de-DE" altLang="zh-CN" sz="1600">
                <a:latin typeface="Courier New" panose="02070309020205020404" pitchFamily="49" charset="0"/>
              </a:rPr>
              <a:t>q</a:t>
            </a:r>
            <a:r>
              <a:rPr lang="de-DE" altLang="zh-CN" sz="1600"/>
              <a:t> by</a:t>
            </a:r>
            <a:r>
              <a:rPr lang="de-DE" altLang="zh-CN" sz="1600">
                <a:latin typeface="Courier New" panose="02070309020205020404" pitchFamily="49" charset="0"/>
              </a:rPr>
              <a:t> E</a:t>
            </a:r>
            <a:r>
              <a:rPr lang="de-DE" altLang="zh-CN" sz="1600"/>
              <a:t> and obtain: </a:t>
            </a:r>
            <a:endParaRPr lang="de-DE" altLang="zh-CN" sz="1600"/>
          </a:p>
          <a:p>
            <a:pPr lvl="1" algn="ctr">
              <a:lnSpc>
                <a:spcPct val="125000"/>
              </a:lnSpc>
              <a:spcBef>
                <a:spcPct val="25000"/>
              </a:spcBef>
              <a:buClr>
                <a:srgbClr val="007AC2"/>
              </a:buClr>
              <a:buSzPct val="120000"/>
            </a:pPr>
            <a:r>
              <a:rPr lang="de-DE" altLang="zh-CN" sz="1600"/>
              <a:t>           </a:t>
            </a:r>
            <a:r>
              <a:rPr lang="de-DE" altLang="zh-CN" sz="1600">
                <a:latin typeface="Courier New" panose="02070309020205020404" pitchFamily="49" charset="0"/>
              </a:rPr>
              <a:t>i</a:t>
            </a:r>
            <a:r>
              <a:rPr lang="de-DE" altLang="zh-CN" sz="1600">
                <a:solidFill>
                  <a:srgbClr val="FF0000"/>
                </a:solidFill>
                <a:latin typeface="Courier New" panose="02070309020205020404" pitchFamily="49" charset="0"/>
              </a:rPr>
              <a:t>E</a:t>
            </a:r>
            <a:r>
              <a:rPr lang="de-DE" altLang="zh-CN" sz="1600">
                <a:latin typeface="Courier New" panose="02070309020205020404" pitchFamily="49" charset="0"/>
              </a:rPr>
              <a:t> ifcc v</a:t>
            </a:r>
            <a:r>
              <a:rPr lang="de-DE" altLang="zh-CN" sz="1600">
                <a:solidFill>
                  <a:srgbClr val="FF0000"/>
                </a:solidFill>
                <a:latin typeface="Courier New" panose="02070309020205020404" pitchFamily="49" charset="0"/>
              </a:rPr>
              <a:t>EE</a:t>
            </a:r>
            <a:r>
              <a:rPr lang="de-DE" altLang="zh-CN" sz="1600">
                <a:latin typeface="Courier New" panose="02070309020205020404" pitchFamily="49" charset="0"/>
              </a:rPr>
              <a:t>r fb rd</a:t>
            </a:r>
            <a:r>
              <a:rPr lang="de-DE" altLang="zh-CN" sz="1600">
                <a:solidFill>
                  <a:srgbClr val="FF0000"/>
                </a:solidFill>
                <a:latin typeface="Courier New" panose="02070309020205020404" pitchFamily="49" charset="0"/>
              </a:rPr>
              <a:t>E</a:t>
            </a:r>
            <a:r>
              <a:rPr lang="de-DE" altLang="zh-CN" sz="1600">
                <a:latin typeface="Courier New" panose="02070309020205020404" pitchFamily="49" charset="0"/>
              </a:rPr>
              <a:t> vfllc</a:t>
            </a:r>
            <a:r>
              <a:rPr lang="de-DE" altLang="zh-CN" sz="1600">
                <a:solidFill>
                  <a:srgbClr val="FF0000"/>
                </a:solidFill>
                <a:latin typeface="Courier New" panose="02070309020205020404" pitchFamily="49" charset="0"/>
              </a:rPr>
              <a:t>E</a:t>
            </a:r>
            <a:r>
              <a:rPr lang="de-DE" altLang="zh-CN" sz="1600">
                <a:latin typeface="Courier New" panose="02070309020205020404" pitchFamily="49" charset="0"/>
              </a:rPr>
              <a:t> na rd</a:t>
            </a:r>
            <a:r>
              <a:rPr lang="de-DE" altLang="zh-CN" sz="1600">
                <a:solidFill>
                  <a:srgbClr val="FF0000"/>
                </a:solidFill>
                <a:latin typeface="Courier New" panose="02070309020205020404" pitchFamily="49" charset="0"/>
              </a:rPr>
              <a:t>E</a:t>
            </a:r>
            <a:r>
              <a:rPr lang="de-DE" altLang="zh-CN" sz="1600">
                <a:latin typeface="Courier New" panose="02070309020205020404" pitchFamily="49" charset="0"/>
              </a:rPr>
              <a:t> cfjwhwz hr bnnb  hcc hwwhbs</a:t>
            </a:r>
            <a:r>
              <a:rPr lang="de-DE" altLang="zh-CN" sz="1600">
                <a:solidFill>
                  <a:srgbClr val="FF0000"/>
                </a:solidFill>
                <a:latin typeface="Courier New" panose="02070309020205020404" pitchFamily="49" charset="0"/>
              </a:rPr>
              <a:t>E</a:t>
            </a:r>
            <a:r>
              <a:rPr lang="de-DE" altLang="zh-CN" sz="1600">
                <a:latin typeface="Courier New" panose="02070309020205020404" pitchFamily="49" charset="0"/>
              </a:rPr>
              <a:t>v</a:t>
            </a:r>
            <a:r>
              <a:rPr lang="de-DE" altLang="zh-CN" sz="1600">
                <a:solidFill>
                  <a:srgbClr val="FF0000"/>
                </a:solidFill>
                <a:latin typeface="Courier New" panose="02070309020205020404" pitchFamily="49" charset="0"/>
              </a:rPr>
              <a:t>E</a:t>
            </a:r>
            <a:r>
              <a:rPr lang="de-DE" altLang="zh-CN" sz="1600">
                <a:latin typeface="Courier New" panose="02070309020205020404" pitchFamily="49" charset="0"/>
              </a:rPr>
              <a:t>bre hw</a:t>
            </a:r>
            <a:r>
              <a:rPr lang="de-DE" altLang="zh-CN" sz="1600">
                <a:solidFill>
                  <a:srgbClr val="FF0000"/>
                </a:solidFill>
                <a:latin typeface="Courier New" panose="02070309020205020404" pitchFamily="49" charset="0"/>
              </a:rPr>
              <a:t>E</a:t>
            </a:r>
            <a:r>
              <a:rPr lang="de-DE" altLang="zh-CN" sz="1600">
                <a:latin typeface="Courier New" panose="02070309020205020404" pitchFamily="49" charset="0"/>
              </a:rPr>
              <a:t> vhl</a:t>
            </a:r>
            <a:r>
              <a:rPr lang="de-DE" altLang="zh-CN" sz="1600">
                <a:solidFill>
                  <a:srgbClr val="FF0000"/>
                </a:solidFill>
                <a:latin typeface="Courier New" panose="02070309020205020404" pitchFamily="49" charset="0"/>
              </a:rPr>
              <a:t>E</a:t>
            </a:r>
            <a:endParaRPr lang="de-DE" altLang="zh-CN" sz="1600">
              <a:solidFill>
                <a:srgbClr val="FF0000"/>
              </a:solidFill>
              <a:latin typeface="Courier New" panose="02070309020205020404" pitchFamily="49" charset="0"/>
            </a:endParaRPr>
          </a:p>
          <a:p>
            <a:pPr>
              <a:lnSpc>
                <a:spcPct val="125000"/>
              </a:lnSpc>
              <a:spcBef>
                <a:spcPct val="25000"/>
              </a:spcBef>
              <a:buClr>
                <a:srgbClr val="007AC2"/>
              </a:buClr>
              <a:buSzPct val="120000"/>
            </a:pPr>
            <a:endParaRPr lang="de-DE" altLang="zh-CN" sz="1600"/>
          </a:p>
        </p:txBody>
      </p:sp>
      <p:sp>
        <p:nvSpPr>
          <p:cNvPr id="33799" name="Rectangle 6"/>
          <p:cNvSpPr>
            <a:spLocks noChangeArrowheads="1"/>
          </p:cNvSpPr>
          <p:nvPr/>
        </p:nvSpPr>
        <p:spPr bwMode="auto">
          <a:xfrm>
            <a:off x="0" y="3654425"/>
            <a:ext cx="8424863" cy="128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lnSpc>
                <a:spcPct val="125000"/>
              </a:lnSpc>
              <a:spcBef>
                <a:spcPct val="25000"/>
              </a:spcBef>
              <a:buClr>
                <a:srgbClr val="007AC2"/>
              </a:buClr>
              <a:buSzPct val="120000"/>
              <a:buFontTx/>
              <a:buChar char="•"/>
            </a:pPr>
            <a:r>
              <a:rPr lang="de-DE" altLang="zh-CN" sz="1600"/>
              <a:t>By further guessing based on the frequency of the remaining letters we obtain the plaintext:</a:t>
            </a:r>
            <a:endParaRPr lang="de-DE" altLang="zh-CN" sz="1600"/>
          </a:p>
          <a:p>
            <a:pPr lvl="1" algn="ctr">
              <a:lnSpc>
                <a:spcPct val="125000"/>
              </a:lnSpc>
              <a:spcBef>
                <a:spcPct val="25000"/>
              </a:spcBef>
              <a:buClr>
                <a:srgbClr val="007AC2"/>
              </a:buClr>
              <a:buSzPct val="120000"/>
            </a:pPr>
            <a:r>
              <a:rPr lang="de-DE" altLang="zh-CN" sz="1600"/>
              <a:t>           </a:t>
            </a:r>
            <a:r>
              <a:rPr lang="en-US" altLang="zh-CN" sz="1600">
                <a:solidFill>
                  <a:srgbClr val="FF0000"/>
                </a:solidFill>
                <a:latin typeface="Courier New" panose="02070309020205020404" pitchFamily="49" charset="0"/>
                <a:ea typeface="宋体" panose="02010600030101010101" pitchFamily="2" charset="-122"/>
              </a:rPr>
              <a:t>WE WILL MEET IN THE MIDDLE OF THE LIBRARY AT NOON ALL ARRANGEMENTS ARE MADE</a:t>
            </a:r>
            <a:endParaRPr lang="de-DE" altLang="zh-CN" sz="1600">
              <a:solidFill>
                <a:srgbClr val="FF0000"/>
              </a:solidFill>
              <a:latin typeface="Courier New" panose="02070309020205020404" pitchFamily="49" charset="0"/>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AA4EA72-0055-C749-BB48-AB56F9EEAF6D}"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34820" name="Rectangle 4"/>
          <p:cNvSpPr>
            <a:spLocks noGrp="1" noChangeArrowheads="1"/>
          </p:cNvSpPr>
          <p:nvPr>
            <p:ph type="title"/>
          </p:nvPr>
        </p:nvSpPr>
        <p:spPr>
          <a:xfrm>
            <a:off x="471488" y="322263"/>
            <a:ext cx="7485062" cy="515937"/>
          </a:xfrm>
        </p:spPr>
        <p:txBody>
          <a:bodyPr/>
          <a:lstStyle/>
          <a:p>
            <a:r>
              <a:rPr lang="de-DE" altLang="zh-CN" sz="1700"/>
              <a:t>Breaking the Substitution Cipher with Letter Frequency Attack</a:t>
            </a:r>
            <a:endParaRPr lang="de-DE" altLang="zh-CN" sz="1700"/>
          </a:p>
        </p:txBody>
      </p:sp>
      <p:sp>
        <p:nvSpPr>
          <p:cNvPr id="34821" name="Rectangle 5"/>
          <p:cNvSpPr>
            <a:spLocks noGrp="1" noChangeArrowheads="1"/>
          </p:cNvSpPr>
          <p:nvPr>
            <p:ph type="body" idx="1"/>
          </p:nvPr>
        </p:nvSpPr>
        <p:spPr>
          <a:xfrm>
            <a:off x="611188" y="981075"/>
            <a:ext cx="7467600" cy="1962150"/>
          </a:xfrm>
        </p:spPr>
        <p:txBody>
          <a:bodyPr/>
          <a:lstStyle/>
          <a:p>
            <a:r>
              <a:rPr lang="de-DE" altLang="zh-CN" dirty="0"/>
              <a:t>In </a:t>
            </a:r>
            <a:r>
              <a:rPr lang="de-DE" altLang="zh-CN" dirty="0" err="1"/>
              <a:t>practice</a:t>
            </a:r>
            <a:r>
              <a:rPr lang="de-DE" altLang="zh-CN" dirty="0"/>
              <a:t>, not </a:t>
            </a:r>
            <a:r>
              <a:rPr lang="de-DE" altLang="zh-CN" dirty="0" err="1"/>
              <a:t>only</a:t>
            </a:r>
            <a:r>
              <a:rPr lang="de-DE" altLang="zh-CN" dirty="0"/>
              <a:t> </a:t>
            </a:r>
            <a:r>
              <a:rPr lang="de-DE" altLang="zh-CN" dirty="0" err="1"/>
              <a:t>frequencies</a:t>
            </a:r>
            <a:r>
              <a:rPr lang="de-DE" altLang="zh-CN" dirty="0"/>
              <a:t> </a:t>
            </a:r>
            <a:r>
              <a:rPr lang="de-DE" altLang="zh-CN" dirty="0" err="1"/>
              <a:t>of</a:t>
            </a:r>
            <a:r>
              <a:rPr lang="de-DE" altLang="zh-CN" dirty="0"/>
              <a:t> individual </a:t>
            </a:r>
            <a:r>
              <a:rPr lang="de-DE" altLang="zh-CN" dirty="0" err="1"/>
              <a:t>letters</a:t>
            </a:r>
            <a:r>
              <a:rPr lang="de-DE" altLang="zh-CN" dirty="0"/>
              <a:t> </a:t>
            </a:r>
            <a:r>
              <a:rPr lang="de-DE" altLang="zh-CN" dirty="0" err="1"/>
              <a:t>can</a:t>
            </a:r>
            <a:r>
              <a:rPr lang="de-DE" altLang="zh-CN" dirty="0"/>
              <a:t> </a:t>
            </a:r>
            <a:r>
              <a:rPr lang="de-DE" altLang="zh-CN" dirty="0" err="1"/>
              <a:t>be</a:t>
            </a:r>
            <a:r>
              <a:rPr lang="de-DE" altLang="zh-CN" dirty="0"/>
              <a:t> </a:t>
            </a:r>
            <a:r>
              <a:rPr lang="de-DE" altLang="zh-CN" dirty="0" err="1"/>
              <a:t>used</a:t>
            </a:r>
            <a:r>
              <a:rPr lang="de-DE" altLang="zh-CN" dirty="0"/>
              <a:t> </a:t>
            </a:r>
            <a:r>
              <a:rPr lang="de-DE" altLang="zh-CN" dirty="0" err="1"/>
              <a:t>for</a:t>
            </a:r>
            <a:r>
              <a:rPr lang="de-DE" altLang="zh-CN" dirty="0"/>
              <a:t> an </a:t>
            </a:r>
            <a:r>
              <a:rPr lang="de-DE" altLang="zh-CN" dirty="0" err="1"/>
              <a:t>attack</a:t>
            </a:r>
            <a:r>
              <a:rPr lang="de-DE" altLang="zh-CN" dirty="0"/>
              <a:t>, but also </a:t>
            </a:r>
            <a:r>
              <a:rPr lang="de-DE" altLang="zh-CN" dirty="0" err="1"/>
              <a:t>the</a:t>
            </a:r>
            <a:r>
              <a:rPr lang="de-DE" altLang="zh-CN" dirty="0"/>
              <a:t> </a:t>
            </a:r>
            <a:r>
              <a:rPr lang="de-DE" altLang="zh-CN" dirty="0" err="1"/>
              <a:t>frequency</a:t>
            </a:r>
            <a:r>
              <a:rPr lang="de-DE" altLang="zh-CN" dirty="0"/>
              <a:t> </a:t>
            </a:r>
            <a:r>
              <a:rPr lang="de-DE" altLang="zh-CN" dirty="0" err="1"/>
              <a:t>of</a:t>
            </a:r>
            <a:r>
              <a:rPr lang="de-DE" altLang="zh-CN" dirty="0"/>
              <a:t> </a:t>
            </a:r>
            <a:r>
              <a:rPr lang="de-DE" altLang="zh-CN" dirty="0" err="1"/>
              <a:t>letter</a:t>
            </a:r>
            <a:r>
              <a:rPr lang="de-DE" altLang="zh-CN" dirty="0"/>
              <a:t> </a:t>
            </a:r>
            <a:r>
              <a:rPr lang="de-DE" altLang="zh-CN" dirty="0" err="1"/>
              <a:t>pairs</a:t>
            </a:r>
            <a:r>
              <a:rPr lang="de-DE" altLang="zh-CN" dirty="0"/>
              <a:t> (i.e., </a:t>
            </a:r>
            <a:r>
              <a:rPr lang="zh-CN" altLang="en-US" dirty="0"/>
              <a:t>“</a:t>
            </a:r>
            <a:r>
              <a:rPr lang="de-DE" altLang="zh-CN" dirty="0" err="1"/>
              <a:t>th</a:t>
            </a:r>
            <a:r>
              <a:rPr lang="zh-CN" altLang="en-US" dirty="0"/>
              <a:t>”</a:t>
            </a:r>
            <a:r>
              <a:rPr lang="de-DE" altLang="zh-CN" dirty="0"/>
              <a:t> </a:t>
            </a:r>
            <a:r>
              <a:rPr lang="de-DE" altLang="zh-CN" dirty="0" err="1"/>
              <a:t>is</a:t>
            </a:r>
            <a:r>
              <a:rPr lang="de-DE" altLang="zh-CN" dirty="0"/>
              <a:t> </a:t>
            </a:r>
            <a:r>
              <a:rPr lang="de-DE" altLang="zh-CN" dirty="0" err="1"/>
              <a:t>very</a:t>
            </a:r>
            <a:r>
              <a:rPr lang="de-DE" altLang="zh-CN" dirty="0"/>
              <a:t> </a:t>
            </a:r>
            <a:r>
              <a:rPr lang="de-DE" altLang="zh-CN" dirty="0" err="1"/>
              <a:t>common</a:t>
            </a:r>
            <a:r>
              <a:rPr lang="de-DE" altLang="zh-CN" dirty="0"/>
              <a:t> in English), </a:t>
            </a:r>
            <a:r>
              <a:rPr lang="de-DE" altLang="zh-CN" dirty="0" err="1"/>
              <a:t>letter</a:t>
            </a:r>
            <a:r>
              <a:rPr lang="de-DE" altLang="zh-CN" dirty="0"/>
              <a:t> </a:t>
            </a:r>
            <a:r>
              <a:rPr lang="de-DE" altLang="zh-CN" dirty="0" err="1"/>
              <a:t>triples</a:t>
            </a:r>
            <a:r>
              <a:rPr lang="de-DE" altLang="zh-CN" dirty="0"/>
              <a:t>, etc.</a:t>
            </a:r>
            <a:endParaRPr lang="de-DE" altLang="zh-CN" dirty="0"/>
          </a:p>
          <a:p>
            <a:r>
              <a:rPr lang="en-US" altLang="zh-CN" dirty="0">
                <a:ea typeface="宋体" panose="02010600030101010101" pitchFamily="2" charset="-122"/>
              </a:rPr>
              <a:t>cf. Problem 1.1 in </a:t>
            </a:r>
            <a:r>
              <a:rPr lang="en-US" altLang="zh-CN" i="1" dirty="0">
                <a:ea typeface="宋体" panose="02010600030101010101" pitchFamily="2" charset="-122"/>
              </a:rPr>
              <a:t>Understanding Cryptography</a:t>
            </a:r>
            <a:r>
              <a:rPr lang="en-US" altLang="zh-CN" dirty="0">
                <a:ea typeface="宋体" panose="02010600030101010101" pitchFamily="2" charset="-122"/>
              </a:rPr>
              <a:t> for a longer ciphertext you can try to break!</a:t>
            </a:r>
            <a:endParaRPr lang="en-US" altLang="zh-CN" dirty="0">
              <a:ea typeface="宋体" panose="02010600030101010101" pitchFamily="2" charset="-122"/>
            </a:endParaRPr>
          </a:p>
          <a:p>
            <a:endParaRPr lang="de-DE" altLang="zh-CN" dirty="0"/>
          </a:p>
        </p:txBody>
      </p:sp>
      <p:sp>
        <p:nvSpPr>
          <p:cNvPr id="34822" name="Rectangle 6"/>
          <p:cNvSpPr>
            <a:spLocks noChangeArrowheads="1"/>
          </p:cNvSpPr>
          <p:nvPr/>
        </p:nvSpPr>
        <p:spPr bwMode="auto">
          <a:xfrm>
            <a:off x="323850" y="3429000"/>
            <a:ext cx="7467600"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pPr>
            <a:r>
              <a:rPr lang="de-DE" altLang="zh-CN" sz="1600" b="1" dirty="0" err="1"/>
              <a:t>Important</a:t>
            </a:r>
            <a:r>
              <a:rPr lang="de-DE" altLang="zh-CN" sz="1600" b="1" dirty="0"/>
              <a:t> </a:t>
            </a:r>
            <a:r>
              <a:rPr lang="de-DE" altLang="zh-CN" sz="1600" b="1" dirty="0" err="1"/>
              <a:t>lesson</a:t>
            </a:r>
            <a:r>
              <a:rPr lang="de-DE" altLang="zh-CN" sz="1600" dirty="0"/>
              <a:t>: Even </a:t>
            </a:r>
            <a:r>
              <a:rPr lang="de-DE" altLang="zh-CN" sz="1600" dirty="0" err="1"/>
              <a:t>though</a:t>
            </a:r>
            <a:r>
              <a:rPr lang="de-DE" altLang="zh-CN" sz="1600" dirty="0"/>
              <a:t> </a:t>
            </a:r>
            <a:r>
              <a:rPr lang="de-DE" altLang="zh-CN" sz="1600" dirty="0" err="1"/>
              <a:t>the</a:t>
            </a:r>
            <a:r>
              <a:rPr lang="de-DE" altLang="zh-CN" sz="1600" dirty="0"/>
              <a:t> </a:t>
            </a:r>
            <a:r>
              <a:rPr lang="de-DE" altLang="zh-CN" sz="1600" dirty="0" err="1"/>
              <a:t>substitution</a:t>
            </a:r>
            <a:r>
              <a:rPr lang="de-DE" altLang="zh-CN" sz="1600" dirty="0"/>
              <a:t> </a:t>
            </a:r>
            <a:r>
              <a:rPr lang="de-DE" altLang="zh-CN" sz="1600" dirty="0" err="1"/>
              <a:t>cipher</a:t>
            </a:r>
            <a:r>
              <a:rPr lang="de-DE" altLang="zh-CN" sz="1600" dirty="0"/>
              <a:t> </a:t>
            </a:r>
            <a:r>
              <a:rPr lang="de-DE" altLang="zh-CN" sz="1600" dirty="0" err="1"/>
              <a:t>has</a:t>
            </a:r>
            <a:r>
              <a:rPr lang="de-DE" altLang="zh-CN" sz="1600" dirty="0"/>
              <a:t> a </a:t>
            </a:r>
            <a:r>
              <a:rPr lang="de-DE" altLang="zh-CN" sz="1600" dirty="0" err="1"/>
              <a:t>sufficiently</a:t>
            </a:r>
            <a:r>
              <a:rPr lang="de-DE" altLang="zh-CN" sz="1600" dirty="0"/>
              <a:t> large </a:t>
            </a:r>
            <a:r>
              <a:rPr lang="de-DE" altLang="zh-CN" sz="1600" dirty="0" err="1"/>
              <a:t>key</a:t>
            </a:r>
            <a:r>
              <a:rPr lang="de-DE" altLang="zh-CN" sz="1600" dirty="0"/>
              <a:t> </a:t>
            </a:r>
            <a:r>
              <a:rPr lang="de-DE" altLang="zh-CN" sz="1600" dirty="0" err="1"/>
              <a:t>space</a:t>
            </a:r>
            <a:r>
              <a:rPr lang="de-DE" altLang="zh-CN" sz="1600" dirty="0"/>
              <a:t> </a:t>
            </a:r>
            <a:r>
              <a:rPr lang="de-DE" altLang="zh-CN" sz="1600" dirty="0" err="1"/>
              <a:t>of</a:t>
            </a:r>
            <a:r>
              <a:rPr lang="de-DE" altLang="zh-CN" sz="1600" dirty="0"/>
              <a:t> </a:t>
            </a:r>
            <a:r>
              <a:rPr lang="de-DE" altLang="zh-CN" sz="1600" dirty="0" err="1"/>
              <a:t>appr</a:t>
            </a:r>
            <a:r>
              <a:rPr lang="de-DE" altLang="zh-CN" sz="1600" dirty="0"/>
              <a:t>. 2</a:t>
            </a:r>
            <a:r>
              <a:rPr lang="de-DE" altLang="zh-CN" sz="1600" baseline="30000" dirty="0"/>
              <a:t>88</a:t>
            </a:r>
            <a:r>
              <a:rPr lang="de-DE" altLang="zh-CN" sz="1600" dirty="0"/>
              <a:t>, </a:t>
            </a:r>
            <a:r>
              <a:rPr lang="de-DE" altLang="zh-CN" sz="1600" dirty="0" err="1"/>
              <a:t>it</a:t>
            </a:r>
            <a:r>
              <a:rPr lang="de-DE" altLang="zh-CN" sz="1600" dirty="0"/>
              <a:t> </a:t>
            </a:r>
            <a:r>
              <a:rPr lang="de-DE" altLang="zh-CN" sz="1600" dirty="0" err="1"/>
              <a:t>can</a:t>
            </a:r>
            <a:r>
              <a:rPr lang="de-DE" altLang="zh-CN" sz="1600" dirty="0"/>
              <a:t> </a:t>
            </a:r>
            <a:r>
              <a:rPr lang="de-DE" altLang="zh-CN" sz="1600" dirty="0" err="1"/>
              <a:t>easily</a:t>
            </a:r>
            <a:r>
              <a:rPr lang="de-DE" altLang="zh-CN" sz="1600" dirty="0"/>
              <a:t> </a:t>
            </a:r>
            <a:r>
              <a:rPr lang="de-DE" altLang="zh-CN" sz="1600" dirty="0" err="1"/>
              <a:t>be</a:t>
            </a:r>
            <a:r>
              <a:rPr lang="de-DE" altLang="zh-CN" sz="1600" dirty="0"/>
              <a:t> </a:t>
            </a:r>
            <a:r>
              <a:rPr lang="de-DE" altLang="zh-CN" sz="1600" dirty="0" err="1"/>
              <a:t>defeated</a:t>
            </a:r>
            <a:r>
              <a:rPr lang="de-DE" altLang="zh-CN" sz="1600" dirty="0"/>
              <a:t> </a:t>
            </a:r>
            <a:r>
              <a:rPr lang="de-DE" altLang="zh-CN" sz="1600" dirty="0" err="1"/>
              <a:t>with</a:t>
            </a:r>
            <a:r>
              <a:rPr lang="de-DE" altLang="zh-CN" sz="1600" dirty="0"/>
              <a:t> </a:t>
            </a:r>
            <a:r>
              <a:rPr lang="de-DE" altLang="zh-CN" sz="1600" dirty="0" err="1"/>
              <a:t>analytical</a:t>
            </a:r>
            <a:r>
              <a:rPr lang="de-DE" altLang="zh-CN" sz="1600" dirty="0"/>
              <a:t> </a:t>
            </a:r>
            <a:r>
              <a:rPr lang="de-DE" altLang="zh-CN" sz="1600" dirty="0" err="1"/>
              <a:t>methods</a:t>
            </a:r>
            <a:r>
              <a:rPr lang="de-DE" altLang="zh-CN" sz="1600" dirty="0"/>
              <a:t>. This </a:t>
            </a:r>
            <a:r>
              <a:rPr lang="de-DE" altLang="zh-CN" sz="1600" dirty="0" err="1"/>
              <a:t>is</a:t>
            </a:r>
            <a:r>
              <a:rPr lang="de-DE" altLang="zh-CN" sz="1600" dirty="0"/>
              <a:t> an </a:t>
            </a:r>
            <a:r>
              <a:rPr lang="de-DE" altLang="zh-CN" sz="1600" dirty="0" err="1"/>
              <a:t>excellent</a:t>
            </a:r>
            <a:r>
              <a:rPr lang="de-DE" altLang="zh-CN" sz="1600" dirty="0"/>
              <a:t> </a:t>
            </a:r>
            <a:r>
              <a:rPr lang="de-DE" altLang="zh-CN" sz="1600" dirty="0" err="1"/>
              <a:t>example</a:t>
            </a:r>
            <a:r>
              <a:rPr lang="de-DE" altLang="zh-CN" sz="1600" dirty="0"/>
              <a:t> </a:t>
            </a:r>
            <a:r>
              <a:rPr lang="de-DE" altLang="zh-CN" sz="1600" dirty="0" err="1"/>
              <a:t>that</a:t>
            </a:r>
            <a:r>
              <a:rPr lang="de-DE" altLang="zh-CN" sz="1600" dirty="0"/>
              <a:t> an </a:t>
            </a:r>
            <a:r>
              <a:rPr lang="de-DE" altLang="zh-CN" sz="1600" dirty="0" err="1"/>
              <a:t>encryption</a:t>
            </a:r>
            <a:r>
              <a:rPr lang="de-DE" altLang="zh-CN" sz="1600" dirty="0"/>
              <a:t> </a:t>
            </a:r>
            <a:r>
              <a:rPr lang="de-DE" altLang="zh-CN" sz="1600" dirty="0" err="1"/>
              <a:t>scheme</a:t>
            </a:r>
            <a:r>
              <a:rPr lang="de-DE" altLang="zh-CN" sz="1600" dirty="0"/>
              <a:t> </a:t>
            </a:r>
            <a:r>
              <a:rPr lang="de-DE" altLang="zh-CN" sz="1600" dirty="0" err="1"/>
              <a:t>must</a:t>
            </a:r>
            <a:r>
              <a:rPr lang="de-DE" altLang="zh-CN" sz="1600" dirty="0"/>
              <a:t> </a:t>
            </a:r>
            <a:r>
              <a:rPr lang="de-DE" altLang="zh-CN" sz="1600" dirty="0" err="1"/>
              <a:t>withstand</a:t>
            </a:r>
            <a:r>
              <a:rPr lang="de-DE" altLang="zh-CN" sz="1600" dirty="0"/>
              <a:t> all </a:t>
            </a:r>
            <a:r>
              <a:rPr lang="de-DE" altLang="zh-CN" sz="1600" dirty="0" err="1"/>
              <a:t>types</a:t>
            </a:r>
            <a:r>
              <a:rPr lang="de-DE" altLang="zh-CN" sz="1600" dirty="0"/>
              <a:t> </a:t>
            </a:r>
            <a:r>
              <a:rPr lang="de-DE" altLang="zh-CN" sz="1600" dirty="0" err="1"/>
              <a:t>of</a:t>
            </a:r>
            <a:r>
              <a:rPr lang="de-DE" altLang="zh-CN" sz="1600" dirty="0"/>
              <a:t> </a:t>
            </a:r>
            <a:r>
              <a:rPr lang="de-DE" altLang="zh-CN" sz="1600" dirty="0" err="1"/>
              <a:t>attacks</a:t>
            </a:r>
            <a:r>
              <a:rPr lang="de-DE" altLang="zh-CN" sz="1600" dirty="0"/>
              <a:t>.</a:t>
            </a:r>
            <a:endParaRPr lang="de-DE" altLang="zh-CN" sz="1600" dirty="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0BFE46F-D409-3746-939E-9E927A505228}"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30724" name="Rectangle 2"/>
          <p:cNvSpPr>
            <a:spLocks noGrp="1" noChangeArrowheads="1"/>
          </p:cNvSpPr>
          <p:nvPr>
            <p:ph type="title"/>
          </p:nvPr>
        </p:nvSpPr>
        <p:spPr>
          <a:xfrm>
            <a:off x="471488" y="322263"/>
            <a:ext cx="8204200" cy="515937"/>
          </a:xfrm>
        </p:spPr>
        <p:txBody>
          <a:bodyPr/>
          <a:lstStyle/>
          <a:p>
            <a:pPr>
              <a:buFont typeface="Webdings" panose="05030102010509060703" pitchFamily="2" charset="2"/>
              <a:buNone/>
            </a:pPr>
            <a:r>
              <a:rPr lang="de-DE" altLang="zh-CN" sz="2800"/>
              <a:t>Content of this Chapter</a:t>
            </a:r>
            <a:endParaRPr lang="de-DE" altLang="zh-CN" sz="2800"/>
          </a:p>
        </p:txBody>
      </p:sp>
      <p:sp>
        <p:nvSpPr>
          <p:cNvPr id="30725" name="Rectangle 3"/>
          <p:cNvSpPr>
            <a:spLocks noGrp="1" noChangeArrowheads="1"/>
          </p:cNvSpPr>
          <p:nvPr>
            <p:ph type="body" idx="1"/>
          </p:nvPr>
        </p:nvSpPr>
        <p:spPr>
          <a:xfrm>
            <a:off x="766763" y="1989138"/>
            <a:ext cx="7610475" cy="2667000"/>
          </a:xfrm>
        </p:spPr>
        <p:txBody>
          <a:bodyPr/>
          <a:lstStyle/>
          <a:p>
            <a:r>
              <a:rPr lang="de-DE" altLang="zh-CN" sz="2000" dirty="0" err="1"/>
              <a:t>Overview</a:t>
            </a:r>
            <a:r>
              <a:rPr lang="de-DE" altLang="zh-CN" sz="2000" dirty="0"/>
              <a:t> on </a:t>
            </a:r>
            <a:r>
              <a:rPr lang="de-DE" altLang="zh-CN" sz="2000" dirty="0" err="1"/>
              <a:t>the</a:t>
            </a:r>
            <a:r>
              <a:rPr lang="de-DE" altLang="zh-CN" sz="2000" dirty="0"/>
              <a:t> </a:t>
            </a:r>
            <a:r>
              <a:rPr lang="de-DE" altLang="zh-CN" sz="2000" dirty="0" err="1"/>
              <a:t>field</a:t>
            </a:r>
            <a:r>
              <a:rPr lang="de-DE" altLang="zh-CN" sz="2000" dirty="0"/>
              <a:t> </a:t>
            </a:r>
            <a:r>
              <a:rPr lang="de-DE" altLang="zh-CN" sz="2000" dirty="0" err="1"/>
              <a:t>of</a:t>
            </a:r>
            <a:r>
              <a:rPr lang="de-DE" altLang="zh-CN" sz="2000" dirty="0"/>
              <a:t> </a:t>
            </a:r>
            <a:r>
              <a:rPr lang="de-DE" altLang="zh-CN" sz="2000" dirty="0" err="1"/>
              <a:t>cryptology</a:t>
            </a:r>
            <a:endParaRPr lang="de-DE" altLang="zh-CN" sz="2000" dirty="0"/>
          </a:p>
          <a:p>
            <a:r>
              <a:rPr lang="de-DE" altLang="zh-CN" sz="2000" dirty="0"/>
              <a:t>Basics </a:t>
            </a:r>
            <a:r>
              <a:rPr lang="de-DE" altLang="zh-CN" sz="2000" dirty="0" err="1"/>
              <a:t>of</a:t>
            </a:r>
            <a:r>
              <a:rPr lang="de-DE" altLang="zh-CN" sz="2000" dirty="0"/>
              <a:t> </a:t>
            </a:r>
            <a:r>
              <a:rPr lang="de-DE" altLang="zh-CN" sz="2000" dirty="0" err="1"/>
              <a:t>symmetric</a:t>
            </a:r>
            <a:r>
              <a:rPr lang="de-DE" altLang="zh-CN" sz="2000" dirty="0"/>
              <a:t> </a:t>
            </a:r>
            <a:r>
              <a:rPr lang="de-DE" altLang="zh-CN" sz="2000" dirty="0" err="1"/>
              <a:t>cryptography</a:t>
            </a:r>
            <a:endParaRPr lang="de-DE" altLang="zh-CN" sz="2000" dirty="0"/>
          </a:p>
          <a:p>
            <a:r>
              <a:rPr lang="de-DE" altLang="zh-CN" sz="2000" dirty="0"/>
              <a:t>Substitution </a:t>
            </a:r>
            <a:r>
              <a:rPr lang="de-DE" altLang="zh-CN" sz="2000" dirty="0" err="1"/>
              <a:t>Cipher</a:t>
            </a:r>
            <a:endParaRPr lang="de-DE" altLang="zh-CN" sz="2000" dirty="0"/>
          </a:p>
          <a:p>
            <a:r>
              <a:rPr lang="de-DE" altLang="zh-CN" sz="2000" b="1" dirty="0" err="1"/>
              <a:t>Cryptanalysis</a:t>
            </a:r>
            <a:endParaRPr lang="de-DE" altLang="zh-CN" sz="2000" b="1" dirty="0"/>
          </a:p>
          <a:p>
            <a:r>
              <a:rPr lang="de-DE" altLang="zh-CN" sz="2000" dirty="0"/>
              <a:t>Modular </a:t>
            </a:r>
            <a:r>
              <a:rPr lang="de-DE" altLang="zh-CN" sz="2000" dirty="0" err="1"/>
              <a:t>arithmetic</a:t>
            </a:r>
            <a:endParaRPr lang="de-DE" altLang="zh-CN" sz="2000" dirty="0"/>
          </a:p>
          <a:p>
            <a:r>
              <a:rPr lang="de-DE" altLang="zh-CN" sz="2000" dirty="0"/>
              <a:t>Shift (</a:t>
            </a:r>
            <a:r>
              <a:rPr lang="de-DE" altLang="zh-CN" sz="2000" dirty="0" err="1"/>
              <a:t>or</a:t>
            </a:r>
            <a:r>
              <a:rPr lang="de-DE" altLang="zh-CN" sz="2000" dirty="0"/>
              <a:t> Caesar) </a:t>
            </a:r>
            <a:r>
              <a:rPr lang="de-DE" altLang="zh-CN" sz="2000" dirty="0" err="1"/>
              <a:t>Cipher</a:t>
            </a:r>
            <a:r>
              <a:rPr lang="de-DE" altLang="zh-CN" sz="2000" dirty="0"/>
              <a:t>, </a:t>
            </a:r>
            <a:r>
              <a:rPr lang="de-DE" altLang="zh-CN" sz="2000" dirty="0" err="1"/>
              <a:t>Vigenere</a:t>
            </a:r>
            <a:r>
              <a:rPr lang="de-DE" altLang="zh-CN" sz="2000" dirty="0"/>
              <a:t> </a:t>
            </a:r>
            <a:r>
              <a:rPr lang="de-DE" altLang="zh-CN" sz="2000" dirty="0" err="1"/>
              <a:t>Cipher</a:t>
            </a:r>
            <a:r>
              <a:rPr lang="de-DE" altLang="zh-CN" sz="2000" dirty="0"/>
              <a:t> and Affine </a:t>
            </a:r>
            <a:r>
              <a:rPr lang="de-DE" altLang="zh-CN" sz="2000" dirty="0" err="1"/>
              <a:t>Cipher</a:t>
            </a:r>
            <a:endParaRPr lang="de-DE" altLang="zh-CN" sz="2000" dirty="0"/>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F5001CC-FE60-0B41-ADC3-ADF8E68BF4F8}"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27652" name="Rectangle 2"/>
          <p:cNvSpPr>
            <a:spLocks noGrp="1" noChangeArrowheads="1"/>
          </p:cNvSpPr>
          <p:nvPr>
            <p:ph type="title"/>
          </p:nvPr>
        </p:nvSpPr>
        <p:spPr/>
        <p:txBody>
          <a:bodyPr/>
          <a:lstStyle/>
          <a:p>
            <a:r>
              <a:rPr lang="de-DE" altLang="zh-CN"/>
              <a:t>Why do we need Cryptanalysis?</a:t>
            </a:r>
            <a:endParaRPr lang="de-DE" altLang="zh-CN"/>
          </a:p>
        </p:txBody>
      </p:sp>
      <p:sp>
        <p:nvSpPr>
          <p:cNvPr id="27653" name="Rectangle 3"/>
          <p:cNvSpPr>
            <a:spLocks noGrp="1" noChangeArrowheads="1"/>
          </p:cNvSpPr>
          <p:nvPr>
            <p:ph type="body" idx="1"/>
          </p:nvPr>
        </p:nvSpPr>
        <p:spPr>
          <a:xfrm>
            <a:off x="323850" y="1052513"/>
            <a:ext cx="7993063" cy="902939"/>
          </a:xfrm>
        </p:spPr>
        <p:txBody>
          <a:bodyPr/>
          <a:lstStyle/>
          <a:p>
            <a:r>
              <a:rPr lang="en-GB" altLang="zh-CN" dirty="0">
                <a:effectLst/>
                <a:latin typeface="Helvetica" pitchFamily="2" charset="0"/>
              </a:rPr>
              <a:t>Cryptanalysis is of central importance for modern cryptosystems:</a:t>
            </a:r>
            <a:r>
              <a:rPr lang="zh-CN" altLang="en-US" dirty="0">
                <a:effectLst/>
                <a:latin typeface="Helvetica" pitchFamily="2" charset="0"/>
              </a:rPr>
              <a:t> </a:t>
            </a:r>
            <a:r>
              <a:rPr lang="en-GB" altLang="zh-CN" dirty="0">
                <a:effectLst/>
                <a:latin typeface="Helvetica" pitchFamily="2" charset="0"/>
              </a:rPr>
              <a:t>without people who try to break our crypto methods, we will never</a:t>
            </a:r>
            <a:r>
              <a:rPr lang="zh-CN" altLang="en-US" dirty="0">
                <a:effectLst/>
                <a:latin typeface="Helvetica" pitchFamily="2" charset="0"/>
              </a:rPr>
              <a:t> </a:t>
            </a:r>
            <a:r>
              <a:rPr lang="en-GB" altLang="zh-CN" dirty="0">
                <a:effectLst/>
                <a:latin typeface="Helvetica" pitchFamily="2" charset="0"/>
              </a:rPr>
              <a:t>know whether they are really secure or not.</a:t>
            </a:r>
            <a:endParaRPr lang="en-GB" altLang="zh-CN" dirty="0">
              <a:effectLst/>
              <a:latin typeface="Helvetica" pitchFamily="2" charset="0"/>
            </a:endParaRPr>
          </a:p>
        </p:txBody>
      </p:sp>
      <p:sp>
        <p:nvSpPr>
          <p:cNvPr id="27654" name="Rectangle 4"/>
          <p:cNvSpPr>
            <a:spLocks noChangeArrowheads="1"/>
          </p:cNvSpPr>
          <p:nvPr/>
        </p:nvSpPr>
        <p:spPr bwMode="auto">
          <a:xfrm>
            <a:off x="971600" y="2781300"/>
            <a:ext cx="6984950" cy="553998"/>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dirty="0">
                <a:ea typeface="宋体" panose="02010600030101010101" pitchFamily="2" charset="-122"/>
              </a:rPr>
              <a:t>A cryptosystem should be secure even if the attacker (Oscar) knows all details about the system, with the exception of the secret key. </a:t>
            </a:r>
            <a:endParaRPr lang="de-DE" altLang="zh-CN" dirty="0"/>
          </a:p>
        </p:txBody>
      </p:sp>
      <p:sp>
        <p:nvSpPr>
          <p:cNvPr id="27655" name="Text Box 5"/>
          <p:cNvSpPr txBox="1">
            <a:spLocks noChangeArrowheads="1"/>
          </p:cNvSpPr>
          <p:nvPr/>
        </p:nvSpPr>
        <p:spPr bwMode="auto">
          <a:xfrm>
            <a:off x="250825" y="2276475"/>
            <a:ext cx="55149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sz="1600" b="1"/>
              <a:t>Kerckhoff‘s Principle</a:t>
            </a:r>
            <a:r>
              <a:rPr lang="de-DE" altLang="zh-CN" sz="1600"/>
              <a:t> is paramount in modern cryptography:</a:t>
            </a:r>
            <a:endParaRPr lang="de-DE" altLang="zh-CN" sz="1600"/>
          </a:p>
        </p:txBody>
      </p:sp>
      <p:sp>
        <p:nvSpPr>
          <p:cNvPr id="27656" name="Rectangle 6"/>
          <p:cNvSpPr>
            <a:spLocks noChangeArrowheads="1"/>
          </p:cNvSpPr>
          <p:nvPr/>
        </p:nvSpPr>
        <p:spPr bwMode="auto">
          <a:xfrm>
            <a:off x="395361" y="3645024"/>
            <a:ext cx="7993063"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de-DE" altLang="zh-CN" sz="1600" dirty="0"/>
              <a:t>In </a:t>
            </a:r>
            <a:r>
              <a:rPr lang="de-DE" altLang="zh-CN" sz="1600" dirty="0" err="1"/>
              <a:t>order</a:t>
            </a:r>
            <a:r>
              <a:rPr lang="de-DE" altLang="zh-CN" sz="1600" dirty="0"/>
              <a:t> </a:t>
            </a:r>
            <a:r>
              <a:rPr lang="de-DE" altLang="zh-CN" sz="1600" dirty="0" err="1"/>
              <a:t>to</a:t>
            </a:r>
            <a:r>
              <a:rPr lang="de-DE" altLang="zh-CN" sz="1600" dirty="0"/>
              <a:t> </a:t>
            </a:r>
            <a:r>
              <a:rPr lang="de-DE" altLang="zh-CN" sz="1600" dirty="0" err="1"/>
              <a:t>achieve</a:t>
            </a:r>
            <a:r>
              <a:rPr lang="de-DE" altLang="zh-CN" sz="1600" dirty="0"/>
              <a:t> </a:t>
            </a:r>
            <a:r>
              <a:rPr lang="de-DE" altLang="zh-CN" sz="1600" dirty="0" err="1"/>
              <a:t>Kerckhoff‘s</a:t>
            </a:r>
            <a:r>
              <a:rPr lang="de-DE" altLang="zh-CN" sz="1600" dirty="0"/>
              <a:t> </a:t>
            </a:r>
            <a:r>
              <a:rPr lang="de-DE" altLang="zh-CN" sz="1600" dirty="0" err="1"/>
              <a:t>Principle</a:t>
            </a:r>
            <a:r>
              <a:rPr lang="de-DE" altLang="zh-CN" sz="1600" dirty="0"/>
              <a:t> in </a:t>
            </a:r>
            <a:r>
              <a:rPr lang="de-DE" altLang="zh-CN" sz="1600" dirty="0" err="1"/>
              <a:t>practice</a:t>
            </a:r>
            <a:r>
              <a:rPr lang="de-DE" altLang="zh-CN" sz="1600" dirty="0"/>
              <a:t>:</a:t>
            </a:r>
            <a:br>
              <a:rPr lang="de-DE" altLang="zh-CN" sz="1600" dirty="0"/>
            </a:br>
            <a:r>
              <a:rPr lang="de-DE" altLang="zh-CN" sz="1600" b="1" dirty="0" err="1"/>
              <a:t>Only</a:t>
            </a:r>
            <a:r>
              <a:rPr lang="de-DE" altLang="zh-CN" sz="1600" b="1" dirty="0"/>
              <a:t> </a:t>
            </a:r>
            <a:r>
              <a:rPr lang="de-DE" altLang="zh-CN" sz="1600" b="1" dirty="0" err="1"/>
              <a:t>use</a:t>
            </a:r>
            <a:r>
              <a:rPr lang="de-DE" altLang="zh-CN" sz="1600" b="1" dirty="0"/>
              <a:t> </a:t>
            </a:r>
            <a:r>
              <a:rPr lang="de-DE" altLang="zh-CN" sz="1600" b="1" dirty="0" err="1"/>
              <a:t>widely</a:t>
            </a:r>
            <a:r>
              <a:rPr lang="de-DE" altLang="zh-CN" sz="1600" b="1" dirty="0"/>
              <a:t> </a:t>
            </a:r>
            <a:r>
              <a:rPr lang="de-DE" altLang="zh-CN" sz="1600" b="1" dirty="0" err="1"/>
              <a:t>known</a:t>
            </a:r>
            <a:r>
              <a:rPr lang="de-DE" altLang="zh-CN" sz="1600" b="1" dirty="0"/>
              <a:t> </a:t>
            </a:r>
            <a:r>
              <a:rPr lang="de-DE" altLang="zh-CN" sz="1600" b="1" dirty="0" err="1"/>
              <a:t>ciphers</a:t>
            </a:r>
            <a:r>
              <a:rPr lang="de-DE" altLang="zh-CN" sz="1600" b="1" dirty="0"/>
              <a:t> </a:t>
            </a:r>
            <a:r>
              <a:rPr lang="de-DE" altLang="zh-CN" sz="1600" b="1" dirty="0" err="1"/>
              <a:t>that</a:t>
            </a:r>
            <a:r>
              <a:rPr lang="de-DE" altLang="zh-CN" sz="1600" b="1" dirty="0"/>
              <a:t> </a:t>
            </a:r>
            <a:r>
              <a:rPr lang="de-DE" altLang="zh-CN" sz="1600" b="1" dirty="0" err="1"/>
              <a:t>have</a:t>
            </a:r>
            <a:r>
              <a:rPr lang="de-DE" altLang="zh-CN" sz="1600" b="1" dirty="0"/>
              <a:t> </a:t>
            </a:r>
            <a:r>
              <a:rPr lang="de-DE" altLang="zh-CN" sz="1600" b="1" dirty="0" err="1"/>
              <a:t>been</a:t>
            </a:r>
            <a:r>
              <a:rPr lang="de-DE" altLang="zh-CN" sz="1600" b="1" dirty="0"/>
              <a:t> </a:t>
            </a:r>
            <a:r>
              <a:rPr lang="de-DE" altLang="zh-CN" sz="1600" b="1" dirty="0" err="1"/>
              <a:t>cryptanalyzed</a:t>
            </a:r>
            <a:r>
              <a:rPr lang="de-DE" altLang="zh-CN" sz="1600" b="1" dirty="0"/>
              <a:t> </a:t>
            </a:r>
            <a:r>
              <a:rPr lang="de-DE" altLang="zh-CN" sz="1600" b="1" dirty="0" err="1"/>
              <a:t>for</a:t>
            </a:r>
            <a:r>
              <a:rPr lang="de-DE" altLang="zh-CN" sz="1600" b="1" dirty="0"/>
              <a:t> </a:t>
            </a:r>
            <a:r>
              <a:rPr lang="de-DE" altLang="zh-CN" sz="1600" b="1" dirty="0" err="1"/>
              <a:t>several</a:t>
            </a:r>
            <a:r>
              <a:rPr lang="de-DE" altLang="zh-CN" sz="1600" b="1" dirty="0"/>
              <a:t> </a:t>
            </a:r>
            <a:r>
              <a:rPr lang="de-DE" altLang="zh-CN" sz="1600" b="1" dirty="0" err="1"/>
              <a:t>years</a:t>
            </a:r>
            <a:r>
              <a:rPr lang="de-DE" altLang="zh-CN" sz="1600" b="1" dirty="0"/>
              <a:t> </a:t>
            </a:r>
            <a:r>
              <a:rPr lang="de-DE" altLang="zh-CN" sz="1600" b="1" dirty="0" err="1"/>
              <a:t>by</a:t>
            </a:r>
            <a:r>
              <a:rPr lang="de-DE" altLang="zh-CN" sz="1600" b="1" dirty="0"/>
              <a:t> </a:t>
            </a:r>
            <a:r>
              <a:rPr lang="de-DE" altLang="zh-CN" sz="1600" b="1" dirty="0" err="1"/>
              <a:t>good</a:t>
            </a:r>
            <a:r>
              <a:rPr lang="de-DE" altLang="zh-CN" sz="1600" b="1" dirty="0"/>
              <a:t> </a:t>
            </a:r>
            <a:r>
              <a:rPr lang="de-DE" altLang="zh-CN" sz="1600" b="1" dirty="0" err="1"/>
              <a:t>cryptographers</a:t>
            </a:r>
            <a:r>
              <a:rPr lang="de-DE" altLang="zh-CN" sz="1600" b="1" dirty="0"/>
              <a:t>! </a:t>
            </a:r>
            <a:r>
              <a:rPr lang="de-DE" altLang="zh-CN" sz="1600" dirty="0"/>
              <a:t>(</a:t>
            </a:r>
            <a:r>
              <a:rPr lang="de-DE" altLang="zh-CN" sz="1600" i="1" dirty="0"/>
              <a:t>Understanding </a:t>
            </a:r>
            <a:r>
              <a:rPr lang="de-DE" altLang="zh-CN" sz="1600" i="1" dirty="0" err="1"/>
              <a:t>Cryptography</a:t>
            </a:r>
            <a:r>
              <a:rPr lang="de-DE" altLang="zh-CN" sz="1600" dirty="0"/>
              <a:t> </a:t>
            </a:r>
            <a:r>
              <a:rPr lang="de-DE" altLang="zh-CN" sz="1600" dirty="0" err="1"/>
              <a:t>only</a:t>
            </a:r>
            <a:r>
              <a:rPr lang="de-DE" altLang="zh-CN" sz="1600" dirty="0"/>
              <a:t> </a:t>
            </a:r>
            <a:r>
              <a:rPr lang="de-DE" altLang="zh-CN" sz="1600" dirty="0" err="1"/>
              <a:t>treats</a:t>
            </a:r>
            <a:r>
              <a:rPr lang="de-DE" altLang="zh-CN" sz="1600" dirty="0"/>
              <a:t> such </a:t>
            </a:r>
            <a:r>
              <a:rPr lang="de-DE" altLang="zh-CN" sz="1600" dirty="0" err="1"/>
              <a:t>ciphers</a:t>
            </a:r>
            <a:r>
              <a:rPr lang="de-DE" altLang="zh-CN" sz="1600" dirty="0"/>
              <a:t>)</a:t>
            </a:r>
            <a:endParaRPr lang="de-DE" altLang="zh-CN" sz="1600" dirty="0"/>
          </a:p>
          <a:p>
            <a:pPr>
              <a:lnSpc>
                <a:spcPct val="125000"/>
              </a:lnSpc>
              <a:spcBef>
                <a:spcPct val="25000"/>
              </a:spcBef>
              <a:buClr>
                <a:srgbClr val="007AC2"/>
              </a:buClr>
              <a:buSzPct val="120000"/>
              <a:buFontTx/>
              <a:buChar char="•"/>
            </a:pPr>
            <a:r>
              <a:rPr lang="de-DE" altLang="zh-CN" sz="1600" b="1" dirty="0" err="1"/>
              <a:t>Remark</a:t>
            </a:r>
            <a:r>
              <a:rPr lang="de-DE" altLang="zh-CN" sz="1600" b="1" dirty="0"/>
              <a:t>: </a:t>
            </a:r>
            <a:r>
              <a:rPr lang="de-DE" altLang="zh-CN" sz="1600" dirty="0" err="1"/>
              <a:t>It</a:t>
            </a:r>
            <a:r>
              <a:rPr lang="de-DE" altLang="zh-CN" sz="1600" dirty="0"/>
              <a:t> </a:t>
            </a:r>
            <a:r>
              <a:rPr lang="de-DE" altLang="zh-CN" sz="1600" dirty="0" err="1"/>
              <a:t>is</a:t>
            </a:r>
            <a:r>
              <a:rPr lang="de-DE" altLang="zh-CN" sz="1600" dirty="0"/>
              <a:t> </a:t>
            </a:r>
            <a:r>
              <a:rPr lang="de-DE" altLang="zh-CN" sz="1600" dirty="0" err="1"/>
              <a:t>tempting</a:t>
            </a:r>
            <a:r>
              <a:rPr lang="de-DE" altLang="zh-CN" sz="1600" dirty="0"/>
              <a:t> </a:t>
            </a:r>
            <a:r>
              <a:rPr lang="de-DE" altLang="zh-CN" sz="1600" dirty="0" err="1"/>
              <a:t>to</a:t>
            </a:r>
            <a:r>
              <a:rPr lang="de-DE" altLang="zh-CN" sz="1600" dirty="0"/>
              <a:t> </a:t>
            </a:r>
            <a:r>
              <a:rPr lang="de-DE" altLang="zh-CN" sz="1600" dirty="0" err="1"/>
              <a:t>assume</a:t>
            </a:r>
            <a:r>
              <a:rPr lang="de-DE" altLang="zh-CN" sz="1600" dirty="0"/>
              <a:t> </a:t>
            </a:r>
            <a:r>
              <a:rPr lang="de-DE" altLang="zh-CN" sz="1600" dirty="0" err="1"/>
              <a:t>that</a:t>
            </a:r>
            <a:r>
              <a:rPr lang="de-DE" altLang="zh-CN" sz="1600" dirty="0"/>
              <a:t> a </a:t>
            </a:r>
            <a:r>
              <a:rPr lang="de-DE" altLang="zh-CN" sz="1600" dirty="0" err="1"/>
              <a:t>cipher</a:t>
            </a:r>
            <a:r>
              <a:rPr lang="de-DE" altLang="zh-CN" sz="1600" dirty="0"/>
              <a:t> </a:t>
            </a:r>
            <a:r>
              <a:rPr lang="de-DE" altLang="zh-CN" sz="1600" dirty="0" err="1"/>
              <a:t>is</a:t>
            </a:r>
            <a:r>
              <a:rPr lang="de-DE" altLang="zh-CN" sz="1600" dirty="0"/>
              <a:t> “</a:t>
            </a:r>
            <a:r>
              <a:rPr lang="de-DE" altLang="zh-CN" sz="1600" dirty="0" err="1"/>
              <a:t>more</a:t>
            </a:r>
            <a:r>
              <a:rPr lang="de-DE" altLang="zh-CN" sz="1600" dirty="0"/>
              <a:t> </a:t>
            </a:r>
            <a:r>
              <a:rPr lang="de-DE" altLang="zh-CN" sz="1600" dirty="0" err="1"/>
              <a:t>secure</a:t>
            </a:r>
            <a:r>
              <a:rPr lang="de-DE" altLang="zh-CN" sz="1600" dirty="0"/>
              <a:t>“ </a:t>
            </a:r>
            <a:r>
              <a:rPr lang="de-DE" altLang="zh-CN" sz="1600" dirty="0" err="1"/>
              <a:t>if</a:t>
            </a:r>
            <a:r>
              <a:rPr lang="de-DE" altLang="zh-CN" sz="1600" dirty="0"/>
              <a:t> </a:t>
            </a:r>
            <a:r>
              <a:rPr lang="de-DE" altLang="zh-CN" sz="1600" dirty="0" err="1"/>
              <a:t>its</a:t>
            </a:r>
            <a:r>
              <a:rPr lang="de-DE" altLang="zh-CN" sz="1600" dirty="0"/>
              <a:t> </a:t>
            </a:r>
            <a:r>
              <a:rPr lang="de-DE" altLang="zh-CN" sz="1600" dirty="0" err="1"/>
              <a:t>details</a:t>
            </a:r>
            <a:r>
              <a:rPr lang="de-DE" altLang="zh-CN" sz="1600" dirty="0"/>
              <a:t> </a:t>
            </a:r>
            <a:r>
              <a:rPr lang="de-DE" altLang="zh-CN" sz="1600" dirty="0" err="1"/>
              <a:t>are</a:t>
            </a:r>
            <a:r>
              <a:rPr lang="de-DE" altLang="zh-CN" sz="1600" dirty="0"/>
              <a:t> </a:t>
            </a:r>
            <a:r>
              <a:rPr lang="de-DE" altLang="zh-CN" sz="1600" dirty="0" err="1"/>
              <a:t>kept</a:t>
            </a:r>
            <a:r>
              <a:rPr lang="de-DE" altLang="zh-CN" sz="1600" dirty="0"/>
              <a:t> </a:t>
            </a:r>
            <a:r>
              <a:rPr lang="de-DE" altLang="zh-CN" sz="1600" dirty="0" err="1"/>
              <a:t>secret</a:t>
            </a:r>
            <a:r>
              <a:rPr lang="de-DE" altLang="zh-CN" sz="1600" dirty="0"/>
              <a:t>. </a:t>
            </a:r>
            <a:r>
              <a:rPr lang="de-DE" altLang="zh-CN" sz="1600" dirty="0" err="1"/>
              <a:t>However</a:t>
            </a:r>
            <a:r>
              <a:rPr lang="de-DE" altLang="zh-CN" sz="1600" dirty="0"/>
              <a:t>, </a:t>
            </a:r>
            <a:r>
              <a:rPr lang="de-DE" altLang="zh-CN" sz="1600" dirty="0" err="1"/>
              <a:t>history</a:t>
            </a:r>
            <a:r>
              <a:rPr lang="de-DE" altLang="zh-CN" sz="1600" dirty="0"/>
              <a:t> </a:t>
            </a:r>
            <a:r>
              <a:rPr lang="de-DE" altLang="zh-CN" sz="1600" dirty="0" err="1"/>
              <a:t>has</a:t>
            </a:r>
            <a:r>
              <a:rPr lang="de-DE" altLang="zh-CN" sz="1600" dirty="0"/>
              <a:t> </a:t>
            </a:r>
            <a:r>
              <a:rPr lang="de-DE" altLang="zh-CN" sz="1600" dirty="0" err="1"/>
              <a:t>shown</a:t>
            </a:r>
            <a:r>
              <a:rPr lang="de-DE" altLang="zh-CN" sz="1600" dirty="0"/>
              <a:t> time and </a:t>
            </a:r>
            <a:r>
              <a:rPr lang="de-DE" altLang="zh-CN" sz="1600" dirty="0" err="1"/>
              <a:t>again</a:t>
            </a:r>
            <a:r>
              <a:rPr lang="de-DE" altLang="zh-CN" sz="1600" dirty="0"/>
              <a:t> </a:t>
            </a:r>
            <a:r>
              <a:rPr lang="de-DE" altLang="zh-CN" sz="1600" dirty="0" err="1"/>
              <a:t>that</a:t>
            </a:r>
            <a:r>
              <a:rPr lang="de-DE" altLang="zh-CN" sz="1600" dirty="0"/>
              <a:t> </a:t>
            </a:r>
            <a:r>
              <a:rPr lang="de-DE" altLang="zh-CN" sz="1600" dirty="0" err="1"/>
              <a:t>secret</a:t>
            </a:r>
            <a:r>
              <a:rPr lang="de-DE" altLang="zh-CN" sz="1600" dirty="0"/>
              <a:t> </a:t>
            </a:r>
            <a:r>
              <a:rPr lang="de-DE" altLang="zh-CN" sz="1600" dirty="0" err="1"/>
              <a:t>ciphers</a:t>
            </a:r>
            <a:r>
              <a:rPr lang="de-DE" altLang="zh-CN" sz="1600" dirty="0"/>
              <a:t> </a:t>
            </a:r>
            <a:r>
              <a:rPr lang="de-DE" altLang="zh-CN" sz="1600" dirty="0" err="1"/>
              <a:t>can</a:t>
            </a:r>
            <a:r>
              <a:rPr lang="de-DE" altLang="zh-CN" sz="1600" dirty="0"/>
              <a:t> </a:t>
            </a:r>
            <a:r>
              <a:rPr lang="de-DE" altLang="zh-CN" sz="1600" dirty="0" err="1"/>
              <a:t>almost</a:t>
            </a:r>
            <a:r>
              <a:rPr lang="de-DE" altLang="zh-CN" sz="1600" dirty="0"/>
              <a:t> </a:t>
            </a:r>
            <a:r>
              <a:rPr lang="de-DE" altLang="zh-CN" sz="1600" dirty="0" err="1"/>
              <a:t>always</a:t>
            </a:r>
            <a:r>
              <a:rPr lang="de-DE" altLang="zh-CN" sz="1600" dirty="0"/>
              <a:t> </a:t>
            </a:r>
            <a:r>
              <a:rPr lang="de-DE" altLang="zh-CN" sz="1600" dirty="0" err="1"/>
              <a:t>been</a:t>
            </a:r>
            <a:r>
              <a:rPr lang="de-DE" altLang="zh-CN" sz="1600" dirty="0"/>
              <a:t> </a:t>
            </a:r>
            <a:r>
              <a:rPr lang="de-DE" altLang="zh-CN" sz="1600" dirty="0" err="1"/>
              <a:t>broken</a:t>
            </a:r>
            <a:r>
              <a:rPr lang="de-DE" altLang="zh-CN" sz="1600" dirty="0"/>
              <a:t> </a:t>
            </a:r>
            <a:r>
              <a:rPr lang="de-DE" altLang="zh-CN" sz="1600" dirty="0" err="1"/>
              <a:t>once</a:t>
            </a:r>
            <a:r>
              <a:rPr lang="de-DE" altLang="zh-CN" sz="1600" dirty="0"/>
              <a:t> </a:t>
            </a:r>
            <a:r>
              <a:rPr lang="de-DE" altLang="zh-CN" sz="1600" dirty="0" err="1"/>
              <a:t>they</a:t>
            </a:r>
            <a:r>
              <a:rPr lang="de-DE" altLang="zh-CN" sz="1600" dirty="0"/>
              <a:t> </a:t>
            </a:r>
            <a:r>
              <a:rPr lang="de-DE" altLang="zh-CN" sz="1600" dirty="0" err="1"/>
              <a:t>have</a:t>
            </a:r>
            <a:r>
              <a:rPr lang="de-DE" altLang="zh-CN" sz="1600" dirty="0"/>
              <a:t> </a:t>
            </a:r>
            <a:r>
              <a:rPr lang="de-DE" altLang="zh-CN" sz="1600" dirty="0" err="1"/>
              <a:t>been</a:t>
            </a:r>
            <a:r>
              <a:rPr lang="de-DE" altLang="zh-CN" sz="1600" dirty="0"/>
              <a:t> </a:t>
            </a:r>
            <a:r>
              <a:rPr lang="de-DE" altLang="zh-CN" sz="1600" dirty="0" err="1">
                <a:solidFill>
                  <a:srgbClr val="FF0000"/>
                </a:solidFill>
              </a:rPr>
              <a:t>reversed</a:t>
            </a:r>
            <a:r>
              <a:rPr lang="de-DE" altLang="zh-CN" sz="1600" dirty="0">
                <a:solidFill>
                  <a:srgbClr val="FF0000"/>
                </a:solidFill>
              </a:rPr>
              <a:t> </a:t>
            </a:r>
            <a:r>
              <a:rPr lang="de-DE" altLang="zh-CN" sz="1600" dirty="0" err="1">
                <a:solidFill>
                  <a:srgbClr val="FF0000"/>
                </a:solidFill>
              </a:rPr>
              <a:t>engineered</a:t>
            </a:r>
            <a:r>
              <a:rPr lang="de-DE" altLang="zh-CN" sz="1600" dirty="0"/>
              <a:t>. (</a:t>
            </a:r>
            <a:r>
              <a:rPr lang="de-DE" altLang="zh-CN" sz="1600" dirty="0" err="1"/>
              <a:t>Example</a:t>
            </a:r>
            <a:r>
              <a:rPr lang="de-DE" altLang="zh-CN" sz="1600" dirty="0"/>
              <a:t>: </a:t>
            </a:r>
            <a:r>
              <a:rPr lang="en-US" altLang="zh-CN" sz="1600" dirty="0">
                <a:ea typeface="宋体" panose="02010600030101010101" pitchFamily="2" charset="-122"/>
              </a:rPr>
              <a:t>Content Scrambling System (CSS) for DVD content protection.)</a:t>
            </a:r>
            <a:endParaRPr lang="de-DE" altLang="zh-CN" sz="1600" dirty="0"/>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E564F4F-384F-A945-A820-57766CD6B1F5}"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28676" name="Rectangle 2"/>
          <p:cNvSpPr>
            <a:spLocks noGrp="1" noChangeArrowheads="1"/>
          </p:cNvSpPr>
          <p:nvPr>
            <p:ph type="title"/>
          </p:nvPr>
        </p:nvSpPr>
        <p:spPr/>
        <p:txBody>
          <a:bodyPr/>
          <a:lstStyle/>
          <a:p>
            <a:r>
              <a:rPr lang="de-DE" altLang="zh-CN"/>
              <a:t>Cryptanalysis: Attacking Cryptosystems</a:t>
            </a:r>
            <a:endParaRPr lang="de-DE" altLang="zh-CN"/>
          </a:p>
        </p:txBody>
      </p:sp>
      <p:sp>
        <p:nvSpPr>
          <p:cNvPr id="28677" name="Rectangle 3"/>
          <p:cNvSpPr>
            <a:spLocks noGrp="1" noChangeArrowheads="1"/>
          </p:cNvSpPr>
          <p:nvPr>
            <p:ph type="body" idx="1"/>
          </p:nvPr>
        </p:nvSpPr>
        <p:spPr>
          <a:xfrm>
            <a:off x="323850" y="3933825"/>
            <a:ext cx="7561263" cy="2085975"/>
          </a:xfrm>
        </p:spPr>
        <p:txBody>
          <a:bodyPr/>
          <a:lstStyle/>
          <a:p>
            <a:r>
              <a:rPr lang="de-DE" altLang="zh-CN" b="1" dirty="0" err="1"/>
              <a:t>Classical</a:t>
            </a:r>
            <a:r>
              <a:rPr lang="de-DE" altLang="zh-CN" b="1" dirty="0"/>
              <a:t> </a:t>
            </a:r>
            <a:r>
              <a:rPr lang="de-DE" altLang="zh-CN" b="1" dirty="0" err="1"/>
              <a:t>Attacks</a:t>
            </a:r>
            <a:endParaRPr lang="de-DE" altLang="zh-CN" b="1" dirty="0"/>
          </a:p>
          <a:p>
            <a:pPr lvl="1"/>
            <a:r>
              <a:rPr lang="de-DE" altLang="zh-CN" dirty="0" err="1"/>
              <a:t>Mathematical</a:t>
            </a:r>
            <a:r>
              <a:rPr lang="de-DE" altLang="zh-CN" dirty="0"/>
              <a:t> Analysis</a:t>
            </a:r>
            <a:endParaRPr lang="de-DE" altLang="zh-CN" dirty="0"/>
          </a:p>
          <a:p>
            <a:pPr lvl="1"/>
            <a:r>
              <a:rPr lang="de-DE" altLang="zh-CN" dirty="0"/>
              <a:t>Brute-Force </a:t>
            </a:r>
            <a:r>
              <a:rPr lang="de-DE" altLang="zh-CN" dirty="0" err="1"/>
              <a:t>Attack</a:t>
            </a:r>
            <a:endParaRPr lang="de-DE" altLang="zh-CN" dirty="0"/>
          </a:p>
          <a:p>
            <a:r>
              <a:rPr lang="de-DE" altLang="zh-CN" b="1" dirty="0"/>
              <a:t>Implementation </a:t>
            </a:r>
            <a:r>
              <a:rPr lang="de-DE" altLang="zh-CN" b="1" dirty="0" err="1"/>
              <a:t>Attack</a:t>
            </a:r>
            <a:r>
              <a:rPr lang="de-DE" altLang="zh-CN" dirty="0"/>
              <a:t>: Try </a:t>
            </a:r>
            <a:r>
              <a:rPr lang="de-DE" altLang="zh-CN" dirty="0" err="1"/>
              <a:t>to</a:t>
            </a:r>
            <a:r>
              <a:rPr lang="de-DE" altLang="zh-CN" dirty="0"/>
              <a:t> </a:t>
            </a:r>
            <a:r>
              <a:rPr lang="de-DE" altLang="zh-CN" dirty="0" err="1"/>
              <a:t>extract</a:t>
            </a:r>
            <a:r>
              <a:rPr lang="de-DE" altLang="zh-CN" dirty="0"/>
              <a:t> </a:t>
            </a:r>
            <a:r>
              <a:rPr lang="de-DE" altLang="zh-CN" dirty="0" err="1"/>
              <a:t>key</a:t>
            </a:r>
            <a:r>
              <a:rPr lang="de-DE" altLang="zh-CN" dirty="0"/>
              <a:t> </a:t>
            </a:r>
            <a:r>
              <a:rPr lang="de-DE" altLang="zh-CN" dirty="0" err="1"/>
              <a:t>through</a:t>
            </a:r>
            <a:r>
              <a:rPr lang="de-DE" altLang="zh-CN" dirty="0"/>
              <a:t> </a:t>
            </a:r>
            <a:r>
              <a:rPr lang="de-DE" altLang="zh-CN" dirty="0" err="1"/>
              <a:t>reverese</a:t>
            </a:r>
            <a:r>
              <a:rPr lang="de-DE" altLang="zh-CN" dirty="0"/>
              <a:t> </a:t>
            </a:r>
            <a:r>
              <a:rPr lang="de-DE" altLang="zh-CN" dirty="0" err="1"/>
              <a:t>engineering</a:t>
            </a:r>
            <a:r>
              <a:rPr lang="de-DE" altLang="zh-CN" dirty="0"/>
              <a:t> </a:t>
            </a:r>
            <a:r>
              <a:rPr lang="de-DE" altLang="zh-CN" dirty="0" err="1"/>
              <a:t>or</a:t>
            </a:r>
            <a:r>
              <a:rPr lang="de-DE" altLang="zh-CN" dirty="0"/>
              <a:t> power </a:t>
            </a:r>
            <a:r>
              <a:rPr lang="de-DE" altLang="zh-CN" dirty="0" err="1"/>
              <a:t>measurement</a:t>
            </a:r>
            <a:r>
              <a:rPr lang="de-DE" altLang="zh-CN" dirty="0"/>
              <a:t>, e.g., </a:t>
            </a:r>
            <a:r>
              <a:rPr lang="de-DE" altLang="zh-CN" dirty="0" err="1"/>
              <a:t>for</a:t>
            </a:r>
            <a:r>
              <a:rPr lang="de-DE" altLang="zh-CN" dirty="0"/>
              <a:t> a </a:t>
            </a:r>
            <a:r>
              <a:rPr lang="de-DE" altLang="zh-CN" dirty="0" err="1"/>
              <a:t>banking</a:t>
            </a:r>
            <a:r>
              <a:rPr lang="de-DE" altLang="zh-CN" dirty="0"/>
              <a:t> smart </a:t>
            </a:r>
            <a:r>
              <a:rPr lang="de-DE" altLang="zh-CN" dirty="0" err="1"/>
              <a:t>card</a:t>
            </a:r>
            <a:r>
              <a:rPr lang="de-DE" altLang="zh-CN" dirty="0"/>
              <a:t>.</a:t>
            </a:r>
            <a:endParaRPr lang="de-DE" altLang="zh-CN" dirty="0"/>
          </a:p>
          <a:p>
            <a:r>
              <a:rPr lang="de-DE" altLang="zh-CN" b="1" dirty="0" err="1"/>
              <a:t>Social</a:t>
            </a:r>
            <a:r>
              <a:rPr lang="de-DE" altLang="zh-CN" b="1" dirty="0"/>
              <a:t> Engineering</a:t>
            </a:r>
            <a:r>
              <a:rPr lang="de-DE" altLang="zh-CN" dirty="0"/>
              <a:t>: E.g., </a:t>
            </a:r>
            <a:r>
              <a:rPr lang="de-DE" altLang="zh-CN" dirty="0" err="1"/>
              <a:t>trick</a:t>
            </a:r>
            <a:r>
              <a:rPr lang="de-DE" altLang="zh-CN" dirty="0"/>
              <a:t> a </a:t>
            </a:r>
            <a:r>
              <a:rPr lang="de-DE" altLang="zh-CN" dirty="0" err="1"/>
              <a:t>user</a:t>
            </a:r>
            <a:r>
              <a:rPr lang="de-DE" altLang="zh-CN" dirty="0"/>
              <a:t> </a:t>
            </a:r>
            <a:r>
              <a:rPr lang="de-DE" altLang="zh-CN" dirty="0" err="1"/>
              <a:t>into</a:t>
            </a:r>
            <a:r>
              <a:rPr lang="de-DE" altLang="zh-CN" dirty="0"/>
              <a:t> </a:t>
            </a:r>
            <a:r>
              <a:rPr lang="de-DE" altLang="zh-CN" dirty="0" err="1"/>
              <a:t>giving</a:t>
            </a:r>
            <a:r>
              <a:rPr lang="de-DE" altLang="zh-CN" dirty="0"/>
              <a:t> </a:t>
            </a:r>
            <a:r>
              <a:rPr lang="de-DE" altLang="zh-CN" dirty="0" err="1"/>
              <a:t>up</a:t>
            </a:r>
            <a:r>
              <a:rPr lang="de-DE" altLang="zh-CN" dirty="0"/>
              <a:t> her </a:t>
            </a:r>
            <a:r>
              <a:rPr lang="de-DE" altLang="zh-CN" dirty="0" err="1"/>
              <a:t>password</a:t>
            </a:r>
            <a:endParaRPr lang="de-DE" altLang="zh-CN" dirty="0"/>
          </a:p>
        </p:txBody>
      </p:sp>
      <p:pic>
        <p:nvPicPr>
          <p:cNvPr id="28678" name="Picture 5" descr="overview_cryptanalysi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2588" y="904875"/>
            <a:ext cx="8005762" cy="255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Classes of classical attacks</a:t>
            </a:r>
            <a:endParaRPr kumimoji="1" lang="zh-CN" altLang="en-US" dirty="0"/>
          </a:p>
        </p:txBody>
      </p:sp>
      <p:sp>
        <p:nvSpPr>
          <p:cNvPr id="4" name="灯片编号占位符 3"/>
          <p:cNvSpPr>
            <a:spLocks noGrp="1"/>
          </p:cNvSpPr>
          <p:nvPr>
            <p:ph type="sldNum" sz="quarter" idx="10"/>
          </p:nvPr>
        </p:nvSpPr>
        <p:spPr/>
        <p:txBody>
          <a:bodyPr/>
          <a:lstStyle/>
          <a:p>
            <a:fld id="{FF793E3B-E8F2-B04A-8335-47426DE3523D}" type="slidenum">
              <a:rPr lang="de-DE" altLang="zh-CN" smtClean="0"/>
            </a:fld>
            <a:r>
              <a:rPr lang="de-DE" altLang="zh-CN"/>
              <a:t>/34</a:t>
            </a:r>
            <a:endParaRPr lang="de-DE" altLang="zh-CN"/>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9745" y="1124744"/>
            <a:ext cx="8737801" cy="3672408"/>
          </a:xfrm>
          <a:prstGeom prst="rect">
            <a:avLst/>
          </a:prstGeom>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02607AB3-8FD1-FC45-B481-B7C256D78133}" type="slidenum">
              <a:rPr lang="de-DE" altLang="zh-CN" smtClean="0"/>
            </a:fld>
            <a:r>
              <a:rPr lang="de-DE" altLang="zh-CN"/>
              <a:t>/27</a:t>
            </a:r>
            <a:endParaRPr lang="de-DE" altLang="zh-CN"/>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552" y="332656"/>
            <a:ext cx="8064896" cy="60486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02607AB3-8FD1-FC45-B481-B7C256D78133}" type="slidenum">
              <a:rPr lang="de-DE" altLang="zh-CN" smtClean="0"/>
            </a:fld>
            <a:r>
              <a:rPr lang="de-DE" altLang="zh-CN"/>
              <a:t>/27</a:t>
            </a:r>
            <a:endParaRPr lang="de-DE" altLang="zh-CN"/>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6987" y="548680"/>
            <a:ext cx="8470026" cy="48614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02607AB3-8FD1-FC45-B481-B7C256D78133}" type="slidenum">
              <a:rPr lang="de-DE" altLang="zh-CN" smtClean="0"/>
            </a:fld>
            <a:r>
              <a:rPr lang="de-DE" altLang="zh-CN"/>
              <a:t>/27</a:t>
            </a:r>
            <a:endParaRPr lang="de-DE" altLang="zh-CN"/>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5343" y="404664"/>
            <a:ext cx="8033313" cy="46805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02607AB3-8FD1-FC45-B481-B7C256D78133}" type="slidenum">
              <a:rPr lang="de-DE" altLang="zh-CN" smtClean="0"/>
            </a:fld>
            <a:r>
              <a:rPr lang="de-DE" altLang="zh-CN"/>
              <a:t>/27</a:t>
            </a:r>
            <a:endParaRPr lang="de-DE" altLang="zh-CN"/>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5806" y="377298"/>
            <a:ext cx="8252387" cy="61892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liennummernplatzhalter 3"/>
          <p:cNvSpPr>
            <a:spLocks noGrp="1"/>
          </p:cNvSpPr>
          <p:nvPr>
            <p:ph type="sldNum" sz="quarter" idx="10"/>
          </p:nvPr>
        </p:nvSpPr>
        <p:spPr>
          <a:xfrm>
            <a:off x="107504" y="6535737"/>
            <a:ext cx="504825" cy="215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7459A24-7A69-A94F-B50F-06C917147394}"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29701" name="Rectangle 34"/>
          <p:cNvSpPr>
            <a:spLocks noGrp="1" noChangeArrowheads="1"/>
          </p:cNvSpPr>
          <p:nvPr>
            <p:ph type="title"/>
          </p:nvPr>
        </p:nvSpPr>
        <p:spPr>
          <a:xfrm>
            <a:off x="471488" y="322263"/>
            <a:ext cx="8132762" cy="515937"/>
          </a:xfrm>
        </p:spPr>
        <p:txBody>
          <a:bodyPr/>
          <a:lstStyle/>
          <a:p>
            <a:r>
              <a:rPr lang="en-US" altLang="zh-CN" sz="1700" dirty="0">
                <a:ea typeface="宋体" panose="02010600030101010101" pitchFamily="2" charset="-122"/>
              </a:rPr>
              <a:t>How Many Key Bits Are Enough?</a:t>
            </a:r>
            <a:endParaRPr lang="en-US" altLang="zh-CN" sz="1700" dirty="0">
              <a:ea typeface="宋体" panose="02010600030101010101" pitchFamily="2" charset="-122"/>
            </a:endParaRPr>
          </a:p>
        </p:txBody>
      </p:sp>
      <p:graphicFrame>
        <p:nvGraphicFramePr>
          <p:cNvPr id="505091" name="Group 259"/>
          <p:cNvGraphicFramePr>
            <a:graphicFrameLocks noGrp="1"/>
          </p:cNvGraphicFramePr>
          <p:nvPr/>
        </p:nvGraphicFramePr>
        <p:xfrm>
          <a:off x="233363" y="1267817"/>
          <a:ext cx="8675687" cy="2829539"/>
        </p:xfrm>
        <a:graphic>
          <a:graphicData uri="http://schemas.openxmlformats.org/drawingml/2006/table">
            <a:tbl>
              <a:tblPr/>
              <a:tblGrid>
                <a:gridCol w="1846262"/>
                <a:gridCol w="1930400"/>
                <a:gridCol w="4899025"/>
              </a:tblGrid>
              <a:tr h="700881">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700" b="0" i="0" u="none" strike="noStrike" cap="none" normalizeH="0" baseline="0">
                          <a:ln>
                            <a:noFill/>
                          </a:ln>
                          <a:solidFill>
                            <a:schemeClr val="tx1"/>
                          </a:solidFill>
                          <a:effectLst/>
                          <a:latin typeface="Arial" panose="020B0604020202020204" pitchFamily="34" charset="0"/>
                        </a:rPr>
                        <a:t>Key length</a:t>
                      </a:r>
                      <a:br>
                        <a:rPr kumimoji="0" lang="de-DE" sz="1700" b="0" i="0" u="none" strike="noStrike" cap="none" normalizeH="0" baseline="0">
                          <a:ln>
                            <a:noFill/>
                          </a:ln>
                          <a:solidFill>
                            <a:schemeClr val="tx1"/>
                          </a:solidFill>
                          <a:effectLst/>
                          <a:latin typeface="Arial" panose="020B0604020202020204" pitchFamily="34" charset="0"/>
                        </a:rPr>
                      </a:br>
                      <a:r>
                        <a:rPr kumimoji="0" lang="de-DE" sz="1700" b="0" i="0" u="none" strike="noStrike" cap="none" normalizeH="0" baseline="0">
                          <a:ln>
                            <a:noFill/>
                          </a:ln>
                          <a:solidFill>
                            <a:schemeClr val="tx1"/>
                          </a:solidFill>
                          <a:effectLst/>
                          <a:latin typeface="Arial" panose="020B0604020202020204" pitchFamily="34" charset="0"/>
                        </a:rPr>
                        <a:t>in bit</a:t>
                      </a:r>
                      <a:endParaRPr kumimoji="0" lang="de-DE" sz="1700" b="0" i="0" u="none" strike="noStrike" cap="none" normalizeH="0" baseline="0">
                        <a:ln>
                          <a:noFill/>
                        </a:ln>
                        <a:solidFill>
                          <a:schemeClr val="tx1"/>
                        </a:solidFill>
                        <a:effectLst/>
                        <a:latin typeface="Arial" panose="020B0604020202020204" pitchFamily="34" charset="0"/>
                      </a:endParaRPr>
                    </a:p>
                  </a:txBody>
                  <a:tcPr marT="47751" marB="47751"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700" b="0" i="0" u="none" strike="noStrike" cap="none" normalizeH="0" baseline="0">
                          <a:ln>
                            <a:noFill/>
                          </a:ln>
                          <a:solidFill>
                            <a:schemeClr val="tx1"/>
                          </a:solidFill>
                          <a:effectLst/>
                          <a:latin typeface="Arial" panose="020B0604020202020204" pitchFamily="34" charset="0"/>
                        </a:rPr>
                        <a:t>Key space</a:t>
                      </a:r>
                      <a:endParaRPr kumimoji="0" lang="de-DE" sz="1700" b="0" i="0" u="none" strike="noStrike" cap="none" normalizeH="0" baseline="0">
                        <a:ln>
                          <a:noFill/>
                        </a:ln>
                        <a:solidFill>
                          <a:schemeClr val="tx1"/>
                        </a:solidFill>
                        <a:effectLst/>
                        <a:latin typeface="Arial" panose="020B0604020202020204" pitchFamily="34" charset="0"/>
                      </a:endParaRPr>
                    </a:p>
                  </a:txBody>
                  <a:tcPr marT="47751" marB="477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700" b="0" i="0" u="none" strike="noStrike" cap="none" normalizeH="0" baseline="0">
                          <a:ln>
                            <a:noFill/>
                          </a:ln>
                          <a:solidFill>
                            <a:schemeClr val="tx1"/>
                          </a:solidFill>
                          <a:effectLst/>
                          <a:latin typeface="Arial" panose="020B0604020202020204" pitchFamily="34" charset="0"/>
                        </a:rPr>
                        <a:t>Security life time</a:t>
                      </a:r>
                      <a:br>
                        <a:rPr kumimoji="0" lang="de-DE" sz="1700" b="0" i="0" u="none" strike="noStrike" cap="none" normalizeH="0" baseline="0">
                          <a:ln>
                            <a:noFill/>
                          </a:ln>
                          <a:solidFill>
                            <a:schemeClr val="tx1"/>
                          </a:solidFill>
                          <a:effectLst/>
                          <a:latin typeface="Arial" panose="020B0604020202020204" pitchFamily="34" charset="0"/>
                        </a:rPr>
                      </a:br>
                      <a:r>
                        <a:rPr kumimoji="0" lang="de-DE" sz="1700" b="0" i="0" u="none" strike="noStrike" cap="none" normalizeH="0" baseline="0">
                          <a:ln>
                            <a:noFill/>
                          </a:ln>
                          <a:solidFill>
                            <a:schemeClr val="tx1"/>
                          </a:solidFill>
                          <a:effectLst/>
                          <a:latin typeface="Arial" panose="020B0604020202020204" pitchFamily="34" charset="0"/>
                        </a:rPr>
                        <a:t>(assuming brute-force as best possible attack)</a:t>
                      </a:r>
                      <a:endParaRPr kumimoji="0" lang="de-DE" sz="1700" b="0" i="0" u="none" strike="noStrike" cap="none" normalizeH="0" baseline="0">
                        <a:ln>
                          <a:noFill/>
                        </a:ln>
                        <a:solidFill>
                          <a:schemeClr val="tx1"/>
                        </a:solidFill>
                        <a:effectLst/>
                        <a:latin typeface="Arial" panose="020B0604020202020204" pitchFamily="34" charset="0"/>
                      </a:endParaRPr>
                    </a:p>
                  </a:txBody>
                  <a:tcPr marT="47751" marB="47751"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382540">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700" b="0" i="0" u="none" strike="noStrike" cap="none" normalizeH="0" baseline="0">
                          <a:ln>
                            <a:noFill/>
                          </a:ln>
                          <a:solidFill>
                            <a:schemeClr val="tx1"/>
                          </a:solidFill>
                          <a:effectLst/>
                          <a:latin typeface="Arial" panose="020B0604020202020204" pitchFamily="34" charset="0"/>
                        </a:rPr>
                        <a:t>64</a:t>
                      </a:r>
                      <a:endParaRPr kumimoji="0" lang="de-DE" sz="1700" b="0" i="0" u="none" strike="noStrike" cap="none" normalizeH="0" baseline="0">
                        <a:ln>
                          <a:noFill/>
                        </a:ln>
                        <a:solidFill>
                          <a:schemeClr val="tx1"/>
                        </a:solidFill>
                        <a:effectLst/>
                        <a:latin typeface="Arial" panose="020B0604020202020204" pitchFamily="34" charset="0"/>
                      </a:endParaRPr>
                    </a:p>
                  </a:txBody>
                  <a:tcPr marT="47751" marB="47751"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700" b="0" i="0" u="none" strike="noStrike" cap="none" normalizeH="0" baseline="0">
                          <a:ln>
                            <a:noFill/>
                          </a:ln>
                          <a:solidFill>
                            <a:schemeClr val="tx1"/>
                          </a:solidFill>
                          <a:effectLst/>
                          <a:latin typeface="Arial" panose="020B0604020202020204" pitchFamily="34" charset="0"/>
                        </a:rPr>
                        <a:t>2</a:t>
                      </a:r>
                      <a:r>
                        <a:rPr kumimoji="0" lang="de-DE" sz="1700" b="0" i="0" u="none" strike="noStrike" cap="none" normalizeH="0" baseline="30000">
                          <a:ln>
                            <a:noFill/>
                          </a:ln>
                          <a:solidFill>
                            <a:schemeClr val="tx1"/>
                          </a:solidFill>
                          <a:effectLst/>
                          <a:latin typeface="Arial" panose="020B0604020202020204" pitchFamily="34" charset="0"/>
                        </a:rPr>
                        <a:t>64</a:t>
                      </a:r>
                      <a:endParaRPr kumimoji="0" lang="de-DE" sz="1700" b="0" i="0" u="none" strike="noStrike" cap="none" normalizeH="0" baseline="30000">
                        <a:ln>
                          <a:noFill/>
                        </a:ln>
                        <a:solidFill>
                          <a:schemeClr val="tx1"/>
                        </a:solidFill>
                        <a:effectLst/>
                        <a:latin typeface="Arial" panose="020B0604020202020204" pitchFamily="34" charset="0"/>
                      </a:endParaRPr>
                    </a:p>
                  </a:txBody>
                  <a:tcPr marT="47751" marB="477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pPr>
                      <a:r>
                        <a:rPr kumimoji="0" lang="de-DE" sz="1700" b="1" i="0" u="none" strike="noStrike" cap="none" normalizeH="0" baseline="0" dirty="0">
                          <a:ln>
                            <a:noFill/>
                          </a:ln>
                          <a:solidFill>
                            <a:schemeClr val="tx1"/>
                          </a:solidFill>
                          <a:effectLst/>
                          <a:latin typeface="Arial" panose="020B0604020202020204" pitchFamily="34" charset="0"/>
                        </a:rPr>
                        <a:t>Short </a:t>
                      </a:r>
                      <a:r>
                        <a:rPr kumimoji="0" lang="de-DE" sz="1700" b="1" i="0" u="none" strike="noStrike" cap="none" normalizeH="0" baseline="0" dirty="0" err="1">
                          <a:ln>
                            <a:noFill/>
                          </a:ln>
                          <a:solidFill>
                            <a:schemeClr val="tx1"/>
                          </a:solidFill>
                          <a:effectLst/>
                          <a:latin typeface="Arial" panose="020B0604020202020204" pitchFamily="34" charset="0"/>
                        </a:rPr>
                        <a:t>term</a:t>
                      </a:r>
                      <a:r>
                        <a:rPr kumimoji="0" lang="de-DE" sz="1700" b="1" i="0" u="none" strike="noStrike" cap="none" normalizeH="0" baseline="0" dirty="0">
                          <a:ln>
                            <a:noFill/>
                          </a:ln>
                          <a:solidFill>
                            <a:schemeClr val="tx1"/>
                          </a:solidFill>
                          <a:effectLst/>
                          <a:latin typeface="Arial" panose="020B0604020202020204" pitchFamily="34" charset="0"/>
                        </a:rPr>
                        <a:t> </a:t>
                      </a:r>
                      <a:r>
                        <a:rPr kumimoji="0" lang="de-DE" sz="1700" b="0" i="0" u="none" strike="noStrike" cap="none" normalizeH="0" baseline="0" dirty="0">
                          <a:ln>
                            <a:noFill/>
                          </a:ln>
                          <a:solidFill>
                            <a:schemeClr val="tx1"/>
                          </a:solidFill>
                          <a:effectLst/>
                          <a:latin typeface="Arial" panose="020B0604020202020204" pitchFamily="34" charset="0"/>
                        </a:rPr>
                        <a:t>(a </a:t>
                      </a:r>
                      <a:r>
                        <a:rPr kumimoji="0" lang="de-DE" sz="1700" b="0" i="0" u="none" strike="noStrike" cap="none" normalizeH="0" baseline="0" dirty="0" err="1">
                          <a:ln>
                            <a:noFill/>
                          </a:ln>
                          <a:solidFill>
                            <a:schemeClr val="tx1"/>
                          </a:solidFill>
                          <a:effectLst/>
                          <a:latin typeface="Arial" panose="020B0604020202020204" pitchFamily="34" charset="0"/>
                        </a:rPr>
                        <a:t>few</a:t>
                      </a:r>
                      <a:r>
                        <a:rPr kumimoji="0" lang="de-DE" sz="1700" b="0" i="0" u="none" strike="noStrike" cap="none" normalizeH="0" baseline="0" dirty="0">
                          <a:ln>
                            <a:noFill/>
                          </a:ln>
                          <a:solidFill>
                            <a:schemeClr val="tx1"/>
                          </a:solidFill>
                          <a:effectLst/>
                          <a:latin typeface="Arial" panose="020B0604020202020204" pitchFamily="34" charset="0"/>
                        </a:rPr>
                        <a:t> </a:t>
                      </a:r>
                      <a:r>
                        <a:rPr kumimoji="0" lang="de-DE" sz="1700" b="0" i="0" u="none" strike="noStrike" cap="none" normalizeH="0" baseline="0" dirty="0" err="1">
                          <a:ln>
                            <a:noFill/>
                          </a:ln>
                          <a:solidFill>
                            <a:schemeClr val="tx1"/>
                          </a:solidFill>
                          <a:effectLst/>
                          <a:latin typeface="Arial" panose="020B0604020202020204" pitchFamily="34" charset="0"/>
                        </a:rPr>
                        <a:t>hours</a:t>
                      </a:r>
                      <a:r>
                        <a:rPr kumimoji="0" lang="de-DE" sz="1700" b="0" i="0" u="none" strike="noStrike" cap="none" normalizeH="0" baseline="0" dirty="0">
                          <a:ln>
                            <a:noFill/>
                          </a:ln>
                          <a:solidFill>
                            <a:schemeClr val="tx1"/>
                          </a:solidFill>
                          <a:effectLst/>
                          <a:latin typeface="Arial" panose="020B0604020202020204" pitchFamily="34" charset="0"/>
                        </a:rPr>
                        <a:t> </a:t>
                      </a:r>
                      <a:r>
                        <a:rPr kumimoji="0" lang="de-DE" sz="1700" b="0" i="0" u="none" strike="noStrike" cap="none" normalizeH="0" baseline="0" dirty="0" err="1">
                          <a:ln>
                            <a:noFill/>
                          </a:ln>
                          <a:solidFill>
                            <a:schemeClr val="tx1"/>
                          </a:solidFill>
                          <a:effectLst/>
                          <a:latin typeface="Arial" panose="020B0604020202020204" pitchFamily="34" charset="0"/>
                        </a:rPr>
                        <a:t>or</a:t>
                      </a:r>
                      <a:r>
                        <a:rPr kumimoji="0" lang="de-DE" sz="1700" b="0" i="0" u="none" strike="noStrike" cap="none" normalizeH="0" baseline="0" dirty="0">
                          <a:ln>
                            <a:noFill/>
                          </a:ln>
                          <a:solidFill>
                            <a:schemeClr val="tx1"/>
                          </a:solidFill>
                          <a:effectLst/>
                          <a:latin typeface="Arial" panose="020B0604020202020204" pitchFamily="34" charset="0"/>
                        </a:rPr>
                        <a:t> </a:t>
                      </a:r>
                      <a:r>
                        <a:rPr kumimoji="0" lang="de-DE" sz="1700" b="0" i="0" u="none" strike="noStrike" cap="none" normalizeH="0" baseline="0" dirty="0" err="1">
                          <a:ln>
                            <a:noFill/>
                          </a:ln>
                          <a:solidFill>
                            <a:schemeClr val="tx1"/>
                          </a:solidFill>
                          <a:effectLst/>
                          <a:latin typeface="Arial" panose="020B0604020202020204" pitchFamily="34" charset="0"/>
                        </a:rPr>
                        <a:t>days</a:t>
                      </a:r>
                      <a:r>
                        <a:rPr kumimoji="0" lang="de-DE" sz="1700" b="0" i="0" u="none" strike="noStrike" cap="none" normalizeH="0" baseline="0" dirty="0">
                          <a:ln>
                            <a:noFill/>
                          </a:ln>
                          <a:solidFill>
                            <a:schemeClr val="tx1"/>
                          </a:solidFill>
                          <a:effectLst/>
                          <a:latin typeface="Arial" panose="020B0604020202020204" pitchFamily="34" charset="0"/>
                        </a:rPr>
                        <a:t>)</a:t>
                      </a:r>
                      <a:endParaRPr kumimoji="0" lang="de-DE" sz="1700" b="0" i="0" u="none" strike="noStrike" cap="none" normalizeH="0" baseline="0" dirty="0">
                        <a:ln>
                          <a:noFill/>
                        </a:ln>
                        <a:solidFill>
                          <a:schemeClr val="tx1"/>
                        </a:solidFill>
                        <a:effectLst/>
                        <a:latin typeface="Arial" panose="020B0604020202020204" pitchFamily="34" charset="0"/>
                      </a:endParaRPr>
                    </a:p>
                  </a:txBody>
                  <a:tcPr marT="47751" marB="47751"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700881">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700" b="0" i="0" u="none" strike="noStrike" cap="none" normalizeH="0" baseline="0">
                          <a:ln>
                            <a:noFill/>
                          </a:ln>
                          <a:solidFill>
                            <a:schemeClr val="tx1"/>
                          </a:solidFill>
                          <a:effectLst/>
                          <a:latin typeface="Arial" panose="020B0604020202020204" pitchFamily="34" charset="0"/>
                        </a:rPr>
                        <a:t>128</a:t>
                      </a:r>
                      <a:endParaRPr kumimoji="0" lang="de-DE" sz="1700" b="0" i="0" u="none" strike="noStrike" cap="none" normalizeH="0" baseline="0">
                        <a:ln>
                          <a:noFill/>
                        </a:ln>
                        <a:solidFill>
                          <a:schemeClr val="tx1"/>
                        </a:solidFill>
                        <a:effectLst/>
                        <a:latin typeface="Arial" panose="020B0604020202020204" pitchFamily="34" charset="0"/>
                      </a:endParaRPr>
                    </a:p>
                  </a:txBody>
                  <a:tcPr marT="47751" marB="4775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700" b="0" i="0" u="none" strike="noStrike" cap="none" normalizeH="0" baseline="0">
                          <a:ln>
                            <a:noFill/>
                          </a:ln>
                          <a:solidFill>
                            <a:schemeClr val="tx1"/>
                          </a:solidFill>
                          <a:effectLst/>
                          <a:latin typeface="Arial" panose="020B0604020202020204" pitchFamily="34" charset="0"/>
                        </a:rPr>
                        <a:t>2</a:t>
                      </a:r>
                      <a:r>
                        <a:rPr kumimoji="0" lang="de-DE" sz="1700" b="0" i="0" u="none" strike="noStrike" cap="none" normalizeH="0" baseline="30000">
                          <a:ln>
                            <a:noFill/>
                          </a:ln>
                          <a:solidFill>
                            <a:schemeClr val="tx1"/>
                          </a:solidFill>
                          <a:effectLst/>
                          <a:latin typeface="Arial" panose="020B0604020202020204" pitchFamily="34" charset="0"/>
                        </a:rPr>
                        <a:t>128</a:t>
                      </a:r>
                      <a:endParaRPr kumimoji="0" lang="de-DE" sz="1700" b="0" i="0" u="none" strike="noStrike" cap="none" normalizeH="0" baseline="30000">
                        <a:ln>
                          <a:noFill/>
                        </a:ln>
                        <a:solidFill>
                          <a:schemeClr val="tx1"/>
                        </a:solidFill>
                        <a:effectLst/>
                        <a:latin typeface="Arial" panose="020B0604020202020204" pitchFamily="34" charset="0"/>
                      </a:endParaRPr>
                    </a:p>
                  </a:txBody>
                  <a:tcPr marT="47751" marB="477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pPr>
                      <a:r>
                        <a:rPr kumimoji="0" lang="de-DE" sz="1700" b="1" i="0" u="none" strike="noStrike" cap="none" normalizeH="0" baseline="0">
                          <a:ln>
                            <a:noFill/>
                          </a:ln>
                          <a:solidFill>
                            <a:schemeClr val="tx1"/>
                          </a:solidFill>
                          <a:effectLst/>
                          <a:latin typeface="Arial" panose="020B0604020202020204" pitchFamily="34" charset="0"/>
                        </a:rPr>
                        <a:t>Long-term </a:t>
                      </a:r>
                      <a:r>
                        <a:rPr kumimoji="0" lang="de-DE" sz="1700" b="0" i="0" u="none" strike="noStrike" cap="none" normalizeH="0" baseline="0">
                          <a:ln>
                            <a:noFill/>
                          </a:ln>
                          <a:solidFill>
                            <a:schemeClr val="tx1"/>
                          </a:solidFill>
                          <a:effectLst/>
                          <a:latin typeface="Arial" panose="020B0604020202020204" pitchFamily="34" charset="0"/>
                        </a:rPr>
                        <a:t>(several decades in the absence of quantum computers)</a:t>
                      </a:r>
                      <a:endParaRPr kumimoji="0" lang="de-DE" sz="1700" b="0" i="0" u="none" strike="noStrike" cap="none" normalizeH="0" baseline="0">
                        <a:ln>
                          <a:noFill/>
                        </a:ln>
                        <a:solidFill>
                          <a:schemeClr val="tx1"/>
                        </a:solidFill>
                        <a:effectLst/>
                        <a:latin typeface="Arial" panose="020B0604020202020204" pitchFamily="34" charset="0"/>
                      </a:endParaRPr>
                    </a:p>
                  </a:txBody>
                  <a:tcPr marT="47751" marB="4775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r>
              <a:tr h="1019222">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700" b="0" i="0" u="none" strike="noStrike" cap="none" normalizeH="0" baseline="0">
                          <a:ln>
                            <a:noFill/>
                          </a:ln>
                          <a:solidFill>
                            <a:schemeClr val="tx1"/>
                          </a:solidFill>
                          <a:effectLst/>
                          <a:latin typeface="Arial" panose="020B0604020202020204" pitchFamily="34" charset="0"/>
                        </a:rPr>
                        <a:t>256</a:t>
                      </a:r>
                      <a:endParaRPr kumimoji="0" lang="de-DE" sz="1700" b="0" i="0" u="none" strike="noStrike" cap="none" normalizeH="0" baseline="0">
                        <a:ln>
                          <a:noFill/>
                        </a:ln>
                        <a:solidFill>
                          <a:schemeClr val="tx1"/>
                        </a:solidFill>
                        <a:effectLst/>
                        <a:latin typeface="Arial" panose="020B0604020202020204" pitchFamily="34" charset="0"/>
                      </a:endParaRPr>
                    </a:p>
                  </a:txBody>
                  <a:tcPr marT="47751" marB="4775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hlink">
                        <a:alpha val="50000"/>
                      </a:schemeClr>
                    </a:solid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700" b="0" i="0" u="none" strike="noStrike" cap="none" normalizeH="0" baseline="0">
                          <a:ln>
                            <a:noFill/>
                          </a:ln>
                          <a:solidFill>
                            <a:schemeClr val="tx1"/>
                          </a:solidFill>
                          <a:effectLst/>
                          <a:latin typeface="Arial" panose="020B0604020202020204" pitchFamily="34" charset="0"/>
                        </a:rPr>
                        <a:t>2</a:t>
                      </a:r>
                      <a:r>
                        <a:rPr kumimoji="0" lang="de-DE" sz="1700" b="0" i="0" u="none" strike="noStrike" cap="none" normalizeH="0" baseline="30000">
                          <a:ln>
                            <a:noFill/>
                          </a:ln>
                          <a:solidFill>
                            <a:schemeClr val="tx1"/>
                          </a:solidFill>
                          <a:effectLst/>
                          <a:latin typeface="Arial" panose="020B0604020202020204" pitchFamily="34" charset="0"/>
                        </a:rPr>
                        <a:t>256</a:t>
                      </a:r>
                      <a:endParaRPr kumimoji="0" lang="de-DE" sz="1700" b="0" i="0" u="none" strike="noStrike" cap="none" normalizeH="0" baseline="30000">
                        <a:ln>
                          <a:noFill/>
                        </a:ln>
                        <a:solidFill>
                          <a:schemeClr val="tx1"/>
                        </a:solidFill>
                        <a:effectLst/>
                        <a:latin typeface="Arial" panose="020B0604020202020204" pitchFamily="34" charset="0"/>
                      </a:endParaRPr>
                    </a:p>
                  </a:txBody>
                  <a:tcPr marT="47751" marB="477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hlink">
                        <a:alpha val="50000"/>
                      </a:schemeClr>
                    </a:solid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pPr>
                      <a:r>
                        <a:rPr kumimoji="0" lang="de-DE" sz="1700" b="1" i="0" u="none" strike="noStrike" cap="none" normalizeH="0" baseline="0" dirty="0">
                          <a:ln>
                            <a:noFill/>
                          </a:ln>
                          <a:solidFill>
                            <a:schemeClr val="tx1"/>
                          </a:solidFill>
                          <a:effectLst/>
                          <a:latin typeface="Arial" panose="020B0604020202020204" pitchFamily="34" charset="0"/>
                        </a:rPr>
                        <a:t>Long-term </a:t>
                      </a:r>
                      <a:r>
                        <a:rPr kumimoji="0" lang="de-DE" sz="1700" b="0" i="0" u="none" strike="noStrike" cap="none" normalizeH="0" baseline="0" dirty="0">
                          <a:ln>
                            <a:noFill/>
                          </a:ln>
                          <a:solidFill>
                            <a:schemeClr val="tx1"/>
                          </a:solidFill>
                          <a:effectLst/>
                          <a:latin typeface="Arial" panose="020B0604020202020204" pitchFamily="34" charset="0"/>
                        </a:rPr>
                        <a:t>(</a:t>
                      </a:r>
                      <a:r>
                        <a:rPr kumimoji="0" lang="de-DE" sz="1700" b="0" i="0" u="none" strike="noStrike" cap="none" normalizeH="0" baseline="0" dirty="0" err="1">
                          <a:ln>
                            <a:noFill/>
                          </a:ln>
                          <a:solidFill>
                            <a:schemeClr val="tx1"/>
                          </a:solidFill>
                          <a:effectLst/>
                          <a:latin typeface="Arial" panose="020B0604020202020204" pitchFamily="34" charset="0"/>
                        </a:rPr>
                        <a:t>several</a:t>
                      </a:r>
                      <a:r>
                        <a:rPr kumimoji="0" lang="de-DE" sz="1700" b="0" i="0" u="none" strike="noStrike" cap="none" normalizeH="0" baseline="0" dirty="0">
                          <a:ln>
                            <a:noFill/>
                          </a:ln>
                          <a:solidFill>
                            <a:schemeClr val="tx1"/>
                          </a:solidFill>
                          <a:effectLst/>
                          <a:latin typeface="Arial" panose="020B0604020202020204" pitchFamily="34" charset="0"/>
                        </a:rPr>
                        <a:t> </a:t>
                      </a:r>
                      <a:r>
                        <a:rPr kumimoji="0" lang="de-DE" sz="1700" b="0" i="0" u="none" strike="noStrike" cap="none" normalizeH="0" baseline="0" dirty="0" err="1">
                          <a:ln>
                            <a:noFill/>
                          </a:ln>
                          <a:solidFill>
                            <a:schemeClr val="tx1"/>
                          </a:solidFill>
                          <a:effectLst/>
                          <a:latin typeface="Arial" panose="020B0604020202020204" pitchFamily="34" charset="0"/>
                        </a:rPr>
                        <a:t>decades</a:t>
                      </a:r>
                      <a:r>
                        <a:rPr kumimoji="0" lang="de-DE" sz="1700" b="0" i="0" u="none" strike="noStrike" cap="none" normalizeH="0" baseline="0" dirty="0">
                          <a:ln>
                            <a:noFill/>
                          </a:ln>
                          <a:solidFill>
                            <a:schemeClr val="tx1"/>
                          </a:solidFill>
                          <a:effectLst/>
                          <a:latin typeface="Arial" panose="020B0604020202020204" pitchFamily="34" charset="0"/>
                        </a:rPr>
                        <a:t>, </a:t>
                      </a:r>
                      <a:r>
                        <a:rPr kumimoji="0" lang="de-DE" sz="1700" b="0" i="0" u="none" strike="noStrike" cap="none" normalizeH="0" baseline="0" dirty="0" err="1">
                          <a:ln>
                            <a:noFill/>
                          </a:ln>
                          <a:solidFill>
                            <a:schemeClr val="tx1"/>
                          </a:solidFill>
                          <a:effectLst/>
                          <a:latin typeface="Arial" panose="020B0604020202020204" pitchFamily="34" charset="0"/>
                        </a:rPr>
                        <a:t>even</a:t>
                      </a:r>
                      <a:r>
                        <a:rPr kumimoji="0" lang="de-DE" sz="1700" b="0" i="0" u="none" strike="noStrike" cap="none" normalizeH="0" baseline="0" dirty="0">
                          <a:ln>
                            <a:noFill/>
                          </a:ln>
                          <a:solidFill>
                            <a:schemeClr val="tx1"/>
                          </a:solidFill>
                          <a:effectLst/>
                          <a:latin typeface="Arial" panose="020B0604020202020204" pitchFamily="34" charset="0"/>
                        </a:rPr>
                        <a:t> </a:t>
                      </a:r>
                      <a:r>
                        <a:rPr kumimoji="0" lang="de-DE" sz="1700" b="0" i="0" u="none" strike="noStrike" cap="none" normalizeH="0" baseline="0" dirty="0" err="1">
                          <a:ln>
                            <a:noFill/>
                          </a:ln>
                          <a:solidFill>
                            <a:schemeClr val="tx1"/>
                          </a:solidFill>
                          <a:effectLst/>
                          <a:latin typeface="Arial" panose="020B0604020202020204" pitchFamily="34" charset="0"/>
                        </a:rPr>
                        <a:t>with</a:t>
                      </a:r>
                      <a:r>
                        <a:rPr kumimoji="0" lang="de-DE" sz="1700" b="0" i="0" u="none" strike="noStrike" cap="none" normalizeH="0" baseline="0" dirty="0">
                          <a:ln>
                            <a:noFill/>
                          </a:ln>
                          <a:solidFill>
                            <a:schemeClr val="tx1"/>
                          </a:solidFill>
                          <a:effectLst/>
                          <a:latin typeface="Arial" panose="020B0604020202020204" pitchFamily="34" charset="0"/>
                        </a:rPr>
                        <a:t> </a:t>
                      </a:r>
                      <a:r>
                        <a:rPr kumimoji="0" lang="de-DE" sz="1700" b="0" i="0" u="none" strike="noStrike" cap="none" normalizeH="0" baseline="0" dirty="0" err="1">
                          <a:ln>
                            <a:noFill/>
                          </a:ln>
                          <a:solidFill>
                            <a:schemeClr val="tx1"/>
                          </a:solidFill>
                          <a:effectLst/>
                          <a:latin typeface="Arial" panose="020B0604020202020204" pitchFamily="34" charset="0"/>
                        </a:rPr>
                        <a:t>quantum</a:t>
                      </a:r>
                      <a:r>
                        <a:rPr kumimoji="0" lang="de-DE" sz="1700" b="0" i="0" u="none" strike="noStrike" cap="none" normalizeH="0" baseline="0" dirty="0">
                          <a:ln>
                            <a:noFill/>
                          </a:ln>
                          <a:solidFill>
                            <a:schemeClr val="tx1"/>
                          </a:solidFill>
                          <a:effectLst/>
                          <a:latin typeface="Arial" panose="020B0604020202020204" pitchFamily="34" charset="0"/>
                        </a:rPr>
                        <a:t> </a:t>
                      </a:r>
                      <a:r>
                        <a:rPr kumimoji="0" lang="de-DE" sz="1700" b="0" i="0" u="none" strike="noStrike" cap="none" normalizeH="0" baseline="0" dirty="0" err="1">
                          <a:ln>
                            <a:noFill/>
                          </a:ln>
                          <a:solidFill>
                            <a:schemeClr val="tx1"/>
                          </a:solidFill>
                          <a:effectLst/>
                          <a:latin typeface="Arial" panose="020B0604020202020204" pitchFamily="34" charset="0"/>
                        </a:rPr>
                        <a:t>computers</a:t>
                      </a:r>
                      <a:r>
                        <a:rPr kumimoji="0" lang="de-DE" sz="1700" b="0" i="0" u="none" strike="noStrike" cap="none" normalizeH="0" baseline="0" dirty="0">
                          <a:ln>
                            <a:noFill/>
                          </a:ln>
                          <a:solidFill>
                            <a:schemeClr val="tx1"/>
                          </a:solidFill>
                          <a:effectLst/>
                          <a:latin typeface="Arial" panose="020B0604020202020204" pitchFamily="34" charset="0"/>
                        </a:rPr>
                        <a:t>)</a:t>
                      </a:r>
                      <a:endParaRPr kumimoji="0" lang="de-DE" sz="1700" b="0" i="0" u="none" strike="noStrike" cap="none" normalizeH="0" baseline="0" dirty="0">
                        <a:ln>
                          <a:noFill/>
                        </a:ln>
                        <a:solidFill>
                          <a:schemeClr val="tx1"/>
                        </a:solidFill>
                        <a:effectLst/>
                        <a:latin typeface="Arial" panose="020B0604020202020204" pitchFamily="34" charset="0"/>
                      </a:endParaRPr>
                    </a:p>
                  </a:txBody>
                  <a:tcPr marT="47751" marB="4775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hlink">
                        <a:alpha val="50000"/>
                      </a:schemeClr>
                    </a:solidFill>
                  </a:tcPr>
                </a:tc>
              </a:tr>
            </a:tbl>
          </a:graphicData>
        </a:graphic>
      </p:graphicFrame>
      <p:sp>
        <p:nvSpPr>
          <p:cNvPr id="29721" name="Text Box 250"/>
          <p:cNvSpPr txBox="1">
            <a:spLocks noChangeArrowheads="1"/>
          </p:cNvSpPr>
          <p:nvPr/>
        </p:nvSpPr>
        <p:spPr bwMode="auto">
          <a:xfrm>
            <a:off x="466408" y="4292322"/>
            <a:ext cx="81375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sz="1600"/>
              <a:t>Important: An adversary only needs to succeed with </a:t>
            </a:r>
            <a:r>
              <a:rPr lang="de-DE" altLang="zh-CN" sz="1600" b="1"/>
              <a:t>one</a:t>
            </a:r>
            <a:r>
              <a:rPr lang="de-DE" altLang="zh-CN" sz="1600"/>
              <a:t> attack. Thus, a long key space does not help if other attacks (e.g., social engineering) are possible..</a:t>
            </a:r>
            <a:endParaRPr lang="de-DE" altLang="zh-CN" sz="1600"/>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8204C5B-71E6-4B4A-8EA9-92052C5350B1}"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35844" name="Rectangle 2"/>
          <p:cNvSpPr>
            <a:spLocks noGrp="1" noChangeArrowheads="1"/>
          </p:cNvSpPr>
          <p:nvPr>
            <p:ph type="title"/>
          </p:nvPr>
        </p:nvSpPr>
        <p:spPr>
          <a:xfrm>
            <a:off x="471488" y="322263"/>
            <a:ext cx="8204200" cy="515937"/>
          </a:xfrm>
        </p:spPr>
        <p:txBody>
          <a:bodyPr/>
          <a:lstStyle/>
          <a:p>
            <a:pPr>
              <a:buFont typeface="Webdings" panose="05030102010509060703" pitchFamily="2" charset="2"/>
              <a:buNone/>
            </a:pPr>
            <a:r>
              <a:rPr lang="de-DE" altLang="zh-CN" sz="2800"/>
              <a:t>Content of this Chapter</a:t>
            </a:r>
            <a:endParaRPr lang="de-DE" altLang="zh-CN" sz="2800"/>
          </a:p>
        </p:txBody>
      </p:sp>
      <p:sp>
        <p:nvSpPr>
          <p:cNvPr id="35845" name="Rectangle 3"/>
          <p:cNvSpPr>
            <a:spLocks noGrp="1" noChangeArrowheads="1"/>
          </p:cNvSpPr>
          <p:nvPr>
            <p:ph type="body" idx="1"/>
          </p:nvPr>
        </p:nvSpPr>
        <p:spPr>
          <a:xfrm>
            <a:off x="539750" y="1844675"/>
            <a:ext cx="7394575" cy="2655214"/>
          </a:xfrm>
          <a:noFill/>
        </p:spPr>
        <p:txBody>
          <a:bodyPr/>
          <a:lstStyle/>
          <a:p>
            <a:pPr marL="342900" indent="-342900"/>
            <a:r>
              <a:rPr lang="de-DE" altLang="zh-CN" sz="2000" dirty="0" err="1"/>
              <a:t>Overview</a:t>
            </a:r>
            <a:r>
              <a:rPr lang="de-DE" altLang="zh-CN" sz="2000" dirty="0"/>
              <a:t> on </a:t>
            </a:r>
            <a:r>
              <a:rPr lang="de-DE" altLang="zh-CN" sz="2000" dirty="0" err="1"/>
              <a:t>the</a:t>
            </a:r>
            <a:r>
              <a:rPr lang="de-DE" altLang="zh-CN" sz="2000" dirty="0"/>
              <a:t> </a:t>
            </a:r>
            <a:r>
              <a:rPr lang="de-DE" altLang="zh-CN" sz="2000" dirty="0" err="1"/>
              <a:t>field</a:t>
            </a:r>
            <a:r>
              <a:rPr lang="de-DE" altLang="zh-CN" sz="2000" dirty="0"/>
              <a:t> </a:t>
            </a:r>
            <a:r>
              <a:rPr lang="de-DE" altLang="zh-CN" sz="2000" dirty="0" err="1"/>
              <a:t>of</a:t>
            </a:r>
            <a:r>
              <a:rPr lang="de-DE" altLang="zh-CN" sz="2000" dirty="0"/>
              <a:t> </a:t>
            </a:r>
            <a:r>
              <a:rPr lang="de-DE" altLang="zh-CN" sz="2000" dirty="0" err="1"/>
              <a:t>cryptology</a:t>
            </a:r>
            <a:endParaRPr lang="de-DE" altLang="zh-CN" sz="2000" dirty="0"/>
          </a:p>
          <a:p>
            <a:pPr marL="342900" indent="-342900"/>
            <a:r>
              <a:rPr lang="de-DE" altLang="zh-CN" sz="2000" dirty="0"/>
              <a:t>Basics </a:t>
            </a:r>
            <a:r>
              <a:rPr lang="de-DE" altLang="zh-CN" sz="2000" dirty="0" err="1"/>
              <a:t>of</a:t>
            </a:r>
            <a:r>
              <a:rPr lang="de-DE" altLang="zh-CN" sz="2000" dirty="0"/>
              <a:t> </a:t>
            </a:r>
            <a:r>
              <a:rPr lang="de-DE" altLang="zh-CN" sz="2000" dirty="0" err="1"/>
              <a:t>symmetric</a:t>
            </a:r>
            <a:r>
              <a:rPr lang="de-DE" altLang="zh-CN" sz="2000" dirty="0"/>
              <a:t> </a:t>
            </a:r>
            <a:r>
              <a:rPr lang="de-DE" altLang="zh-CN" sz="2000" dirty="0" err="1"/>
              <a:t>cryptography</a:t>
            </a:r>
            <a:endParaRPr lang="de-DE" altLang="zh-CN" sz="2000" dirty="0"/>
          </a:p>
          <a:p>
            <a:pPr marL="342900" indent="-342900"/>
            <a:r>
              <a:rPr lang="de-DE" altLang="zh-CN" sz="2000" dirty="0"/>
              <a:t>Substitution </a:t>
            </a:r>
            <a:r>
              <a:rPr lang="de-DE" altLang="zh-CN" sz="2000" dirty="0" err="1"/>
              <a:t>Cipher</a:t>
            </a:r>
            <a:endParaRPr lang="de-DE" altLang="zh-CN" sz="2000" dirty="0"/>
          </a:p>
          <a:p>
            <a:pPr marL="342900" indent="-342900"/>
            <a:r>
              <a:rPr lang="de-DE" altLang="zh-CN" sz="2000" dirty="0" err="1"/>
              <a:t>Cryptanalysis</a:t>
            </a:r>
            <a:endParaRPr lang="de-DE" altLang="zh-CN" sz="2000" dirty="0"/>
          </a:p>
          <a:p>
            <a:pPr marL="342900" indent="-342900"/>
            <a:r>
              <a:rPr lang="de-DE" altLang="zh-CN" sz="2000" b="1" dirty="0"/>
              <a:t>Modular </a:t>
            </a:r>
            <a:r>
              <a:rPr lang="de-DE" altLang="zh-CN" sz="2000" b="1" dirty="0" err="1"/>
              <a:t>arithmetic</a:t>
            </a:r>
            <a:endParaRPr lang="de-DE" altLang="zh-CN" sz="2000" b="1" dirty="0"/>
          </a:p>
          <a:p>
            <a:pPr marL="342900" indent="-342900"/>
            <a:r>
              <a:rPr lang="de-DE" altLang="zh-CN" sz="2000" dirty="0"/>
              <a:t>Shift (</a:t>
            </a:r>
            <a:r>
              <a:rPr lang="de-DE" altLang="zh-CN" sz="2000" dirty="0" err="1"/>
              <a:t>or</a:t>
            </a:r>
            <a:r>
              <a:rPr lang="de-DE" altLang="zh-CN" sz="2000" dirty="0"/>
              <a:t> Caesar) </a:t>
            </a:r>
            <a:r>
              <a:rPr lang="de-DE" altLang="zh-CN" sz="2000" dirty="0" err="1"/>
              <a:t>Cipher</a:t>
            </a:r>
            <a:r>
              <a:rPr lang="de-DE" altLang="zh-CN" sz="2000" dirty="0"/>
              <a:t>, </a:t>
            </a:r>
            <a:r>
              <a:rPr lang="de-DE" altLang="zh-CN" sz="2000" dirty="0" err="1"/>
              <a:t>Vigenere</a:t>
            </a:r>
            <a:r>
              <a:rPr lang="de-DE" altLang="zh-CN" sz="2000" dirty="0"/>
              <a:t> </a:t>
            </a:r>
            <a:r>
              <a:rPr lang="de-DE" altLang="zh-CN" sz="2000" dirty="0" err="1"/>
              <a:t>Cipher</a:t>
            </a:r>
            <a:r>
              <a:rPr lang="de-DE" altLang="zh-CN" sz="2000" dirty="0"/>
              <a:t> and Affine </a:t>
            </a:r>
            <a:r>
              <a:rPr lang="de-DE" altLang="zh-CN" sz="2000" dirty="0" err="1"/>
              <a:t>Cipher</a:t>
            </a:r>
            <a:endParaRPr lang="de-DE" altLang="zh-CN" sz="2000" dirty="0"/>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B82B63D-B4A1-9F4A-86EA-9945B48A24FF}"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36868" name="Rectangle 2"/>
          <p:cNvSpPr>
            <a:spLocks noGrp="1" noChangeArrowheads="1"/>
          </p:cNvSpPr>
          <p:nvPr>
            <p:ph type="title"/>
          </p:nvPr>
        </p:nvSpPr>
        <p:spPr/>
        <p:txBody>
          <a:bodyPr/>
          <a:lstStyle/>
          <a:p>
            <a:r>
              <a:rPr lang="de-DE" altLang="zh-CN"/>
              <a:t>Short Introduction to Modular Arithmetic</a:t>
            </a:r>
            <a:endParaRPr lang="de-DE" altLang="zh-CN"/>
          </a:p>
        </p:txBody>
      </p:sp>
      <p:sp>
        <p:nvSpPr>
          <p:cNvPr id="36869" name="Rectangle 3"/>
          <p:cNvSpPr>
            <a:spLocks noGrp="1" noChangeArrowheads="1"/>
          </p:cNvSpPr>
          <p:nvPr>
            <p:ph type="body" idx="1"/>
          </p:nvPr>
        </p:nvSpPr>
        <p:spPr>
          <a:xfrm>
            <a:off x="395288" y="1844675"/>
            <a:ext cx="8137525" cy="1349375"/>
          </a:xfrm>
        </p:spPr>
        <p:txBody>
          <a:bodyPr/>
          <a:lstStyle/>
          <a:p>
            <a:pPr>
              <a:buFontTx/>
              <a:buNone/>
            </a:pPr>
            <a:r>
              <a:rPr lang="de-DE" altLang="zh-CN" b="1"/>
              <a:t>Why do we need to study modular arithmetic? </a:t>
            </a:r>
            <a:endParaRPr lang="de-DE" altLang="zh-CN"/>
          </a:p>
          <a:p>
            <a:pPr lvl="1"/>
            <a:r>
              <a:rPr lang="de-DE" altLang="zh-CN"/>
              <a:t>Extremely important for asymmetric cryptography (RSA, elliptic curves etc.)</a:t>
            </a:r>
            <a:endParaRPr lang="de-DE" altLang="zh-CN"/>
          </a:p>
          <a:p>
            <a:pPr lvl="1"/>
            <a:r>
              <a:rPr lang="de-DE" altLang="zh-CN"/>
              <a:t>Some historical ciphers can be elegantly described with modular arithmetic (cf. Caesar and affine cipher later on).</a:t>
            </a:r>
            <a:endParaRPr lang="de-DE" altLang="zh-CN"/>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900B8EC-D3F6-5F40-9BCD-1D8FE0D828DD}"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37892" name="Rectangle 2"/>
          <p:cNvSpPr>
            <a:spLocks noGrp="1" noChangeArrowheads="1"/>
          </p:cNvSpPr>
          <p:nvPr>
            <p:ph type="title"/>
          </p:nvPr>
        </p:nvSpPr>
        <p:spPr/>
        <p:txBody>
          <a:bodyPr/>
          <a:lstStyle/>
          <a:p>
            <a:r>
              <a:rPr lang="de-DE" altLang="zh-CN"/>
              <a:t>Short Introduction to Modular Arithmetic</a:t>
            </a:r>
            <a:endParaRPr lang="de-DE" altLang="zh-CN"/>
          </a:p>
        </p:txBody>
      </p:sp>
      <p:sp>
        <p:nvSpPr>
          <p:cNvPr id="37893" name="Oval 4"/>
          <p:cNvSpPr>
            <a:spLocks noChangeArrowheads="1"/>
          </p:cNvSpPr>
          <p:nvPr/>
        </p:nvSpPr>
        <p:spPr bwMode="auto">
          <a:xfrm>
            <a:off x="3563938" y="2997200"/>
            <a:ext cx="1871662" cy="187325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37894" name="Text Box 5"/>
          <p:cNvSpPr txBox="1">
            <a:spLocks noChangeArrowheads="1"/>
          </p:cNvSpPr>
          <p:nvPr/>
        </p:nvSpPr>
        <p:spPr bwMode="auto">
          <a:xfrm>
            <a:off x="4356100" y="2708275"/>
            <a:ext cx="254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12</a:t>
            </a:r>
            <a:endParaRPr lang="de-DE" altLang="zh-CN"/>
          </a:p>
        </p:txBody>
      </p:sp>
      <p:sp>
        <p:nvSpPr>
          <p:cNvPr id="37895" name="Text Box 6"/>
          <p:cNvSpPr txBox="1">
            <a:spLocks noChangeArrowheads="1"/>
          </p:cNvSpPr>
          <p:nvPr/>
        </p:nvSpPr>
        <p:spPr bwMode="auto">
          <a:xfrm>
            <a:off x="4859338" y="2852738"/>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1</a:t>
            </a:r>
            <a:endParaRPr lang="de-DE" altLang="zh-CN"/>
          </a:p>
        </p:txBody>
      </p:sp>
      <p:sp>
        <p:nvSpPr>
          <p:cNvPr id="37896" name="Text Box 7"/>
          <p:cNvSpPr txBox="1">
            <a:spLocks noChangeArrowheads="1"/>
          </p:cNvSpPr>
          <p:nvPr/>
        </p:nvSpPr>
        <p:spPr bwMode="auto">
          <a:xfrm>
            <a:off x="5292725" y="3213100"/>
            <a:ext cx="12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2</a:t>
            </a:r>
            <a:endParaRPr lang="de-DE" altLang="zh-CN"/>
          </a:p>
        </p:txBody>
      </p:sp>
      <p:sp>
        <p:nvSpPr>
          <p:cNvPr id="37897" name="Text Box 8"/>
          <p:cNvSpPr txBox="1">
            <a:spLocks noChangeArrowheads="1"/>
          </p:cNvSpPr>
          <p:nvPr/>
        </p:nvSpPr>
        <p:spPr bwMode="auto">
          <a:xfrm>
            <a:off x="5508625" y="3716338"/>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3</a:t>
            </a:r>
            <a:endParaRPr lang="de-DE" altLang="zh-CN"/>
          </a:p>
        </p:txBody>
      </p:sp>
      <p:sp>
        <p:nvSpPr>
          <p:cNvPr id="37898" name="Text Box 9"/>
          <p:cNvSpPr txBox="1">
            <a:spLocks noChangeArrowheads="1"/>
          </p:cNvSpPr>
          <p:nvPr/>
        </p:nvSpPr>
        <p:spPr bwMode="auto">
          <a:xfrm>
            <a:off x="5364163" y="4292600"/>
            <a:ext cx="12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4</a:t>
            </a:r>
            <a:endParaRPr lang="de-DE" altLang="zh-CN"/>
          </a:p>
        </p:txBody>
      </p:sp>
      <p:sp>
        <p:nvSpPr>
          <p:cNvPr id="37899" name="Text Box 10"/>
          <p:cNvSpPr txBox="1">
            <a:spLocks noChangeArrowheads="1"/>
          </p:cNvSpPr>
          <p:nvPr/>
        </p:nvSpPr>
        <p:spPr bwMode="auto">
          <a:xfrm>
            <a:off x="4932363" y="4725988"/>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5</a:t>
            </a:r>
            <a:endParaRPr lang="de-DE" altLang="zh-CN"/>
          </a:p>
        </p:txBody>
      </p:sp>
      <p:sp>
        <p:nvSpPr>
          <p:cNvPr id="37900" name="Text Box 11"/>
          <p:cNvSpPr txBox="1">
            <a:spLocks noChangeArrowheads="1"/>
          </p:cNvSpPr>
          <p:nvPr/>
        </p:nvSpPr>
        <p:spPr bwMode="auto">
          <a:xfrm>
            <a:off x="4427538" y="4868863"/>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6</a:t>
            </a:r>
            <a:endParaRPr lang="de-DE" altLang="zh-CN"/>
          </a:p>
        </p:txBody>
      </p:sp>
      <p:sp>
        <p:nvSpPr>
          <p:cNvPr id="37901" name="Text Box 12"/>
          <p:cNvSpPr txBox="1">
            <a:spLocks noChangeArrowheads="1"/>
          </p:cNvSpPr>
          <p:nvPr/>
        </p:nvSpPr>
        <p:spPr bwMode="auto">
          <a:xfrm>
            <a:off x="3851275" y="4725988"/>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7</a:t>
            </a:r>
            <a:endParaRPr lang="de-DE" altLang="zh-CN"/>
          </a:p>
        </p:txBody>
      </p:sp>
      <p:sp>
        <p:nvSpPr>
          <p:cNvPr id="37902" name="Text Box 13"/>
          <p:cNvSpPr txBox="1">
            <a:spLocks noChangeArrowheads="1"/>
          </p:cNvSpPr>
          <p:nvPr/>
        </p:nvSpPr>
        <p:spPr bwMode="auto">
          <a:xfrm>
            <a:off x="3492500" y="4365625"/>
            <a:ext cx="12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8</a:t>
            </a:r>
            <a:endParaRPr lang="de-DE" altLang="zh-CN"/>
          </a:p>
        </p:txBody>
      </p:sp>
      <p:sp>
        <p:nvSpPr>
          <p:cNvPr id="37903" name="Text Box 14"/>
          <p:cNvSpPr txBox="1">
            <a:spLocks noChangeArrowheads="1"/>
          </p:cNvSpPr>
          <p:nvPr/>
        </p:nvSpPr>
        <p:spPr bwMode="auto">
          <a:xfrm>
            <a:off x="3348038" y="3789363"/>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9</a:t>
            </a:r>
            <a:endParaRPr lang="de-DE" altLang="zh-CN"/>
          </a:p>
        </p:txBody>
      </p:sp>
      <p:sp>
        <p:nvSpPr>
          <p:cNvPr id="37904" name="Text Box 15"/>
          <p:cNvSpPr txBox="1">
            <a:spLocks noChangeArrowheads="1"/>
          </p:cNvSpPr>
          <p:nvPr/>
        </p:nvSpPr>
        <p:spPr bwMode="auto">
          <a:xfrm>
            <a:off x="3419475" y="3213100"/>
            <a:ext cx="254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10</a:t>
            </a:r>
            <a:endParaRPr lang="de-DE" altLang="zh-CN"/>
          </a:p>
        </p:txBody>
      </p:sp>
      <p:sp>
        <p:nvSpPr>
          <p:cNvPr id="37905" name="Text Box 16"/>
          <p:cNvSpPr txBox="1">
            <a:spLocks noChangeArrowheads="1"/>
          </p:cNvSpPr>
          <p:nvPr/>
        </p:nvSpPr>
        <p:spPr bwMode="auto">
          <a:xfrm>
            <a:off x="3851275" y="2852738"/>
            <a:ext cx="254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de-DE" altLang="zh-CN"/>
              <a:t>11</a:t>
            </a:r>
            <a:endParaRPr lang="de-DE" altLang="zh-CN"/>
          </a:p>
        </p:txBody>
      </p:sp>
      <p:sp>
        <p:nvSpPr>
          <p:cNvPr id="37906" name="Line 17"/>
          <p:cNvSpPr>
            <a:spLocks noChangeShapeType="1"/>
          </p:cNvSpPr>
          <p:nvPr/>
        </p:nvSpPr>
        <p:spPr bwMode="auto">
          <a:xfrm>
            <a:off x="4500563" y="2925763"/>
            <a:ext cx="0" cy="1428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7907" name="Line 18"/>
          <p:cNvSpPr>
            <a:spLocks noChangeShapeType="1"/>
          </p:cNvSpPr>
          <p:nvPr/>
        </p:nvSpPr>
        <p:spPr bwMode="auto">
          <a:xfrm>
            <a:off x="4500563" y="4797425"/>
            <a:ext cx="0" cy="1444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7908" name="Line 19"/>
          <p:cNvSpPr>
            <a:spLocks noChangeShapeType="1"/>
          </p:cNvSpPr>
          <p:nvPr/>
        </p:nvSpPr>
        <p:spPr bwMode="auto">
          <a:xfrm>
            <a:off x="5364163" y="3860800"/>
            <a:ext cx="1444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7909" name="Line 20"/>
          <p:cNvSpPr>
            <a:spLocks noChangeShapeType="1"/>
          </p:cNvSpPr>
          <p:nvPr/>
        </p:nvSpPr>
        <p:spPr bwMode="auto">
          <a:xfrm>
            <a:off x="3492500" y="3933825"/>
            <a:ext cx="1428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7910" name="AutoShape 21"/>
          <p:cNvSpPr>
            <a:spLocks noChangeArrowheads="1"/>
          </p:cNvSpPr>
          <p:nvPr/>
        </p:nvSpPr>
        <p:spPr bwMode="auto">
          <a:xfrm rot="5400000">
            <a:off x="4032250" y="3609976"/>
            <a:ext cx="1584325" cy="647700"/>
          </a:xfrm>
          <a:prstGeom prst="curvedDownArrow">
            <a:avLst>
              <a:gd name="adj1" fmla="val 48922"/>
              <a:gd name="adj2" fmla="val 97843"/>
              <a:gd name="adj3" fmla="val 33333"/>
            </a:avLst>
          </a:prstGeom>
          <a:solidFill>
            <a:srgbClr val="FF0000">
              <a:alpha val="30196"/>
            </a:srgbClr>
          </a:solidFill>
          <a:ln w="9525">
            <a:solidFill>
              <a:srgbClr val="FF0000"/>
            </a:solidFill>
            <a:miter lim="800000"/>
          </a:ln>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de-DE" altLang="zh-CN"/>
          </a:p>
        </p:txBody>
      </p:sp>
      <p:sp>
        <p:nvSpPr>
          <p:cNvPr id="37911" name="Rectangle 22"/>
          <p:cNvSpPr>
            <a:spLocks noChangeArrowheads="1"/>
          </p:cNvSpPr>
          <p:nvPr/>
        </p:nvSpPr>
        <p:spPr bwMode="auto">
          <a:xfrm>
            <a:off x="250825" y="765175"/>
            <a:ext cx="8388350" cy="141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pPr>
            <a:r>
              <a:rPr lang="de-DE" altLang="zh-CN" sz="1600"/>
              <a:t>Generally speaking, most cryptosytems are based on </a:t>
            </a:r>
            <a:r>
              <a:rPr lang="de-DE" altLang="zh-CN" sz="1600" b="1"/>
              <a:t>sets of numbers</a:t>
            </a:r>
            <a:r>
              <a:rPr lang="de-DE" altLang="zh-CN" sz="1600"/>
              <a:t> that are</a:t>
            </a:r>
            <a:endParaRPr lang="de-DE" altLang="zh-CN" sz="1600"/>
          </a:p>
          <a:p>
            <a:pPr>
              <a:lnSpc>
                <a:spcPct val="125000"/>
              </a:lnSpc>
              <a:spcBef>
                <a:spcPct val="25000"/>
              </a:spcBef>
              <a:buClr>
                <a:srgbClr val="007AC2"/>
              </a:buClr>
              <a:buSzPct val="120000"/>
              <a:buFontTx/>
              <a:buAutoNum type="arabicPeriod"/>
            </a:pPr>
            <a:r>
              <a:rPr lang="de-DE" altLang="zh-CN" sz="1600" b="1"/>
              <a:t>discrete</a:t>
            </a:r>
            <a:r>
              <a:rPr lang="de-DE" altLang="zh-CN" sz="1600"/>
              <a:t> (sets with integers are particularly useful)</a:t>
            </a:r>
            <a:endParaRPr lang="de-DE" altLang="zh-CN" sz="1600"/>
          </a:p>
          <a:p>
            <a:pPr>
              <a:lnSpc>
                <a:spcPct val="125000"/>
              </a:lnSpc>
              <a:spcBef>
                <a:spcPct val="25000"/>
              </a:spcBef>
              <a:buClr>
                <a:srgbClr val="007AC2"/>
              </a:buClr>
              <a:buSzPct val="120000"/>
              <a:buFontTx/>
              <a:buAutoNum type="arabicPeriod"/>
            </a:pPr>
            <a:r>
              <a:rPr lang="de-DE" altLang="zh-CN" sz="1600" b="1"/>
              <a:t>finite</a:t>
            </a:r>
            <a:r>
              <a:rPr lang="de-DE" altLang="zh-CN" sz="1600"/>
              <a:t> (i.e., if we only compute with a finiely many numbers)</a:t>
            </a:r>
            <a:endParaRPr lang="de-DE" altLang="zh-CN" sz="1600"/>
          </a:p>
          <a:p>
            <a:pPr>
              <a:lnSpc>
                <a:spcPct val="125000"/>
              </a:lnSpc>
              <a:spcBef>
                <a:spcPct val="25000"/>
              </a:spcBef>
              <a:buClr>
                <a:srgbClr val="007AC2"/>
              </a:buClr>
              <a:buSzPct val="120000"/>
              <a:buFontTx/>
              <a:buChar char="•"/>
            </a:pPr>
            <a:endParaRPr lang="de-DE" altLang="zh-CN" sz="1600"/>
          </a:p>
        </p:txBody>
      </p:sp>
      <p:sp>
        <p:nvSpPr>
          <p:cNvPr id="37912" name="Rectangle 24"/>
          <p:cNvSpPr>
            <a:spLocks noChangeArrowheads="1"/>
          </p:cNvSpPr>
          <p:nvPr/>
        </p:nvSpPr>
        <p:spPr bwMode="auto">
          <a:xfrm>
            <a:off x="377825" y="2205038"/>
            <a:ext cx="838835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pPr>
            <a:r>
              <a:rPr lang="de-DE" altLang="zh-CN" sz="1600"/>
              <a:t>Seems too abstract?  ---  Let‘s look at a finite set with discrete numbers we are quite familiar with: a clock.</a:t>
            </a:r>
            <a:endParaRPr lang="de-DE" altLang="zh-CN" sz="1600"/>
          </a:p>
          <a:p>
            <a:pPr>
              <a:lnSpc>
                <a:spcPct val="125000"/>
              </a:lnSpc>
              <a:spcBef>
                <a:spcPct val="25000"/>
              </a:spcBef>
              <a:buClr>
                <a:srgbClr val="007AC2"/>
              </a:buClr>
              <a:buSzPct val="120000"/>
              <a:buFontTx/>
              <a:buChar char="•"/>
            </a:pPr>
            <a:endParaRPr lang="de-DE" altLang="zh-CN" sz="1600"/>
          </a:p>
        </p:txBody>
      </p:sp>
      <p:sp>
        <p:nvSpPr>
          <p:cNvPr id="37913" name="Rectangle 25"/>
          <p:cNvSpPr>
            <a:spLocks noChangeArrowheads="1"/>
          </p:cNvSpPr>
          <p:nvPr/>
        </p:nvSpPr>
        <p:spPr bwMode="auto">
          <a:xfrm>
            <a:off x="377825" y="5229225"/>
            <a:ext cx="8388350"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pPr>
            <a:r>
              <a:rPr lang="de-DE" altLang="zh-CN" sz="1600"/>
              <a:t>Interestingly, even though the numbers are incremented every hour we never leave the set of integers:</a:t>
            </a:r>
            <a:endParaRPr lang="de-DE" altLang="zh-CN" sz="1600"/>
          </a:p>
          <a:p>
            <a:pPr algn="ctr">
              <a:lnSpc>
                <a:spcPct val="125000"/>
              </a:lnSpc>
              <a:spcBef>
                <a:spcPct val="25000"/>
              </a:spcBef>
              <a:buClr>
                <a:srgbClr val="007AC2"/>
              </a:buClr>
              <a:buSzPct val="120000"/>
            </a:pPr>
            <a:r>
              <a:rPr lang="de-DE" altLang="zh-CN" sz="1600"/>
              <a:t>	1, 2, 3,  … 11, 12, 1, 2, 3,  … 11, 12, 1, 2, 3,  …:</a:t>
            </a:r>
            <a:endParaRPr lang="de-DE" altLang="zh-CN" sz="1600"/>
          </a:p>
          <a:p>
            <a:pPr>
              <a:lnSpc>
                <a:spcPct val="125000"/>
              </a:lnSpc>
              <a:spcBef>
                <a:spcPct val="25000"/>
              </a:spcBef>
              <a:buClr>
                <a:srgbClr val="007AC2"/>
              </a:buClr>
              <a:buSzPct val="120000"/>
              <a:buFontTx/>
              <a:buChar char="•"/>
            </a:pPr>
            <a:endParaRPr lang="de-DE" altLang="zh-CN" sz="1600"/>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68B88E-BE50-A64A-A59F-DA694B981048}"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38916" name="Rectangle 2"/>
          <p:cNvSpPr>
            <a:spLocks noGrp="1" noChangeArrowheads="1"/>
          </p:cNvSpPr>
          <p:nvPr>
            <p:ph type="title"/>
          </p:nvPr>
        </p:nvSpPr>
        <p:spPr/>
        <p:txBody>
          <a:bodyPr/>
          <a:lstStyle/>
          <a:p>
            <a:r>
              <a:rPr lang="de-DE" altLang="zh-CN"/>
              <a:t>Short Introduction to Modular Arithmetic</a:t>
            </a:r>
            <a:endParaRPr lang="de-DE" altLang="zh-CN"/>
          </a:p>
        </p:txBody>
      </p:sp>
      <p:sp>
        <p:nvSpPr>
          <p:cNvPr id="38917" name="Rectangle 21"/>
          <p:cNvSpPr>
            <a:spLocks noChangeArrowheads="1"/>
          </p:cNvSpPr>
          <p:nvPr/>
        </p:nvSpPr>
        <p:spPr bwMode="auto">
          <a:xfrm>
            <a:off x="467360" y="764540"/>
            <a:ext cx="8388350" cy="128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556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de-DE" altLang="zh-CN" sz="1600"/>
              <a:t>We develop now an arithmetic system which allows us to </a:t>
            </a:r>
            <a:r>
              <a:rPr lang="de-DE" altLang="zh-CN" sz="1600" b="1"/>
              <a:t>compute</a:t>
            </a:r>
            <a:r>
              <a:rPr lang="de-DE" altLang="zh-CN" sz="1600"/>
              <a:t> in finite sets of integers like the 12 integers we find on a clock (1,2,3,  … ,12).</a:t>
            </a:r>
            <a:endParaRPr lang="de-DE" altLang="zh-CN" sz="1600"/>
          </a:p>
          <a:p>
            <a:pPr>
              <a:lnSpc>
                <a:spcPct val="125000"/>
              </a:lnSpc>
              <a:spcBef>
                <a:spcPct val="25000"/>
              </a:spcBef>
              <a:buClr>
                <a:srgbClr val="007AC2"/>
              </a:buClr>
              <a:buSzPct val="120000"/>
              <a:buFontTx/>
              <a:buChar char="•"/>
            </a:pPr>
            <a:r>
              <a:rPr lang="de-DE" altLang="zh-CN" sz="1600"/>
              <a:t>It is crucial to have an operation which „keeps the numbers within limits“, i.e., after addition and multiplication they should never leave the set (i.e., never larger than 12).</a:t>
            </a:r>
            <a:endParaRPr lang="de-DE" altLang="zh-CN" sz="1600"/>
          </a:p>
        </p:txBody>
      </p:sp>
      <p:sp>
        <p:nvSpPr>
          <p:cNvPr id="38918" name="Rectangle 23"/>
          <p:cNvSpPr>
            <a:spLocks noChangeArrowheads="1"/>
          </p:cNvSpPr>
          <p:nvPr/>
        </p:nvSpPr>
        <p:spPr bwMode="auto">
          <a:xfrm>
            <a:off x="395605" y="4364673"/>
            <a:ext cx="8388350" cy="214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556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pPr>
            <a:r>
              <a:rPr lang="de-DE" altLang="zh-CN" sz="1600" dirty="0" err="1"/>
              <a:t>Examples</a:t>
            </a:r>
            <a:r>
              <a:rPr lang="de-DE" altLang="zh-CN" sz="1600" dirty="0"/>
              <a:t> </a:t>
            </a:r>
            <a:r>
              <a:rPr lang="de-DE" altLang="zh-CN" sz="1600" dirty="0" err="1"/>
              <a:t>for</a:t>
            </a:r>
            <a:r>
              <a:rPr lang="de-DE" altLang="zh-CN" sz="1600" dirty="0"/>
              <a:t> modular </a:t>
            </a:r>
            <a:r>
              <a:rPr lang="de-DE" altLang="zh-CN" sz="1600" dirty="0" err="1"/>
              <a:t>reduction</a:t>
            </a:r>
            <a:r>
              <a:rPr lang="de-DE" altLang="zh-CN" sz="1600" dirty="0"/>
              <a:t>.</a:t>
            </a:r>
            <a:endParaRPr lang="de-DE" altLang="zh-CN" sz="1600" dirty="0"/>
          </a:p>
          <a:p>
            <a:pPr>
              <a:lnSpc>
                <a:spcPct val="125000"/>
              </a:lnSpc>
              <a:spcBef>
                <a:spcPct val="25000"/>
              </a:spcBef>
              <a:buClr>
                <a:srgbClr val="007AC2"/>
              </a:buClr>
              <a:buSzPct val="120000"/>
              <a:buFontTx/>
              <a:buChar char="•"/>
            </a:pPr>
            <a:r>
              <a:rPr lang="de-DE" altLang="zh-CN" sz="1600" dirty="0" err="1"/>
              <a:t>Let</a:t>
            </a:r>
            <a:r>
              <a:rPr lang="de-DE" altLang="zh-CN" sz="1600" dirty="0"/>
              <a:t> a= 12 and  m= 9 :	12 </a:t>
            </a:r>
            <a:r>
              <a:rPr lang="de-DE" altLang="zh-CN" sz="1600" i="1" dirty="0">
                <a:cs typeface="Arial" panose="020B0604020202020204" pitchFamily="34" charset="0"/>
              </a:rPr>
              <a:t>≡ </a:t>
            </a:r>
            <a:r>
              <a:rPr lang="de-DE" altLang="zh-CN" sz="1600" dirty="0">
                <a:cs typeface="Arial" panose="020B0604020202020204" pitchFamily="34" charset="0"/>
              </a:rPr>
              <a:t>3 </a:t>
            </a:r>
            <a:r>
              <a:rPr lang="de-DE" altLang="zh-CN" sz="1600" dirty="0" err="1">
                <a:cs typeface="Arial" panose="020B0604020202020204" pitchFamily="34" charset="0"/>
              </a:rPr>
              <a:t>mod</a:t>
            </a:r>
            <a:r>
              <a:rPr lang="de-DE" altLang="zh-CN" sz="1600" i="1" dirty="0">
                <a:cs typeface="Arial" panose="020B0604020202020204" pitchFamily="34" charset="0"/>
              </a:rPr>
              <a:t> </a:t>
            </a:r>
            <a:r>
              <a:rPr lang="de-DE" altLang="zh-CN" sz="1600" dirty="0">
                <a:cs typeface="Arial" panose="020B0604020202020204" pitchFamily="34" charset="0"/>
              </a:rPr>
              <a:t>9</a:t>
            </a:r>
            <a:endParaRPr lang="de-DE" altLang="zh-CN" sz="1600" dirty="0">
              <a:cs typeface="Arial" panose="020B0604020202020204" pitchFamily="34" charset="0"/>
            </a:endParaRPr>
          </a:p>
          <a:p>
            <a:pPr>
              <a:lnSpc>
                <a:spcPct val="125000"/>
              </a:lnSpc>
              <a:spcBef>
                <a:spcPct val="25000"/>
              </a:spcBef>
              <a:buClr>
                <a:srgbClr val="007AC2"/>
              </a:buClr>
              <a:buSzPct val="120000"/>
              <a:buFontTx/>
              <a:buChar char="•"/>
            </a:pPr>
            <a:r>
              <a:rPr lang="de-DE" altLang="zh-CN" sz="1600" dirty="0" err="1">
                <a:cs typeface="Arial" panose="020B0604020202020204" pitchFamily="34" charset="0"/>
              </a:rPr>
              <a:t>Let</a:t>
            </a:r>
            <a:r>
              <a:rPr lang="de-DE" altLang="zh-CN" sz="1600" dirty="0">
                <a:cs typeface="Arial" panose="020B0604020202020204" pitchFamily="34" charset="0"/>
              </a:rPr>
              <a:t> a= 37 and m= 9:	</a:t>
            </a:r>
            <a:r>
              <a:rPr lang="de-DE" altLang="zh-CN" sz="1600" dirty="0"/>
              <a:t>34 </a:t>
            </a:r>
            <a:r>
              <a:rPr lang="de-DE" altLang="zh-CN" sz="1600" i="1" dirty="0">
                <a:cs typeface="Arial" panose="020B0604020202020204" pitchFamily="34" charset="0"/>
              </a:rPr>
              <a:t>≡ </a:t>
            </a:r>
            <a:r>
              <a:rPr lang="de-DE" altLang="zh-CN" sz="1600" dirty="0">
                <a:cs typeface="Arial" panose="020B0604020202020204" pitchFamily="34" charset="0"/>
              </a:rPr>
              <a:t>7 </a:t>
            </a:r>
            <a:r>
              <a:rPr lang="de-DE" altLang="zh-CN" sz="1600" dirty="0" err="1">
                <a:cs typeface="Arial" panose="020B0604020202020204" pitchFamily="34" charset="0"/>
              </a:rPr>
              <a:t>mod</a:t>
            </a:r>
            <a:r>
              <a:rPr lang="de-DE" altLang="zh-CN" sz="1600" i="1" dirty="0">
                <a:cs typeface="Arial" panose="020B0604020202020204" pitchFamily="34" charset="0"/>
              </a:rPr>
              <a:t> </a:t>
            </a:r>
            <a:r>
              <a:rPr lang="de-DE" altLang="zh-CN" sz="1600" dirty="0">
                <a:cs typeface="Arial" panose="020B0604020202020204" pitchFamily="34" charset="0"/>
              </a:rPr>
              <a:t>9</a:t>
            </a:r>
            <a:endParaRPr lang="de-DE" altLang="zh-CN" sz="1600" dirty="0">
              <a:cs typeface="Arial" panose="020B0604020202020204" pitchFamily="34" charset="0"/>
            </a:endParaRPr>
          </a:p>
          <a:p>
            <a:pPr>
              <a:lnSpc>
                <a:spcPct val="125000"/>
              </a:lnSpc>
              <a:spcBef>
                <a:spcPct val="25000"/>
              </a:spcBef>
              <a:buClr>
                <a:srgbClr val="007AC2"/>
              </a:buClr>
              <a:buSzPct val="120000"/>
              <a:buFontTx/>
              <a:buChar char="•"/>
            </a:pPr>
            <a:r>
              <a:rPr lang="de-DE" altLang="zh-CN" sz="1600" dirty="0" err="1">
                <a:cs typeface="Arial" panose="020B0604020202020204" pitchFamily="34" charset="0"/>
              </a:rPr>
              <a:t>Let</a:t>
            </a:r>
            <a:r>
              <a:rPr lang="de-DE" altLang="zh-CN" sz="1600" dirty="0">
                <a:cs typeface="Arial" panose="020B0604020202020204" pitchFamily="34" charset="0"/>
              </a:rPr>
              <a:t> a= -7 and m= 9: 	</a:t>
            </a:r>
            <a:r>
              <a:rPr lang="de-DE" altLang="zh-CN" sz="1600" dirty="0"/>
              <a:t>-7 </a:t>
            </a:r>
            <a:r>
              <a:rPr lang="de-DE" altLang="zh-CN" sz="1600" i="1" dirty="0">
                <a:cs typeface="Arial" panose="020B0604020202020204" pitchFamily="34" charset="0"/>
              </a:rPr>
              <a:t>≡ 2</a:t>
            </a:r>
            <a:r>
              <a:rPr lang="de-DE" altLang="zh-CN" sz="1600" dirty="0">
                <a:cs typeface="Arial" panose="020B0604020202020204" pitchFamily="34" charset="0"/>
              </a:rPr>
              <a:t> </a:t>
            </a:r>
            <a:r>
              <a:rPr lang="de-DE" altLang="zh-CN" sz="1600" dirty="0" err="1">
                <a:cs typeface="Arial" panose="020B0604020202020204" pitchFamily="34" charset="0"/>
              </a:rPr>
              <a:t>mod</a:t>
            </a:r>
            <a:r>
              <a:rPr lang="de-DE" altLang="zh-CN" sz="1600" i="1" dirty="0">
                <a:cs typeface="Arial" panose="020B0604020202020204" pitchFamily="34" charset="0"/>
              </a:rPr>
              <a:t> </a:t>
            </a:r>
            <a:r>
              <a:rPr lang="de-DE" altLang="zh-CN" sz="1600" dirty="0">
                <a:cs typeface="Arial" panose="020B0604020202020204" pitchFamily="34" charset="0"/>
              </a:rPr>
              <a:t>9</a:t>
            </a:r>
            <a:endParaRPr lang="de-DE" altLang="zh-CN" sz="1600" dirty="0">
              <a:cs typeface="Arial" panose="020B0604020202020204" pitchFamily="34" charset="0"/>
            </a:endParaRPr>
          </a:p>
          <a:p>
            <a:pPr>
              <a:lnSpc>
                <a:spcPct val="125000"/>
              </a:lnSpc>
              <a:spcBef>
                <a:spcPct val="25000"/>
              </a:spcBef>
              <a:buClr>
                <a:srgbClr val="007AC2"/>
              </a:buClr>
              <a:buSzPct val="120000"/>
            </a:pPr>
            <a:r>
              <a:rPr lang="de-DE" altLang="zh-CN" sz="1600" dirty="0">
                <a:cs typeface="Arial" panose="020B0604020202020204" pitchFamily="34" charset="0"/>
              </a:rPr>
              <a:t>(</a:t>
            </a:r>
            <a:r>
              <a:rPr lang="de-DE" altLang="zh-CN" sz="1600" dirty="0" err="1">
                <a:cs typeface="Arial" panose="020B0604020202020204" pitchFamily="34" charset="0"/>
              </a:rPr>
              <a:t>you</a:t>
            </a:r>
            <a:r>
              <a:rPr lang="de-DE" altLang="zh-CN" sz="1600" dirty="0">
                <a:cs typeface="Arial" panose="020B0604020202020204" pitchFamily="34" charset="0"/>
              </a:rPr>
              <a:t> </a:t>
            </a:r>
            <a:r>
              <a:rPr lang="de-DE" altLang="zh-CN" sz="1600" dirty="0" err="1">
                <a:cs typeface="Arial" panose="020B0604020202020204" pitchFamily="34" charset="0"/>
              </a:rPr>
              <a:t>should</a:t>
            </a:r>
            <a:r>
              <a:rPr lang="de-DE" altLang="zh-CN" sz="1600" dirty="0">
                <a:cs typeface="Arial" panose="020B0604020202020204" pitchFamily="34" charset="0"/>
              </a:rPr>
              <a:t> check </a:t>
            </a:r>
            <a:r>
              <a:rPr lang="de-DE" altLang="zh-CN" sz="1600" dirty="0" err="1">
                <a:cs typeface="Arial" panose="020B0604020202020204" pitchFamily="34" charset="0"/>
              </a:rPr>
              <a:t>whether</a:t>
            </a:r>
            <a:r>
              <a:rPr lang="de-DE" altLang="zh-CN" sz="1600" dirty="0">
                <a:cs typeface="Arial" panose="020B0604020202020204" pitchFamily="34" charset="0"/>
              </a:rPr>
              <a:t> </a:t>
            </a:r>
            <a:r>
              <a:rPr lang="de-DE" altLang="zh-CN" sz="1600" dirty="0" err="1">
                <a:cs typeface="Arial" panose="020B0604020202020204" pitchFamily="34" charset="0"/>
              </a:rPr>
              <a:t>the</a:t>
            </a:r>
            <a:r>
              <a:rPr lang="de-DE" altLang="zh-CN" sz="1600" dirty="0">
                <a:cs typeface="Arial" panose="020B0604020202020204" pitchFamily="34" charset="0"/>
              </a:rPr>
              <a:t> </a:t>
            </a:r>
            <a:r>
              <a:rPr lang="de-DE" altLang="zh-CN" sz="1600" dirty="0" err="1">
                <a:cs typeface="Arial" panose="020B0604020202020204" pitchFamily="34" charset="0"/>
              </a:rPr>
              <a:t>condition</a:t>
            </a:r>
            <a:r>
              <a:rPr lang="de-DE" altLang="zh-CN" sz="1600" dirty="0">
                <a:cs typeface="Arial" panose="020B0604020202020204" pitchFamily="34" charset="0"/>
              </a:rPr>
              <a:t> „</a:t>
            </a:r>
            <a:r>
              <a:rPr lang="de-DE" altLang="zh-CN" sz="1600" i="1" dirty="0">
                <a:cs typeface="Arial" panose="020B0604020202020204" pitchFamily="34" charset="0"/>
              </a:rPr>
              <a:t>m</a:t>
            </a:r>
            <a:r>
              <a:rPr lang="de-DE" altLang="zh-CN" sz="1600" dirty="0">
                <a:cs typeface="Arial" panose="020B0604020202020204" pitchFamily="34" charset="0"/>
              </a:rPr>
              <a:t> </a:t>
            </a:r>
            <a:r>
              <a:rPr lang="de-DE" altLang="zh-CN" sz="1600" dirty="0" err="1">
                <a:cs typeface="Arial" panose="020B0604020202020204" pitchFamily="34" charset="0"/>
              </a:rPr>
              <a:t>divides</a:t>
            </a:r>
            <a:r>
              <a:rPr lang="de-DE" altLang="zh-CN" sz="1600" dirty="0">
                <a:cs typeface="Arial" panose="020B0604020202020204" pitchFamily="34" charset="0"/>
              </a:rPr>
              <a:t> (</a:t>
            </a:r>
            <a:r>
              <a:rPr lang="de-DE" altLang="zh-CN" sz="1600" i="1" dirty="0" err="1">
                <a:cs typeface="Arial" panose="020B0604020202020204" pitchFamily="34" charset="0"/>
              </a:rPr>
              <a:t>r</a:t>
            </a:r>
            <a:r>
              <a:rPr lang="de-DE" altLang="zh-CN" sz="1600" i="1" dirty="0">
                <a:cs typeface="Arial" panose="020B0604020202020204" pitchFamily="34" charset="0"/>
              </a:rPr>
              <a:t>-a</a:t>
            </a:r>
            <a:r>
              <a:rPr lang="de-DE" altLang="zh-CN" sz="1600" dirty="0">
                <a:cs typeface="Arial" panose="020B0604020202020204" pitchFamily="34" charset="0"/>
              </a:rPr>
              <a:t>)“</a:t>
            </a:r>
            <a:r>
              <a:rPr lang="de-DE" altLang="zh-CN" sz="1600" dirty="0" err="1">
                <a:cs typeface="Arial" panose="020B0604020202020204" pitchFamily="34" charset="0"/>
              </a:rPr>
              <a:t>holds</a:t>
            </a:r>
            <a:r>
              <a:rPr lang="de-DE" altLang="zh-CN" sz="1600" dirty="0">
                <a:cs typeface="Arial" panose="020B0604020202020204" pitchFamily="34" charset="0"/>
              </a:rPr>
              <a:t> in </a:t>
            </a:r>
            <a:r>
              <a:rPr lang="de-DE" altLang="zh-CN" sz="1600" dirty="0" err="1">
                <a:cs typeface="Arial" panose="020B0604020202020204" pitchFamily="34" charset="0"/>
              </a:rPr>
              <a:t>each</a:t>
            </a:r>
            <a:r>
              <a:rPr lang="de-DE" altLang="zh-CN" sz="1600" dirty="0">
                <a:cs typeface="Arial" panose="020B0604020202020204" pitchFamily="34" charset="0"/>
              </a:rPr>
              <a:t> </a:t>
            </a:r>
            <a:r>
              <a:rPr lang="de-DE" altLang="zh-CN" sz="1600" dirty="0" err="1">
                <a:cs typeface="Arial" panose="020B0604020202020204" pitchFamily="34" charset="0"/>
              </a:rPr>
              <a:t>of</a:t>
            </a:r>
            <a:r>
              <a:rPr lang="de-DE" altLang="zh-CN" sz="1600" dirty="0">
                <a:cs typeface="Arial" panose="020B0604020202020204" pitchFamily="34" charset="0"/>
              </a:rPr>
              <a:t> </a:t>
            </a:r>
            <a:r>
              <a:rPr lang="de-DE" altLang="zh-CN" sz="1600" dirty="0" err="1">
                <a:cs typeface="Arial" panose="020B0604020202020204" pitchFamily="34" charset="0"/>
              </a:rPr>
              <a:t>the</a:t>
            </a:r>
            <a:r>
              <a:rPr lang="de-DE" altLang="zh-CN" sz="1600" dirty="0">
                <a:cs typeface="Arial" panose="020B0604020202020204" pitchFamily="34" charset="0"/>
              </a:rPr>
              <a:t> 3 </a:t>
            </a:r>
            <a:r>
              <a:rPr lang="de-DE" altLang="zh-CN" sz="1600" dirty="0" err="1">
                <a:cs typeface="Arial" panose="020B0604020202020204" pitchFamily="34" charset="0"/>
              </a:rPr>
              <a:t>cases</a:t>
            </a:r>
            <a:r>
              <a:rPr lang="de-DE" altLang="zh-CN" sz="1600" dirty="0">
                <a:cs typeface="Arial" panose="020B0604020202020204" pitchFamily="34" charset="0"/>
              </a:rPr>
              <a:t>) </a:t>
            </a:r>
            <a:endParaRPr lang="de-DE" altLang="zh-CN" sz="1600" dirty="0">
              <a:cs typeface="Arial" panose="020B0604020202020204" pitchFamily="34" charset="0"/>
            </a:endParaRPr>
          </a:p>
          <a:p>
            <a:pPr>
              <a:lnSpc>
                <a:spcPct val="125000"/>
              </a:lnSpc>
              <a:spcBef>
                <a:spcPct val="25000"/>
              </a:spcBef>
              <a:buClr>
                <a:srgbClr val="007AC2"/>
              </a:buClr>
              <a:buSzPct val="120000"/>
              <a:buFontTx/>
              <a:buChar char="•"/>
            </a:pPr>
            <a:endParaRPr lang="de-DE" altLang="zh-CN" sz="1600" dirty="0">
              <a:cs typeface="Arial" panose="020B0604020202020204" pitchFamily="34" charset="0"/>
            </a:endParaRPr>
          </a:p>
        </p:txBody>
      </p:sp>
      <p:sp>
        <p:nvSpPr>
          <p:cNvPr id="38919" name="Rectangle 24"/>
          <p:cNvSpPr>
            <a:spLocks noChangeArrowheads="1"/>
          </p:cNvSpPr>
          <p:nvPr/>
        </p:nvSpPr>
        <p:spPr bwMode="auto">
          <a:xfrm>
            <a:off x="1997075" y="2192338"/>
            <a:ext cx="5148263" cy="2173287"/>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pPr>
            <a:r>
              <a:rPr lang="de-DE" altLang="zh-CN" sz="1600" b="1"/>
              <a:t> Definition: Modulus Operation</a:t>
            </a:r>
            <a:endParaRPr lang="de-DE" altLang="zh-CN" sz="1600" b="1"/>
          </a:p>
          <a:p>
            <a:pPr>
              <a:lnSpc>
                <a:spcPct val="125000"/>
              </a:lnSpc>
              <a:spcBef>
                <a:spcPct val="25000"/>
              </a:spcBef>
              <a:buClr>
                <a:srgbClr val="007AC2"/>
              </a:buClr>
              <a:buSzPct val="120000"/>
            </a:pPr>
            <a:r>
              <a:rPr lang="de-DE" altLang="zh-CN" sz="1600"/>
              <a:t>	Let </a:t>
            </a:r>
            <a:r>
              <a:rPr lang="de-DE" altLang="zh-CN" sz="1600" i="1"/>
              <a:t>a, r, m</a:t>
            </a:r>
            <a:r>
              <a:rPr lang="de-DE" altLang="zh-CN" sz="1600"/>
              <a:t> be integers and </a:t>
            </a:r>
            <a:r>
              <a:rPr lang="de-DE" altLang="zh-CN" sz="1600" i="1"/>
              <a:t>m &gt; </a:t>
            </a:r>
            <a:r>
              <a:rPr lang="de-DE" altLang="zh-CN" sz="1600"/>
              <a:t>0. We write </a:t>
            </a:r>
            <a:endParaRPr lang="de-DE" altLang="zh-CN" sz="1600"/>
          </a:p>
          <a:p>
            <a:pPr>
              <a:lnSpc>
                <a:spcPct val="125000"/>
              </a:lnSpc>
              <a:spcBef>
                <a:spcPct val="25000"/>
              </a:spcBef>
              <a:buClr>
                <a:srgbClr val="007AC2"/>
              </a:buClr>
              <a:buSzPct val="120000"/>
            </a:pPr>
            <a:r>
              <a:rPr lang="de-DE" altLang="zh-CN" sz="1600"/>
              <a:t>			</a:t>
            </a:r>
            <a:r>
              <a:rPr lang="de-DE" altLang="zh-CN" sz="1600" i="1"/>
              <a:t>a </a:t>
            </a:r>
            <a:r>
              <a:rPr lang="de-DE" altLang="zh-CN" sz="1600" i="1">
                <a:cs typeface="Arial" panose="020B0604020202020204" pitchFamily="34" charset="0"/>
              </a:rPr>
              <a:t>≡ r </a:t>
            </a:r>
            <a:r>
              <a:rPr lang="de-DE" altLang="zh-CN" sz="1600">
                <a:cs typeface="Arial" panose="020B0604020202020204" pitchFamily="34" charset="0"/>
              </a:rPr>
              <a:t>mod</a:t>
            </a:r>
            <a:r>
              <a:rPr lang="de-DE" altLang="zh-CN" sz="1600" i="1">
                <a:cs typeface="Arial" panose="020B0604020202020204" pitchFamily="34" charset="0"/>
              </a:rPr>
              <a:t> m</a:t>
            </a:r>
            <a:endParaRPr lang="de-DE" altLang="zh-CN" sz="1600" i="1">
              <a:cs typeface="Arial" panose="020B0604020202020204" pitchFamily="34" charset="0"/>
            </a:endParaRPr>
          </a:p>
          <a:p>
            <a:pPr>
              <a:lnSpc>
                <a:spcPct val="125000"/>
              </a:lnSpc>
              <a:spcBef>
                <a:spcPct val="25000"/>
              </a:spcBef>
              <a:buClr>
                <a:srgbClr val="007AC2"/>
              </a:buClr>
              <a:buSzPct val="120000"/>
            </a:pPr>
            <a:r>
              <a:rPr lang="de-DE" altLang="zh-CN" sz="1600" i="1">
                <a:cs typeface="Arial" panose="020B0604020202020204" pitchFamily="34" charset="0"/>
              </a:rPr>
              <a:t>	</a:t>
            </a:r>
            <a:r>
              <a:rPr lang="de-DE" altLang="zh-CN" sz="1600">
                <a:cs typeface="Arial" panose="020B0604020202020204" pitchFamily="34" charset="0"/>
              </a:rPr>
              <a:t>if (</a:t>
            </a:r>
            <a:r>
              <a:rPr lang="de-DE" altLang="zh-CN" sz="1600" i="1">
                <a:cs typeface="Arial" panose="020B0604020202020204" pitchFamily="34" charset="0"/>
              </a:rPr>
              <a:t>r-a) is divisable by m.</a:t>
            </a:r>
            <a:endParaRPr lang="de-DE" altLang="zh-CN" sz="1600">
              <a:cs typeface="Arial" panose="020B0604020202020204" pitchFamily="34" charset="0"/>
            </a:endParaRPr>
          </a:p>
          <a:p>
            <a:pPr lvl="1">
              <a:lnSpc>
                <a:spcPct val="125000"/>
              </a:lnSpc>
              <a:spcBef>
                <a:spcPct val="25000"/>
              </a:spcBef>
              <a:buClr>
                <a:srgbClr val="007AC2"/>
              </a:buClr>
              <a:buSzPct val="120000"/>
              <a:buFontTx/>
              <a:buChar char="•"/>
            </a:pPr>
            <a:r>
              <a:rPr lang="de-DE" altLang="zh-CN" sz="1600">
                <a:cs typeface="Arial" panose="020B0604020202020204" pitchFamily="34" charset="0"/>
              </a:rPr>
              <a:t>“</a:t>
            </a:r>
            <a:r>
              <a:rPr lang="de-DE" altLang="zh-CN" sz="1600" i="1">
                <a:cs typeface="Arial" panose="020B0604020202020204" pitchFamily="34" charset="0"/>
              </a:rPr>
              <a:t>m</a:t>
            </a:r>
            <a:r>
              <a:rPr lang="de-DE" altLang="zh-CN" sz="1600">
                <a:cs typeface="Arial" panose="020B0604020202020204" pitchFamily="34" charset="0"/>
              </a:rPr>
              <a:t>” is called the </a:t>
            </a:r>
            <a:r>
              <a:rPr lang="de-DE" altLang="zh-CN" sz="1600" b="1">
                <a:cs typeface="Arial" panose="020B0604020202020204" pitchFamily="34" charset="0"/>
              </a:rPr>
              <a:t>modulus</a:t>
            </a:r>
            <a:endParaRPr lang="de-DE" altLang="zh-CN" sz="1600">
              <a:cs typeface="Arial" panose="020B0604020202020204" pitchFamily="34" charset="0"/>
            </a:endParaRPr>
          </a:p>
          <a:p>
            <a:pPr lvl="1">
              <a:lnSpc>
                <a:spcPct val="125000"/>
              </a:lnSpc>
              <a:spcBef>
                <a:spcPct val="25000"/>
              </a:spcBef>
              <a:buClr>
                <a:srgbClr val="007AC2"/>
              </a:buClr>
              <a:buSzPct val="120000"/>
              <a:buFontTx/>
              <a:buChar char="•"/>
            </a:pPr>
            <a:r>
              <a:rPr lang="de-DE" altLang="zh-CN" sz="1600">
                <a:cs typeface="Arial" panose="020B0604020202020204" pitchFamily="34" charset="0"/>
              </a:rPr>
              <a:t>“</a:t>
            </a:r>
            <a:r>
              <a:rPr lang="de-DE" altLang="zh-CN" sz="1600" i="1">
                <a:cs typeface="Arial" panose="020B0604020202020204" pitchFamily="34" charset="0"/>
              </a:rPr>
              <a:t>r</a:t>
            </a:r>
            <a:r>
              <a:rPr lang="de-DE" altLang="zh-CN" sz="1600">
                <a:cs typeface="Arial" panose="020B0604020202020204" pitchFamily="34" charset="0"/>
              </a:rPr>
              <a:t>” is called the </a:t>
            </a:r>
            <a:r>
              <a:rPr lang="de-DE" altLang="zh-CN" sz="1600" b="1">
                <a:cs typeface="Arial" panose="020B0604020202020204" pitchFamily="34" charset="0"/>
              </a:rPr>
              <a:t>remainder</a:t>
            </a:r>
            <a:endParaRPr lang="de-DE" altLang="zh-CN" sz="1600">
              <a:cs typeface="Arial" panose="020B0604020202020204" pitchFamily="34" charset="0"/>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06CC7CA-D5A4-F64D-8140-26484C8F8073}"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39940" name="Rectangle 2"/>
          <p:cNvSpPr>
            <a:spLocks noGrp="1" noChangeArrowheads="1"/>
          </p:cNvSpPr>
          <p:nvPr>
            <p:ph type="title"/>
          </p:nvPr>
        </p:nvSpPr>
        <p:spPr/>
        <p:txBody>
          <a:bodyPr/>
          <a:lstStyle/>
          <a:p>
            <a:r>
              <a:rPr lang="de-DE" altLang="zh-CN"/>
              <a:t>Properties of Modular Arithmetic (1)</a:t>
            </a:r>
            <a:endParaRPr lang="de-DE" altLang="zh-CN"/>
          </a:p>
        </p:txBody>
      </p:sp>
      <p:sp>
        <p:nvSpPr>
          <p:cNvPr id="39941" name="Rectangle 4"/>
          <p:cNvSpPr>
            <a:spLocks noChangeArrowheads="1"/>
          </p:cNvSpPr>
          <p:nvPr/>
        </p:nvSpPr>
        <p:spPr bwMode="auto">
          <a:xfrm>
            <a:off x="377825" y="1341438"/>
            <a:ext cx="8388350" cy="2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821055"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en-US" altLang="zh-CN" sz="1600" b="1">
                <a:ea typeface="宋体" panose="02010600030101010101" pitchFamily="2" charset="-122"/>
              </a:rPr>
              <a:t>   The remainder is not unique</a:t>
            </a:r>
            <a:endParaRPr lang="en-US" altLang="zh-CN" sz="1600" b="1">
              <a:ea typeface="宋体" panose="02010600030101010101" pitchFamily="2" charset="-122"/>
            </a:endParaRPr>
          </a:p>
          <a:p>
            <a:pPr>
              <a:lnSpc>
                <a:spcPct val="125000"/>
              </a:lnSpc>
              <a:spcBef>
                <a:spcPct val="25000"/>
              </a:spcBef>
              <a:buClr>
                <a:srgbClr val="007AC2"/>
              </a:buClr>
              <a:buSzPct val="120000"/>
            </a:pPr>
            <a:r>
              <a:rPr lang="en-US" altLang="zh-CN" sz="1600">
                <a:ea typeface="宋体" panose="02010600030101010101" pitchFamily="2" charset="-122"/>
              </a:rPr>
              <a:t>It is somewhat surprising that for every given modulus </a:t>
            </a:r>
            <a:r>
              <a:rPr lang="en-US" altLang="zh-CN" sz="1600" i="1">
                <a:ea typeface="宋体" panose="02010600030101010101" pitchFamily="2" charset="-122"/>
              </a:rPr>
              <a:t>m</a:t>
            </a:r>
            <a:r>
              <a:rPr lang="en-US" altLang="zh-CN" sz="1600">
                <a:ea typeface="宋体" panose="02010600030101010101" pitchFamily="2" charset="-122"/>
              </a:rPr>
              <a:t> and number </a:t>
            </a:r>
            <a:r>
              <a:rPr lang="en-US" altLang="zh-CN" sz="1600" i="1">
                <a:ea typeface="宋体" panose="02010600030101010101" pitchFamily="2" charset="-122"/>
              </a:rPr>
              <a:t>a</a:t>
            </a:r>
            <a:r>
              <a:rPr lang="en-US" altLang="zh-CN" sz="1600">
                <a:ea typeface="宋体" panose="02010600030101010101" pitchFamily="2" charset="-122"/>
              </a:rPr>
              <a:t>, there are (infinitely) many valid remainders.</a:t>
            </a:r>
            <a:br>
              <a:rPr lang="en-US" altLang="zh-CN" sz="1600">
                <a:ea typeface="宋体" panose="02010600030101010101" pitchFamily="2" charset="-122"/>
              </a:rPr>
            </a:br>
            <a:r>
              <a:rPr lang="en-US" altLang="zh-CN" sz="1600">
                <a:ea typeface="宋体" panose="02010600030101010101" pitchFamily="2" charset="-122"/>
              </a:rPr>
              <a:t>Example: </a:t>
            </a:r>
            <a:endParaRPr lang="de-DE" altLang="zh-CN" sz="1600"/>
          </a:p>
          <a:p>
            <a:pPr lvl="1">
              <a:lnSpc>
                <a:spcPct val="125000"/>
              </a:lnSpc>
              <a:spcBef>
                <a:spcPct val="25000"/>
              </a:spcBef>
              <a:buClr>
                <a:srgbClr val="007AC2"/>
              </a:buClr>
              <a:buSzPct val="120000"/>
              <a:buFontTx/>
              <a:buChar char="•"/>
            </a:pPr>
            <a:r>
              <a:rPr lang="de-DE" altLang="zh-CN" sz="1600"/>
              <a:t>12 </a:t>
            </a:r>
            <a:r>
              <a:rPr lang="de-DE" altLang="zh-CN" sz="1600" i="1">
                <a:cs typeface="Arial" panose="020B0604020202020204" pitchFamily="34" charset="0"/>
              </a:rPr>
              <a:t>≡ </a:t>
            </a:r>
            <a:r>
              <a:rPr lang="de-DE" altLang="zh-CN" sz="1600"/>
              <a:t>3 mod 9	</a:t>
            </a:r>
            <a:r>
              <a:rPr lang="de-DE" altLang="zh-CN" sz="1600">
                <a:cs typeface="Arial" panose="020B0604020202020204" pitchFamily="34" charset="0"/>
              </a:rPr>
              <a:t>→ </a:t>
            </a:r>
            <a:r>
              <a:rPr lang="de-DE" altLang="zh-CN" sz="1600"/>
              <a:t>3 is a valid remainder since 9 divides (3-12)</a:t>
            </a:r>
            <a:endParaRPr lang="de-DE" altLang="zh-CN" sz="1600"/>
          </a:p>
          <a:p>
            <a:pPr lvl="1">
              <a:lnSpc>
                <a:spcPct val="125000"/>
              </a:lnSpc>
              <a:spcBef>
                <a:spcPct val="25000"/>
              </a:spcBef>
              <a:buClr>
                <a:srgbClr val="007AC2"/>
              </a:buClr>
              <a:buSzPct val="120000"/>
              <a:buFontTx/>
              <a:buChar char="•"/>
            </a:pPr>
            <a:r>
              <a:rPr lang="de-DE" altLang="zh-CN" sz="1600"/>
              <a:t>12 </a:t>
            </a:r>
            <a:r>
              <a:rPr lang="de-DE" altLang="zh-CN" sz="1600" i="1">
                <a:cs typeface="Arial" panose="020B0604020202020204" pitchFamily="34" charset="0"/>
              </a:rPr>
              <a:t>≡ </a:t>
            </a:r>
            <a:r>
              <a:rPr lang="de-DE" altLang="zh-CN" sz="1600"/>
              <a:t>21 mod 9	</a:t>
            </a:r>
            <a:r>
              <a:rPr lang="de-DE" altLang="zh-CN" sz="1600">
                <a:cs typeface="Arial" panose="020B0604020202020204" pitchFamily="34" charset="0"/>
              </a:rPr>
              <a:t>→ </a:t>
            </a:r>
            <a:r>
              <a:rPr lang="de-DE" altLang="zh-CN" sz="1600"/>
              <a:t>21 is a valid remainder since 9 divides (21-12)</a:t>
            </a:r>
            <a:endParaRPr lang="de-DE" altLang="zh-CN" sz="1600"/>
          </a:p>
          <a:p>
            <a:pPr lvl="1">
              <a:lnSpc>
                <a:spcPct val="125000"/>
              </a:lnSpc>
              <a:spcBef>
                <a:spcPct val="25000"/>
              </a:spcBef>
              <a:buClr>
                <a:srgbClr val="007AC2"/>
              </a:buClr>
              <a:buSzPct val="120000"/>
              <a:buFontTx/>
              <a:buChar char="•"/>
            </a:pPr>
            <a:r>
              <a:rPr lang="de-DE" altLang="zh-CN" sz="1600"/>
              <a:t>12 </a:t>
            </a:r>
            <a:r>
              <a:rPr lang="de-DE" altLang="zh-CN" sz="1600" i="1">
                <a:cs typeface="Arial" panose="020B0604020202020204" pitchFamily="34" charset="0"/>
              </a:rPr>
              <a:t>≡ </a:t>
            </a:r>
            <a:r>
              <a:rPr lang="de-DE" altLang="zh-CN" sz="1600"/>
              <a:t>-6 mod 9</a:t>
            </a:r>
            <a:r>
              <a:rPr lang="de-DE" altLang="zh-CN" sz="1600">
                <a:cs typeface="Arial" panose="020B0604020202020204" pitchFamily="34" charset="0"/>
              </a:rPr>
              <a:t> </a:t>
            </a:r>
            <a:r>
              <a:rPr lang="de-DE" altLang="zh-CN" sz="1600"/>
              <a:t>	</a:t>
            </a:r>
            <a:r>
              <a:rPr lang="de-DE" altLang="zh-CN" sz="1600">
                <a:cs typeface="Arial" panose="020B0604020202020204" pitchFamily="34" charset="0"/>
              </a:rPr>
              <a:t>→ </a:t>
            </a:r>
            <a:r>
              <a:rPr lang="de-DE" altLang="zh-CN" sz="1600"/>
              <a:t>-6 is a valid remainder since 9 divides (-6-12)</a:t>
            </a:r>
            <a:endParaRPr lang="de-DE" altLang="zh-CN" sz="1600">
              <a:cs typeface="Arial" panose="020B0604020202020204" pitchFamily="34" charset="0"/>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C907F3A-0D3B-4B48-9528-387B385BBA5F}"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40964" name="Rectangle 2"/>
          <p:cNvSpPr>
            <a:spLocks noChangeArrowheads="1"/>
          </p:cNvSpPr>
          <p:nvPr/>
        </p:nvSpPr>
        <p:spPr bwMode="auto">
          <a:xfrm>
            <a:off x="250825" y="1268413"/>
            <a:ext cx="8388350" cy="349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821055"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en-US" altLang="zh-CN" sz="1600" b="1">
                <a:ea typeface="宋体" panose="02010600030101010101" pitchFamily="2" charset="-122"/>
              </a:rPr>
              <a:t>   Which remainder do we choose?</a:t>
            </a:r>
            <a:endParaRPr lang="en-US" altLang="zh-CN" sz="1600" b="1">
              <a:ea typeface="宋体" panose="02010600030101010101" pitchFamily="2" charset="-122"/>
            </a:endParaRPr>
          </a:p>
          <a:p>
            <a:pPr>
              <a:lnSpc>
                <a:spcPct val="125000"/>
              </a:lnSpc>
              <a:spcBef>
                <a:spcPct val="25000"/>
              </a:spcBef>
              <a:buClr>
                <a:srgbClr val="007AC2"/>
              </a:buClr>
              <a:buSzPct val="120000"/>
            </a:pPr>
            <a:r>
              <a:rPr lang="en-US" altLang="zh-CN" sz="1600">
                <a:ea typeface="宋体" panose="02010600030101010101" pitchFamily="2" charset="-122"/>
              </a:rPr>
              <a:t>By convention, we usually agree on the </a:t>
            </a:r>
            <a:r>
              <a:rPr lang="en-US" altLang="zh-CN" sz="1600" b="1">
                <a:ea typeface="宋体" panose="02010600030101010101" pitchFamily="2" charset="-122"/>
              </a:rPr>
              <a:t>smallest positive integer </a:t>
            </a:r>
            <a:r>
              <a:rPr lang="en-US" altLang="zh-CN" sz="1600" b="1" i="1">
                <a:ea typeface="宋体" panose="02010600030101010101" pitchFamily="2" charset="-122"/>
              </a:rPr>
              <a:t>r</a:t>
            </a:r>
            <a:r>
              <a:rPr lang="en-US" altLang="zh-CN" sz="1600">
                <a:ea typeface="宋体" panose="02010600030101010101" pitchFamily="2" charset="-122"/>
              </a:rPr>
              <a:t> as remainder. This integer can be computed as</a:t>
            </a:r>
            <a:endParaRPr lang="en-US" altLang="zh-CN" sz="1600">
              <a:ea typeface="宋体" panose="02010600030101010101" pitchFamily="2" charset="-122"/>
            </a:endParaRPr>
          </a:p>
          <a:p>
            <a:pPr>
              <a:lnSpc>
                <a:spcPct val="125000"/>
              </a:lnSpc>
              <a:spcBef>
                <a:spcPct val="25000"/>
              </a:spcBef>
              <a:buClr>
                <a:srgbClr val="007AC2"/>
              </a:buClr>
              <a:buSzPct val="120000"/>
            </a:pPr>
            <a:endParaRPr lang="en-US" altLang="zh-CN" sz="1600">
              <a:ea typeface="宋体" panose="02010600030101010101" pitchFamily="2" charset="-122"/>
            </a:endParaRPr>
          </a:p>
          <a:p>
            <a:pPr algn="ctr">
              <a:lnSpc>
                <a:spcPct val="125000"/>
              </a:lnSpc>
              <a:spcBef>
                <a:spcPct val="25000"/>
              </a:spcBef>
              <a:buClr>
                <a:srgbClr val="007AC2"/>
              </a:buClr>
              <a:buSzPct val="120000"/>
            </a:pPr>
            <a:r>
              <a:rPr lang="pt-BR" altLang="zh-CN" sz="1600"/>
              <a:t> </a:t>
            </a:r>
            <a:r>
              <a:rPr lang="pt-BR" altLang="zh-CN" sz="1600" i="1"/>
              <a:t>a = q  m + r</a:t>
            </a:r>
            <a:r>
              <a:rPr lang="pt-BR" altLang="zh-CN" sz="1600"/>
              <a:t>  	where </a:t>
            </a:r>
            <a:r>
              <a:rPr lang="pt-BR" altLang="zh-CN" sz="1600" i="1"/>
              <a:t>0 </a:t>
            </a:r>
            <a:r>
              <a:rPr lang="pt-BR" altLang="zh-CN" sz="1600" i="1">
                <a:cs typeface="Arial" panose="020B0604020202020204" pitchFamily="34" charset="0"/>
              </a:rPr>
              <a:t>≤ </a:t>
            </a:r>
            <a:r>
              <a:rPr lang="pt-BR" altLang="zh-CN" sz="1600" i="1"/>
              <a:t>r </a:t>
            </a:r>
            <a:r>
              <a:rPr lang="pt-BR" altLang="zh-CN" sz="1600" i="1">
                <a:cs typeface="Arial" panose="020B0604020202020204" pitchFamily="34" charset="0"/>
              </a:rPr>
              <a:t>≤</a:t>
            </a:r>
            <a:r>
              <a:rPr lang="pt-BR" altLang="zh-CN" sz="1600" i="1"/>
              <a:t> m-1</a:t>
            </a:r>
            <a:endParaRPr lang="en-US" altLang="zh-CN" sz="1600" i="1">
              <a:ea typeface="宋体" panose="02010600030101010101" pitchFamily="2" charset="-122"/>
            </a:endParaRPr>
          </a:p>
          <a:p>
            <a:pPr lvl="1">
              <a:lnSpc>
                <a:spcPct val="125000"/>
              </a:lnSpc>
              <a:spcBef>
                <a:spcPct val="25000"/>
              </a:spcBef>
              <a:buClr>
                <a:srgbClr val="007AC2"/>
              </a:buClr>
              <a:buSzPct val="120000"/>
              <a:buFontTx/>
              <a:buChar char="•"/>
            </a:pPr>
            <a:r>
              <a:rPr lang="de-DE" altLang="zh-CN" sz="1600"/>
              <a:t>Example: </a:t>
            </a:r>
            <a:r>
              <a:rPr lang="de-DE" altLang="zh-CN" sz="1600" i="1"/>
              <a:t>a=12</a:t>
            </a:r>
            <a:r>
              <a:rPr lang="de-DE" altLang="zh-CN" sz="1600"/>
              <a:t> and  </a:t>
            </a:r>
            <a:r>
              <a:rPr lang="de-DE" altLang="zh-CN" sz="1600" i="1"/>
              <a:t>m= 9</a:t>
            </a:r>
            <a:r>
              <a:rPr lang="de-DE" altLang="zh-CN" sz="1600"/>
              <a:t> </a:t>
            </a:r>
            <a:endParaRPr lang="de-DE" altLang="zh-CN" sz="1600" i="1">
              <a:cs typeface="Arial" panose="020B0604020202020204" pitchFamily="34" charset="0"/>
            </a:endParaRPr>
          </a:p>
          <a:p>
            <a:pPr>
              <a:lnSpc>
                <a:spcPct val="125000"/>
              </a:lnSpc>
              <a:spcBef>
                <a:spcPct val="25000"/>
              </a:spcBef>
              <a:buClr>
                <a:srgbClr val="007AC2"/>
              </a:buClr>
              <a:buSzPct val="120000"/>
            </a:pPr>
            <a:r>
              <a:rPr lang="de-DE" altLang="zh-CN" sz="1600"/>
              <a:t> 		          12 = 1 x 9 + 3 	</a:t>
            </a:r>
            <a:r>
              <a:rPr lang="de-DE" altLang="zh-CN" sz="1600">
                <a:cs typeface="Arial" panose="020B0604020202020204" pitchFamily="34" charset="0"/>
              </a:rPr>
              <a:t>→  </a:t>
            </a:r>
            <a:r>
              <a:rPr lang="de-DE" altLang="zh-CN" sz="1600"/>
              <a:t>r = 3</a:t>
            </a:r>
            <a:endParaRPr lang="de-DE" altLang="zh-CN" sz="1600"/>
          </a:p>
          <a:p>
            <a:pPr>
              <a:lnSpc>
                <a:spcPct val="125000"/>
              </a:lnSpc>
              <a:spcBef>
                <a:spcPct val="25000"/>
              </a:spcBef>
              <a:buClr>
                <a:srgbClr val="007AC2"/>
              </a:buClr>
              <a:buSzPct val="120000"/>
            </a:pPr>
            <a:endParaRPr lang="de-DE" altLang="zh-CN" sz="1600"/>
          </a:p>
          <a:p>
            <a:pPr>
              <a:lnSpc>
                <a:spcPct val="125000"/>
              </a:lnSpc>
              <a:spcBef>
                <a:spcPct val="25000"/>
              </a:spcBef>
              <a:buClr>
                <a:srgbClr val="007AC2"/>
              </a:buClr>
              <a:buSzPct val="120000"/>
            </a:pPr>
            <a:r>
              <a:rPr lang="de-DE" altLang="zh-CN" sz="1600"/>
              <a:t>Remark: This is just a convention. Algorithmically we are free to choose any other valid remainder to compute our crypto functions.</a:t>
            </a:r>
            <a:endParaRPr lang="de-DE" altLang="zh-CN" sz="1600"/>
          </a:p>
        </p:txBody>
      </p:sp>
      <p:sp>
        <p:nvSpPr>
          <p:cNvPr id="40965" name="Rectangle 3"/>
          <p:cNvSpPr>
            <a:spLocks noGrp="1" noChangeArrowheads="1"/>
          </p:cNvSpPr>
          <p:nvPr>
            <p:ph type="title"/>
          </p:nvPr>
        </p:nvSpPr>
        <p:spPr/>
        <p:txBody>
          <a:bodyPr/>
          <a:lstStyle/>
          <a:p>
            <a:r>
              <a:rPr lang="de-DE" altLang="zh-CN"/>
              <a:t>Properties of Modular Arithmetic (2)</a:t>
            </a:r>
            <a:endParaRPr lang="de-DE" altLang="zh-CN"/>
          </a:p>
        </p:txBody>
      </p:sp>
      <p:sp>
        <p:nvSpPr>
          <p:cNvPr id="40966" name="AutoShape 5"/>
          <p:cNvSpPr>
            <a:spLocks noChangeArrowheads="1"/>
          </p:cNvSpPr>
          <p:nvPr/>
        </p:nvSpPr>
        <p:spPr bwMode="auto">
          <a:xfrm>
            <a:off x="4357688" y="2349500"/>
            <a:ext cx="935037" cy="287338"/>
          </a:xfrm>
          <a:prstGeom prst="wedgeRoundRectCallout">
            <a:avLst>
              <a:gd name="adj1" fmla="val -102463"/>
              <a:gd name="adj2" fmla="val 93093"/>
              <a:gd name="adj3" fmla="val 16667"/>
            </a:avLst>
          </a:prstGeom>
          <a:noFill/>
          <a:ln w="317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de-DE" altLang="zh-CN" sz="1400"/>
              <a:t>remainder</a:t>
            </a:r>
            <a:endParaRPr lang="de-DE" altLang="zh-CN" sz="1400"/>
          </a:p>
        </p:txBody>
      </p:sp>
      <p:sp>
        <p:nvSpPr>
          <p:cNvPr id="40967" name="AutoShape 6"/>
          <p:cNvSpPr>
            <a:spLocks noChangeArrowheads="1"/>
          </p:cNvSpPr>
          <p:nvPr/>
        </p:nvSpPr>
        <p:spPr bwMode="auto">
          <a:xfrm>
            <a:off x="3276600" y="2349500"/>
            <a:ext cx="792163" cy="287338"/>
          </a:xfrm>
          <a:prstGeom prst="wedgeRoundRectCallout">
            <a:avLst>
              <a:gd name="adj1" fmla="val -57213"/>
              <a:gd name="adj2" fmla="val 93093"/>
              <a:gd name="adj3" fmla="val 16667"/>
            </a:avLst>
          </a:prstGeom>
          <a:noFill/>
          <a:ln w="317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de-DE" altLang="zh-CN" sz="1400"/>
              <a:t>quotient</a:t>
            </a:r>
            <a:endParaRPr lang="de-DE" altLang="zh-CN" sz="1400"/>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BF83CAA-C479-7046-A852-54592730E0BF}"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41988" name="Rectangle 2"/>
          <p:cNvSpPr>
            <a:spLocks noChangeArrowheads="1"/>
          </p:cNvSpPr>
          <p:nvPr/>
        </p:nvSpPr>
        <p:spPr bwMode="auto">
          <a:xfrm>
            <a:off x="250825" y="836613"/>
            <a:ext cx="8388350" cy="288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556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en-US" altLang="zh-CN" sz="1600" b="1">
                <a:ea typeface="宋体" panose="02010600030101010101" pitchFamily="2" charset="-122"/>
              </a:rPr>
              <a:t>   How do we perform modular division?</a:t>
            </a:r>
            <a:endParaRPr lang="en-US" altLang="zh-CN" sz="1600" b="1">
              <a:ea typeface="宋体" panose="02010600030101010101" pitchFamily="2" charset="-122"/>
            </a:endParaRPr>
          </a:p>
          <a:p>
            <a:pPr>
              <a:lnSpc>
                <a:spcPct val="125000"/>
              </a:lnSpc>
              <a:spcBef>
                <a:spcPct val="25000"/>
              </a:spcBef>
              <a:buClr>
                <a:srgbClr val="007AC2"/>
              </a:buClr>
              <a:buSzPct val="120000"/>
            </a:pPr>
            <a:r>
              <a:rPr lang="en-US" altLang="zh-CN" sz="1600">
                <a:ea typeface="宋体" panose="02010600030101010101" pitchFamily="2" charset="-122"/>
              </a:rPr>
              <a:t>First, note that rather than performing a division, we prefer to multiply by the inverse. Ex:</a:t>
            </a:r>
            <a:endParaRPr lang="en-US" altLang="zh-CN" sz="1600">
              <a:ea typeface="宋体" panose="02010600030101010101" pitchFamily="2" charset="-122"/>
            </a:endParaRPr>
          </a:p>
          <a:p>
            <a:pPr algn="ctr">
              <a:lnSpc>
                <a:spcPct val="125000"/>
              </a:lnSpc>
              <a:spcBef>
                <a:spcPct val="25000"/>
              </a:spcBef>
              <a:buClr>
                <a:srgbClr val="007AC2"/>
              </a:buClr>
              <a:buSzPct val="120000"/>
            </a:pPr>
            <a:r>
              <a:rPr lang="en-US" altLang="zh-CN" sz="1600" i="1">
                <a:ea typeface="宋体" panose="02010600030101010101" pitchFamily="2" charset="-122"/>
              </a:rPr>
              <a:t>b / a</a:t>
            </a:r>
            <a:r>
              <a:rPr lang="en-US" altLang="zh-CN" sz="1600" i="1">
                <a:ea typeface="宋体" panose="02010600030101010101" pitchFamily="2" charset="-122"/>
                <a:cs typeface="Arial" panose="020B0604020202020204" pitchFamily="34" charset="0"/>
              </a:rPr>
              <a:t>≡</a:t>
            </a:r>
            <a:r>
              <a:rPr lang="en-US" altLang="zh-CN" sz="1600" i="1">
                <a:ea typeface="宋体" panose="02010600030101010101" pitchFamily="2" charset="-122"/>
              </a:rPr>
              <a:t> b x a</a:t>
            </a:r>
            <a:r>
              <a:rPr lang="en-US" altLang="zh-CN" sz="1600" i="1" baseline="30000">
                <a:ea typeface="宋体" panose="02010600030101010101" pitchFamily="2" charset="-122"/>
              </a:rPr>
              <a:t>-1</a:t>
            </a:r>
            <a:r>
              <a:rPr lang="en-US" altLang="zh-CN" sz="1600" i="1">
                <a:ea typeface="宋体" panose="02010600030101010101" pitchFamily="2" charset="-122"/>
              </a:rPr>
              <a:t> mod m</a:t>
            </a:r>
            <a:endParaRPr lang="en-US" altLang="zh-CN" sz="1600" i="1">
              <a:ea typeface="宋体" panose="02010600030101010101" pitchFamily="2" charset="-122"/>
            </a:endParaRPr>
          </a:p>
          <a:p>
            <a:pPr>
              <a:lnSpc>
                <a:spcPct val="125000"/>
              </a:lnSpc>
              <a:spcBef>
                <a:spcPct val="25000"/>
              </a:spcBef>
              <a:buClr>
                <a:srgbClr val="007AC2"/>
              </a:buClr>
              <a:buSzPct val="120000"/>
            </a:pPr>
            <a:r>
              <a:rPr lang="en-US" altLang="zh-CN" sz="1600">
                <a:ea typeface="宋体" panose="02010600030101010101" pitchFamily="2" charset="-122"/>
              </a:rPr>
              <a:t>The inverse </a:t>
            </a:r>
            <a:r>
              <a:rPr lang="en-US" altLang="zh-CN" sz="1600" i="1">
                <a:ea typeface="宋体" panose="02010600030101010101" pitchFamily="2" charset="-122"/>
              </a:rPr>
              <a:t>a</a:t>
            </a:r>
            <a:r>
              <a:rPr lang="en-US" altLang="zh-CN" sz="1600" i="1" baseline="30000">
                <a:ea typeface="宋体" panose="02010600030101010101" pitchFamily="2" charset="-122"/>
              </a:rPr>
              <a:t>-1</a:t>
            </a:r>
            <a:r>
              <a:rPr lang="en-US" altLang="zh-CN" sz="1600">
                <a:ea typeface="宋体" panose="02010600030101010101" pitchFamily="2" charset="-122"/>
              </a:rPr>
              <a:t> of a number </a:t>
            </a:r>
            <a:r>
              <a:rPr lang="en-US" altLang="zh-CN" sz="1600" i="1">
                <a:ea typeface="宋体" panose="02010600030101010101" pitchFamily="2" charset="-122"/>
              </a:rPr>
              <a:t>a</a:t>
            </a:r>
            <a:r>
              <a:rPr lang="en-US" altLang="zh-CN" sz="1600">
                <a:ea typeface="宋体" panose="02010600030101010101" pitchFamily="2" charset="-122"/>
              </a:rPr>
              <a:t> is defined such that:</a:t>
            </a:r>
            <a:endParaRPr lang="en-US" altLang="zh-CN" sz="1600">
              <a:ea typeface="宋体" panose="02010600030101010101" pitchFamily="2" charset="-122"/>
            </a:endParaRPr>
          </a:p>
          <a:p>
            <a:pPr algn="ctr">
              <a:lnSpc>
                <a:spcPct val="125000"/>
              </a:lnSpc>
              <a:spcBef>
                <a:spcPct val="25000"/>
              </a:spcBef>
              <a:buClr>
                <a:srgbClr val="007AC2"/>
              </a:buClr>
              <a:buSzPct val="120000"/>
            </a:pPr>
            <a:r>
              <a:rPr lang="en-US" altLang="zh-CN" sz="1600" i="1">
                <a:ea typeface="宋体" panose="02010600030101010101" pitchFamily="2" charset="-122"/>
              </a:rPr>
              <a:t>a a</a:t>
            </a:r>
            <a:r>
              <a:rPr lang="en-US" altLang="zh-CN" sz="1600" i="1" baseline="30000">
                <a:ea typeface="宋体" panose="02010600030101010101" pitchFamily="2" charset="-122"/>
              </a:rPr>
              <a:t>-1 </a:t>
            </a:r>
            <a:r>
              <a:rPr lang="en-US" altLang="zh-CN" sz="1600" i="1">
                <a:ea typeface="宋体" panose="02010600030101010101" pitchFamily="2" charset="-122"/>
                <a:cs typeface="Arial" panose="020B0604020202020204" pitchFamily="34" charset="0"/>
              </a:rPr>
              <a:t>≡</a:t>
            </a:r>
            <a:r>
              <a:rPr lang="en-US" altLang="zh-CN" sz="1600" i="1">
                <a:ea typeface="宋体" panose="02010600030101010101" pitchFamily="2" charset="-122"/>
              </a:rPr>
              <a:t> 1 mod m</a:t>
            </a:r>
            <a:endParaRPr lang="en-US" altLang="zh-CN" sz="1600">
              <a:ea typeface="宋体" panose="02010600030101010101" pitchFamily="2" charset="-122"/>
            </a:endParaRPr>
          </a:p>
          <a:p>
            <a:pPr>
              <a:lnSpc>
                <a:spcPct val="125000"/>
              </a:lnSpc>
              <a:spcBef>
                <a:spcPct val="25000"/>
              </a:spcBef>
              <a:buClr>
                <a:srgbClr val="007AC2"/>
              </a:buClr>
              <a:buSzPct val="120000"/>
            </a:pPr>
            <a:r>
              <a:rPr lang="en-US" altLang="zh-CN" sz="1600">
                <a:ea typeface="宋体" panose="02010600030101010101" pitchFamily="2" charset="-122"/>
              </a:rPr>
              <a:t>Ex:	What is </a:t>
            </a:r>
            <a:r>
              <a:rPr lang="en-US" altLang="zh-CN" sz="1600" i="1">
                <a:ea typeface="宋体" panose="02010600030101010101" pitchFamily="2" charset="-122"/>
              </a:rPr>
              <a:t>5 / 7 mod 9</a:t>
            </a:r>
            <a:r>
              <a:rPr lang="en-US" altLang="zh-CN" sz="1600">
                <a:ea typeface="宋体" panose="02010600030101010101" pitchFamily="2" charset="-122"/>
              </a:rPr>
              <a:t> ?</a:t>
            </a:r>
            <a:endParaRPr lang="en-US" altLang="zh-CN" sz="1600">
              <a:ea typeface="宋体" panose="02010600030101010101" pitchFamily="2" charset="-122"/>
            </a:endParaRPr>
          </a:p>
          <a:p>
            <a:pPr>
              <a:lnSpc>
                <a:spcPct val="125000"/>
              </a:lnSpc>
              <a:spcBef>
                <a:spcPct val="25000"/>
              </a:spcBef>
              <a:buClr>
                <a:srgbClr val="007AC2"/>
              </a:buClr>
              <a:buSzPct val="120000"/>
            </a:pPr>
            <a:r>
              <a:rPr lang="en-US" altLang="zh-CN" sz="1600">
                <a:ea typeface="宋体" panose="02010600030101010101" pitchFamily="2" charset="-122"/>
              </a:rPr>
              <a:t>	The inverse of </a:t>
            </a:r>
            <a:r>
              <a:rPr lang="en-US" altLang="zh-CN" sz="1600" i="1">
                <a:ea typeface="宋体" panose="02010600030101010101" pitchFamily="2" charset="-122"/>
              </a:rPr>
              <a:t>7 mod 9</a:t>
            </a:r>
            <a:r>
              <a:rPr lang="en-US" altLang="zh-CN" sz="1600">
                <a:ea typeface="宋体" panose="02010600030101010101" pitchFamily="2" charset="-122"/>
              </a:rPr>
              <a:t> is</a:t>
            </a:r>
            <a:r>
              <a:rPr lang="en-US" altLang="zh-CN" sz="1600" i="1">
                <a:ea typeface="宋体" panose="02010600030101010101" pitchFamily="2" charset="-122"/>
              </a:rPr>
              <a:t> 4</a:t>
            </a:r>
            <a:r>
              <a:rPr lang="en-US" altLang="zh-CN" sz="1600">
                <a:ea typeface="宋体" panose="02010600030101010101" pitchFamily="2" charset="-122"/>
              </a:rPr>
              <a:t> since </a:t>
            </a:r>
            <a:r>
              <a:rPr lang="en-US" altLang="zh-CN" sz="1600" i="1">
                <a:ea typeface="宋体" panose="02010600030101010101" pitchFamily="2" charset="-122"/>
              </a:rPr>
              <a:t>7 x 4 </a:t>
            </a:r>
            <a:r>
              <a:rPr lang="en-US" altLang="zh-CN" sz="1600" i="1">
                <a:ea typeface="宋体" panose="02010600030101010101" pitchFamily="2" charset="-122"/>
                <a:cs typeface="Arial" panose="020B0604020202020204" pitchFamily="34" charset="0"/>
              </a:rPr>
              <a:t>≡</a:t>
            </a:r>
            <a:r>
              <a:rPr lang="en-US" altLang="zh-CN" sz="1600" i="1">
                <a:ea typeface="宋体" panose="02010600030101010101" pitchFamily="2" charset="-122"/>
              </a:rPr>
              <a:t> 28 </a:t>
            </a:r>
            <a:r>
              <a:rPr lang="en-US" altLang="zh-CN" sz="1600" i="1">
                <a:ea typeface="宋体" panose="02010600030101010101" pitchFamily="2" charset="-122"/>
                <a:cs typeface="Arial" panose="020B0604020202020204" pitchFamily="34" charset="0"/>
              </a:rPr>
              <a:t>≡</a:t>
            </a:r>
            <a:r>
              <a:rPr lang="en-US" altLang="zh-CN" sz="1600" i="1">
                <a:ea typeface="宋体" panose="02010600030101010101" pitchFamily="2" charset="-122"/>
              </a:rPr>
              <a:t> 1 mod 9, </a:t>
            </a:r>
            <a:r>
              <a:rPr lang="en-US" altLang="zh-CN" sz="1600">
                <a:ea typeface="宋体" panose="02010600030101010101" pitchFamily="2" charset="-122"/>
              </a:rPr>
              <a:t>hence:</a:t>
            </a:r>
            <a:endParaRPr lang="en-US" altLang="zh-CN" sz="1600">
              <a:ea typeface="宋体" panose="02010600030101010101" pitchFamily="2" charset="-122"/>
            </a:endParaRPr>
          </a:p>
          <a:p>
            <a:pPr algn="ctr">
              <a:lnSpc>
                <a:spcPct val="125000"/>
              </a:lnSpc>
              <a:spcBef>
                <a:spcPct val="25000"/>
              </a:spcBef>
              <a:buClr>
                <a:srgbClr val="007AC2"/>
              </a:buClr>
              <a:buSzPct val="120000"/>
            </a:pPr>
            <a:r>
              <a:rPr lang="en-US" altLang="zh-CN" sz="1600">
                <a:ea typeface="宋体" panose="02010600030101010101" pitchFamily="2" charset="-122"/>
              </a:rPr>
              <a:t>5 / 7 </a:t>
            </a:r>
            <a:r>
              <a:rPr lang="en-US" altLang="zh-CN" sz="1600" i="1">
                <a:ea typeface="宋体" panose="02010600030101010101" pitchFamily="2" charset="-122"/>
                <a:cs typeface="Arial" panose="020B0604020202020204" pitchFamily="34" charset="0"/>
              </a:rPr>
              <a:t>≡</a:t>
            </a:r>
            <a:r>
              <a:rPr lang="en-US" altLang="zh-CN" sz="1600" i="1">
                <a:ea typeface="宋体" panose="02010600030101010101" pitchFamily="2" charset="-122"/>
              </a:rPr>
              <a:t> 5 x 4 </a:t>
            </a:r>
            <a:r>
              <a:rPr lang="en-US" altLang="zh-CN" sz="1600" i="1">
                <a:ea typeface="宋体" panose="02010600030101010101" pitchFamily="2" charset="-122"/>
                <a:cs typeface="Arial" panose="020B0604020202020204" pitchFamily="34" charset="0"/>
              </a:rPr>
              <a:t>= 20 ≡</a:t>
            </a:r>
            <a:r>
              <a:rPr lang="en-US" altLang="zh-CN" sz="1600" i="1">
                <a:ea typeface="宋体" panose="02010600030101010101" pitchFamily="2" charset="-122"/>
              </a:rPr>
              <a:t> 2 mod 9</a:t>
            </a:r>
            <a:endParaRPr lang="de-DE" altLang="zh-CN" sz="1600" i="1"/>
          </a:p>
        </p:txBody>
      </p:sp>
      <p:sp>
        <p:nvSpPr>
          <p:cNvPr id="41989" name="Rectangle 3"/>
          <p:cNvSpPr>
            <a:spLocks noGrp="1" noChangeArrowheads="1"/>
          </p:cNvSpPr>
          <p:nvPr>
            <p:ph type="title"/>
          </p:nvPr>
        </p:nvSpPr>
        <p:spPr/>
        <p:txBody>
          <a:bodyPr/>
          <a:lstStyle/>
          <a:p>
            <a:r>
              <a:rPr lang="de-DE" altLang="zh-CN"/>
              <a:t>Properties of Modular Arithmetic (3)</a:t>
            </a:r>
            <a:endParaRPr lang="de-DE" altLang="zh-CN"/>
          </a:p>
        </p:txBody>
      </p:sp>
      <p:sp>
        <p:nvSpPr>
          <p:cNvPr id="41990" name="Rectangle 7"/>
          <p:cNvSpPr>
            <a:spLocks noChangeArrowheads="1"/>
          </p:cNvSpPr>
          <p:nvPr/>
        </p:nvSpPr>
        <p:spPr bwMode="auto">
          <a:xfrm>
            <a:off x="250825" y="4000500"/>
            <a:ext cx="8388350" cy="239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556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en-US" altLang="zh-CN" sz="1600" b="1">
                <a:ea typeface="宋体" panose="02010600030101010101" pitchFamily="2" charset="-122"/>
              </a:rPr>
              <a:t>   How is the inverse compute?</a:t>
            </a:r>
            <a:endParaRPr lang="en-US" altLang="zh-CN" sz="1600" b="1">
              <a:ea typeface="宋体" panose="02010600030101010101" pitchFamily="2" charset="-122"/>
            </a:endParaRPr>
          </a:p>
          <a:p>
            <a:pPr>
              <a:lnSpc>
                <a:spcPct val="125000"/>
              </a:lnSpc>
              <a:spcBef>
                <a:spcPct val="25000"/>
              </a:spcBef>
              <a:buClr>
                <a:srgbClr val="007AC2"/>
              </a:buClr>
              <a:buSzPct val="120000"/>
            </a:pPr>
            <a:r>
              <a:rPr lang="en-US" altLang="zh-CN" sz="1600">
                <a:ea typeface="宋体" panose="02010600030101010101" pitchFamily="2" charset="-122"/>
              </a:rPr>
              <a:t>The inverse of a number </a:t>
            </a:r>
            <a:r>
              <a:rPr lang="en-US" altLang="zh-CN" sz="1600" i="1">
                <a:ea typeface="宋体" panose="02010600030101010101" pitchFamily="2" charset="-122"/>
              </a:rPr>
              <a:t>a mod m</a:t>
            </a:r>
            <a:r>
              <a:rPr lang="en-US" altLang="zh-CN" sz="1600">
                <a:ea typeface="宋体" panose="02010600030101010101" pitchFamily="2" charset="-122"/>
              </a:rPr>
              <a:t> only exists if and only if:</a:t>
            </a:r>
            <a:endParaRPr lang="en-US" altLang="zh-CN" sz="1600">
              <a:ea typeface="宋体" panose="02010600030101010101" pitchFamily="2" charset="-122"/>
            </a:endParaRPr>
          </a:p>
          <a:p>
            <a:pPr algn="ctr">
              <a:lnSpc>
                <a:spcPct val="125000"/>
              </a:lnSpc>
              <a:spcBef>
                <a:spcPct val="25000"/>
              </a:spcBef>
              <a:buClr>
                <a:srgbClr val="007AC2"/>
              </a:buClr>
              <a:buSzPct val="120000"/>
            </a:pPr>
            <a:r>
              <a:rPr lang="en-US" altLang="zh-CN" sz="1600">
                <a:ea typeface="宋体" panose="02010600030101010101" pitchFamily="2" charset="-122"/>
              </a:rPr>
              <a:t>gcd</a:t>
            </a:r>
            <a:r>
              <a:rPr lang="en-US" altLang="zh-CN" sz="1600" i="1">
                <a:ea typeface="宋体" panose="02010600030101010101" pitchFamily="2" charset="-122"/>
              </a:rPr>
              <a:t> (a, m) = 1</a:t>
            </a:r>
            <a:endParaRPr lang="en-US" altLang="zh-CN" sz="1600" i="1">
              <a:ea typeface="宋体" panose="02010600030101010101" pitchFamily="2" charset="-122"/>
            </a:endParaRPr>
          </a:p>
          <a:p>
            <a:pPr>
              <a:lnSpc>
                <a:spcPct val="125000"/>
              </a:lnSpc>
              <a:spcBef>
                <a:spcPct val="25000"/>
              </a:spcBef>
              <a:buClr>
                <a:srgbClr val="007AC2"/>
              </a:buClr>
              <a:buSzPct val="120000"/>
            </a:pPr>
            <a:r>
              <a:rPr lang="en-US" altLang="zh-CN" sz="1600">
                <a:ea typeface="宋体" panose="02010600030101010101" pitchFamily="2" charset="-122"/>
              </a:rPr>
              <a:t>(note that in the example above gcd(5, 9) = 1, so that the inverse of 5 exists modulo 9)</a:t>
            </a:r>
            <a:endParaRPr lang="en-US" altLang="zh-CN" sz="1600">
              <a:ea typeface="宋体" panose="02010600030101010101" pitchFamily="2" charset="-122"/>
            </a:endParaRPr>
          </a:p>
          <a:p>
            <a:pPr>
              <a:lnSpc>
                <a:spcPct val="125000"/>
              </a:lnSpc>
              <a:spcBef>
                <a:spcPct val="25000"/>
              </a:spcBef>
              <a:buClr>
                <a:srgbClr val="007AC2"/>
              </a:buClr>
              <a:buSzPct val="120000"/>
            </a:pPr>
            <a:r>
              <a:rPr lang="en-US" altLang="zh-CN" sz="1600">
                <a:ea typeface="宋体" panose="02010600030101010101" pitchFamily="2" charset="-122"/>
              </a:rPr>
              <a:t>For now, the best way of computing the inverse is to use exhaustive search. In Chapter 6 of </a:t>
            </a:r>
            <a:r>
              <a:rPr lang="en-US" altLang="zh-CN" sz="1600" i="1">
                <a:ea typeface="宋体" panose="02010600030101010101" pitchFamily="2" charset="-122"/>
              </a:rPr>
              <a:t>Understanding Cryptography</a:t>
            </a:r>
            <a:r>
              <a:rPr lang="en-US" altLang="zh-CN" sz="1600">
                <a:ea typeface="宋体" panose="02010600030101010101" pitchFamily="2" charset="-122"/>
              </a:rPr>
              <a:t> we will learn the powerful Euclidean Algorithm which actually computes an inverse for a given number and modulus.</a:t>
            </a:r>
            <a:endParaRPr lang="en-US" altLang="zh-CN" sz="1600">
              <a:ea typeface="宋体" panose="02010600030101010101" pitchFamily="2" charset="-122"/>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C16F6E2-209F-F542-A5EA-A37B2731E3A6}"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43012" name="Rectangle 3"/>
          <p:cNvSpPr>
            <a:spLocks noGrp="1" noChangeArrowheads="1"/>
          </p:cNvSpPr>
          <p:nvPr>
            <p:ph type="title"/>
          </p:nvPr>
        </p:nvSpPr>
        <p:spPr>
          <a:xfrm>
            <a:off x="471488" y="188913"/>
            <a:ext cx="6462712" cy="515937"/>
          </a:xfrm>
        </p:spPr>
        <p:txBody>
          <a:bodyPr/>
          <a:lstStyle/>
          <a:p>
            <a:r>
              <a:rPr lang="de-DE" altLang="zh-CN"/>
              <a:t>Properties of Modular Arithmetic (4)</a:t>
            </a:r>
            <a:endParaRPr lang="de-DE" altLang="zh-CN"/>
          </a:p>
        </p:txBody>
      </p:sp>
      <p:sp>
        <p:nvSpPr>
          <p:cNvPr id="43013" name="Rectangle 4"/>
          <p:cNvSpPr>
            <a:spLocks noChangeArrowheads="1"/>
          </p:cNvSpPr>
          <p:nvPr/>
        </p:nvSpPr>
        <p:spPr bwMode="auto">
          <a:xfrm>
            <a:off x="250825" y="620395"/>
            <a:ext cx="8388350" cy="490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en-US" altLang="zh-CN" sz="1600" b="1">
                <a:ea typeface="宋体" panose="02010600030101010101" pitchFamily="2" charset="-122"/>
              </a:rPr>
              <a:t>   Modular reduction can be performed at any point during a calculation</a:t>
            </a:r>
            <a:endParaRPr lang="en-US" altLang="zh-CN" sz="1600" b="1">
              <a:ea typeface="宋体" panose="02010600030101010101" pitchFamily="2" charset="-122"/>
            </a:endParaRPr>
          </a:p>
          <a:p>
            <a:pPr>
              <a:lnSpc>
                <a:spcPct val="125000"/>
              </a:lnSpc>
              <a:spcBef>
                <a:spcPct val="25000"/>
              </a:spcBef>
              <a:buClr>
                <a:srgbClr val="007AC2"/>
              </a:buClr>
              <a:buSzPct val="120000"/>
            </a:pPr>
            <a:r>
              <a:rPr lang="en-US" altLang="zh-CN" sz="1600">
                <a:ea typeface="宋体" panose="02010600030101010101" pitchFamily="2" charset="-122"/>
              </a:rPr>
              <a:t>Let’s look first at an example. We want to compute </a:t>
            </a:r>
            <a:r>
              <a:rPr lang="en-US" altLang="zh-CN" sz="1600" i="1">
                <a:ea typeface="宋体" panose="02010600030101010101" pitchFamily="2" charset="-122"/>
              </a:rPr>
              <a:t>3</a:t>
            </a:r>
            <a:r>
              <a:rPr lang="en-US" altLang="zh-CN" sz="1600" i="1" baseline="30000">
                <a:ea typeface="宋体" panose="02010600030101010101" pitchFamily="2" charset="-122"/>
              </a:rPr>
              <a:t>8 </a:t>
            </a:r>
            <a:r>
              <a:rPr lang="en-US" altLang="zh-CN" sz="1600" i="1">
                <a:ea typeface="宋体" panose="02010600030101010101" pitchFamily="2" charset="-122"/>
              </a:rPr>
              <a:t>mod 7</a:t>
            </a:r>
            <a:r>
              <a:rPr lang="en-US" altLang="zh-CN" sz="1600">
                <a:ea typeface="宋体" panose="02010600030101010101" pitchFamily="2" charset="-122"/>
              </a:rPr>
              <a:t> (note that exponentiation is extremely important in public-key cryptography).</a:t>
            </a:r>
            <a:endParaRPr lang="en-US" altLang="zh-CN" sz="1600">
              <a:ea typeface="宋体" panose="02010600030101010101" pitchFamily="2" charset="-122"/>
            </a:endParaRPr>
          </a:p>
          <a:p>
            <a:pPr>
              <a:lnSpc>
                <a:spcPct val="125000"/>
              </a:lnSpc>
              <a:spcBef>
                <a:spcPct val="25000"/>
              </a:spcBef>
              <a:buClr>
                <a:srgbClr val="007AC2"/>
              </a:buClr>
              <a:buSzPct val="120000"/>
            </a:pPr>
            <a:r>
              <a:rPr lang="en-US" altLang="zh-CN" sz="1600" b="1">
                <a:ea typeface="宋体" panose="02010600030101010101" pitchFamily="2" charset="-122"/>
              </a:rPr>
              <a:t>1. Approach: Exponentiation followed by modular reduction</a:t>
            </a:r>
            <a:endParaRPr lang="en-US" altLang="zh-CN" sz="1600" b="1">
              <a:ea typeface="宋体" panose="02010600030101010101" pitchFamily="2" charset="-122"/>
            </a:endParaRPr>
          </a:p>
          <a:p>
            <a:pPr algn="ctr">
              <a:lnSpc>
                <a:spcPct val="125000"/>
              </a:lnSpc>
              <a:spcBef>
                <a:spcPct val="25000"/>
              </a:spcBef>
              <a:buClr>
                <a:srgbClr val="007AC2"/>
              </a:buClr>
              <a:buSzPct val="120000"/>
            </a:pPr>
            <a:r>
              <a:rPr lang="en-US" altLang="zh-CN" sz="1600" i="1">
                <a:ea typeface="宋体" panose="02010600030101010101" pitchFamily="2" charset="-122"/>
              </a:rPr>
              <a:t>3</a:t>
            </a:r>
            <a:r>
              <a:rPr lang="en-US" altLang="zh-CN" sz="1600" i="1" baseline="30000">
                <a:ea typeface="宋体" panose="02010600030101010101" pitchFamily="2" charset="-122"/>
              </a:rPr>
              <a:t>8</a:t>
            </a:r>
            <a:r>
              <a:rPr lang="en-US" altLang="zh-CN" sz="1600" i="1">
                <a:ea typeface="宋体" panose="02010600030101010101" pitchFamily="2" charset="-122"/>
              </a:rPr>
              <a:t> = 6561</a:t>
            </a:r>
            <a:r>
              <a:rPr lang="en-US" altLang="zh-CN" sz="1600" i="1">
                <a:ea typeface="宋体" panose="02010600030101010101" pitchFamily="2" charset="-122"/>
                <a:sym typeface="Symbol" panose="05050102010706020507" pitchFamily="2" charset="2"/>
              </a:rPr>
              <a:t></a:t>
            </a:r>
            <a:r>
              <a:rPr lang="en-US" altLang="zh-CN" sz="1600" i="1">
                <a:ea typeface="宋体" panose="02010600030101010101" pitchFamily="2" charset="-122"/>
                <a:cs typeface="Arial" panose="020B0604020202020204" pitchFamily="34" charset="0"/>
                <a:sym typeface="Symbol" panose="05050102010706020507" pitchFamily="2" charset="2"/>
              </a:rPr>
              <a:t>≡ </a:t>
            </a:r>
            <a:r>
              <a:rPr lang="en-US" altLang="zh-CN" sz="1600" b="1" i="1">
                <a:ea typeface="宋体" panose="02010600030101010101" pitchFamily="2" charset="-122"/>
              </a:rPr>
              <a:t>2</a:t>
            </a:r>
            <a:r>
              <a:rPr lang="en-US" altLang="zh-CN" sz="1600" i="1">
                <a:ea typeface="宋体" panose="02010600030101010101" pitchFamily="2" charset="-122"/>
              </a:rPr>
              <a:t> mod 7</a:t>
            </a:r>
            <a:endParaRPr lang="en-US" altLang="zh-CN" sz="1600" i="1">
              <a:ea typeface="宋体" panose="02010600030101010101" pitchFamily="2" charset="-122"/>
            </a:endParaRPr>
          </a:p>
          <a:p>
            <a:pPr>
              <a:lnSpc>
                <a:spcPct val="125000"/>
              </a:lnSpc>
              <a:spcBef>
                <a:spcPct val="25000"/>
              </a:spcBef>
              <a:buClr>
                <a:srgbClr val="007AC2"/>
              </a:buClr>
              <a:buSzPct val="120000"/>
            </a:pPr>
            <a:r>
              <a:rPr lang="en-US" altLang="zh-CN" sz="1600">
                <a:ea typeface="宋体" panose="02010600030101010101" pitchFamily="2" charset="-122"/>
              </a:rPr>
              <a:t>Note that we have the intermediate result 6561 even though we know that the final result can’t be larger than 6.</a:t>
            </a:r>
            <a:endParaRPr lang="en-US" altLang="zh-CN" sz="1600">
              <a:ea typeface="宋体" panose="02010600030101010101" pitchFamily="2" charset="-122"/>
            </a:endParaRPr>
          </a:p>
          <a:p>
            <a:pPr>
              <a:lnSpc>
                <a:spcPct val="125000"/>
              </a:lnSpc>
              <a:spcBef>
                <a:spcPct val="25000"/>
              </a:spcBef>
              <a:buClr>
                <a:srgbClr val="007AC2"/>
              </a:buClr>
              <a:buSzPct val="120000"/>
            </a:pPr>
            <a:r>
              <a:rPr lang="en-US" altLang="zh-CN" sz="1600" b="1">
                <a:ea typeface="宋体" panose="02010600030101010101" pitchFamily="2" charset="-122"/>
              </a:rPr>
              <a:t>2. Approach: Exponentiation with intermediate modular reduction</a:t>
            </a:r>
            <a:endParaRPr lang="en-US" altLang="zh-CN" sz="1600" b="1">
              <a:ea typeface="宋体" panose="02010600030101010101" pitchFamily="2" charset="-122"/>
            </a:endParaRPr>
          </a:p>
          <a:p>
            <a:pPr algn="ctr">
              <a:lnSpc>
                <a:spcPct val="125000"/>
              </a:lnSpc>
              <a:spcBef>
                <a:spcPct val="25000"/>
              </a:spcBef>
              <a:buClr>
                <a:srgbClr val="007AC2"/>
              </a:buClr>
              <a:buSzPct val="120000"/>
            </a:pPr>
            <a:r>
              <a:rPr lang="en-US" altLang="zh-CN" sz="1600" i="1">
                <a:ea typeface="宋体" panose="02010600030101010101" pitchFamily="2" charset="-122"/>
              </a:rPr>
              <a:t>3</a:t>
            </a:r>
            <a:r>
              <a:rPr lang="en-US" altLang="zh-CN" sz="1600" i="1" baseline="30000">
                <a:ea typeface="宋体" panose="02010600030101010101" pitchFamily="2" charset="-122"/>
              </a:rPr>
              <a:t>8</a:t>
            </a:r>
            <a:r>
              <a:rPr lang="en-US" altLang="zh-CN" sz="1600" i="1">
                <a:ea typeface="宋体" panose="02010600030101010101" pitchFamily="2" charset="-122"/>
              </a:rPr>
              <a:t> = 3</a:t>
            </a:r>
            <a:r>
              <a:rPr lang="en-US" altLang="zh-CN" sz="1600" i="1" baseline="30000">
                <a:ea typeface="宋体" panose="02010600030101010101" pitchFamily="2" charset="-122"/>
              </a:rPr>
              <a:t>4 </a:t>
            </a:r>
            <a:r>
              <a:rPr lang="en-US" altLang="zh-CN" sz="1600" i="1">
                <a:ea typeface="宋体" panose="02010600030101010101" pitchFamily="2" charset="-122"/>
              </a:rPr>
              <a:t>3</a:t>
            </a:r>
            <a:r>
              <a:rPr lang="en-US" altLang="zh-CN" sz="1600" i="1" baseline="30000">
                <a:ea typeface="宋体" panose="02010600030101010101" pitchFamily="2" charset="-122"/>
              </a:rPr>
              <a:t>4</a:t>
            </a:r>
            <a:r>
              <a:rPr lang="en-US" altLang="zh-CN" sz="1600" i="1">
                <a:ea typeface="宋体" panose="02010600030101010101" pitchFamily="2" charset="-122"/>
              </a:rPr>
              <a:t> = 81 x 81</a:t>
            </a:r>
            <a:endParaRPr lang="en-US" altLang="zh-CN" sz="1600" i="1">
              <a:ea typeface="宋体" panose="02010600030101010101" pitchFamily="2" charset="-122"/>
            </a:endParaRPr>
          </a:p>
          <a:p>
            <a:pPr>
              <a:lnSpc>
                <a:spcPct val="125000"/>
              </a:lnSpc>
              <a:spcBef>
                <a:spcPct val="25000"/>
              </a:spcBef>
              <a:buClr>
                <a:srgbClr val="007AC2"/>
              </a:buClr>
              <a:buSzPct val="120000"/>
            </a:pPr>
            <a:r>
              <a:rPr lang="en-US" altLang="zh-CN" sz="1600">
                <a:ea typeface="宋体" panose="02010600030101010101" pitchFamily="2" charset="-122"/>
              </a:rPr>
              <a:t>At this point we reduce the intermediate results 81 modulo 7:</a:t>
            </a:r>
            <a:endParaRPr lang="en-US" altLang="zh-CN" sz="1600">
              <a:ea typeface="宋体" panose="02010600030101010101" pitchFamily="2" charset="-122"/>
            </a:endParaRPr>
          </a:p>
          <a:p>
            <a:pPr algn="ctr">
              <a:lnSpc>
                <a:spcPct val="125000"/>
              </a:lnSpc>
              <a:spcBef>
                <a:spcPct val="25000"/>
              </a:spcBef>
              <a:buClr>
                <a:srgbClr val="007AC2"/>
              </a:buClr>
              <a:buSzPct val="120000"/>
            </a:pPr>
            <a:r>
              <a:rPr lang="en-US" altLang="zh-CN" sz="1600" i="1">
                <a:ea typeface="宋体" panose="02010600030101010101" pitchFamily="2" charset="-122"/>
              </a:rPr>
              <a:t>3</a:t>
            </a:r>
            <a:r>
              <a:rPr lang="en-US" altLang="zh-CN" sz="1600" i="1" baseline="30000">
                <a:ea typeface="宋体" panose="02010600030101010101" pitchFamily="2" charset="-122"/>
              </a:rPr>
              <a:t>8</a:t>
            </a:r>
            <a:r>
              <a:rPr lang="en-US" altLang="zh-CN" sz="1600" i="1">
                <a:ea typeface="宋体" panose="02010600030101010101" pitchFamily="2" charset="-122"/>
              </a:rPr>
              <a:t> = 81 x 81 </a:t>
            </a:r>
            <a:r>
              <a:rPr lang="en-US" altLang="zh-CN" sz="1600" i="1">
                <a:ea typeface="宋体" panose="02010600030101010101" pitchFamily="2" charset="-122"/>
                <a:cs typeface="Arial" panose="020B0604020202020204" pitchFamily="34" charset="0"/>
              </a:rPr>
              <a:t>≡</a:t>
            </a:r>
            <a:r>
              <a:rPr lang="en-US" altLang="zh-CN" sz="1600" i="1">
                <a:ea typeface="宋体" panose="02010600030101010101" pitchFamily="2" charset="-122"/>
              </a:rPr>
              <a:t> 4 x 4 mod 7</a:t>
            </a:r>
            <a:endParaRPr lang="en-US" altLang="zh-CN" sz="1600" i="1">
              <a:ea typeface="宋体" panose="02010600030101010101" pitchFamily="2" charset="-122"/>
            </a:endParaRPr>
          </a:p>
          <a:p>
            <a:pPr algn="ctr">
              <a:lnSpc>
                <a:spcPct val="125000"/>
              </a:lnSpc>
              <a:spcBef>
                <a:spcPct val="25000"/>
              </a:spcBef>
              <a:buClr>
                <a:srgbClr val="007AC2"/>
              </a:buClr>
              <a:buSzPct val="120000"/>
            </a:pPr>
            <a:r>
              <a:rPr lang="en-US" altLang="zh-CN" sz="1600" i="1">
                <a:ea typeface="宋体" panose="02010600030101010101" pitchFamily="2" charset="-122"/>
              </a:rPr>
              <a:t>4 x 4 = 16 </a:t>
            </a:r>
            <a:r>
              <a:rPr lang="en-US" altLang="zh-CN" sz="1600" i="1">
                <a:ea typeface="宋体" panose="02010600030101010101" pitchFamily="2" charset="-122"/>
                <a:cs typeface="Arial" panose="020B0604020202020204" pitchFamily="34" charset="0"/>
              </a:rPr>
              <a:t>≡ </a:t>
            </a:r>
            <a:r>
              <a:rPr lang="en-US" altLang="zh-CN" sz="1600" b="1" i="1">
                <a:ea typeface="宋体" panose="02010600030101010101" pitchFamily="2" charset="-122"/>
                <a:cs typeface="Arial" panose="020B0604020202020204" pitchFamily="34" charset="0"/>
              </a:rPr>
              <a:t>2 </a:t>
            </a:r>
            <a:r>
              <a:rPr lang="en-US" altLang="zh-CN" sz="1600" i="1">
                <a:ea typeface="宋体" panose="02010600030101010101" pitchFamily="2" charset="-122"/>
                <a:cs typeface="Arial" panose="020B0604020202020204" pitchFamily="34" charset="0"/>
              </a:rPr>
              <a:t>mod 7</a:t>
            </a:r>
            <a:endParaRPr lang="en-US" altLang="zh-CN" sz="1600" i="1">
              <a:ea typeface="宋体" panose="02010600030101010101" pitchFamily="2" charset="-122"/>
            </a:endParaRPr>
          </a:p>
          <a:p>
            <a:pPr>
              <a:lnSpc>
                <a:spcPct val="125000"/>
              </a:lnSpc>
              <a:spcBef>
                <a:spcPct val="25000"/>
              </a:spcBef>
              <a:buClr>
                <a:srgbClr val="007AC2"/>
              </a:buClr>
              <a:buSzPct val="120000"/>
            </a:pPr>
            <a:r>
              <a:rPr lang="en-US" altLang="zh-CN" sz="1600">
                <a:ea typeface="宋体" panose="02010600030101010101" pitchFamily="2" charset="-122"/>
              </a:rPr>
              <a:t>Note that we can perform all these multiplications without pocket calculator, whereas mentally computing 3</a:t>
            </a:r>
            <a:r>
              <a:rPr lang="en-US" altLang="zh-CN" sz="1600" baseline="30000">
                <a:ea typeface="宋体" panose="02010600030101010101" pitchFamily="2" charset="-122"/>
              </a:rPr>
              <a:t>8</a:t>
            </a:r>
            <a:r>
              <a:rPr lang="en-US" altLang="zh-CN" sz="1600">
                <a:ea typeface="宋体" panose="02010600030101010101" pitchFamily="2" charset="-122"/>
              </a:rPr>
              <a:t> = 6561 is a bit challenging for most of us.</a:t>
            </a:r>
            <a:endParaRPr lang="en-US" altLang="zh-CN" sz="1600">
              <a:ea typeface="宋体" panose="02010600030101010101" pitchFamily="2" charset="-122"/>
            </a:endParaRPr>
          </a:p>
        </p:txBody>
      </p:sp>
      <p:sp>
        <p:nvSpPr>
          <p:cNvPr id="43014" name="Rectangle 7"/>
          <p:cNvSpPr>
            <a:spLocks noChangeArrowheads="1"/>
          </p:cNvSpPr>
          <p:nvPr/>
        </p:nvSpPr>
        <p:spPr bwMode="auto">
          <a:xfrm>
            <a:off x="971550" y="5805488"/>
            <a:ext cx="7235825" cy="63817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125000"/>
              </a:lnSpc>
              <a:spcBef>
                <a:spcPct val="25000"/>
              </a:spcBef>
              <a:buClr>
                <a:srgbClr val="007AC2"/>
              </a:buClr>
              <a:buSzPct val="120000"/>
            </a:pPr>
            <a:r>
              <a:rPr lang="en-US" altLang="zh-CN" sz="1600" b="1">
                <a:ea typeface="宋体" panose="02010600030101010101" pitchFamily="2" charset="-122"/>
              </a:rPr>
              <a:t>General rule: For most algorithms it is advantageous to reduce intermediate results as soon as possible. </a:t>
            </a:r>
            <a:endParaRPr lang="en-US" altLang="zh-CN" sz="1600">
              <a:ea typeface="宋体" panose="02010600030101010101" pitchFamily="2"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el 1"/>
          <p:cNvSpPr>
            <a:spLocks noGrp="1"/>
          </p:cNvSpPr>
          <p:nvPr>
            <p:ph type="title"/>
          </p:nvPr>
        </p:nvSpPr>
        <p:spPr>
          <a:xfrm>
            <a:off x="471488" y="71438"/>
            <a:ext cx="7172325" cy="515937"/>
          </a:xfrm>
        </p:spPr>
        <p:txBody>
          <a:bodyPr/>
          <a:lstStyle/>
          <a:p>
            <a:r>
              <a:rPr lang="de-DE" altLang="zh-CN"/>
              <a:t>An Algebraic View on Modulo Arithmetic: The Ring </a:t>
            </a:r>
            <a:r>
              <a:rPr lang="en-US" altLang="zh-CN" sz="1800" i="1">
                <a:ea typeface="宋体" panose="02010600030101010101" pitchFamily="2" charset="-122"/>
              </a:rPr>
              <a:t>Z</a:t>
            </a:r>
            <a:r>
              <a:rPr lang="en-US" altLang="zh-CN" sz="1800" i="1" baseline="-25000">
                <a:ea typeface="宋体" panose="02010600030101010101" pitchFamily="2" charset="-122"/>
              </a:rPr>
              <a:t>m </a:t>
            </a:r>
            <a:r>
              <a:rPr lang="de-DE" altLang="zh-CN"/>
              <a:t>(1) </a:t>
            </a:r>
            <a:endParaRPr lang="de-DE" altLang="zh-CN"/>
          </a:p>
        </p:txBody>
      </p:sp>
      <p:sp>
        <p:nvSpPr>
          <p:cNvPr id="3" name="Inhaltsplatzhalter 2"/>
          <p:cNvSpPr>
            <a:spLocks noGrp="1"/>
          </p:cNvSpPr>
          <p:nvPr>
            <p:ph idx="1"/>
          </p:nvPr>
        </p:nvSpPr>
        <p:spPr>
          <a:xfrm>
            <a:off x="285750" y="1382713"/>
            <a:ext cx="8286750" cy="4975225"/>
          </a:xfrm>
          <a:ln w="25400">
            <a:solidFill>
              <a:srgbClr val="FF0000"/>
            </a:solidFill>
          </a:ln>
        </p:spPr>
        <p:txBody>
          <a:bodyPr/>
          <a:lstStyle/>
          <a:p>
            <a:pPr marL="365125" indent="-273050">
              <a:spcBef>
                <a:spcPts val="200"/>
              </a:spcBef>
              <a:defRPr/>
            </a:pPr>
            <a:r>
              <a:rPr lang="en-US" b="1" dirty="0"/>
              <a:t>Closure</a:t>
            </a:r>
            <a:r>
              <a:rPr lang="en-US" dirty="0"/>
              <a:t>: We can add and multiply any two numbers and the result is always in the ring. </a:t>
            </a:r>
            <a:endParaRPr lang="en-US" dirty="0"/>
          </a:p>
          <a:p>
            <a:pPr marL="365125" indent="-273050">
              <a:spcBef>
                <a:spcPts val="200"/>
              </a:spcBef>
              <a:defRPr/>
            </a:pPr>
            <a:r>
              <a:rPr lang="en-US" dirty="0"/>
              <a:t>Addition and multiplication are </a:t>
            </a:r>
            <a:r>
              <a:rPr lang="en-US" b="1" dirty="0"/>
              <a:t>associative</a:t>
            </a:r>
            <a:r>
              <a:rPr lang="en-US" dirty="0"/>
              <a:t>, i.e., for all  </a:t>
            </a:r>
            <a:r>
              <a:rPr lang="en-US" i="1" dirty="0" err="1"/>
              <a:t>a,b,c</a:t>
            </a:r>
            <a:r>
              <a:rPr lang="en-US" i="1" dirty="0"/>
              <a:t> </a:t>
            </a:r>
            <a:r>
              <a:rPr lang="en-US" i="1" dirty="0">
                <a:sym typeface="Symbol" panose="05050102010706020507"/>
              </a:rPr>
              <a:t> </a:t>
            </a:r>
            <a:r>
              <a:rPr lang="en-US" i="1" dirty="0" err="1"/>
              <a:t>Z</a:t>
            </a:r>
            <a:r>
              <a:rPr lang="en-US" i="1" baseline="-25000" dirty="0" err="1"/>
              <a:t>m</a:t>
            </a:r>
            <a:r>
              <a:rPr lang="en-US" i="1" dirty="0"/>
              <a:t>  </a:t>
            </a:r>
            <a:endParaRPr lang="en-US" i="1" dirty="0"/>
          </a:p>
          <a:p>
            <a:pPr marL="742950" lvl="2" indent="-273050">
              <a:spcBef>
                <a:spcPts val="200"/>
              </a:spcBef>
              <a:buFontTx/>
              <a:buNone/>
              <a:defRPr/>
            </a:pPr>
            <a:r>
              <a:rPr lang="en-US" i="1" dirty="0"/>
              <a:t>	a + (b + c) = (a + b) + c</a:t>
            </a:r>
            <a:endParaRPr lang="en-US" i="1" dirty="0"/>
          </a:p>
          <a:p>
            <a:pPr marL="742950" lvl="2" indent="-273050">
              <a:spcBef>
                <a:spcPts val="200"/>
              </a:spcBef>
              <a:buFontTx/>
              <a:buNone/>
              <a:defRPr/>
            </a:pPr>
            <a:r>
              <a:rPr lang="en-US" i="1" dirty="0"/>
              <a:t>	a </a:t>
            </a:r>
            <a:r>
              <a:rPr lang="en-US" i="1" dirty="0">
                <a:sym typeface="Symbol" panose="05050102010706020507"/>
              </a:rPr>
              <a:t></a:t>
            </a:r>
            <a:r>
              <a:rPr lang="en-US" i="1" dirty="0"/>
              <a:t> (b </a:t>
            </a:r>
            <a:r>
              <a:rPr lang="en-US" i="1" dirty="0">
                <a:sym typeface="Symbol" panose="05050102010706020507"/>
              </a:rPr>
              <a:t></a:t>
            </a:r>
            <a:r>
              <a:rPr lang="en-US" i="1" dirty="0"/>
              <a:t> c) = (a </a:t>
            </a:r>
            <a:r>
              <a:rPr lang="en-US" i="1" dirty="0">
                <a:sym typeface="Symbol" panose="05050102010706020507"/>
              </a:rPr>
              <a:t></a:t>
            </a:r>
            <a:r>
              <a:rPr lang="en-US" i="1" dirty="0"/>
              <a:t> b) </a:t>
            </a:r>
            <a:r>
              <a:rPr lang="en-US" i="1" dirty="0">
                <a:sym typeface="Symbol" panose="05050102010706020507"/>
              </a:rPr>
              <a:t> </a:t>
            </a:r>
            <a:r>
              <a:rPr lang="en-US" i="1" dirty="0"/>
              <a:t>c</a:t>
            </a:r>
            <a:endParaRPr lang="en-US" i="1" dirty="0"/>
          </a:p>
          <a:p>
            <a:pPr marL="742950" lvl="2" indent="-273050">
              <a:spcBef>
                <a:spcPts val="200"/>
              </a:spcBef>
              <a:buFontTx/>
              <a:buNone/>
              <a:defRPr/>
            </a:pPr>
            <a:r>
              <a:rPr lang="en-US" dirty="0"/>
              <a:t>and addition is </a:t>
            </a:r>
            <a:r>
              <a:rPr lang="en-US" b="1" dirty="0"/>
              <a:t>commutative</a:t>
            </a:r>
            <a:r>
              <a:rPr lang="en-US" i="1" dirty="0"/>
              <a:t>: a + b = b + a </a:t>
            </a:r>
            <a:endParaRPr lang="en-US" i="1" dirty="0"/>
          </a:p>
          <a:p>
            <a:pPr marL="365125" indent="-273050">
              <a:spcBef>
                <a:spcPts val="200"/>
              </a:spcBef>
              <a:defRPr/>
            </a:pPr>
            <a:r>
              <a:rPr lang="de-DE" dirty="0"/>
              <a:t>The </a:t>
            </a:r>
            <a:r>
              <a:rPr lang="de-DE" b="1" dirty="0"/>
              <a:t>distributive </a:t>
            </a:r>
            <a:r>
              <a:rPr lang="de-DE" b="1" dirty="0" err="1"/>
              <a:t>law</a:t>
            </a:r>
            <a:r>
              <a:rPr lang="de-DE" b="1" dirty="0"/>
              <a:t> </a:t>
            </a:r>
            <a:r>
              <a:rPr lang="de-DE" dirty="0" err="1"/>
              <a:t>holds</a:t>
            </a:r>
            <a:r>
              <a:rPr lang="de-DE" dirty="0"/>
              <a:t>: </a:t>
            </a:r>
            <a:r>
              <a:rPr lang="de-DE" i="1" dirty="0"/>
              <a:t>a×(</a:t>
            </a:r>
            <a:r>
              <a:rPr lang="de-DE" i="1" dirty="0" err="1"/>
              <a:t>b+c</a:t>
            </a:r>
            <a:r>
              <a:rPr lang="de-DE" i="1" dirty="0"/>
              <a:t>) = (</a:t>
            </a:r>
            <a:r>
              <a:rPr lang="de-DE" i="1" dirty="0" err="1"/>
              <a:t>a×b</a:t>
            </a:r>
            <a:r>
              <a:rPr lang="de-DE" i="1" dirty="0"/>
              <a:t>)+(</a:t>
            </a:r>
            <a:r>
              <a:rPr lang="de-DE" i="1" dirty="0" err="1"/>
              <a:t>a×c</a:t>
            </a:r>
            <a:r>
              <a:rPr lang="de-DE" i="1" dirty="0"/>
              <a:t>)</a:t>
            </a:r>
            <a:r>
              <a:rPr lang="en-US" dirty="0"/>
              <a:t> for all  </a:t>
            </a:r>
            <a:r>
              <a:rPr lang="en-US" i="1" dirty="0" err="1"/>
              <a:t>a,b,c</a:t>
            </a:r>
            <a:r>
              <a:rPr lang="en-US" i="1" dirty="0"/>
              <a:t> </a:t>
            </a:r>
            <a:r>
              <a:rPr lang="en-US" i="1" dirty="0">
                <a:sym typeface="Symbol" panose="05050102010706020507"/>
              </a:rPr>
              <a:t> </a:t>
            </a:r>
            <a:r>
              <a:rPr lang="en-US" i="1" dirty="0" err="1"/>
              <a:t>Z</a:t>
            </a:r>
            <a:r>
              <a:rPr lang="en-US" i="1" baseline="-25000" dirty="0" err="1"/>
              <a:t>m</a:t>
            </a:r>
            <a:r>
              <a:rPr lang="en-US" i="1" dirty="0"/>
              <a:t> </a:t>
            </a:r>
            <a:endParaRPr lang="en-US" dirty="0"/>
          </a:p>
          <a:p>
            <a:pPr marL="365125" indent="-273050">
              <a:spcBef>
                <a:spcPts val="200"/>
              </a:spcBef>
              <a:defRPr/>
            </a:pPr>
            <a:r>
              <a:rPr lang="en-US" dirty="0"/>
              <a:t>There is the </a:t>
            </a:r>
            <a:r>
              <a:rPr lang="en-US" b="1" dirty="0"/>
              <a:t>neutral element </a:t>
            </a:r>
            <a:r>
              <a:rPr lang="en-US" b="1" i="1" dirty="0"/>
              <a:t>0</a:t>
            </a:r>
            <a:r>
              <a:rPr lang="en-US" b="1" dirty="0"/>
              <a:t> with respect to addition</a:t>
            </a:r>
            <a:r>
              <a:rPr lang="en-US" dirty="0"/>
              <a:t>, i.e., for all </a:t>
            </a:r>
            <a:r>
              <a:rPr lang="en-US" i="1" dirty="0"/>
              <a:t>a </a:t>
            </a:r>
            <a:r>
              <a:rPr lang="en-US" i="1" dirty="0">
                <a:sym typeface="Symbol" panose="05050102010706020507"/>
              </a:rPr>
              <a:t> </a:t>
            </a:r>
            <a:r>
              <a:rPr lang="en-US" i="1" dirty="0" err="1"/>
              <a:t>Z</a:t>
            </a:r>
            <a:r>
              <a:rPr lang="en-US" i="1" baseline="-25000" dirty="0" err="1"/>
              <a:t>m</a:t>
            </a:r>
            <a:r>
              <a:rPr lang="en-US" i="1" dirty="0"/>
              <a:t> </a:t>
            </a:r>
            <a:endParaRPr lang="en-US" i="1" dirty="0"/>
          </a:p>
          <a:p>
            <a:pPr marL="742950" lvl="2" indent="-273050">
              <a:spcBef>
                <a:spcPts val="200"/>
              </a:spcBef>
              <a:buFontTx/>
              <a:buNone/>
              <a:defRPr/>
            </a:pPr>
            <a:r>
              <a:rPr lang="en-US" i="1" dirty="0"/>
              <a:t>	a + 0 </a:t>
            </a:r>
            <a:r>
              <a:rPr lang="en-US" i="1" dirty="0">
                <a:sym typeface="Symbol" panose="05050102010706020507"/>
              </a:rPr>
              <a:t> </a:t>
            </a:r>
            <a:r>
              <a:rPr lang="en-US" i="1" dirty="0"/>
              <a:t>a mod m</a:t>
            </a:r>
            <a:endParaRPr lang="en-US" i="1" dirty="0"/>
          </a:p>
          <a:p>
            <a:pPr marL="365125" indent="-273050">
              <a:spcBef>
                <a:spcPts val="200"/>
              </a:spcBef>
              <a:defRPr/>
            </a:pPr>
            <a:r>
              <a:rPr lang="en-US" dirty="0"/>
              <a:t>For all </a:t>
            </a:r>
            <a:r>
              <a:rPr lang="en-US" i="1" dirty="0"/>
              <a:t>a </a:t>
            </a:r>
            <a:r>
              <a:rPr lang="en-US" i="1" dirty="0">
                <a:sym typeface="Symbol" panose="05050102010706020507"/>
              </a:rPr>
              <a:t> </a:t>
            </a:r>
            <a:r>
              <a:rPr lang="en-US" i="1" dirty="0" err="1"/>
              <a:t>Z</a:t>
            </a:r>
            <a:r>
              <a:rPr lang="en-US" i="1" baseline="-25000" dirty="0" err="1"/>
              <a:t>m</a:t>
            </a:r>
            <a:r>
              <a:rPr lang="en-US" dirty="0"/>
              <a:t>, there is always an </a:t>
            </a:r>
            <a:r>
              <a:rPr lang="en-US" b="1" dirty="0"/>
              <a:t>additive inverse element </a:t>
            </a:r>
            <a:r>
              <a:rPr lang="en-US" b="1" i="1" dirty="0"/>
              <a:t>–a </a:t>
            </a:r>
            <a:r>
              <a:rPr lang="en-US" dirty="0"/>
              <a:t>such that</a:t>
            </a:r>
            <a:endParaRPr lang="en-US" dirty="0"/>
          </a:p>
          <a:p>
            <a:pPr marL="744220" lvl="1" indent="-273050">
              <a:spcBef>
                <a:spcPts val="200"/>
              </a:spcBef>
              <a:buFontTx/>
              <a:buNone/>
              <a:defRPr/>
            </a:pPr>
            <a:r>
              <a:rPr lang="en-US" dirty="0"/>
              <a:t>	a + (-a) </a:t>
            </a:r>
            <a:r>
              <a:rPr lang="en-US" i="1" dirty="0">
                <a:sym typeface="Symbol" panose="05050102010706020507"/>
              </a:rPr>
              <a:t> </a:t>
            </a:r>
            <a:r>
              <a:rPr lang="en-US" i="1" dirty="0"/>
              <a:t>0 mod m</a:t>
            </a:r>
            <a:r>
              <a:rPr lang="en-US" dirty="0"/>
              <a:t> </a:t>
            </a:r>
            <a:endParaRPr lang="en-US" dirty="0"/>
          </a:p>
          <a:p>
            <a:pPr marL="365125" indent="-273050">
              <a:spcBef>
                <a:spcPts val="200"/>
              </a:spcBef>
              <a:defRPr/>
            </a:pPr>
            <a:r>
              <a:rPr lang="en-US" dirty="0"/>
              <a:t>There is the </a:t>
            </a:r>
            <a:r>
              <a:rPr lang="en-US" b="1" dirty="0"/>
              <a:t>neutral element 1 with respect to multiplication</a:t>
            </a:r>
            <a:r>
              <a:rPr lang="en-US" dirty="0"/>
              <a:t>, i.e., for all </a:t>
            </a:r>
            <a:r>
              <a:rPr lang="en-US" i="1" dirty="0"/>
              <a:t>a </a:t>
            </a:r>
            <a:r>
              <a:rPr lang="en-US" i="1" dirty="0">
                <a:sym typeface="Symbol" panose="05050102010706020507"/>
              </a:rPr>
              <a:t> </a:t>
            </a:r>
            <a:r>
              <a:rPr lang="en-US" i="1" dirty="0" err="1"/>
              <a:t>Z</a:t>
            </a:r>
            <a:r>
              <a:rPr lang="en-US" i="1" baseline="-25000" dirty="0" err="1"/>
              <a:t>m</a:t>
            </a:r>
            <a:r>
              <a:rPr lang="en-US" i="1" dirty="0"/>
              <a:t> </a:t>
            </a:r>
            <a:endParaRPr lang="en-US" i="1" dirty="0"/>
          </a:p>
          <a:p>
            <a:pPr marL="365125" lvl="1" indent="-273050">
              <a:spcBef>
                <a:spcPts val="200"/>
              </a:spcBef>
              <a:buFontTx/>
              <a:buNone/>
              <a:defRPr/>
            </a:pPr>
            <a:r>
              <a:rPr lang="en-US" i="1" dirty="0"/>
              <a:t>		a </a:t>
            </a:r>
            <a:r>
              <a:rPr lang="en-US" i="1" dirty="0">
                <a:sym typeface="Symbol" panose="05050102010706020507"/>
              </a:rPr>
              <a:t> 1</a:t>
            </a:r>
            <a:r>
              <a:rPr lang="en-US" i="1" dirty="0"/>
              <a:t> </a:t>
            </a:r>
            <a:r>
              <a:rPr lang="en-US" i="1" dirty="0">
                <a:sym typeface="Symbol" panose="05050102010706020507"/>
              </a:rPr>
              <a:t> </a:t>
            </a:r>
            <a:r>
              <a:rPr lang="en-US" i="1" dirty="0"/>
              <a:t>a mod m</a:t>
            </a:r>
            <a:endParaRPr lang="en-US" i="1" dirty="0"/>
          </a:p>
          <a:p>
            <a:pPr marL="365125" indent="-273050">
              <a:spcBef>
                <a:spcPts val="200"/>
              </a:spcBef>
              <a:defRPr/>
            </a:pPr>
            <a:r>
              <a:rPr lang="en-US" dirty="0"/>
              <a:t>The </a:t>
            </a:r>
            <a:r>
              <a:rPr lang="en-US" b="1" dirty="0"/>
              <a:t>multiplicative inverse </a:t>
            </a:r>
            <a:r>
              <a:rPr lang="en-US" b="1" i="1" dirty="0"/>
              <a:t>a</a:t>
            </a:r>
            <a:r>
              <a:rPr lang="en-US" b="1" i="1" baseline="30000" dirty="0"/>
              <a:t>-1</a:t>
            </a:r>
            <a:r>
              <a:rPr lang="en-US" b="1" dirty="0"/>
              <a:t> </a:t>
            </a:r>
            <a:endParaRPr lang="en-US" b="1" dirty="0"/>
          </a:p>
          <a:p>
            <a:pPr marL="1116330" lvl="3" indent="-273050">
              <a:spcBef>
                <a:spcPts val="200"/>
              </a:spcBef>
              <a:buFontTx/>
              <a:buNone/>
              <a:defRPr/>
            </a:pPr>
            <a:r>
              <a:rPr lang="en-US" dirty="0"/>
              <a:t>a </a:t>
            </a:r>
            <a:r>
              <a:rPr lang="en-US" i="1" dirty="0">
                <a:sym typeface="Symbol" panose="05050102010706020507"/>
              </a:rPr>
              <a:t> </a:t>
            </a:r>
            <a:r>
              <a:rPr lang="en-US" i="1" dirty="0"/>
              <a:t>a</a:t>
            </a:r>
            <a:r>
              <a:rPr lang="en-US" i="1" baseline="30000" dirty="0"/>
              <a:t>-1 </a:t>
            </a:r>
            <a:r>
              <a:rPr lang="en-US" i="1" dirty="0">
                <a:sym typeface="Symbol" panose="05050102010706020507"/>
              </a:rPr>
              <a:t> </a:t>
            </a:r>
            <a:r>
              <a:rPr lang="en-US" i="1" dirty="0"/>
              <a:t>1 mod m </a:t>
            </a:r>
            <a:endParaRPr lang="en-US" dirty="0"/>
          </a:p>
          <a:p>
            <a:pPr marL="365125" lvl="1" indent="-273050">
              <a:spcBef>
                <a:spcPts val="200"/>
              </a:spcBef>
              <a:buFontTx/>
              <a:buNone/>
              <a:defRPr/>
            </a:pPr>
            <a:r>
              <a:rPr lang="en-US" dirty="0"/>
              <a:t>	exists only for some, but not for all, elements in </a:t>
            </a:r>
            <a:r>
              <a:rPr lang="en-US" i="1" dirty="0" err="1"/>
              <a:t>Z</a:t>
            </a:r>
            <a:r>
              <a:rPr lang="en-US" i="1" baseline="-25000" dirty="0" err="1"/>
              <a:t>m</a:t>
            </a:r>
            <a:r>
              <a:rPr lang="en-US" dirty="0"/>
              <a:t>.</a:t>
            </a:r>
            <a:endParaRPr lang="en-US" dirty="0"/>
          </a:p>
        </p:txBody>
      </p:sp>
      <p:sp>
        <p:nvSpPr>
          <p:cNvPr id="44036"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6738D99-8719-D043-8969-A45A2BBDE09B}"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44038" name="Rectangle 3"/>
          <p:cNvSpPr>
            <a:spLocks noChangeArrowheads="1"/>
          </p:cNvSpPr>
          <p:nvPr/>
        </p:nvSpPr>
        <p:spPr bwMode="auto">
          <a:xfrm>
            <a:off x="214313" y="428625"/>
            <a:ext cx="8786812"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pPr>
            <a:r>
              <a:rPr lang="en-US" altLang="zh-CN">
                <a:ea typeface="宋体" panose="02010600030101010101" pitchFamily="2" charset="-122"/>
              </a:rPr>
              <a:t>We can view modular arithmetic in terms of sets and operations in the set. By doing arithmetic modulo </a:t>
            </a:r>
            <a:r>
              <a:rPr lang="en-US" altLang="zh-CN" i="1">
                <a:ea typeface="宋体" panose="02010600030101010101" pitchFamily="2" charset="-122"/>
              </a:rPr>
              <a:t>m</a:t>
            </a:r>
            <a:r>
              <a:rPr lang="en-US" altLang="zh-CN">
                <a:ea typeface="宋体" panose="02010600030101010101" pitchFamily="2" charset="-122"/>
              </a:rPr>
              <a:t>  we obtain </a:t>
            </a:r>
            <a:r>
              <a:rPr lang="en-US" altLang="zh-CN" b="1">
                <a:ea typeface="宋体" panose="02010600030101010101" pitchFamily="2" charset="-122"/>
              </a:rPr>
              <a:t>the integer ring </a:t>
            </a:r>
            <a:r>
              <a:rPr lang="en-US" altLang="zh-CN" b="1" i="1">
                <a:ea typeface="宋体" panose="02010600030101010101" pitchFamily="2" charset="-122"/>
              </a:rPr>
              <a:t>Z</a:t>
            </a:r>
            <a:r>
              <a:rPr lang="en-US" altLang="zh-CN" b="1" i="1" baseline="-25000">
                <a:ea typeface="宋体" panose="02010600030101010101" pitchFamily="2" charset="-122"/>
              </a:rPr>
              <a:t>m </a:t>
            </a:r>
            <a:r>
              <a:rPr lang="en-US" altLang="zh-CN">
                <a:ea typeface="宋体" panose="02010600030101010101" pitchFamily="2" charset="-122"/>
              </a:rPr>
              <a:t>.with the following properties:</a:t>
            </a:r>
            <a:endParaRPr lang="en-US" altLang="zh-CN">
              <a:ea typeface="宋体" panose="02010600030101010101" pitchFamily="2" charset="-122"/>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el 1"/>
          <p:cNvSpPr>
            <a:spLocks noGrp="1"/>
          </p:cNvSpPr>
          <p:nvPr>
            <p:ph type="title"/>
          </p:nvPr>
        </p:nvSpPr>
        <p:spPr>
          <a:xfrm>
            <a:off x="471488" y="142875"/>
            <a:ext cx="7172325" cy="515938"/>
          </a:xfrm>
        </p:spPr>
        <p:txBody>
          <a:bodyPr/>
          <a:lstStyle/>
          <a:p>
            <a:r>
              <a:rPr lang="de-DE" altLang="zh-CN"/>
              <a:t>An Algebraic View on Modulo Arithmetic: The Ring </a:t>
            </a:r>
            <a:r>
              <a:rPr lang="en-US" altLang="zh-CN" sz="1800" i="1">
                <a:ea typeface="宋体" panose="02010600030101010101" pitchFamily="2" charset="-122"/>
              </a:rPr>
              <a:t>Z</a:t>
            </a:r>
            <a:r>
              <a:rPr lang="en-US" altLang="zh-CN" sz="1800" i="1" baseline="-25000">
                <a:ea typeface="宋体" panose="02010600030101010101" pitchFamily="2" charset="-122"/>
              </a:rPr>
              <a:t>m </a:t>
            </a:r>
            <a:r>
              <a:rPr lang="de-DE" altLang="zh-CN"/>
              <a:t>(2) </a:t>
            </a:r>
            <a:endParaRPr lang="de-DE" altLang="zh-CN"/>
          </a:p>
        </p:txBody>
      </p:sp>
      <p:sp>
        <p:nvSpPr>
          <p:cNvPr id="45059"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1A4EA54-8222-2F4B-932E-03CC93BBC46A}"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45061" name="Rectangle 3"/>
          <p:cNvSpPr>
            <a:spLocks noChangeArrowheads="1"/>
          </p:cNvSpPr>
          <p:nvPr/>
        </p:nvSpPr>
        <p:spPr bwMode="auto">
          <a:xfrm>
            <a:off x="285750" y="2181225"/>
            <a:ext cx="8786813" cy="3462338"/>
          </a:xfrm>
          <a:prstGeom prst="rect">
            <a:avLst/>
          </a:prstGeom>
          <a:noFill/>
          <a:ln w="9525">
            <a:noFill/>
            <a:miter lim="800000"/>
          </a:ln>
        </p:spPr>
        <p:txBody>
          <a:bodyPr lIns="0" tIns="0" rIns="0" bIns="0">
            <a:spAutoFit/>
          </a:bodyPr>
          <a:lstStyle/>
          <a:p>
            <a:pPr indent="365125">
              <a:lnSpc>
                <a:spcPct val="125000"/>
              </a:lnSpc>
              <a:spcBef>
                <a:spcPts val="0"/>
              </a:spcBef>
              <a:buClr>
                <a:srgbClr val="007AC2"/>
              </a:buClr>
              <a:buSzPct val="120000"/>
              <a:buFont typeface="Arial" panose="020B0604020202020204" pitchFamily="34" charset="0"/>
              <a:buChar char="•"/>
              <a:defRPr/>
            </a:pPr>
            <a:r>
              <a:rPr lang="en-US" dirty="0"/>
              <a:t>We recall from above that an element </a:t>
            </a:r>
            <a:r>
              <a:rPr lang="en-US" i="1" dirty="0"/>
              <a:t>a </a:t>
            </a:r>
            <a:r>
              <a:rPr lang="en-US" i="1" dirty="0">
                <a:sym typeface="Symbol" panose="05050102010706020507" pitchFamily="2" charset="2"/>
              </a:rPr>
              <a:t> </a:t>
            </a:r>
            <a:r>
              <a:rPr lang="en-US" i="1" dirty="0" err="1"/>
              <a:t>Z</a:t>
            </a:r>
            <a:r>
              <a:rPr lang="en-US" i="1" baseline="-25000" dirty="0" err="1"/>
              <a:t>m</a:t>
            </a:r>
            <a:r>
              <a:rPr lang="en-US" i="1" baseline="-25000" dirty="0"/>
              <a:t> </a:t>
            </a:r>
            <a:r>
              <a:rPr lang="en-US" dirty="0"/>
              <a:t> has a multiplicative inverse only if:</a:t>
            </a:r>
            <a:endParaRPr lang="en-US" dirty="0"/>
          </a:p>
          <a:p>
            <a:pPr indent="365125">
              <a:lnSpc>
                <a:spcPct val="125000"/>
              </a:lnSpc>
              <a:spcBef>
                <a:spcPts val="0"/>
              </a:spcBef>
              <a:buClr>
                <a:srgbClr val="007AC2"/>
              </a:buClr>
              <a:buSzPct val="120000"/>
              <a:defRPr/>
            </a:pPr>
            <a:r>
              <a:rPr lang="en-US" dirty="0"/>
              <a:t>	</a:t>
            </a:r>
            <a:r>
              <a:rPr lang="en-US" dirty="0" err="1"/>
              <a:t>gcd</a:t>
            </a:r>
            <a:r>
              <a:rPr lang="en-US" i="1" dirty="0"/>
              <a:t> (a, m) = 1</a:t>
            </a:r>
            <a:endParaRPr lang="en-US" dirty="0"/>
          </a:p>
          <a:p>
            <a:pPr indent="365125">
              <a:lnSpc>
                <a:spcPct val="125000"/>
              </a:lnSpc>
              <a:spcBef>
                <a:spcPts val="0"/>
              </a:spcBef>
              <a:buClr>
                <a:srgbClr val="007AC2"/>
              </a:buClr>
              <a:buSzPct val="120000"/>
              <a:defRPr/>
            </a:pPr>
            <a:r>
              <a:rPr lang="en-US" dirty="0"/>
              <a:t> We say that </a:t>
            </a:r>
            <a:r>
              <a:rPr lang="en-US" i="1" dirty="0"/>
              <a:t>a</a:t>
            </a:r>
            <a:r>
              <a:rPr lang="en-US" dirty="0"/>
              <a:t> is </a:t>
            </a:r>
            <a:r>
              <a:rPr lang="en-US" b="1" dirty="0" err="1"/>
              <a:t>coprime</a:t>
            </a:r>
            <a:r>
              <a:rPr lang="en-US" dirty="0"/>
              <a:t> or </a:t>
            </a:r>
            <a:r>
              <a:rPr lang="en-US" b="1" dirty="0"/>
              <a:t>relatively prime </a:t>
            </a:r>
            <a:r>
              <a:rPr lang="en-US" dirty="0"/>
              <a:t>to </a:t>
            </a:r>
            <a:r>
              <a:rPr lang="en-US" i="1" dirty="0"/>
              <a:t>m</a:t>
            </a:r>
            <a:r>
              <a:rPr lang="en-US" dirty="0"/>
              <a:t>.</a:t>
            </a:r>
            <a:endParaRPr lang="en-US" dirty="0"/>
          </a:p>
          <a:p>
            <a:pPr>
              <a:lnSpc>
                <a:spcPct val="125000"/>
              </a:lnSpc>
              <a:spcBef>
                <a:spcPts val="0"/>
              </a:spcBef>
              <a:buClr>
                <a:srgbClr val="007AC2"/>
              </a:buClr>
              <a:buSzPct val="120000"/>
              <a:defRPr/>
            </a:pPr>
            <a:r>
              <a:rPr lang="en-US" b="1" dirty="0"/>
              <a:t> </a:t>
            </a:r>
            <a:endParaRPr lang="en-US" b="1" dirty="0"/>
          </a:p>
          <a:p>
            <a:pPr>
              <a:lnSpc>
                <a:spcPct val="125000"/>
              </a:lnSpc>
              <a:spcBef>
                <a:spcPts val="0"/>
              </a:spcBef>
              <a:buClr>
                <a:srgbClr val="007AC2"/>
              </a:buClr>
              <a:buSzPct val="120000"/>
              <a:defRPr/>
            </a:pPr>
            <a:endParaRPr lang="en-US" dirty="0"/>
          </a:p>
          <a:p>
            <a:pPr indent="365125">
              <a:lnSpc>
                <a:spcPct val="125000"/>
              </a:lnSpc>
              <a:spcBef>
                <a:spcPts val="0"/>
              </a:spcBef>
              <a:buClr>
                <a:srgbClr val="007AC2"/>
              </a:buClr>
              <a:buSzPct val="120000"/>
              <a:buFont typeface="Arial" panose="020B0604020202020204" pitchFamily="34" charset="0"/>
              <a:buChar char="•"/>
              <a:defRPr/>
            </a:pPr>
            <a:r>
              <a:rPr lang="en-US" dirty="0"/>
              <a:t>Ex: We consider the ring </a:t>
            </a:r>
            <a:r>
              <a:rPr lang="en-US" i="1" dirty="0"/>
              <a:t>Z</a:t>
            </a:r>
            <a:r>
              <a:rPr lang="en-US" i="1" baseline="-25000" dirty="0"/>
              <a:t>9</a:t>
            </a:r>
            <a:r>
              <a:rPr lang="en-US" dirty="0"/>
              <a:t> = {0,1,2,3,4,5,6,7,8}</a:t>
            </a:r>
            <a:endParaRPr lang="en-US" dirty="0"/>
          </a:p>
          <a:p>
            <a:pPr indent="365125">
              <a:lnSpc>
                <a:spcPct val="125000"/>
              </a:lnSpc>
              <a:spcBef>
                <a:spcPts val="0"/>
              </a:spcBef>
              <a:buClr>
                <a:srgbClr val="007AC2"/>
              </a:buClr>
              <a:buSzPct val="120000"/>
              <a:defRPr/>
            </a:pPr>
            <a:r>
              <a:rPr lang="en-US" dirty="0"/>
              <a:t>The elements 0, 3, and 6 do not have inverses since they are not </a:t>
            </a:r>
            <a:r>
              <a:rPr lang="en-US" dirty="0" err="1"/>
              <a:t>coprime</a:t>
            </a:r>
            <a:r>
              <a:rPr lang="en-US" dirty="0"/>
              <a:t> to 9.</a:t>
            </a:r>
            <a:endParaRPr lang="en-US" dirty="0"/>
          </a:p>
          <a:p>
            <a:pPr indent="365125">
              <a:lnSpc>
                <a:spcPct val="125000"/>
              </a:lnSpc>
              <a:spcBef>
                <a:spcPts val="0"/>
              </a:spcBef>
              <a:buClr>
                <a:srgbClr val="007AC2"/>
              </a:buClr>
              <a:buSzPct val="120000"/>
              <a:defRPr/>
            </a:pPr>
            <a:r>
              <a:rPr lang="en-US" dirty="0"/>
              <a:t>The inverses of the other elements 1, 2, 4, 5, 7, and 8 are:</a:t>
            </a:r>
            <a:endParaRPr lang="en-US" dirty="0"/>
          </a:p>
          <a:p>
            <a:pPr>
              <a:lnSpc>
                <a:spcPct val="125000"/>
              </a:lnSpc>
              <a:spcBef>
                <a:spcPts val="0"/>
              </a:spcBef>
              <a:buClr>
                <a:srgbClr val="007AC2"/>
              </a:buClr>
              <a:buSzPct val="120000"/>
              <a:defRPr/>
            </a:pPr>
            <a:r>
              <a:rPr lang="en-US" dirty="0"/>
              <a:t>	1</a:t>
            </a:r>
            <a:r>
              <a:rPr lang="en-US" i="1" baseline="30000" dirty="0"/>
              <a:t>-1 </a:t>
            </a:r>
            <a:r>
              <a:rPr lang="en-US" i="1" dirty="0">
                <a:sym typeface="Symbol" panose="05050102010706020507"/>
              </a:rPr>
              <a:t> </a:t>
            </a:r>
            <a:r>
              <a:rPr lang="en-US" i="1" dirty="0"/>
              <a:t>1 mod 9		</a:t>
            </a:r>
            <a:r>
              <a:rPr lang="en-US" dirty="0"/>
              <a:t>2</a:t>
            </a:r>
            <a:r>
              <a:rPr lang="en-US" i="1" baseline="30000" dirty="0"/>
              <a:t>-1 </a:t>
            </a:r>
            <a:r>
              <a:rPr lang="en-US" i="1" dirty="0">
                <a:sym typeface="Symbol" panose="05050102010706020507"/>
              </a:rPr>
              <a:t> 5</a:t>
            </a:r>
            <a:r>
              <a:rPr lang="en-US" i="1" dirty="0"/>
              <a:t> mod 9 		</a:t>
            </a:r>
            <a:r>
              <a:rPr lang="en-US" dirty="0"/>
              <a:t> 4</a:t>
            </a:r>
            <a:r>
              <a:rPr lang="en-US" i="1" baseline="30000" dirty="0"/>
              <a:t>-1 </a:t>
            </a:r>
            <a:r>
              <a:rPr lang="en-US" i="1" dirty="0">
                <a:sym typeface="Symbol" panose="05050102010706020507"/>
              </a:rPr>
              <a:t> 7</a:t>
            </a:r>
            <a:r>
              <a:rPr lang="en-US" i="1" dirty="0"/>
              <a:t> mod 9</a:t>
            </a:r>
            <a:endParaRPr lang="en-US" dirty="0"/>
          </a:p>
          <a:p>
            <a:pPr marL="0" lvl="1">
              <a:lnSpc>
                <a:spcPct val="125000"/>
              </a:lnSpc>
              <a:spcBef>
                <a:spcPts val="0"/>
              </a:spcBef>
              <a:buClr>
                <a:srgbClr val="007AC2"/>
              </a:buClr>
              <a:buSzPct val="120000"/>
              <a:defRPr/>
            </a:pPr>
            <a:r>
              <a:rPr lang="en-US" dirty="0"/>
              <a:t>	5</a:t>
            </a:r>
            <a:r>
              <a:rPr lang="en-US" i="1" baseline="30000" dirty="0"/>
              <a:t>-1 </a:t>
            </a:r>
            <a:r>
              <a:rPr lang="en-US" i="1" dirty="0">
                <a:sym typeface="Symbol" panose="05050102010706020507"/>
              </a:rPr>
              <a:t> </a:t>
            </a:r>
            <a:r>
              <a:rPr lang="en-US" i="1" dirty="0"/>
              <a:t>2 mod 9		</a:t>
            </a:r>
            <a:r>
              <a:rPr lang="en-US" dirty="0"/>
              <a:t>7</a:t>
            </a:r>
            <a:r>
              <a:rPr lang="en-US" i="1" baseline="30000" dirty="0"/>
              <a:t>-1 </a:t>
            </a:r>
            <a:r>
              <a:rPr lang="en-US" i="1" dirty="0">
                <a:sym typeface="Symbol" panose="05050102010706020507"/>
              </a:rPr>
              <a:t> 4</a:t>
            </a:r>
            <a:r>
              <a:rPr lang="en-US" i="1" dirty="0"/>
              <a:t> mod 9 		</a:t>
            </a:r>
            <a:r>
              <a:rPr lang="en-US" dirty="0"/>
              <a:t> 8</a:t>
            </a:r>
            <a:r>
              <a:rPr lang="en-US" i="1" baseline="30000" dirty="0"/>
              <a:t>-1 </a:t>
            </a:r>
            <a:r>
              <a:rPr lang="en-US" i="1" dirty="0">
                <a:sym typeface="Symbol" panose="05050102010706020507"/>
              </a:rPr>
              <a:t> 8</a:t>
            </a:r>
            <a:r>
              <a:rPr lang="en-US" i="1" dirty="0"/>
              <a:t> mod 9 </a:t>
            </a:r>
            <a:endParaRPr lang="en-US" dirty="0"/>
          </a:p>
        </p:txBody>
      </p:sp>
      <p:sp>
        <p:nvSpPr>
          <p:cNvPr id="45062" name="Rectangle 3"/>
          <p:cNvSpPr>
            <a:spLocks noChangeArrowheads="1"/>
          </p:cNvSpPr>
          <p:nvPr/>
        </p:nvSpPr>
        <p:spPr bwMode="auto">
          <a:xfrm>
            <a:off x="214313" y="819150"/>
            <a:ext cx="8501062" cy="103822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lvl1pPr marL="182880" indent="-18288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pPr>
            <a:r>
              <a:rPr lang="en-US" altLang="zh-CN">
                <a:ea typeface="宋体" panose="02010600030101010101" pitchFamily="2" charset="-122"/>
              </a:rPr>
              <a:t>	Roughly speaking, a ring is a structure in which we can always add, subtract and multiply, but we can only divide by certain elements (namely by those for which a multiplicative inverse exists).</a:t>
            </a:r>
            <a:endParaRPr lang="en-US" altLang="zh-CN">
              <a:ea typeface="宋体" panose="02010600030101010101" pitchFamily="2" charset="-122"/>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FD13071-B35B-6E47-B224-CB897FEEF411}"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46084" name="Rectangle 2"/>
          <p:cNvSpPr>
            <a:spLocks noGrp="1" noChangeArrowheads="1"/>
          </p:cNvSpPr>
          <p:nvPr>
            <p:ph type="title"/>
          </p:nvPr>
        </p:nvSpPr>
        <p:spPr>
          <a:xfrm>
            <a:off x="471488" y="322263"/>
            <a:ext cx="8204200" cy="515937"/>
          </a:xfrm>
        </p:spPr>
        <p:txBody>
          <a:bodyPr/>
          <a:lstStyle/>
          <a:p>
            <a:pPr>
              <a:buFont typeface="Webdings" panose="05030102010509060703" pitchFamily="2" charset="2"/>
              <a:buNone/>
            </a:pPr>
            <a:r>
              <a:rPr lang="de-DE" altLang="zh-CN" sz="2800"/>
              <a:t>Content of this Chapter</a:t>
            </a:r>
            <a:endParaRPr lang="de-DE" altLang="zh-CN" sz="2800"/>
          </a:p>
        </p:txBody>
      </p:sp>
      <p:sp>
        <p:nvSpPr>
          <p:cNvPr id="46085" name="Rectangle 3"/>
          <p:cNvSpPr>
            <a:spLocks noGrp="1" noChangeArrowheads="1"/>
          </p:cNvSpPr>
          <p:nvPr>
            <p:ph type="body" idx="1"/>
          </p:nvPr>
        </p:nvSpPr>
        <p:spPr>
          <a:xfrm>
            <a:off x="539750" y="1844675"/>
            <a:ext cx="7394575" cy="3039935"/>
          </a:xfrm>
          <a:noFill/>
        </p:spPr>
        <p:txBody>
          <a:bodyPr/>
          <a:lstStyle/>
          <a:p>
            <a:pPr marL="342900" indent="-342900"/>
            <a:r>
              <a:rPr lang="de-DE" altLang="zh-CN" sz="2000" dirty="0" err="1"/>
              <a:t>Overview</a:t>
            </a:r>
            <a:r>
              <a:rPr lang="de-DE" altLang="zh-CN" sz="2000" dirty="0"/>
              <a:t> on </a:t>
            </a:r>
            <a:r>
              <a:rPr lang="de-DE" altLang="zh-CN" sz="2000" dirty="0" err="1"/>
              <a:t>the</a:t>
            </a:r>
            <a:r>
              <a:rPr lang="de-DE" altLang="zh-CN" sz="2000" dirty="0"/>
              <a:t> </a:t>
            </a:r>
            <a:r>
              <a:rPr lang="de-DE" altLang="zh-CN" sz="2000" dirty="0" err="1"/>
              <a:t>field</a:t>
            </a:r>
            <a:r>
              <a:rPr lang="de-DE" altLang="zh-CN" sz="2000" dirty="0"/>
              <a:t> </a:t>
            </a:r>
            <a:r>
              <a:rPr lang="de-DE" altLang="zh-CN" sz="2000" dirty="0" err="1"/>
              <a:t>of</a:t>
            </a:r>
            <a:r>
              <a:rPr lang="de-DE" altLang="zh-CN" sz="2000" dirty="0"/>
              <a:t> </a:t>
            </a:r>
            <a:r>
              <a:rPr lang="de-DE" altLang="zh-CN" sz="2000" dirty="0" err="1"/>
              <a:t>cryptology</a:t>
            </a:r>
            <a:endParaRPr lang="de-DE" altLang="zh-CN" sz="2000" dirty="0"/>
          </a:p>
          <a:p>
            <a:pPr marL="342900" indent="-342900"/>
            <a:r>
              <a:rPr lang="de-DE" altLang="zh-CN" sz="2000" dirty="0"/>
              <a:t>Basics </a:t>
            </a:r>
            <a:r>
              <a:rPr lang="de-DE" altLang="zh-CN" sz="2000" dirty="0" err="1"/>
              <a:t>of</a:t>
            </a:r>
            <a:r>
              <a:rPr lang="de-DE" altLang="zh-CN" sz="2000" dirty="0"/>
              <a:t> </a:t>
            </a:r>
            <a:r>
              <a:rPr lang="de-DE" altLang="zh-CN" sz="2000" dirty="0" err="1"/>
              <a:t>symmetric</a:t>
            </a:r>
            <a:r>
              <a:rPr lang="de-DE" altLang="zh-CN" sz="2000" dirty="0"/>
              <a:t> </a:t>
            </a:r>
            <a:r>
              <a:rPr lang="de-DE" altLang="zh-CN" sz="2000" dirty="0" err="1"/>
              <a:t>cryptography</a:t>
            </a:r>
            <a:endParaRPr lang="de-DE" altLang="zh-CN" sz="2000" dirty="0"/>
          </a:p>
          <a:p>
            <a:pPr marL="342900" indent="-342900"/>
            <a:r>
              <a:rPr lang="de-DE" altLang="zh-CN" sz="2000" dirty="0" err="1"/>
              <a:t>Attacking</a:t>
            </a:r>
            <a:r>
              <a:rPr lang="de-DE" altLang="zh-CN" sz="2000" dirty="0"/>
              <a:t> </a:t>
            </a:r>
            <a:r>
              <a:rPr lang="de-DE" altLang="zh-CN" sz="2000" dirty="0" err="1"/>
              <a:t>crypto</a:t>
            </a:r>
            <a:r>
              <a:rPr lang="de-DE" altLang="zh-CN" sz="2000" dirty="0"/>
              <a:t> </a:t>
            </a:r>
            <a:r>
              <a:rPr lang="de-DE" altLang="zh-CN" sz="2000" dirty="0" err="1"/>
              <a:t>schemes</a:t>
            </a:r>
            <a:endParaRPr lang="de-DE" altLang="zh-CN" sz="2000" dirty="0"/>
          </a:p>
          <a:p>
            <a:pPr marL="342900" indent="-342900"/>
            <a:r>
              <a:rPr lang="de-DE" altLang="zh-CN" sz="2000" dirty="0"/>
              <a:t>Substitution </a:t>
            </a:r>
            <a:r>
              <a:rPr lang="de-DE" altLang="zh-CN" sz="2000" dirty="0" err="1"/>
              <a:t>Cipher</a:t>
            </a:r>
            <a:endParaRPr lang="de-DE" altLang="zh-CN" sz="2000" dirty="0"/>
          </a:p>
          <a:p>
            <a:pPr marL="342900" indent="-342900"/>
            <a:r>
              <a:rPr lang="de-DE" altLang="zh-CN" sz="2000" dirty="0"/>
              <a:t>Modular </a:t>
            </a:r>
            <a:r>
              <a:rPr lang="de-DE" altLang="zh-CN" sz="2000" dirty="0" err="1"/>
              <a:t>arithmetic</a:t>
            </a:r>
            <a:endParaRPr lang="de-DE" altLang="zh-CN" sz="2000" dirty="0"/>
          </a:p>
          <a:p>
            <a:pPr marL="342900" indent="-342900"/>
            <a:r>
              <a:rPr lang="de-DE" altLang="zh-CN" sz="2000" b="1" dirty="0"/>
              <a:t>Shift (</a:t>
            </a:r>
            <a:r>
              <a:rPr lang="de-DE" altLang="zh-CN" sz="2000" b="1" dirty="0" err="1"/>
              <a:t>or</a:t>
            </a:r>
            <a:r>
              <a:rPr lang="de-DE" altLang="zh-CN" sz="2000" b="1" dirty="0"/>
              <a:t> Caesar) </a:t>
            </a:r>
            <a:r>
              <a:rPr lang="de-DE" altLang="zh-CN" sz="2000" b="1" dirty="0" err="1"/>
              <a:t>Cipher</a:t>
            </a:r>
            <a:r>
              <a:rPr lang="de-DE" altLang="zh-CN" sz="2000" b="1" dirty="0"/>
              <a:t>, </a:t>
            </a:r>
            <a:r>
              <a:rPr lang="de-DE" altLang="zh-CN" sz="2000" b="1" dirty="0" err="1"/>
              <a:t>Vigenere</a:t>
            </a:r>
            <a:r>
              <a:rPr lang="de-DE" altLang="zh-CN" sz="2000" b="1" dirty="0"/>
              <a:t> </a:t>
            </a:r>
            <a:r>
              <a:rPr lang="de-DE" altLang="zh-CN" sz="2000" b="1" dirty="0" err="1"/>
              <a:t>Cipher</a:t>
            </a:r>
            <a:r>
              <a:rPr lang="de-DE" altLang="zh-CN" sz="2000" b="1" dirty="0"/>
              <a:t> and Affine </a:t>
            </a:r>
            <a:r>
              <a:rPr lang="de-DE" altLang="zh-CN" sz="2000" b="1" dirty="0" err="1"/>
              <a:t>Cipher</a:t>
            </a:r>
            <a:endParaRPr lang="de-DE" altLang="zh-CN" sz="2000" b="1" dirty="0"/>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87E080-5996-1E48-A8E2-9B32E72AB590}"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47108" name="Rectangle 2"/>
          <p:cNvSpPr>
            <a:spLocks noGrp="1" noChangeArrowheads="1"/>
          </p:cNvSpPr>
          <p:nvPr>
            <p:ph type="title"/>
          </p:nvPr>
        </p:nvSpPr>
        <p:spPr>
          <a:xfrm>
            <a:off x="471488" y="188913"/>
            <a:ext cx="8388350" cy="863600"/>
          </a:xfrm>
        </p:spPr>
        <p:txBody>
          <a:bodyPr/>
          <a:lstStyle/>
          <a:p>
            <a:r>
              <a:rPr lang="de-DE" altLang="zh-CN" dirty="0"/>
              <a:t>Shift (</a:t>
            </a:r>
            <a:r>
              <a:rPr lang="de-DE" altLang="zh-CN" dirty="0" err="1"/>
              <a:t>or</a:t>
            </a:r>
            <a:r>
              <a:rPr lang="de-DE" altLang="zh-CN" dirty="0"/>
              <a:t> Caesar) </a:t>
            </a:r>
            <a:r>
              <a:rPr lang="de-DE" altLang="zh-CN" dirty="0" err="1"/>
              <a:t>or</a:t>
            </a:r>
            <a:r>
              <a:rPr lang="de-DE" altLang="zh-CN" dirty="0"/>
              <a:t> </a:t>
            </a:r>
            <a:r>
              <a:rPr lang="de-DE" altLang="zh-CN" dirty="0" err="1"/>
              <a:t>Monoalphabetic</a:t>
            </a:r>
            <a:r>
              <a:rPr lang="de-DE" altLang="zh-CN" dirty="0"/>
              <a:t> Substitution </a:t>
            </a:r>
            <a:r>
              <a:rPr lang="de-DE" altLang="zh-CN" dirty="0" err="1"/>
              <a:t>Cipher</a:t>
            </a:r>
            <a:r>
              <a:rPr lang="de-DE" altLang="zh-CN" dirty="0"/>
              <a:t> (1)</a:t>
            </a:r>
            <a:endParaRPr lang="de-DE" altLang="zh-CN" dirty="0"/>
          </a:p>
        </p:txBody>
      </p:sp>
      <p:sp>
        <p:nvSpPr>
          <p:cNvPr id="47109" name="Rectangle 3"/>
          <p:cNvSpPr>
            <a:spLocks noChangeArrowheads="1"/>
          </p:cNvSpPr>
          <p:nvPr/>
        </p:nvSpPr>
        <p:spPr bwMode="auto">
          <a:xfrm>
            <a:off x="179388" y="1052513"/>
            <a:ext cx="8388350" cy="141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556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en-US" altLang="zh-CN" sz="1600" dirty="0">
                <a:ea typeface="宋体" panose="02010600030101010101" pitchFamily="2" charset="-122"/>
              </a:rPr>
              <a:t>Ancient cipher, allegedly used by Julius Caesar</a:t>
            </a:r>
            <a:endParaRPr lang="en-US" altLang="zh-CN" sz="1600" dirty="0">
              <a:ea typeface="宋体" panose="02010600030101010101" pitchFamily="2" charset="-122"/>
            </a:endParaRPr>
          </a:p>
          <a:p>
            <a:pPr>
              <a:lnSpc>
                <a:spcPct val="125000"/>
              </a:lnSpc>
              <a:spcBef>
                <a:spcPct val="25000"/>
              </a:spcBef>
              <a:buClr>
                <a:srgbClr val="007AC2"/>
              </a:buClr>
              <a:buSzPct val="120000"/>
              <a:buFontTx/>
              <a:buChar char="•"/>
            </a:pPr>
            <a:r>
              <a:rPr lang="en-US" altLang="zh-CN" sz="1600" dirty="0">
                <a:ea typeface="宋体" panose="02010600030101010101" pitchFamily="2" charset="-122"/>
              </a:rPr>
              <a:t>Replaces each plaintext letter by another one.</a:t>
            </a:r>
            <a:endParaRPr lang="en-US" altLang="zh-CN" sz="1600" dirty="0">
              <a:ea typeface="宋体" panose="02010600030101010101" pitchFamily="2" charset="-122"/>
            </a:endParaRPr>
          </a:p>
          <a:p>
            <a:pPr>
              <a:lnSpc>
                <a:spcPct val="125000"/>
              </a:lnSpc>
              <a:spcBef>
                <a:spcPct val="25000"/>
              </a:spcBef>
              <a:buClr>
                <a:srgbClr val="007AC2"/>
              </a:buClr>
              <a:buSzPct val="120000"/>
              <a:buFontTx/>
              <a:buChar char="•"/>
            </a:pPr>
            <a:r>
              <a:rPr lang="en-US" altLang="zh-CN" sz="1600" dirty="0">
                <a:ea typeface="宋体" panose="02010600030101010101" pitchFamily="2" charset="-122"/>
              </a:rPr>
              <a:t>Replacement rule is very simple: Take letter that follows after </a:t>
            </a:r>
            <a:r>
              <a:rPr lang="en-US" altLang="zh-CN" sz="1600" i="1" dirty="0">
                <a:ea typeface="宋体" panose="02010600030101010101" pitchFamily="2" charset="-122"/>
              </a:rPr>
              <a:t>k </a:t>
            </a:r>
            <a:r>
              <a:rPr lang="en-US" altLang="zh-CN" sz="1600" dirty="0">
                <a:ea typeface="宋体" panose="02010600030101010101" pitchFamily="2" charset="-122"/>
              </a:rPr>
              <a:t>positions in the alphabet</a:t>
            </a:r>
            <a:endParaRPr lang="en-US" altLang="zh-CN" sz="1600" dirty="0">
              <a:ea typeface="宋体" panose="02010600030101010101" pitchFamily="2" charset="-122"/>
            </a:endParaRPr>
          </a:p>
          <a:p>
            <a:pPr>
              <a:lnSpc>
                <a:spcPct val="125000"/>
              </a:lnSpc>
              <a:spcBef>
                <a:spcPct val="25000"/>
              </a:spcBef>
              <a:buClr>
                <a:srgbClr val="007AC2"/>
              </a:buClr>
              <a:buSzPct val="120000"/>
            </a:pPr>
            <a:r>
              <a:rPr lang="en-US" altLang="zh-CN" sz="1600" dirty="0">
                <a:ea typeface="宋体" panose="02010600030101010101" pitchFamily="2" charset="-122"/>
              </a:rPr>
              <a:t>Needs mapping from letters </a:t>
            </a:r>
            <a:r>
              <a:rPr lang="en-US" altLang="zh-CN" sz="1600" dirty="0">
                <a:ea typeface="宋体" panose="02010600030101010101" pitchFamily="2" charset="-122"/>
                <a:cs typeface="Arial" panose="020B0604020202020204" pitchFamily="34" charset="0"/>
              </a:rPr>
              <a:t>→ numbers:</a:t>
            </a:r>
            <a:endParaRPr lang="en-US" altLang="zh-CN" sz="1600" dirty="0">
              <a:ea typeface="宋体" panose="02010600030101010101" pitchFamily="2" charset="-122"/>
            </a:endParaRPr>
          </a:p>
        </p:txBody>
      </p:sp>
      <p:graphicFrame>
        <p:nvGraphicFramePr>
          <p:cNvPr id="915564" name="Group 108"/>
          <p:cNvGraphicFramePr>
            <a:graphicFrameLocks noGrp="1"/>
          </p:cNvGraphicFramePr>
          <p:nvPr/>
        </p:nvGraphicFramePr>
        <p:xfrm>
          <a:off x="1524000" y="2781300"/>
          <a:ext cx="6096000" cy="1152526"/>
        </p:xfrm>
        <a:graphic>
          <a:graphicData uri="http://schemas.openxmlformats.org/drawingml/2006/table">
            <a:tbl>
              <a:tblPr/>
              <a:tblGrid>
                <a:gridCol w="468313"/>
                <a:gridCol w="469900"/>
                <a:gridCol w="468312"/>
                <a:gridCol w="469900"/>
                <a:gridCol w="468313"/>
                <a:gridCol w="468312"/>
                <a:gridCol w="469900"/>
                <a:gridCol w="468313"/>
                <a:gridCol w="468312"/>
                <a:gridCol w="469900"/>
                <a:gridCol w="468313"/>
                <a:gridCol w="469900"/>
                <a:gridCol w="468312"/>
              </a:tblGrid>
              <a:tr h="288925">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A</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B</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C</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D</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E</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F</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G</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H</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I</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J</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K</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L</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M</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7338">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0</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1</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2</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3</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4</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5</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6</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7</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8</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9</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10</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11</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12</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8925">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N</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O</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P</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Q</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R</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S</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T</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U</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V</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W</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X</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Y</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Z</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7338">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13</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14</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15</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16</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17</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18</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19</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20</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21</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22</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23</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24</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pPr>
                      <a:r>
                        <a:rPr kumimoji="0" lang="de-DE" sz="1400" b="0" i="0" u="none" strike="noStrike" cap="none" normalizeH="0" baseline="0">
                          <a:ln>
                            <a:noFill/>
                          </a:ln>
                          <a:solidFill>
                            <a:schemeClr val="tx1"/>
                          </a:solidFill>
                          <a:effectLst/>
                          <a:latin typeface="Arial" panose="020B0604020202020204" pitchFamily="34" charset="0"/>
                        </a:rPr>
                        <a:t>25</a:t>
                      </a:r>
                      <a:endParaRPr kumimoji="0" lang="de-DE" sz="1400" b="0" i="0" u="none" strike="noStrike" cap="none" normalizeH="0" baseline="0">
                        <a:ln>
                          <a:noFill/>
                        </a:ln>
                        <a:solidFill>
                          <a:schemeClr val="tx1"/>
                        </a:solidFill>
                        <a:effectLst/>
                        <a:latin typeface="Arial" panose="020B0604020202020204" pitchFamily="34"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7182" name="Rectangle 109"/>
          <p:cNvSpPr>
            <a:spLocks noChangeArrowheads="1"/>
          </p:cNvSpPr>
          <p:nvPr/>
        </p:nvSpPr>
        <p:spPr bwMode="auto">
          <a:xfrm>
            <a:off x="144463" y="4232275"/>
            <a:ext cx="8388350"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556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en-US" altLang="zh-CN" sz="1600">
                <a:ea typeface="宋体" panose="02010600030101010101" pitchFamily="2" charset="-122"/>
                <a:cs typeface="Arial" panose="020B0604020202020204" pitchFamily="34" charset="0"/>
              </a:rPr>
              <a:t>Example for </a:t>
            </a:r>
            <a:r>
              <a:rPr lang="en-US" altLang="zh-CN" sz="1600" i="1">
                <a:ea typeface="宋体" panose="02010600030101010101" pitchFamily="2" charset="-122"/>
                <a:cs typeface="Arial" panose="020B0604020202020204" pitchFamily="34" charset="0"/>
              </a:rPr>
              <a:t>k = 7</a:t>
            </a:r>
            <a:endParaRPr lang="en-US" altLang="zh-CN" sz="1600" i="1">
              <a:ea typeface="宋体" panose="02010600030101010101" pitchFamily="2" charset="-122"/>
            </a:endParaRPr>
          </a:p>
          <a:p>
            <a:pPr>
              <a:lnSpc>
                <a:spcPct val="125000"/>
              </a:lnSpc>
              <a:spcBef>
                <a:spcPct val="25000"/>
              </a:spcBef>
              <a:buClr>
                <a:srgbClr val="007AC2"/>
              </a:buClr>
              <a:buSzPct val="120000"/>
            </a:pPr>
            <a:r>
              <a:rPr lang="sv-SE" altLang="zh-CN" sz="1600"/>
              <a:t>Plaintext = </a:t>
            </a:r>
            <a:r>
              <a:rPr lang="sv-SE" altLang="zh-CN" sz="1600">
                <a:latin typeface="Courier New" panose="02070309020205020404" pitchFamily="49" charset="0"/>
              </a:rPr>
              <a:t>ATTACK</a:t>
            </a:r>
            <a:r>
              <a:rPr lang="sv-SE" altLang="zh-CN" sz="1600"/>
              <a:t> =  0, 19, 19, 0, 2, 10</a:t>
            </a:r>
            <a:endParaRPr lang="sv-SE" altLang="zh-CN" sz="1600"/>
          </a:p>
          <a:p>
            <a:pPr>
              <a:lnSpc>
                <a:spcPct val="125000"/>
              </a:lnSpc>
              <a:spcBef>
                <a:spcPct val="25000"/>
              </a:spcBef>
              <a:buClr>
                <a:srgbClr val="007AC2"/>
              </a:buClr>
              <a:buSzPct val="120000"/>
            </a:pPr>
            <a:r>
              <a:rPr lang="sv-SE" altLang="zh-CN" sz="1600"/>
              <a:t>Ciphertext = </a:t>
            </a:r>
            <a:r>
              <a:rPr lang="sv-SE" altLang="zh-CN" sz="1600">
                <a:latin typeface="Courier New" panose="02070309020205020404" pitchFamily="49" charset="0"/>
              </a:rPr>
              <a:t>haahr</a:t>
            </a:r>
            <a:r>
              <a:rPr lang="sv-SE" altLang="zh-CN" sz="1600"/>
              <a:t> = 7, 0, 0, 7, 17</a:t>
            </a:r>
            <a:endParaRPr lang="sv-SE" altLang="zh-CN" sz="1600"/>
          </a:p>
          <a:p>
            <a:pPr>
              <a:lnSpc>
                <a:spcPct val="125000"/>
              </a:lnSpc>
              <a:spcBef>
                <a:spcPct val="25000"/>
              </a:spcBef>
              <a:buClr>
                <a:srgbClr val="007AC2"/>
              </a:buClr>
              <a:buSzPct val="120000"/>
            </a:pPr>
            <a:r>
              <a:rPr lang="sv-SE" altLang="zh-CN" sz="1600"/>
              <a:t>Note that the letters ”wrap around” at the end of the alphabet, which can be mathematically be expressed as reduction modulo 26, e.g., </a:t>
            </a:r>
            <a:r>
              <a:rPr lang="sv-SE" altLang="zh-CN" sz="1600" i="1"/>
              <a:t>19 + 7 = 26 </a:t>
            </a:r>
            <a:r>
              <a:rPr lang="sv-SE" altLang="zh-CN" sz="1600" i="1">
                <a:cs typeface="Arial" panose="020B0604020202020204" pitchFamily="34" charset="0"/>
              </a:rPr>
              <a:t>≡ 0 mod 26</a:t>
            </a:r>
            <a:endParaRPr lang="sv-SE" altLang="zh-CN" sz="1600" i="1">
              <a:cs typeface="Arial" panose="020B0604020202020204" pitchFamily="34" charset="0"/>
            </a:endParaRPr>
          </a:p>
        </p:txBody>
      </p:sp>
      <p:sp>
        <p:nvSpPr>
          <p:cNvPr id="47183" name="Line 316"/>
          <p:cNvSpPr>
            <a:spLocks noChangeShapeType="1"/>
          </p:cNvSpPr>
          <p:nvPr/>
        </p:nvSpPr>
        <p:spPr bwMode="auto">
          <a:xfrm>
            <a:off x="1547813" y="3357563"/>
            <a:ext cx="6048375"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962F304-6416-9640-947E-DF30C4DB1D27}"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48132" name="Rectangle 2"/>
          <p:cNvSpPr>
            <a:spLocks noGrp="1" noChangeArrowheads="1"/>
          </p:cNvSpPr>
          <p:nvPr>
            <p:ph type="title"/>
          </p:nvPr>
        </p:nvSpPr>
        <p:spPr>
          <a:xfrm>
            <a:off x="471487" y="188913"/>
            <a:ext cx="8294687" cy="515937"/>
          </a:xfrm>
        </p:spPr>
        <p:txBody>
          <a:bodyPr/>
          <a:lstStyle/>
          <a:p>
            <a:r>
              <a:rPr lang="de-DE" altLang="zh-CN" dirty="0"/>
              <a:t>Shift (</a:t>
            </a:r>
            <a:r>
              <a:rPr lang="de-DE" altLang="zh-CN" dirty="0" err="1"/>
              <a:t>or</a:t>
            </a:r>
            <a:r>
              <a:rPr lang="de-DE" altLang="zh-CN" dirty="0"/>
              <a:t> Caesar) </a:t>
            </a:r>
            <a:r>
              <a:rPr lang="de-DE" altLang="zh-CN" dirty="0" err="1"/>
              <a:t>or</a:t>
            </a:r>
            <a:r>
              <a:rPr lang="de-DE" altLang="zh-CN" dirty="0"/>
              <a:t> </a:t>
            </a:r>
            <a:r>
              <a:rPr lang="de-DE" altLang="zh-CN" dirty="0" err="1"/>
              <a:t>Monoalphabetic</a:t>
            </a:r>
            <a:r>
              <a:rPr lang="de-DE" altLang="zh-CN" dirty="0"/>
              <a:t> Substitution </a:t>
            </a:r>
            <a:r>
              <a:rPr lang="de-DE" altLang="zh-CN" dirty="0" err="1"/>
              <a:t>Cipher</a:t>
            </a:r>
            <a:r>
              <a:rPr lang="de-DE" altLang="zh-CN" dirty="0"/>
              <a:t> (2)</a:t>
            </a:r>
            <a:endParaRPr lang="de-DE" altLang="zh-CN" dirty="0"/>
          </a:p>
        </p:txBody>
      </p:sp>
      <p:sp>
        <p:nvSpPr>
          <p:cNvPr id="48133" name="Rectangle 3"/>
          <p:cNvSpPr>
            <a:spLocks noChangeArrowheads="1"/>
          </p:cNvSpPr>
          <p:nvPr/>
        </p:nvSpPr>
        <p:spPr bwMode="auto">
          <a:xfrm>
            <a:off x="179388" y="1052513"/>
            <a:ext cx="83883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556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en-US" altLang="zh-CN" sz="1600">
                <a:ea typeface="宋体" panose="02010600030101010101" pitchFamily="2" charset="-122"/>
              </a:rPr>
              <a:t>Elegant mathematical description of the cipher.</a:t>
            </a:r>
            <a:endParaRPr lang="en-US" altLang="zh-CN" sz="1600">
              <a:ea typeface="宋体" panose="02010600030101010101" pitchFamily="2" charset="-122"/>
            </a:endParaRPr>
          </a:p>
        </p:txBody>
      </p:sp>
      <p:sp>
        <p:nvSpPr>
          <p:cNvPr id="48134" name="Rectangle 76"/>
          <p:cNvSpPr>
            <a:spLocks noChangeArrowheads="1"/>
          </p:cNvSpPr>
          <p:nvPr/>
        </p:nvSpPr>
        <p:spPr bwMode="auto">
          <a:xfrm>
            <a:off x="377825" y="3644900"/>
            <a:ext cx="8388350" cy="141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55600">
              <a:defRPr>
                <a:solidFill>
                  <a:schemeClr val="tx1"/>
                </a:solidFill>
                <a:latin typeface="Arial" panose="020B0604020202020204" pitchFamily="34" charset="0"/>
              </a:defRPr>
            </a:lvl1pPr>
            <a:lvl2pPr marL="821055"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en-US" altLang="zh-CN" sz="1600">
                <a:ea typeface="宋体" panose="02010600030101010101" pitchFamily="2" charset="-122"/>
                <a:cs typeface="Arial" panose="020B0604020202020204" pitchFamily="34" charset="0"/>
              </a:rPr>
              <a:t>Q; Is the shift cipher secure?</a:t>
            </a:r>
            <a:endParaRPr lang="en-US" altLang="zh-CN" sz="1600">
              <a:ea typeface="宋体" panose="02010600030101010101" pitchFamily="2" charset="-122"/>
              <a:cs typeface="Arial" panose="020B0604020202020204" pitchFamily="34" charset="0"/>
            </a:endParaRPr>
          </a:p>
          <a:p>
            <a:pPr>
              <a:lnSpc>
                <a:spcPct val="125000"/>
              </a:lnSpc>
              <a:spcBef>
                <a:spcPct val="25000"/>
              </a:spcBef>
              <a:buClr>
                <a:srgbClr val="007AC2"/>
              </a:buClr>
              <a:buSzPct val="120000"/>
              <a:buFontTx/>
              <a:buChar char="•"/>
            </a:pPr>
            <a:r>
              <a:rPr lang="en-US" altLang="zh-CN" sz="1600">
                <a:ea typeface="宋体" panose="02010600030101010101" pitchFamily="2" charset="-122"/>
                <a:cs typeface="Arial" panose="020B0604020202020204" pitchFamily="34" charset="0"/>
              </a:rPr>
              <a:t>A: No! several attacks are possible, including:</a:t>
            </a:r>
            <a:endParaRPr lang="en-US" altLang="zh-CN" sz="1600">
              <a:ea typeface="宋体" panose="02010600030101010101" pitchFamily="2" charset="-122"/>
              <a:cs typeface="Arial" panose="020B0604020202020204" pitchFamily="34" charset="0"/>
            </a:endParaRPr>
          </a:p>
          <a:p>
            <a:pPr lvl="1">
              <a:lnSpc>
                <a:spcPct val="125000"/>
              </a:lnSpc>
              <a:spcBef>
                <a:spcPct val="25000"/>
              </a:spcBef>
              <a:buClr>
                <a:srgbClr val="007AC2"/>
              </a:buClr>
              <a:buSzPct val="120000"/>
              <a:buFontTx/>
              <a:buChar char="•"/>
            </a:pPr>
            <a:r>
              <a:rPr lang="en-US" altLang="zh-CN" sz="1600">
                <a:ea typeface="宋体" panose="02010600030101010101" pitchFamily="2" charset="-122"/>
                <a:cs typeface="Arial" panose="020B0604020202020204" pitchFamily="34" charset="0"/>
              </a:rPr>
              <a:t>Exhaustive key search (key space is only 26!)</a:t>
            </a:r>
            <a:endParaRPr lang="en-US" altLang="zh-CN" sz="1600">
              <a:ea typeface="宋体" panose="02010600030101010101" pitchFamily="2" charset="-122"/>
              <a:cs typeface="Arial" panose="020B0604020202020204" pitchFamily="34" charset="0"/>
            </a:endParaRPr>
          </a:p>
          <a:p>
            <a:pPr lvl="1">
              <a:lnSpc>
                <a:spcPct val="125000"/>
              </a:lnSpc>
              <a:spcBef>
                <a:spcPct val="25000"/>
              </a:spcBef>
              <a:buClr>
                <a:srgbClr val="007AC2"/>
              </a:buClr>
              <a:buSzPct val="120000"/>
              <a:buFontTx/>
              <a:buChar char="•"/>
            </a:pPr>
            <a:r>
              <a:rPr lang="en-US" altLang="zh-CN" sz="1600">
                <a:ea typeface="宋体" panose="02010600030101010101" pitchFamily="2" charset="-122"/>
                <a:cs typeface="Arial" panose="020B0604020202020204" pitchFamily="34" charset="0"/>
              </a:rPr>
              <a:t>Letter frequency analysis, similar to attack against substitution cipher</a:t>
            </a:r>
            <a:endParaRPr lang="sv-SE" altLang="zh-CN" sz="1600" i="1">
              <a:cs typeface="Arial" panose="020B0604020202020204" pitchFamily="34" charset="0"/>
            </a:endParaRPr>
          </a:p>
        </p:txBody>
      </p:sp>
      <mc:AlternateContent xmlns:mc="http://schemas.openxmlformats.org/markup-compatibility/2006">
        <mc:Choice xmlns:a14="http://schemas.microsoft.com/office/drawing/2010/main" Requires="a14">
          <p:sp>
            <p:nvSpPr>
              <p:cNvPr id="48135" name="Rectangle 78"/>
              <p:cNvSpPr>
                <a:spLocks noChangeArrowheads="1"/>
              </p:cNvSpPr>
              <p:nvPr/>
            </p:nvSpPr>
            <p:spPr bwMode="auto">
              <a:xfrm>
                <a:off x="1260475" y="1784350"/>
                <a:ext cx="6624638" cy="1016176"/>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lvl1pPr marL="355600" indent="-266700">
                  <a:tabLst>
                    <a:tab pos="444500" algn="l"/>
                  </a:tabLst>
                  <a:defRPr>
                    <a:solidFill>
                      <a:schemeClr val="tx1"/>
                    </a:solidFill>
                    <a:latin typeface="Arial" panose="020B0604020202020204" pitchFamily="34" charset="0"/>
                  </a:defRPr>
                </a:lvl1pPr>
                <a:lvl2pPr marL="742950" indent="-285750">
                  <a:tabLst>
                    <a:tab pos="444500" algn="l"/>
                  </a:tabLst>
                  <a:defRPr>
                    <a:solidFill>
                      <a:schemeClr val="tx1"/>
                    </a:solidFill>
                    <a:latin typeface="Arial" panose="020B0604020202020204" pitchFamily="34" charset="0"/>
                  </a:defRPr>
                </a:lvl2pPr>
                <a:lvl3pPr marL="1143000" indent="-228600">
                  <a:tabLst>
                    <a:tab pos="444500" algn="l"/>
                  </a:tabLst>
                  <a:defRPr>
                    <a:solidFill>
                      <a:schemeClr val="tx1"/>
                    </a:solidFill>
                    <a:latin typeface="Arial" panose="020B0604020202020204" pitchFamily="34" charset="0"/>
                  </a:defRPr>
                </a:lvl3pPr>
                <a:lvl4pPr marL="1600200" indent="-228600">
                  <a:tabLst>
                    <a:tab pos="444500" algn="l"/>
                  </a:tabLst>
                  <a:defRPr>
                    <a:solidFill>
                      <a:schemeClr val="tx1"/>
                    </a:solidFill>
                    <a:latin typeface="Arial" panose="020B0604020202020204" pitchFamily="34" charset="0"/>
                  </a:defRPr>
                </a:lvl4pPr>
                <a:lvl5pPr marL="2057400" indent="-228600">
                  <a:tabLst>
                    <a:tab pos="4445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445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445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445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44500" algn="l"/>
                  </a:tabLst>
                  <a:defRPr>
                    <a:solidFill>
                      <a:schemeClr val="tx1"/>
                    </a:solidFill>
                    <a:latin typeface="Arial" panose="020B0604020202020204" pitchFamily="34" charset="0"/>
                  </a:defRPr>
                </a:lvl9pPr>
              </a:lstStyle>
              <a:p>
                <a:pPr>
                  <a:lnSpc>
                    <a:spcPct val="125000"/>
                  </a:lnSpc>
                  <a:spcBef>
                    <a:spcPct val="25000"/>
                  </a:spcBef>
                  <a:buClr>
                    <a:srgbClr val="007AC2"/>
                  </a:buClr>
                  <a:buSzPct val="120000"/>
                </a:pPr>
                <a:r>
                  <a:rPr lang="en-US" altLang="zh-CN" sz="1600" dirty="0">
                    <a:ea typeface="宋体" panose="02010600030101010101" pitchFamily="2" charset="-122"/>
                    <a:cs typeface="Arial" panose="020B0604020202020204" pitchFamily="34" charset="0"/>
                  </a:rPr>
                  <a:t>Let k, x, y </a:t>
                </a:r>
                <a14:m>
                  <m:oMath xmlns:m="http://schemas.openxmlformats.org/officeDocument/2006/math">
                    <m:r>
                      <a:rPr lang="el-GR" altLang="zh-CN" sz="1600" i="1" dirty="0" smtClean="0">
                        <a:latin typeface="Cambria Math" panose="02040503050406030204" pitchFamily="18" charset="0"/>
                        <a:ea typeface="Cambria Math" panose="02040503050406030204" pitchFamily="18" charset="0"/>
                        <a:cs typeface="Arial" panose="020B0604020202020204" pitchFamily="34" charset="0"/>
                      </a:rPr>
                      <m:t>∈</m:t>
                    </m:r>
                  </m:oMath>
                </a14:m>
                <a:r>
                  <a:rPr lang="de-DE" altLang="zh-CN" sz="1600" dirty="0">
                    <a:cs typeface="Arial" panose="020B0604020202020204" pitchFamily="34" charset="0"/>
                  </a:rPr>
                  <a:t> </a:t>
                </a:r>
                <a:r>
                  <a:rPr lang="en-US" altLang="zh-CN" sz="1600" dirty="0">
                    <a:ea typeface="宋体" panose="02010600030101010101" pitchFamily="2" charset="-122"/>
                    <a:cs typeface="Arial" panose="020B0604020202020204" pitchFamily="34" charset="0"/>
                  </a:rPr>
                  <a:t>{0,1, …, 25}</a:t>
                </a:r>
                <a:endParaRPr lang="en-US" altLang="zh-CN" sz="1600" i="1" dirty="0">
                  <a:ea typeface="宋体" panose="02010600030101010101" pitchFamily="2" charset="-122"/>
                </a:endParaRPr>
              </a:p>
              <a:p>
                <a:pPr>
                  <a:lnSpc>
                    <a:spcPct val="125000"/>
                  </a:lnSpc>
                  <a:spcBef>
                    <a:spcPct val="25000"/>
                  </a:spcBef>
                  <a:buClr>
                    <a:srgbClr val="007AC2"/>
                  </a:buClr>
                  <a:buSzPct val="120000"/>
                  <a:buFontTx/>
                  <a:buChar char="•"/>
                </a:pPr>
                <a:r>
                  <a:rPr lang="sv-SE" altLang="zh-CN" sz="1600" dirty="0" err="1"/>
                  <a:t>Encryption</a:t>
                </a:r>
                <a:r>
                  <a:rPr lang="sv-SE" altLang="zh-CN" sz="1600" dirty="0"/>
                  <a:t>: 	</a:t>
                </a:r>
                <a:r>
                  <a:rPr lang="sv-SE" altLang="zh-CN" sz="1600" i="1" dirty="0"/>
                  <a:t>y = e</a:t>
                </a:r>
                <a:r>
                  <a:rPr lang="sv-SE" altLang="zh-CN" sz="1600" i="1" baseline="-25000" dirty="0"/>
                  <a:t>k</a:t>
                </a:r>
                <a:r>
                  <a:rPr lang="sv-SE" altLang="zh-CN" sz="1600" i="1" dirty="0"/>
                  <a:t>(x) </a:t>
                </a:r>
                <a:r>
                  <a:rPr lang="sv-SE" altLang="zh-CN" sz="1600" i="1" dirty="0">
                    <a:cs typeface="Arial" panose="020B0604020202020204" pitchFamily="34" charset="0"/>
                  </a:rPr>
                  <a:t>≡</a:t>
                </a:r>
                <a:r>
                  <a:rPr lang="sv-SE" altLang="zh-CN" sz="1600" i="1" dirty="0"/>
                  <a:t> x + k mod 26</a:t>
                </a:r>
                <a:endParaRPr lang="sv-SE" altLang="zh-CN" sz="1600" i="1" dirty="0"/>
              </a:p>
              <a:p>
                <a:pPr>
                  <a:lnSpc>
                    <a:spcPct val="125000"/>
                  </a:lnSpc>
                  <a:spcBef>
                    <a:spcPct val="25000"/>
                  </a:spcBef>
                  <a:buClr>
                    <a:srgbClr val="007AC2"/>
                  </a:buClr>
                  <a:buSzPct val="120000"/>
                  <a:buFontTx/>
                  <a:buChar char="•"/>
                </a:pPr>
                <a:r>
                  <a:rPr lang="sv-SE" altLang="zh-CN" sz="1600" dirty="0" err="1"/>
                  <a:t>Decryption</a:t>
                </a:r>
                <a:r>
                  <a:rPr lang="sv-SE" altLang="zh-CN" sz="1600" dirty="0"/>
                  <a:t>: 	</a:t>
                </a:r>
                <a:r>
                  <a:rPr lang="sv-SE" altLang="zh-CN" sz="1600" i="1" dirty="0"/>
                  <a:t>x = </a:t>
                </a:r>
                <a:r>
                  <a:rPr lang="sv-SE" altLang="zh-CN" sz="1600" i="1" dirty="0" err="1"/>
                  <a:t>d</a:t>
                </a:r>
                <a:r>
                  <a:rPr lang="sv-SE" altLang="zh-CN" sz="1600" i="1" baseline="-25000" dirty="0" err="1"/>
                  <a:t>k</a:t>
                </a:r>
                <a:r>
                  <a:rPr lang="sv-SE" altLang="zh-CN" sz="1600" i="1" dirty="0"/>
                  <a:t>(x) </a:t>
                </a:r>
                <a:r>
                  <a:rPr lang="sv-SE" altLang="zh-CN" sz="1600" i="1" dirty="0">
                    <a:cs typeface="Arial" panose="020B0604020202020204" pitchFamily="34" charset="0"/>
                  </a:rPr>
                  <a:t>≡</a:t>
                </a:r>
                <a:r>
                  <a:rPr lang="sv-SE" altLang="zh-CN" sz="1600" i="1" dirty="0"/>
                  <a:t> y - k mod 26</a:t>
                </a:r>
                <a:endParaRPr lang="sv-SE" altLang="zh-CN" sz="1600" i="1" dirty="0"/>
              </a:p>
            </p:txBody>
          </p:sp>
        </mc:Choice>
        <mc:Fallback>
          <p:sp>
            <p:nvSpPr>
              <p:cNvPr id="48135" name="Rectangle 78"/>
              <p:cNvSpPr>
                <a:spLocks noRot="1" noChangeAspect="1" noMove="1" noResize="1" noEditPoints="1" noAdjustHandles="1" noChangeArrowheads="1" noChangeShapeType="1" noTextEdit="1"/>
              </p:cNvSpPr>
              <p:nvPr/>
            </p:nvSpPr>
            <p:spPr bwMode="auto">
              <a:xfrm>
                <a:off x="1260475" y="1784350"/>
                <a:ext cx="6624638" cy="1016176"/>
              </a:xfrm>
              <a:prstGeom prst="rect">
                <a:avLst/>
              </a:prstGeom>
              <a:blipFill rotWithShape="1">
                <a:blip r:embed="rId1"/>
                <a:stretch>
                  <a:fillRect l="-192" t="-1250" r="-187" b="-5982"/>
                </a:stretch>
              </a:blip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err="1"/>
              <a:t>Vigenere</a:t>
            </a:r>
            <a:r>
              <a:rPr lang="en-US" dirty="0"/>
              <a:t> cipher    </a:t>
            </a:r>
            <a:r>
              <a:rPr lang="en-US" sz="2800" dirty="0"/>
              <a:t>(16’th century,  Rome)</a:t>
            </a:r>
            <a:br>
              <a:rPr lang="en-US" sz="2800" dirty="0"/>
            </a:br>
            <a:r>
              <a:rPr lang="en-US" sz="2800" dirty="0"/>
              <a:t>--A polyalphabetic substitution cipher</a:t>
            </a:r>
            <a:endParaRPr lang="en-US" dirty="0"/>
          </a:p>
        </p:txBody>
      </p:sp>
      <p:sp>
        <p:nvSpPr>
          <p:cNvPr id="5" name="TextBox 4"/>
          <p:cNvSpPr txBox="1"/>
          <p:nvPr>
            <p:custDataLst>
              <p:tags r:id="rId1"/>
            </p:custDataLst>
          </p:nvPr>
        </p:nvSpPr>
        <p:spPr>
          <a:xfrm>
            <a:off x="433810" y="2362201"/>
            <a:ext cx="3126177"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panose="020F0502020204030204"/>
              </a:rPr>
              <a:t>k    =     </a:t>
            </a:r>
            <a:r>
              <a:rPr lang="en-US" sz="2400" b="1" dirty="0">
                <a:solidFill>
                  <a:srgbClr val="FF0000"/>
                </a:solidFill>
                <a:latin typeface="Courier New" panose="02070309020205020404" pitchFamily="49" charset="0"/>
                <a:cs typeface="Courier New" panose="02070309020205020404" pitchFamily="49" charset="0"/>
              </a:rPr>
              <a:t>C R Y P T O</a:t>
            </a:r>
            <a:endParaRPr lang="en-US" sz="2400" b="1" dirty="0">
              <a:solidFill>
                <a:srgbClr val="FF0000"/>
              </a:solidFill>
              <a:latin typeface="Courier New" panose="02070309020205020404" pitchFamily="49" charset="0"/>
              <a:cs typeface="Courier New" panose="02070309020205020404" pitchFamily="49" charset="0"/>
            </a:endParaRPr>
          </a:p>
        </p:txBody>
      </p:sp>
      <p:sp>
        <p:nvSpPr>
          <p:cNvPr id="6" name="TextBox 5"/>
          <p:cNvSpPr txBox="1"/>
          <p:nvPr>
            <p:custDataLst>
              <p:tags r:id="rId2"/>
            </p:custDataLst>
          </p:nvPr>
        </p:nvSpPr>
        <p:spPr>
          <a:xfrm>
            <a:off x="3524650" y="2362201"/>
            <a:ext cx="2212465" cy="461665"/>
          </a:xfrm>
          <a:prstGeom prst="rect">
            <a:avLst/>
          </a:prstGeom>
          <a:noFill/>
        </p:spPr>
        <p:txBody>
          <a:bodyPr wrap="none" rtlCol="0">
            <a:spAutoFit/>
          </a:bodyPr>
          <a:lstStyle/>
          <a:p>
            <a:pPr eaLnBrk="1" fontAlgn="auto" hangingPunct="1">
              <a:spcBef>
                <a:spcPts val="0"/>
              </a:spcBef>
              <a:spcAft>
                <a:spcPts val="0"/>
              </a:spcAft>
            </a:pPr>
            <a:r>
              <a:rPr lang="en-US" sz="2400" b="1" dirty="0">
                <a:solidFill>
                  <a:srgbClr val="FF0000"/>
                </a:solidFill>
                <a:latin typeface="Courier New" panose="02070309020205020404" pitchFamily="49" charset="0"/>
                <a:cs typeface="Courier New" panose="02070309020205020404" pitchFamily="49" charset="0"/>
              </a:rPr>
              <a:t>C R Y P T O</a:t>
            </a:r>
            <a:endParaRPr lang="en-US" sz="2400" b="1" dirty="0">
              <a:solidFill>
                <a:srgbClr val="FF0000"/>
              </a:solidFill>
              <a:latin typeface="Courier New" panose="02070309020205020404" pitchFamily="49" charset="0"/>
              <a:cs typeface="Courier New" panose="02070309020205020404" pitchFamily="49" charset="0"/>
            </a:endParaRPr>
          </a:p>
        </p:txBody>
      </p:sp>
      <p:sp>
        <p:nvSpPr>
          <p:cNvPr id="7" name="TextBox 6"/>
          <p:cNvSpPr txBox="1"/>
          <p:nvPr>
            <p:custDataLst>
              <p:tags r:id="rId3"/>
            </p:custDataLst>
          </p:nvPr>
        </p:nvSpPr>
        <p:spPr>
          <a:xfrm>
            <a:off x="116309" y="2967336"/>
            <a:ext cx="7699544"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panose="020F0502020204030204"/>
              </a:rPr>
              <a:t>    </a:t>
            </a:r>
            <a:r>
              <a:rPr lang="en-US" sz="2400" dirty="0" err="1">
                <a:solidFill>
                  <a:prstClr val="black"/>
                </a:solidFill>
                <a:latin typeface="Calibri" panose="020F0502020204030204"/>
              </a:rPr>
              <a:t>m</a:t>
            </a:r>
            <a:r>
              <a:rPr lang="en-US" sz="2400" dirty="0">
                <a:solidFill>
                  <a:prstClr val="black"/>
                </a:solidFill>
                <a:latin typeface="Calibri" panose="020F0502020204030204"/>
              </a:rPr>
              <a:t>   =     </a:t>
            </a:r>
            <a:r>
              <a:rPr lang="en-US" sz="2400" b="1" dirty="0">
                <a:solidFill>
                  <a:prstClr val="black"/>
                </a:solidFill>
                <a:latin typeface="Courier New" panose="02070309020205020404"/>
                <a:cs typeface="Courier New" panose="02070309020205020404"/>
              </a:rPr>
              <a:t>W H A T A N I C E D A Y T O D A Y</a:t>
            </a:r>
            <a:endParaRPr lang="en-US" sz="2400" b="1" dirty="0">
              <a:solidFill>
                <a:prstClr val="black"/>
              </a:solidFill>
              <a:latin typeface="Courier New" panose="02070309020205020404"/>
              <a:cs typeface="Courier New" panose="02070309020205020404"/>
            </a:endParaRPr>
          </a:p>
        </p:txBody>
      </p:sp>
      <p:sp>
        <p:nvSpPr>
          <p:cNvPr id="9" name="TextBox 8"/>
          <p:cNvSpPr txBox="1"/>
          <p:nvPr>
            <p:custDataLst>
              <p:tags r:id="rId4"/>
            </p:custDataLst>
          </p:nvPr>
        </p:nvSpPr>
        <p:spPr>
          <a:xfrm>
            <a:off x="5698880" y="2362201"/>
            <a:ext cx="2028119" cy="461665"/>
          </a:xfrm>
          <a:prstGeom prst="rect">
            <a:avLst/>
          </a:prstGeom>
          <a:noFill/>
        </p:spPr>
        <p:txBody>
          <a:bodyPr wrap="none" rtlCol="0">
            <a:spAutoFit/>
          </a:bodyPr>
          <a:lstStyle/>
          <a:p>
            <a:pPr eaLnBrk="1" fontAlgn="auto" hangingPunct="1">
              <a:spcBef>
                <a:spcPts val="0"/>
              </a:spcBef>
              <a:spcAft>
                <a:spcPts val="0"/>
              </a:spcAft>
            </a:pPr>
            <a:r>
              <a:rPr lang="en-US" sz="2400" b="1" dirty="0">
                <a:solidFill>
                  <a:srgbClr val="FF0000"/>
                </a:solidFill>
                <a:latin typeface="Courier New" panose="02070309020205020404" pitchFamily="49" charset="0"/>
                <a:cs typeface="Courier New" panose="02070309020205020404" pitchFamily="49" charset="0"/>
              </a:rPr>
              <a:t>C R Y P T </a:t>
            </a:r>
            <a:endParaRPr lang="en-US" sz="2400" b="1" dirty="0">
              <a:solidFill>
                <a:srgbClr val="FF0000"/>
              </a:solidFill>
              <a:latin typeface="Courier New" panose="02070309020205020404" pitchFamily="49" charset="0"/>
              <a:cs typeface="Courier New" panose="02070309020205020404" pitchFamily="49" charset="0"/>
            </a:endParaRPr>
          </a:p>
        </p:txBody>
      </p:sp>
      <p:sp>
        <p:nvSpPr>
          <p:cNvPr id="10" name="Rectangle 9"/>
          <p:cNvSpPr/>
          <p:nvPr>
            <p:custDataLst>
              <p:tags r:id="rId5"/>
            </p:custDataLst>
          </p:nvPr>
        </p:nvSpPr>
        <p:spPr>
          <a:xfrm>
            <a:off x="1332969" y="2400300"/>
            <a:ext cx="2191680" cy="3810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latin typeface="Calibri" panose="020F0502020204030204"/>
            </a:endParaRPr>
          </a:p>
        </p:txBody>
      </p:sp>
      <p:cxnSp>
        <p:nvCxnSpPr>
          <p:cNvPr id="12" name="Straight Connector 11"/>
          <p:cNvCxnSpPr/>
          <p:nvPr/>
        </p:nvCxnSpPr>
        <p:spPr>
          <a:xfrm>
            <a:off x="90909" y="3657600"/>
            <a:ext cx="83058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596610" y="2679700"/>
            <a:ext cx="1318791" cy="400110"/>
          </a:xfrm>
          <a:prstGeom prst="rect">
            <a:avLst/>
          </a:prstGeom>
          <a:noFill/>
        </p:spPr>
        <p:txBody>
          <a:bodyPr wrap="none" rtlCol="0">
            <a:spAutoFit/>
          </a:bodyPr>
          <a:lstStyle/>
          <a:p>
            <a:pPr eaLnBrk="1" fontAlgn="auto" hangingPunct="1">
              <a:spcBef>
                <a:spcPts val="0"/>
              </a:spcBef>
              <a:spcAft>
                <a:spcPts val="0"/>
              </a:spcAft>
            </a:pPr>
            <a:r>
              <a:rPr lang="en-US" sz="2000" dirty="0">
                <a:solidFill>
                  <a:prstClr val="black"/>
                </a:solidFill>
                <a:latin typeface="Calibri" panose="020F0502020204030204"/>
              </a:rPr>
              <a:t>(+ mod 26)</a:t>
            </a:r>
            <a:endParaRPr lang="en-US" sz="2000" dirty="0">
              <a:solidFill>
                <a:prstClr val="black"/>
              </a:solidFill>
              <a:latin typeface="Calibri" panose="020F0502020204030204"/>
            </a:endParaRPr>
          </a:p>
        </p:txBody>
      </p:sp>
      <p:sp>
        <p:nvSpPr>
          <p:cNvPr id="14" name="TextBox 13"/>
          <p:cNvSpPr txBox="1"/>
          <p:nvPr/>
        </p:nvSpPr>
        <p:spPr>
          <a:xfrm>
            <a:off x="90910" y="3881736"/>
            <a:ext cx="7701147"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panose="020F0502020204030204"/>
              </a:rPr>
              <a:t>      </a:t>
            </a:r>
            <a:r>
              <a:rPr lang="en-US" sz="2400" dirty="0" err="1">
                <a:solidFill>
                  <a:prstClr val="black"/>
                </a:solidFill>
                <a:latin typeface="Calibri" panose="020F0502020204030204"/>
              </a:rPr>
              <a:t>c</a:t>
            </a:r>
            <a:r>
              <a:rPr lang="en-US" sz="2400" dirty="0">
                <a:solidFill>
                  <a:prstClr val="black"/>
                </a:solidFill>
                <a:latin typeface="Calibri" panose="020F0502020204030204"/>
              </a:rPr>
              <a:t>   =     </a:t>
            </a:r>
            <a:r>
              <a:rPr lang="en-US" sz="2400" b="1" dirty="0">
                <a:solidFill>
                  <a:prstClr val="black"/>
                </a:solidFill>
                <a:latin typeface="Courier New" panose="02070309020205020404" pitchFamily="49" charset="0"/>
                <a:cs typeface="Courier New" panose="02070309020205020404" pitchFamily="49" charset="0"/>
              </a:rPr>
              <a:t>Z Z Z J U C L U D T U N W G C Q S</a:t>
            </a:r>
            <a:r>
              <a:rPr lang="en-US" sz="2400" b="1" dirty="0">
                <a:solidFill>
                  <a:prstClr val="black"/>
                </a:solidFill>
                <a:latin typeface="Courier"/>
                <a:cs typeface="Courier"/>
              </a:rPr>
              <a:t> </a:t>
            </a:r>
            <a:endParaRPr lang="en-US" sz="2400" b="1" dirty="0">
              <a:solidFill>
                <a:prstClr val="black"/>
              </a:solidFill>
              <a:latin typeface="Courier"/>
              <a:cs typeface="Courier"/>
            </a:endParaRPr>
          </a:p>
        </p:txBody>
      </p:sp>
      <p:grpSp>
        <p:nvGrpSpPr>
          <p:cNvPr id="11" name="Group 10"/>
          <p:cNvGrpSpPr/>
          <p:nvPr/>
        </p:nvGrpSpPr>
        <p:grpSpPr>
          <a:xfrm>
            <a:off x="609578" y="5486400"/>
            <a:ext cx="7467622" cy="400110"/>
            <a:chOff x="228600" y="4629150"/>
            <a:chExt cx="7467622" cy="400110"/>
          </a:xfrm>
        </p:grpSpPr>
        <p:sp>
          <p:nvSpPr>
            <p:cNvPr id="4" name="TextBox 3"/>
            <p:cNvSpPr txBox="1"/>
            <p:nvPr/>
          </p:nvSpPr>
          <p:spPr>
            <a:xfrm>
              <a:off x="228600" y="4629150"/>
              <a:ext cx="7467622" cy="400110"/>
            </a:xfrm>
            <a:prstGeom prst="rect">
              <a:avLst/>
            </a:prstGeom>
            <a:noFill/>
          </p:spPr>
          <p:txBody>
            <a:bodyPr wrap="none" rtlCol="0">
              <a:spAutoFit/>
            </a:bodyPr>
            <a:lstStyle/>
            <a:p>
              <a:pPr eaLnBrk="1" fontAlgn="auto" hangingPunct="1">
                <a:spcBef>
                  <a:spcPts val="0"/>
                </a:spcBef>
                <a:spcAft>
                  <a:spcPts val="0"/>
                </a:spcAft>
              </a:pPr>
              <a:r>
                <a:rPr lang="en-US" sz="2000" dirty="0">
                  <a:solidFill>
                    <a:prstClr val="black"/>
                  </a:solidFill>
                  <a:latin typeface="Calibri" panose="020F0502020204030204"/>
                </a:rPr>
                <a:t>suppose most common = “H”            first letter of key = “H” – “E” = “C”</a:t>
              </a:r>
              <a:endParaRPr lang="en-US" sz="2000" dirty="0">
                <a:solidFill>
                  <a:prstClr val="black"/>
                </a:solidFill>
                <a:latin typeface="Calibri" panose="020F0502020204030204"/>
              </a:endParaRPr>
            </a:p>
          </p:txBody>
        </p:sp>
        <p:sp>
          <p:nvSpPr>
            <p:cNvPr id="8" name="Right Arrow 7"/>
            <p:cNvSpPr/>
            <p:nvPr/>
          </p:nvSpPr>
          <p:spPr>
            <a:xfrm>
              <a:off x="3471309" y="4781551"/>
              <a:ext cx="285351" cy="933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latin typeface="Calibri" panose="020F0502020204030204"/>
              </a:endParaRPr>
            </a:p>
          </p:txBody>
        </p:sp>
      </p:grpSp>
      <mc:AlternateContent xmlns:mc="http://schemas.openxmlformats.org/markup-compatibility/2006" xmlns:p14="http://schemas.microsoft.com/office/powerpoint/2010/main">
        <mc:Choice Requires="p14">
          <p:contentPart r:id="rId6" p14:bwMode="auto">
            <p14:nvContentPartPr>
              <p14:cNvPr id="2" name="Ink 1"/>
              <p14:cNvContentPartPr/>
              <p14:nvPr/>
            </p14:nvContentPartPr>
            <p14:xfrm>
              <a:off x="1404360" y="3817530"/>
              <a:ext cx="4495320" cy="786600"/>
            </p14:xfrm>
          </p:contentPart>
        </mc:Choice>
        <mc:Fallback xmlns="">
          <p:pic>
            <p:nvPicPr>
              <p:cNvPr id="2" name="Ink 1"/>
            </p:nvPicPr>
            <p:blipFill>
              <a:blip r:embed="rId7"/>
            </p:blipFill>
            <p:spPr>
              <a:xfrm>
                <a:off x="1404360" y="3817530"/>
                <a:ext cx="4495320" cy="78660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3" grpId="0"/>
      <p:bldP spid="1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D974978-8587-CE4D-8914-4592326B6A7E}"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49156" name="Rectangle 2"/>
          <p:cNvSpPr>
            <a:spLocks noGrp="1" noChangeArrowheads="1"/>
          </p:cNvSpPr>
          <p:nvPr>
            <p:ph type="title"/>
          </p:nvPr>
        </p:nvSpPr>
        <p:spPr>
          <a:xfrm>
            <a:off x="471488" y="188913"/>
            <a:ext cx="6462712" cy="515937"/>
          </a:xfrm>
        </p:spPr>
        <p:txBody>
          <a:bodyPr/>
          <a:lstStyle/>
          <a:p>
            <a:r>
              <a:rPr lang="de-DE" altLang="zh-CN"/>
              <a:t>Affine Cipher (1)</a:t>
            </a:r>
            <a:endParaRPr lang="de-DE" altLang="zh-CN"/>
          </a:p>
        </p:txBody>
      </p:sp>
      <p:sp>
        <p:nvSpPr>
          <p:cNvPr id="49157" name="Rectangle 3"/>
          <p:cNvSpPr>
            <a:spLocks noChangeArrowheads="1"/>
          </p:cNvSpPr>
          <p:nvPr/>
        </p:nvSpPr>
        <p:spPr bwMode="auto">
          <a:xfrm>
            <a:off x="179388" y="1052513"/>
            <a:ext cx="838835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556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en-US" altLang="zh-CN" sz="1600">
                <a:ea typeface="宋体" panose="02010600030101010101" pitchFamily="2" charset="-122"/>
              </a:rPr>
              <a:t>Extension of the shift cipher: rather than just adding the key to the plaintext, we also multiply by the key</a:t>
            </a:r>
            <a:endParaRPr lang="en-US" altLang="zh-CN" sz="1600">
              <a:ea typeface="宋体" panose="02010600030101010101" pitchFamily="2" charset="-122"/>
            </a:endParaRPr>
          </a:p>
          <a:p>
            <a:pPr>
              <a:lnSpc>
                <a:spcPct val="125000"/>
              </a:lnSpc>
              <a:spcBef>
                <a:spcPct val="25000"/>
              </a:spcBef>
              <a:buClr>
                <a:srgbClr val="007AC2"/>
              </a:buClr>
              <a:buSzPct val="120000"/>
              <a:buFontTx/>
              <a:buChar char="•"/>
            </a:pPr>
            <a:r>
              <a:rPr lang="en-US" altLang="zh-CN" sz="1600">
                <a:ea typeface="宋体" panose="02010600030101010101" pitchFamily="2" charset="-122"/>
              </a:rPr>
              <a:t>We use for this a key consisting of two parts: k = (a, b)</a:t>
            </a:r>
            <a:endParaRPr lang="en-US" altLang="zh-CN" sz="1600">
              <a:ea typeface="宋体" panose="02010600030101010101" pitchFamily="2" charset="-122"/>
            </a:endParaRPr>
          </a:p>
        </p:txBody>
      </p:sp>
      <p:sp>
        <p:nvSpPr>
          <p:cNvPr id="49158" name="Rectangle 76"/>
          <p:cNvSpPr>
            <a:spLocks noChangeArrowheads="1"/>
          </p:cNvSpPr>
          <p:nvPr/>
        </p:nvSpPr>
        <p:spPr bwMode="auto">
          <a:xfrm>
            <a:off x="179388" y="3716338"/>
            <a:ext cx="8388350" cy="2461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55600">
              <a:defRPr>
                <a:solidFill>
                  <a:schemeClr val="tx1"/>
                </a:solidFill>
                <a:latin typeface="Arial" panose="020B0604020202020204" pitchFamily="34" charset="0"/>
              </a:defRPr>
            </a:lvl1pPr>
            <a:lvl2pPr marL="821055"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25000"/>
              </a:lnSpc>
              <a:spcBef>
                <a:spcPct val="25000"/>
              </a:spcBef>
              <a:buClr>
                <a:srgbClr val="007AC2"/>
              </a:buClr>
              <a:buSzPct val="120000"/>
              <a:buFontTx/>
              <a:buChar char="•"/>
            </a:pPr>
            <a:r>
              <a:rPr lang="en-US" altLang="zh-CN" sz="1600">
                <a:ea typeface="宋体" panose="02010600030101010101" pitchFamily="2" charset="-122"/>
                <a:cs typeface="Arial" panose="020B0604020202020204" pitchFamily="34" charset="0"/>
              </a:rPr>
              <a:t>Since the inverse of </a:t>
            </a:r>
            <a:r>
              <a:rPr lang="en-US" altLang="zh-CN" sz="1600" i="1">
                <a:ea typeface="宋体" panose="02010600030101010101" pitchFamily="2" charset="-122"/>
                <a:cs typeface="Arial" panose="020B0604020202020204" pitchFamily="34" charset="0"/>
              </a:rPr>
              <a:t>a</a:t>
            </a:r>
            <a:r>
              <a:rPr lang="en-US" altLang="zh-CN" sz="1600">
                <a:ea typeface="宋体" panose="02010600030101010101" pitchFamily="2" charset="-122"/>
                <a:cs typeface="Arial" panose="020B0604020202020204" pitchFamily="34" charset="0"/>
              </a:rPr>
              <a:t> is needed for inversion, we can only use values for</a:t>
            </a:r>
            <a:r>
              <a:rPr lang="en-US" altLang="zh-CN" sz="1600" i="1">
                <a:ea typeface="宋体" panose="02010600030101010101" pitchFamily="2" charset="-122"/>
                <a:cs typeface="Arial" panose="020B0604020202020204" pitchFamily="34" charset="0"/>
              </a:rPr>
              <a:t> a</a:t>
            </a:r>
            <a:r>
              <a:rPr lang="en-US" altLang="zh-CN" sz="1600">
                <a:ea typeface="宋体" panose="02010600030101010101" pitchFamily="2" charset="-122"/>
                <a:cs typeface="Arial" panose="020B0604020202020204" pitchFamily="34" charset="0"/>
              </a:rPr>
              <a:t> for which:</a:t>
            </a:r>
            <a:endParaRPr lang="en-US" altLang="zh-CN" sz="1600">
              <a:ea typeface="宋体" panose="02010600030101010101" pitchFamily="2" charset="-122"/>
              <a:cs typeface="Arial" panose="020B0604020202020204" pitchFamily="34" charset="0"/>
            </a:endParaRPr>
          </a:p>
          <a:p>
            <a:pPr algn="ctr">
              <a:lnSpc>
                <a:spcPct val="125000"/>
              </a:lnSpc>
              <a:spcBef>
                <a:spcPct val="25000"/>
              </a:spcBef>
              <a:buClr>
                <a:srgbClr val="007AC2"/>
              </a:buClr>
              <a:buSzPct val="120000"/>
            </a:pPr>
            <a:r>
              <a:rPr lang="en-US" altLang="zh-CN" sz="1600">
                <a:ea typeface="宋体" panose="02010600030101010101" pitchFamily="2" charset="-122"/>
                <a:cs typeface="Arial" panose="020B0604020202020204" pitchFamily="34" charset="0"/>
              </a:rPr>
              <a:t>gcd(</a:t>
            </a:r>
            <a:r>
              <a:rPr lang="en-US" altLang="zh-CN" sz="1600" i="1">
                <a:ea typeface="宋体" panose="02010600030101010101" pitchFamily="2" charset="-122"/>
                <a:cs typeface="Arial" panose="020B0604020202020204" pitchFamily="34" charset="0"/>
              </a:rPr>
              <a:t>a</a:t>
            </a:r>
            <a:r>
              <a:rPr lang="en-US" altLang="zh-CN" sz="1600">
                <a:ea typeface="宋体" panose="02010600030101010101" pitchFamily="2" charset="-122"/>
                <a:cs typeface="Arial" panose="020B0604020202020204" pitchFamily="34" charset="0"/>
              </a:rPr>
              <a:t>, 26) = 1</a:t>
            </a:r>
            <a:endParaRPr lang="en-US" altLang="zh-CN" sz="1600">
              <a:ea typeface="宋体" panose="02010600030101010101" pitchFamily="2" charset="-122"/>
              <a:cs typeface="Arial" panose="020B0604020202020204" pitchFamily="34" charset="0"/>
            </a:endParaRPr>
          </a:p>
          <a:p>
            <a:pPr>
              <a:lnSpc>
                <a:spcPct val="125000"/>
              </a:lnSpc>
              <a:spcBef>
                <a:spcPct val="25000"/>
              </a:spcBef>
              <a:buClr>
                <a:srgbClr val="007AC2"/>
              </a:buClr>
              <a:buSzPct val="120000"/>
            </a:pPr>
            <a:r>
              <a:rPr lang="en-US" altLang="zh-CN" sz="1600" i="1">
                <a:ea typeface="宋体" panose="02010600030101010101" pitchFamily="2" charset="-122"/>
              </a:rPr>
              <a:t>	</a:t>
            </a:r>
            <a:r>
              <a:rPr lang="en-US" altLang="zh-CN" sz="1600">
                <a:ea typeface="宋体" panose="02010600030101010101" pitchFamily="2" charset="-122"/>
              </a:rPr>
              <a:t>There are 12 values for </a:t>
            </a:r>
            <a:r>
              <a:rPr lang="en-US" altLang="zh-CN" sz="1600" i="1">
                <a:ea typeface="宋体" panose="02010600030101010101" pitchFamily="2" charset="-122"/>
              </a:rPr>
              <a:t>a</a:t>
            </a:r>
            <a:r>
              <a:rPr lang="en-US" altLang="zh-CN" sz="1600">
                <a:ea typeface="宋体" panose="02010600030101010101" pitchFamily="2" charset="-122"/>
              </a:rPr>
              <a:t> that fulfill this condition.</a:t>
            </a:r>
            <a:endParaRPr lang="en-US" altLang="zh-CN" sz="1600">
              <a:ea typeface="宋体" panose="02010600030101010101" pitchFamily="2" charset="-122"/>
            </a:endParaRPr>
          </a:p>
          <a:p>
            <a:pPr>
              <a:lnSpc>
                <a:spcPct val="125000"/>
              </a:lnSpc>
              <a:spcBef>
                <a:spcPct val="25000"/>
              </a:spcBef>
              <a:buClr>
                <a:srgbClr val="007AC2"/>
              </a:buClr>
              <a:buSzPct val="120000"/>
              <a:buFontTx/>
              <a:buChar char="•"/>
            </a:pPr>
            <a:r>
              <a:rPr lang="sv-SE" altLang="zh-CN" sz="1600"/>
              <a:t>From this follows that the key space is only 12 x 26 = 312 </a:t>
            </a:r>
            <a:r>
              <a:rPr lang="zh-CN" altLang="sv-SE" sz="1600">
                <a:ea typeface="宋体" panose="02010600030101010101" pitchFamily="2" charset="-122"/>
              </a:rPr>
              <a:t>（</a:t>
            </a:r>
            <a:r>
              <a:rPr lang="en-US" altLang="zh-CN" sz="1600">
                <a:ea typeface="宋体" panose="02010600030101010101" pitchFamily="2" charset="-122"/>
              </a:rPr>
              <a:t>a:12 b:26</a:t>
            </a:r>
            <a:r>
              <a:rPr lang="zh-CN" altLang="sv-SE" sz="1600">
                <a:ea typeface="宋体" panose="02010600030101010101" pitchFamily="2" charset="-122"/>
              </a:rPr>
              <a:t>）</a:t>
            </a:r>
            <a:endParaRPr lang="sv-SE" altLang="zh-CN" sz="1600"/>
          </a:p>
          <a:p>
            <a:pPr>
              <a:lnSpc>
                <a:spcPct val="125000"/>
              </a:lnSpc>
              <a:spcBef>
                <a:spcPct val="25000"/>
              </a:spcBef>
              <a:buClr>
                <a:srgbClr val="007AC2"/>
              </a:buClr>
              <a:buSzPct val="120000"/>
              <a:buFontTx/>
              <a:buChar char="•"/>
            </a:pPr>
            <a:r>
              <a:rPr lang="en-US" altLang="zh-CN" sz="1600">
                <a:ea typeface="宋体" panose="02010600030101010101" pitchFamily="2" charset="-122"/>
                <a:cs typeface="Arial" panose="020B0604020202020204" pitchFamily="34" charset="0"/>
              </a:rPr>
              <a:t>Again, several attacks are possible, including:</a:t>
            </a:r>
            <a:endParaRPr lang="en-US" altLang="zh-CN" sz="1600">
              <a:ea typeface="宋体" panose="02010600030101010101" pitchFamily="2" charset="-122"/>
              <a:cs typeface="Arial" panose="020B0604020202020204" pitchFamily="34" charset="0"/>
            </a:endParaRPr>
          </a:p>
          <a:p>
            <a:pPr lvl="1">
              <a:lnSpc>
                <a:spcPct val="125000"/>
              </a:lnSpc>
              <a:spcBef>
                <a:spcPct val="25000"/>
              </a:spcBef>
              <a:buClr>
                <a:srgbClr val="007AC2"/>
              </a:buClr>
              <a:buSzPct val="120000"/>
              <a:buFontTx/>
              <a:buChar char="•"/>
            </a:pPr>
            <a:r>
              <a:rPr lang="en-US" altLang="zh-CN" sz="1600">
                <a:ea typeface="宋体" panose="02010600030101010101" pitchFamily="2" charset="-122"/>
                <a:cs typeface="Arial" panose="020B0604020202020204" pitchFamily="34" charset="0"/>
              </a:rPr>
              <a:t>Exhaustive key search and letter frequency analysis, similar to the attack against the substitution cipher</a:t>
            </a:r>
            <a:endParaRPr lang="sv-SE" altLang="zh-CN" sz="1600">
              <a:cs typeface="Arial" panose="020B0604020202020204" pitchFamily="34" charset="0"/>
            </a:endParaRPr>
          </a:p>
        </p:txBody>
      </p:sp>
      <mc:AlternateContent xmlns:mc="http://schemas.openxmlformats.org/markup-compatibility/2006">
        <mc:Choice xmlns:a14="http://schemas.microsoft.com/office/drawing/2010/main" Requires="a14">
          <p:sp>
            <p:nvSpPr>
              <p:cNvPr id="49159" name="Rectangle 78"/>
              <p:cNvSpPr>
                <a:spLocks noChangeArrowheads="1"/>
              </p:cNvSpPr>
              <p:nvPr/>
            </p:nvSpPr>
            <p:spPr bwMode="auto">
              <a:xfrm>
                <a:off x="1042988" y="2420938"/>
                <a:ext cx="6624637" cy="1016176"/>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lIns="0" tIns="0" rIns="0" bIns="0">
                <a:spAutoFit/>
              </a:bodyPr>
              <a:lstStyle>
                <a:lvl1pPr marL="355600" indent="-266700">
                  <a:tabLst>
                    <a:tab pos="444500" algn="l"/>
                  </a:tabLst>
                  <a:defRPr>
                    <a:solidFill>
                      <a:schemeClr val="tx1"/>
                    </a:solidFill>
                    <a:latin typeface="Arial" panose="020B0604020202020204" pitchFamily="34" charset="0"/>
                  </a:defRPr>
                </a:lvl1pPr>
                <a:lvl2pPr marL="742950" indent="-285750">
                  <a:tabLst>
                    <a:tab pos="444500" algn="l"/>
                  </a:tabLst>
                  <a:defRPr>
                    <a:solidFill>
                      <a:schemeClr val="tx1"/>
                    </a:solidFill>
                    <a:latin typeface="Arial" panose="020B0604020202020204" pitchFamily="34" charset="0"/>
                  </a:defRPr>
                </a:lvl2pPr>
                <a:lvl3pPr marL="1143000" indent="-228600">
                  <a:tabLst>
                    <a:tab pos="444500" algn="l"/>
                  </a:tabLst>
                  <a:defRPr>
                    <a:solidFill>
                      <a:schemeClr val="tx1"/>
                    </a:solidFill>
                    <a:latin typeface="Arial" panose="020B0604020202020204" pitchFamily="34" charset="0"/>
                  </a:defRPr>
                </a:lvl3pPr>
                <a:lvl4pPr marL="1600200" indent="-228600">
                  <a:tabLst>
                    <a:tab pos="444500" algn="l"/>
                  </a:tabLst>
                  <a:defRPr>
                    <a:solidFill>
                      <a:schemeClr val="tx1"/>
                    </a:solidFill>
                    <a:latin typeface="Arial" panose="020B0604020202020204" pitchFamily="34" charset="0"/>
                  </a:defRPr>
                </a:lvl4pPr>
                <a:lvl5pPr marL="2057400" indent="-228600">
                  <a:tabLst>
                    <a:tab pos="4445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445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445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445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44500" algn="l"/>
                  </a:tabLst>
                  <a:defRPr>
                    <a:solidFill>
                      <a:schemeClr val="tx1"/>
                    </a:solidFill>
                    <a:latin typeface="Arial" panose="020B0604020202020204" pitchFamily="34" charset="0"/>
                  </a:defRPr>
                </a:lvl9pPr>
              </a:lstStyle>
              <a:p>
                <a:pPr>
                  <a:lnSpc>
                    <a:spcPct val="125000"/>
                  </a:lnSpc>
                  <a:spcBef>
                    <a:spcPct val="25000"/>
                  </a:spcBef>
                  <a:buClr>
                    <a:srgbClr val="007AC2"/>
                  </a:buClr>
                  <a:buSzPct val="120000"/>
                </a:pPr>
                <a:r>
                  <a:rPr lang="en-US" altLang="zh-CN" sz="1600" dirty="0">
                    <a:ea typeface="宋体" panose="02010600030101010101" pitchFamily="2" charset="-122"/>
                    <a:cs typeface="Arial" panose="020B0604020202020204" pitchFamily="34" charset="0"/>
                  </a:rPr>
                  <a:t>Let k, x, y </a:t>
                </a:r>
                <a14:m>
                  <m:oMath xmlns:m="http://schemas.openxmlformats.org/officeDocument/2006/math">
                    <m:r>
                      <a:rPr lang="el-GR" altLang="zh-CN" sz="1600" i="1" dirty="0" smtClean="0">
                        <a:latin typeface="Cambria Math" panose="02040503050406030204" pitchFamily="18" charset="0"/>
                        <a:ea typeface="Cambria Math" panose="02040503050406030204" pitchFamily="18" charset="0"/>
                        <a:cs typeface="Arial" panose="020B0604020202020204" pitchFamily="34" charset="0"/>
                      </a:rPr>
                      <m:t>∈</m:t>
                    </m:r>
                  </m:oMath>
                </a14:m>
                <a:r>
                  <a:rPr lang="de-DE" altLang="zh-CN" sz="1600" dirty="0">
                    <a:cs typeface="Arial" panose="020B0604020202020204" pitchFamily="34" charset="0"/>
                  </a:rPr>
                  <a:t> </a:t>
                </a:r>
                <a:r>
                  <a:rPr lang="en-US" altLang="zh-CN" sz="1600" dirty="0">
                    <a:ea typeface="宋体" panose="02010600030101010101" pitchFamily="2" charset="-122"/>
                    <a:cs typeface="Arial" panose="020B0604020202020204" pitchFamily="34" charset="0"/>
                  </a:rPr>
                  <a:t>{0,1, …, 25}</a:t>
                </a:r>
                <a:endParaRPr lang="en-US" altLang="zh-CN" sz="1600" i="1" dirty="0">
                  <a:ea typeface="宋体" panose="02010600030101010101" pitchFamily="2" charset="-122"/>
                </a:endParaRPr>
              </a:p>
              <a:p>
                <a:pPr>
                  <a:lnSpc>
                    <a:spcPct val="125000"/>
                  </a:lnSpc>
                  <a:spcBef>
                    <a:spcPct val="25000"/>
                  </a:spcBef>
                  <a:buClr>
                    <a:srgbClr val="007AC2"/>
                  </a:buClr>
                  <a:buSzPct val="120000"/>
                  <a:buFontTx/>
                  <a:buChar char="•"/>
                </a:pPr>
                <a:r>
                  <a:rPr lang="sv-SE" altLang="zh-CN" sz="1600" dirty="0" err="1"/>
                  <a:t>Encryption</a:t>
                </a:r>
                <a:r>
                  <a:rPr lang="sv-SE" altLang="zh-CN" sz="1600" dirty="0"/>
                  <a:t>: 	</a:t>
                </a:r>
                <a:r>
                  <a:rPr lang="sv-SE" altLang="zh-CN" sz="1600" i="1" dirty="0"/>
                  <a:t>y = e</a:t>
                </a:r>
                <a:r>
                  <a:rPr lang="sv-SE" altLang="zh-CN" sz="1600" i="1" baseline="-25000" dirty="0"/>
                  <a:t>k</a:t>
                </a:r>
                <a:r>
                  <a:rPr lang="sv-SE" altLang="zh-CN" sz="1600" i="1" dirty="0"/>
                  <a:t>(x) </a:t>
                </a:r>
                <a:r>
                  <a:rPr lang="sv-SE" altLang="zh-CN" sz="1600" i="1" dirty="0">
                    <a:cs typeface="Arial" panose="020B0604020202020204" pitchFamily="34" charset="0"/>
                  </a:rPr>
                  <a:t>≡</a:t>
                </a:r>
                <a:r>
                  <a:rPr lang="sv-SE" altLang="zh-CN" sz="1600" i="1" dirty="0"/>
                  <a:t> a x + b mod 26</a:t>
                </a:r>
                <a:endParaRPr lang="sv-SE" altLang="zh-CN" sz="1600" i="1" dirty="0"/>
              </a:p>
              <a:p>
                <a:pPr>
                  <a:lnSpc>
                    <a:spcPct val="125000"/>
                  </a:lnSpc>
                  <a:spcBef>
                    <a:spcPct val="25000"/>
                  </a:spcBef>
                  <a:buClr>
                    <a:srgbClr val="007AC2"/>
                  </a:buClr>
                  <a:buSzPct val="120000"/>
                  <a:buFontTx/>
                  <a:buChar char="•"/>
                </a:pPr>
                <a:r>
                  <a:rPr lang="sv-SE" altLang="zh-CN" sz="1600" dirty="0" err="1"/>
                  <a:t>Decryption</a:t>
                </a:r>
                <a:r>
                  <a:rPr lang="sv-SE" altLang="zh-CN" sz="1600" dirty="0"/>
                  <a:t>: 	</a:t>
                </a:r>
                <a:r>
                  <a:rPr lang="sv-SE" altLang="zh-CN" sz="1600" i="1" dirty="0"/>
                  <a:t>x = </a:t>
                </a:r>
                <a:r>
                  <a:rPr lang="sv-SE" altLang="zh-CN" sz="1600" i="1" dirty="0" err="1"/>
                  <a:t>d</a:t>
                </a:r>
                <a:r>
                  <a:rPr lang="sv-SE" altLang="zh-CN" sz="1600" i="1" baseline="-25000" dirty="0" err="1"/>
                  <a:t>k</a:t>
                </a:r>
                <a:r>
                  <a:rPr lang="sv-SE" altLang="zh-CN" sz="1600" i="1" dirty="0"/>
                  <a:t>(x) </a:t>
                </a:r>
                <a:r>
                  <a:rPr lang="sv-SE" altLang="zh-CN" sz="1600" i="1" dirty="0">
                    <a:cs typeface="Arial" panose="020B0604020202020204" pitchFamily="34" charset="0"/>
                  </a:rPr>
                  <a:t>≡ a</a:t>
                </a:r>
                <a:r>
                  <a:rPr lang="sv-SE" altLang="zh-CN" sz="1600" i="1" baseline="30000" dirty="0">
                    <a:cs typeface="Arial" panose="020B0604020202020204" pitchFamily="34" charset="0"/>
                  </a:rPr>
                  <a:t>-1</a:t>
                </a:r>
                <a:r>
                  <a:rPr lang="sv-SE" altLang="zh-CN" sz="1600" i="1" dirty="0">
                    <a:cs typeface="Arial" panose="020B0604020202020204" pitchFamily="34" charset="0"/>
                  </a:rPr>
                  <a:t>(</a:t>
                </a:r>
                <a:r>
                  <a:rPr lang="sv-SE" altLang="zh-CN" sz="1600" i="1" dirty="0"/>
                  <a:t> y – b) mod 26</a:t>
                </a:r>
                <a:endParaRPr lang="sv-SE" altLang="zh-CN" sz="1600" i="1" dirty="0"/>
              </a:p>
            </p:txBody>
          </p:sp>
        </mc:Choice>
        <mc:Fallback>
          <p:sp>
            <p:nvSpPr>
              <p:cNvPr id="49159" name="Rectangle 78"/>
              <p:cNvSpPr>
                <a:spLocks noRot="1" noChangeAspect="1" noMove="1" noResize="1" noEditPoints="1" noAdjustHandles="1" noChangeArrowheads="1" noChangeShapeType="1" noTextEdit="1"/>
              </p:cNvSpPr>
              <p:nvPr/>
            </p:nvSpPr>
            <p:spPr bwMode="auto">
              <a:xfrm>
                <a:off x="1042988" y="2420938"/>
                <a:ext cx="6624637" cy="1016176"/>
              </a:xfrm>
              <a:prstGeom prst="rect">
                <a:avLst/>
              </a:prstGeom>
              <a:blipFill rotWithShape="1">
                <a:blip r:embed="rId1"/>
                <a:stretch>
                  <a:fillRect l="-197" t="-1281" r="-192" b="-5950"/>
                </a:stretch>
              </a:blip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More about Classic Ciphers</a:t>
            </a:r>
            <a:endParaRPr kumimoji="1" lang="zh-CN" altLang="en-US" dirty="0"/>
          </a:p>
        </p:txBody>
      </p:sp>
      <p:sp>
        <p:nvSpPr>
          <p:cNvPr id="3" name="内容占位符 2"/>
          <p:cNvSpPr>
            <a:spLocks noGrp="1"/>
          </p:cNvSpPr>
          <p:nvPr>
            <p:ph idx="1"/>
          </p:nvPr>
        </p:nvSpPr>
        <p:spPr>
          <a:xfrm>
            <a:off x="849313" y="1130300"/>
            <a:ext cx="6084887" cy="585288"/>
          </a:xfrm>
        </p:spPr>
        <p:txBody>
          <a:bodyPr/>
          <a:lstStyle/>
          <a:p>
            <a:r>
              <a:rPr kumimoji="1" lang="en-US" altLang="zh-CN" dirty="0"/>
              <a:t>Refer to Chapter 3 of textbook “Cryptography and Network Security”</a:t>
            </a:r>
            <a:endParaRPr kumimoji="1" lang="zh-CN" altLang="en-US" dirty="0"/>
          </a:p>
        </p:txBody>
      </p:sp>
      <p:sp>
        <p:nvSpPr>
          <p:cNvPr id="4" name="灯片编号占位符 3"/>
          <p:cNvSpPr>
            <a:spLocks noGrp="1"/>
          </p:cNvSpPr>
          <p:nvPr>
            <p:ph type="sldNum" sz="quarter" idx="10"/>
          </p:nvPr>
        </p:nvSpPr>
        <p:spPr/>
        <p:txBody>
          <a:bodyPr/>
          <a:lstStyle/>
          <a:p>
            <a:fld id="{FF793E3B-E8F2-B04A-8335-47426DE3523D}" type="slidenum">
              <a:rPr lang="de-DE" altLang="zh-CN" smtClean="0"/>
            </a:fld>
            <a:r>
              <a:rPr lang="de-DE" altLang="zh-CN"/>
              <a:t>/34</a:t>
            </a:r>
            <a:endParaRPr lang="de-DE" altLang="zh-CN"/>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liennummernplatzhalt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3E67EBC-74FE-194C-ACF3-CF2468F76AE4}" type="slidenum">
              <a:rPr lang="de-DE" altLang="zh-CN">
                <a:solidFill>
                  <a:srgbClr val="394073"/>
                </a:solidFill>
              </a:rPr>
            </a:fld>
            <a:r>
              <a:rPr lang="de-DE" altLang="zh-CN">
                <a:solidFill>
                  <a:srgbClr val="394073"/>
                </a:solidFill>
              </a:rPr>
              <a:t>/36</a:t>
            </a:r>
            <a:endParaRPr lang="de-DE" altLang="zh-CN">
              <a:solidFill>
                <a:srgbClr val="394073"/>
              </a:solidFill>
            </a:endParaRPr>
          </a:p>
        </p:txBody>
      </p:sp>
      <p:sp>
        <p:nvSpPr>
          <p:cNvPr id="50180" name="Rectangle 2"/>
          <p:cNvSpPr>
            <a:spLocks noGrp="1" noChangeArrowheads="1"/>
          </p:cNvSpPr>
          <p:nvPr>
            <p:ph type="title"/>
          </p:nvPr>
        </p:nvSpPr>
        <p:spPr/>
        <p:txBody>
          <a:bodyPr/>
          <a:lstStyle/>
          <a:p>
            <a:r>
              <a:rPr lang="de-DE" altLang="zh-CN"/>
              <a:t>Lessons Learned</a:t>
            </a:r>
            <a:endParaRPr lang="de-DE" altLang="zh-CN"/>
          </a:p>
        </p:txBody>
      </p:sp>
      <p:sp>
        <p:nvSpPr>
          <p:cNvPr id="50181" name="Rectangle 3"/>
          <p:cNvSpPr>
            <a:spLocks noGrp="1" noChangeArrowheads="1"/>
          </p:cNvSpPr>
          <p:nvPr>
            <p:ph type="body" idx="1"/>
          </p:nvPr>
        </p:nvSpPr>
        <p:spPr>
          <a:xfrm>
            <a:off x="250825" y="820738"/>
            <a:ext cx="8497888" cy="4784725"/>
          </a:xfrm>
        </p:spPr>
        <p:txBody>
          <a:bodyPr/>
          <a:lstStyle/>
          <a:p>
            <a:r>
              <a:rPr lang="en-US" altLang="zh-CN">
                <a:ea typeface="宋体" panose="02010600030101010101" pitchFamily="2" charset="-122"/>
              </a:rPr>
              <a:t>Never ever develop your own crypto algorithm unless you have a team of experienced cryptanalysts checking your design.</a:t>
            </a:r>
            <a:endParaRPr lang="en-US" altLang="zh-CN">
              <a:ea typeface="宋体" panose="02010600030101010101" pitchFamily="2" charset="-122"/>
            </a:endParaRPr>
          </a:p>
          <a:p>
            <a:r>
              <a:rPr lang="en-US" altLang="zh-CN">
                <a:ea typeface="宋体" panose="02010600030101010101" pitchFamily="2" charset="-122"/>
              </a:rPr>
              <a:t>Do not use unproven crypto algorithms or unproven protocols.</a:t>
            </a:r>
            <a:endParaRPr lang="en-US" altLang="zh-CN">
              <a:ea typeface="宋体" panose="02010600030101010101" pitchFamily="2" charset="-122"/>
            </a:endParaRPr>
          </a:p>
          <a:p>
            <a:r>
              <a:rPr lang="en-US" altLang="zh-CN">
                <a:ea typeface="宋体" panose="02010600030101010101" pitchFamily="2" charset="-122"/>
              </a:rPr>
              <a:t>Attackers always look for the weakest point of a cryptosystem. For instance, a large key space by itself is no guarantee for a cipher being secure; the cipher might still be vulnerable against analytical attacks.</a:t>
            </a:r>
            <a:endParaRPr lang="en-US" altLang="zh-CN">
              <a:ea typeface="宋体" panose="02010600030101010101" pitchFamily="2" charset="-122"/>
            </a:endParaRPr>
          </a:p>
          <a:p>
            <a:r>
              <a:rPr lang="en-US" altLang="zh-CN">
                <a:ea typeface="宋体" panose="02010600030101010101" pitchFamily="2" charset="-122"/>
              </a:rPr>
              <a:t>Key lengths for symmetric algorithms in order to thwart exhaustive key-search attacks:</a:t>
            </a:r>
            <a:endParaRPr lang="en-US" altLang="zh-CN">
              <a:ea typeface="宋体" panose="02010600030101010101" pitchFamily="2" charset="-122"/>
            </a:endParaRPr>
          </a:p>
          <a:p>
            <a:pPr lvl="1"/>
            <a:r>
              <a:rPr lang="en-US" altLang="zh-CN">
                <a:ea typeface="宋体" panose="02010600030101010101" pitchFamily="2" charset="-122"/>
              </a:rPr>
              <a:t>64 bit: insecure except for data with extremely short-term value</a:t>
            </a:r>
            <a:endParaRPr lang="en-US" altLang="zh-CN">
              <a:ea typeface="宋体" panose="02010600030101010101" pitchFamily="2" charset="-122"/>
            </a:endParaRPr>
          </a:p>
          <a:p>
            <a:pPr lvl="1"/>
            <a:r>
              <a:rPr lang="en-US" altLang="zh-CN">
                <a:ea typeface="宋体" panose="02010600030101010101" pitchFamily="2" charset="-122"/>
              </a:rPr>
              <a:t>128 bit: long-term security of several decades, unless quantum computers become available (quantum computers do not  exist and perhaps never will)</a:t>
            </a:r>
            <a:endParaRPr lang="en-US" altLang="zh-CN">
              <a:ea typeface="宋体" panose="02010600030101010101" pitchFamily="2" charset="-122"/>
            </a:endParaRPr>
          </a:p>
          <a:p>
            <a:pPr lvl="1"/>
            <a:r>
              <a:rPr lang="en-US" altLang="zh-CN">
                <a:ea typeface="宋体" panose="02010600030101010101" pitchFamily="2" charset="-122"/>
              </a:rPr>
              <a:t>256 bit: as above, but probably secure against attacks by  quantum computers.</a:t>
            </a:r>
            <a:endParaRPr lang="en-US" altLang="zh-CN">
              <a:ea typeface="宋体" panose="02010600030101010101" pitchFamily="2" charset="-122"/>
            </a:endParaRPr>
          </a:p>
          <a:p>
            <a:r>
              <a:rPr lang="en-US" altLang="zh-CN">
                <a:ea typeface="宋体" panose="02010600030101010101" pitchFamily="2" charset="-122"/>
              </a:rPr>
              <a:t>Modular arithmetic is a tool for expressing historical encryption schemes, such as the affine cipher, in a mathematically elegant way.</a:t>
            </a:r>
            <a:endParaRPr lang="en-US" altLang="zh-CN">
              <a:ea typeface="宋体" panose="02010600030101010101" pitchFamily="2" charset="-122"/>
            </a:endParaRPr>
          </a:p>
          <a:p>
            <a:endParaRPr lang="de-DE" altLang="zh-CN"/>
          </a:p>
        </p:txBody>
      </p:sp>
    </p:spTree>
  </p:cSld>
  <p:clrMapOvr>
    <a:masterClrMapping/>
  </p:clrMapOvr>
  <p:transition spd="slow"/>
</p:sld>
</file>

<file path=ppt/tags/tag1.xml><?xml version="1.0" encoding="utf-8"?>
<p:tagLst xmlns:p="http://schemas.openxmlformats.org/presentationml/2006/main">
  <p:tag name="KSO_WM_DIAGRAM_VIRTUALLY_FRAME" val="{&quot;height&quot;:83.99999999999997,&quot;left&quot;:9.158188976377954,&quot;top&quot;:186.00007874015748,&quot;width&quot;:606.2633070866142}"/>
</p:tagLst>
</file>

<file path=ppt/tags/tag2.xml><?xml version="1.0" encoding="utf-8"?>
<p:tagLst xmlns:p="http://schemas.openxmlformats.org/presentationml/2006/main">
  <p:tag name="KSO_WM_DIAGRAM_VIRTUALLY_FRAME" val="{&quot;height&quot;:83.99999999999997,&quot;left&quot;:9.158188976377954,&quot;top&quot;:186.00007874015748,&quot;width&quot;:606.2633070866142}"/>
</p:tagLst>
</file>

<file path=ppt/tags/tag3.xml><?xml version="1.0" encoding="utf-8"?>
<p:tagLst xmlns:p="http://schemas.openxmlformats.org/presentationml/2006/main">
  <p:tag name="KSO_WM_DIAGRAM_VIRTUALLY_FRAME" val="{&quot;height&quot;:83.99999999999997,&quot;left&quot;:9.158188976377954,&quot;top&quot;:186.00007874015748,&quot;width&quot;:606.2633070866142}"/>
</p:tagLst>
</file>

<file path=ppt/tags/tag4.xml><?xml version="1.0" encoding="utf-8"?>
<p:tagLst xmlns:p="http://schemas.openxmlformats.org/presentationml/2006/main">
  <p:tag name="KSO_WM_DIAGRAM_VIRTUALLY_FRAME" val="{&quot;height&quot;:83.99999999999997,&quot;left&quot;:9.158188976377954,&quot;top&quot;:186.00007874015748,&quot;width&quot;:606.2633070866142}"/>
</p:tagLst>
</file>

<file path=ppt/tags/tag5.xml><?xml version="1.0" encoding="utf-8"?>
<p:tagLst xmlns:p="http://schemas.openxmlformats.org/presentationml/2006/main">
  <p:tag name="KSO_WM_DIAGRAM_VIRTUALLY_FRAME" val="{&quot;height&quot;:83.99999999999997,&quot;left&quot;:9.158188976377954,&quot;top&quot;:186.00007874015748,&quot;width&quot;:606.2633070866142}"/>
</p:tagLst>
</file>

<file path=ppt/tags/tag6.xml><?xml version="1.0" encoding="utf-8"?>
<p:tagLst xmlns:p="http://schemas.openxmlformats.org/presentationml/2006/main">
  <p:tag name="DEFAULTFONTSIZE" val="10"/>
  <p:tag name="DEFAULTWIDTH" val="384"/>
  <p:tag name="DEFAULTHEIGHT" val="319"/>
</p:tagLst>
</file>

<file path=ppt/theme/theme1.xml><?xml version="1.0" encoding="utf-8"?>
<a:theme xmlns:a="http://schemas.openxmlformats.org/drawingml/2006/main" name="Folienvorlage2">
  <a:themeElements>
    <a:clrScheme name="Folienvorlage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Folienvorlage2">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0" bIns="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0" tIns="0" rIns="0" bIns="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Folienvorlage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olienvorlage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Folienvorlage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olienvorlage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olienvorlage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olienvorlage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Folienvorlage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075TGp_Computer_green _v2">
  <a:themeElements>
    <a:clrScheme name="075TGp_Computer_green _v2 3">
      <a:dk1>
        <a:srgbClr val="666635"/>
      </a:dk1>
      <a:lt1>
        <a:srgbClr val="FFFFFF"/>
      </a:lt1>
      <a:dk2>
        <a:srgbClr val="25413E"/>
      </a:dk2>
      <a:lt2>
        <a:srgbClr val="B2B2B2"/>
      </a:lt2>
      <a:accent1>
        <a:srgbClr val="83AE4E"/>
      </a:accent1>
      <a:accent2>
        <a:srgbClr val="C78DD7"/>
      </a:accent2>
      <a:accent3>
        <a:srgbClr val="FFFFFF"/>
      </a:accent3>
      <a:accent4>
        <a:srgbClr val="56562C"/>
      </a:accent4>
      <a:accent5>
        <a:srgbClr val="C1D3B2"/>
      </a:accent5>
      <a:accent6>
        <a:srgbClr val="B47FC3"/>
      </a:accent6>
      <a:hlink>
        <a:srgbClr val="3197BB"/>
      </a:hlink>
      <a:folHlink>
        <a:srgbClr val="878FA5"/>
      </a:folHlink>
    </a:clrScheme>
    <a:fontScheme name="075TGp_Computer_green _v2">
      <a:majorFont>
        <a:latin typeface="黑体"/>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075TGp_Computer_green _v2 1">
        <a:dk1>
          <a:srgbClr val="2B166E"/>
        </a:dk1>
        <a:lt1>
          <a:srgbClr val="FFFFFF"/>
        </a:lt1>
        <a:dk2>
          <a:srgbClr val="336699"/>
        </a:dk2>
        <a:lt2>
          <a:srgbClr val="DDDDDD"/>
        </a:lt2>
        <a:accent1>
          <a:srgbClr val="458F8F"/>
        </a:accent1>
        <a:accent2>
          <a:srgbClr val="CCCC00"/>
        </a:accent2>
        <a:accent3>
          <a:srgbClr val="FFFFFF"/>
        </a:accent3>
        <a:accent4>
          <a:srgbClr val="23115D"/>
        </a:accent4>
        <a:accent5>
          <a:srgbClr val="B0C6C6"/>
        </a:accent5>
        <a:accent6>
          <a:srgbClr val="B9B900"/>
        </a:accent6>
        <a:hlink>
          <a:srgbClr val="9999FF"/>
        </a:hlink>
        <a:folHlink>
          <a:srgbClr val="6C9BBE"/>
        </a:folHlink>
      </a:clrScheme>
      <a:clrMap bg1="lt1" tx1="dk1" bg2="lt2" tx2="dk2" accent1="accent1" accent2="accent2" accent3="accent3" accent4="accent4" accent5="accent5" accent6="accent6" hlink="hlink" folHlink="folHlink"/>
    </a:extraClrScheme>
    <a:extraClrScheme>
      <a:clrScheme name="075TGp_Computer_green _v2 2">
        <a:dk1>
          <a:srgbClr val="1D528D"/>
        </a:dk1>
        <a:lt1>
          <a:srgbClr val="FFFFFF"/>
        </a:lt1>
        <a:dk2>
          <a:srgbClr val="000000"/>
        </a:dk2>
        <a:lt2>
          <a:srgbClr val="DDDDDD"/>
        </a:lt2>
        <a:accent1>
          <a:srgbClr val="B24242"/>
        </a:accent1>
        <a:accent2>
          <a:srgbClr val="CC9900"/>
        </a:accent2>
        <a:accent3>
          <a:srgbClr val="FFFFFF"/>
        </a:accent3>
        <a:accent4>
          <a:srgbClr val="174578"/>
        </a:accent4>
        <a:accent5>
          <a:srgbClr val="D5B0B0"/>
        </a:accent5>
        <a:accent6>
          <a:srgbClr val="B98A00"/>
        </a:accent6>
        <a:hlink>
          <a:srgbClr val="808000"/>
        </a:hlink>
        <a:folHlink>
          <a:srgbClr val="969696"/>
        </a:folHlink>
      </a:clrScheme>
      <a:clrMap bg1="lt1" tx1="dk1" bg2="lt2" tx2="dk2" accent1="accent1" accent2="accent2" accent3="accent3" accent4="accent4" accent5="accent5" accent6="accent6" hlink="hlink" folHlink="folHlink"/>
    </a:extraClrScheme>
    <a:extraClrScheme>
      <a:clrScheme name="075TGp_Computer_green _v2 3">
        <a:dk1>
          <a:srgbClr val="666635"/>
        </a:dk1>
        <a:lt1>
          <a:srgbClr val="FFFFFF"/>
        </a:lt1>
        <a:dk2>
          <a:srgbClr val="25413E"/>
        </a:dk2>
        <a:lt2>
          <a:srgbClr val="B2B2B2"/>
        </a:lt2>
        <a:accent1>
          <a:srgbClr val="83AE4E"/>
        </a:accent1>
        <a:accent2>
          <a:srgbClr val="C78DD7"/>
        </a:accent2>
        <a:accent3>
          <a:srgbClr val="FFFFFF"/>
        </a:accent3>
        <a:accent4>
          <a:srgbClr val="56562C"/>
        </a:accent4>
        <a:accent5>
          <a:srgbClr val="C1D3B2"/>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Folienvorlage2</Template>
  <TotalTime>0</TotalTime>
  <Words>17397</Words>
  <Application>WPS 演示</Application>
  <PresentationFormat>全屏显示(4:3)</PresentationFormat>
  <Paragraphs>741</Paragraphs>
  <Slides>51</Slides>
  <Notes>39</Notes>
  <HiddenSlides>0</HiddenSlides>
  <MMClips>0</MMClips>
  <ScaleCrop>false</ScaleCrop>
  <HeadingPairs>
    <vt:vector size="8" baseType="variant">
      <vt:variant>
        <vt:lpstr>已用的字体</vt:lpstr>
      </vt:variant>
      <vt:variant>
        <vt:i4>19</vt:i4>
      </vt:variant>
      <vt:variant>
        <vt:lpstr>主题</vt:lpstr>
      </vt:variant>
      <vt:variant>
        <vt:i4>3</vt:i4>
      </vt:variant>
      <vt:variant>
        <vt:lpstr>嵌入 OLE 服务器</vt:lpstr>
      </vt:variant>
      <vt:variant>
        <vt:i4>0</vt:i4>
      </vt:variant>
      <vt:variant>
        <vt:lpstr>幻灯片标题</vt:lpstr>
      </vt:variant>
      <vt:variant>
        <vt:i4>51</vt:i4>
      </vt:variant>
    </vt:vector>
  </HeadingPairs>
  <TitlesOfParts>
    <vt:vector size="73" baseType="lpstr">
      <vt:lpstr>Arial</vt:lpstr>
      <vt:lpstr>宋体</vt:lpstr>
      <vt:lpstr>Wingdings</vt:lpstr>
      <vt:lpstr>Webdings</vt:lpstr>
      <vt:lpstr>Verdana</vt:lpstr>
      <vt:lpstr>黑体</vt:lpstr>
      <vt:lpstr>Times New Roman</vt:lpstr>
      <vt:lpstr>Helvetica</vt:lpstr>
      <vt:lpstr>微软雅黑</vt:lpstr>
      <vt:lpstr>Arial Unicode MS</vt:lpstr>
      <vt:lpstr>Symbol</vt:lpstr>
      <vt:lpstr>Courier New</vt:lpstr>
      <vt:lpstr>Sylfaen</vt:lpstr>
      <vt:lpstr>Symbol</vt:lpstr>
      <vt:lpstr>Cambria Math</vt:lpstr>
      <vt:lpstr>Calibri</vt:lpstr>
      <vt:lpstr>Courier New</vt:lpstr>
      <vt:lpstr>Courier</vt:lpstr>
      <vt:lpstr>Calibri</vt:lpstr>
      <vt:lpstr>Folienvorlage2</vt:lpstr>
      <vt:lpstr>075TGp_Computer_green _v2</vt:lpstr>
      <vt:lpstr>1_Lecture</vt:lpstr>
      <vt:lpstr>课程QQ群</vt:lpstr>
      <vt:lpstr>考核方式和成绩评定</vt:lpstr>
      <vt:lpstr>Textbooks</vt:lpstr>
      <vt:lpstr>网课：Youtube Channel</vt:lpstr>
      <vt:lpstr>Curiosity, Passion, Love</vt:lpstr>
      <vt:lpstr>Chapter 1 Introduction</vt:lpstr>
      <vt:lpstr>Content of this Chapter</vt:lpstr>
      <vt:lpstr>Content of this Chapter</vt:lpstr>
      <vt:lpstr>Cryptography and Cybersecurity</vt:lpstr>
      <vt:lpstr>History of Cryptology</vt:lpstr>
      <vt:lpstr>PowerPoint 演示文稿</vt:lpstr>
      <vt:lpstr>PowerPoint 演示文稿</vt:lpstr>
      <vt:lpstr>Classification of the Field of Cryptology</vt:lpstr>
      <vt:lpstr>Some Basic Facts</vt:lpstr>
      <vt:lpstr>Content of this Chapter</vt:lpstr>
      <vt:lpstr>Symmetric Cryptography</vt:lpstr>
      <vt:lpstr>Symmetric Cryptography</vt:lpstr>
      <vt:lpstr>Symmetric Cryptography</vt:lpstr>
      <vt:lpstr>Content of this Chapter</vt:lpstr>
      <vt:lpstr>Substitution Cipher</vt:lpstr>
      <vt:lpstr>Frist Attack: Brute-Force Attack (or Exhaustive Key Search)</vt:lpstr>
      <vt:lpstr>Brute-Force Attack</vt:lpstr>
      <vt:lpstr>Second Attack: Letter Frequency Analysis</vt:lpstr>
      <vt:lpstr>Breaking the Substitution Cipher with Letter Frequency Attack</vt:lpstr>
      <vt:lpstr>Breaking the Substitution Cipher with Letter Frequency Attack</vt:lpstr>
      <vt:lpstr>Content of this Chapter</vt:lpstr>
      <vt:lpstr>Why do we need Cryptanalysis?</vt:lpstr>
      <vt:lpstr>Cryptanalysis: Attacking Cryptosystems</vt:lpstr>
      <vt:lpstr>Classes of classical attacks</vt:lpstr>
      <vt:lpstr>PowerPoint 演示文稿</vt:lpstr>
      <vt:lpstr>PowerPoint 演示文稿</vt:lpstr>
      <vt:lpstr>PowerPoint 演示文稿</vt:lpstr>
      <vt:lpstr>PowerPoint 演示文稿</vt:lpstr>
      <vt:lpstr>How Many Key Bits Are Enough?</vt:lpstr>
      <vt:lpstr>Content of this Chapter</vt:lpstr>
      <vt:lpstr>Short Introduction to Modular Arithmetic</vt:lpstr>
      <vt:lpstr>Short Introduction to Modular Arithmetic</vt:lpstr>
      <vt:lpstr>Short Introduction to Modular Arithmetic</vt:lpstr>
      <vt:lpstr>Properties of Modular Arithmetic (1)</vt:lpstr>
      <vt:lpstr>Properties of Modular Arithmetic (2)</vt:lpstr>
      <vt:lpstr>Properties of Modular Arithmetic (3)</vt:lpstr>
      <vt:lpstr>Properties of Modular Arithmetic (4)</vt:lpstr>
      <vt:lpstr>An Algebraic View on Modulo Arithmetic: The Ring Zm (1) </vt:lpstr>
      <vt:lpstr>An Algebraic View on Modulo Arithmetic: The Ring Zm (2) </vt:lpstr>
      <vt:lpstr>Content of this Chapter</vt:lpstr>
      <vt:lpstr>Shift (or Caesar) or Monoalphabetic Substitution Cipher (1)</vt:lpstr>
      <vt:lpstr>Shift (or Caesar) or Monoalphabetic Substitution Cipher (2)</vt:lpstr>
      <vt:lpstr>Vigenere cipher    (16’th century,  Rome) --A polyalphabetic substitution cipher</vt:lpstr>
      <vt:lpstr>Affine Cipher (1)</vt:lpstr>
      <vt:lpstr>More about Classic Ciphers</vt:lpstr>
      <vt:lpstr>Lessons Learned</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Jan Pelzl</dc:creator>
  <dc:subject>Auswertung</dc:subject>
  <cp:lastModifiedBy>刘理</cp:lastModifiedBy>
  <cp:revision>542</cp:revision>
  <cp:lastPrinted>2003-07-29T11:52:00Z</cp:lastPrinted>
  <dcterms:created xsi:type="dcterms:W3CDTF">2004-07-26T14:24:00Z</dcterms:created>
  <dcterms:modified xsi:type="dcterms:W3CDTF">2024-12-02T05:14:53Z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E542FCE6607D4D3B8AA5B65194FC92DC_12</vt:lpwstr>
  </property>
  <property fmtid="{D5CDD505-2E9C-101B-9397-08002B2CF9AE}" pid="3" name="KSOProductBuildVer">
    <vt:lpwstr>2052-12.1.0.18912</vt:lpwstr>
  </property>
</Properties>
</file>