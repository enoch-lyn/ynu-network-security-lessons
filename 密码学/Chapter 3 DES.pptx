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2.xml" ContentType="application/inkml+xml"/>
  <Override PartName="/ppt/ink/ink3.xml" ContentType="application/inkml+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 id="2147483862" r:id="rId2"/>
  </p:sldMasterIdLst>
  <p:notesMasterIdLst>
    <p:notesMasterId r:id="rId40"/>
  </p:notesMasterIdLst>
  <p:handoutMasterIdLst>
    <p:handoutMasterId r:id="rId41"/>
  </p:handoutMasterIdLst>
  <p:sldIdLst>
    <p:sldId id="368" r:id="rId3"/>
    <p:sldId id="261" r:id="rId4"/>
    <p:sldId id="442" r:id="rId5"/>
    <p:sldId id="394" r:id="rId6"/>
    <p:sldId id="265" r:id="rId7"/>
    <p:sldId id="444" r:id="rId8"/>
    <p:sldId id="445" r:id="rId9"/>
    <p:sldId id="1445" r:id="rId10"/>
    <p:sldId id="1446" r:id="rId11"/>
    <p:sldId id="1440" r:id="rId12"/>
    <p:sldId id="1441" r:id="rId13"/>
    <p:sldId id="443" r:id="rId14"/>
    <p:sldId id="266" r:id="rId15"/>
    <p:sldId id="446" r:id="rId16"/>
    <p:sldId id="447" r:id="rId17"/>
    <p:sldId id="448" r:id="rId18"/>
    <p:sldId id="422" r:id="rId19"/>
    <p:sldId id="419" r:id="rId20"/>
    <p:sldId id="449" r:id="rId21"/>
    <p:sldId id="452" r:id="rId22"/>
    <p:sldId id="450" r:id="rId23"/>
    <p:sldId id="490" r:id="rId24"/>
    <p:sldId id="451" r:id="rId25"/>
    <p:sldId id="270" r:id="rId26"/>
    <p:sldId id="453" r:id="rId27"/>
    <p:sldId id="454" r:id="rId28"/>
    <p:sldId id="271" r:id="rId29"/>
    <p:sldId id="460" r:id="rId30"/>
    <p:sldId id="464" r:id="rId31"/>
    <p:sldId id="489" r:id="rId32"/>
    <p:sldId id="465" r:id="rId33"/>
    <p:sldId id="455" r:id="rId34"/>
    <p:sldId id="272" r:id="rId35"/>
    <p:sldId id="428" r:id="rId36"/>
    <p:sldId id="456" r:id="rId37"/>
    <p:sldId id="273" r:id="rId38"/>
    <p:sldId id="441" r:id="rId39"/>
  </p:sldIdLst>
  <p:sldSz cx="9144000" cy="6858000" type="screen4x3"/>
  <p:notesSz cx="7099300" cy="10234613"/>
  <p:custDataLst>
    <p:tags r:id="rId42"/>
  </p:custDataLst>
  <p:defaultTex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411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79"/>
    <p:restoredTop sz="94703"/>
  </p:normalViewPr>
  <p:slideViewPr>
    <p:cSldViewPr>
      <p:cViewPr varScale="1">
        <p:scale>
          <a:sx n="154" d="100"/>
          <a:sy n="154" d="100"/>
        </p:scale>
        <p:origin x="1800" y="208"/>
      </p:cViewPr>
      <p:guideLst>
        <p:guide orient="horz" pos="411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59714835-B3E9-AA49-6F21-2A97BF801BAB}"/>
              </a:ext>
            </a:extLst>
          </p:cNvPr>
          <p:cNvSpPr>
            <a:spLocks noGrp="1" noChangeArrowheads="1"/>
          </p:cNvSpPr>
          <p:nvPr>
            <p:ph type="hdr" sz="quarter"/>
          </p:nvPr>
        </p:nvSpPr>
        <p:spPr bwMode="auto">
          <a:xfrm>
            <a:off x="0" y="0"/>
            <a:ext cx="3111500" cy="552450"/>
          </a:xfrm>
          <a:prstGeom prst="rect">
            <a:avLst/>
          </a:prstGeom>
          <a:noFill/>
          <a:ln w="9525">
            <a:noFill/>
            <a:miter lim="800000"/>
            <a:headEnd/>
            <a:tailEnd/>
          </a:ln>
          <a:effectLst/>
        </p:spPr>
        <p:txBody>
          <a:bodyPr vert="horz" wrap="square" lIns="94918" tIns="47459" rIns="94918" bIns="47459" numCol="1" anchor="t" anchorCtr="0" compatLnSpc="1">
            <a:prstTxWarp prst="textNoShape">
              <a:avLst/>
            </a:prstTxWarp>
          </a:bodyPr>
          <a:lstStyle>
            <a:lvl1pPr defTabSz="949325">
              <a:defRPr sz="1300">
                <a:latin typeface="Times New Roman" pitchFamily="18" charset="0"/>
                <a:ea typeface="+mn-ea"/>
              </a:defRPr>
            </a:lvl1pPr>
          </a:lstStyle>
          <a:p>
            <a:pPr>
              <a:defRPr/>
            </a:pPr>
            <a:endParaRPr lang="de-DE"/>
          </a:p>
        </p:txBody>
      </p:sp>
      <p:sp>
        <p:nvSpPr>
          <p:cNvPr id="32771" name="Rectangle 3">
            <a:extLst>
              <a:ext uri="{FF2B5EF4-FFF2-40B4-BE49-F238E27FC236}">
                <a16:creationId xmlns:a16="http://schemas.microsoft.com/office/drawing/2014/main" id="{354E6FB4-79BC-4159-A2EB-EEAA13FE930B}"/>
              </a:ext>
            </a:extLst>
          </p:cNvPr>
          <p:cNvSpPr>
            <a:spLocks noGrp="1" noChangeArrowheads="1"/>
          </p:cNvSpPr>
          <p:nvPr>
            <p:ph type="dt" sz="quarter" idx="1"/>
          </p:nvPr>
        </p:nvSpPr>
        <p:spPr bwMode="auto">
          <a:xfrm>
            <a:off x="3987800" y="0"/>
            <a:ext cx="3111500" cy="552450"/>
          </a:xfrm>
          <a:prstGeom prst="rect">
            <a:avLst/>
          </a:prstGeom>
          <a:noFill/>
          <a:ln w="9525">
            <a:noFill/>
            <a:miter lim="800000"/>
            <a:headEnd/>
            <a:tailEnd/>
          </a:ln>
          <a:effectLst/>
        </p:spPr>
        <p:txBody>
          <a:bodyPr vert="horz" wrap="square" lIns="94918" tIns="47459" rIns="94918" bIns="47459" numCol="1" anchor="t" anchorCtr="0" compatLnSpc="1">
            <a:prstTxWarp prst="textNoShape">
              <a:avLst/>
            </a:prstTxWarp>
          </a:bodyPr>
          <a:lstStyle>
            <a:lvl1pPr algn="r" defTabSz="949325">
              <a:defRPr sz="1300">
                <a:latin typeface="Times New Roman" pitchFamily="18" charset="0"/>
                <a:ea typeface="+mn-ea"/>
              </a:defRPr>
            </a:lvl1pPr>
          </a:lstStyle>
          <a:p>
            <a:pPr>
              <a:defRPr/>
            </a:pPr>
            <a:endParaRPr lang="de-DE"/>
          </a:p>
        </p:txBody>
      </p:sp>
      <p:sp>
        <p:nvSpPr>
          <p:cNvPr id="32772" name="Rectangle 4">
            <a:extLst>
              <a:ext uri="{FF2B5EF4-FFF2-40B4-BE49-F238E27FC236}">
                <a16:creationId xmlns:a16="http://schemas.microsoft.com/office/drawing/2014/main" id="{FE333704-4DFA-4FB8-0E20-8E881A3F31D0}"/>
              </a:ext>
            </a:extLst>
          </p:cNvPr>
          <p:cNvSpPr>
            <a:spLocks noGrp="1" noChangeArrowheads="1"/>
          </p:cNvSpPr>
          <p:nvPr>
            <p:ph type="ftr" sz="quarter" idx="2"/>
          </p:nvPr>
        </p:nvSpPr>
        <p:spPr bwMode="auto">
          <a:xfrm>
            <a:off x="0" y="9756775"/>
            <a:ext cx="3111500" cy="471488"/>
          </a:xfrm>
          <a:prstGeom prst="rect">
            <a:avLst/>
          </a:prstGeom>
          <a:noFill/>
          <a:ln w="9525">
            <a:noFill/>
            <a:miter lim="800000"/>
            <a:headEnd/>
            <a:tailEnd/>
          </a:ln>
          <a:effectLst/>
        </p:spPr>
        <p:txBody>
          <a:bodyPr vert="horz" wrap="square" lIns="94918" tIns="47459" rIns="94918" bIns="47459" numCol="1" anchor="b" anchorCtr="0" compatLnSpc="1">
            <a:prstTxWarp prst="textNoShape">
              <a:avLst/>
            </a:prstTxWarp>
          </a:bodyPr>
          <a:lstStyle>
            <a:lvl1pPr defTabSz="949325">
              <a:defRPr sz="1300">
                <a:latin typeface="Times New Roman" pitchFamily="18" charset="0"/>
                <a:ea typeface="+mn-ea"/>
              </a:defRPr>
            </a:lvl1pPr>
          </a:lstStyle>
          <a:p>
            <a:pPr>
              <a:defRPr/>
            </a:pPr>
            <a:endParaRPr lang="de-DE"/>
          </a:p>
        </p:txBody>
      </p:sp>
      <p:sp>
        <p:nvSpPr>
          <p:cNvPr id="32773" name="Rectangle 5">
            <a:extLst>
              <a:ext uri="{FF2B5EF4-FFF2-40B4-BE49-F238E27FC236}">
                <a16:creationId xmlns:a16="http://schemas.microsoft.com/office/drawing/2014/main" id="{EFEC2CCF-24C1-2F13-19A0-5361CF2D4661}"/>
              </a:ext>
            </a:extLst>
          </p:cNvPr>
          <p:cNvSpPr>
            <a:spLocks noGrp="1" noChangeArrowheads="1"/>
          </p:cNvSpPr>
          <p:nvPr>
            <p:ph type="sldNum" sz="quarter" idx="3"/>
          </p:nvPr>
        </p:nvSpPr>
        <p:spPr bwMode="auto">
          <a:xfrm>
            <a:off x="3987800" y="9756775"/>
            <a:ext cx="3111500" cy="471488"/>
          </a:xfrm>
          <a:prstGeom prst="rect">
            <a:avLst/>
          </a:prstGeom>
          <a:noFill/>
          <a:ln w="9525">
            <a:noFill/>
            <a:miter lim="800000"/>
            <a:headEnd/>
            <a:tailEnd/>
          </a:ln>
          <a:effectLst/>
        </p:spPr>
        <p:txBody>
          <a:bodyPr vert="horz" wrap="square" lIns="94918" tIns="47459" rIns="94918" bIns="47459" numCol="1" anchor="b" anchorCtr="0" compatLnSpc="1">
            <a:prstTxWarp prst="textNoShape">
              <a:avLst/>
            </a:prstTxWarp>
          </a:bodyPr>
          <a:lstStyle>
            <a:lvl1pPr algn="r" defTabSz="949325">
              <a:defRPr sz="1300">
                <a:latin typeface="Times New Roman" panose="02020603050405020304" pitchFamily="18" charset="0"/>
              </a:defRPr>
            </a:lvl1pPr>
          </a:lstStyle>
          <a:p>
            <a:fld id="{5FB90077-5B5E-2040-8D16-3DDDCEFEBE35}" type="slidenum">
              <a:rPr lang="de-DE" altLang="zh-CN"/>
              <a:pPr/>
              <a:t>‹#›</a:t>
            </a:fld>
            <a:endParaRPr lang="de-DE"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09T02:41:17.950"/>
    </inkml:context>
    <inkml:brush xml:id="br0">
      <inkml:brushProperty name="width" value="0.05292" units="cm"/>
      <inkml:brushProperty name="height" value="0.05292" units="cm"/>
      <inkml:brushProperty name="color" value="#FF0000"/>
    </inkml:brush>
  </inkml:definitions>
  <inkml:trace contextRef="#ctx0" brushRef="#br0">8778 4399 24575,'1'-3'0,"2"1"0,2 0 0,0 0 0,-1-1 0,-1 0 0,-1 0 0,0 1 0,0 1 0,1-1 0,0 2 0,0 0 0,-1 0 0,1 0 0,1-1 0,2-1 0,-1 0 0,0 1 0,-1 1 0,-1 0 0,1 0 0,3-2 0,7-2 0,8-1 0,5 0 0,-1 1 0,-7 2 0,-8 1 0,-7 1 0</inkml:trace>
  <inkml:trace contextRef="#ctx0" brushRef="#br0" timeOffset="17750">9228 5890 24575,'5'0'0,"1"-1"0,-1-2 0,1 0 0,0-1 0,0 2 0,-2 0 0,0 1 0,-1-1 0,1 1 0,2 1 0,1 0 0,0 0 0,1-2 0,-2 0 0,0 0 0,0 1 0,2 1 0,0-2 0,1 1 0,-2-1 0,-3 1 0,-2 1 0,-2 0 0</inkml:trace>
  <inkml:trace contextRef="#ctx0" brushRef="#br0" timeOffset="19833">10031 5858 24575,'11'-3'0,"6"1"0,6 2 0,1 0 0,-5 0 0,-6 0 0,-5 0 0,-3 0 0,-2 0 0,0 0 0,1 0 0,2 0 0,6 0 0,6 0 0,5 0 0,-1 0 0,-5 0 0,-8 0 0,-5 0 0</inkml:trace>
  <inkml:trace contextRef="#ctx0" brushRef="#br0" timeOffset="34501">10687 7682 24575,'6'0'0,"-1"0"0,-2 0 0,0 0 0,1 0 0,2 0 0,-1 0 0,1 0 0,-3 0 0,2 0 0,1 0 0,2 0 0,7 0 0,5 0 0,3 0 0,-2 0 0,-5-2 0,-5 0 0,-4 0 0,-4 2 0</inkml:trace>
  <inkml:trace contextRef="#ctx0" brushRef="#br0" timeOffset="39117">14445 7781 24575,'10'0'0,"4"0"0,3 0 0,0 0 0,-3 0 0,0 0 0,-1 0 0,3 0 0,1 0 0,1 0 0,-1 0 0,-5 0 0,-4 0 0,0 0 0,2 0 0,1 0 0,-1 0 0,-3 0 0,-2 0 0,-2 0 0,2 0 0,0 0 0,1 0 0,-3 0 0,-2 0 0,-2 0 0</inkml:trace>
  <inkml:trace contextRef="#ctx0" brushRef="#br0" timeOffset="58351">11104 10233 24575,'37'-2'0,"-1"0"0,-2-1 0,-6 1 0,-9 2 0,-7 0 0,-4 0 0,-2 0 0,2 0 0,1 0 0,3 0 0,-1 0 0,-1 0 0,-1 0 0,-1 0 0,3 0 0,-1 0 0,-2 0 0,-3 0 0,-3 0 0</inkml:trace>
  <inkml:trace contextRef="#ctx0" brushRef="#br0" timeOffset="60269">10630 10107 24575,'7'-7'0,"1"2"0,2 1 0,6 2 0,2 0 0,0 0 0,-3 2 0,-5 0 0,-1 0 0,-1 0 0,1 0 0,2 0 0,0 0 0,-3 0 0,-2 0 0,1 0 0,6 0 0,8 1 0,6 3 0,0 2 0,-7-1 0,-9-1 0,-8-3 0,-3-1 0,-1 0 0</inkml:trace>
  <inkml:trace contextRef="#ctx0" brushRef="#br0" timeOffset="70751">14929 10141 24575,'1'-3'0,"0"0"0,7 3 0,2 0 0,3 0 0,2 0 0,3 0 0,3 0 0,3 0 0,-2 0 0,-2 0 0,-5 0 0,-8 0 0,-3 0 0</inkml:trace>
  <inkml:trace contextRef="#ctx0" brushRef="#br0" timeOffset="72868">15750 10186 24575,'10'0'0,"4"0"0,4 0 0,-2 0 0,-2 0 0,-5 0 0,-1 0 0,1 0 0,1 0 0,-1 0 0,-2 0 0,-2 0 0,-3 0 0,-1 0 0</inkml:trace>
  <inkml:trace contextRef="#ctx0" brushRef="#br0" timeOffset="123769">8732 3399 24575,'27'0'0,"1"0"0,0 0 0,-6 0 0,-8 0 0,-6 0 0,-2 0 0,-3 0 0,1 0 0,0 0 0,2 0 0,5 0 0,8 0 0,6 0 0,3-1 0,-6-3 0,-10-1 0,-6-2 0,-6 1 0,0 3 0,-1 2 0</inkml:trace>
</inkml:ink>
</file>

<file path=ppt/ink/ink2.xml><?xml version="1.0" encoding="utf-8"?>
<inkml:ink xmlns:inkml="http://www.w3.org/2003/InkML">
  <inkml:definitions>
    <inkml:context xml:id="ctx0">
      <inkml:inkSource xml:id="inkSrc0">
        <inkml:traceFormat>
          <inkml:channel name="X" type="integer" max="32767" units="in"/>
          <inkml:channel name="Y" type="integer" max="32767" units="in"/>
          <inkml:channel name="F" type="integer" max="32767" units="dev"/>
        </inkml:traceFormat>
        <inkml:channelProperties>
          <inkml:channelProperty channel="X" name="resolution" value="3139.80444" units="1/in"/>
          <inkml:channelProperty channel="Y" name="resolution" value="4978.27393" units="1/in"/>
          <inkml:channelProperty channel="F" name="resolution" value="0" units="1/dev"/>
        </inkml:channelProperties>
      </inkml:inkSource>
      <inkml:timestamp xml:id="ts0" timeString="2012-01-27T03:52:00.794"/>
    </inkml:context>
    <inkml:brush xml:id="br0">
      <inkml:brushProperty name="width" value="0.05292" units="cm"/>
      <inkml:brushProperty name="height" value="0.05292" units="cm"/>
      <inkml:brushProperty name="color" value="#FF0000"/>
    </inkml:brush>
  </inkml:definitions>
  <inkml:trace contextRef="#ctx0" brushRef="#br0">11662 11976 6886,'0'0'384,"0"0"385,0 0 1858,0 0-706,0 0-479,0 20-289,0 0-64,0 20-128,0-1-128,-19 1-289,19 0-31,0-1-321,0 1 384,0-19-448,-19 18 129,19-19-1,0 0-32,0-20-160,0 20 0,0-20 96,0 0-320,0 20 352,0-20-384,0 0 320,0 0-352,0-20 224,0 20 0,0-20 128,0-20-128,0 1-32,0-1-96,0 0 256,0-20-192,19 20 32,22-19-256,-22-1 352,20 20 64,2 1-32,-22-1 64,22 21-32,-22-2-128,0 21 97,20 0-1,-18 0-32,-21 21 64,20-2-192,-20 21 160,0-20-64,0 20 0,0-21 288,-20 21-448,20 0 0,-40-20-96,20-1 96,1 2-353,0-2 321,-3 1 480,3-20-704,0 0 608,19 0-128,0 0 0,0 0 65,19 0 95,-19 20 32,19 0-96,3-1 161,-3-19-257,-19 21 192,19-2-192,-19 2-128,20-2 192,-20 1-352,19 0-321,-19 0-255,21-20-449,-21 20-577,0 0-1185,0-20-2402</inkml:trace>
  <inkml:trace contextRef="#ctx0" brushRef="#br0" timeOffset="245.01">12199 12374 10634,'0'20'640,"0"-20"770,0 19 736,-19-19-513,19 20-576,-21 0-512,21 0-481,0 20-96,0-21-481,21 1-1152,-2 0-2595</inkml:trace>
  <inkml:trace contextRef="#ctx0" brushRef="#br0" timeOffset="397.02">12339 12195 14061,'-22'-20'352,"3"0"-320,19 20 545,-19 0-481,19 0-96,0 20-929,19-20-4004</inkml:trace>
  <inkml:trace contextRef="#ctx0" brushRef="#br0" timeOffset="805.04">12616 12135 10698,'-19'0'1313,"19"-19"1377,0 19-159,19 0-545,-19 0-833,19 0 96,22 0-512,-2 0-449,-20 0 481,22 0-673,-2 0 192,1 0-608,-20 0 160,20 0-257,-20 0-832,-1 0-128,0 0-1250,-19 19-2145</inkml:trace>
  <inkml:trace contextRef="#ctx0" brushRef="#br0" timeOffset="1026.05">12597 12275 16944,'-22'19'288,"22"-19"1025,0 0 641,22 0 192,-3 20-993,20-20-673,1 0-63,-1 0-97,2-20-224,19 20-224,-21-19-384,1-2 31,-20 21-1377,18 0-127,-16 0-322,-3 0-4643</inkml:trace>
  <inkml:trace contextRef="#ctx0" brushRef="#br0" timeOffset="10881.62">13945 11917 10441,'0'0'609,"-19"0"-1025,19 0 1537,-19 0 96,19 0 96,-20 0-544,-1 0-545,1 0-160,1 0 160,0 0-96,-3-20 0,3 20-63,0 0 63,-1 0-96,-20 0 64,20-20-32,20 20-64,-19 0 32,19 0 32,-22 20 32,22-20 32,-19 20 192,19-1 225,0 21 96,-19 0-97,19 0 353,0-1-769,0 21 288,-20-20 193,20 0-833,0 0 608,-21-1-608,21 1 224,0-40 0,0 20-256,-19 0-769,19-20-128,0 0-1154,0 0-992</inkml:trace>
  <inkml:trace contextRef="#ctx0" brushRef="#br0" timeOffset="11051.63">13449 12254 8776,'-19'-19'4100,"19"-2"-4036,19 21 1729,-19 0-287,20 0-321,-20 0-480,21 0-321,-2 21-256,1-21-64,20 19 0,-20 2-480,-1-2-897,22 1-1794,-22-20-3908</inkml:trace>
  <inkml:trace contextRef="#ctx0" brushRef="#br0" timeOffset="11254.64">13808 12394 15342,'0'19'96,"-22"1"64,22 0 353,0 0 95,0 0-319,-19 19-418,19-19-1216,19 0-3267</inkml:trace>
  <inkml:trace contextRef="#ctx0" brushRef="#br0" timeOffset="11407.65">13945 12294 16335,'-19'-40'160,"19"40"-128,-19-19 288,19 19-255,0 0-354,0 0-1536,19 0-3460</inkml:trace>
  <inkml:trace contextRef="#ctx0" brushRef="#br0" timeOffset="11752.67">14542 11778 12267,'20'-20'449,"-40"20"-225,20 0 1089,-21 0 0,1 40 257,-18 0-417,16-1-320,-16 20 31,-3 1 418,2 20-514,-1-21-511,1 20 447,19-18-576,20-2 65,0-19-225,0-1-33,0-19-447,20 0-257,-1-20-544,1 20-417,1-20-1120,-2 20-3172</inkml:trace>
  <inkml:trace contextRef="#ctx0" brushRef="#br0" timeOffset="12045.68">14641 12056 7078,'19'-20'2531,"-19"20"-1987,0 20 1858,0-20 97,-19 39-898,0-18-448,19 18-192,-22 1-192,3 0-577,0 0 417,19 19-833,-20-39 448,20 20-480,0-21-225,0-19-512,0 20-1281,0-20-2050</inkml:trace>
  <inkml:trace contextRef="#ctx0" brushRef="#br0" timeOffset="12416.71">14600 12095 10217,'22'-59'320,"-3"19"417,0 20 993,1-20 256,20 21-385,-1-1-672,-19 20-320,20-20-161,-20 20 1,-1 20-193,2-20-288,-1 20 160,-20 20 0,0-21-128,-20 1 384,-1 0-544,2 0 32,-1 0-192,1 0 672,-22-1-480,22 2 160,-1-2 128,-1 1-160,21-20 288,0 20-191,0-20 511,0 20-288,21-1 289,-21 2-289,20-2-192,-1 2-160,-19-2 225,20 1-514,1-20 642,-21 20-898,19 0-448,1-20-769,-20 20-1601,19-20-5253</inkml:trace>
  <inkml:trace contextRef="#ctx0" brushRef="#br0" timeOffset="12747.72">15038 12394 15086,'-21'19'640,"2"1"65,19-20 1185,-20 20-737,20 0-448,-19 0-481,19 0-352,-21-1-737,42 1-1537,-21-20-5510</inkml:trace>
  <inkml:trace contextRef="#ctx0" brushRef="#br0" timeOffset="12914.73">15137 12314 14189,'-41'0'1505,"41"0"-1569,0 0 321,0 0-225,0 0-32,22 0-577,-3 0-5156</inkml:trace>
  <inkml:trace contextRef="#ctx0" brushRef="#br0" timeOffset="13249.75">15197 12493 13805,'0'0'1377,"0"0"-512,0 0 1153,20 0-673,-20 0-32,19 0-736,0 0-737,3 0 544,-3 0-448,20-20-545,-18 20-256,18 0-896,-20 0-2884</inkml:trace>
  <inkml:trace contextRef="#ctx0" brushRef="#br0" timeOffset="13494.77">15614 12374 15118,'0'0'1025,"0"0"-256,0 20 1441,-21-1-769,21 1-320,-20-20-160,20 20-993,-19 0 352,19 0-256,-20 0-929,20-1-960,0 1-2019</inkml:trace>
  <inkml:trace contextRef="#ctx0" brushRef="#br0" timeOffset="13977.79">15910 11817 13612,'22'-19'513,"16"19"480,-18 0 897,21 0-481,-3 40 449,-16-1-513,-3 1-352,0 39-320,-19 1-65,-19 19-320,0 1 225,-22-21-513,22-20-96,-22-19 224,21 0 224,1-1-736,0-19 32,-22 0-1378,22 0-1569,-1 0-8456</inkml:trace>
  <inkml:trace contextRef="#ctx0" brushRef="#br0" timeOffset="14530.83">16467 12235 10730,'-20'0'1121,"20"0"1153,0-21 320,0 21-608,20 0-416,20 0-673,-1 0-1,2 0-415,-3 21-257,3-21 160,17 19-544,-17-19 545,-2 0-930,-18 0-608,-2 0-160,1 0-1154,-20 0-2529</inkml:trace>
  <inkml:trace contextRef="#ctx0" brushRef="#br0" timeOffset="14756.84">16705 12076 10409,'0'19'801,"0"-19"320,0 21 993,-19-2-320,-1 1-321,20 0-480,-21 19-544,1-18 127,20 19-31,0-21-609,-19 1 128,19 0-961,0 0-288,0 0-1986,0-20-3812</inkml:trace>
  <inkml:trace contextRef="#ctx0" brushRef="#br0" timeOffset="15382.87">16625 11996 6470,'-19'0'929,"19"0"-129,-19 0 1250,-3 0-96,3 0-256,0 0-481,-1 20-256,-1 0 0,-18 0 64,20 19-577,-22-18 257,22 18-161,-1 1-31,-1-21-481,2 21 96,19 0-32,-20 0 160,20 0-384,20-20 160,-20 19-32,19-19 384,-19 0-768,21 0 704,-1 0-672,18-1-192,-16 1 415,17-20-511,1 0 352,18 0 127,-17 0 161,19-20-416,-21 1 384,21-1 352,0 0-416,-2-40 64,2 1 96,-21-1-384,2 1 640,-41 19-320,0 0-192,0 1 544,-20-1 33,-20 20-129,1 0 160,-2 0-288,2 20 97,-1 0-385,-18 0 512,36 0-480,-16 20-1089,18 0-865,-1 0-6470</inkml:trace>
  <inkml:trace contextRef="#ctx0" brushRef="#br0" timeOffset="16052.91">17480 11917 5829,'0'-20'1057,"0"0"-96,19 20 1441,-19 0-448,0 0-545,0 20-159,0 0-386,-19-1-319,-2 21 128,1 0-289,1 0-128,0 20 0,-22-21-224,22 20 225,-1-19-1,-1 20 192,1-20 65,1-20-449,19 0 352,0-1 321,0 1-289,0-20-159,0 20-129,19-20 384,1 20-544,1-20 417,-1 0-706,18 0 674,3 0-545,-2-20 64,1 20-481,-1 0-544,-19 0 224,20 0-448,-40 0-1698,20 20-3395</inkml:trace>
  <inkml:trace contextRef="#ctx0" brushRef="#br0" timeOffset="16331.93">17837 12413 14637,'-41'20'481,"22"0"1889,-1 20-352,-20-20-673,20 19-416,1 1-384,-1-20-641,20 19 96,0-18-1025,20-2-481,-1-19-2402</inkml:trace>
  <inkml:trace contextRef="#ctx0" brushRef="#br0" timeOffset="16484.93">17897 12314 15438,'-41'-20'449,"41"20"63,0 0 609,0 0-608,0 0-610,0 0-287,0 20-1730,19 0-4228</inkml:trace>
  <inkml:trace contextRef="#ctx0" brushRef="#br0" timeOffset="16764.95">17976 12572 16143,'0'0'384,"0"0"1570,0 0-449,0 0-191,0 0-225,20 0-481,-1 0-544,0 0 193,22 0-578,-22 0 513,22-20-1024,-2 20-578,2 0-255,-22 0-1762,20 0-5254</inkml:trace>
  <inkml:trace contextRef="#ctx0" brushRef="#br0" timeOffset="17014.97">18530 12394 17040,'0'0'993,"-19"19"960,19 1 482,-19 0-257,-1 0-1185,20 0-64,-21 19-833,21-19 416,-19 0-512,19 0-288,0 0-513,0 0-576,0-1-1186,0-19-992,0 21-6663</inkml:trace>
  <inkml:trace contextRef="#ctx0" brushRef="#br0" timeOffset="36913.11">11662 13129 6149,'0'-21'1185,"0"21"97,0-20 127,0 20-160,0-19-32,0 19-192,0 0-160,22 0-192,-22 0 31,0 0 129,0 0-256,-22 19 159,22 22-255,-19-22-257,19 40 193,-19 1-385,-1-1 448,-1 1-192,2-1-288,-1-18 641,1-2-257,19 2-544,0-41 256,0 19 449,0-19-225,19 0-320,1-19 160,-1 19-32,22-21-64,19 21-32,-21 0 353,1 0-481,-1 0 256,-20 0-320,22 0-97,-22 0-639,1 0-674,-1 0-864,2 21-3075</inkml:trace>
  <inkml:trace contextRef="#ctx0" brushRef="#br0" timeOffset="37191.11">12219 13507 6085,'0'18'8424,"0"2"-8296,-20 1 1282,20 18 159,-19-18-448,-2-3-736,21 2-385,0 20-321,0-19-960,0-2-1922</inkml:trace>
  <inkml:trace contextRef="#ctx0" brushRef="#br0" timeOffset="37343.11">12279 13445 12267,'0'-39'3972,"0"19"-3940,0 20 576,-20-19-223,20 19-513,0 0-1474,0 0-4708</inkml:trace>
  <inkml:trace contextRef="#ctx0" brushRef="#br0" timeOffset="37763.15">12715 13347 14413,'0'0'1377,"0"0"1154,0 0-161,0 0-704,19 0-545,2 0-513,-1-21 97,19 21-513,1 0-32,-1-19-128,21 19-352,-19 0-545,-2 0-640,1 0-417,-20 0-737,-1 0-2914</inkml:trace>
  <inkml:trace contextRef="#ctx0" brushRef="#br0" timeOffset="37950.17">12755 13486 17264,'-21'21'865,"21"-21"1441,21 0 0,-1 0-1057,-1 0 0,1 0-640,20 0-417,-1-21 193,2 21-193,-3 0-320,23-20-1378,-21 20-704,-1 0-993,-20 0-5637</inkml:trace>
  <inkml:trace contextRef="#ctx0" brushRef="#br0" timeOffset="39894.28">13767 13287 10858,'0'-20'0,"0"1"1922,0 19 128,0 0-737,0 0-512,0 19-33,0 1-63,0 0-225,0 20 193,0 19-545,-19 1 0,19-19 129,-20 18-354,20-20-63,0 0 128,-21-19 385,21 1-706,0-2-736,0-19 128,0 0-961,21 0-1825</inkml:trace>
  <inkml:trace contextRef="#ctx0" brushRef="#br0" timeOffset="40276.3">13808 13248 8840,'19'-60'64,"-19"40"865,19 0 1473,1 1-480,1-2-673,18 21-512,-20 0-193,22 0-95,-22 0-161,20 21-192,-18-2-64,18 1 32,-39 0 0,20-1 64,-20 2-96,-20-1-160,1-1 64,-1 1-64,-20 0 96,1-1-32,20 22 160,-22-41-128,22 19 192,-1 1 32,-1-20 193,21 20 416,0-1-417,21-19 609,-1 21-705,-1-1 417,0 19-353,3-19-544,-3 1 224,0-2 320,1 1-1088,-1-20-129,2 21-1089,-1-21-673,-1 18-3618</inkml:trace>
  <inkml:trace contextRef="#ctx0" brushRef="#br0" timeOffset="40553.31">14362 13545 14029,'0'21'1057,"-19"-2"-769,19 1 1698,0-20-353,-20 21-928,20-3-288,0 23-546,0-22-255,0 2-577,0-21-1185,20 19-4740</inkml:trace>
  <inkml:trace contextRef="#ctx0" brushRef="#br0" timeOffset="40710.32">14441 13486 14862,'-19'0'-64,"19"-20"96,-19 20 544,19 0-704,0 0-449,19 0-2273</inkml:trace>
  <inkml:trace contextRef="#ctx0" brushRef="#br0" timeOffset="40982.33">14600 13626 13805,'0'18'224,"0"-18"1441,0 0-159,22 0-385,-22 0-833,19 0 0,0 0-320,20 0-448,-18 0-193,18 0-1569,-19 0-1986</inkml:trace>
  <inkml:trace contextRef="#ctx0" brushRef="#br0" timeOffset="41221.35">15157 13466 15214,'19'20'705,"-19"1"960,-19-21 545,19 18-256,-20 23-609,1-22-608,19 1 224,-22 19-961,22-19 448,0 20-416,-19-19-448,19-2-161,0 0-415,0-19-1122,0 21-705,19-21-2626</inkml:trace>
  <inkml:trace contextRef="#ctx0" brushRef="#br0" timeOffset="43395.48">11465 11500 6566,'0'0'1890,"-20"0"95,20 0-415,0-20-449,0 20-128,-21 0-96,21 0-161,0 0-127,-19 0-129,19 0-127,0 0-193,-20 0 32,20 0-96,-19 0 64,19 0-64,-21 0 33,21 0-33,-20 0 64,20 20-32,-19-20 0,19 0-64,-20 20 160,20-20-320,0 19 160,-21 2-64,21-21 128,0 19-31,0 1 191,0 0-320,0-20 288,-19 20-288,19-1 160,0 2 96,0-2-64,0 1-95,0 20-1,19-20-161,-19 19 194,0-18 31,0 18-128,0-19 64,0 19-32,0 1 96,0 0-320,21 0 640,-21-20-416,0 20-288,0-21 608,-21 21-320,21-1 160,0 1-127,0-19-65,0 18-129,-19-19 129,19 0 32,0 0 0,-20 0 1,20-1 31,-19 1 0,19 0 96,-21 0-32,1-20-224,1 20 192,0-20-96,-1 0 192,-1 20-160,21-20-160,-20 0 192,1 0-32,19 0-64,0 0 32,0 0-32,0 0-32,0 0-32,0-20 224,0 20-288,19 0 160,1 0 0,1 0 64,-21 20-64,20-20 0,-1 0 0,0 19 192,1 1-320,1 0 128,-2 0 32,1 0-32,-20 0 0,19-1 32,-19 2 0,0-2-32,21-19-32,-21 20 64,0 0 0,0 0-32,0-1 0,20 2 0,-20-1 0,0-1 0,0 1 0,0 0 96,19 0-32,-19 0-192,0 0 128,0 0 64,0-1-96,0 1 32,0 0 96,0 0-160,0 0 160,0 0 0,0-1-288,0 1 384,0 1-192,0-2 0,-19 1 96,19 0-96,0-1 0,0 2-128,-20-1 353,20-1-290,0 1 1,0 0 257,-21-1-225,21 2-97,0-1 129,-19-1 193,19-19-354,0 20 322,0 0-482,-20-1 353,20 2 353,0-1-385,0-20-32,-19 21 96,19-3-64,0 2-128,0-20 256,-21 21-192,21-2 192,0-19-128,-20 20 96,20 1-480,0-3 672,-19 2-544,19-20 672,0 21-544,0-2-64,0-19 256,19 21 416,-19-21-352,0 19-288,20-19 737,1 19-705,-2-19 704,1 21-384,-1-21-192,2 0 385,-1-21-161,-1 21-224,1 0-352,1 0 384,-2-19-1057,1 19-1121,-20 0-2114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13T12:17:10.174"/>
    </inkml:context>
    <inkml:brush xml:id="br0">
      <inkml:brushProperty name="width" value="0.05292" units="cm"/>
      <inkml:brushProperty name="height" value="0.05292" units="cm"/>
      <inkml:brushProperty name="color" value="#FF0000"/>
    </inkml:brush>
  </inkml:definitions>
  <inkml:trace contextRef="#ctx0" brushRef="#br0">4714 10928 24575,'-6'0'0,"-1"0"0,-1 0 0,2 0 0,0 0 0,0 1 0,1 2 0,0 2 0,1 1 0,0 0 0,1 1 0,-3 0 0,1 1 0,-2 2 0,1 0 0,1 1 0,1 0 0,1-2 0,1 0 0,0-2 0,0-1 0,0 1 0,1 3 0,-1 1 0,0 2 0,0 1 0,1-1 0,1 1 0,0-1 0,0 2 0,0 1 0,0 0 0,0 2 0,0 0 0,0 2 0,0 4 0,0 1 0,0 2 0,2-1 0,0-1 0,1 0 0,1-1 0,-2 1 0,-1 3 0,-1 5 0,0 5 0,0 6 0,0 1 0,0 0 0,0-3 0,0-5 0,0-5 0,-3-3 0,-2-2 0,0-4 0,-2-4 0,1-3 0,-1-3 0,0-1 0,1-2 0,-1-4 0,-1-2 0,-1-1 0,-4 0 0,-5 0 0,-4-1 0,-4 0 0,-4-2 0,-1-7 0,2-10 0,6-12 0,8-8 0,8 2 0,5 16 0,2 7 0</inkml:trace>
  <inkml:trace contextRef="#ctx0" brushRef="#br0" timeOffset="1647">4279 11431 24575,'19'0'0,"4"0"0,0 0 0,-3 0 0,-7 0 0,-7 0 0,2 0 0,1 0 0,0 0 0,-1 0 0,-3 0 0,0 0 0,1 0 0,3 0 0,2 0 0,-1 0 0,-2 2 0,-2 1 0,12 2 0,14 2 0,15 0 0,3-3 0,-10-2 0,-6-2 0,-8-4 0,-3-2 0,-4-1 0,-5 1 0,-5 3 0,-3 2 0,-4 1 0,0 0 0</inkml:trace>
  <inkml:trace contextRef="#ctx0" brushRef="#br0" timeOffset="3664">4827 11646 24575,'0'9'0,"0"6"0,0 10 0,0 8 0,0 6 0,0 1 0,0-4 0,0-4 0,0-6 0,0-3 0,0-3 0,0-2 0,0-4 0,0-2 0,0-5 0,0 0 0,0-1 0,0-3 0,0 0 0</inkml:trace>
  <inkml:trace contextRef="#ctx0" brushRef="#br0" timeOffset="6430">4985 11753 24575,'-16'17'0,"0"0"0,0 5 0,0-2 0,4-4 0,4-4 0,4-4 0,2-4 0,-1-1 0,0-1 0,0 0 0,0 1 0,3-1 0,4-4 0,1 1 0,7-3 0,7 4 0,9 2 0,7 3 0,-1 5 0,-4 2 0,-7-1 0,-5-2 0,-5-3 0,-5-1 0,-4-3 0,-3 0 0</inkml:trace>
  <inkml:trace contextRef="#ctx0" brushRef="#br0" timeOffset="7931">5294 11829 24575,'0'13'0,"0"5"0,0 4 0,0-1 0,0-2 0,0-3 0,0-3 0,0 1 0,0-2 0,0-3 0,0-1 0,0 0 0,0 4 0,0 5 0,0 3 0,0 1 0,0-5 0,0-7 0,0-5 0</inkml:trace>
  <inkml:trace contextRef="#ctx0" brushRef="#br0" timeOffset="10999">9684 10789 24575,'-4'-3'0,"0"0"0,-1 3 0,1 0 0,1 1 0,1 1 0,-1 1 0,0 3 0,-2 1 0,-1 2 0,-1 2 0,-2 1 0,1 2 0,-1-1 0,1 1 0,2 0 0,0-1 0,2 1 0,-1 3 0,1 4 0,2 2 0,-1 2 0,1 0 0,0-1 0,1 1 0,1 4 0,0 3 0,0 2 0,0 2 0,0 1 0,0 2 0,0-2 0,1 2 0,1-3 0,2-2 0,0-1 0,-2-4 0,0 0 0,-2 1 0,0 3 0,0 5 0,0 1 0,0-1 0,0-4 0,-1-8 0,-1-5 0,-1-5 0,-2-2 0,0 0 0,-2-1 0,0-1 0,2-2 0,0-3 0,0-4 0,0-2 0,-6-4 0,-10-21 0,9 15 0,-4-15 0</inkml:trace>
  <inkml:trace contextRef="#ctx0" brushRef="#br0" timeOffset="12482">9406 11301 24575,'7'-4'0,"10"2"0,14 2 0,10 0 0,7 0 0,-2 0 0,-10 0 0,-8 0 0,-13 0 0,-7 0 0,-2 0 0,-1 0 0,4 0 0,1 0 0,2 0 0,-1 0 0,-3 0 0,0 0 0,2 0 0,-4 0 0,0 0 0</inkml:trace>
  <inkml:trace contextRef="#ctx0" brushRef="#br0" timeOffset="13815">9888 11575 24575,'0'23'0,"0"5"0,0 11 0,0 1 0,0 2 0,0-5 0,0-2 0,0-6 0,0-4 0,0-3 0,0 0 0,0 1 0,0-3 0,0-2 0,0-3 0,0-8 0,0-1 0</inkml:trace>
  <inkml:trace contextRef="#ctx0" brushRef="#br0" timeOffset="15897">10048 11724 24575,'-6'8'0,"-4"2"0,1 2 0,-2 2 0,2-3 0,0 1 0,0-1 0,0 0 0,3-2 0,0-2 0,0-1 0,1 1 0,1-2 0,0 0 0,2 0 0,-2 1 0,0 0 0,2 0 0,5-3 0,10-2 0,11 5 0,5 5 0,4 5 0,-4 1 0,-7-2 0,-2-5 0,-2-3 0,-4-3 0,-4-2 0,-5 0 0,-3-1 0,0 1 0,0-1 0,-1 1 0,-1-1 0,0 1 0</inkml:trace>
  <inkml:trace contextRef="#ctx0" brushRef="#br0" timeOffset="17997">10220 11938 24575,'7'7'0,"-1"-1"0,-2 1 0,0-1 0,-2 0 0,1 1 0,1 2 0,2 1 0,0-1 0,-2-1 0,-1-2 0,-1-1 0,0-1 0,-1 2 0,1 2 0,-2 1 0,0 1 0,0-2 0,0-1 0,0-2 0,0-1 0,0 1 0,0 2 0,0 3 0,0 2 0,-3 1 0,-5 1 0,-6 2 0,-4 0 0,0 0 0,4-2 0,2-5 0,3-2 0,1-2 0,-1 0 0,0-1 0,1 1 0,3-2 0,1-1 0,1-1 0,1-1 0,20-8 0,15-2 0,22-12 0,8-2 0,-6 1 0,-12 5 0,-16 8 0,-12 5 0,-10 3 0,-3 2 0</inkml:trace>
  <inkml:trace contextRef="#ctx0" brushRef="#br0" timeOffset="20315">19522 10882 24575,'-2'18'0,"-3"2"0,-1 3 0,1 0 0,2 2 0,3 1 0,0 5 0,1 8 0,7 5 0,7 9 0,6 2 0,3 2 0,-2-4 0,-4-11 0,-6-7 0,-7-11 0,-4-2 0,-1 3 0,-1 2 0,-5 5 0,-5-2 0,-2-4 0,1-5 0,5-6 0,1-6 0,3-4 0,1-3 0</inkml:trace>
  <inkml:trace contextRef="#ctx0" brushRef="#br0" timeOffset="21348">19336 11412 24575,'22'-3'0,"18"0"0,14 3 0,6 0 0,-14 0 0,-16 0 0,-15 0 0,-9 0 0</inkml:trace>
  <inkml:trace contextRef="#ctx0" brushRef="#br0" timeOffset="22580">19831 11579 24575,'0'17'0,"0"6"0,0 8 0,0 6 0,0 1 0,0-2 0,0-4 0,0-4 0,0-6 0,0-4 0,0-2 0,0-1 0,0 1 0,0 0 0,0-1 0,0-8 0,0-1 0</inkml:trace>
  <inkml:trace contextRef="#ctx0" brushRef="#br0" timeOffset="24714">20089 11659 24575,'-13'6'0,"1"3"0,1 1 0,2 0 0,4-4 0,0-2 0,1 1 0,-3 2 0,-1 3 0,-1 2 0,1-2 0,2-3 0,1-1 0,-4 2 0,-11 9 0,-6 9 0,-4 4 0,4-2 0,13-12 0,8-8 0,9-6 0,8-2 0,14 0 0,18 0 0,21 8 0,-28-1 0,-1 2 0,30 13 0,-16 1 0,-19-7 0,-14-5 0,-8-5 0,-6-3 0</inkml:trace>
  <inkml:trace contextRef="#ctx0" brushRef="#br0" timeOffset="27950">20349 11852 24575,'0'18'0,"0"7"0,0 10 0,0 7 0,0-4 0,0-1 0,0-4 0,0-3 0,0-2 0,1-5 0,0-2 0,1-3 0,0-5 0,-4-6 0,-6-9 0,-7-9 0,-6-4 0,-1-1 0,3 2 0,5 6 0,4 4 0,4 3 0,2 1 0,2 1 0,0 1 0,-3 8 0,-6 8 0,-5 6 0,1 1 0,4-5 0,4-7 0,4-4 0,1-1 0,1-2 0,1 1 0,0-1 0,1 0 0,1-4 0,3-3 0,5-2 0,6-4 0,8-6 0,3-2 0,-3 0 0,-4 3 0,-7 4 0,-3 1 0,-1 0 0,-2-1 0,-1-1 0,0 1 0,-2 1 0,1 0 0,1-2 0,1-1 0,2-1 0,-2 2 0,-2 6 0,-3 3 0,-1 3 0,-1 3 0,0 1 0,0 1 0,0 1 0,2 5 0,-1 1 0,1 0 0,0-3 0,-2-4 0,0 0 0,0 5 0,2 6 0,1 3 0,1-3 0,-1-3 0,-2-3 0,0 1 0,1-1 0,0 1 0,1-2 0,-1-1 0,0-4 0,-1-2 0,0-1 0,1 1 0,0 1 0,-1-1 0,-1-2 0,0-2 0</inkml:trace>
  <inkml:trace contextRef="#ctx0" brushRef="#br0" timeOffset="31448">19523 11409 24575,'34'-1'0,"6"-1"0,6-5 0,-5-1 0,-11 0 0,-12 2 0,-9 3 0,-3 1 0,-3 1 0,3 1 0,6 0 0,6 0 0,3 0 0,-1 0 0,-7 0 0,-6 0 0,-2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C18ADF6-E617-4BC2-33C3-127940A0B844}"/>
              </a:ext>
            </a:extLst>
          </p:cNvPr>
          <p:cNvSpPr>
            <a:spLocks noGrp="1" noChangeArrowheads="1"/>
          </p:cNvSpPr>
          <p:nvPr>
            <p:ph type="hdr" sz="quarter"/>
          </p:nvPr>
        </p:nvSpPr>
        <p:spPr bwMode="auto">
          <a:xfrm>
            <a:off x="0" y="0"/>
            <a:ext cx="3074988" cy="511175"/>
          </a:xfrm>
          <a:prstGeom prst="rect">
            <a:avLst/>
          </a:prstGeom>
          <a:noFill/>
          <a:ln w="9525">
            <a:noFill/>
            <a:miter lim="800000"/>
            <a:headEnd/>
            <a:tailEnd/>
          </a:ln>
          <a:effectLst/>
        </p:spPr>
        <p:txBody>
          <a:bodyPr vert="horz" wrap="square" lIns="94918" tIns="47459" rIns="94918" bIns="47459" numCol="1" anchor="t" anchorCtr="0" compatLnSpc="1">
            <a:prstTxWarp prst="textNoShape">
              <a:avLst/>
            </a:prstTxWarp>
          </a:bodyPr>
          <a:lstStyle>
            <a:lvl1pPr defTabSz="949325">
              <a:defRPr sz="1300">
                <a:latin typeface="Times New Roman" pitchFamily="18" charset="0"/>
                <a:ea typeface="+mn-ea"/>
              </a:defRPr>
            </a:lvl1pPr>
          </a:lstStyle>
          <a:p>
            <a:pPr>
              <a:defRPr/>
            </a:pPr>
            <a:endParaRPr lang="de-DE"/>
          </a:p>
        </p:txBody>
      </p:sp>
      <p:sp>
        <p:nvSpPr>
          <p:cNvPr id="4099" name="Rectangle 3">
            <a:extLst>
              <a:ext uri="{FF2B5EF4-FFF2-40B4-BE49-F238E27FC236}">
                <a16:creationId xmlns:a16="http://schemas.microsoft.com/office/drawing/2014/main" id="{BFE20BF6-65C6-9628-7D67-AD237AC42F17}"/>
              </a:ext>
            </a:extLst>
          </p:cNvPr>
          <p:cNvSpPr>
            <a:spLocks noGrp="1" noChangeArrowheads="1"/>
          </p:cNvSpPr>
          <p:nvPr>
            <p:ph type="dt" idx="1"/>
          </p:nvPr>
        </p:nvSpPr>
        <p:spPr bwMode="auto">
          <a:xfrm>
            <a:off x="4024313" y="0"/>
            <a:ext cx="3074987" cy="511175"/>
          </a:xfrm>
          <a:prstGeom prst="rect">
            <a:avLst/>
          </a:prstGeom>
          <a:noFill/>
          <a:ln w="9525">
            <a:noFill/>
            <a:miter lim="800000"/>
            <a:headEnd/>
            <a:tailEnd/>
          </a:ln>
          <a:effectLst/>
        </p:spPr>
        <p:txBody>
          <a:bodyPr vert="horz" wrap="square" lIns="94918" tIns="47459" rIns="94918" bIns="47459" numCol="1" anchor="t" anchorCtr="0" compatLnSpc="1">
            <a:prstTxWarp prst="textNoShape">
              <a:avLst/>
            </a:prstTxWarp>
          </a:bodyPr>
          <a:lstStyle>
            <a:lvl1pPr algn="r" defTabSz="949325">
              <a:defRPr sz="1300">
                <a:latin typeface="Times New Roman" pitchFamily="18" charset="0"/>
                <a:ea typeface="+mn-ea"/>
              </a:defRPr>
            </a:lvl1pPr>
          </a:lstStyle>
          <a:p>
            <a:pPr>
              <a:defRPr/>
            </a:pPr>
            <a:endParaRPr lang="de-DE"/>
          </a:p>
        </p:txBody>
      </p:sp>
      <p:sp>
        <p:nvSpPr>
          <p:cNvPr id="18436" name="Rectangle 4">
            <a:extLst>
              <a:ext uri="{FF2B5EF4-FFF2-40B4-BE49-F238E27FC236}">
                <a16:creationId xmlns:a16="http://schemas.microsoft.com/office/drawing/2014/main" id="{A102E557-F885-3DEC-AA87-8BC093FFB106}"/>
              </a:ext>
            </a:extLst>
          </p:cNvPr>
          <p:cNvSpPr>
            <a:spLocks noGrp="1" noRot="1" noChangeAspect="1" noChangeArrowheads="1" noTextEdit="1"/>
          </p:cNvSpPr>
          <p:nvPr>
            <p:ph type="sldImg" idx="2"/>
          </p:nvPr>
        </p:nvSpPr>
        <p:spPr bwMode="auto">
          <a:xfrm>
            <a:off x="990600" y="766763"/>
            <a:ext cx="5119688" cy="38401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B1E70E1-A0B4-908E-F28B-9AE2117F348E}"/>
              </a:ext>
            </a:extLst>
          </p:cNvPr>
          <p:cNvSpPr>
            <a:spLocks noGrp="1" noChangeArrowheads="1"/>
          </p:cNvSpPr>
          <p:nvPr>
            <p:ph type="body" sz="quarter" idx="3"/>
          </p:nvPr>
        </p:nvSpPr>
        <p:spPr bwMode="auto">
          <a:xfrm>
            <a:off x="947738" y="4860925"/>
            <a:ext cx="5203825" cy="4606925"/>
          </a:xfrm>
          <a:prstGeom prst="rect">
            <a:avLst/>
          </a:prstGeom>
          <a:noFill/>
          <a:ln w="9525">
            <a:noFill/>
            <a:miter lim="800000"/>
            <a:headEnd/>
            <a:tailEnd/>
          </a:ln>
          <a:effectLst/>
        </p:spPr>
        <p:txBody>
          <a:bodyPr vert="horz" wrap="square" lIns="94918" tIns="47459" rIns="94918" bIns="47459" numCol="1" anchor="t" anchorCtr="0" compatLnSpc="1">
            <a:prstTxWarp prst="textNoShape">
              <a:avLst/>
            </a:prstTxWarp>
          </a:bodyPr>
          <a:lstStyle/>
          <a:p>
            <a:pPr lvl="0"/>
            <a:r>
              <a:rPr lang="de-DE" altLang="zh-CN"/>
              <a:t>Klicken Sie, um die Formate des Vorlagentextes zu bearbeiten</a:t>
            </a:r>
          </a:p>
          <a:p>
            <a:pPr lvl="1"/>
            <a:r>
              <a:rPr lang="de-DE" altLang="zh-CN"/>
              <a:t>Zweite Ebene</a:t>
            </a:r>
          </a:p>
          <a:p>
            <a:pPr lvl="2"/>
            <a:r>
              <a:rPr lang="de-DE" altLang="zh-CN"/>
              <a:t>Dritte Ebene</a:t>
            </a:r>
          </a:p>
          <a:p>
            <a:pPr lvl="3"/>
            <a:r>
              <a:rPr lang="de-DE" altLang="zh-CN"/>
              <a:t>Vierte Ebene</a:t>
            </a:r>
          </a:p>
          <a:p>
            <a:pPr lvl="4"/>
            <a:r>
              <a:rPr lang="de-DE" altLang="zh-CN"/>
              <a:t>Fünfte Ebene</a:t>
            </a:r>
          </a:p>
        </p:txBody>
      </p:sp>
      <p:sp>
        <p:nvSpPr>
          <p:cNvPr id="4102" name="Rectangle 6">
            <a:extLst>
              <a:ext uri="{FF2B5EF4-FFF2-40B4-BE49-F238E27FC236}">
                <a16:creationId xmlns:a16="http://schemas.microsoft.com/office/drawing/2014/main" id="{FBF26BD1-CEA6-4966-46F3-529E1266255E}"/>
              </a:ext>
            </a:extLst>
          </p:cNvPr>
          <p:cNvSpPr>
            <a:spLocks noGrp="1" noChangeArrowheads="1"/>
          </p:cNvSpPr>
          <p:nvPr>
            <p:ph type="ftr" sz="quarter" idx="4"/>
          </p:nvPr>
        </p:nvSpPr>
        <p:spPr bwMode="auto">
          <a:xfrm>
            <a:off x="0" y="9723438"/>
            <a:ext cx="3074988" cy="511175"/>
          </a:xfrm>
          <a:prstGeom prst="rect">
            <a:avLst/>
          </a:prstGeom>
          <a:noFill/>
          <a:ln w="9525">
            <a:noFill/>
            <a:miter lim="800000"/>
            <a:headEnd/>
            <a:tailEnd/>
          </a:ln>
          <a:effectLst/>
        </p:spPr>
        <p:txBody>
          <a:bodyPr vert="horz" wrap="square" lIns="94918" tIns="47459" rIns="94918" bIns="47459" numCol="1" anchor="b" anchorCtr="0" compatLnSpc="1">
            <a:prstTxWarp prst="textNoShape">
              <a:avLst/>
            </a:prstTxWarp>
          </a:bodyPr>
          <a:lstStyle>
            <a:lvl1pPr defTabSz="949325">
              <a:defRPr sz="1300">
                <a:latin typeface="Times New Roman" pitchFamily="18" charset="0"/>
                <a:ea typeface="+mn-ea"/>
              </a:defRPr>
            </a:lvl1pPr>
          </a:lstStyle>
          <a:p>
            <a:pPr>
              <a:defRPr/>
            </a:pPr>
            <a:endParaRPr lang="de-DE"/>
          </a:p>
        </p:txBody>
      </p:sp>
      <p:sp>
        <p:nvSpPr>
          <p:cNvPr id="4103" name="Rectangle 7">
            <a:extLst>
              <a:ext uri="{FF2B5EF4-FFF2-40B4-BE49-F238E27FC236}">
                <a16:creationId xmlns:a16="http://schemas.microsoft.com/office/drawing/2014/main" id="{15CAF262-B631-5476-C991-C5654686CA9D}"/>
              </a:ext>
            </a:extLst>
          </p:cNvPr>
          <p:cNvSpPr>
            <a:spLocks noGrp="1" noChangeArrowheads="1"/>
          </p:cNvSpPr>
          <p:nvPr>
            <p:ph type="sldNum" sz="quarter" idx="5"/>
          </p:nvPr>
        </p:nvSpPr>
        <p:spPr bwMode="auto">
          <a:xfrm>
            <a:off x="4024313" y="9723438"/>
            <a:ext cx="3074987" cy="511175"/>
          </a:xfrm>
          <a:prstGeom prst="rect">
            <a:avLst/>
          </a:prstGeom>
          <a:noFill/>
          <a:ln w="9525">
            <a:noFill/>
            <a:miter lim="800000"/>
            <a:headEnd/>
            <a:tailEnd/>
          </a:ln>
          <a:effectLst/>
        </p:spPr>
        <p:txBody>
          <a:bodyPr vert="horz" wrap="square" lIns="94918" tIns="47459" rIns="94918" bIns="47459" numCol="1" anchor="b" anchorCtr="0" compatLnSpc="1">
            <a:prstTxWarp prst="textNoShape">
              <a:avLst/>
            </a:prstTxWarp>
          </a:bodyPr>
          <a:lstStyle>
            <a:lvl1pPr algn="r" defTabSz="949325">
              <a:defRPr sz="1300">
                <a:latin typeface="Times New Roman" panose="02020603050405020304" pitchFamily="18" charset="0"/>
              </a:defRPr>
            </a:lvl1pPr>
          </a:lstStyle>
          <a:p>
            <a:fld id="{9EB3BC2E-B173-BE48-B529-57425ADA196E}" type="slidenum">
              <a:rPr lang="de-DE" altLang="zh-CN"/>
              <a:pPr/>
              <a:t>‹#›</a:t>
            </a:fld>
            <a:endParaRPr lang="de-DE"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7D221FF0-D6DA-46E6-B7C0-201F820699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4EE4EAA1-5BB7-D94E-AFC5-00C94FB226D1}" type="slidenum">
              <a:rPr lang="de-DE" altLang="zh-CN" sz="1300">
                <a:latin typeface="Times New Roman" panose="02020603050405020304" pitchFamily="18" charset="0"/>
              </a:rPr>
              <a:pPr/>
              <a:t>1</a:t>
            </a:fld>
            <a:endParaRPr lang="de-DE" altLang="zh-CN" sz="1300">
              <a:latin typeface="Times New Roman" panose="02020603050405020304" pitchFamily="18" charset="0"/>
            </a:endParaRPr>
          </a:p>
        </p:txBody>
      </p:sp>
      <p:sp>
        <p:nvSpPr>
          <p:cNvPr id="20482" name="Rectangle 2">
            <a:extLst>
              <a:ext uri="{FF2B5EF4-FFF2-40B4-BE49-F238E27FC236}">
                <a16:creationId xmlns:a16="http://schemas.microsoft.com/office/drawing/2014/main" id="{7DAAD8D1-F177-F459-22C6-9E0B809A6F7C}"/>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7156EC1C-3F7D-2F9E-92E8-E17E6DC76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D3770FD8-736A-1843-68E3-07A20AA3C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DA11F56-EE61-C24A-9647-066F087B811E}" type="slidenum">
              <a:rPr lang="de-DE" altLang="zh-CN" sz="1300">
                <a:latin typeface="Times New Roman" panose="02020603050405020304" pitchFamily="18" charset="0"/>
              </a:rPr>
              <a:pPr/>
              <a:t>2</a:t>
            </a:fld>
            <a:endParaRPr lang="de-DE" altLang="zh-CN" sz="1300">
              <a:latin typeface="Times New Roman" panose="02020603050405020304" pitchFamily="18" charset="0"/>
            </a:endParaRPr>
          </a:p>
        </p:txBody>
      </p:sp>
      <p:sp>
        <p:nvSpPr>
          <p:cNvPr id="24578" name="Rectangle 2">
            <a:extLst>
              <a:ext uri="{FF2B5EF4-FFF2-40B4-BE49-F238E27FC236}">
                <a16:creationId xmlns:a16="http://schemas.microsoft.com/office/drawing/2014/main" id="{1BC71E07-18D5-C300-2BA3-8A329DA7579C}"/>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2FDCC118-D02E-9718-CF5A-101F6AB96C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7D7519DE-86E1-C917-57E9-A90A0C787D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91C0F2E4-1179-5A4A-82FC-AAF380D40E11}" type="slidenum">
              <a:rPr lang="de-DE" altLang="zh-CN" sz="1300">
                <a:latin typeface="Times New Roman" panose="02020603050405020304" pitchFamily="18" charset="0"/>
              </a:rPr>
              <a:pPr/>
              <a:t>3</a:t>
            </a:fld>
            <a:endParaRPr lang="de-DE" altLang="zh-CN" sz="1300">
              <a:latin typeface="Times New Roman" panose="02020603050405020304" pitchFamily="18" charset="0"/>
            </a:endParaRPr>
          </a:p>
        </p:txBody>
      </p:sp>
      <p:sp>
        <p:nvSpPr>
          <p:cNvPr id="26626" name="Rectangle 2">
            <a:extLst>
              <a:ext uri="{FF2B5EF4-FFF2-40B4-BE49-F238E27FC236}">
                <a16:creationId xmlns:a16="http://schemas.microsoft.com/office/drawing/2014/main" id="{79D70550-4BE0-2311-95B8-0A25F7E03D7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8C62BA28-8026-FFDF-DB39-4F2BFA8E97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4A3D20AD-51E9-3FFD-27F2-065D45D992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FE447EF-6D53-A24A-BB01-653C5AC96075}" type="slidenum">
              <a:rPr lang="de-DE" altLang="zh-CN" sz="1300">
                <a:latin typeface="Times New Roman" panose="02020603050405020304" pitchFamily="18" charset="0"/>
              </a:rPr>
              <a:pPr/>
              <a:t>4</a:t>
            </a:fld>
            <a:endParaRPr lang="de-DE" altLang="zh-CN" sz="1300">
              <a:latin typeface="Times New Roman" panose="02020603050405020304" pitchFamily="18" charset="0"/>
            </a:endParaRPr>
          </a:p>
        </p:txBody>
      </p:sp>
      <p:sp>
        <p:nvSpPr>
          <p:cNvPr id="28674" name="Rectangle 2">
            <a:extLst>
              <a:ext uri="{FF2B5EF4-FFF2-40B4-BE49-F238E27FC236}">
                <a16:creationId xmlns:a16="http://schemas.microsoft.com/office/drawing/2014/main" id="{3438E7CD-184B-CA75-B144-736FF8993EAF}"/>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7BE242D2-1E2D-FB84-9A7A-8AC30ADE71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83E667B1-A60C-1B87-B599-61C5FDDA6F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614486C-ADBF-AE47-A8F0-DFD103A3EED0}" type="slidenum">
              <a:rPr lang="de-DE" altLang="zh-CN" sz="1300">
                <a:latin typeface="Times New Roman" panose="02020603050405020304" pitchFamily="18" charset="0"/>
              </a:rPr>
              <a:pPr/>
              <a:t>5</a:t>
            </a:fld>
            <a:endParaRPr lang="de-DE" altLang="zh-CN" sz="1300">
              <a:latin typeface="Times New Roman" panose="02020603050405020304" pitchFamily="18" charset="0"/>
            </a:endParaRPr>
          </a:p>
        </p:txBody>
      </p:sp>
      <p:sp>
        <p:nvSpPr>
          <p:cNvPr id="30722" name="Rectangle 2">
            <a:extLst>
              <a:ext uri="{FF2B5EF4-FFF2-40B4-BE49-F238E27FC236}">
                <a16:creationId xmlns:a16="http://schemas.microsoft.com/office/drawing/2014/main" id="{FD7988E2-07BC-45E0-69A6-CD64DFA32398}"/>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D529DC76-C960-62BE-68F0-A98A4C0FBD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Folienbildplatzhalter 1">
            <a:extLst>
              <a:ext uri="{FF2B5EF4-FFF2-40B4-BE49-F238E27FC236}">
                <a16:creationId xmlns:a16="http://schemas.microsoft.com/office/drawing/2014/main" id="{134BFF2A-6AA2-94FA-2DFF-19A1D794D612}"/>
              </a:ext>
            </a:extLst>
          </p:cNvPr>
          <p:cNvSpPr>
            <a:spLocks noGrp="1" noRot="1" noChangeAspect="1" noTextEdit="1"/>
          </p:cNvSpPr>
          <p:nvPr>
            <p:ph type="sldImg"/>
          </p:nvPr>
        </p:nvSpPr>
        <p:spPr>
          <a:ln/>
        </p:spPr>
      </p:sp>
      <p:sp>
        <p:nvSpPr>
          <p:cNvPr id="32770" name="Notizenplatzhalter 2">
            <a:extLst>
              <a:ext uri="{FF2B5EF4-FFF2-40B4-BE49-F238E27FC236}">
                <a16:creationId xmlns:a16="http://schemas.microsoft.com/office/drawing/2014/main" id="{8666AFF4-ADF2-FA32-7F26-4F928FF9F5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
        <p:nvSpPr>
          <p:cNvPr id="32771" name="Foliennummernplatzhalter 3">
            <a:extLst>
              <a:ext uri="{FF2B5EF4-FFF2-40B4-BE49-F238E27FC236}">
                <a16:creationId xmlns:a16="http://schemas.microsoft.com/office/drawing/2014/main" id="{686EC9B6-1E21-E551-6DA8-B79E11E6FD6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18C53A44-B220-974A-BD03-E5646494FDF5}" type="slidenum">
              <a:rPr lang="de-DE" altLang="zh-CN" sz="1300">
                <a:latin typeface="Times New Roman" panose="02020603050405020304" pitchFamily="18" charset="0"/>
              </a:rPr>
              <a:pPr/>
              <a:t>6</a:t>
            </a:fld>
            <a:endParaRPr lang="de-DE" altLang="zh-CN" sz="130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Folienbildplatzhalter 1">
            <a:extLst>
              <a:ext uri="{FF2B5EF4-FFF2-40B4-BE49-F238E27FC236}">
                <a16:creationId xmlns:a16="http://schemas.microsoft.com/office/drawing/2014/main" id="{19FD4454-01D2-036C-CA96-4D90FF5741B3}"/>
              </a:ext>
            </a:extLst>
          </p:cNvPr>
          <p:cNvSpPr>
            <a:spLocks noGrp="1" noRot="1" noChangeAspect="1" noTextEdit="1"/>
          </p:cNvSpPr>
          <p:nvPr>
            <p:ph type="sldImg"/>
          </p:nvPr>
        </p:nvSpPr>
        <p:spPr>
          <a:ln/>
        </p:spPr>
      </p:sp>
      <p:sp>
        <p:nvSpPr>
          <p:cNvPr id="34818" name="Notizenplatzhalter 2">
            <a:extLst>
              <a:ext uri="{FF2B5EF4-FFF2-40B4-BE49-F238E27FC236}">
                <a16:creationId xmlns:a16="http://schemas.microsoft.com/office/drawing/2014/main" id="{FF02E396-A265-239D-C657-6BE1BA95F43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
        <p:nvSpPr>
          <p:cNvPr id="34819" name="Foliennummernplatzhalter 3">
            <a:extLst>
              <a:ext uri="{FF2B5EF4-FFF2-40B4-BE49-F238E27FC236}">
                <a16:creationId xmlns:a16="http://schemas.microsoft.com/office/drawing/2014/main" id="{4825FB72-DFD4-F084-0CD7-B3414D1B7A1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E5B354F-84F3-F14D-8FBE-F253E506663F}" type="slidenum">
              <a:rPr lang="de-DE" altLang="zh-CN" sz="1300">
                <a:latin typeface="Times New Roman" panose="02020603050405020304" pitchFamily="18" charset="0"/>
              </a:rPr>
              <a:pPr/>
              <a:t>7</a:t>
            </a:fld>
            <a:endParaRPr lang="de-DE" altLang="zh-CN" sz="130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EB3BC2E-B173-BE48-B529-57425ADA196E}" type="slidenum">
              <a:rPr lang="de-DE" altLang="zh-CN" smtClean="0"/>
              <a:pPr/>
              <a:t>9</a:t>
            </a:fld>
            <a:endParaRPr lang="de-DE" altLang="zh-CN"/>
          </a:p>
        </p:txBody>
      </p:sp>
    </p:spTree>
    <p:extLst>
      <p:ext uri="{BB962C8B-B14F-4D97-AF65-F5344CB8AC3E}">
        <p14:creationId xmlns:p14="http://schemas.microsoft.com/office/powerpoint/2010/main" val="4213759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A desirable property of any encryption algorithm is that a small change in either</a:t>
            </a:r>
          </a:p>
          <a:p>
            <a:r>
              <a:rPr lang="en-US" sz="1200" kern="1200" baseline="0" dirty="0">
                <a:solidFill>
                  <a:schemeClr val="tx1"/>
                </a:solidFill>
                <a:latin typeface="Arial" charset="0"/>
                <a:ea typeface="ＭＳ Ｐゴシック" pitchFamily="-107" charset="-128"/>
                <a:cs typeface="ＭＳ Ｐゴシック" pitchFamily="-107" charset="-128"/>
              </a:rPr>
              <a:t>the plaintext or the key should produce a significant change in the </a:t>
            </a:r>
            <a:r>
              <a:rPr lang="en-US" sz="1200" kern="1200" baseline="0" dirty="0" err="1">
                <a:solidFill>
                  <a:schemeClr val="tx1"/>
                </a:solidFill>
                <a:latin typeface="Arial" charset="0"/>
                <a:ea typeface="ＭＳ Ｐゴシック" pitchFamily="-107" charset="-128"/>
                <a:cs typeface="ＭＳ Ｐゴシック" pitchFamily="-107" charset="-128"/>
              </a:rPr>
              <a:t>ciphertext</a:t>
            </a:r>
            <a:r>
              <a:rPr lang="en-US" sz="1200" kern="1200" baseline="0" dirty="0">
                <a:solidFill>
                  <a:schemeClr val="tx1"/>
                </a:solidFill>
                <a:latin typeface="Arial" charset="0"/>
                <a:ea typeface="ＭＳ Ｐゴシック" pitchFamily="-107" charset="-128"/>
                <a:cs typeface="ＭＳ Ｐゴシック" pitchFamily="-107" charset="-128"/>
              </a:rPr>
              <a:t>. In</a:t>
            </a:r>
          </a:p>
          <a:p>
            <a:r>
              <a:rPr lang="en-US" sz="1200" kern="1200" baseline="0" dirty="0">
                <a:solidFill>
                  <a:schemeClr val="tx1"/>
                </a:solidFill>
                <a:latin typeface="Arial" charset="0"/>
                <a:ea typeface="ＭＳ Ｐゴシック" pitchFamily="-107" charset="-128"/>
                <a:cs typeface="ＭＳ Ｐゴシック" pitchFamily="-107" charset="-128"/>
              </a:rPr>
              <a:t>particular, a change in one bit of the plaintext or one bit of the key should produce</a:t>
            </a:r>
          </a:p>
          <a:p>
            <a:r>
              <a:rPr lang="en-US" sz="1200" kern="1200" baseline="0" dirty="0">
                <a:solidFill>
                  <a:schemeClr val="tx1"/>
                </a:solidFill>
                <a:latin typeface="Arial" charset="0"/>
                <a:ea typeface="ＭＳ Ｐゴシック" pitchFamily="-107" charset="-128"/>
                <a:cs typeface="ＭＳ Ｐゴシック" pitchFamily="-107" charset="-128"/>
              </a:rPr>
              <a:t>a change in many bits of the </a:t>
            </a:r>
            <a:r>
              <a:rPr lang="en-US" sz="1200" kern="1200" baseline="0" dirty="0" err="1">
                <a:solidFill>
                  <a:schemeClr val="tx1"/>
                </a:solidFill>
                <a:latin typeface="Arial" charset="0"/>
                <a:ea typeface="ＭＳ Ｐゴシック" pitchFamily="-107" charset="-128"/>
                <a:cs typeface="ＭＳ Ｐゴシック" pitchFamily="-107" charset="-128"/>
              </a:rPr>
              <a:t>ciphertext</a:t>
            </a:r>
            <a:r>
              <a:rPr lang="en-US" sz="1200" kern="1200" baseline="0" dirty="0">
                <a:solidFill>
                  <a:schemeClr val="tx1"/>
                </a:solidFill>
                <a:latin typeface="Arial" charset="0"/>
                <a:ea typeface="ＭＳ Ｐゴシック" pitchFamily="-107" charset="-128"/>
                <a:cs typeface="ＭＳ Ｐゴシック" pitchFamily="-107" charset="-128"/>
              </a:rPr>
              <a:t>. This is referred to as the avalanche effect. If</a:t>
            </a:r>
          </a:p>
          <a:p>
            <a:r>
              <a:rPr lang="en-US" sz="1200" kern="1200" baseline="0" dirty="0">
                <a:solidFill>
                  <a:schemeClr val="tx1"/>
                </a:solidFill>
                <a:latin typeface="Arial" charset="0"/>
                <a:ea typeface="ＭＳ Ｐゴシック" pitchFamily="-107" charset="-128"/>
                <a:cs typeface="ＭＳ Ｐゴシック" pitchFamily="-107" charset="-128"/>
              </a:rPr>
              <a:t>the change were small, this might provide a way to reduce the size of the plaintext</a:t>
            </a:r>
          </a:p>
          <a:p>
            <a:r>
              <a:rPr lang="en-US" sz="1200" kern="1200" baseline="0" dirty="0">
                <a:solidFill>
                  <a:schemeClr val="tx1"/>
                </a:solidFill>
                <a:latin typeface="Arial" charset="0"/>
                <a:ea typeface="ＭＳ Ｐゴシック" pitchFamily="-107" charset="-128"/>
                <a:cs typeface="ＭＳ Ｐゴシック" pitchFamily="-107" charset="-128"/>
              </a:rPr>
              <a:t>or key space to be searched.</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Using the example from Table 4.2, Table 4.3 shows the result when the fourth </a:t>
            </a:r>
          </a:p>
          <a:p>
            <a:r>
              <a:rPr lang="en-US" sz="1200" kern="1200" baseline="0" dirty="0">
                <a:solidFill>
                  <a:schemeClr val="tx1"/>
                </a:solidFill>
                <a:latin typeface="Arial" charset="0"/>
                <a:ea typeface="ＭＳ Ｐゴシック" pitchFamily="-107" charset="-128"/>
                <a:cs typeface="ＭＳ Ｐゴシック" pitchFamily="-107" charset="-128"/>
              </a:rPr>
              <a:t>bit of the plaintext is changed, so that the plaintext is </a:t>
            </a:r>
            <a:r>
              <a:rPr lang="en-US" sz="1200" b="1" kern="1200" baseline="0" dirty="0">
                <a:solidFill>
                  <a:schemeClr val="tx1"/>
                </a:solidFill>
                <a:latin typeface="Arial" charset="0"/>
                <a:ea typeface="ＭＳ Ｐゴシック" pitchFamily="-107" charset="-128"/>
                <a:cs typeface="ＭＳ Ｐゴシック" pitchFamily="-107" charset="-128"/>
              </a:rPr>
              <a:t>12468aceeca86420</a:t>
            </a:r>
            <a:r>
              <a:rPr lang="en-US" sz="1200" kern="1200" baseline="0" dirty="0">
                <a:solidFill>
                  <a:schemeClr val="tx1"/>
                </a:solidFill>
                <a:latin typeface="Arial" charset="0"/>
                <a:ea typeface="ＭＳ Ｐゴシック" pitchFamily="-107" charset="-128"/>
                <a:cs typeface="ＭＳ Ｐゴシック" pitchFamily="-107" charset="-128"/>
              </a:rPr>
              <a:t>. The</a:t>
            </a:r>
          </a:p>
          <a:p>
            <a:r>
              <a:rPr lang="en-US" sz="1200" kern="1200" baseline="0" dirty="0">
                <a:solidFill>
                  <a:schemeClr val="tx1"/>
                </a:solidFill>
                <a:latin typeface="Arial" charset="0"/>
                <a:ea typeface="ＭＳ Ｐゴシック" pitchFamily="-107" charset="-128"/>
                <a:cs typeface="ＭＳ Ｐゴシック" pitchFamily="-107" charset="-128"/>
              </a:rPr>
              <a:t>second column of the table shows the intermediate 64-bit values at the end of each</a:t>
            </a:r>
          </a:p>
          <a:p>
            <a:r>
              <a:rPr lang="en-US" sz="1200" kern="1200" baseline="0" dirty="0">
                <a:solidFill>
                  <a:schemeClr val="tx1"/>
                </a:solidFill>
                <a:latin typeface="Arial" charset="0"/>
                <a:ea typeface="ＭＳ Ｐゴシック" pitchFamily="-107" charset="-128"/>
                <a:cs typeface="ＭＳ Ｐゴシック" pitchFamily="-107" charset="-128"/>
              </a:rPr>
              <a:t>round for the two plaintexts. The third column shows the number of bits that differ</a:t>
            </a:r>
          </a:p>
          <a:p>
            <a:r>
              <a:rPr lang="en-US" sz="1200" kern="1200" baseline="0" dirty="0">
                <a:solidFill>
                  <a:schemeClr val="tx1"/>
                </a:solidFill>
                <a:latin typeface="Arial" charset="0"/>
                <a:ea typeface="ＭＳ Ｐゴシック" pitchFamily="-107" charset="-128"/>
                <a:cs typeface="ＭＳ Ｐゴシック" pitchFamily="-107" charset="-128"/>
              </a:rPr>
              <a:t>between the two intermediate values. The table shows that, after just three rounds,</a:t>
            </a:r>
          </a:p>
          <a:p>
            <a:r>
              <a:rPr lang="en-US" sz="1200" kern="1200" baseline="0" dirty="0">
                <a:solidFill>
                  <a:schemeClr val="tx1"/>
                </a:solidFill>
                <a:latin typeface="Arial" charset="0"/>
                <a:ea typeface="ＭＳ Ｐゴシック" pitchFamily="-107" charset="-128"/>
                <a:cs typeface="ＭＳ Ｐゴシック" pitchFamily="-107" charset="-128"/>
              </a:rPr>
              <a:t>18 bits differ between the two blocks. On completion, the two </a:t>
            </a:r>
            <a:r>
              <a:rPr lang="en-US" sz="1200" kern="1200" baseline="0" dirty="0" err="1">
                <a:solidFill>
                  <a:schemeClr val="tx1"/>
                </a:solidFill>
                <a:latin typeface="Arial" charset="0"/>
                <a:ea typeface="ＭＳ Ｐゴシック" pitchFamily="-107" charset="-128"/>
                <a:cs typeface="ＭＳ Ｐゴシック" pitchFamily="-107" charset="-128"/>
              </a:rPr>
              <a:t>ciphertexts</a:t>
            </a:r>
            <a:r>
              <a:rPr lang="en-US" sz="1200" kern="1200" baseline="0" dirty="0">
                <a:solidFill>
                  <a:schemeClr val="tx1"/>
                </a:solidFill>
                <a:latin typeface="Arial" charset="0"/>
                <a:ea typeface="ＭＳ Ｐゴシック" pitchFamily="-107" charset="-128"/>
                <a:cs typeface="ＭＳ Ｐゴシック" pitchFamily="-107" charset="-128"/>
              </a:rPr>
              <a:t> differ in</a:t>
            </a:r>
          </a:p>
          <a:p>
            <a:r>
              <a:rPr lang="en-US" sz="1200" kern="1200" baseline="0" dirty="0">
                <a:solidFill>
                  <a:schemeClr val="tx1"/>
                </a:solidFill>
                <a:latin typeface="Arial" charset="0"/>
                <a:ea typeface="ＭＳ Ｐゴシック" pitchFamily="-107" charset="-128"/>
                <a:cs typeface="ＭＳ Ｐゴシック" pitchFamily="-107" charset="-128"/>
              </a:rPr>
              <a:t>32 bit positions.</a:t>
            </a:r>
            <a:endParaRPr lang="en-US" b="0" dirty="0"/>
          </a:p>
          <a:p>
            <a:endParaRPr lang="en-AU" b="0" dirty="0">
              <a:latin typeface="Arial"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4914277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Table 4.4 shows a similar test using the original plaintext of with two keys that</a:t>
            </a:r>
          </a:p>
          <a:p>
            <a:r>
              <a:rPr lang="en-US" sz="1200" kern="1200" baseline="0" dirty="0">
                <a:solidFill>
                  <a:schemeClr val="tx1"/>
                </a:solidFill>
                <a:latin typeface="Arial" charset="0"/>
                <a:ea typeface="ＭＳ Ｐゴシック" pitchFamily="-107" charset="-128"/>
                <a:cs typeface="ＭＳ Ｐゴシック" pitchFamily="-107" charset="-128"/>
              </a:rPr>
              <a:t>differ in only the fourth bit position: the original key, </a:t>
            </a:r>
            <a:r>
              <a:rPr lang="en-US" sz="1200" b="1" kern="1200" baseline="0" dirty="0">
                <a:solidFill>
                  <a:schemeClr val="tx1"/>
                </a:solidFill>
                <a:latin typeface="Arial" charset="0"/>
                <a:ea typeface="ＭＳ Ｐゴシック" pitchFamily="-107" charset="-128"/>
                <a:cs typeface="ＭＳ Ｐゴシック" pitchFamily="-107" charset="-128"/>
              </a:rPr>
              <a:t>0f1571c947d9e859</a:t>
            </a:r>
            <a:r>
              <a:rPr lang="en-US" sz="1200" kern="1200" baseline="0" dirty="0">
                <a:solidFill>
                  <a:schemeClr val="tx1"/>
                </a:solidFill>
                <a:latin typeface="Arial" charset="0"/>
                <a:ea typeface="ＭＳ Ｐゴシック" pitchFamily="-107" charset="-128"/>
                <a:cs typeface="ＭＳ Ｐゴシック" pitchFamily="-107" charset="-128"/>
              </a:rPr>
              <a:t>, and</a:t>
            </a:r>
          </a:p>
          <a:p>
            <a:r>
              <a:rPr lang="en-US" sz="1200" kern="1200" baseline="0" dirty="0">
                <a:solidFill>
                  <a:schemeClr val="tx1"/>
                </a:solidFill>
                <a:latin typeface="Arial" charset="0"/>
                <a:ea typeface="ＭＳ Ｐゴシック" pitchFamily="-107" charset="-128"/>
                <a:cs typeface="ＭＳ Ｐゴシック" pitchFamily="-107" charset="-128"/>
              </a:rPr>
              <a:t>the altered key, </a:t>
            </a:r>
            <a:r>
              <a:rPr lang="en-US" sz="1200" b="1" kern="1200" baseline="0" dirty="0">
                <a:solidFill>
                  <a:schemeClr val="tx1"/>
                </a:solidFill>
                <a:latin typeface="Arial" charset="0"/>
                <a:ea typeface="ＭＳ Ｐゴシック" pitchFamily="-107" charset="-128"/>
                <a:cs typeface="ＭＳ Ｐゴシック" pitchFamily="-107" charset="-128"/>
              </a:rPr>
              <a:t>1f1571c947d9e859</a:t>
            </a:r>
            <a:r>
              <a:rPr lang="en-US" sz="1200" kern="1200" baseline="0" dirty="0">
                <a:solidFill>
                  <a:schemeClr val="tx1"/>
                </a:solidFill>
                <a:latin typeface="Arial" charset="0"/>
                <a:ea typeface="ＭＳ Ｐゴシック" pitchFamily="-107" charset="-128"/>
                <a:cs typeface="ＭＳ Ｐゴシック" pitchFamily="-107" charset="-128"/>
              </a:rPr>
              <a:t>. Again, the results show that about half of</a:t>
            </a:r>
          </a:p>
          <a:p>
            <a:r>
              <a:rPr lang="en-US" sz="1200" kern="1200" baseline="0" dirty="0">
                <a:solidFill>
                  <a:schemeClr val="tx1"/>
                </a:solidFill>
                <a:latin typeface="Arial" charset="0"/>
                <a:ea typeface="ＭＳ Ｐゴシック" pitchFamily="-107" charset="-128"/>
                <a:cs typeface="ＭＳ Ｐゴシック" pitchFamily="-107" charset="-128"/>
              </a:rPr>
              <a:t>the bits in the </a:t>
            </a:r>
            <a:r>
              <a:rPr lang="en-US" sz="1200" kern="1200" baseline="0" dirty="0" err="1">
                <a:solidFill>
                  <a:schemeClr val="tx1"/>
                </a:solidFill>
                <a:latin typeface="Arial" charset="0"/>
                <a:ea typeface="ＭＳ Ｐゴシック" pitchFamily="-107" charset="-128"/>
                <a:cs typeface="ＭＳ Ｐゴシック" pitchFamily="-107" charset="-128"/>
              </a:rPr>
              <a:t>ciphertext</a:t>
            </a:r>
            <a:r>
              <a:rPr lang="en-US" sz="1200" kern="1200" baseline="0" dirty="0">
                <a:solidFill>
                  <a:schemeClr val="tx1"/>
                </a:solidFill>
                <a:latin typeface="Arial" charset="0"/>
                <a:ea typeface="ＭＳ Ｐゴシック" pitchFamily="-107" charset="-128"/>
                <a:cs typeface="ＭＳ Ｐゴシック" pitchFamily="-107" charset="-128"/>
              </a:rPr>
              <a:t> differ and that the avalanche effect is pronounced after just</a:t>
            </a:r>
          </a:p>
          <a:p>
            <a:r>
              <a:rPr lang="en-US" sz="1200" kern="1200" baseline="0" dirty="0">
                <a:solidFill>
                  <a:schemeClr val="tx1"/>
                </a:solidFill>
                <a:latin typeface="Arial" charset="0"/>
                <a:ea typeface="ＭＳ Ｐゴシック" pitchFamily="-107" charset="-128"/>
                <a:cs typeface="ＭＳ Ｐゴシック" pitchFamily="-107" charset="-128"/>
              </a:rPr>
              <a:t>a few rounds.</a:t>
            </a:r>
            <a:endParaRPr lang="en-US" b="0" dirty="0"/>
          </a:p>
          <a:p>
            <a:endParaRPr lang="en-AU" b="0" dirty="0">
              <a:latin typeface="Arial"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3D6722-9B4D-4E29-B226-C325925A8118}"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4078011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D0AE9905-CF25-A2D1-0073-9F0980E6B6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DCED1E07-8875-D443-94DD-A5B95112BAEA}" type="slidenum">
              <a:rPr lang="de-DE" altLang="zh-CN" sz="1300">
                <a:latin typeface="Times New Roman" panose="02020603050405020304" pitchFamily="18" charset="0"/>
              </a:rPr>
              <a:pPr/>
              <a:t>12</a:t>
            </a:fld>
            <a:endParaRPr lang="de-DE" altLang="zh-CN" sz="1300">
              <a:latin typeface="Times New Roman" panose="02020603050405020304" pitchFamily="18" charset="0"/>
            </a:endParaRPr>
          </a:p>
        </p:txBody>
      </p:sp>
      <p:sp>
        <p:nvSpPr>
          <p:cNvPr id="36866" name="Rectangle 2">
            <a:extLst>
              <a:ext uri="{FF2B5EF4-FFF2-40B4-BE49-F238E27FC236}">
                <a16:creationId xmlns:a16="http://schemas.microsoft.com/office/drawing/2014/main" id="{AA6DEDC9-01EB-7D74-8528-C6EFD2E3FAD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0337633D-E3E0-BABC-D048-ABED5A9FC4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35F6267-4820-C847-72A6-1B361E31A5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99124C14-4E92-DD4E-AA81-D4278DE45124}" type="slidenum">
              <a:rPr lang="de-DE" altLang="zh-CN" sz="1300">
                <a:latin typeface="Times New Roman" panose="02020603050405020304" pitchFamily="18" charset="0"/>
              </a:rPr>
              <a:pPr/>
              <a:t>13</a:t>
            </a:fld>
            <a:endParaRPr lang="de-DE" altLang="zh-CN" sz="1300">
              <a:latin typeface="Times New Roman" panose="02020603050405020304" pitchFamily="18" charset="0"/>
            </a:endParaRPr>
          </a:p>
        </p:txBody>
      </p:sp>
      <p:sp>
        <p:nvSpPr>
          <p:cNvPr id="38914" name="Rectangle 2">
            <a:extLst>
              <a:ext uri="{FF2B5EF4-FFF2-40B4-BE49-F238E27FC236}">
                <a16:creationId xmlns:a16="http://schemas.microsoft.com/office/drawing/2014/main" id="{50EEB060-9BD1-4124-13BB-A042CDF58EA8}"/>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373A3898-BF1D-A7FA-D65A-C787D92C90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1BB7AEE8-CF69-236B-136C-0E5D87AE92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711F98C3-0276-C847-946E-3D985CC63BCB}" type="slidenum">
              <a:rPr lang="de-DE" altLang="zh-CN" sz="1300">
                <a:latin typeface="Times New Roman" panose="02020603050405020304" pitchFamily="18" charset="0"/>
              </a:rPr>
              <a:pPr/>
              <a:t>14</a:t>
            </a:fld>
            <a:endParaRPr lang="de-DE" altLang="zh-CN" sz="1300">
              <a:latin typeface="Times New Roman" panose="02020603050405020304" pitchFamily="18" charset="0"/>
            </a:endParaRPr>
          </a:p>
        </p:txBody>
      </p:sp>
      <p:sp>
        <p:nvSpPr>
          <p:cNvPr id="40962" name="Rectangle 2">
            <a:extLst>
              <a:ext uri="{FF2B5EF4-FFF2-40B4-BE49-F238E27FC236}">
                <a16:creationId xmlns:a16="http://schemas.microsoft.com/office/drawing/2014/main" id="{DF0AE0C9-1613-18B4-E02E-4BE7EA6526B6}"/>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9FF16C4B-F101-DCB2-274E-728DF5D952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1E1D9FE9-CF58-D9E9-D33B-77EDE0F1C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8A2FCD7-5E8C-3F49-9810-BF74DD698C4E}" type="slidenum">
              <a:rPr lang="de-DE" altLang="zh-CN" sz="1300">
                <a:latin typeface="Times New Roman" panose="02020603050405020304" pitchFamily="18" charset="0"/>
              </a:rPr>
              <a:pPr/>
              <a:t>15</a:t>
            </a:fld>
            <a:endParaRPr lang="de-DE" altLang="zh-CN" sz="1300">
              <a:latin typeface="Times New Roman" panose="02020603050405020304" pitchFamily="18" charset="0"/>
            </a:endParaRPr>
          </a:p>
        </p:txBody>
      </p:sp>
      <p:sp>
        <p:nvSpPr>
          <p:cNvPr id="43010" name="Rectangle 2">
            <a:extLst>
              <a:ext uri="{FF2B5EF4-FFF2-40B4-BE49-F238E27FC236}">
                <a16:creationId xmlns:a16="http://schemas.microsoft.com/office/drawing/2014/main" id="{FEE92883-7FBA-CDB7-9606-E3AB69C5944C}"/>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87CA33AD-AFB6-071E-2FE3-7A5974F111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F03341A2-704B-E572-D89F-A3365DAEC3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FD8590B-96F5-B04A-8E1F-CA0C53211874}" type="slidenum">
              <a:rPr lang="de-DE" altLang="zh-CN" sz="1300">
                <a:latin typeface="Times New Roman" panose="02020603050405020304" pitchFamily="18" charset="0"/>
              </a:rPr>
              <a:pPr/>
              <a:t>16</a:t>
            </a:fld>
            <a:endParaRPr lang="de-DE" altLang="zh-CN" sz="1300">
              <a:latin typeface="Times New Roman" panose="02020603050405020304" pitchFamily="18" charset="0"/>
            </a:endParaRPr>
          </a:p>
        </p:txBody>
      </p:sp>
      <p:sp>
        <p:nvSpPr>
          <p:cNvPr id="45058" name="Rectangle 2">
            <a:extLst>
              <a:ext uri="{FF2B5EF4-FFF2-40B4-BE49-F238E27FC236}">
                <a16:creationId xmlns:a16="http://schemas.microsoft.com/office/drawing/2014/main" id="{769C4B11-8048-FDB6-4E5B-B10E75435EA6}"/>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AFBB927-B5E8-72C7-F803-229A1A260F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159BBBA0-906F-7750-4296-B25D68A9D6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442977E-A693-B545-A83D-38EC45E1AD17}" type="slidenum">
              <a:rPr lang="de-DE" altLang="zh-CN" sz="1300">
                <a:latin typeface="Times New Roman" panose="02020603050405020304" pitchFamily="18" charset="0"/>
              </a:rPr>
              <a:pPr/>
              <a:t>17</a:t>
            </a:fld>
            <a:endParaRPr lang="de-DE" altLang="zh-CN" sz="1300">
              <a:latin typeface="Times New Roman" panose="02020603050405020304" pitchFamily="18" charset="0"/>
            </a:endParaRPr>
          </a:p>
        </p:txBody>
      </p:sp>
      <p:sp>
        <p:nvSpPr>
          <p:cNvPr id="47106" name="Rectangle 2">
            <a:extLst>
              <a:ext uri="{FF2B5EF4-FFF2-40B4-BE49-F238E27FC236}">
                <a16:creationId xmlns:a16="http://schemas.microsoft.com/office/drawing/2014/main" id="{9DBADCB3-2570-FB8F-1B65-BAE5E3A1F714}"/>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D18B405F-7E74-6AB3-E5CC-6F4CA3BE08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73F8ADB8-1175-DCCE-7CCE-130E359737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8A6DB41-35EB-8D4C-ADEF-DEAC555F957D}" type="slidenum">
              <a:rPr lang="de-DE" altLang="zh-CN" sz="1300">
                <a:latin typeface="Times New Roman" panose="02020603050405020304" pitchFamily="18" charset="0"/>
              </a:rPr>
              <a:pPr/>
              <a:t>18</a:t>
            </a:fld>
            <a:endParaRPr lang="de-DE" altLang="zh-CN" sz="1300">
              <a:latin typeface="Times New Roman" panose="02020603050405020304" pitchFamily="18" charset="0"/>
            </a:endParaRPr>
          </a:p>
        </p:txBody>
      </p:sp>
      <p:sp>
        <p:nvSpPr>
          <p:cNvPr id="49154" name="Rectangle 2">
            <a:extLst>
              <a:ext uri="{FF2B5EF4-FFF2-40B4-BE49-F238E27FC236}">
                <a16:creationId xmlns:a16="http://schemas.microsoft.com/office/drawing/2014/main" id="{DE8E2192-F1BA-CB9E-88F1-9E6EB9FCCD2F}"/>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148C329A-4460-02D8-EC53-1642211F84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9B5C64CA-BDD7-7845-9EF7-BDD15129FA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AB4C1D0-69EC-6A4C-BCED-797DA29AD3EE}" type="slidenum">
              <a:rPr lang="de-DE" altLang="zh-CN" sz="1300">
                <a:latin typeface="Times New Roman" panose="02020603050405020304" pitchFamily="18" charset="0"/>
              </a:rPr>
              <a:pPr/>
              <a:t>19</a:t>
            </a:fld>
            <a:endParaRPr lang="de-DE" altLang="zh-CN" sz="1300">
              <a:latin typeface="Times New Roman" panose="02020603050405020304" pitchFamily="18" charset="0"/>
            </a:endParaRPr>
          </a:p>
        </p:txBody>
      </p:sp>
      <p:sp>
        <p:nvSpPr>
          <p:cNvPr id="51202" name="Rectangle 2">
            <a:extLst>
              <a:ext uri="{FF2B5EF4-FFF2-40B4-BE49-F238E27FC236}">
                <a16:creationId xmlns:a16="http://schemas.microsoft.com/office/drawing/2014/main" id="{8F0D4426-E693-0A97-30D6-DB3522BEB621}"/>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D6E1EE4C-687E-4FEA-2CD0-301552F49E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0371EAEA-2FEA-FBFC-5AB7-D2E82641AE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EFCE2E55-896F-5A44-A1D0-98AC3D31639C}" type="slidenum">
              <a:rPr lang="de-DE" altLang="zh-CN" sz="1300">
                <a:latin typeface="Times New Roman" panose="02020603050405020304" pitchFamily="18" charset="0"/>
              </a:rPr>
              <a:pPr/>
              <a:t>20</a:t>
            </a:fld>
            <a:endParaRPr lang="de-DE" altLang="zh-CN" sz="1300">
              <a:latin typeface="Times New Roman" panose="02020603050405020304" pitchFamily="18" charset="0"/>
            </a:endParaRPr>
          </a:p>
        </p:txBody>
      </p:sp>
      <p:sp>
        <p:nvSpPr>
          <p:cNvPr id="53250" name="Rectangle 2">
            <a:extLst>
              <a:ext uri="{FF2B5EF4-FFF2-40B4-BE49-F238E27FC236}">
                <a16:creationId xmlns:a16="http://schemas.microsoft.com/office/drawing/2014/main" id="{AA5AEA97-44CC-CD2A-D91B-F80B13920589}"/>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A1AA9471-A72B-F9CC-268F-ABAC279024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4FA3F87-27BD-D500-601C-FF840A0E53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D0C43BE-88FA-154B-9ECF-6E44FBC7EC25}" type="slidenum">
              <a:rPr lang="de-DE" altLang="zh-CN" sz="1300">
                <a:latin typeface="Times New Roman" panose="02020603050405020304" pitchFamily="18" charset="0"/>
              </a:rPr>
              <a:pPr/>
              <a:t>21</a:t>
            </a:fld>
            <a:endParaRPr lang="de-DE" altLang="zh-CN" sz="1300">
              <a:latin typeface="Times New Roman" panose="02020603050405020304" pitchFamily="18" charset="0"/>
            </a:endParaRPr>
          </a:p>
        </p:txBody>
      </p:sp>
      <p:sp>
        <p:nvSpPr>
          <p:cNvPr id="55298" name="Rectangle 2">
            <a:extLst>
              <a:ext uri="{FF2B5EF4-FFF2-40B4-BE49-F238E27FC236}">
                <a16:creationId xmlns:a16="http://schemas.microsoft.com/office/drawing/2014/main" id="{700EE1EB-2AB6-DC84-5FA8-C873999840D1}"/>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E152F334-012C-8A54-5109-D86278A80B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6D701F4D-67D1-0305-4B56-EBC79F22A0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20ACFB5E-E30B-9245-838B-8500805CE16C}" type="slidenum">
              <a:rPr lang="de-DE" altLang="zh-CN" sz="1300">
                <a:latin typeface="Times New Roman" panose="02020603050405020304" pitchFamily="18" charset="0"/>
              </a:rPr>
              <a:pPr/>
              <a:t>23</a:t>
            </a:fld>
            <a:endParaRPr lang="de-DE" altLang="zh-CN" sz="1300">
              <a:latin typeface="Times New Roman" panose="02020603050405020304" pitchFamily="18" charset="0"/>
            </a:endParaRPr>
          </a:p>
        </p:txBody>
      </p:sp>
      <p:sp>
        <p:nvSpPr>
          <p:cNvPr id="57346" name="Rectangle 2">
            <a:extLst>
              <a:ext uri="{FF2B5EF4-FFF2-40B4-BE49-F238E27FC236}">
                <a16:creationId xmlns:a16="http://schemas.microsoft.com/office/drawing/2014/main" id="{D754F663-2CB4-12FA-95BC-8BC8685DD4DE}"/>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9FA1C0E3-8534-19A0-EFEC-1E89FD576F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106403D0-362C-065D-60B2-83D080FF0C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2288C31-E774-8644-85DC-58FB19B7818C}" type="slidenum">
              <a:rPr lang="de-DE" altLang="zh-CN" sz="1300">
                <a:latin typeface="Times New Roman" panose="02020603050405020304" pitchFamily="18" charset="0"/>
              </a:rPr>
              <a:pPr/>
              <a:t>24</a:t>
            </a:fld>
            <a:endParaRPr lang="de-DE" altLang="zh-CN" sz="1300">
              <a:latin typeface="Times New Roman" panose="02020603050405020304" pitchFamily="18" charset="0"/>
            </a:endParaRPr>
          </a:p>
        </p:txBody>
      </p:sp>
      <p:sp>
        <p:nvSpPr>
          <p:cNvPr id="59394" name="Rectangle 2">
            <a:extLst>
              <a:ext uri="{FF2B5EF4-FFF2-40B4-BE49-F238E27FC236}">
                <a16:creationId xmlns:a16="http://schemas.microsoft.com/office/drawing/2014/main" id="{D01D5C2A-6C95-2C9F-1035-8870E9D94C2F}"/>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7C6DE24A-4C5B-15AA-75F0-AFF3B6A9A51C}"/>
              </a:ext>
            </a:extLst>
          </p:cNvPr>
          <p:cNvSpPr>
            <a:spLocks noGrp="1" noChangeArrowheads="1"/>
          </p:cNvSpPr>
          <p:nvPr>
            <p:ph type="body" idx="1"/>
          </p:nvPr>
        </p:nvSpPr>
        <p:spPr>
          <a:xfrm>
            <a:off x="946150" y="4860925"/>
            <a:ext cx="5207000" cy="4606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de-DE" altLang="zh-CN" sz="1000">
                <a:ea typeface="ＭＳ Ｐゴシック" panose="020B0600070205080204" pitchFamily="34" charset="-128"/>
              </a:rPr>
              <a:t>For applications with long term security needs, 128 bit keys should be considered. For thwarting  against attacks with to-be-developed quantum computers, 256 bits are believed to be appropriate. Since a longer key usually does no carry a performance penality for symmetric algorithms, it is a prudent choice to use ciphers with a key lengths of around 128 bits.</a:t>
            </a:r>
          </a:p>
          <a:p>
            <a:endParaRPr lang="de-DE" altLang="zh-CN">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9AD637CD-E6FF-061D-D527-325C397DD7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E1EED11-1499-E047-B00C-6B300DD0C496}" type="slidenum">
              <a:rPr lang="de-DE" altLang="zh-CN" sz="1300">
                <a:latin typeface="Times New Roman" panose="02020603050405020304" pitchFamily="18" charset="0"/>
              </a:rPr>
              <a:pPr/>
              <a:t>25</a:t>
            </a:fld>
            <a:endParaRPr lang="de-DE" altLang="zh-CN" sz="1300">
              <a:latin typeface="Times New Roman" panose="02020603050405020304" pitchFamily="18" charset="0"/>
            </a:endParaRPr>
          </a:p>
        </p:txBody>
      </p:sp>
      <p:sp>
        <p:nvSpPr>
          <p:cNvPr id="61442" name="Rectangle 2">
            <a:extLst>
              <a:ext uri="{FF2B5EF4-FFF2-40B4-BE49-F238E27FC236}">
                <a16:creationId xmlns:a16="http://schemas.microsoft.com/office/drawing/2014/main" id="{BEF120D2-8251-3833-7D9F-9950C5C63325}"/>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7D017F57-8F13-1DE4-7C12-3FE5186CCB66}"/>
              </a:ext>
            </a:extLst>
          </p:cNvPr>
          <p:cNvSpPr>
            <a:spLocks noGrp="1" noChangeArrowheads="1"/>
          </p:cNvSpPr>
          <p:nvPr>
            <p:ph type="body" idx="1"/>
          </p:nvPr>
        </p:nvSpPr>
        <p:spPr>
          <a:xfrm>
            <a:off x="946150" y="4860925"/>
            <a:ext cx="5207000" cy="4606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de-DE" altLang="zh-CN" sz="1000">
                <a:ea typeface="ＭＳ Ｐゴシック" panose="020B0600070205080204" pitchFamily="34" charset="-128"/>
              </a:rPr>
              <a:t>For applications with long term security needs, 128 bit keys should be considered. For thwarting  against attacks with to-be-developed quantum computers, 256 bits are believed to be appropriate. Since a longer key usually does no carry a performance penality for symmetric algorithms, it is a prudent choice to use ciphers with a key lengths of around 128 bits.</a:t>
            </a:r>
          </a:p>
          <a:p>
            <a:endParaRPr lang="de-DE" altLang="zh-CN">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28ACC6E-F44F-342B-19FB-C250536B04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8F8DC53-3DA3-7E4E-BA0C-0497A4A768C4}" type="slidenum">
              <a:rPr lang="de-DE" altLang="zh-CN" sz="1300">
                <a:latin typeface="Times New Roman" panose="02020603050405020304" pitchFamily="18" charset="0"/>
              </a:rPr>
              <a:pPr/>
              <a:t>26</a:t>
            </a:fld>
            <a:endParaRPr lang="de-DE" altLang="zh-CN" sz="1300">
              <a:latin typeface="Times New Roman" panose="02020603050405020304" pitchFamily="18" charset="0"/>
            </a:endParaRPr>
          </a:p>
        </p:txBody>
      </p:sp>
      <p:sp>
        <p:nvSpPr>
          <p:cNvPr id="63490" name="Rectangle 2">
            <a:extLst>
              <a:ext uri="{FF2B5EF4-FFF2-40B4-BE49-F238E27FC236}">
                <a16:creationId xmlns:a16="http://schemas.microsoft.com/office/drawing/2014/main" id="{D0CAFBB8-74FB-4756-D8CA-28F51D9FB7D5}"/>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5DA132E9-5463-88F4-C2FE-5946ED73BE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1B11C155-59C0-0776-5A26-25F46E3DDD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276F3EB7-CF06-C743-B40F-B153F6326E68}" type="slidenum">
              <a:rPr lang="de-DE" altLang="zh-CN" sz="1300">
                <a:latin typeface="Times New Roman" panose="02020603050405020304" pitchFamily="18" charset="0"/>
              </a:rPr>
              <a:pPr/>
              <a:t>27</a:t>
            </a:fld>
            <a:endParaRPr lang="de-DE" altLang="zh-CN" sz="1300">
              <a:latin typeface="Times New Roman" panose="02020603050405020304" pitchFamily="18" charset="0"/>
            </a:endParaRPr>
          </a:p>
        </p:txBody>
      </p:sp>
      <p:sp>
        <p:nvSpPr>
          <p:cNvPr id="65538" name="Rectangle 2">
            <a:extLst>
              <a:ext uri="{FF2B5EF4-FFF2-40B4-BE49-F238E27FC236}">
                <a16:creationId xmlns:a16="http://schemas.microsoft.com/office/drawing/2014/main" id="{3D382C71-82C9-E3B8-B934-25B4F2291CDD}"/>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38525991-1C40-6BCA-6C1C-616DEA2D03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BE23A439-78F9-6904-98DE-AEBA727E4C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CE0B1B02-0B8C-3A4F-B44E-466AE501EC5E}" type="slidenum">
              <a:rPr lang="de-DE" altLang="zh-CN" sz="1300">
                <a:latin typeface="Times New Roman" panose="02020603050405020304" pitchFamily="18" charset="0"/>
              </a:rPr>
              <a:pPr/>
              <a:t>32</a:t>
            </a:fld>
            <a:endParaRPr lang="de-DE" altLang="zh-CN" sz="1300">
              <a:latin typeface="Times New Roman" panose="02020603050405020304" pitchFamily="18" charset="0"/>
            </a:endParaRPr>
          </a:p>
        </p:txBody>
      </p:sp>
      <p:sp>
        <p:nvSpPr>
          <p:cNvPr id="67586" name="Rectangle 2">
            <a:extLst>
              <a:ext uri="{FF2B5EF4-FFF2-40B4-BE49-F238E27FC236}">
                <a16:creationId xmlns:a16="http://schemas.microsoft.com/office/drawing/2014/main" id="{625949ED-79A6-F039-B073-FFA30525E6FE}"/>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0BA7D7C9-0090-001C-39D5-5FE7A41B1D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8369306A-E6EC-768B-56E6-7379ABA554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515E320A-1336-014C-8B8E-9406CBDDD2BF}" type="slidenum">
              <a:rPr lang="de-DE" altLang="zh-CN" sz="1300">
                <a:latin typeface="Times New Roman" panose="02020603050405020304" pitchFamily="18" charset="0"/>
              </a:rPr>
              <a:pPr/>
              <a:t>33</a:t>
            </a:fld>
            <a:endParaRPr lang="de-DE" altLang="zh-CN" sz="1300">
              <a:latin typeface="Times New Roman" panose="02020603050405020304" pitchFamily="18" charset="0"/>
            </a:endParaRPr>
          </a:p>
        </p:txBody>
      </p:sp>
      <p:sp>
        <p:nvSpPr>
          <p:cNvPr id="69634" name="Rectangle 2">
            <a:extLst>
              <a:ext uri="{FF2B5EF4-FFF2-40B4-BE49-F238E27FC236}">
                <a16:creationId xmlns:a16="http://schemas.microsoft.com/office/drawing/2014/main" id="{A06855FC-79CF-686E-69FF-E9D091786A5F}"/>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7BC73C91-BF25-F213-6982-0578FE5899ED}"/>
              </a:ext>
            </a:extLst>
          </p:cNvPr>
          <p:cNvSpPr>
            <a:spLocks noGrp="1" noChangeArrowheads="1"/>
          </p:cNvSpPr>
          <p:nvPr>
            <p:ph type="body" idx="1"/>
          </p:nvPr>
        </p:nvSpPr>
        <p:spPr>
          <a:xfrm>
            <a:off x="946150" y="4860925"/>
            <a:ext cx="5207000" cy="4606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de-DE" altLang="zh-CN" sz="1000">
                <a:ea typeface="ＭＳ Ｐゴシック" panose="020B0600070205080204" pitchFamily="34" charset="-128"/>
              </a:rPr>
              <a:t>The major weakness of the method is that each plaintext symbol always maps to the same ciphertext symbol. That means that the statistical properties of the plaintext are preserved in the ciphertext. For practical attacks, the following properties of language can be exploited:</a:t>
            </a:r>
          </a:p>
          <a:p>
            <a:endParaRPr lang="de-DE" altLang="zh-CN">
              <a:ea typeface="ＭＳ Ｐゴシック" panose="020B0600070205080204" pitchFamily="34" charset="-128"/>
            </a:endParaRPr>
          </a:p>
          <a:p>
            <a:r>
              <a:rPr lang="de-DE" altLang="zh-CN" sz="900">
                <a:ea typeface="ＭＳ Ｐゴシック" panose="020B0600070205080204" pitchFamily="34" charset="-128"/>
              </a:rPr>
              <a:t>Determine the frequencies of every ciphertext letter. The frequency distribution (even of relatively short pieces of encrypted text) will be close to that of the given language in general. In particular, the most frequent letters (for instance, in English: „e</a:t>
            </a:r>
            <a:r>
              <a:rPr lang="de-DE" altLang="de-DE" sz="900">
                <a:ea typeface="ＭＳ Ｐゴシック" panose="020B0600070205080204" pitchFamily="34" charset="-128"/>
              </a:rPr>
              <a:t>“</a:t>
            </a:r>
            <a:r>
              <a:rPr lang="de-DE" altLang="zh-CN" sz="900">
                <a:ea typeface="ＭＳ Ｐゴシック" panose="020B0600070205080204" pitchFamily="34" charset="-128"/>
              </a:rPr>
              <a:t> is the most frequent one with about 13%, „t</a:t>
            </a:r>
            <a:r>
              <a:rPr lang="de-DE" altLang="de-DE" sz="900">
                <a:ea typeface="ＭＳ Ｐゴシック" panose="020B0600070205080204" pitchFamily="34" charset="-128"/>
              </a:rPr>
              <a:t>“</a:t>
            </a:r>
            <a:r>
              <a:rPr lang="de-DE" altLang="zh-CN" sz="900">
                <a:ea typeface="ＭＳ Ｐゴシック" panose="020B0600070205080204" pitchFamily="34" charset="-128"/>
              </a:rPr>
              <a:t> is the second most frequent one with about 9%, „a</a:t>
            </a:r>
            <a:r>
              <a:rPr lang="de-DE" altLang="de-DE" sz="900">
                <a:ea typeface="ＭＳ Ｐゴシック" panose="020B0600070205080204" pitchFamily="34" charset="-128"/>
              </a:rPr>
              <a:t>“</a:t>
            </a:r>
            <a:r>
              <a:rPr lang="de-DE" altLang="zh-CN" sz="900">
                <a:ea typeface="ＭＳ Ｐゴシック" panose="020B0600070205080204" pitchFamily="34" charset="-128"/>
              </a:rPr>
              <a:t> is the third most frequent one with about 8%, ...) can often easily be spotted in ciphertext.</a:t>
            </a:r>
          </a:p>
          <a:p>
            <a:endParaRPr lang="de-DE" altLang="zh-CN" sz="900">
              <a:ea typeface="ＭＳ Ｐゴシック" panose="020B0600070205080204" pitchFamily="34" charset="-128"/>
            </a:endParaRPr>
          </a:p>
          <a:p>
            <a:r>
              <a:rPr lang="de-DE" altLang="zh-CN" sz="900">
                <a:ea typeface="ＭＳ Ｐゴシック" panose="020B0600070205080204" pitchFamily="34" charset="-128"/>
              </a:rPr>
              <a:t>The method above can be generalized by looking at pairs (or triples, or quadruples, or ...) of ciphertext symbols. For instance, in English (and German and other European languages), the letter „q</a:t>
            </a:r>
            <a:r>
              <a:rPr lang="de-DE" altLang="de-DE" sz="900">
                <a:ea typeface="ＭＳ Ｐゴシック" panose="020B0600070205080204" pitchFamily="34" charset="-128"/>
              </a:rPr>
              <a:t>“</a:t>
            </a:r>
            <a:r>
              <a:rPr lang="de-DE" altLang="zh-CN" sz="900">
                <a:ea typeface="ＭＳ Ｐゴシック" panose="020B0600070205080204" pitchFamily="34" charset="-128"/>
              </a:rPr>
              <a:t> is almost always followed by a „u</a:t>
            </a:r>
            <a:r>
              <a:rPr lang="de-DE" altLang="de-DE" sz="900">
                <a:ea typeface="ＭＳ Ｐゴシック" panose="020B0600070205080204" pitchFamily="34" charset="-128"/>
              </a:rPr>
              <a:t>“</a:t>
            </a:r>
            <a:r>
              <a:rPr lang="de-DE" altLang="zh-CN" sz="900">
                <a:ea typeface="ＭＳ Ｐゴシック" panose="020B0600070205080204" pitchFamily="34" charset="-128"/>
              </a:rPr>
              <a:t>. This behavior can be exploited for detecting the substitution of the letter „q</a:t>
            </a:r>
            <a:r>
              <a:rPr lang="de-DE" altLang="de-DE" sz="900">
                <a:ea typeface="ＭＳ Ｐゴシック" panose="020B0600070205080204" pitchFamily="34" charset="-128"/>
              </a:rPr>
              <a:t>“</a:t>
            </a:r>
            <a:r>
              <a:rPr lang="de-DE" altLang="zh-CN" sz="900">
                <a:ea typeface="ＭＳ Ｐゴシック" panose="020B0600070205080204" pitchFamily="34" charset="-128"/>
              </a:rPr>
              <a:t> and the letter „u</a:t>
            </a:r>
            <a:r>
              <a:rPr lang="de-DE" altLang="de-DE" sz="900">
                <a:ea typeface="ＭＳ Ｐゴシック" panose="020B0600070205080204" pitchFamily="34" charset="-128"/>
              </a:rPr>
              <a:t>“</a:t>
            </a:r>
            <a:r>
              <a:rPr lang="de-DE" altLang="zh-CN" sz="900">
                <a:ea typeface="ＭＳ Ｐゴシック" panose="020B0600070205080204" pitchFamily="34" charset="-128"/>
              </a:rPr>
              <a:t>.</a:t>
            </a:r>
          </a:p>
          <a:p>
            <a:endParaRPr lang="de-DE" altLang="zh-CN" sz="1000">
              <a:ea typeface="ＭＳ Ｐゴシック" panose="020B0600070205080204" pitchFamily="34" charset="-128"/>
            </a:endParaRPr>
          </a:p>
          <a:p>
            <a:r>
              <a:rPr lang="de-DE" altLang="zh-CN" sz="900">
                <a:ea typeface="ＭＳ Ｐゴシック" panose="020B0600070205080204" pitchFamily="34" charset="-128"/>
              </a:rPr>
              <a:t>If we assume that word separators (blanks) have been found (which is often an easy task), one can often detect frequent short words such as „the</a:t>
            </a:r>
            <a:r>
              <a:rPr lang="de-DE" altLang="de-DE" sz="900">
                <a:ea typeface="ＭＳ Ｐゴシック" panose="020B0600070205080204" pitchFamily="34" charset="-128"/>
              </a:rPr>
              <a:t>“</a:t>
            </a:r>
            <a:r>
              <a:rPr lang="de-DE" altLang="zh-CN" sz="900">
                <a:ea typeface="ＭＳ Ｐゴシック" panose="020B0600070205080204" pitchFamily="34" charset="-128"/>
              </a:rPr>
              <a:t>, „and</a:t>
            </a:r>
            <a:r>
              <a:rPr lang="de-DE" altLang="de-DE" sz="900">
                <a:ea typeface="ＭＳ Ｐゴシック" panose="020B0600070205080204" pitchFamily="34" charset="-128"/>
              </a:rPr>
              <a:t>“</a:t>
            </a:r>
            <a:r>
              <a:rPr lang="de-DE" altLang="zh-CN" sz="900">
                <a:ea typeface="ＭＳ Ｐゴシック" panose="020B0600070205080204" pitchFamily="34" charset="-128"/>
              </a:rPr>
              <a:t>, ... , which leaks all the letters in the words involved in those words</a:t>
            </a:r>
          </a:p>
          <a:p>
            <a:endParaRPr lang="de-DE" altLang="zh-CN" sz="1000">
              <a:ea typeface="ＭＳ Ｐゴシック" panose="020B0600070205080204" pitchFamily="34" charset="-128"/>
            </a:endParaRPr>
          </a:p>
          <a:p>
            <a:endParaRPr lang="de-DE" altLang="zh-CN">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666A013A-11E5-1953-09A0-324DF2C56F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797B9DB9-F5BE-7C4A-B1DC-1AFF66FFC5C1}" type="slidenum">
              <a:rPr lang="de-DE" altLang="zh-CN" sz="1300">
                <a:latin typeface="Times New Roman" panose="02020603050405020304" pitchFamily="18" charset="0"/>
              </a:rPr>
              <a:pPr/>
              <a:t>34</a:t>
            </a:fld>
            <a:endParaRPr lang="de-DE" altLang="zh-CN" sz="1300">
              <a:latin typeface="Times New Roman" panose="02020603050405020304" pitchFamily="18" charset="0"/>
            </a:endParaRPr>
          </a:p>
        </p:txBody>
      </p:sp>
      <p:sp>
        <p:nvSpPr>
          <p:cNvPr id="71682" name="Rectangle 2">
            <a:extLst>
              <a:ext uri="{FF2B5EF4-FFF2-40B4-BE49-F238E27FC236}">
                <a16:creationId xmlns:a16="http://schemas.microsoft.com/office/drawing/2014/main" id="{B760E2DF-7118-A6F4-BB8B-8A52D3F5A0BC}"/>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0A3FF15A-4F7B-FF9E-71C0-2247D1BCD6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FC89099A-2D20-735F-CD0A-3CCF11D0AA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EDFB5036-CC21-824F-9547-B3604E831248}" type="slidenum">
              <a:rPr lang="de-DE" altLang="zh-CN" sz="1300">
                <a:latin typeface="Times New Roman" panose="02020603050405020304" pitchFamily="18" charset="0"/>
              </a:rPr>
              <a:pPr/>
              <a:t>35</a:t>
            </a:fld>
            <a:endParaRPr lang="de-DE" altLang="zh-CN" sz="1300">
              <a:latin typeface="Times New Roman" panose="02020603050405020304" pitchFamily="18" charset="0"/>
            </a:endParaRPr>
          </a:p>
        </p:txBody>
      </p:sp>
      <p:sp>
        <p:nvSpPr>
          <p:cNvPr id="73730" name="Rectangle 2">
            <a:extLst>
              <a:ext uri="{FF2B5EF4-FFF2-40B4-BE49-F238E27FC236}">
                <a16:creationId xmlns:a16="http://schemas.microsoft.com/office/drawing/2014/main" id="{4ADA960D-D4F0-B37E-A2E3-C85664574CC3}"/>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4E19506B-70CD-F3B5-9872-3FA6B82167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EB2E711D-55DE-EC17-E47A-8ECDA2FCCD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243721D3-2196-4A4A-A365-F9E1EF9B534E}" type="slidenum">
              <a:rPr lang="de-DE" altLang="zh-CN" sz="1300">
                <a:latin typeface="Times New Roman" panose="02020603050405020304" pitchFamily="18" charset="0"/>
              </a:rPr>
              <a:pPr/>
              <a:t>36</a:t>
            </a:fld>
            <a:endParaRPr lang="de-DE" altLang="zh-CN" sz="1300">
              <a:latin typeface="Times New Roman" panose="02020603050405020304" pitchFamily="18" charset="0"/>
            </a:endParaRPr>
          </a:p>
        </p:txBody>
      </p:sp>
      <p:sp>
        <p:nvSpPr>
          <p:cNvPr id="75778" name="Rectangle 2">
            <a:extLst>
              <a:ext uri="{FF2B5EF4-FFF2-40B4-BE49-F238E27FC236}">
                <a16:creationId xmlns:a16="http://schemas.microsoft.com/office/drawing/2014/main" id="{078AB8E4-F5CB-E31D-EDDA-05A8A3200A89}"/>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FFE8265D-EA7E-5D0A-BA6A-63CDE131A6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1FD6D576-6430-B5BE-DD8D-C023AC5523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a:defRPr sz="1400">
                <a:solidFill>
                  <a:schemeClr val="tx1"/>
                </a:solidFill>
                <a:latin typeface="Arial" panose="020B0604020202020204" pitchFamily="34" charset="0"/>
                <a:ea typeface="ＭＳ Ｐゴシック" panose="020B0600070205080204" pitchFamily="34" charset="-128"/>
              </a:defRPr>
            </a:lvl1pPr>
            <a:lvl2pPr marL="742950" indent="-285750" defTabSz="949325">
              <a:defRPr sz="1400">
                <a:solidFill>
                  <a:schemeClr val="tx1"/>
                </a:solidFill>
                <a:latin typeface="Arial" panose="020B0604020202020204" pitchFamily="34" charset="0"/>
                <a:ea typeface="ＭＳ Ｐゴシック" panose="020B0600070205080204" pitchFamily="34" charset="-128"/>
              </a:defRPr>
            </a:lvl2pPr>
            <a:lvl3pPr marL="1143000" indent="-228600" defTabSz="949325">
              <a:defRPr sz="1400">
                <a:solidFill>
                  <a:schemeClr val="tx1"/>
                </a:solidFill>
                <a:latin typeface="Arial" panose="020B0604020202020204" pitchFamily="34" charset="0"/>
                <a:ea typeface="ＭＳ Ｐゴシック" panose="020B0600070205080204" pitchFamily="34" charset="-128"/>
              </a:defRPr>
            </a:lvl3pPr>
            <a:lvl4pPr marL="1600200" indent="-228600" defTabSz="949325">
              <a:defRPr sz="1400">
                <a:solidFill>
                  <a:schemeClr val="tx1"/>
                </a:solidFill>
                <a:latin typeface="Arial" panose="020B0604020202020204" pitchFamily="34" charset="0"/>
                <a:ea typeface="ＭＳ Ｐゴシック" panose="020B0600070205080204" pitchFamily="34" charset="-128"/>
              </a:defRPr>
            </a:lvl4pPr>
            <a:lvl5pPr marL="2057400" indent="-228600" defTabSz="949325">
              <a:defRPr sz="1400">
                <a:solidFill>
                  <a:schemeClr val="tx1"/>
                </a:solidFill>
                <a:latin typeface="Arial" panose="020B0604020202020204" pitchFamily="34" charset="0"/>
                <a:ea typeface="ＭＳ Ｐゴシック" panose="020B0600070205080204" pitchFamily="34" charset="-128"/>
              </a:defRPr>
            </a:lvl5pPr>
            <a:lvl6pPr marL="25146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94932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8B06507-D3C1-FE42-95B9-3DA285F1E19F}" type="slidenum">
              <a:rPr lang="de-DE" altLang="zh-CN" sz="1300">
                <a:latin typeface="Times New Roman" panose="02020603050405020304" pitchFamily="18" charset="0"/>
              </a:rPr>
              <a:pPr/>
              <a:t>37</a:t>
            </a:fld>
            <a:endParaRPr lang="de-DE" altLang="zh-CN" sz="1300">
              <a:latin typeface="Times New Roman" panose="02020603050405020304" pitchFamily="18" charset="0"/>
            </a:endParaRPr>
          </a:p>
        </p:txBody>
      </p:sp>
      <p:sp>
        <p:nvSpPr>
          <p:cNvPr id="77826" name="Rectangle 2">
            <a:extLst>
              <a:ext uri="{FF2B5EF4-FFF2-40B4-BE49-F238E27FC236}">
                <a16:creationId xmlns:a16="http://schemas.microsoft.com/office/drawing/2014/main" id="{1958876C-F98C-FEEE-7883-DD766158553B}"/>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4B2BEE7F-8DBF-4E05-2777-D878FF6EF2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zh-CN">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24258" name="Rectangle 2"/>
          <p:cNvSpPr>
            <a:spLocks noGrp="1" noChangeArrowheads="1"/>
          </p:cNvSpPr>
          <p:nvPr>
            <p:ph type="ctrTitle"/>
          </p:nvPr>
        </p:nvSpPr>
        <p:spPr>
          <a:xfrm>
            <a:off x="473075" y="322263"/>
            <a:ext cx="6769100" cy="744537"/>
          </a:xfrm>
        </p:spPr>
        <p:txBody>
          <a:bodyPr/>
          <a:lstStyle>
            <a:lvl1pPr>
              <a:defRPr/>
            </a:lvl1pPr>
          </a:lstStyle>
          <a:p>
            <a:r>
              <a:rPr lang="de-DE"/>
              <a:t>Klicken Sie, um das Titelformat zu bearbeiten</a:t>
            </a:r>
          </a:p>
        </p:txBody>
      </p:sp>
      <p:sp>
        <p:nvSpPr>
          <p:cNvPr id="224259" name="Rectangle 3"/>
          <p:cNvSpPr>
            <a:spLocks noGrp="1" noChangeArrowheads="1"/>
          </p:cNvSpPr>
          <p:nvPr>
            <p:ph type="subTitle" idx="1"/>
          </p:nvPr>
        </p:nvSpPr>
        <p:spPr>
          <a:xfrm>
            <a:off x="858838" y="1108075"/>
            <a:ext cx="6303962" cy="1752600"/>
          </a:xfrm>
        </p:spPr>
        <p:txBody>
          <a:bodyPr/>
          <a:lstStyle>
            <a:lvl1pPr marL="0" indent="0">
              <a:buFontTx/>
              <a:buNone/>
              <a:defRPr sz="1800"/>
            </a:lvl1pPr>
          </a:lstStyle>
          <a:p>
            <a:r>
              <a:rPr lang="de-DE"/>
              <a:t>Klicken Sie, um das Format des Untertitelmasters zu bearbeiten</a:t>
            </a:r>
          </a:p>
        </p:txBody>
      </p:sp>
      <p:sp>
        <p:nvSpPr>
          <p:cNvPr id="2" name="Rectangle 4">
            <a:extLst>
              <a:ext uri="{FF2B5EF4-FFF2-40B4-BE49-F238E27FC236}">
                <a16:creationId xmlns:a16="http://schemas.microsoft.com/office/drawing/2014/main" id="{522649F4-B3FF-6E82-5C1A-D97D969269A8}"/>
              </a:ext>
            </a:extLst>
          </p:cNvPr>
          <p:cNvSpPr>
            <a:spLocks noGrp="1" noChangeArrowheads="1"/>
          </p:cNvSpPr>
          <p:nvPr>
            <p:ph type="dt" sz="half" idx="10"/>
          </p:nvPr>
        </p:nvSpPr>
        <p:spPr bwMode="auto">
          <a:xfrm>
            <a:off x="8101013" y="6453188"/>
            <a:ext cx="812800" cy="215900"/>
          </a:xfrm>
          <a:prstGeom prst="rect">
            <a:avLst/>
          </a:prstGeom>
          <a:ln>
            <a:miter lim="800000"/>
            <a:headEnd/>
            <a:tailEnd/>
          </a:ln>
        </p:spPr>
        <p:txBody>
          <a:bodyPr vert="horz" wrap="square" lIns="0" tIns="0" rIns="0" bIns="0" numCol="1" anchor="t" anchorCtr="0" compatLnSpc="1">
            <a:prstTxWarp prst="textNoShape">
              <a:avLst/>
            </a:prstTxWarp>
          </a:bodyPr>
          <a:lstStyle>
            <a:lvl1pPr>
              <a:defRPr sz="800">
                <a:solidFill>
                  <a:schemeClr val="bg2"/>
                </a:solidFill>
              </a:defRPr>
            </a:lvl1pPr>
          </a:lstStyle>
          <a:p>
            <a:fld id="{73654ECD-4889-DB48-89CD-7851D55FDAC4}" type="datetime1">
              <a:rPr lang="de-DE" altLang="zh-CN"/>
              <a:pPr/>
              <a:t>30.09.24</a:t>
            </a:fld>
            <a:endParaRPr lang="de-DE" altLang="zh-CN"/>
          </a:p>
          <a:p>
            <a:r>
              <a:rPr lang="de-DE" altLang="zh-CN"/>
              <a:t>6. Sept. 2005</a:t>
            </a:r>
          </a:p>
        </p:txBody>
      </p:sp>
      <p:sp>
        <p:nvSpPr>
          <p:cNvPr id="3" name="Rectangle 5">
            <a:extLst>
              <a:ext uri="{FF2B5EF4-FFF2-40B4-BE49-F238E27FC236}">
                <a16:creationId xmlns:a16="http://schemas.microsoft.com/office/drawing/2014/main" id="{861A05AB-F0EB-03CA-FE0D-FE9A50482B68}"/>
              </a:ext>
            </a:extLst>
          </p:cNvPr>
          <p:cNvSpPr>
            <a:spLocks noGrp="1" noChangeArrowheads="1"/>
          </p:cNvSpPr>
          <p:nvPr>
            <p:ph type="sldNum" sz="quarter" idx="11"/>
          </p:nvPr>
        </p:nvSpPr>
        <p:spPr>
          <a:xfrm>
            <a:off x="34925" y="6623050"/>
            <a:ext cx="720725" cy="334963"/>
          </a:xfrm>
        </p:spPr>
        <p:txBody>
          <a:bodyPr/>
          <a:lstStyle>
            <a:lvl1pPr>
              <a:defRPr>
                <a:solidFill>
                  <a:schemeClr val="bg2"/>
                </a:solidFill>
              </a:defRPr>
            </a:lvl1pPr>
          </a:lstStyle>
          <a:p>
            <a:fld id="{016D2F9C-1DDF-F642-87FC-DC752F15BFA4}" type="slidenum">
              <a:rPr lang="de-DE" altLang="zh-CN"/>
              <a:pPr/>
              <a:t>‹#›</a:t>
            </a:fld>
            <a:r>
              <a:rPr lang="de-DE" altLang="zh-CN"/>
              <a:t>/34</a:t>
            </a:r>
          </a:p>
        </p:txBody>
      </p:sp>
    </p:spTree>
    <p:extLst>
      <p:ext uri="{BB962C8B-B14F-4D97-AF65-F5344CB8AC3E}">
        <p14:creationId xmlns:p14="http://schemas.microsoft.com/office/powerpoint/2010/main" val="299279923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6">
            <a:extLst>
              <a:ext uri="{FF2B5EF4-FFF2-40B4-BE49-F238E27FC236}">
                <a16:creationId xmlns:a16="http://schemas.microsoft.com/office/drawing/2014/main" id="{D51130DE-FE55-1CD5-5F4D-75A9D168E684}"/>
              </a:ext>
            </a:extLst>
          </p:cNvPr>
          <p:cNvSpPr>
            <a:spLocks noGrp="1" noChangeArrowheads="1"/>
          </p:cNvSpPr>
          <p:nvPr>
            <p:ph type="sldNum" sz="quarter" idx="10"/>
          </p:nvPr>
        </p:nvSpPr>
        <p:spPr/>
        <p:txBody>
          <a:bodyPr/>
          <a:lstStyle>
            <a:lvl1pPr>
              <a:defRPr/>
            </a:lvl1pPr>
          </a:lstStyle>
          <a:p>
            <a:fld id="{7AE8601D-50E3-0F46-BB89-CE47AA24140B}" type="slidenum">
              <a:rPr lang="de-DE" altLang="zh-CN"/>
              <a:pPr/>
              <a:t>‹#›</a:t>
            </a:fld>
            <a:r>
              <a:rPr lang="de-DE" altLang="zh-CN"/>
              <a:t>/29</a:t>
            </a:r>
          </a:p>
        </p:txBody>
      </p:sp>
      <p:sp>
        <p:nvSpPr>
          <p:cNvPr id="5" name="Rectangle 550">
            <a:extLst>
              <a:ext uri="{FF2B5EF4-FFF2-40B4-BE49-F238E27FC236}">
                <a16:creationId xmlns:a16="http://schemas.microsoft.com/office/drawing/2014/main" id="{93EA779F-BDF8-232E-3B88-53A7D0FFC086}"/>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272316797"/>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4" name="Rectangle 6">
            <a:extLst>
              <a:ext uri="{FF2B5EF4-FFF2-40B4-BE49-F238E27FC236}">
                <a16:creationId xmlns:a16="http://schemas.microsoft.com/office/drawing/2014/main" id="{23F1C638-8360-1EB1-0093-7E8510F72104}"/>
              </a:ext>
            </a:extLst>
          </p:cNvPr>
          <p:cNvSpPr>
            <a:spLocks noGrp="1" noChangeArrowheads="1"/>
          </p:cNvSpPr>
          <p:nvPr>
            <p:ph type="sldNum" sz="quarter" idx="10"/>
          </p:nvPr>
        </p:nvSpPr>
        <p:spPr/>
        <p:txBody>
          <a:bodyPr/>
          <a:lstStyle>
            <a:lvl1pPr>
              <a:defRPr/>
            </a:lvl1pPr>
          </a:lstStyle>
          <a:p>
            <a:fld id="{7F6D9AF1-0C3A-F748-B3D2-A0D7B95B7C88}" type="slidenum">
              <a:rPr lang="de-DE" altLang="zh-CN"/>
              <a:pPr/>
              <a:t>‹#›</a:t>
            </a:fld>
            <a:r>
              <a:rPr lang="de-DE" altLang="zh-CN"/>
              <a:t>/29</a:t>
            </a:r>
          </a:p>
        </p:txBody>
      </p:sp>
      <p:sp>
        <p:nvSpPr>
          <p:cNvPr id="5" name="Rectangle 550">
            <a:extLst>
              <a:ext uri="{FF2B5EF4-FFF2-40B4-BE49-F238E27FC236}">
                <a16:creationId xmlns:a16="http://schemas.microsoft.com/office/drawing/2014/main" id="{6E03F733-7A01-FBCD-E89E-06959979735C}"/>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3763779288"/>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49313" y="1130300"/>
            <a:ext cx="2965450" cy="17795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3967163" y="1130300"/>
            <a:ext cx="2967037" cy="17795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6">
            <a:extLst>
              <a:ext uri="{FF2B5EF4-FFF2-40B4-BE49-F238E27FC236}">
                <a16:creationId xmlns:a16="http://schemas.microsoft.com/office/drawing/2014/main" id="{2F95013C-E693-93B8-700E-42D8544F926D}"/>
              </a:ext>
            </a:extLst>
          </p:cNvPr>
          <p:cNvSpPr>
            <a:spLocks noGrp="1" noChangeArrowheads="1"/>
          </p:cNvSpPr>
          <p:nvPr>
            <p:ph type="sldNum" sz="quarter" idx="10"/>
          </p:nvPr>
        </p:nvSpPr>
        <p:spPr/>
        <p:txBody>
          <a:bodyPr/>
          <a:lstStyle>
            <a:lvl1pPr>
              <a:defRPr/>
            </a:lvl1pPr>
          </a:lstStyle>
          <a:p>
            <a:fld id="{C661EB92-E1FA-6142-A2FE-64203586D7A6}" type="slidenum">
              <a:rPr lang="de-DE" altLang="zh-CN"/>
              <a:pPr/>
              <a:t>‹#›</a:t>
            </a:fld>
            <a:r>
              <a:rPr lang="de-DE" altLang="zh-CN"/>
              <a:t>/29</a:t>
            </a:r>
          </a:p>
        </p:txBody>
      </p:sp>
      <p:sp>
        <p:nvSpPr>
          <p:cNvPr id="6" name="Rectangle 550">
            <a:extLst>
              <a:ext uri="{FF2B5EF4-FFF2-40B4-BE49-F238E27FC236}">
                <a16:creationId xmlns:a16="http://schemas.microsoft.com/office/drawing/2014/main" id="{90E308F7-E03E-97DE-0DF5-26F0F4DB67A9}"/>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277966850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6">
            <a:extLst>
              <a:ext uri="{FF2B5EF4-FFF2-40B4-BE49-F238E27FC236}">
                <a16:creationId xmlns:a16="http://schemas.microsoft.com/office/drawing/2014/main" id="{B0946742-77EB-E5FD-F020-A5A558DAE4D3}"/>
              </a:ext>
            </a:extLst>
          </p:cNvPr>
          <p:cNvSpPr>
            <a:spLocks noGrp="1" noChangeArrowheads="1"/>
          </p:cNvSpPr>
          <p:nvPr>
            <p:ph type="sldNum" sz="quarter" idx="10"/>
          </p:nvPr>
        </p:nvSpPr>
        <p:spPr/>
        <p:txBody>
          <a:bodyPr/>
          <a:lstStyle>
            <a:lvl1pPr>
              <a:defRPr/>
            </a:lvl1pPr>
          </a:lstStyle>
          <a:p>
            <a:fld id="{BAA1486F-4EE6-754B-9120-60C43F0DCDC1}" type="slidenum">
              <a:rPr lang="de-DE" altLang="zh-CN"/>
              <a:pPr/>
              <a:t>‹#›</a:t>
            </a:fld>
            <a:r>
              <a:rPr lang="de-DE" altLang="zh-CN"/>
              <a:t>/29</a:t>
            </a:r>
          </a:p>
        </p:txBody>
      </p:sp>
      <p:sp>
        <p:nvSpPr>
          <p:cNvPr id="8" name="Rectangle 550">
            <a:extLst>
              <a:ext uri="{FF2B5EF4-FFF2-40B4-BE49-F238E27FC236}">
                <a16:creationId xmlns:a16="http://schemas.microsoft.com/office/drawing/2014/main" id="{BE447508-3C89-7288-7527-C9465050AEB4}"/>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1533242397"/>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Rectangle 6">
            <a:extLst>
              <a:ext uri="{FF2B5EF4-FFF2-40B4-BE49-F238E27FC236}">
                <a16:creationId xmlns:a16="http://schemas.microsoft.com/office/drawing/2014/main" id="{B25B2AE7-65C5-BF69-B840-879ECDB02C8E}"/>
              </a:ext>
            </a:extLst>
          </p:cNvPr>
          <p:cNvSpPr>
            <a:spLocks noGrp="1" noChangeArrowheads="1"/>
          </p:cNvSpPr>
          <p:nvPr>
            <p:ph type="sldNum" sz="quarter" idx="10"/>
          </p:nvPr>
        </p:nvSpPr>
        <p:spPr/>
        <p:txBody>
          <a:bodyPr/>
          <a:lstStyle>
            <a:lvl1pPr>
              <a:defRPr/>
            </a:lvl1pPr>
          </a:lstStyle>
          <a:p>
            <a:fld id="{15F17D48-AB3C-1741-8785-AA695E7FDF91}" type="slidenum">
              <a:rPr lang="de-DE" altLang="zh-CN"/>
              <a:pPr/>
              <a:t>‹#›</a:t>
            </a:fld>
            <a:r>
              <a:rPr lang="de-DE" altLang="zh-CN"/>
              <a:t>/29</a:t>
            </a:r>
          </a:p>
        </p:txBody>
      </p:sp>
      <p:sp>
        <p:nvSpPr>
          <p:cNvPr id="4" name="Rectangle 550">
            <a:extLst>
              <a:ext uri="{FF2B5EF4-FFF2-40B4-BE49-F238E27FC236}">
                <a16:creationId xmlns:a16="http://schemas.microsoft.com/office/drawing/2014/main" id="{95D63E94-C96D-47C1-2B25-ACE1899C3318}"/>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333087331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8FE05AB1-75EA-D28C-B27E-F98E232C0C89}"/>
              </a:ext>
            </a:extLst>
          </p:cNvPr>
          <p:cNvSpPr>
            <a:spLocks noGrp="1" noChangeArrowheads="1"/>
          </p:cNvSpPr>
          <p:nvPr>
            <p:ph type="sldNum" sz="quarter" idx="10"/>
          </p:nvPr>
        </p:nvSpPr>
        <p:spPr/>
        <p:txBody>
          <a:bodyPr/>
          <a:lstStyle>
            <a:lvl1pPr>
              <a:defRPr/>
            </a:lvl1pPr>
          </a:lstStyle>
          <a:p>
            <a:fld id="{E6F817DB-31C0-1A44-9C90-B98187E2516A}" type="slidenum">
              <a:rPr lang="de-DE" altLang="zh-CN"/>
              <a:pPr/>
              <a:t>‹#›</a:t>
            </a:fld>
            <a:r>
              <a:rPr lang="de-DE" altLang="zh-CN"/>
              <a:t>/29</a:t>
            </a:r>
          </a:p>
        </p:txBody>
      </p:sp>
      <p:sp>
        <p:nvSpPr>
          <p:cNvPr id="3" name="Rectangle 550">
            <a:extLst>
              <a:ext uri="{FF2B5EF4-FFF2-40B4-BE49-F238E27FC236}">
                <a16:creationId xmlns:a16="http://schemas.microsoft.com/office/drawing/2014/main" id="{3B8F3C9D-1F92-1300-4488-1E9C04C4BC0D}"/>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1098321808"/>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Rectangle 6">
            <a:extLst>
              <a:ext uri="{FF2B5EF4-FFF2-40B4-BE49-F238E27FC236}">
                <a16:creationId xmlns:a16="http://schemas.microsoft.com/office/drawing/2014/main" id="{74932CDF-6262-0389-BA3E-CA452F1162C5}"/>
              </a:ext>
            </a:extLst>
          </p:cNvPr>
          <p:cNvSpPr>
            <a:spLocks noGrp="1" noChangeArrowheads="1"/>
          </p:cNvSpPr>
          <p:nvPr>
            <p:ph type="sldNum" sz="quarter" idx="10"/>
          </p:nvPr>
        </p:nvSpPr>
        <p:spPr/>
        <p:txBody>
          <a:bodyPr/>
          <a:lstStyle>
            <a:lvl1pPr>
              <a:defRPr/>
            </a:lvl1pPr>
          </a:lstStyle>
          <a:p>
            <a:fld id="{3AAC02C4-CCB6-B941-B654-D731A0AA0FC8}" type="slidenum">
              <a:rPr lang="de-DE" altLang="zh-CN"/>
              <a:pPr/>
              <a:t>‹#›</a:t>
            </a:fld>
            <a:r>
              <a:rPr lang="de-DE" altLang="zh-CN"/>
              <a:t>/29</a:t>
            </a:r>
          </a:p>
        </p:txBody>
      </p:sp>
      <p:sp>
        <p:nvSpPr>
          <p:cNvPr id="6" name="Rectangle 550">
            <a:extLst>
              <a:ext uri="{FF2B5EF4-FFF2-40B4-BE49-F238E27FC236}">
                <a16:creationId xmlns:a16="http://schemas.microsoft.com/office/drawing/2014/main" id="{86C5A7EF-1FBF-03D3-41E6-850C1E6CB53F}"/>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1706038658"/>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Rectangle 6">
            <a:extLst>
              <a:ext uri="{FF2B5EF4-FFF2-40B4-BE49-F238E27FC236}">
                <a16:creationId xmlns:a16="http://schemas.microsoft.com/office/drawing/2014/main" id="{0F40911E-1AB6-1CEF-31ED-57C2D433C09C}"/>
              </a:ext>
            </a:extLst>
          </p:cNvPr>
          <p:cNvSpPr>
            <a:spLocks noGrp="1" noChangeArrowheads="1"/>
          </p:cNvSpPr>
          <p:nvPr>
            <p:ph type="sldNum" sz="quarter" idx="10"/>
          </p:nvPr>
        </p:nvSpPr>
        <p:spPr/>
        <p:txBody>
          <a:bodyPr/>
          <a:lstStyle>
            <a:lvl1pPr>
              <a:defRPr/>
            </a:lvl1pPr>
          </a:lstStyle>
          <a:p>
            <a:fld id="{BDE10C04-3BB1-2A49-BD97-B8295C29447E}" type="slidenum">
              <a:rPr lang="de-DE" altLang="zh-CN"/>
              <a:pPr/>
              <a:t>‹#›</a:t>
            </a:fld>
            <a:r>
              <a:rPr lang="de-DE" altLang="zh-CN"/>
              <a:t>/29</a:t>
            </a:r>
          </a:p>
        </p:txBody>
      </p:sp>
      <p:sp>
        <p:nvSpPr>
          <p:cNvPr id="6" name="Rectangle 550">
            <a:extLst>
              <a:ext uri="{FF2B5EF4-FFF2-40B4-BE49-F238E27FC236}">
                <a16:creationId xmlns:a16="http://schemas.microsoft.com/office/drawing/2014/main" id="{909500B2-C15D-8CD3-5D3E-3295505B509D}"/>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1751766630"/>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6">
            <a:extLst>
              <a:ext uri="{FF2B5EF4-FFF2-40B4-BE49-F238E27FC236}">
                <a16:creationId xmlns:a16="http://schemas.microsoft.com/office/drawing/2014/main" id="{50047A2E-FD06-C5F4-006E-7E7AC34C1EB3}"/>
              </a:ext>
            </a:extLst>
          </p:cNvPr>
          <p:cNvSpPr>
            <a:spLocks noGrp="1" noChangeArrowheads="1"/>
          </p:cNvSpPr>
          <p:nvPr>
            <p:ph type="sldNum" sz="quarter" idx="10"/>
          </p:nvPr>
        </p:nvSpPr>
        <p:spPr/>
        <p:txBody>
          <a:bodyPr/>
          <a:lstStyle>
            <a:lvl1pPr>
              <a:defRPr/>
            </a:lvl1pPr>
          </a:lstStyle>
          <a:p>
            <a:fld id="{9FCFB6B3-994F-EB4C-BE30-17C1E2344A3D}" type="slidenum">
              <a:rPr lang="de-DE" altLang="zh-CN"/>
              <a:pPr/>
              <a:t>‹#›</a:t>
            </a:fld>
            <a:r>
              <a:rPr lang="de-DE" altLang="zh-CN"/>
              <a:t>/29</a:t>
            </a:r>
          </a:p>
        </p:txBody>
      </p:sp>
      <p:sp>
        <p:nvSpPr>
          <p:cNvPr id="5" name="Rectangle 550">
            <a:extLst>
              <a:ext uri="{FF2B5EF4-FFF2-40B4-BE49-F238E27FC236}">
                <a16:creationId xmlns:a16="http://schemas.microsoft.com/office/drawing/2014/main" id="{5745194E-3286-CC23-EFAD-7CF0A6B36096}"/>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4166686370"/>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5319713" y="322263"/>
            <a:ext cx="1614487" cy="2587625"/>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71488" y="322263"/>
            <a:ext cx="4695825" cy="2587625"/>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6">
            <a:extLst>
              <a:ext uri="{FF2B5EF4-FFF2-40B4-BE49-F238E27FC236}">
                <a16:creationId xmlns:a16="http://schemas.microsoft.com/office/drawing/2014/main" id="{2F5ACDF0-7A16-EBF0-5106-C7C07B684199}"/>
              </a:ext>
            </a:extLst>
          </p:cNvPr>
          <p:cNvSpPr>
            <a:spLocks noGrp="1" noChangeArrowheads="1"/>
          </p:cNvSpPr>
          <p:nvPr>
            <p:ph type="sldNum" sz="quarter" idx="10"/>
          </p:nvPr>
        </p:nvSpPr>
        <p:spPr/>
        <p:txBody>
          <a:bodyPr/>
          <a:lstStyle>
            <a:lvl1pPr>
              <a:defRPr/>
            </a:lvl1pPr>
          </a:lstStyle>
          <a:p>
            <a:fld id="{B39AA498-90FA-5241-84BC-1F69A755BA71}" type="slidenum">
              <a:rPr lang="de-DE" altLang="zh-CN"/>
              <a:pPr/>
              <a:t>‹#›</a:t>
            </a:fld>
            <a:r>
              <a:rPr lang="de-DE" altLang="zh-CN"/>
              <a:t>/29</a:t>
            </a:r>
          </a:p>
        </p:txBody>
      </p:sp>
      <p:sp>
        <p:nvSpPr>
          <p:cNvPr id="5" name="Rectangle 550">
            <a:extLst>
              <a:ext uri="{FF2B5EF4-FFF2-40B4-BE49-F238E27FC236}">
                <a16:creationId xmlns:a16="http://schemas.microsoft.com/office/drawing/2014/main" id="{D19EE829-46AC-8EDE-BD13-3D8A35E6D2CD}"/>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4210201867"/>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el und Diagramm oder Organigramm">
    <p:spTree>
      <p:nvGrpSpPr>
        <p:cNvPr id="1" name=""/>
        <p:cNvGrpSpPr/>
        <p:nvPr/>
      </p:nvGrpSpPr>
      <p:grpSpPr>
        <a:xfrm>
          <a:off x="0" y="0"/>
          <a:ext cx="0" cy="0"/>
          <a:chOff x="0" y="0"/>
          <a:chExt cx="0" cy="0"/>
        </a:xfrm>
      </p:grpSpPr>
      <p:sp>
        <p:nvSpPr>
          <p:cNvPr id="2" name="Titel 1"/>
          <p:cNvSpPr>
            <a:spLocks noGrp="1"/>
          </p:cNvSpPr>
          <p:nvPr>
            <p:ph type="title"/>
          </p:nvPr>
        </p:nvSpPr>
        <p:spPr>
          <a:xfrm>
            <a:off x="471488" y="322263"/>
            <a:ext cx="6462712" cy="515937"/>
          </a:xfrm>
        </p:spPr>
        <p:txBody>
          <a:bodyPr/>
          <a:lstStyle/>
          <a:p>
            <a:r>
              <a:rPr lang="de-DE"/>
              <a:t>Titelmasterformat durch Klicken bearbeiten</a:t>
            </a:r>
          </a:p>
        </p:txBody>
      </p:sp>
      <p:sp>
        <p:nvSpPr>
          <p:cNvPr id="3" name="SmartArt-Platzhalter 2"/>
          <p:cNvSpPr>
            <a:spLocks noGrp="1"/>
          </p:cNvSpPr>
          <p:nvPr>
            <p:ph type="dgm" idx="1"/>
          </p:nvPr>
        </p:nvSpPr>
        <p:spPr>
          <a:xfrm>
            <a:off x="849313" y="1130300"/>
            <a:ext cx="6084887" cy="1779588"/>
          </a:xfrm>
        </p:spPr>
        <p:txBody>
          <a:bodyPr/>
          <a:lstStyle/>
          <a:p>
            <a:pPr lvl="0"/>
            <a:endParaRPr lang="de-DE" noProof="0"/>
          </a:p>
        </p:txBody>
      </p:sp>
      <p:sp>
        <p:nvSpPr>
          <p:cNvPr id="4" name="Rectangle 6">
            <a:extLst>
              <a:ext uri="{FF2B5EF4-FFF2-40B4-BE49-F238E27FC236}">
                <a16:creationId xmlns:a16="http://schemas.microsoft.com/office/drawing/2014/main" id="{81FAFAAF-0BEF-A827-4A80-FF3205F50974}"/>
              </a:ext>
            </a:extLst>
          </p:cNvPr>
          <p:cNvSpPr>
            <a:spLocks noGrp="1" noChangeArrowheads="1"/>
          </p:cNvSpPr>
          <p:nvPr>
            <p:ph type="sldNum" sz="quarter" idx="10"/>
          </p:nvPr>
        </p:nvSpPr>
        <p:spPr/>
        <p:txBody>
          <a:bodyPr/>
          <a:lstStyle>
            <a:lvl1pPr>
              <a:defRPr/>
            </a:lvl1pPr>
          </a:lstStyle>
          <a:p>
            <a:fld id="{7776ACEA-47EF-4E40-A980-E1DDDA58059F}" type="slidenum">
              <a:rPr lang="de-DE" altLang="zh-CN"/>
              <a:pPr/>
              <a:t>‹#›</a:t>
            </a:fld>
            <a:r>
              <a:rPr lang="de-DE" altLang="zh-CN"/>
              <a:t>/29</a:t>
            </a:r>
          </a:p>
        </p:txBody>
      </p:sp>
      <p:sp>
        <p:nvSpPr>
          <p:cNvPr id="5" name="Rectangle 550">
            <a:extLst>
              <a:ext uri="{FF2B5EF4-FFF2-40B4-BE49-F238E27FC236}">
                <a16:creationId xmlns:a16="http://schemas.microsoft.com/office/drawing/2014/main" id="{09EBB8A7-6A25-70C9-2035-4F0F960D2781}"/>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7821323"/>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el, Text und 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71488" y="322263"/>
            <a:ext cx="6462712" cy="515937"/>
          </a:xfrm>
        </p:spPr>
        <p:txBody>
          <a:bodyPr/>
          <a:lstStyle/>
          <a:p>
            <a:r>
              <a:rPr lang="de-DE"/>
              <a:t>Titelmasterformat durch Klicken bearbeiten</a:t>
            </a:r>
          </a:p>
        </p:txBody>
      </p:sp>
      <p:sp>
        <p:nvSpPr>
          <p:cNvPr id="3" name="Textplatzhalter 2"/>
          <p:cNvSpPr>
            <a:spLocks noGrp="1"/>
          </p:cNvSpPr>
          <p:nvPr>
            <p:ph type="body" sz="half" idx="1"/>
          </p:nvPr>
        </p:nvSpPr>
        <p:spPr>
          <a:xfrm>
            <a:off x="849313" y="1130300"/>
            <a:ext cx="2965450" cy="1779588"/>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quarter" idx="2"/>
          </p:nvPr>
        </p:nvSpPr>
        <p:spPr>
          <a:xfrm>
            <a:off x="3967163" y="1130300"/>
            <a:ext cx="2967037" cy="8128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4"/>
          <p:cNvSpPr>
            <a:spLocks noGrp="1"/>
          </p:cNvSpPr>
          <p:nvPr>
            <p:ph sz="quarter" idx="3"/>
          </p:nvPr>
        </p:nvSpPr>
        <p:spPr>
          <a:xfrm>
            <a:off x="3967163" y="2095500"/>
            <a:ext cx="2967037" cy="814388"/>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Rectangle 6">
            <a:extLst>
              <a:ext uri="{FF2B5EF4-FFF2-40B4-BE49-F238E27FC236}">
                <a16:creationId xmlns:a16="http://schemas.microsoft.com/office/drawing/2014/main" id="{5423D9A8-8CBA-52F7-8677-819BFD158579}"/>
              </a:ext>
            </a:extLst>
          </p:cNvPr>
          <p:cNvSpPr>
            <a:spLocks noGrp="1" noChangeArrowheads="1"/>
          </p:cNvSpPr>
          <p:nvPr>
            <p:ph type="sldNum" sz="quarter" idx="10"/>
          </p:nvPr>
        </p:nvSpPr>
        <p:spPr/>
        <p:txBody>
          <a:bodyPr/>
          <a:lstStyle>
            <a:lvl1pPr>
              <a:defRPr/>
            </a:lvl1pPr>
          </a:lstStyle>
          <a:p>
            <a:fld id="{C63A6824-BAAE-2145-809D-E1C64ED7CC77}" type="slidenum">
              <a:rPr lang="de-DE" altLang="zh-CN"/>
              <a:pPr/>
              <a:t>‹#›</a:t>
            </a:fld>
            <a:r>
              <a:rPr lang="de-DE" altLang="zh-CN"/>
              <a:t>/29</a:t>
            </a:r>
          </a:p>
        </p:txBody>
      </p:sp>
      <p:sp>
        <p:nvSpPr>
          <p:cNvPr id="7" name="Rectangle 550">
            <a:extLst>
              <a:ext uri="{FF2B5EF4-FFF2-40B4-BE49-F238E27FC236}">
                <a16:creationId xmlns:a16="http://schemas.microsoft.com/office/drawing/2014/main" id="{53C98AE1-916E-728A-B0C9-86D3BE07697F}"/>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3626326152"/>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el, Tex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71488" y="322263"/>
            <a:ext cx="6462712" cy="515937"/>
          </a:xfrm>
        </p:spPr>
        <p:txBody>
          <a:bodyPr/>
          <a:lstStyle/>
          <a:p>
            <a:r>
              <a:rPr lang="de-DE"/>
              <a:t>Titelmasterformat durch Klicken bearbeiten</a:t>
            </a:r>
          </a:p>
        </p:txBody>
      </p:sp>
      <p:sp>
        <p:nvSpPr>
          <p:cNvPr id="3" name="Textplatzhalter 2"/>
          <p:cNvSpPr>
            <a:spLocks noGrp="1"/>
          </p:cNvSpPr>
          <p:nvPr>
            <p:ph type="body" sz="half" idx="1"/>
          </p:nvPr>
        </p:nvSpPr>
        <p:spPr>
          <a:xfrm>
            <a:off x="849313" y="1130300"/>
            <a:ext cx="2965450" cy="1779588"/>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3967163" y="1130300"/>
            <a:ext cx="2967037" cy="1779588"/>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6">
            <a:extLst>
              <a:ext uri="{FF2B5EF4-FFF2-40B4-BE49-F238E27FC236}">
                <a16:creationId xmlns:a16="http://schemas.microsoft.com/office/drawing/2014/main" id="{570C7017-9379-50A8-68C1-FBAB498DDB18}"/>
              </a:ext>
            </a:extLst>
          </p:cNvPr>
          <p:cNvSpPr>
            <a:spLocks noGrp="1" noChangeArrowheads="1"/>
          </p:cNvSpPr>
          <p:nvPr>
            <p:ph type="sldNum" sz="quarter" idx="10"/>
          </p:nvPr>
        </p:nvSpPr>
        <p:spPr/>
        <p:txBody>
          <a:bodyPr/>
          <a:lstStyle>
            <a:lvl1pPr>
              <a:defRPr/>
            </a:lvl1pPr>
          </a:lstStyle>
          <a:p>
            <a:fld id="{371C131E-A8C3-534D-BF7B-4C5D62CC1F0B}" type="slidenum">
              <a:rPr lang="de-DE" altLang="zh-CN"/>
              <a:pPr/>
              <a:t>‹#›</a:t>
            </a:fld>
            <a:r>
              <a:rPr lang="de-DE" altLang="zh-CN"/>
              <a:t>/29</a:t>
            </a:r>
          </a:p>
        </p:txBody>
      </p:sp>
      <p:sp>
        <p:nvSpPr>
          <p:cNvPr id="6" name="Rectangle 550">
            <a:extLst>
              <a:ext uri="{FF2B5EF4-FFF2-40B4-BE49-F238E27FC236}">
                <a16:creationId xmlns:a16="http://schemas.microsoft.com/office/drawing/2014/main" id="{0E669D6A-89C5-7190-4B5A-253E00CD6AD9}"/>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3508376257"/>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el, Inhalt und 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71488" y="322263"/>
            <a:ext cx="6462712" cy="515937"/>
          </a:xfrm>
        </p:spPr>
        <p:txBody>
          <a:bodyPr/>
          <a:lstStyle/>
          <a:p>
            <a:r>
              <a:rPr lang="de-DE"/>
              <a:t>Titelmasterformat durch Klicken bearbeiten</a:t>
            </a:r>
          </a:p>
        </p:txBody>
      </p:sp>
      <p:sp>
        <p:nvSpPr>
          <p:cNvPr id="3" name="Inhaltsplatzhalter 2"/>
          <p:cNvSpPr>
            <a:spLocks noGrp="1"/>
          </p:cNvSpPr>
          <p:nvPr>
            <p:ph sz="half" idx="1"/>
          </p:nvPr>
        </p:nvSpPr>
        <p:spPr>
          <a:xfrm>
            <a:off x="849313" y="1130300"/>
            <a:ext cx="2965450" cy="1779588"/>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quarter" idx="2"/>
          </p:nvPr>
        </p:nvSpPr>
        <p:spPr>
          <a:xfrm>
            <a:off x="3967163" y="1130300"/>
            <a:ext cx="2967037" cy="812800"/>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4"/>
          <p:cNvSpPr>
            <a:spLocks noGrp="1"/>
          </p:cNvSpPr>
          <p:nvPr>
            <p:ph sz="quarter" idx="3"/>
          </p:nvPr>
        </p:nvSpPr>
        <p:spPr>
          <a:xfrm>
            <a:off x="3967163" y="2095500"/>
            <a:ext cx="2967037" cy="814388"/>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Rectangle 6">
            <a:extLst>
              <a:ext uri="{FF2B5EF4-FFF2-40B4-BE49-F238E27FC236}">
                <a16:creationId xmlns:a16="http://schemas.microsoft.com/office/drawing/2014/main" id="{CB869D92-48A9-4E65-B272-59F21CE03016}"/>
              </a:ext>
            </a:extLst>
          </p:cNvPr>
          <p:cNvSpPr>
            <a:spLocks noGrp="1" noChangeArrowheads="1"/>
          </p:cNvSpPr>
          <p:nvPr>
            <p:ph type="sldNum" sz="quarter" idx="10"/>
          </p:nvPr>
        </p:nvSpPr>
        <p:spPr/>
        <p:txBody>
          <a:bodyPr/>
          <a:lstStyle>
            <a:lvl1pPr>
              <a:defRPr/>
            </a:lvl1pPr>
          </a:lstStyle>
          <a:p>
            <a:fld id="{7DF48AE1-11FA-2C45-9073-2310BD23D9C5}" type="slidenum">
              <a:rPr lang="de-DE" altLang="zh-CN"/>
              <a:pPr/>
              <a:t>‹#›</a:t>
            </a:fld>
            <a:r>
              <a:rPr lang="de-DE" altLang="zh-CN"/>
              <a:t>/29</a:t>
            </a:r>
          </a:p>
        </p:txBody>
      </p:sp>
      <p:sp>
        <p:nvSpPr>
          <p:cNvPr id="7" name="Rectangle 550">
            <a:extLst>
              <a:ext uri="{FF2B5EF4-FFF2-40B4-BE49-F238E27FC236}">
                <a16:creationId xmlns:a16="http://schemas.microsoft.com/office/drawing/2014/main" id="{A09EB297-71FF-6D36-EA4F-51C4645518F5}"/>
              </a:ext>
            </a:extLst>
          </p:cNvPr>
          <p:cNvSpPr>
            <a:spLocks noGrp="1" noChangeArrowheads="1"/>
          </p:cNvSpPr>
          <p:nvPr>
            <p:ph type="ftr" sz="quarter" idx="11"/>
          </p:nvPr>
        </p:nvSpPr>
        <p:spPr/>
        <p:txBody>
          <a:bodyPr/>
          <a:lstStyle>
            <a:lvl1pPr>
              <a:defRPr/>
            </a:lvl1pPr>
          </a:lstStyle>
          <a:p>
            <a:pPr>
              <a:defRPr/>
            </a:pPr>
            <a:r>
              <a:rPr lang="de-DE"/>
              <a:t>Chapter 3 of </a:t>
            </a:r>
            <a:r>
              <a:rPr lang="de-DE" i="1"/>
              <a:t>Understanding Cryptography</a:t>
            </a:r>
            <a:r>
              <a:rPr lang="de-DE"/>
              <a:t> by Christof Paar and Jan Pelzl</a:t>
            </a:r>
          </a:p>
        </p:txBody>
      </p:sp>
    </p:spTree>
    <p:extLst>
      <p:ext uri="{BB962C8B-B14F-4D97-AF65-F5344CB8AC3E}">
        <p14:creationId xmlns:p14="http://schemas.microsoft.com/office/powerpoint/2010/main" val="1257213153"/>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9/30/24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7060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9/30/24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Picture Placeholder 3"/>
          <p:cNvSpPr>
            <a:spLocks noGrp="1"/>
          </p:cNvSpPr>
          <p:nvPr>
            <p:ph type="pic" sz="quarter" idx="13"/>
          </p:nvPr>
        </p:nvSpPr>
        <p:spPr>
          <a:xfrm>
            <a:off x="457200" y="1600200"/>
            <a:ext cx="8229600" cy="1143000"/>
          </a:xfrm>
        </p:spPr>
        <p:txBody>
          <a:bodyPr/>
          <a:lstStyle/>
          <a:p>
            <a:endParaRPr lang="en-IN"/>
          </a:p>
        </p:txBody>
      </p:sp>
      <p:sp>
        <p:nvSpPr>
          <p:cNvPr id="6" name="Content Placeholder 5"/>
          <p:cNvSpPr>
            <a:spLocks noGrp="1"/>
          </p:cNvSpPr>
          <p:nvPr>
            <p:ph sz="quarter" idx="14"/>
          </p:nvPr>
        </p:nvSpPr>
        <p:spPr>
          <a:xfrm>
            <a:off x="457200" y="3581400"/>
            <a:ext cx="8229600" cy="137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289337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8365066" y="6426200"/>
            <a:ext cx="762000" cy="406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587717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004760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4477087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5964256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6263666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545174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5940758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0352333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0852491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4786409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5480114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20746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27399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0508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3061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9787097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0669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7D1F11F-4738-3FB9-3B1A-32D068ABEECD}"/>
              </a:ext>
            </a:extLst>
          </p:cNvPr>
          <p:cNvSpPr>
            <a:spLocks noGrp="1" noChangeArrowheads="1"/>
          </p:cNvSpPr>
          <p:nvPr>
            <p:ph type="title"/>
          </p:nvPr>
        </p:nvSpPr>
        <p:spPr bwMode="auto">
          <a:xfrm>
            <a:off x="471488" y="322263"/>
            <a:ext cx="646271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de-DE" altLang="zh-CN"/>
              <a:t>Mastertitelformat bearbeiten</a:t>
            </a:r>
            <a:br>
              <a:rPr lang="de-DE" altLang="zh-CN"/>
            </a:br>
            <a:endParaRPr lang="de-DE" altLang="zh-CN"/>
          </a:p>
        </p:txBody>
      </p:sp>
      <p:sp>
        <p:nvSpPr>
          <p:cNvPr id="1027" name="Rectangle 3">
            <a:extLst>
              <a:ext uri="{FF2B5EF4-FFF2-40B4-BE49-F238E27FC236}">
                <a16:creationId xmlns:a16="http://schemas.microsoft.com/office/drawing/2014/main" id="{05F12F93-54D2-0047-17D2-B56324EAC386}"/>
              </a:ext>
            </a:extLst>
          </p:cNvPr>
          <p:cNvSpPr>
            <a:spLocks noGrp="1" noChangeArrowheads="1"/>
          </p:cNvSpPr>
          <p:nvPr>
            <p:ph type="body" idx="1"/>
          </p:nvPr>
        </p:nvSpPr>
        <p:spPr bwMode="auto">
          <a:xfrm>
            <a:off x="849313" y="1130300"/>
            <a:ext cx="6084887"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de-DE" altLang="zh-CN"/>
              <a:t>Mastertextformat bearbeiten</a:t>
            </a:r>
          </a:p>
          <a:p>
            <a:pPr lvl="1"/>
            <a:r>
              <a:rPr lang="de-DE" altLang="zh-CN"/>
              <a:t>Zweite Ebene</a:t>
            </a:r>
          </a:p>
          <a:p>
            <a:pPr lvl="2"/>
            <a:r>
              <a:rPr lang="de-DE" altLang="zh-CN"/>
              <a:t>Dritte Ebene</a:t>
            </a:r>
          </a:p>
          <a:p>
            <a:pPr lvl="3"/>
            <a:r>
              <a:rPr lang="de-DE" altLang="zh-CN"/>
              <a:t>Vierte Ebene</a:t>
            </a:r>
          </a:p>
          <a:p>
            <a:pPr lvl="4"/>
            <a:r>
              <a:rPr lang="de-DE" altLang="zh-CN"/>
              <a:t>Fünfte Ebene</a:t>
            </a:r>
          </a:p>
        </p:txBody>
      </p:sp>
      <p:sp>
        <p:nvSpPr>
          <p:cNvPr id="1030" name="Rectangle 6">
            <a:extLst>
              <a:ext uri="{FF2B5EF4-FFF2-40B4-BE49-F238E27FC236}">
                <a16:creationId xmlns:a16="http://schemas.microsoft.com/office/drawing/2014/main" id="{E07E32E3-A9A0-2043-D202-11DEA45F2051}"/>
              </a:ext>
            </a:extLst>
          </p:cNvPr>
          <p:cNvSpPr>
            <a:spLocks noGrp="1" noChangeArrowheads="1"/>
          </p:cNvSpPr>
          <p:nvPr>
            <p:ph type="sldNum" sz="quarter" idx="4"/>
          </p:nvPr>
        </p:nvSpPr>
        <p:spPr bwMode="auto">
          <a:xfrm>
            <a:off x="179388" y="6597650"/>
            <a:ext cx="504825" cy="21590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ctr">
              <a:defRPr sz="900">
                <a:solidFill>
                  <a:srgbClr val="394073"/>
                </a:solidFill>
              </a:defRPr>
            </a:lvl1pPr>
          </a:lstStyle>
          <a:p>
            <a:fld id="{E0643F2B-0E08-3447-8D11-BDDF1E378962}" type="slidenum">
              <a:rPr lang="de-DE" altLang="zh-CN"/>
              <a:pPr/>
              <a:t>‹#›</a:t>
            </a:fld>
            <a:r>
              <a:rPr lang="de-DE" altLang="zh-CN"/>
              <a:t>/29</a:t>
            </a:r>
          </a:p>
        </p:txBody>
      </p:sp>
      <p:sp>
        <p:nvSpPr>
          <p:cNvPr id="1574" name="Rectangle 550">
            <a:extLst>
              <a:ext uri="{FF2B5EF4-FFF2-40B4-BE49-F238E27FC236}">
                <a16:creationId xmlns:a16="http://schemas.microsoft.com/office/drawing/2014/main" id="{AC44DBD5-9B74-A561-A96F-B0611110C450}"/>
              </a:ext>
            </a:extLst>
          </p:cNvPr>
          <p:cNvSpPr>
            <a:spLocks noGrp="1" noChangeArrowheads="1"/>
          </p:cNvSpPr>
          <p:nvPr>
            <p:ph type="ftr" sz="quarter" idx="3"/>
          </p:nvPr>
        </p:nvSpPr>
        <p:spPr bwMode="auto">
          <a:xfrm>
            <a:off x="2411413" y="6524625"/>
            <a:ext cx="4321175" cy="26035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nSpc>
                <a:spcPct val="120000"/>
              </a:lnSpc>
              <a:defRPr sz="1000">
                <a:latin typeface="Arial" charset="0"/>
                <a:ea typeface="+mn-ea"/>
              </a:defRPr>
            </a:lvl1pPr>
          </a:lstStyle>
          <a:p>
            <a:pPr>
              <a:defRPr/>
            </a:pPr>
            <a:r>
              <a:rPr lang="de-DE"/>
              <a:t>Chapter 3 of </a:t>
            </a:r>
            <a:r>
              <a:rPr lang="de-DE" i="1"/>
              <a:t>Understanding Cryptography</a:t>
            </a:r>
            <a:r>
              <a:rPr lang="de-DE"/>
              <a:t> by Christof Paar and Jan Pelzl</a:t>
            </a:r>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Lst>
  <p:transition spd="slow"/>
  <p:hf hdr="0" dt="0"/>
  <p:txStyles>
    <p:titleStyle>
      <a:lvl1pPr marL="381000" indent="-381000" algn="l" rtl="0" eaLnBrk="0" fontAlgn="base" hangingPunct="0">
        <a:spcBef>
          <a:spcPct val="20000"/>
        </a:spcBef>
        <a:spcAft>
          <a:spcPct val="0"/>
        </a:spcAft>
        <a:buClr>
          <a:srgbClr val="007AC2"/>
        </a:buClr>
        <a:buSzPct val="120000"/>
        <a:buFont typeface="Webdings" pitchFamily="2" charset="2"/>
        <a:buChar char="&lt;"/>
        <a:defRPr sz="1900" b="1">
          <a:solidFill>
            <a:schemeClr val="tx2"/>
          </a:solidFill>
          <a:latin typeface="+mj-lt"/>
          <a:ea typeface="ＭＳ Ｐゴシック" charset="0"/>
          <a:cs typeface="+mj-cs"/>
        </a:defRPr>
      </a:lvl1pPr>
      <a:lvl2pPr marL="381000" indent="-381000" algn="l" rtl="0" eaLnBrk="0" fontAlgn="base" hangingPunct="0">
        <a:spcBef>
          <a:spcPct val="20000"/>
        </a:spcBef>
        <a:spcAft>
          <a:spcPct val="0"/>
        </a:spcAft>
        <a:buClr>
          <a:srgbClr val="007AC2"/>
        </a:buClr>
        <a:buSzPct val="120000"/>
        <a:buFont typeface="Webdings" pitchFamily="2" charset="2"/>
        <a:buChar char="&lt;"/>
        <a:defRPr sz="1900" b="1">
          <a:solidFill>
            <a:schemeClr val="tx2"/>
          </a:solidFill>
          <a:latin typeface="Arial" charset="0"/>
          <a:ea typeface="ＭＳ Ｐゴシック" charset="0"/>
        </a:defRPr>
      </a:lvl2pPr>
      <a:lvl3pPr marL="381000" indent="-381000" algn="l" rtl="0" eaLnBrk="0" fontAlgn="base" hangingPunct="0">
        <a:spcBef>
          <a:spcPct val="20000"/>
        </a:spcBef>
        <a:spcAft>
          <a:spcPct val="0"/>
        </a:spcAft>
        <a:buClr>
          <a:srgbClr val="007AC2"/>
        </a:buClr>
        <a:buSzPct val="120000"/>
        <a:buFont typeface="Webdings" pitchFamily="2" charset="2"/>
        <a:buChar char="&lt;"/>
        <a:defRPr sz="1900" b="1">
          <a:solidFill>
            <a:schemeClr val="tx2"/>
          </a:solidFill>
          <a:latin typeface="Arial" charset="0"/>
          <a:ea typeface="ＭＳ Ｐゴシック" charset="0"/>
        </a:defRPr>
      </a:lvl3pPr>
      <a:lvl4pPr marL="381000" indent="-381000" algn="l" rtl="0" eaLnBrk="0" fontAlgn="base" hangingPunct="0">
        <a:spcBef>
          <a:spcPct val="20000"/>
        </a:spcBef>
        <a:spcAft>
          <a:spcPct val="0"/>
        </a:spcAft>
        <a:buClr>
          <a:srgbClr val="007AC2"/>
        </a:buClr>
        <a:buSzPct val="120000"/>
        <a:buFont typeface="Webdings" pitchFamily="2" charset="2"/>
        <a:buChar char="&lt;"/>
        <a:defRPr sz="1900" b="1">
          <a:solidFill>
            <a:schemeClr val="tx2"/>
          </a:solidFill>
          <a:latin typeface="Arial" charset="0"/>
          <a:ea typeface="ＭＳ Ｐゴシック" charset="0"/>
        </a:defRPr>
      </a:lvl4pPr>
      <a:lvl5pPr marL="381000" indent="-381000" algn="l" rtl="0" eaLnBrk="0" fontAlgn="base" hangingPunct="0">
        <a:spcBef>
          <a:spcPct val="20000"/>
        </a:spcBef>
        <a:spcAft>
          <a:spcPct val="0"/>
        </a:spcAft>
        <a:buClr>
          <a:srgbClr val="007AC2"/>
        </a:buClr>
        <a:buSzPct val="120000"/>
        <a:buFont typeface="Webdings" pitchFamily="2" charset="2"/>
        <a:buChar char="&lt;"/>
        <a:defRPr sz="1900" b="1">
          <a:solidFill>
            <a:schemeClr val="tx2"/>
          </a:solidFill>
          <a:latin typeface="Arial" charset="0"/>
          <a:ea typeface="ＭＳ Ｐゴシック" charset="0"/>
        </a:defRPr>
      </a:lvl5pPr>
      <a:lvl6pPr marL="838200" indent="-381000" algn="l" rtl="0" eaLnBrk="0" fontAlgn="base" hangingPunct="0">
        <a:spcBef>
          <a:spcPct val="20000"/>
        </a:spcBef>
        <a:spcAft>
          <a:spcPct val="0"/>
        </a:spcAft>
        <a:buClr>
          <a:srgbClr val="007AC2"/>
        </a:buClr>
        <a:buSzPct val="120000"/>
        <a:buFont typeface="Webdings" pitchFamily="18" charset="2"/>
        <a:buChar char="&lt;"/>
        <a:defRPr sz="1900" b="1">
          <a:solidFill>
            <a:schemeClr val="tx2"/>
          </a:solidFill>
          <a:latin typeface="Arial" charset="0"/>
        </a:defRPr>
      </a:lvl6pPr>
      <a:lvl7pPr marL="1295400" indent="-381000" algn="l" rtl="0" eaLnBrk="0" fontAlgn="base" hangingPunct="0">
        <a:spcBef>
          <a:spcPct val="20000"/>
        </a:spcBef>
        <a:spcAft>
          <a:spcPct val="0"/>
        </a:spcAft>
        <a:buClr>
          <a:srgbClr val="007AC2"/>
        </a:buClr>
        <a:buSzPct val="120000"/>
        <a:buFont typeface="Webdings" pitchFamily="18" charset="2"/>
        <a:buChar char="&lt;"/>
        <a:defRPr sz="1900" b="1">
          <a:solidFill>
            <a:schemeClr val="tx2"/>
          </a:solidFill>
          <a:latin typeface="Arial" charset="0"/>
        </a:defRPr>
      </a:lvl7pPr>
      <a:lvl8pPr marL="1752600" indent="-381000" algn="l" rtl="0" eaLnBrk="0" fontAlgn="base" hangingPunct="0">
        <a:spcBef>
          <a:spcPct val="20000"/>
        </a:spcBef>
        <a:spcAft>
          <a:spcPct val="0"/>
        </a:spcAft>
        <a:buClr>
          <a:srgbClr val="007AC2"/>
        </a:buClr>
        <a:buSzPct val="120000"/>
        <a:buFont typeface="Webdings" pitchFamily="18" charset="2"/>
        <a:buChar char="&lt;"/>
        <a:defRPr sz="1900" b="1">
          <a:solidFill>
            <a:schemeClr val="tx2"/>
          </a:solidFill>
          <a:latin typeface="Arial" charset="0"/>
        </a:defRPr>
      </a:lvl8pPr>
      <a:lvl9pPr marL="2209800" indent="-381000" algn="l" rtl="0" eaLnBrk="0" fontAlgn="base" hangingPunct="0">
        <a:spcBef>
          <a:spcPct val="20000"/>
        </a:spcBef>
        <a:spcAft>
          <a:spcPct val="0"/>
        </a:spcAft>
        <a:buClr>
          <a:srgbClr val="007AC2"/>
        </a:buClr>
        <a:buSzPct val="120000"/>
        <a:buFont typeface="Webdings" pitchFamily="18" charset="2"/>
        <a:buChar char="&lt;"/>
        <a:defRPr sz="1900" b="1">
          <a:solidFill>
            <a:schemeClr val="tx2"/>
          </a:solidFill>
          <a:latin typeface="Arial" charset="0"/>
        </a:defRPr>
      </a:lvl9pPr>
    </p:titleStyle>
    <p:bodyStyle>
      <a:lvl1pPr marL="195263" indent="-1952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ea typeface="ＭＳ Ｐゴシック" charset="0"/>
          <a:cs typeface="+mn-cs"/>
        </a:defRPr>
      </a:lvl1pPr>
      <a:lvl2pPr marL="574675" indent="-18891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ea typeface="ＭＳ Ｐゴシック" charset="0"/>
        </a:defRPr>
      </a:lvl2pPr>
      <a:lvl3pPr marL="952500" indent="-187325"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ea typeface="ＭＳ Ｐゴシック" charset="0"/>
        </a:defRPr>
      </a:lvl3pPr>
      <a:lvl4pPr marL="1325563"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ea typeface="ＭＳ Ｐゴシック" charset="0"/>
        </a:defRPr>
      </a:lvl4pPr>
      <a:lvl5pPr marL="16986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ea typeface="ＭＳ Ｐゴシック" charset="0"/>
        </a:defRPr>
      </a:lvl5pPr>
      <a:lvl6pPr marL="21558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6pPr>
      <a:lvl7pPr marL="26130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7pPr>
      <a:lvl8pPr marL="30702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8pPr>
      <a:lvl9pPr marL="3527425" indent="-182563" algn="l" rtl="0" eaLnBrk="0" fontAlgn="base" hangingPunct="0">
        <a:lnSpc>
          <a:spcPct val="125000"/>
        </a:lnSpc>
        <a:spcBef>
          <a:spcPct val="25000"/>
        </a:spcBef>
        <a:spcAft>
          <a:spcPct val="0"/>
        </a:spcAft>
        <a:buClr>
          <a:srgbClr val="007AC2"/>
        </a:buClr>
        <a:buSzPct val="120000"/>
        <a:buChar char="•"/>
        <a:defRPr sz="16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540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397000"/>
            <a:ext cx="8229600" cy="5461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4CFE4B-17F2-49B1-A8CD-48A7230178BE}" type="datetimeFigureOut">
              <a:rPr lang="en-US" smtClean="0">
                <a:solidFill>
                  <a:prstClr val="black">
                    <a:tint val="75000"/>
                  </a:prstClr>
                </a:solidFill>
              </a:rPr>
              <a:pPr/>
              <a:t>9/30/24</a:t>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dirty="0">
              <a:solidFill>
                <a:prstClr val="black">
                  <a:tint val="75000"/>
                </a:prstClr>
              </a:solidFill>
            </a:endParaRPr>
          </a:p>
        </p:txBody>
      </p:sp>
      <p:sp>
        <p:nvSpPr>
          <p:cNvPr id="7" name="TextBox 6"/>
          <p:cNvSpPr txBox="1"/>
          <p:nvPr userDrawn="1"/>
        </p:nvSpPr>
        <p:spPr>
          <a:xfrm>
            <a:off x="8495979" y="6589889"/>
            <a:ext cx="761747" cy="230832"/>
          </a:xfrm>
          <a:prstGeom prst="rect">
            <a:avLst/>
          </a:prstGeom>
          <a:noFill/>
        </p:spPr>
        <p:txBody>
          <a:bodyPr wrap="none" rtlCol="0">
            <a:spAutoFit/>
          </a:bodyPr>
          <a:lstStyle/>
          <a:p>
            <a:r>
              <a:rPr lang="en-US" sz="900" dirty="0"/>
              <a:t>Dan Boneh</a:t>
            </a:r>
          </a:p>
        </p:txBody>
      </p:sp>
    </p:spTree>
    <p:extLst>
      <p:ext uri="{BB962C8B-B14F-4D97-AF65-F5344CB8AC3E}">
        <p14:creationId xmlns:p14="http://schemas.microsoft.com/office/powerpoint/2010/main" val="926129870"/>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customXml" Target="../ink/ink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14.emf"/><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4.xml"/><Relationship Id="rId5" Type="http://schemas.openxmlformats.org/officeDocument/2006/relationships/image" Target="../media/image17.emf"/><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image" Target="../media/image18.emf"/></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image" Target="../media/image25.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2.xml"/><Relationship Id="rId1" Type="http://schemas.openxmlformats.org/officeDocument/2006/relationships/slideLayout" Target="../slideLayouts/slideLayout19.xml"/><Relationship Id="rId5" Type="http://schemas.openxmlformats.org/officeDocument/2006/relationships/image" Target="../media/image28.png"/><Relationship Id="rId4" Type="http://schemas.openxmlformats.org/officeDocument/2006/relationships/customXml" Target="../ink/ink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9.xml"/><Relationship Id="rId1" Type="http://schemas.openxmlformats.org/officeDocument/2006/relationships/slideLayout" Target="../slideLayouts/slideLayout15.xml"/><Relationship Id="rId5" Type="http://schemas.openxmlformats.org/officeDocument/2006/relationships/image" Target="../media/image30.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a:extLst>
              <a:ext uri="{FF2B5EF4-FFF2-40B4-BE49-F238E27FC236}">
                <a16:creationId xmlns:a16="http://schemas.microsoft.com/office/drawing/2014/main" id="{13D60E58-A87E-A31C-8516-49FDC88CBA68}"/>
              </a:ext>
            </a:extLst>
          </p:cNvPr>
          <p:cNvSpPr>
            <a:spLocks noGrp="1" noChangeArrowheads="1"/>
          </p:cNvSpPr>
          <p:nvPr>
            <p:ph type="ctrTitle"/>
          </p:nvPr>
        </p:nvSpPr>
        <p:spPr>
          <a:xfrm>
            <a:off x="0" y="404813"/>
            <a:ext cx="9144000" cy="2808287"/>
          </a:xfrm>
        </p:spPr>
        <p:txBody>
          <a:bodyPr/>
          <a:lstStyle/>
          <a:p>
            <a:pPr algn="ctr">
              <a:buFont typeface="Webdings" pitchFamily="2" charset="2"/>
              <a:buNone/>
            </a:pPr>
            <a:r>
              <a:rPr lang="de-DE" altLang="zh-CN" sz="2800" dirty="0">
                <a:ea typeface="ＭＳ Ｐゴシック" panose="020B0600070205080204" pitchFamily="34" charset="-128"/>
              </a:rPr>
              <a:t>  </a:t>
            </a:r>
            <a:br>
              <a:rPr lang="de-DE" altLang="zh-CN" sz="2800" dirty="0">
                <a:ea typeface="ＭＳ Ｐゴシック" panose="020B0600070205080204" pitchFamily="34" charset="-128"/>
              </a:rPr>
            </a:br>
            <a:br>
              <a:rPr lang="de-DE" altLang="zh-CN" sz="1400" dirty="0">
                <a:ea typeface="ＭＳ Ｐゴシック" panose="020B0600070205080204" pitchFamily="34" charset="-128"/>
              </a:rPr>
            </a:br>
            <a:r>
              <a:rPr lang="de-DE" altLang="zh-CN" sz="2800" dirty="0">
                <a:ea typeface="ＭＳ Ｐゴシック" panose="020B0600070205080204" pitchFamily="34" charset="-128"/>
              </a:rPr>
              <a:t>Chapter 3 – The Data Encryption Standard (DES)</a:t>
            </a:r>
            <a:br>
              <a:rPr lang="de-DE" altLang="zh-CN" sz="2800" dirty="0">
                <a:ea typeface="ＭＳ Ｐゴシック" panose="020B0600070205080204" pitchFamily="34" charset="-128"/>
              </a:rPr>
            </a:br>
            <a:endParaRPr lang="de-DE" altLang="zh-CN" sz="1600" b="0" dirty="0">
              <a:ea typeface="ＭＳ Ｐゴシック" panose="020B0600070205080204" pitchFamily="34" charset="-128"/>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Foliennummernplatzhalter 3">
            <a:extLst>
              <a:ext uri="{FF2B5EF4-FFF2-40B4-BE49-F238E27FC236}">
                <a16:creationId xmlns:a16="http://schemas.microsoft.com/office/drawing/2014/main" id="{74882DAF-867A-0962-DC58-0DEEEA9D4C4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D3B26A3A-8226-9647-9957-DF9BCB415E97}" type="slidenum">
              <a:rPr lang="de-DE" altLang="zh-CN" sz="900">
                <a:solidFill>
                  <a:srgbClr val="394073"/>
                </a:solidFill>
              </a:rPr>
              <a:pPr/>
              <a:t>2</a:t>
            </a:fld>
            <a:r>
              <a:rPr lang="de-DE" altLang="zh-CN" sz="900">
                <a:solidFill>
                  <a:srgbClr val="394073"/>
                </a:solidFill>
              </a:rPr>
              <a:t>/29</a:t>
            </a:r>
          </a:p>
        </p:txBody>
      </p:sp>
      <p:sp>
        <p:nvSpPr>
          <p:cNvPr id="23555" name="Rectangle 4">
            <a:extLst>
              <a:ext uri="{FF2B5EF4-FFF2-40B4-BE49-F238E27FC236}">
                <a16:creationId xmlns:a16="http://schemas.microsoft.com/office/drawing/2014/main" id="{0BB365E3-3C30-E60E-B9C3-09F4BB13B730}"/>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ea typeface="ＭＳ Ｐゴシック" panose="020B0600070205080204" pitchFamily="34" charset="-128"/>
              </a:rPr>
              <a:t>Content of this Chapter</a:t>
            </a:r>
          </a:p>
        </p:txBody>
      </p:sp>
      <p:sp>
        <p:nvSpPr>
          <p:cNvPr id="23556" name="Rectangle 7">
            <a:extLst>
              <a:ext uri="{FF2B5EF4-FFF2-40B4-BE49-F238E27FC236}">
                <a16:creationId xmlns:a16="http://schemas.microsoft.com/office/drawing/2014/main" id="{91124E86-0670-FFAB-D205-9E6CA2D89AFF}"/>
              </a:ext>
            </a:extLst>
          </p:cNvPr>
          <p:cNvSpPr>
            <a:spLocks noGrp="1" noChangeArrowheads="1"/>
          </p:cNvSpPr>
          <p:nvPr>
            <p:ph type="body" idx="1"/>
          </p:nvPr>
        </p:nvSpPr>
        <p:spPr>
          <a:xfrm>
            <a:off x="539750" y="1844675"/>
            <a:ext cx="7394575" cy="2209800"/>
          </a:xfrm>
          <a:noFill/>
        </p:spPr>
        <p:txBody>
          <a:bodyPr/>
          <a:lstStyle/>
          <a:p>
            <a:pPr marL="342900" indent="-342900"/>
            <a:r>
              <a:rPr lang="de-DE" altLang="zh-CN" sz="2000">
                <a:ea typeface="ＭＳ Ｐゴシック" panose="020B0600070205080204" pitchFamily="34" charset="-128"/>
              </a:rPr>
              <a:t>Introduction to DES</a:t>
            </a:r>
          </a:p>
          <a:p>
            <a:pPr marL="342900" indent="-342900"/>
            <a:r>
              <a:rPr lang="de-DE" altLang="zh-CN" sz="2000">
                <a:ea typeface="ＭＳ Ｐゴシック" panose="020B0600070205080204" pitchFamily="34" charset="-128"/>
              </a:rPr>
              <a:t>Overview of the DES Algorithm</a:t>
            </a:r>
          </a:p>
          <a:p>
            <a:pPr marL="342900" indent="-342900"/>
            <a:r>
              <a:rPr lang="de-DE" altLang="zh-CN" sz="2000">
                <a:ea typeface="ＭＳ Ｐゴシック" panose="020B0600070205080204" pitchFamily="34" charset="-128"/>
              </a:rPr>
              <a:t>Internal Structure of DES</a:t>
            </a:r>
          </a:p>
          <a:p>
            <a:pPr marL="342900" indent="-342900"/>
            <a:r>
              <a:rPr lang="de-DE" altLang="zh-CN" sz="2000">
                <a:ea typeface="ＭＳ Ｐゴシック" panose="020B0600070205080204" pitchFamily="34" charset="-128"/>
              </a:rPr>
              <a:t>Decryption</a:t>
            </a:r>
          </a:p>
          <a:p>
            <a:pPr marL="342900" indent="-342900"/>
            <a:r>
              <a:rPr lang="de-DE" altLang="zh-CN" sz="2000">
                <a:ea typeface="ＭＳ Ｐゴシック" panose="020B0600070205080204" pitchFamily="34" charset="-128"/>
              </a:rPr>
              <a:t>Security of DES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liennummernplatzhalter 3">
            <a:extLst>
              <a:ext uri="{FF2B5EF4-FFF2-40B4-BE49-F238E27FC236}">
                <a16:creationId xmlns:a16="http://schemas.microsoft.com/office/drawing/2014/main" id="{57D2D6A1-F7B1-C839-7AF6-ADDC93BABE3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6CD5609-7635-B048-9E3E-ED7A99622D8A}" type="slidenum">
              <a:rPr lang="de-DE" altLang="zh-CN" sz="900">
                <a:solidFill>
                  <a:srgbClr val="394073"/>
                </a:solidFill>
              </a:rPr>
              <a:pPr/>
              <a:t>3</a:t>
            </a:fld>
            <a:r>
              <a:rPr lang="de-DE" altLang="zh-CN" sz="900">
                <a:solidFill>
                  <a:srgbClr val="394073"/>
                </a:solidFill>
              </a:rPr>
              <a:t>/29</a:t>
            </a:r>
          </a:p>
        </p:txBody>
      </p:sp>
      <p:sp>
        <p:nvSpPr>
          <p:cNvPr id="25603" name="Rectangle 2">
            <a:extLst>
              <a:ext uri="{FF2B5EF4-FFF2-40B4-BE49-F238E27FC236}">
                <a16:creationId xmlns:a16="http://schemas.microsoft.com/office/drawing/2014/main" id="{7B8D3C7F-7FA9-7D94-B74A-A89EFAD1F3EE}"/>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ea typeface="ＭＳ Ｐゴシック" panose="020B0600070205080204" pitchFamily="34" charset="-128"/>
              </a:rPr>
              <a:t>Content of this Chapter</a:t>
            </a:r>
          </a:p>
        </p:txBody>
      </p:sp>
      <p:sp>
        <p:nvSpPr>
          <p:cNvPr id="25604" name="Rectangle 3">
            <a:extLst>
              <a:ext uri="{FF2B5EF4-FFF2-40B4-BE49-F238E27FC236}">
                <a16:creationId xmlns:a16="http://schemas.microsoft.com/office/drawing/2014/main" id="{1B1595F0-E11A-1F85-EF8B-9DC0697DA41E}"/>
              </a:ext>
            </a:extLst>
          </p:cNvPr>
          <p:cNvSpPr>
            <a:spLocks noGrp="1" noChangeArrowheads="1"/>
          </p:cNvSpPr>
          <p:nvPr>
            <p:ph type="body" idx="1"/>
          </p:nvPr>
        </p:nvSpPr>
        <p:spPr>
          <a:xfrm>
            <a:off x="539750" y="1844675"/>
            <a:ext cx="7394575" cy="2209800"/>
          </a:xfrm>
          <a:noFill/>
        </p:spPr>
        <p:txBody>
          <a:bodyPr/>
          <a:lstStyle/>
          <a:p>
            <a:pPr marL="342900" indent="-342900"/>
            <a:r>
              <a:rPr lang="de-DE" altLang="zh-CN" sz="2000" b="1">
                <a:ea typeface="ＭＳ Ｐゴシック" panose="020B0600070205080204" pitchFamily="34" charset="-128"/>
              </a:rPr>
              <a:t>Introduction to DES</a:t>
            </a:r>
          </a:p>
          <a:p>
            <a:pPr marL="342900" indent="-342900"/>
            <a:r>
              <a:rPr lang="de-DE" altLang="zh-CN" sz="2000">
                <a:ea typeface="ＭＳ Ｐゴシック" panose="020B0600070205080204" pitchFamily="34" charset="-128"/>
              </a:rPr>
              <a:t>Overview of the DES Algorithm</a:t>
            </a:r>
          </a:p>
          <a:p>
            <a:pPr marL="342900" indent="-342900"/>
            <a:r>
              <a:rPr lang="de-DE" altLang="zh-CN" sz="2000">
                <a:ea typeface="ＭＳ Ｐゴシック" panose="020B0600070205080204" pitchFamily="34" charset="-128"/>
              </a:rPr>
              <a:t>Internal Structure of DES</a:t>
            </a:r>
          </a:p>
          <a:p>
            <a:pPr marL="342900" indent="-342900"/>
            <a:r>
              <a:rPr lang="de-DE" altLang="zh-CN" sz="2000">
                <a:ea typeface="ＭＳ Ｐゴシック" panose="020B0600070205080204" pitchFamily="34" charset="-128"/>
              </a:rPr>
              <a:t>Decryption</a:t>
            </a:r>
          </a:p>
          <a:p>
            <a:pPr marL="342900" indent="-342900"/>
            <a:r>
              <a:rPr lang="de-DE" altLang="zh-CN" sz="2000">
                <a:ea typeface="ＭＳ Ｐゴシック" panose="020B0600070205080204" pitchFamily="34" charset="-128"/>
              </a:rPr>
              <a:t>Security of DES</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liennummernplatzhalter 3">
            <a:extLst>
              <a:ext uri="{FF2B5EF4-FFF2-40B4-BE49-F238E27FC236}">
                <a16:creationId xmlns:a16="http://schemas.microsoft.com/office/drawing/2014/main" id="{624DC326-4BB3-9AC4-0411-D6EE9D73D3A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4DE17D5E-76CC-F344-A862-B73122E70D3D}" type="slidenum">
              <a:rPr lang="de-DE" altLang="zh-CN" sz="900">
                <a:solidFill>
                  <a:srgbClr val="394073"/>
                </a:solidFill>
              </a:rPr>
              <a:pPr/>
              <a:t>4</a:t>
            </a:fld>
            <a:r>
              <a:rPr lang="de-DE" altLang="zh-CN" sz="900">
                <a:solidFill>
                  <a:srgbClr val="394073"/>
                </a:solidFill>
              </a:rPr>
              <a:t>/29</a:t>
            </a:r>
          </a:p>
        </p:txBody>
      </p:sp>
      <p:sp>
        <p:nvSpPr>
          <p:cNvPr id="27651" name="Rectangle 2">
            <a:extLst>
              <a:ext uri="{FF2B5EF4-FFF2-40B4-BE49-F238E27FC236}">
                <a16:creationId xmlns:a16="http://schemas.microsoft.com/office/drawing/2014/main" id="{FB66AA87-FBEC-6A01-EC69-C80F2D64BBA2}"/>
              </a:ext>
            </a:extLst>
          </p:cNvPr>
          <p:cNvSpPr>
            <a:spLocks noGrp="1" noChangeArrowheads="1"/>
          </p:cNvSpPr>
          <p:nvPr>
            <p:ph type="title"/>
          </p:nvPr>
        </p:nvSpPr>
        <p:spPr/>
        <p:txBody>
          <a:bodyPr/>
          <a:lstStyle/>
          <a:p>
            <a:r>
              <a:rPr lang="de-DE" altLang="zh-CN">
                <a:ea typeface="ＭＳ Ｐゴシック" panose="020B0600070205080204" pitchFamily="34" charset="-128"/>
              </a:rPr>
              <a:t>Classification of DES in the Field of Cryptology</a:t>
            </a:r>
          </a:p>
        </p:txBody>
      </p:sp>
      <p:grpSp>
        <p:nvGrpSpPr>
          <p:cNvPr id="2" name="Group 54">
            <a:extLst>
              <a:ext uri="{FF2B5EF4-FFF2-40B4-BE49-F238E27FC236}">
                <a16:creationId xmlns:a16="http://schemas.microsoft.com/office/drawing/2014/main" id="{CE298792-3252-3E2E-EBA9-A906F1FDEB09}"/>
              </a:ext>
            </a:extLst>
          </p:cNvPr>
          <p:cNvGrpSpPr>
            <a:grpSpLocks/>
          </p:cNvGrpSpPr>
          <p:nvPr/>
        </p:nvGrpSpPr>
        <p:grpSpPr bwMode="auto">
          <a:xfrm>
            <a:off x="4932363" y="1196975"/>
            <a:ext cx="1800225" cy="463550"/>
            <a:chOff x="3107" y="754"/>
            <a:chExt cx="1134" cy="292"/>
          </a:xfrm>
        </p:grpSpPr>
        <p:sp>
          <p:nvSpPr>
            <p:cNvPr id="27692" name="AutoShape 21">
              <a:extLst>
                <a:ext uri="{FF2B5EF4-FFF2-40B4-BE49-F238E27FC236}">
                  <a16:creationId xmlns:a16="http://schemas.microsoft.com/office/drawing/2014/main" id="{C64060C0-B57C-5F2C-C42C-6C648AD57920}"/>
                </a:ext>
              </a:extLst>
            </p:cNvPr>
            <p:cNvSpPr>
              <a:spLocks noChangeArrowheads="1"/>
            </p:cNvSpPr>
            <p:nvPr/>
          </p:nvSpPr>
          <p:spPr bwMode="auto">
            <a:xfrm>
              <a:off x="3107" y="774"/>
              <a:ext cx="1134" cy="272"/>
            </a:xfrm>
            <a:prstGeom prst="flowChartTermina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sp>
          <p:nvSpPr>
            <p:cNvPr id="27693" name="Text Box 29">
              <a:extLst>
                <a:ext uri="{FF2B5EF4-FFF2-40B4-BE49-F238E27FC236}">
                  <a16:creationId xmlns:a16="http://schemas.microsoft.com/office/drawing/2014/main" id="{F555BC5F-8DDC-87A8-5D1B-4B5B6963B666}"/>
                </a:ext>
              </a:extLst>
            </p:cNvPr>
            <p:cNvSpPr txBox="1">
              <a:spLocks noChangeArrowheads="1"/>
            </p:cNvSpPr>
            <p:nvPr/>
          </p:nvSpPr>
          <p:spPr bwMode="auto">
            <a:xfrm>
              <a:off x="3243" y="754"/>
              <a:ext cx="59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2000"/>
            </a:p>
          </p:txBody>
        </p:sp>
        <p:sp>
          <p:nvSpPr>
            <p:cNvPr id="27694" name="Text Box 30">
              <a:extLst>
                <a:ext uri="{FF2B5EF4-FFF2-40B4-BE49-F238E27FC236}">
                  <a16:creationId xmlns:a16="http://schemas.microsoft.com/office/drawing/2014/main" id="{DECF5E45-2C31-6B27-E0D6-598C99C2440E}"/>
                </a:ext>
              </a:extLst>
            </p:cNvPr>
            <p:cNvSpPr txBox="1">
              <a:spLocks noChangeArrowheads="1"/>
            </p:cNvSpPr>
            <p:nvPr/>
          </p:nvSpPr>
          <p:spPr bwMode="auto">
            <a:xfrm>
              <a:off x="3152" y="819"/>
              <a:ext cx="10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de-DE" altLang="zh-CN" sz="1800"/>
                <a:t>Cryptology</a:t>
              </a:r>
            </a:p>
          </p:txBody>
        </p:sp>
      </p:grpSp>
      <p:grpSp>
        <p:nvGrpSpPr>
          <p:cNvPr id="3" name="Group 62">
            <a:extLst>
              <a:ext uri="{FF2B5EF4-FFF2-40B4-BE49-F238E27FC236}">
                <a16:creationId xmlns:a16="http://schemas.microsoft.com/office/drawing/2014/main" id="{7EE7F1C1-E300-FD4C-4CBC-046631BDAE96}"/>
              </a:ext>
            </a:extLst>
          </p:cNvPr>
          <p:cNvGrpSpPr>
            <a:grpSpLocks/>
          </p:cNvGrpSpPr>
          <p:nvPr/>
        </p:nvGrpSpPr>
        <p:grpSpPr bwMode="auto">
          <a:xfrm>
            <a:off x="3132138" y="1660525"/>
            <a:ext cx="5329237" cy="1079500"/>
            <a:chOff x="1973" y="1046"/>
            <a:chExt cx="3357" cy="680"/>
          </a:xfrm>
        </p:grpSpPr>
        <p:grpSp>
          <p:nvGrpSpPr>
            <p:cNvPr id="27682" name="Group 55">
              <a:extLst>
                <a:ext uri="{FF2B5EF4-FFF2-40B4-BE49-F238E27FC236}">
                  <a16:creationId xmlns:a16="http://schemas.microsoft.com/office/drawing/2014/main" id="{D3129487-2D0B-76B6-5EF5-DB42562848F9}"/>
                </a:ext>
              </a:extLst>
            </p:cNvPr>
            <p:cNvGrpSpPr>
              <a:grpSpLocks/>
            </p:cNvGrpSpPr>
            <p:nvPr/>
          </p:nvGrpSpPr>
          <p:grpSpPr bwMode="auto">
            <a:xfrm>
              <a:off x="1973" y="1454"/>
              <a:ext cx="1134" cy="272"/>
              <a:chOff x="1973" y="1454"/>
              <a:chExt cx="1134" cy="272"/>
            </a:xfrm>
          </p:grpSpPr>
          <p:sp>
            <p:nvSpPr>
              <p:cNvPr id="27690" name="AutoShape 23">
                <a:extLst>
                  <a:ext uri="{FF2B5EF4-FFF2-40B4-BE49-F238E27FC236}">
                    <a16:creationId xmlns:a16="http://schemas.microsoft.com/office/drawing/2014/main" id="{3DEE015E-9AF5-29F3-925C-856F19D443F9}"/>
                  </a:ext>
                </a:extLst>
              </p:cNvPr>
              <p:cNvSpPr>
                <a:spLocks noChangeArrowheads="1"/>
              </p:cNvSpPr>
              <p:nvPr/>
            </p:nvSpPr>
            <p:spPr bwMode="auto">
              <a:xfrm>
                <a:off x="1973" y="1454"/>
                <a:ext cx="1134" cy="272"/>
              </a:xfrm>
              <a:prstGeom prst="flowChartTermina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sp>
            <p:nvSpPr>
              <p:cNvPr id="27691" name="Text Box 31">
                <a:extLst>
                  <a:ext uri="{FF2B5EF4-FFF2-40B4-BE49-F238E27FC236}">
                    <a16:creationId xmlns:a16="http://schemas.microsoft.com/office/drawing/2014/main" id="{A9690CD6-CB84-BC2F-6A10-00EC0D519E9D}"/>
                  </a:ext>
                </a:extLst>
              </p:cNvPr>
              <p:cNvSpPr txBox="1">
                <a:spLocks noChangeArrowheads="1"/>
              </p:cNvSpPr>
              <p:nvPr/>
            </p:nvSpPr>
            <p:spPr bwMode="auto">
              <a:xfrm>
                <a:off x="2018" y="1499"/>
                <a:ext cx="10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de-DE" altLang="zh-CN" sz="1800"/>
                  <a:t>Cryptography</a:t>
                </a:r>
              </a:p>
            </p:txBody>
          </p:sp>
        </p:grpSp>
        <p:grpSp>
          <p:nvGrpSpPr>
            <p:cNvPr id="27683" name="Group 56">
              <a:extLst>
                <a:ext uri="{FF2B5EF4-FFF2-40B4-BE49-F238E27FC236}">
                  <a16:creationId xmlns:a16="http://schemas.microsoft.com/office/drawing/2014/main" id="{62D1F86C-09FB-D47C-2462-3D55E27FEF0D}"/>
                </a:ext>
              </a:extLst>
            </p:cNvPr>
            <p:cNvGrpSpPr>
              <a:grpSpLocks/>
            </p:cNvGrpSpPr>
            <p:nvPr/>
          </p:nvGrpSpPr>
          <p:grpSpPr bwMode="auto">
            <a:xfrm>
              <a:off x="4196" y="1454"/>
              <a:ext cx="1134" cy="272"/>
              <a:chOff x="4196" y="1454"/>
              <a:chExt cx="1134" cy="272"/>
            </a:xfrm>
          </p:grpSpPr>
          <p:sp>
            <p:nvSpPr>
              <p:cNvPr id="27688" name="AutoShape 22">
                <a:extLst>
                  <a:ext uri="{FF2B5EF4-FFF2-40B4-BE49-F238E27FC236}">
                    <a16:creationId xmlns:a16="http://schemas.microsoft.com/office/drawing/2014/main" id="{9ED2FCA0-DB71-D861-8B44-FD66F7C75401}"/>
                  </a:ext>
                </a:extLst>
              </p:cNvPr>
              <p:cNvSpPr>
                <a:spLocks noChangeArrowheads="1"/>
              </p:cNvSpPr>
              <p:nvPr/>
            </p:nvSpPr>
            <p:spPr bwMode="auto">
              <a:xfrm>
                <a:off x="4196" y="1454"/>
                <a:ext cx="1134" cy="272"/>
              </a:xfrm>
              <a:prstGeom prst="flowChartTermina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sp>
            <p:nvSpPr>
              <p:cNvPr id="27689" name="Text Box 32">
                <a:extLst>
                  <a:ext uri="{FF2B5EF4-FFF2-40B4-BE49-F238E27FC236}">
                    <a16:creationId xmlns:a16="http://schemas.microsoft.com/office/drawing/2014/main" id="{1D992621-5D34-964B-3438-D2BD9C2A7D1D}"/>
                  </a:ext>
                </a:extLst>
              </p:cNvPr>
              <p:cNvSpPr txBox="1">
                <a:spLocks noChangeArrowheads="1"/>
              </p:cNvSpPr>
              <p:nvPr/>
            </p:nvSpPr>
            <p:spPr bwMode="auto">
              <a:xfrm>
                <a:off x="4241" y="1499"/>
                <a:ext cx="10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de-DE" altLang="zh-CN" sz="1800"/>
                  <a:t>Cryptanalysis</a:t>
                </a:r>
              </a:p>
            </p:txBody>
          </p:sp>
        </p:grpSp>
        <p:sp>
          <p:nvSpPr>
            <p:cNvPr id="27684" name="Line 40">
              <a:extLst>
                <a:ext uri="{FF2B5EF4-FFF2-40B4-BE49-F238E27FC236}">
                  <a16:creationId xmlns:a16="http://schemas.microsoft.com/office/drawing/2014/main" id="{0061F3D4-08C1-441C-294C-4DA815A1CC2B}"/>
                </a:ext>
              </a:extLst>
            </p:cNvPr>
            <p:cNvSpPr>
              <a:spLocks noChangeShapeType="1"/>
            </p:cNvSpPr>
            <p:nvPr/>
          </p:nvSpPr>
          <p:spPr bwMode="auto">
            <a:xfrm>
              <a:off x="3651" y="1046"/>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85" name="Line 41">
              <a:extLst>
                <a:ext uri="{FF2B5EF4-FFF2-40B4-BE49-F238E27FC236}">
                  <a16:creationId xmlns:a16="http://schemas.microsoft.com/office/drawing/2014/main" id="{66876BC8-E9BD-0B6A-DE72-7E26D557F4C5}"/>
                </a:ext>
              </a:extLst>
            </p:cNvPr>
            <p:cNvSpPr>
              <a:spLocks noChangeShapeType="1"/>
            </p:cNvSpPr>
            <p:nvPr/>
          </p:nvSpPr>
          <p:spPr bwMode="auto">
            <a:xfrm>
              <a:off x="2517" y="1227"/>
              <a:ext cx="22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86" name="Line 42">
              <a:extLst>
                <a:ext uri="{FF2B5EF4-FFF2-40B4-BE49-F238E27FC236}">
                  <a16:creationId xmlns:a16="http://schemas.microsoft.com/office/drawing/2014/main" id="{F7A0B908-2C75-3520-231A-7E5C6BBE69FE}"/>
                </a:ext>
              </a:extLst>
            </p:cNvPr>
            <p:cNvSpPr>
              <a:spLocks noChangeShapeType="1"/>
            </p:cNvSpPr>
            <p:nvPr/>
          </p:nvSpPr>
          <p:spPr bwMode="auto">
            <a:xfrm>
              <a:off x="2517" y="1227"/>
              <a:ext cx="0"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87" name="Line 43">
              <a:extLst>
                <a:ext uri="{FF2B5EF4-FFF2-40B4-BE49-F238E27FC236}">
                  <a16:creationId xmlns:a16="http://schemas.microsoft.com/office/drawing/2014/main" id="{FADBA413-DD6D-5EE4-9E6D-A781F03CD9E4}"/>
                </a:ext>
              </a:extLst>
            </p:cNvPr>
            <p:cNvSpPr>
              <a:spLocks noChangeShapeType="1"/>
            </p:cNvSpPr>
            <p:nvPr/>
          </p:nvSpPr>
          <p:spPr bwMode="auto">
            <a:xfrm>
              <a:off x="4785" y="1227"/>
              <a:ext cx="0"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grpSp>
        <p:nvGrpSpPr>
          <p:cNvPr id="6" name="Group 63">
            <a:extLst>
              <a:ext uri="{FF2B5EF4-FFF2-40B4-BE49-F238E27FC236}">
                <a16:creationId xmlns:a16="http://schemas.microsoft.com/office/drawing/2014/main" id="{F5688DD1-6FC8-B3A3-1957-C0BC1F2E7F91}"/>
              </a:ext>
            </a:extLst>
          </p:cNvPr>
          <p:cNvGrpSpPr>
            <a:grpSpLocks/>
          </p:cNvGrpSpPr>
          <p:nvPr/>
        </p:nvGrpSpPr>
        <p:grpSpPr bwMode="auto">
          <a:xfrm>
            <a:off x="836613" y="2751138"/>
            <a:ext cx="6408737" cy="1225550"/>
            <a:chOff x="521" y="1726"/>
            <a:chExt cx="4037" cy="772"/>
          </a:xfrm>
        </p:grpSpPr>
        <p:grpSp>
          <p:nvGrpSpPr>
            <p:cNvPr id="27668" name="Group 57">
              <a:extLst>
                <a:ext uri="{FF2B5EF4-FFF2-40B4-BE49-F238E27FC236}">
                  <a16:creationId xmlns:a16="http://schemas.microsoft.com/office/drawing/2014/main" id="{6AEB7A25-ECC2-93DC-7250-0CDC49F3BA80}"/>
                </a:ext>
              </a:extLst>
            </p:cNvPr>
            <p:cNvGrpSpPr>
              <a:grpSpLocks/>
            </p:cNvGrpSpPr>
            <p:nvPr/>
          </p:nvGrpSpPr>
          <p:grpSpPr bwMode="auto">
            <a:xfrm>
              <a:off x="521" y="2226"/>
              <a:ext cx="1135" cy="272"/>
              <a:chOff x="521" y="2226"/>
              <a:chExt cx="1135" cy="272"/>
            </a:xfrm>
          </p:grpSpPr>
          <p:sp>
            <p:nvSpPr>
              <p:cNvPr id="27680" name="AutoShape 26">
                <a:extLst>
                  <a:ext uri="{FF2B5EF4-FFF2-40B4-BE49-F238E27FC236}">
                    <a16:creationId xmlns:a16="http://schemas.microsoft.com/office/drawing/2014/main" id="{9428B8E3-FA84-5B00-64BD-8BAFEDC6419E}"/>
                  </a:ext>
                </a:extLst>
              </p:cNvPr>
              <p:cNvSpPr>
                <a:spLocks noChangeArrowheads="1"/>
              </p:cNvSpPr>
              <p:nvPr/>
            </p:nvSpPr>
            <p:spPr bwMode="auto">
              <a:xfrm>
                <a:off x="521" y="2226"/>
                <a:ext cx="1134" cy="272"/>
              </a:xfrm>
              <a:prstGeom prst="flowChartTermina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sp>
            <p:nvSpPr>
              <p:cNvPr id="27681" name="Text Box 33">
                <a:extLst>
                  <a:ext uri="{FF2B5EF4-FFF2-40B4-BE49-F238E27FC236}">
                    <a16:creationId xmlns:a16="http://schemas.microsoft.com/office/drawing/2014/main" id="{DE54D4A2-047E-5D7F-A0EC-1C2CBEF73394}"/>
                  </a:ext>
                </a:extLst>
              </p:cNvPr>
              <p:cNvSpPr txBox="1">
                <a:spLocks noChangeArrowheads="1"/>
              </p:cNvSpPr>
              <p:nvPr/>
            </p:nvSpPr>
            <p:spPr bwMode="auto">
              <a:xfrm>
                <a:off x="567" y="2295"/>
                <a:ext cx="108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de-DE" altLang="zh-CN"/>
                  <a:t>Symmetric Ciphers</a:t>
                </a:r>
              </a:p>
            </p:txBody>
          </p:sp>
        </p:grpSp>
        <p:grpSp>
          <p:nvGrpSpPr>
            <p:cNvPr id="27669" name="Group 58">
              <a:extLst>
                <a:ext uri="{FF2B5EF4-FFF2-40B4-BE49-F238E27FC236}">
                  <a16:creationId xmlns:a16="http://schemas.microsoft.com/office/drawing/2014/main" id="{9734DD37-0744-D226-1E91-B6949624658E}"/>
                </a:ext>
              </a:extLst>
            </p:cNvPr>
            <p:cNvGrpSpPr>
              <a:grpSpLocks/>
            </p:cNvGrpSpPr>
            <p:nvPr/>
          </p:nvGrpSpPr>
          <p:grpSpPr bwMode="auto">
            <a:xfrm>
              <a:off x="1973" y="2226"/>
              <a:ext cx="1134" cy="272"/>
              <a:chOff x="1973" y="2226"/>
              <a:chExt cx="1134" cy="272"/>
            </a:xfrm>
          </p:grpSpPr>
          <p:sp>
            <p:nvSpPr>
              <p:cNvPr id="27678" name="AutoShape 25">
                <a:extLst>
                  <a:ext uri="{FF2B5EF4-FFF2-40B4-BE49-F238E27FC236}">
                    <a16:creationId xmlns:a16="http://schemas.microsoft.com/office/drawing/2014/main" id="{5A3DF5A1-099D-13CF-9737-A8B2038B5474}"/>
                  </a:ext>
                </a:extLst>
              </p:cNvPr>
              <p:cNvSpPr>
                <a:spLocks noChangeArrowheads="1"/>
              </p:cNvSpPr>
              <p:nvPr/>
            </p:nvSpPr>
            <p:spPr bwMode="auto">
              <a:xfrm>
                <a:off x="1973" y="2226"/>
                <a:ext cx="1134" cy="272"/>
              </a:xfrm>
              <a:prstGeom prst="flowChartTermina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sp>
            <p:nvSpPr>
              <p:cNvPr id="27679" name="Text Box 34">
                <a:extLst>
                  <a:ext uri="{FF2B5EF4-FFF2-40B4-BE49-F238E27FC236}">
                    <a16:creationId xmlns:a16="http://schemas.microsoft.com/office/drawing/2014/main" id="{02528AFC-FE45-80B1-E45B-FE5CBDBD214D}"/>
                  </a:ext>
                </a:extLst>
              </p:cNvPr>
              <p:cNvSpPr txBox="1">
                <a:spLocks noChangeArrowheads="1"/>
              </p:cNvSpPr>
              <p:nvPr/>
            </p:nvSpPr>
            <p:spPr bwMode="auto">
              <a:xfrm>
                <a:off x="1997" y="2295"/>
                <a:ext cx="108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de-DE" altLang="zh-CN"/>
                  <a:t>Asymmetric Ciphers</a:t>
                </a:r>
              </a:p>
            </p:txBody>
          </p:sp>
        </p:grpSp>
        <p:grpSp>
          <p:nvGrpSpPr>
            <p:cNvPr id="27670" name="Group 59">
              <a:extLst>
                <a:ext uri="{FF2B5EF4-FFF2-40B4-BE49-F238E27FC236}">
                  <a16:creationId xmlns:a16="http://schemas.microsoft.com/office/drawing/2014/main" id="{3F2530F4-3D50-6CDA-13D3-3FE818DADACD}"/>
                </a:ext>
              </a:extLst>
            </p:cNvPr>
            <p:cNvGrpSpPr>
              <a:grpSpLocks/>
            </p:cNvGrpSpPr>
            <p:nvPr/>
          </p:nvGrpSpPr>
          <p:grpSpPr bwMode="auto">
            <a:xfrm>
              <a:off x="3424" y="2225"/>
              <a:ext cx="1134" cy="272"/>
              <a:chOff x="3424" y="2225"/>
              <a:chExt cx="1134" cy="272"/>
            </a:xfrm>
          </p:grpSpPr>
          <p:sp>
            <p:nvSpPr>
              <p:cNvPr id="27676" name="AutoShape 24">
                <a:extLst>
                  <a:ext uri="{FF2B5EF4-FFF2-40B4-BE49-F238E27FC236}">
                    <a16:creationId xmlns:a16="http://schemas.microsoft.com/office/drawing/2014/main" id="{9145E5E4-1B9B-DD64-4D65-592D6B9E05C8}"/>
                  </a:ext>
                </a:extLst>
              </p:cNvPr>
              <p:cNvSpPr>
                <a:spLocks noChangeArrowheads="1"/>
              </p:cNvSpPr>
              <p:nvPr/>
            </p:nvSpPr>
            <p:spPr bwMode="auto">
              <a:xfrm>
                <a:off x="3424" y="2225"/>
                <a:ext cx="1134" cy="272"/>
              </a:xfrm>
              <a:prstGeom prst="flowChartTermina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sp>
            <p:nvSpPr>
              <p:cNvPr id="27677" name="Text Box 35">
                <a:extLst>
                  <a:ext uri="{FF2B5EF4-FFF2-40B4-BE49-F238E27FC236}">
                    <a16:creationId xmlns:a16="http://schemas.microsoft.com/office/drawing/2014/main" id="{2CCF102C-49FE-21E0-D2E9-5DF9A96D7E31}"/>
                  </a:ext>
                </a:extLst>
              </p:cNvPr>
              <p:cNvSpPr txBox="1">
                <a:spLocks noChangeArrowheads="1"/>
              </p:cNvSpPr>
              <p:nvPr/>
            </p:nvSpPr>
            <p:spPr bwMode="auto">
              <a:xfrm>
                <a:off x="3424" y="2294"/>
                <a:ext cx="108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de-DE" altLang="zh-CN"/>
                  <a:t>Protocols </a:t>
                </a:r>
              </a:p>
            </p:txBody>
          </p:sp>
        </p:grpSp>
        <p:sp>
          <p:nvSpPr>
            <p:cNvPr id="27671" name="Line 44">
              <a:extLst>
                <a:ext uri="{FF2B5EF4-FFF2-40B4-BE49-F238E27FC236}">
                  <a16:creationId xmlns:a16="http://schemas.microsoft.com/office/drawing/2014/main" id="{0B11CECC-43DE-DD6D-2F6C-CD1474B7B1F3}"/>
                </a:ext>
              </a:extLst>
            </p:cNvPr>
            <p:cNvSpPr>
              <a:spLocks noChangeShapeType="1"/>
            </p:cNvSpPr>
            <p:nvPr/>
          </p:nvSpPr>
          <p:spPr bwMode="auto">
            <a:xfrm>
              <a:off x="2517" y="1726"/>
              <a:ext cx="0"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72" name="Line 46">
              <a:extLst>
                <a:ext uri="{FF2B5EF4-FFF2-40B4-BE49-F238E27FC236}">
                  <a16:creationId xmlns:a16="http://schemas.microsoft.com/office/drawing/2014/main" id="{F3B299E0-CF80-F060-58B6-9DB161784198}"/>
                </a:ext>
              </a:extLst>
            </p:cNvPr>
            <p:cNvSpPr>
              <a:spLocks noChangeShapeType="1"/>
            </p:cNvSpPr>
            <p:nvPr/>
          </p:nvSpPr>
          <p:spPr bwMode="auto">
            <a:xfrm>
              <a:off x="1111" y="1953"/>
              <a:ext cx="285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73" name="Line 47">
              <a:extLst>
                <a:ext uri="{FF2B5EF4-FFF2-40B4-BE49-F238E27FC236}">
                  <a16:creationId xmlns:a16="http://schemas.microsoft.com/office/drawing/2014/main" id="{5DFDDC57-4248-E873-03EE-BB868FF49B83}"/>
                </a:ext>
              </a:extLst>
            </p:cNvPr>
            <p:cNvSpPr>
              <a:spLocks noChangeShapeType="1"/>
            </p:cNvSpPr>
            <p:nvPr/>
          </p:nvSpPr>
          <p:spPr bwMode="auto">
            <a:xfrm>
              <a:off x="3969" y="1953"/>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74" name="Line 48">
              <a:extLst>
                <a:ext uri="{FF2B5EF4-FFF2-40B4-BE49-F238E27FC236}">
                  <a16:creationId xmlns:a16="http://schemas.microsoft.com/office/drawing/2014/main" id="{D0030CA6-039B-8003-D200-885DD8BD7D55}"/>
                </a:ext>
              </a:extLst>
            </p:cNvPr>
            <p:cNvSpPr>
              <a:spLocks noChangeShapeType="1"/>
            </p:cNvSpPr>
            <p:nvPr/>
          </p:nvSpPr>
          <p:spPr bwMode="auto">
            <a:xfrm>
              <a:off x="2517" y="1953"/>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75" name="Line 49">
              <a:extLst>
                <a:ext uri="{FF2B5EF4-FFF2-40B4-BE49-F238E27FC236}">
                  <a16:creationId xmlns:a16="http://schemas.microsoft.com/office/drawing/2014/main" id="{8240D50F-8B8F-9C57-0337-8606337CD840}"/>
                </a:ext>
              </a:extLst>
            </p:cNvPr>
            <p:cNvSpPr>
              <a:spLocks noChangeShapeType="1"/>
            </p:cNvSpPr>
            <p:nvPr/>
          </p:nvSpPr>
          <p:spPr bwMode="auto">
            <a:xfrm>
              <a:off x="1111" y="1953"/>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grpSp>
        <p:nvGrpSpPr>
          <p:cNvPr id="10" name="Group 64">
            <a:extLst>
              <a:ext uri="{FF2B5EF4-FFF2-40B4-BE49-F238E27FC236}">
                <a16:creationId xmlns:a16="http://schemas.microsoft.com/office/drawing/2014/main" id="{2F4DFCEA-E467-3B40-3040-27E07320EE25}"/>
              </a:ext>
            </a:extLst>
          </p:cNvPr>
          <p:cNvGrpSpPr>
            <a:grpSpLocks/>
          </p:cNvGrpSpPr>
          <p:nvPr/>
        </p:nvGrpSpPr>
        <p:grpSpPr bwMode="auto">
          <a:xfrm>
            <a:off x="252413" y="3973513"/>
            <a:ext cx="4103687" cy="1225550"/>
            <a:chOff x="159" y="2497"/>
            <a:chExt cx="2585" cy="772"/>
          </a:xfrm>
        </p:grpSpPr>
        <p:grpSp>
          <p:nvGrpSpPr>
            <p:cNvPr id="27658" name="Group 60">
              <a:extLst>
                <a:ext uri="{FF2B5EF4-FFF2-40B4-BE49-F238E27FC236}">
                  <a16:creationId xmlns:a16="http://schemas.microsoft.com/office/drawing/2014/main" id="{4D472C3A-4F1A-0130-74DE-0C6D37577291}"/>
                </a:ext>
              </a:extLst>
            </p:cNvPr>
            <p:cNvGrpSpPr>
              <a:grpSpLocks/>
            </p:cNvGrpSpPr>
            <p:nvPr/>
          </p:nvGrpSpPr>
          <p:grpSpPr bwMode="auto">
            <a:xfrm>
              <a:off x="159" y="2997"/>
              <a:ext cx="1134" cy="272"/>
              <a:chOff x="159" y="2997"/>
              <a:chExt cx="1134" cy="272"/>
            </a:xfrm>
          </p:grpSpPr>
          <p:sp>
            <p:nvSpPr>
              <p:cNvPr id="27666" name="AutoShape 28">
                <a:extLst>
                  <a:ext uri="{FF2B5EF4-FFF2-40B4-BE49-F238E27FC236}">
                    <a16:creationId xmlns:a16="http://schemas.microsoft.com/office/drawing/2014/main" id="{74D43FE2-FE4A-CD2F-891D-E4623E325DB5}"/>
                  </a:ext>
                </a:extLst>
              </p:cNvPr>
              <p:cNvSpPr>
                <a:spLocks noChangeArrowheads="1"/>
              </p:cNvSpPr>
              <p:nvPr/>
            </p:nvSpPr>
            <p:spPr bwMode="auto">
              <a:xfrm>
                <a:off x="159" y="2997"/>
                <a:ext cx="1134" cy="272"/>
              </a:xfrm>
              <a:prstGeom prst="flowChartTermina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sp>
            <p:nvSpPr>
              <p:cNvPr id="27667" name="Text Box 36">
                <a:extLst>
                  <a:ext uri="{FF2B5EF4-FFF2-40B4-BE49-F238E27FC236}">
                    <a16:creationId xmlns:a16="http://schemas.microsoft.com/office/drawing/2014/main" id="{03AF1DAE-9CEC-615E-288C-AB813324D3D4}"/>
                  </a:ext>
                </a:extLst>
              </p:cNvPr>
              <p:cNvSpPr txBox="1">
                <a:spLocks noChangeArrowheads="1"/>
              </p:cNvSpPr>
              <p:nvPr/>
            </p:nvSpPr>
            <p:spPr bwMode="auto">
              <a:xfrm>
                <a:off x="204" y="3066"/>
                <a:ext cx="108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de-DE" altLang="zh-CN"/>
                  <a:t>Block Ciphers</a:t>
                </a:r>
              </a:p>
            </p:txBody>
          </p:sp>
        </p:grpSp>
        <p:grpSp>
          <p:nvGrpSpPr>
            <p:cNvPr id="27659" name="Group 61">
              <a:extLst>
                <a:ext uri="{FF2B5EF4-FFF2-40B4-BE49-F238E27FC236}">
                  <a16:creationId xmlns:a16="http://schemas.microsoft.com/office/drawing/2014/main" id="{BDAC5346-4F43-D81E-FD92-E6886526B15D}"/>
                </a:ext>
              </a:extLst>
            </p:cNvPr>
            <p:cNvGrpSpPr>
              <a:grpSpLocks/>
            </p:cNvGrpSpPr>
            <p:nvPr/>
          </p:nvGrpSpPr>
          <p:grpSpPr bwMode="auto">
            <a:xfrm>
              <a:off x="1610" y="2997"/>
              <a:ext cx="1134" cy="272"/>
              <a:chOff x="1610" y="2997"/>
              <a:chExt cx="1134" cy="272"/>
            </a:xfrm>
          </p:grpSpPr>
          <p:sp>
            <p:nvSpPr>
              <p:cNvPr id="27664" name="AutoShape 27">
                <a:extLst>
                  <a:ext uri="{FF2B5EF4-FFF2-40B4-BE49-F238E27FC236}">
                    <a16:creationId xmlns:a16="http://schemas.microsoft.com/office/drawing/2014/main" id="{84C7E2FF-7AAE-7276-94EF-0FA9C81AE70E}"/>
                  </a:ext>
                </a:extLst>
              </p:cNvPr>
              <p:cNvSpPr>
                <a:spLocks noChangeArrowheads="1"/>
              </p:cNvSpPr>
              <p:nvPr/>
            </p:nvSpPr>
            <p:spPr bwMode="auto">
              <a:xfrm>
                <a:off x="1610" y="2997"/>
                <a:ext cx="1134" cy="272"/>
              </a:xfrm>
              <a:prstGeom prst="flowChartTermina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sp>
            <p:nvSpPr>
              <p:cNvPr id="27665" name="Text Box 37">
                <a:extLst>
                  <a:ext uri="{FF2B5EF4-FFF2-40B4-BE49-F238E27FC236}">
                    <a16:creationId xmlns:a16="http://schemas.microsoft.com/office/drawing/2014/main" id="{94B8CF04-B5C0-E866-A518-E3E1DDA9BC19}"/>
                  </a:ext>
                </a:extLst>
              </p:cNvPr>
              <p:cNvSpPr txBox="1">
                <a:spLocks noChangeArrowheads="1"/>
              </p:cNvSpPr>
              <p:nvPr/>
            </p:nvSpPr>
            <p:spPr bwMode="auto">
              <a:xfrm>
                <a:off x="1655" y="3066"/>
                <a:ext cx="1089"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de-DE" altLang="zh-CN"/>
                  <a:t>Stream Ciphers</a:t>
                </a:r>
              </a:p>
            </p:txBody>
          </p:sp>
        </p:grpSp>
        <p:sp>
          <p:nvSpPr>
            <p:cNvPr id="27660" name="Line 45">
              <a:extLst>
                <a:ext uri="{FF2B5EF4-FFF2-40B4-BE49-F238E27FC236}">
                  <a16:creationId xmlns:a16="http://schemas.microsoft.com/office/drawing/2014/main" id="{A230D5C2-D9D9-C8F9-1923-7343DB3BE6FB}"/>
                </a:ext>
              </a:extLst>
            </p:cNvPr>
            <p:cNvSpPr>
              <a:spLocks noChangeShapeType="1"/>
            </p:cNvSpPr>
            <p:nvPr/>
          </p:nvSpPr>
          <p:spPr bwMode="auto">
            <a:xfrm>
              <a:off x="1111" y="2497"/>
              <a:ext cx="0"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61" name="Line 51">
              <a:extLst>
                <a:ext uri="{FF2B5EF4-FFF2-40B4-BE49-F238E27FC236}">
                  <a16:creationId xmlns:a16="http://schemas.microsoft.com/office/drawing/2014/main" id="{A562917E-98BC-7612-74AF-1228D22F9111}"/>
                </a:ext>
              </a:extLst>
            </p:cNvPr>
            <p:cNvSpPr>
              <a:spLocks noChangeShapeType="1"/>
            </p:cNvSpPr>
            <p:nvPr/>
          </p:nvSpPr>
          <p:spPr bwMode="auto">
            <a:xfrm>
              <a:off x="703" y="2724"/>
              <a:ext cx="149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62" name="Line 52">
              <a:extLst>
                <a:ext uri="{FF2B5EF4-FFF2-40B4-BE49-F238E27FC236}">
                  <a16:creationId xmlns:a16="http://schemas.microsoft.com/office/drawing/2014/main" id="{875277C5-758A-A02A-64FD-EA57216719F6}"/>
                </a:ext>
              </a:extLst>
            </p:cNvPr>
            <p:cNvSpPr>
              <a:spLocks noChangeShapeType="1"/>
            </p:cNvSpPr>
            <p:nvPr/>
          </p:nvSpPr>
          <p:spPr bwMode="auto">
            <a:xfrm>
              <a:off x="703" y="2724"/>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63" name="Line 53">
              <a:extLst>
                <a:ext uri="{FF2B5EF4-FFF2-40B4-BE49-F238E27FC236}">
                  <a16:creationId xmlns:a16="http://schemas.microsoft.com/office/drawing/2014/main" id="{E519D648-C42D-326B-9E87-1C845571F2DC}"/>
                </a:ext>
              </a:extLst>
            </p:cNvPr>
            <p:cNvSpPr>
              <a:spLocks noChangeShapeType="1"/>
            </p:cNvSpPr>
            <p:nvPr/>
          </p:nvSpPr>
          <p:spPr bwMode="auto">
            <a:xfrm>
              <a:off x="2200" y="2724"/>
              <a:ext cx="0"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sp>
        <p:nvSpPr>
          <p:cNvPr id="27656" name="Line 66">
            <a:extLst>
              <a:ext uri="{FF2B5EF4-FFF2-40B4-BE49-F238E27FC236}">
                <a16:creationId xmlns:a16="http://schemas.microsoft.com/office/drawing/2014/main" id="{6F8A6E86-5A4D-27EA-D436-07A4613B9EF3}"/>
              </a:ext>
            </a:extLst>
          </p:cNvPr>
          <p:cNvSpPr>
            <a:spLocks noChangeShapeType="1"/>
          </p:cNvSpPr>
          <p:nvPr/>
        </p:nvSpPr>
        <p:spPr bwMode="auto">
          <a:xfrm flipH="1" flipV="1">
            <a:off x="1258888" y="5229225"/>
            <a:ext cx="719137" cy="792163"/>
          </a:xfrm>
          <a:prstGeom prst="line">
            <a:avLst/>
          </a:prstGeom>
          <a:noFill/>
          <a:ln w="1524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657" name="Text Box 67">
            <a:extLst>
              <a:ext uri="{FF2B5EF4-FFF2-40B4-BE49-F238E27FC236}">
                <a16:creationId xmlns:a16="http://schemas.microsoft.com/office/drawing/2014/main" id="{27FA8AB3-5FF2-41E4-AFD4-C1FBAF6771C9}"/>
              </a:ext>
            </a:extLst>
          </p:cNvPr>
          <p:cNvSpPr txBox="1">
            <a:spLocks noChangeArrowheads="1"/>
          </p:cNvSpPr>
          <p:nvPr/>
        </p:nvSpPr>
        <p:spPr bwMode="auto">
          <a:xfrm>
            <a:off x="2195513" y="5876925"/>
            <a:ext cx="162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de-DE" altLang="zh-CN" sz="2000" b="1">
                <a:solidFill>
                  <a:srgbClr val="FF0000"/>
                </a:solidFill>
              </a:rPr>
              <a:t>You are here!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Foliennummernplatzhalter 3">
            <a:extLst>
              <a:ext uri="{FF2B5EF4-FFF2-40B4-BE49-F238E27FC236}">
                <a16:creationId xmlns:a16="http://schemas.microsoft.com/office/drawing/2014/main" id="{D70EB001-00B6-C1CC-FBD8-8067E013C3C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E767EC9A-1E08-D842-8DBA-7DA9B715CFE2}" type="slidenum">
              <a:rPr lang="de-DE" altLang="zh-CN" sz="900">
                <a:solidFill>
                  <a:srgbClr val="394073"/>
                </a:solidFill>
              </a:rPr>
              <a:pPr/>
              <a:t>5</a:t>
            </a:fld>
            <a:r>
              <a:rPr lang="de-DE" altLang="zh-CN" sz="900">
                <a:solidFill>
                  <a:srgbClr val="394073"/>
                </a:solidFill>
              </a:rPr>
              <a:t>/29</a:t>
            </a:r>
          </a:p>
        </p:txBody>
      </p:sp>
      <p:sp>
        <p:nvSpPr>
          <p:cNvPr id="29699" name="Rectangle 4">
            <a:extLst>
              <a:ext uri="{FF2B5EF4-FFF2-40B4-BE49-F238E27FC236}">
                <a16:creationId xmlns:a16="http://schemas.microsoft.com/office/drawing/2014/main" id="{9B37658E-C569-7A65-91EE-AEF71867C98E}"/>
              </a:ext>
            </a:extLst>
          </p:cNvPr>
          <p:cNvSpPr>
            <a:spLocks noGrp="1" noChangeArrowheads="1"/>
          </p:cNvSpPr>
          <p:nvPr>
            <p:ph type="title"/>
          </p:nvPr>
        </p:nvSpPr>
        <p:spPr/>
        <p:txBody>
          <a:bodyPr/>
          <a:lstStyle/>
          <a:p>
            <a:r>
              <a:rPr lang="de-DE" altLang="zh-CN">
                <a:ea typeface="ＭＳ Ｐゴシック" panose="020B0600070205080204" pitchFamily="34" charset="-128"/>
              </a:rPr>
              <a:t>DES Facts</a:t>
            </a:r>
          </a:p>
        </p:txBody>
      </p:sp>
      <p:sp>
        <p:nvSpPr>
          <p:cNvPr id="29700" name="Rectangle 5">
            <a:extLst>
              <a:ext uri="{FF2B5EF4-FFF2-40B4-BE49-F238E27FC236}">
                <a16:creationId xmlns:a16="http://schemas.microsoft.com/office/drawing/2014/main" id="{AB0BE998-C9B7-576C-60E5-D073A300A42C}"/>
              </a:ext>
            </a:extLst>
          </p:cNvPr>
          <p:cNvSpPr>
            <a:spLocks noGrp="1" noChangeArrowheads="1"/>
          </p:cNvSpPr>
          <p:nvPr>
            <p:ph type="body" idx="1"/>
          </p:nvPr>
        </p:nvSpPr>
        <p:spPr>
          <a:xfrm>
            <a:off x="611560" y="980728"/>
            <a:ext cx="8136904" cy="4744247"/>
          </a:xfrm>
        </p:spPr>
        <p:txBody>
          <a:bodyPr/>
          <a:lstStyle/>
          <a:p>
            <a:r>
              <a:rPr lang="de-DE" altLang="zh-CN" sz="1800" dirty="0">
                <a:ea typeface="ＭＳ Ｐゴシック" panose="020B0600070205080204" pitchFamily="34" charset="-128"/>
              </a:rPr>
              <a:t>Data Encryption Standard (DES) </a:t>
            </a:r>
            <a:r>
              <a:rPr lang="de-DE" altLang="zh-CN" sz="1800" dirty="0" err="1">
                <a:ea typeface="ＭＳ Ｐゴシック" panose="020B0600070205080204" pitchFamily="34" charset="-128"/>
              </a:rPr>
              <a:t>encrypts</a:t>
            </a:r>
            <a:r>
              <a:rPr lang="de-DE" altLang="zh-CN" sz="1800" dirty="0">
                <a:ea typeface="ＭＳ Ｐゴシック" panose="020B0600070205080204" pitchFamily="34" charset="-128"/>
              </a:rPr>
              <a:t> </a:t>
            </a:r>
            <a:r>
              <a:rPr lang="de-DE" altLang="zh-CN" sz="1800" b="1" dirty="0" err="1">
                <a:ea typeface="ＭＳ Ｐゴシック" panose="020B0600070205080204" pitchFamily="34" charset="-128"/>
              </a:rPr>
              <a:t>blocks</a:t>
            </a:r>
            <a:r>
              <a:rPr lang="de-DE" altLang="zh-CN" sz="1800" b="1" dirty="0">
                <a:ea typeface="ＭＳ Ｐゴシック" panose="020B0600070205080204" pitchFamily="34" charset="-128"/>
              </a:rPr>
              <a:t> </a:t>
            </a:r>
            <a:r>
              <a:rPr lang="de-DE" altLang="zh-CN" sz="1800" b="1" dirty="0" err="1">
                <a:ea typeface="ＭＳ Ｐゴシック" panose="020B0600070205080204" pitchFamily="34" charset="-128"/>
              </a:rPr>
              <a:t>of</a:t>
            </a:r>
            <a:r>
              <a:rPr lang="de-DE" altLang="zh-CN" sz="1800" b="1" dirty="0">
                <a:ea typeface="ＭＳ Ｐゴシック" panose="020B0600070205080204" pitchFamily="34" charset="-128"/>
              </a:rPr>
              <a:t> </a:t>
            </a:r>
            <a:r>
              <a:rPr lang="de-DE" altLang="zh-CN" sz="1800" b="1" dirty="0" err="1">
                <a:ea typeface="ＭＳ Ｐゴシック" panose="020B0600070205080204" pitchFamily="34" charset="-128"/>
              </a:rPr>
              <a:t>size</a:t>
            </a:r>
            <a:r>
              <a:rPr lang="de-DE" altLang="zh-CN" sz="1800" b="1" dirty="0">
                <a:ea typeface="ＭＳ Ｐゴシック" panose="020B0600070205080204" pitchFamily="34" charset="-128"/>
              </a:rPr>
              <a:t> 64 </a:t>
            </a:r>
            <a:r>
              <a:rPr lang="de-DE" altLang="zh-CN" sz="1800" b="1" dirty="0" err="1">
                <a:ea typeface="ＭＳ Ｐゴシック" panose="020B0600070205080204" pitchFamily="34" charset="-128"/>
              </a:rPr>
              <a:t>bit</a:t>
            </a:r>
            <a:r>
              <a:rPr lang="de-DE" altLang="zh-CN" sz="1800" dirty="0">
                <a:ea typeface="ＭＳ Ｐゴシック" panose="020B0600070205080204" pitchFamily="34" charset="-128"/>
              </a:rPr>
              <a:t>.</a:t>
            </a:r>
          </a:p>
          <a:p>
            <a:r>
              <a:rPr lang="de-DE" altLang="zh-CN" sz="1800" dirty="0" err="1">
                <a:ea typeface="ＭＳ Ｐゴシック" panose="020B0600070205080204" pitchFamily="34" charset="-128"/>
              </a:rPr>
              <a:t>Developed</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by</a:t>
            </a:r>
            <a:r>
              <a:rPr lang="de-DE" altLang="zh-CN" sz="1800" b="1" dirty="0">
                <a:ea typeface="ＭＳ Ｐゴシック" panose="020B0600070205080204" pitchFamily="34" charset="-128"/>
              </a:rPr>
              <a:t> IBM </a:t>
            </a:r>
            <a:r>
              <a:rPr lang="de-DE" altLang="zh-CN" sz="1800" dirty="0" err="1">
                <a:ea typeface="ＭＳ Ｐゴシック" panose="020B0600070205080204" pitchFamily="34" charset="-128"/>
              </a:rPr>
              <a:t>based</a:t>
            </a:r>
            <a:r>
              <a:rPr lang="de-DE" altLang="zh-CN" sz="1800" dirty="0">
                <a:ea typeface="ＭＳ Ｐゴシック" panose="020B0600070205080204" pitchFamily="34" charset="-128"/>
              </a:rPr>
              <a:t> on </a:t>
            </a:r>
            <a:r>
              <a:rPr lang="de-DE" altLang="zh-CN" sz="1800" dirty="0" err="1">
                <a:solidFill>
                  <a:srgbClr val="FF0000"/>
                </a:solidFill>
                <a:ea typeface="ＭＳ Ｐゴシック" panose="020B0600070205080204" pitchFamily="34" charset="-128"/>
              </a:rPr>
              <a:t>the</a:t>
            </a:r>
            <a:r>
              <a:rPr lang="de-DE" altLang="zh-CN" sz="1800" dirty="0">
                <a:solidFill>
                  <a:srgbClr val="FF0000"/>
                </a:solidFill>
                <a:ea typeface="ＭＳ Ｐゴシック" panose="020B0600070205080204" pitchFamily="34" charset="-128"/>
              </a:rPr>
              <a:t> </a:t>
            </a:r>
            <a:r>
              <a:rPr lang="de-DE" altLang="zh-CN" sz="1800" dirty="0" err="1">
                <a:solidFill>
                  <a:srgbClr val="FF0000"/>
                </a:solidFill>
                <a:ea typeface="ＭＳ Ｐゴシック" panose="020B0600070205080204" pitchFamily="34" charset="-128"/>
              </a:rPr>
              <a:t>cipher</a:t>
            </a:r>
            <a:r>
              <a:rPr lang="de-DE" altLang="zh-CN" sz="1800" dirty="0">
                <a:solidFill>
                  <a:srgbClr val="FF0000"/>
                </a:solidFill>
                <a:ea typeface="ＭＳ Ｐゴシック" panose="020B0600070205080204" pitchFamily="34" charset="-128"/>
              </a:rPr>
              <a:t> </a:t>
            </a:r>
            <a:r>
              <a:rPr lang="de-DE" altLang="zh-CN" sz="1800" i="1" dirty="0">
                <a:solidFill>
                  <a:srgbClr val="FF0000"/>
                </a:solidFill>
                <a:ea typeface="ＭＳ Ｐゴシック" panose="020B0600070205080204" pitchFamily="34" charset="-128"/>
              </a:rPr>
              <a:t>Lucifer </a:t>
            </a:r>
            <a:r>
              <a:rPr lang="de-DE" altLang="zh-CN" sz="1800" dirty="0" err="1">
                <a:ea typeface="ＭＳ Ｐゴシック" panose="020B0600070205080204" pitchFamily="34" charset="-128"/>
              </a:rPr>
              <a:t>under</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influence</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of</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the</a:t>
            </a:r>
            <a:r>
              <a:rPr lang="de-DE" altLang="zh-CN" sz="1800" i="1" dirty="0">
                <a:ea typeface="ＭＳ Ｐゴシック" panose="020B0600070205080204" pitchFamily="34" charset="-128"/>
              </a:rPr>
              <a:t> National Security Agency </a:t>
            </a:r>
            <a:r>
              <a:rPr lang="de-DE" altLang="zh-CN" sz="1800" dirty="0">
                <a:ea typeface="ＭＳ Ｐゴシック" panose="020B0600070205080204" pitchFamily="34" charset="-128"/>
              </a:rPr>
              <a:t>(NSA), </a:t>
            </a:r>
            <a:r>
              <a:rPr lang="de-DE" altLang="zh-CN" sz="1800" dirty="0" err="1">
                <a:ea typeface="ＭＳ Ｐゴシック" panose="020B0600070205080204" pitchFamily="34" charset="-128"/>
              </a:rPr>
              <a:t>the</a:t>
            </a:r>
            <a:r>
              <a:rPr lang="de-DE" altLang="zh-CN" sz="1800" dirty="0">
                <a:ea typeface="ＭＳ Ｐゴシック" panose="020B0600070205080204" pitchFamily="34" charset="-128"/>
              </a:rPr>
              <a:t> design </a:t>
            </a:r>
            <a:r>
              <a:rPr lang="de-DE" altLang="zh-CN" sz="1800" dirty="0" err="1">
                <a:ea typeface="ＭＳ Ｐゴシック" panose="020B0600070205080204" pitchFamily="34" charset="-128"/>
              </a:rPr>
              <a:t>criteria</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for</a:t>
            </a:r>
            <a:r>
              <a:rPr lang="de-DE" altLang="zh-CN" sz="1800" dirty="0">
                <a:ea typeface="ＭＳ Ｐゴシック" panose="020B0600070205080204" pitchFamily="34" charset="-128"/>
              </a:rPr>
              <a:t> DES </a:t>
            </a:r>
            <a:r>
              <a:rPr lang="de-DE" altLang="zh-CN" sz="1800" dirty="0" err="1">
                <a:ea typeface="ＭＳ Ｐゴシック" panose="020B0600070205080204" pitchFamily="34" charset="-128"/>
              </a:rPr>
              <a:t>have</a:t>
            </a:r>
            <a:r>
              <a:rPr lang="de-DE" altLang="zh-CN" sz="1800" dirty="0">
                <a:ea typeface="ＭＳ Ｐゴシック" panose="020B0600070205080204" pitchFamily="34" charset="-128"/>
              </a:rPr>
              <a:t> not </a:t>
            </a:r>
            <a:r>
              <a:rPr lang="de-DE" altLang="zh-CN" sz="1800" dirty="0" err="1">
                <a:ea typeface="ＭＳ Ｐゴシック" panose="020B0600070205080204" pitchFamily="34" charset="-128"/>
              </a:rPr>
              <a:t>been</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published</a:t>
            </a:r>
            <a:r>
              <a:rPr lang="de-DE" altLang="zh-CN" sz="1800" dirty="0">
                <a:ea typeface="ＭＳ Ｐゴシック" panose="020B0600070205080204" pitchFamily="34" charset="-128"/>
              </a:rPr>
              <a:t>.</a:t>
            </a:r>
          </a:p>
          <a:p>
            <a:r>
              <a:rPr lang="de-DE" altLang="zh-CN" sz="1800" b="1" dirty="0" err="1">
                <a:ea typeface="ＭＳ Ｐゴシック" panose="020B0600070205080204" pitchFamily="34" charset="-128"/>
              </a:rPr>
              <a:t>Standardized</a:t>
            </a:r>
            <a:r>
              <a:rPr lang="de-DE" altLang="zh-CN" sz="1800" b="1" dirty="0">
                <a:ea typeface="ＭＳ Ｐゴシック" panose="020B0600070205080204" pitchFamily="34" charset="-128"/>
              </a:rPr>
              <a:t> 1977 </a:t>
            </a:r>
            <a:r>
              <a:rPr lang="de-DE" altLang="zh-CN" sz="1800" dirty="0" err="1">
                <a:ea typeface="ＭＳ Ｐゴシック" panose="020B0600070205080204" pitchFamily="34" charset="-128"/>
              </a:rPr>
              <a:t>by</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the</a:t>
            </a:r>
            <a:r>
              <a:rPr lang="de-DE" altLang="zh-CN" sz="1800" dirty="0">
                <a:ea typeface="ＭＳ Ｐゴシック" panose="020B0600070205080204" pitchFamily="34" charset="-128"/>
              </a:rPr>
              <a:t> </a:t>
            </a:r>
            <a:r>
              <a:rPr lang="de-DE" altLang="zh-CN" sz="1800" b="1" dirty="0">
                <a:ea typeface="ＭＳ Ｐゴシック" panose="020B0600070205080204" pitchFamily="34" charset="-128"/>
              </a:rPr>
              <a:t>National Bureau </a:t>
            </a:r>
            <a:r>
              <a:rPr lang="de-DE" altLang="zh-CN" sz="1800" b="1" dirty="0" err="1">
                <a:ea typeface="ＭＳ Ｐゴシック" panose="020B0600070205080204" pitchFamily="34" charset="-128"/>
              </a:rPr>
              <a:t>of</a:t>
            </a:r>
            <a:r>
              <a:rPr lang="de-DE" altLang="zh-CN" sz="1800" b="1" dirty="0">
                <a:ea typeface="ＭＳ Ｐゴシック" panose="020B0600070205080204" pitchFamily="34" charset="-128"/>
              </a:rPr>
              <a:t> Standards</a:t>
            </a:r>
            <a:r>
              <a:rPr lang="de-DE" altLang="zh-CN" sz="1800" dirty="0">
                <a:ea typeface="ＭＳ Ｐゴシック" panose="020B0600070205080204" pitchFamily="34" charset="-128"/>
              </a:rPr>
              <a:t> (NBS)</a:t>
            </a:r>
            <a:br>
              <a:rPr lang="de-DE" altLang="zh-CN" sz="1800" dirty="0">
                <a:ea typeface="ＭＳ Ｐゴシック" panose="020B0600070205080204" pitchFamily="34" charset="-128"/>
              </a:rPr>
            </a:br>
            <a:r>
              <a:rPr lang="de-DE" altLang="zh-CN" sz="1800" dirty="0" err="1">
                <a:ea typeface="ＭＳ Ｐゴシック" panose="020B0600070205080204" pitchFamily="34" charset="-128"/>
              </a:rPr>
              <a:t>today</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called</a:t>
            </a:r>
            <a:r>
              <a:rPr lang="de-DE" altLang="zh-CN" sz="1800" i="1" dirty="0">
                <a:ea typeface="ＭＳ Ｐゴシック" panose="020B0600070205080204" pitchFamily="34" charset="-128"/>
              </a:rPr>
              <a:t> </a:t>
            </a:r>
            <a:r>
              <a:rPr lang="de-DE" altLang="zh-CN" sz="1800" i="1" dirty="0">
                <a:solidFill>
                  <a:srgbClr val="FF0000"/>
                </a:solidFill>
                <a:ea typeface="ＭＳ Ｐゴシック" panose="020B0600070205080204" pitchFamily="34" charset="-128"/>
              </a:rPr>
              <a:t>National Institute </a:t>
            </a:r>
            <a:r>
              <a:rPr lang="de-DE" altLang="zh-CN" sz="1800" i="1" dirty="0" err="1">
                <a:solidFill>
                  <a:srgbClr val="FF0000"/>
                </a:solidFill>
                <a:ea typeface="ＭＳ Ｐゴシック" panose="020B0600070205080204" pitchFamily="34" charset="-128"/>
              </a:rPr>
              <a:t>of</a:t>
            </a:r>
            <a:r>
              <a:rPr lang="de-DE" altLang="zh-CN" sz="1800" i="1" dirty="0">
                <a:solidFill>
                  <a:srgbClr val="FF0000"/>
                </a:solidFill>
                <a:ea typeface="ＭＳ Ｐゴシック" panose="020B0600070205080204" pitchFamily="34" charset="-128"/>
              </a:rPr>
              <a:t> Standards and Technology </a:t>
            </a:r>
            <a:r>
              <a:rPr lang="de-DE" altLang="zh-CN" sz="1800" dirty="0">
                <a:solidFill>
                  <a:srgbClr val="FF0000"/>
                </a:solidFill>
                <a:ea typeface="ＭＳ Ｐゴシック" panose="020B0600070205080204" pitchFamily="34" charset="-128"/>
              </a:rPr>
              <a:t>(NIST)</a:t>
            </a:r>
            <a:endParaRPr lang="de-DE" altLang="zh-CN" sz="1800" b="1" dirty="0">
              <a:solidFill>
                <a:srgbClr val="FF0000"/>
              </a:solidFill>
              <a:ea typeface="ＭＳ Ｐゴシック" panose="020B0600070205080204" pitchFamily="34" charset="-128"/>
            </a:endParaRPr>
          </a:p>
          <a:p>
            <a:r>
              <a:rPr lang="de-DE" altLang="zh-CN" sz="1800" dirty="0">
                <a:ea typeface="ＭＳ Ｐゴシック" panose="020B0600070205080204" pitchFamily="34" charset="-128"/>
              </a:rPr>
              <a:t>Most </a:t>
            </a:r>
            <a:r>
              <a:rPr lang="de-DE" altLang="zh-CN" sz="1800" dirty="0" err="1">
                <a:ea typeface="ＭＳ Ｐゴシック" panose="020B0600070205080204" pitchFamily="34" charset="-128"/>
              </a:rPr>
              <a:t>popular</a:t>
            </a:r>
            <a:r>
              <a:rPr lang="de-DE" altLang="zh-CN" sz="1800" dirty="0">
                <a:ea typeface="ＭＳ Ｐゴシック" panose="020B0600070205080204" pitchFamily="34" charset="-128"/>
              </a:rPr>
              <a:t> </a:t>
            </a:r>
            <a:r>
              <a:rPr lang="de-DE" altLang="zh-CN" sz="1800" b="1" dirty="0">
                <a:ea typeface="ＭＳ Ｐゴシック" panose="020B0600070205080204" pitchFamily="34" charset="-128"/>
              </a:rPr>
              <a:t>block </a:t>
            </a:r>
            <a:r>
              <a:rPr lang="de-DE" altLang="zh-CN" sz="1800" b="1" dirty="0" err="1">
                <a:ea typeface="ＭＳ Ｐゴシック" panose="020B0600070205080204" pitchFamily="34" charset="-128"/>
              </a:rPr>
              <a:t>cipher</a:t>
            </a:r>
            <a:r>
              <a:rPr lang="de-DE" altLang="zh-CN" sz="1800" b="1" dirty="0">
                <a:ea typeface="ＭＳ Ｐゴシック" panose="020B0600070205080204" pitchFamily="34" charset="-128"/>
              </a:rPr>
              <a:t> </a:t>
            </a:r>
            <a:r>
              <a:rPr lang="de-DE" altLang="zh-CN" sz="1800" dirty="0" err="1">
                <a:ea typeface="ＭＳ Ｐゴシック" panose="020B0600070205080204" pitchFamily="34" charset="-128"/>
              </a:rPr>
              <a:t>for</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most</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of</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the</a:t>
            </a:r>
            <a:r>
              <a:rPr lang="de-DE" altLang="zh-CN" sz="1800" dirty="0">
                <a:ea typeface="ＭＳ Ｐゴシック" panose="020B0600070205080204" pitchFamily="34" charset="-128"/>
              </a:rPr>
              <a:t> last 30 </a:t>
            </a:r>
            <a:r>
              <a:rPr lang="de-DE" altLang="zh-CN" sz="1800" dirty="0" err="1">
                <a:ea typeface="ＭＳ Ｐゴシック" panose="020B0600070205080204" pitchFamily="34" charset="-128"/>
              </a:rPr>
              <a:t>years</a:t>
            </a:r>
            <a:r>
              <a:rPr lang="de-DE" altLang="zh-CN" sz="1800" dirty="0">
                <a:ea typeface="ＭＳ Ｐゴシック" panose="020B0600070205080204" pitchFamily="34" charset="-128"/>
              </a:rPr>
              <a:t>.</a:t>
            </a:r>
          </a:p>
          <a:p>
            <a:r>
              <a:rPr lang="de-DE" altLang="zh-CN" sz="1800" dirty="0">
                <a:ea typeface="ＭＳ Ｐゴシック" panose="020B0600070205080204" pitchFamily="34" charset="-128"/>
              </a:rPr>
              <a:t>By </a:t>
            </a:r>
            <a:r>
              <a:rPr lang="de-DE" altLang="zh-CN" sz="1800" dirty="0" err="1">
                <a:ea typeface="ＭＳ Ｐゴシック" panose="020B0600070205080204" pitchFamily="34" charset="-128"/>
              </a:rPr>
              <a:t>far</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best</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studied</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symmetric</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algorithm</a:t>
            </a:r>
            <a:r>
              <a:rPr lang="de-DE" altLang="zh-CN" sz="1800" dirty="0">
                <a:ea typeface="ＭＳ Ｐゴシック" panose="020B0600070205080204" pitchFamily="34" charset="-128"/>
              </a:rPr>
              <a:t>.</a:t>
            </a:r>
          </a:p>
          <a:p>
            <a:r>
              <a:rPr lang="de-DE" altLang="zh-CN" sz="1800" dirty="0" err="1">
                <a:ea typeface="ＭＳ Ｐゴシック" panose="020B0600070205080204" pitchFamily="34" charset="-128"/>
              </a:rPr>
              <a:t>Nowadays</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considered</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insecure</a:t>
            </a:r>
            <a:r>
              <a:rPr lang="de-DE" altLang="zh-CN" sz="1800" dirty="0">
                <a:ea typeface="ＭＳ Ｐゴシック" panose="020B0600070205080204" pitchFamily="34" charset="-128"/>
              </a:rPr>
              <a:t> due </a:t>
            </a:r>
            <a:r>
              <a:rPr lang="de-DE" altLang="zh-CN" sz="1800" dirty="0" err="1">
                <a:ea typeface="ＭＳ Ｐゴシック" panose="020B0600070205080204" pitchFamily="34" charset="-128"/>
              </a:rPr>
              <a:t>to</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the</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small</a:t>
            </a:r>
            <a:r>
              <a:rPr lang="de-DE" altLang="zh-CN" sz="1800" dirty="0">
                <a:ea typeface="ＭＳ Ｐゴシック" panose="020B0600070205080204" pitchFamily="34" charset="-128"/>
              </a:rPr>
              <a:t> </a:t>
            </a:r>
            <a:r>
              <a:rPr lang="de-DE" altLang="zh-CN" sz="1800" b="1" dirty="0" err="1">
                <a:ea typeface="ＭＳ Ｐゴシック" panose="020B0600070205080204" pitchFamily="34" charset="-128"/>
              </a:rPr>
              <a:t>key</a:t>
            </a:r>
            <a:r>
              <a:rPr lang="de-DE" altLang="zh-CN" sz="1800" b="1" dirty="0">
                <a:ea typeface="ＭＳ Ｐゴシック" panose="020B0600070205080204" pitchFamily="34" charset="-128"/>
              </a:rPr>
              <a:t> </a:t>
            </a:r>
            <a:r>
              <a:rPr lang="de-DE" altLang="zh-CN" sz="1800" b="1" dirty="0" err="1">
                <a:ea typeface="ＭＳ Ｐゴシック" panose="020B0600070205080204" pitchFamily="34" charset="-128"/>
              </a:rPr>
              <a:t>length</a:t>
            </a:r>
            <a:r>
              <a:rPr lang="de-DE" altLang="zh-CN" sz="1800" b="1" dirty="0">
                <a:ea typeface="ＭＳ Ｐゴシック" panose="020B0600070205080204" pitchFamily="34" charset="-128"/>
              </a:rPr>
              <a:t> </a:t>
            </a:r>
            <a:r>
              <a:rPr lang="de-DE" altLang="zh-CN" sz="1800" b="1" dirty="0" err="1">
                <a:ea typeface="ＭＳ Ｐゴシック" panose="020B0600070205080204" pitchFamily="34" charset="-128"/>
              </a:rPr>
              <a:t>of</a:t>
            </a:r>
            <a:r>
              <a:rPr lang="de-DE" altLang="zh-CN" sz="1800" b="1" dirty="0">
                <a:ea typeface="ＭＳ Ｐゴシック" panose="020B0600070205080204" pitchFamily="34" charset="-128"/>
              </a:rPr>
              <a:t> 56 </a:t>
            </a:r>
            <a:r>
              <a:rPr lang="de-DE" altLang="zh-CN" sz="1800" b="1" dirty="0" err="1">
                <a:ea typeface="ＭＳ Ｐゴシック" panose="020B0600070205080204" pitchFamily="34" charset="-128"/>
              </a:rPr>
              <a:t>bit</a:t>
            </a:r>
            <a:r>
              <a:rPr lang="de-DE" altLang="zh-CN" sz="1800" b="1" dirty="0">
                <a:ea typeface="ＭＳ Ｐゴシック" panose="020B0600070205080204" pitchFamily="34" charset="-128"/>
              </a:rPr>
              <a:t>.</a:t>
            </a:r>
          </a:p>
          <a:p>
            <a:r>
              <a:rPr lang="de-DE" altLang="zh-CN" sz="1800" b="1" dirty="0">
                <a:ea typeface="ＭＳ Ｐゴシック" panose="020B0600070205080204" pitchFamily="34" charset="-128"/>
              </a:rPr>
              <a:t>But: 3DES </a:t>
            </a:r>
            <a:r>
              <a:rPr lang="de-DE" altLang="zh-CN" sz="1800" b="1" dirty="0" err="1">
                <a:ea typeface="ＭＳ Ｐゴシック" panose="020B0600070205080204" pitchFamily="34" charset="-128"/>
              </a:rPr>
              <a:t>yields</a:t>
            </a:r>
            <a:r>
              <a:rPr lang="de-DE" altLang="zh-CN" sz="1800" b="1" dirty="0">
                <a:ea typeface="ＭＳ Ｐゴシック" panose="020B0600070205080204" pitchFamily="34" charset="-128"/>
              </a:rPr>
              <a:t> </a:t>
            </a:r>
            <a:r>
              <a:rPr lang="de-DE" altLang="zh-CN" sz="1800" b="1" dirty="0" err="1">
                <a:ea typeface="ＭＳ Ｐゴシック" panose="020B0600070205080204" pitchFamily="34" charset="-128"/>
              </a:rPr>
              <a:t>very</a:t>
            </a:r>
            <a:r>
              <a:rPr lang="de-DE" altLang="zh-CN" sz="1800" b="1" dirty="0">
                <a:ea typeface="ＭＳ Ｐゴシック" panose="020B0600070205080204" pitchFamily="34" charset="-128"/>
              </a:rPr>
              <a:t> </a:t>
            </a:r>
            <a:r>
              <a:rPr lang="de-DE" altLang="zh-CN" sz="1800" b="1" dirty="0" err="1">
                <a:ea typeface="ＭＳ Ｐゴシック" panose="020B0600070205080204" pitchFamily="34" charset="-128"/>
              </a:rPr>
              <a:t>secure</a:t>
            </a:r>
            <a:r>
              <a:rPr lang="de-DE" altLang="zh-CN" sz="1800" b="1" dirty="0">
                <a:ea typeface="ＭＳ Ｐゴシック" panose="020B0600070205080204" pitchFamily="34" charset="-128"/>
              </a:rPr>
              <a:t> </a:t>
            </a:r>
            <a:r>
              <a:rPr lang="de-DE" altLang="zh-CN" sz="1800" b="1" dirty="0" err="1">
                <a:ea typeface="ＭＳ Ｐゴシック" panose="020B0600070205080204" pitchFamily="34" charset="-128"/>
              </a:rPr>
              <a:t>cipher</a:t>
            </a:r>
            <a:r>
              <a:rPr lang="de-DE" altLang="zh-CN" sz="1800" dirty="0">
                <a:ea typeface="ＭＳ Ｐゴシック" panose="020B0600070205080204" pitchFamily="34" charset="-128"/>
              </a:rPr>
              <a:t>,</a:t>
            </a:r>
            <a:r>
              <a:rPr lang="de-DE" altLang="zh-CN" sz="1800" b="1" dirty="0">
                <a:ea typeface="ＭＳ Ｐゴシック" panose="020B0600070205080204" pitchFamily="34" charset="-128"/>
              </a:rPr>
              <a:t> </a:t>
            </a:r>
            <a:r>
              <a:rPr lang="de-DE" altLang="zh-CN" sz="1800" dirty="0">
                <a:ea typeface="ＭＳ Ｐゴシック" panose="020B0600070205080204" pitchFamily="34" charset="-128"/>
              </a:rPr>
              <a:t>still </a:t>
            </a:r>
            <a:r>
              <a:rPr lang="de-DE" altLang="zh-CN" sz="1800" dirty="0" err="1">
                <a:ea typeface="ＭＳ Ｐゴシック" panose="020B0600070205080204" pitchFamily="34" charset="-128"/>
              </a:rPr>
              <a:t>widely</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used</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today</a:t>
            </a:r>
            <a:r>
              <a:rPr lang="de-DE" altLang="zh-CN" sz="1800" dirty="0">
                <a:ea typeface="ＭＳ Ｐゴシック" panose="020B0600070205080204" pitchFamily="34" charset="-128"/>
              </a:rPr>
              <a:t>.</a:t>
            </a:r>
          </a:p>
          <a:p>
            <a:r>
              <a:rPr lang="de-DE" altLang="zh-CN" sz="1800" dirty="0" err="1">
                <a:ea typeface="ＭＳ Ｐゴシック" panose="020B0600070205080204" pitchFamily="34" charset="-128"/>
              </a:rPr>
              <a:t>Replaced</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by</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the</a:t>
            </a:r>
            <a:r>
              <a:rPr lang="de-DE" altLang="zh-CN" sz="1800" dirty="0">
                <a:ea typeface="ＭＳ Ｐゴシック" panose="020B0600070205080204" pitchFamily="34" charset="-128"/>
              </a:rPr>
              <a:t> </a:t>
            </a:r>
            <a:r>
              <a:rPr lang="de-DE" altLang="zh-CN" sz="1800" i="1" dirty="0" err="1">
                <a:ea typeface="ＭＳ Ｐゴシック" panose="020B0600070205080204" pitchFamily="34" charset="-128"/>
              </a:rPr>
              <a:t>Advanced</a:t>
            </a:r>
            <a:r>
              <a:rPr lang="de-DE" altLang="zh-CN" sz="1800" i="1" dirty="0">
                <a:ea typeface="ＭＳ Ｐゴシック" panose="020B0600070205080204" pitchFamily="34" charset="-128"/>
              </a:rPr>
              <a:t> Encryption Standard</a:t>
            </a:r>
            <a:r>
              <a:rPr lang="de-DE" altLang="zh-CN" sz="1800" dirty="0">
                <a:ea typeface="ＭＳ Ｐゴシック" panose="020B0600070205080204" pitchFamily="34" charset="-128"/>
              </a:rPr>
              <a:t> (</a:t>
            </a:r>
            <a:r>
              <a:rPr lang="de-DE" altLang="zh-CN" sz="1800" b="1" dirty="0">
                <a:ea typeface="ＭＳ Ｐゴシック" panose="020B0600070205080204" pitchFamily="34" charset="-128"/>
              </a:rPr>
              <a:t>AES</a:t>
            </a:r>
            <a:r>
              <a:rPr lang="de-DE" altLang="zh-CN" sz="1800" dirty="0">
                <a:ea typeface="ＭＳ Ｐゴシック" panose="020B0600070205080204" pitchFamily="34" charset="-128"/>
              </a:rPr>
              <a:t>) in 2000</a:t>
            </a:r>
          </a:p>
          <a:p>
            <a:endParaRPr lang="de-DE" altLang="zh-CN" sz="1800" dirty="0">
              <a:ea typeface="ＭＳ Ｐゴシック" panose="020B0600070205080204" pitchFamily="34" charset="-128"/>
            </a:endParaRPr>
          </a:p>
          <a:p>
            <a:r>
              <a:rPr lang="de-DE" altLang="zh-CN" sz="1800" dirty="0" err="1">
                <a:ea typeface="ＭＳ Ｐゴシック" panose="020B0600070205080204" pitchFamily="34" charset="-128"/>
              </a:rPr>
              <a:t>For</a:t>
            </a:r>
            <a:r>
              <a:rPr lang="de-DE" altLang="zh-CN" sz="1800" dirty="0">
                <a:ea typeface="ＭＳ Ｐゴシック" panose="020B0600070205080204" pitchFamily="34" charset="-128"/>
              </a:rPr>
              <a:t> a </a:t>
            </a:r>
            <a:r>
              <a:rPr lang="de-DE" altLang="zh-CN" sz="1800" dirty="0" err="1">
                <a:ea typeface="ＭＳ Ｐゴシック" panose="020B0600070205080204" pitchFamily="34" charset="-128"/>
              </a:rPr>
              <a:t>more</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detailed</a:t>
            </a:r>
            <a:r>
              <a:rPr lang="de-DE" altLang="zh-CN" sz="1800" dirty="0">
                <a:ea typeface="ＭＳ Ｐゴシック" panose="020B0600070205080204" pitchFamily="34" charset="-128"/>
              </a:rPr>
              <a:t> </a:t>
            </a:r>
            <a:r>
              <a:rPr lang="de-DE" altLang="zh-CN" sz="1800" dirty="0" err="1">
                <a:ea typeface="ＭＳ Ｐゴシック" panose="020B0600070205080204" pitchFamily="34" charset="-128"/>
              </a:rPr>
              <a:t>history</a:t>
            </a:r>
            <a:r>
              <a:rPr lang="de-DE" altLang="zh-CN" sz="1800" dirty="0">
                <a:ea typeface="ＭＳ Ｐゴシック" panose="020B0600070205080204" pitchFamily="34" charset="-128"/>
              </a:rPr>
              <a:t> </a:t>
            </a:r>
            <a:r>
              <a:rPr lang="en-US" altLang="zh-CN" sz="1800" dirty="0">
                <a:ea typeface="ＭＳ Ｐゴシック" panose="020B0600070205080204" pitchFamily="34" charset="-128"/>
              </a:rPr>
              <a:t>see Chapter 3.1 in </a:t>
            </a:r>
            <a:r>
              <a:rPr lang="en-US" altLang="zh-CN" sz="1800" i="1" dirty="0">
                <a:ea typeface="ＭＳ Ｐゴシック" panose="020B0600070205080204" pitchFamily="34" charset="-128"/>
              </a:rPr>
              <a:t>Understanding Cryptography</a:t>
            </a:r>
            <a:endParaRPr lang="de-DE" altLang="zh-CN" sz="1800" i="1" dirty="0">
              <a:ea typeface="ＭＳ Ｐゴシック" panose="020B0600070205080204" pitchFamily="34" charset="-128"/>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liennummernplatzhalter 3">
            <a:extLst>
              <a:ext uri="{FF2B5EF4-FFF2-40B4-BE49-F238E27FC236}">
                <a16:creationId xmlns:a16="http://schemas.microsoft.com/office/drawing/2014/main" id="{9923B02C-DBC4-D89C-55A0-1DAA6C7ABA9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2C30979-338A-FF4F-84EA-53051049054D}" type="slidenum">
              <a:rPr lang="de-DE" altLang="zh-CN" sz="900">
                <a:solidFill>
                  <a:srgbClr val="394073"/>
                </a:solidFill>
              </a:rPr>
              <a:pPr/>
              <a:t>6</a:t>
            </a:fld>
            <a:r>
              <a:rPr lang="de-DE" altLang="zh-CN" sz="900">
                <a:solidFill>
                  <a:srgbClr val="394073"/>
                </a:solidFill>
              </a:rPr>
              <a:t>/29</a:t>
            </a:r>
          </a:p>
        </p:txBody>
      </p:sp>
      <p:sp>
        <p:nvSpPr>
          <p:cNvPr id="31747" name="Rectangle 2">
            <a:extLst>
              <a:ext uri="{FF2B5EF4-FFF2-40B4-BE49-F238E27FC236}">
                <a16:creationId xmlns:a16="http://schemas.microsoft.com/office/drawing/2014/main" id="{CEEC9518-67B2-6855-6C0A-CF90A05297B1}"/>
              </a:ext>
            </a:extLst>
          </p:cNvPr>
          <p:cNvSpPr>
            <a:spLocks noGrp="1" noChangeArrowheads="1"/>
          </p:cNvSpPr>
          <p:nvPr>
            <p:ph type="title"/>
          </p:nvPr>
        </p:nvSpPr>
        <p:spPr/>
        <p:txBody>
          <a:bodyPr/>
          <a:lstStyle/>
          <a:p>
            <a:r>
              <a:rPr lang="de-DE" altLang="zh-CN">
                <a:ea typeface="ＭＳ Ｐゴシック" panose="020B0600070205080204" pitchFamily="34" charset="-128"/>
              </a:rPr>
              <a:t>Block Cipher Primitives: Confusion and Diffusion</a:t>
            </a:r>
          </a:p>
        </p:txBody>
      </p:sp>
      <p:sp>
        <p:nvSpPr>
          <p:cNvPr id="31748" name="Rectangle 3">
            <a:extLst>
              <a:ext uri="{FF2B5EF4-FFF2-40B4-BE49-F238E27FC236}">
                <a16:creationId xmlns:a16="http://schemas.microsoft.com/office/drawing/2014/main" id="{54B43FE0-7CF2-FE1B-F68C-5CFF18A1438E}"/>
              </a:ext>
            </a:extLst>
          </p:cNvPr>
          <p:cNvSpPr>
            <a:spLocks noGrp="1" noChangeArrowheads="1"/>
          </p:cNvSpPr>
          <p:nvPr>
            <p:ph type="body" idx="1"/>
          </p:nvPr>
        </p:nvSpPr>
        <p:spPr>
          <a:xfrm>
            <a:off x="849313" y="1130300"/>
            <a:ext cx="7754937" cy="4843463"/>
          </a:xfrm>
        </p:spPr>
        <p:txBody>
          <a:bodyPr/>
          <a:lstStyle/>
          <a:p>
            <a:pPr marL="304800" indent="-304800"/>
            <a:r>
              <a:rPr lang="de-DE" altLang="zh-CN" dirty="0">
                <a:ea typeface="ＭＳ Ｐゴシック" panose="020B0600070205080204" pitchFamily="34" charset="-128"/>
              </a:rPr>
              <a:t>Claude Shannon: </a:t>
            </a:r>
            <a:r>
              <a:rPr lang="de-DE" altLang="zh-CN" dirty="0" err="1">
                <a:ea typeface="ＭＳ Ｐゴシック" panose="020B0600070205080204" pitchFamily="34" charset="-128"/>
              </a:rPr>
              <a:t>There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are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two</a:t>
            </a:r>
            <a:r>
              <a:rPr lang="de-DE" altLang="zh-CN" dirty="0">
                <a:ea typeface="ＭＳ Ｐゴシック" panose="020B0600070205080204" pitchFamily="34" charset="-128"/>
              </a:rPr>
              <a:t> primitive </a:t>
            </a:r>
            <a:r>
              <a:rPr lang="de-DE" altLang="zh-CN" dirty="0" err="1">
                <a:ea typeface="ＭＳ Ｐゴシック" panose="020B0600070205080204" pitchFamily="34" charset="-128"/>
              </a:rPr>
              <a:t>operations</a:t>
            </a:r>
            <a:r>
              <a:rPr lang="de-DE" altLang="zh-CN" dirty="0">
                <a:ea typeface="ＭＳ Ｐゴシック" panose="020B0600070205080204" pitchFamily="34" charset="-128"/>
              </a:rPr>
              <a:t> </a:t>
            </a:r>
            <a:r>
              <a:rPr lang="de-DE" altLang="zh-CN" dirty="0" err="1">
                <a:ea typeface="ＭＳ Ｐゴシック" panose="020B0600070205080204" pitchFamily="34" charset="-128"/>
              </a:rPr>
              <a:t>with</a:t>
            </a:r>
            <a:r>
              <a:rPr lang="de-DE" altLang="zh-CN" dirty="0">
                <a:ea typeface="ＭＳ Ｐゴシック" panose="020B0600070205080204" pitchFamily="34" charset="-128"/>
              </a:rPr>
              <a:t> </a:t>
            </a:r>
            <a:r>
              <a:rPr lang="de-DE" altLang="zh-CN" dirty="0" err="1">
                <a:ea typeface="ＭＳ Ｐゴシック" panose="020B0600070205080204" pitchFamily="34" charset="-128"/>
              </a:rPr>
              <a:t>which</a:t>
            </a:r>
            <a:r>
              <a:rPr lang="de-DE" altLang="zh-CN" dirty="0">
                <a:ea typeface="ＭＳ Ｐゴシック" panose="020B0600070205080204" pitchFamily="34" charset="-128"/>
              </a:rPr>
              <a:t> strong </a:t>
            </a:r>
            <a:r>
              <a:rPr lang="de-DE" altLang="zh-CN" dirty="0" err="1">
                <a:ea typeface="ＭＳ Ｐゴシック" panose="020B0600070205080204" pitchFamily="34" charset="-128"/>
              </a:rPr>
              <a:t>encryption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algorithms</a:t>
            </a:r>
            <a:r>
              <a:rPr lang="de-DE" altLang="zh-CN" dirty="0">
                <a:ea typeface="ＭＳ Ｐゴシック" panose="020B0600070205080204" pitchFamily="34" charset="-128"/>
              </a:rPr>
              <a:t> </a:t>
            </a:r>
            <a:r>
              <a:rPr lang="de-DE" altLang="zh-CN" dirty="0" err="1">
                <a:ea typeface="ＭＳ Ｐゴシック" panose="020B0600070205080204" pitchFamily="34" charset="-128"/>
              </a:rPr>
              <a:t>can</a:t>
            </a:r>
            <a:r>
              <a:rPr lang="de-DE" altLang="zh-CN" dirty="0">
                <a:ea typeface="ＭＳ Ｐゴシック" panose="020B0600070205080204" pitchFamily="34" charset="-128"/>
              </a:rPr>
              <a:t> </a:t>
            </a:r>
            <a:r>
              <a:rPr lang="de-DE" altLang="zh-CN" dirty="0" err="1">
                <a:ea typeface="ＭＳ Ｐゴシック" panose="020B0600070205080204" pitchFamily="34" charset="-128"/>
              </a:rPr>
              <a:t>be</a:t>
            </a:r>
            <a:r>
              <a:rPr lang="de-DE" altLang="zh-CN" dirty="0">
                <a:ea typeface="ＭＳ Ｐゴシック" panose="020B0600070205080204" pitchFamily="34" charset="-128"/>
              </a:rPr>
              <a:t> </a:t>
            </a:r>
            <a:r>
              <a:rPr lang="de-DE" altLang="zh-CN" dirty="0" err="1">
                <a:ea typeface="ＭＳ Ｐゴシック" panose="020B0600070205080204" pitchFamily="34" charset="-128"/>
              </a:rPr>
              <a:t>built</a:t>
            </a:r>
            <a:r>
              <a:rPr lang="de-DE" altLang="zh-CN" dirty="0">
                <a:ea typeface="ＭＳ Ｐゴシック" panose="020B0600070205080204" pitchFamily="34" charset="-128"/>
              </a:rPr>
              <a:t>:</a:t>
            </a:r>
          </a:p>
          <a:p>
            <a:pPr marL="690563" lvl="1" indent="-304800">
              <a:buFontTx/>
              <a:buAutoNum type="arabicPeriod"/>
            </a:pPr>
            <a:r>
              <a:rPr lang="de-DE" altLang="zh-CN" b="1" dirty="0" err="1">
                <a:ea typeface="ＭＳ Ｐゴシック" panose="020B0600070205080204" pitchFamily="34" charset="-128"/>
              </a:rPr>
              <a:t>Confusion</a:t>
            </a:r>
            <a:r>
              <a:rPr lang="de-DE" altLang="zh-CN" b="1" dirty="0">
                <a:ea typeface="ＭＳ Ｐゴシック" panose="020B0600070205080204" pitchFamily="34" charset="-128"/>
              </a:rPr>
              <a:t>:</a:t>
            </a:r>
            <a:r>
              <a:rPr lang="de-DE" altLang="zh-CN" dirty="0">
                <a:ea typeface="ＭＳ Ｐゴシック" panose="020B0600070205080204" pitchFamily="34" charset="-128"/>
              </a:rPr>
              <a:t> An </a:t>
            </a:r>
            <a:r>
              <a:rPr lang="de-DE" altLang="zh-CN" dirty="0" err="1">
                <a:ea typeface="ＭＳ Ｐゴシック" panose="020B0600070205080204" pitchFamily="34" charset="-128"/>
              </a:rPr>
              <a:t>encryption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operation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where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b="1" dirty="0" err="1">
                <a:ea typeface="ＭＳ Ｐゴシック" panose="020B0600070205080204" pitchFamily="34" charset="-128"/>
              </a:rPr>
              <a:t>relationship</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between</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key</a:t>
            </a:r>
            <a:r>
              <a:rPr lang="de-DE" altLang="zh-CN" b="1" dirty="0">
                <a:ea typeface="ＭＳ Ｐゴシック" panose="020B0600070205080204" pitchFamily="34" charset="-128"/>
              </a:rPr>
              <a:t> and </a:t>
            </a:r>
            <a:r>
              <a:rPr lang="de-DE" altLang="zh-CN" b="1" dirty="0" err="1">
                <a:ea typeface="ＭＳ Ｐゴシック" panose="020B0600070205080204" pitchFamily="34" charset="-128"/>
              </a:rPr>
              <a:t>ciphertext</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is</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obscured</a:t>
            </a:r>
            <a:r>
              <a:rPr lang="de-DE" altLang="zh-CN" dirty="0">
                <a:ea typeface="ＭＳ Ｐゴシック" panose="020B0600070205080204" pitchFamily="34" charset="-128"/>
              </a:rPr>
              <a:t>.</a:t>
            </a:r>
            <a:br>
              <a:rPr lang="de-DE" altLang="zh-CN" dirty="0">
                <a:ea typeface="ＭＳ Ｐゴシック" panose="020B0600070205080204" pitchFamily="34" charset="-128"/>
              </a:rPr>
            </a:br>
            <a:r>
              <a:rPr lang="de-DE" altLang="zh-CN" dirty="0">
                <a:ea typeface="ＭＳ Ｐゴシック" panose="020B0600070205080204" pitchFamily="34" charset="-128"/>
              </a:rPr>
              <a:t>Today, a </a:t>
            </a:r>
            <a:r>
              <a:rPr lang="de-DE" altLang="zh-CN" dirty="0" err="1">
                <a:ea typeface="ＭＳ Ｐゴシック" panose="020B0600070205080204" pitchFamily="34" charset="-128"/>
              </a:rPr>
              <a:t>common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element</a:t>
            </a:r>
            <a:r>
              <a:rPr lang="de-DE" altLang="zh-CN" dirty="0">
                <a:ea typeface="ＭＳ Ｐゴシック" panose="020B0600070205080204" pitchFamily="34" charset="-128"/>
              </a:rPr>
              <a:t> </a:t>
            </a:r>
            <a:r>
              <a:rPr lang="de-DE" altLang="zh-CN" dirty="0" err="1">
                <a:ea typeface="ＭＳ Ｐゴシック" panose="020B0600070205080204" pitchFamily="34" charset="-128"/>
              </a:rPr>
              <a:t>for</a:t>
            </a:r>
            <a:r>
              <a:rPr lang="de-DE" altLang="zh-CN" dirty="0">
                <a:ea typeface="ＭＳ Ｐゴシック" panose="020B0600070205080204" pitchFamily="34" charset="-128"/>
              </a:rPr>
              <a:t> </a:t>
            </a:r>
            <a:r>
              <a:rPr lang="de-DE" altLang="zh-CN" dirty="0" err="1">
                <a:ea typeface="ＭＳ Ｐゴシック" panose="020B0600070205080204" pitchFamily="34" charset="-128"/>
              </a:rPr>
              <a:t>achieving</a:t>
            </a:r>
            <a:r>
              <a:rPr lang="de-DE" altLang="zh-CN" dirty="0">
                <a:ea typeface="ＭＳ Ｐゴシック" panose="020B0600070205080204" pitchFamily="34" charset="-128"/>
              </a:rPr>
              <a:t> </a:t>
            </a:r>
            <a:r>
              <a:rPr lang="de-DE" altLang="zh-CN" dirty="0" err="1">
                <a:ea typeface="ＭＳ Ｐゴシック" panose="020B0600070205080204" pitchFamily="34" charset="-128"/>
              </a:rPr>
              <a:t>confusion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a:t>
            </a:r>
            <a:r>
              <a:rPr lang="de-DE" altLang="zh-CN" b="1" dirty="0" err="1">
                <a:ea typeface="ＭＳ Ｐゴシック" panose="020B0600070205080204" pitchFamily="34" charset="-128"/>
              </a:rPr>
              <a:t>substitution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which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a:t>
            </a:r>
            <a:r>
              <a:rPr lang="de-DE" altLang="zh-CN" dirty="0" err="1">
                <a:ea typeface="ＭＳ Ｐゴシック" panose="020B0600070205080204" pitchFamily="34" charset="-128"/>
              </a:rPr>
              <a:t>found</a:t>
            </a:r>
            <a:r>
              <a:rPr lang="de-DE" altLang="zh-CN" dirty="0">
                <a:ea typeface="ＭＳ Ｐゴシック" panose="020B0600070205080204" pitchFamily="34" charset="-128"/>
              </a:rPr>
              <a:t> in </a:t>
            </a:r>
            <a:r>
              <a:rPr lang="de-DE" altLang="zh-CN" dirty="0" err="1">
                <a:ea typeface="ＭＳ Ｐゴシック" panose="020B0600070205080204" pitchFamily="34" charset="-128"/>
              </a:rPr>
              <a:t>both</a:t>
            </a:r>
            <a:r>
              <a:rPr lang="de-DE" altLang="zh-CN" dirty="0">
                <a:ea typeface="ＭＳ Ｐゴシック" panose="020B0600070205080204" pitchFamily="34" charset="-128"/>
              </a:rPr>
              <a:t> AES and DES.</a:t>
            </a:r>
            <a:br>
              <a:rPr lang="de-DE" altLang="zh-CN" dirty="0">
                <a:ea typeface="ＭＳ Ｐゴシック" panose="020B0600070205080204" pitchFamily="34" charset="-128"/>
              </a:rPr>
            </a:br>
            <a:endParaRPr lang="de-DE" altLang="zh-CN" dirty="0">
              <a:ea typeface="ＭＳ Ｐゴシック" panose="020B0600070205080204" pitchFamily="34" charset="-128"/>
            </a:endParaRPr>
          </a:p>
          <a:p>
            <a:pPr marL="690563" lvl="1" indent="-304800">
              <a:buFontTx/>
              <a:buAutoNum type="arabicPeriod"/>
            </a:pPr>
            <a:r>
              <a:rPr lang="de-DE" altLang="zh-CN" b="1" dirty="0">
                <a:ea typeface="ＭＳ Ｐゴシック" panose="020B0600070205080204" pitchFamily="34" charset="-128"/>
              </a:rPr>
              <a:t>Diffusion:</a:t>
            </a:r>
            <a:r>
              <a:rPr lang="de-DE" altLang="zh-CN" dirty="0">
                <a:ea typeface="ＭＳ Ｐゴシック" panose="020B0600070205080204" pitchFamily="34" charset="-128"/>
              </a:rPr>
              <a:t> An </a:t>
            </a:r>
            <a:r>
              <a:rPr lang="de-DE" altLang="zh-CN" dirty="0" err="1">
                <a:ea typeface="ＭＳ Ｐゴシック" panose="020B0600070205080204" pitchFamily="34" charset="-128"/>
              </a:rPr>
              <a:t>encryption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operation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where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b="1" dirty="0" err="1">
                <a:ea typeface="ＭＳ Ｐゴシック" panose="020B0600070205080204" pitchFamily="34" charset="-128"/>
              </a:rPr>
              <a:t>influence</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of</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one</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plaintext</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symbol</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is</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spread</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over</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many</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ciphertext</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symbols</a:t>
            </a:r>
            <a:r>
              <a:rPr lang="de-DE" altLang="zh-CN" dirty="0">
                <a:ea typeface="ＭＳ Ｐゴシック" panose="020B0600070205080204" pitchFamily="34" charset="-128"/>
              </a:rPr>
              <a:t> </a:t>
            </a:r>
            <a:r>
              <a:rPr lang="de-DE" altLang="zh-CN" dirty="0" err="1">
                <a:ea typeface="ＭＳ Ｐゴシック" panose="020B0600070205080204" pitchFamily="34" charset="-128"/>
              </a:rPr>
              <a:t>with</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dirty="0" err="1">
                <a:ea typeface="ＭＳ Ｐゴシック" panose="020B0600070205080204" pitchFamily="34" charset="-128"/>
              </a:rPr>
              <a:t>goal</a:t>
            </a:r>
            <a:r>
              <a:rPr lang="de-DE" altLang="zh-CN" dirty="0">
                <a:ea typeface="ＭＳ Ｐゴシック" panose="020B0600070205080204" pitchFamily="34" charset="-128"/>
              </a:rPr>
              <a: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a:t>
            </a:r>
            <a:r>
              <a:rPr lang="de-DE" altLang="zh-CN" dirty="0" err="1">
                <a:ea typeface="ＭＳ Ｐゴシック" panose="020B0600070205080204" pitchFamily="34" charset="-128"/>
              </a:rPr>
              <a:t>hiding</a:t>
            </a:r>
            <a:r>
              <a:rPr lang="de-DE" altLang="zh-CN" dirty="0">
                <a:ea typeface="ＭＳ Ｐゴシック" panose="020B0600070205080204" pitchFamily="34" charset="-128"/>
              </a:rPr>
              <a:t> </a:t>
            </a:r>
            <a:r>
              <a:rPr lang="de-DE" altLang="zh-CN" dirty="0" err="1">
                <a:ea typeface="ＭＳ Ｐゴシック" panose="020B0600070205080204" pitchFamily="34" charset="-128"/>
              </a:rPr>
              <a:t>statistical</a:t>
            </a:r>
            <a:r>
              <a:rPr lang="de-DE" altLang="zh-CN" dirty="0">
                <a:ea typeface="ＭＳ Ｐゴシック" panose="020B0600070205080204" pitchFamily="34" charset="-128"/>
              </a:rPr>
              <a:t> </a:t>
            </a:r>
            <a:r>
              <a:rPr lang="de-DE" altLang="zh-CN" dirty="0" err="1">
                <a:ea typeface="ＭＳ Ｐゴシック" panose="020B0600070205080204" pitchFamily="34" charset="-128"/>
              </a:rPr>
              <a:t>properties</a:t>
            </a:r>
            <a:r>
              <a:rPr lang="de-DE" altLang="zh-CN" dirty="0">
                <a:ea typeface="ＭＳ Ｐゴシック" panose="020B0600070205080204" pitchFamily="34" charset="-128"/>
              </a:rPr>
              <a: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dirty="0" err="1">
                <a:ea typeface="ＭＳ Ｐゴシック" panose="020B0600070205080204" pitchFamily="34" charset="-128"/>
              </a:rPr>
              <a:t>plaintext</a:t>
            </a:r>
            <a:r>
              <a:rPr lang="de-DE" altLang="zh-CN" dirty="0">
                <a:ea typeface="ＭＳ Ｐゴシック" panose="020B0600070205080204" pitchFamily="34" charset="-128"/>
              </a:rPr>
              <a:t>.</a:t>
            </a:r>
            <a:br>
              <a:rPr lang="de-DE" altLang="zh-CN" dirty="0">
                <a:ea typeface="ＭＳ Ｐゴシック" panose="020B0600070205080204" pitchFamily="34" charset="-128"/>
              </a:rPr>
            </a:br>
            <a:r>
              <a:rPr lang="de-DE" altLang="zh-CN" dirty="0">
                <a:ea typeface="ＭＳ Ｐゴシック" panose="020B0600070205080204" pitchFamily="34" charset="-128"/>
              </a:rPr>
              <a:t>A simple </a:t>
            </a:r>
            <a:r>
              <a:rPr lang="de-DE" altLang="zh-CN" dirty="0" err="1">
                <a:ea typeface="ＭＳ Ｐゴシック" panose="020B0600070205080204" pitchFamily="34" charset="-128"/>
              </a:rPr>
              <a:t>diffusion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element</a:t>
            </a:r>
            <a:r>
              <a:rPr lang="de-DE" altLang="zh-CN" dirty="0">
                <a:ea typeface="ＭＳ Ｐゴシック" panose="020B0600070205080204" pitchFamily="34" charset="-128"/>
              </a:rPr>
              <a:t>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b="1" dirty="0" err="1">
                <a:ea typeface="ＭＳ Ｐゴシック" panose="020B0600070205080204" pitchFamily="34" charset="-128"/>
              </a:rPr>
              <a:t>bit</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permutation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which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a:t>
            </a:r>
            <a:r>
              <a:rPr lang="de-DE" altLang="zh-CN" dirty="0" err="1">
                <a:ea typeface="ＭＳ Ｐゴシック" panose="020B0600070205080204" pitchFamily="34" charset="-128"/>
              </a:rPr>
              <a:t>frequently</a:t>
            </a:r>
            <a:r>
              <a:rPr lang="de-DE" altLang="zh-CN" dirty="0">
                <a:ea typeface="ＭＳ Ｐゴシック" panose="020B0600070205080204" pitchFamily="34" charset="-128"/>
              </a:rPr>
              <a:t> </a:t>
            </a:r>
            <a:r>
              <a:rPr lang="de-DE" altLang="zh-CN" dirty="0" err="1">
                <a:ea typeface="ＭＳ Ｐゴシック" panose="020B0600070205080204" pitchFamily="34" charset="-128"/>
              </a:rPr>
              <a:t>used</a:t>
            </a:r>
            <a:r>
              <a:rPr lang="de-DE" altLang="zh-CN" dirty="0">
                <a:ea typeface="ＭＳ Ｐゴシック" panose="020B0600070205080204" pitchFamily="34" charset="-128"/>
              </a:rPr>
              <a:t> </a:t>
            </a:r>
            <a:r>
              <a:rPr lang="de-DE" altLang="zh-CN" dirty="0" err="1">
                <a:ea typeface="ＭＳ Ｐゴシック" panose="020B0600070205080204" pitchFamily="34" charset="-128"/>
              </a:rPr>
              <a:t>within</a:t>
            </a:r>
            <a:r>
              <a:rPr lang="de-DE" altLang="zh-CN" dirty="0">
                <a:ea typeface="ＭＳ Ｐゴシック" panose="020B0600070205080204" pitchFamily="34" charset="-128"/>
              </a:rPr>
              <a:t> DES. </a:t>
            </a:r>
          </a:p>
          <a:p>
            <a:pPr marL="304800" indent="-304800">
              <a:buFontTx/>
              <a:buNone/>
            </a:pPr>
            <a:endParaRPr lang="de-DE" altLang="zh-CN" dirty="0">
              <a:ea typeface="ＭＳ Ｐゴシック" panose="020B0600070205080204" pitchFamily="34" charset="-128"/>
            </a:endParaRPr>
          </a:p>
          <a:p>
            <a:pPr marL="304800" indent="-304800"/>
            <a:r>
              <a:rPr lang="de-DE" altLang="zh-CN" dirty="0">
                <a:ea typeface="ＭＳ Ｐゴシック" panose="020B0600070205080204" pitchFamily="34" charset="-128"/>
              </a:rPr>
              <a:t>Both </a:t>
            </a:r>
            <a:r>
              <a:rPr lang="de-DE" altLang="zh-CN" dirty="0" err="1">
                <a:ea typeface="ＭＳ Ｐゴシック" panose="020B0600070205080204" pitchFamily="34" charset="-128"/>
              </a:rPr>
              <a:t>operations</a:t>
            </a:r>
            <a:r>
              <a:rPr lang="de-DE" altLang="zh-CN" dirty="0">
                <a:ea typeface="ＭＳ Ｐゴシック" panose="020B0600070205080204" pitchFamily="34" charset="-128"/>
              </a:rPr>
              <a:t> </a:t>
            </a:r>
            <a:r>
              <a:rPr lang="de-DE" altLang="zh-CN" dirty="0" err="1">
                <a:ea typeface="ＭＳ Ｐゴシック" panose="020B0600070205080204" pitchFamily="34" charset="-128"/>
              </a:rPr>
              <a:t>by</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themselves</a:t>
            </a:r>
            <a:r>
              <a:rPr lang="de-DE" altLang="zh-CN" dirty="0">
                <a:ea typeface="ＭＳ Ｐゴシック" panose="020B0600070205080204" pitchFamily="34" charset="-128"/>
              </a:rPr>
              <a:t> </a:t>
            </a:r>
            <a:r>
              <a:rPr lang="de-DE" altLang="zh-CN" dirty="0" err="1">
                <a:ea typeface="ＭＳ Ｐゴシック" panose="020B0600070205080204" pitchFamily="34" charset="-128"/>
              </a:rPr>
              <a:t>cannot</a:t>
            </a:r>
            <a:r>
              <a:rPr lang="de-DE" altLang="zh-CN" dirty="0">
                <a:ea typeface="ＭＳ Ｐゴシック" panose="020B0600070205080204" pitchFamily="34" charset="-128"/>
              </a:rPr>
              <a:t> </a:t>
            </a:r>
            <a:r>
              <a:rPr lang="de-DE" altLang="zh-CN" dirty="0" err="1">
                <a:ea typeface="ＭＳ Ｐゴシック" panose="020B0600070205080204" pitchFamily="34" charset="-128"/>
              </a:rPr>
              <a:t>provide</a:t>
            </a:r>
            <a:r>
              <a:rPr lang="de-DE" altLang="zh-CN" dirty="0">
                <a:ea typeface="ＭＳ Ｐゴシック" panose="020B0600070205080204" pitchFamily="34" charset="-128"/>
              </a:rPr>
              <a:t> </a:t>
            </a:r>
            <a:r>
              <a:rPr lang="de-DE" altLang="zh-CN" dirty="0" err="1">
                <a:ea typeface="ＭＳ Ｐゴシック" panose="020B0600070205080204" pitchFamily="34" charset="-128"/>
              </a:rPr>
              <a:t>security</a:t>
            </a:r>
            <a:r>
              <a:rPr lang="de-DE" altLang="zh-CN" dirty="0">
                <a:ea typeface="ＭＳ Ｐゴシック" panose="020B0600070205080204" pitchFamily="34" charset="-128"/>
              </a:rPr>
              <a:t>. The </a:t>
            </a:r>
            <a:r>
              <a:rPr lang="de-DE" altLang="zh-CN" dirty="0" err="1">
                <a:ea typeface="ＭＳ Ｐゴシック" panose="020B0600070205080204" pitchFamily="34" charset="-128"/>
              </a:rPr>
              <a:t>idea</a:t>
            </a:r>
            <a:r>
              <a:rPr lang="de-DE" altLang="zh-CN" dirty="0">
                <a:ea typeface="ＭＳ Ｐゴシック" panose="020B0600070205080204" pitchFamily="34" charset="-128"/>
              </a:rPr>
              <a:t>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a:t>
            </a:r>
            <a:r>
              <a:rPr lang="de-DE" altLang="zh-CN" dirty="0" err="1">
                <a:ea typeface="ＭＳ Ｐゴシック" panose="020B0600070205080204" pitchFamily="34" charset="-128"/>
              </a:rPr>
              <a:t>to</a:t>
            </a:r>
            <a:r>
              <a:rPr lang="de-DE" altLang="zh-CN" dirty="0">
                <a:ea typeface="ＭＳ Ｐゴシック" panose="020B0600070205080204" pitchFamily="34" charset="-128"/>
              </a:rPr>
              <a:t> </a:t>
            </a:r>
            <a:r>
              <a:rPr lang="de-DE" altLang="zh-CN" dirty="0" err="1">
                <a:ea typeface="ＭＳ Ｐゴシック" panose="020B0600070205080204" pitchFamily="34" charset="-128"/>
              </a:rPr>
              <a:t>concatenate</a:t>
            </a:r>
            <a:r>
              <a:rPr lang="de-DE" altLang="zh-CN" dirty="0">
                <a:ea typeface="ＭＳ Ｐゴシック" panose="020B0600070205080204" pitchFamily="34" charset="-128"/>
              </a:rPr>
              <a:t> </a:t>
            </a:r>
            <a:r>
              <a:rPr lang="de-DE" altLang="zh-CN" dirty="0" err="1">
                <a:ea typeface="ＭＳ Ｐゴシック" panose="020B0600070205080204" pitchFamily="34" charset="-128"/>
              </a:rPr>
              <a:t>confusion</a:t>
            </a:r>
            <a:r>
              <a:rPr lang="de-DE" altLang="zh-CN" dirty="0">
                <a:ea typeface="ＭＳ Ｐゴシック" panose="020B0600070205080204" pitchFamily="34" charset="-128"/>
              </a:rPr>
              <a:t> and </a:t>
            </a:r>
            <a:r>
              <a:rPr lang="de-DE" altLang="zh-CN" dirty="0" err="1">
                <a:ea typeface="ＭＳ Ｐゴシック" panose="020B0600070205080204" pitchFamily="34" charset="-128"/>
              </a:rPr>
              <a:t>diffusion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elements</a:t>
            </a:r>
            <a:r>
              <a:rPr lang="de-DE" altLang="zh-CN" dirty="0">
                <a:ea typeface="ＭＳ Ｐゴシック" panose="020B0600070205080204" pitchFamily="34" charset="-128"/>
              </a:rPr>
              <a:t> </a:t>
            </a:r>
            <a:r>
              <a:rPr lang="de-DE" altLang="zh-CN" dirty="0" err="1">
                <a:ea typeface="ＭＳ Ｐゴシック" panose="020B0600070205080204" pitchFamily="34" charset="-128"/>
              </a:rPr>
              <a:t>to</a:t>
            </a:r>
            <a:r>
              <a:rPr lang="de-DE" altLang="zh-CN" dirty="0">
                <a:ea typeface="ＭＳ Ｐゴシック" panose="020B0600070205080204" pitchFamily="34" charset="-128"/>
              </a:rPr>
              <a:t> </a:t>
            </a:r>
            <a:r>
              <a:rPr lang="de-DE" altLang="zh-CN" dirty="0" err="1">
                <a:ea typeface="ＭＳ Ｐゴシック" panose="020B0600070205080204" pitchFamily="34" charset="-128"/>
              </a:rPr>
              <a:t>build</a:t>
            </a:r>
            <a:r>
              <a:rPr lang="de-DE" altLang="zh-CN" dirty="0">
                <a:ea typeface="ＭＳ Ｐゴシック" panose="020B0600070205080204" pitchFamily="34" charset="-128"/>
              </a:rPr>
              <a:t> so </a:t>
            </a:r>
            <a:r>
              <a:rPr lang="de-DE" altLang="zh-CN" dirty="0" err="1">
                <a:ea typeface="ＭＳ Ｐゴシック" panose="020B0600070205080204" pitchFamily="34" charset="-128"/>
              </a:rPr>
              <a:t>called</a:t>
            </a:r>
            <a:r>
              <a:rPr lang="de-DE" altLang="zh-CN" dirty="0">
                <a:ea typeface="ＭＳ Ｐゴシック" panose="020B0600070205080204" pitchFamily="34" charset="-128"/>
              </a:rPr>
              <a:t> </a:t>
            </a:r>
            <a:r>
              <a:rPr lang="de-DE" altLang="zh-CN" i="1" dirty="0" err="1">
                <a:solidFill>
                  <a:srgbClr val="FF0000"/>
                </a:solidFill>
                <a:ea typeface="ＭＳ Ｐゴシック" panose="020B0600070205080204" pitchFamily="34" charset="-128"/>
              </a:rPr>
              <a:t>product</a:t>
            </a:r>
            <a:r>
              <a:rPr lang="de-DE" altLang="zh-CN" i="1" dirty="0">
                <a:solidFill>
                  <a:srgbClr val="FF0000"/>
                </a:solidFill>
                <a:ea typeface="ＭＳ Ｐゴシック" panose="020B0600070205080204" pitchFamily="34" charset="-128"/>
              </a:rPr>
              <a:t> </a:t>
            </a:r>
            <a:r>
              <a:rPr lang="de-DE" altLang="zh-CN" i="1" dirty="0" err="1">
                <a:solidFill>
                  <a:srgbClr val="FF0000"/>
                </a:solidFill>
                <a:ea typeface="ＭＳ Ｐゴシック" panose="020B0600070205080204" pitchFamily="34" charset="-128"/>
              </a:rPr>
              <a:t>ciphers</a:t>
            </a:r>
            <a:r>
              <a:rPr lang="de-DE" altLang="zh-CN" i="1" dirty="0">
                <a:ea typeface="ＭＳ Ｐゴシック" panose="020B0600070205080204" pitchFamily="34" charset="-128"/>
              </a:rPr>
              <a:t>.</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liennummernplatzhalter 5">
            <a:extLst>
              <a:ext uri="{FF2B5EF4-FFF2-40B4-BE49-F238E27FC236}">
                <a16:creationId xmlns:a16="http://schemas.microsoft.com/office/drawing/2014/main" id="{1F93F773-46D3-8336-F5E8-0D482EF3355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F28F5F6C-74BD-5C4A-B8C1-7AEAB817A3B2}" type="slidenum">
              <a:rPr lang="de-DE" altLang="zh-CN" sz="900">
                <a:solidFill>
                  <a:srgbClr val="394073"/>
                </a:solidFill>
              </a:rPr>
              <a:pPr/>
              <a:t>7</a:t>
            </a:fld>
            <a:r>
              <a:rPr lang="de-DE" altLang="zh-CN" sz="900">
                <a:solidFill>
                  <a:srgbClr val="394073"/>
                </a:solidFill>
              </a:rPr>
              <a:t>/29</a:t>
            </a:r>
          </a:p>
        </p:txBody>
      </p:sp>
      <p:sp>
        <p:nvSpPr>
          <p:cNvPr id="33795" name="Rectangle 2">
            <a:extLst>
              <a:ext uri="{FF2B5EF4-FFF2-40B4-BE49-F238E27FC236}">
                <a16:creationId xmlns:a16="http://schemas.microsoft.com/office/drawing/2014/main" id="{DD747A0C-E481-A5E3-A5B6-B12F42CD5D4A}"/>
              </a:ext>
            </a:extLst>
          </p:cNvPr>
          <p:cNvSpPr>
            <a:spLocks noGrp="1" noChangeArrowheads="1"/>
          </p:cNvSpPr>
          <p:nvPr>
            <p:ph type="title"/>
          </p:nvPr>
        </p:nvSpPr>
        <p:spPr/>
        <p:txBody>
          <a:bodyPr/>
          <a:lstStyle/>
          <a:p>
            <a:r>
              <a:rPr lang="de-DE" altLang="zh-CN">
                <a:ea typeface="ＭＳ Ｐゴシック" panose="020B0600070205080204" pitchFamily="34" charset="-128"/>
              </a:rPr>
              <a:t>Product Ciphers</a:t>
            </a:r>
          </a:p>
        </p:txBody>
      </p:sp>
      <p:sp>
        <p:nvSpPr>
          <p:cNvPr id="33796" name="Rectangle 3">
            <a:extLst>
              <a:ext uri="{FF2B5EF4-FFF2-40B4-BE49-F238E27FC236}">
                <a16:creationId xmlns:a16="http://schemas.microsoft.com/office/drawing/2014/main" id="{6EA49582-B60E-4D44-7B31-569685427C40}"/>
              </a:ext>
            </a:extLst>
          </p:cNvPr>
          <p:cNvSpPr>
            <a:spLocks noGrp="1" noChangeArrowheads="1"/>
          </p:cNvSpPr>
          <p:nvPr>
            <p:ph type="body" sz="half" idx="1"/>
          </p:nvPr>
        </p:nvSpPr>
        <p:spPr>
          <a:xfrm>
            <a:off x="1908175" y="1557338"/>
            <a:ext cx="6624638" cy="2268537"/>
          </a:xfrm>
        </p:spPr>
        <p:txBody>
          <a:bodyPr/>
          <a:lstStyle/>
          <a:p>
            <a:pPr marL="304800" indent="-304800"/>
            <a:r>
              <a:rPr lang="de-DE" altLang="zh-CN" dirty="0">
                <a:ea typeface="ＭＳ Ｐゴシック" panose="020B0600070205080204" pitchFamily="34" charset="-128"/>
              </a:rPr>
              <a:t>Most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a:t>
            </a:r>
            <a:r>
              <a:rPr lang="de-DE" altLang="zh-CN" dirty="0" err="1">
                <a:ea typeface="ＭＳ Ｐゴシック" panose="020B0600070205080204" pitchFamily="34" charset="-128"/>
              </a:rPr>
              <a:t>today</a:t>
            </a:r>
            <a:r>
              <a:rPr lang="en-US" altLang="zh-CN" dirty="0">
                <a:ea typeface="ＭＳ Ｐゴシック" panose="020B0600070205080204" pitchFamily="34" charset="-128"/>
              </a:rPr>
              <a:t>’</a:t>
            </a:r>
            <a:r>
              <a:rPr lang="de-DE" altLang="zh-CN" dirty="0">
                <a:ea typeface="ＭＳ Ｐゴシック" panose="020B0600070205080204" pitchFamily="34" charset="-128"/>
              </a:rPr>
              <a:t>s block </a:t>
            </a:r>
            <a:r>
              <a:rPr lang="de-DE" altLang="zh-CN" dirty="0" err="1">
                <a:ea typeface="ＭＳ Ｐゴシック" panose="020B0600070205080204" pitchFamily="34" charset="-128"/>
              </a:rPr>
              <a:t>ciphers</a:t>
            </a:r>
            <a:r>
              <a:rPr lang="de-DE" altLang="zh-CN" dirty="0">
                <a:ea typeface="ＭＳ Ｐゴシック" panose="020B0600070205080204" pitchFamily="34" charset="-128"/>
              </a:rPr>
              <a:t> </a:t>
            </a:r>
            <a:r>
              <a:rPr lang="de-DE" altLang="zh-CN" dirty="0" err="1">
                <a:ea typeface="ＭＳ Ｐゴシック" panose="020B0600070205080204" pitchFamily="34" charset="-128"/>
              </a:rPr>
              <a:t>are</a:t>
            </a:r>
            <a:r>
              <a:rPr lang="de-DE" altLang="zh-CN" dirty="0">
                <a:ea typeface="ＭＳ Ｐゴシック" panose="020B0600070205080204" pitchFamily="34" charset="-128"/>
              </a:rPr>
              <a:t> </a:t>
            </a:r>
            <a:r>
              <a:rPr lang="de-DE" altLang="zh-CN" i="1" dirty="0" err="1">
                <a:ea typeface="ＭＳ Ｐゴシック" panose="020B0600070205080204" pitchFamily="34" charset="-128"/>
              </a:rPr>
              <a:t>product</a:t>
            </a:r>
            <a:r>
              <a:rPr lang="de-DE" altLang="zh-CN" i="1" dirty="0">
                <a:ea typeface="ＭＳ Ｐゴシック" panose="020B0600070205080204" pitchFamily="34" charset="-128"/>
              </a:rPr>
              <a:t> </a:t>
            </a:r>
            <a:r>
              <a:rPr lang="de-DE" altLang="zh-CN" i="1" dirty="0" err="1">
                <a:ea typeface="ＭＳ Ｐゴシック" panose="020B0600070205080204" pitchFamily="34" charset="-128"/>
              </a:rPr>
              <a:t>ciphers</a:t>
            </a:r>
            <a:r>
              <a:rPr lang="de-DE" altLang="zh-CN" dirty="0">
                <a:ea typeface="ＭＳ Ｐゴシック" panose="020B0600070205080204" pitchFamily="34" charset="-128"/>
              </a:rPr>
              <a:t> </a:t>
            </a:r>
            <a:r>
              <a:rPr lang="de-DE" altLang="zh-CN" dirty="0" err="1">
                <a:ea typeface="ＭＳ Ｐゴシック" panose="020B0600070205080204" pitchFamily="34" charset="-128"/>
              </a:rPr>
              <a:t>as</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they</a:t>
            </a:r>
            <a:r>
              <a:rPr lang="de-DE" altLang="zh-CN" dirty="0">
                <a:ea typeface="ＭＳ Ｐゴシック" panose="020B0600070205080204" pitchFamily="34" charset="-128"/>
              </a:rPr>
              <a:t> </a:t>
            </a:r>
            <a:r>
              <a:rPr lang="de-DE" altLang="zh-CN" dirty="0" err="1">
                <a:ea typeface="ＭＳ Ｐゴシック" panose="020B0600070205080204" pitchFamily="34" charset="-128"/>
              </a:rPr>
              <a:t>consist</a:t>
            </a:r>
            <a:r>
              <a:rPr lang="de-DE" altLang="zh-CN" dirty="0">
                <a:ea typeface="ＭＳ Ｐゴシック" panose="020B0600070205080204" pitchFamily="34" charset="-128"/>
              </a:rPr>
              <a: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a:t>
            </a:r>
            <a:r>
              <a:rPr lang="de-DE" altLang="zh-CN" dirty="0" err="1">
                <a:ea typeface="ＭＳ Ｐゴシック" panose="020B0600070205080204" pitchFamily="34" charset="-128"/>
              </a:rPr>
              <a:t>rounds</a:t>
            </a:r>
            <a:r>
              <a:rPr lang="de-DE" altLang="zh-CN" dirty="0">
                <a:ea typeface="ＭＳ Ｐゴシック" panose="020B0600070205080204" pitchFamily="34" charset="-128"/>
              </a:rPr>
              <a:t> </a:t>
            </a:r>
            <a:r>
              <a:rPr lang="de-DE" altLang="zh-CN" dirty="0" err="1">
                <a:ea typeface="ＭＳ Ｐゴシック" panose="020B0600070205080204" pitchFamily="34" charset="-128"/>
              </a:rPr>
              <a:t>which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are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applied</a:t>
            </a:r>
            <a:r>
              <a:rPr lang="de-DE" altLang="zh-CN" dirty="0">
                <a:ea typeface="ＭＳ Ｐゴシック" panose="020B0600070205080204" pitchFamily="34" charset="-128"/>
              </a:rPr>
              <a:t> </a:t>
            </a:r>
            <a:r>
              <a:rPr lang="de-DE" altLang="zh-CN" dirty="0" err="1">
                <a:ea typeface="ＭＳ Ｐゴシック" panose="020B0600070205080204" pitchFamily="34" charset="-128"/>
              </a:rPr>
              <a:t>repeatedly</a:t>
            </a:r>
            <a:r>
              <a:rPr lang="de-DE" altLang="zh-CN" dirty="0">
                <a:ea typeface="ＭＳ Ｐゴシック" panose="020B0600070205080204" pitchFamily="34" charset="-128"/>
              </a:rPr>
              <a:t> </a:t>
            </a:r>
            <a:r>
              <a:rPr lang="de-DE" altLang="zh-CN" dirty="0" err="1">
                <a:ea typeface="ＭＳ Ｐゴシック" panose="020B0600070205080204" pitchFamily="34" charset="-128"/>
              </a:rPr>
              <a:t>to</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dirty="0" err="1">
                <a:ea typeface="ＭＳ Ｐゴシック" panose="020B0600070205080204" pitchFamily="34" charset="-128"/>
              </a:rPr>
              <a:t>data</a:t>
            </a:r>
            <a:r>
              <a:rPr lang="de-DE" altLang="zh-CN" dirty="0">
                <a:ea typeface="ＭＳ Ｐゴシック" panose="020B0600070205080204" pitchFamily="34" charset="-128"/>
              </a:rPr>
              <a:t>.</a:t>
            </a:r>
          </a:p>
          <a:p>
            <a:pPr marL="304800" indent="-304800"/>
            <a:endParaRPr lang="de-DE" altLang="zh-CN" dirty="0">
              <a:ea typeface="ＭＳ Ｐゴシック" panose="020B0600070205080204" pitchFamily="34" charset="-128"/>
            </a:endParaRPr>
          </a:p>
          <a:p>
            <a:pPr marL="304800" indent="-304800"/>
            <a:r>
              <a:rPr lang="de-DE" altLang="zh-CN" dirty="0">
                <a:ea typeface="ＭＳ Ｐゴシック" panose="020B0600070205080204" pitchFamily="34" charset="-128"/>
              </a:rPr>
              <a:t>Can </a:t>
            </a:r>
            <a:r>
              <a:rPr lang="de-DE" altLang="zh-CN" dirty="0" err="1">
                <a:ea typeface="ＭＳ Ｐゴシック" panose="020B0600070205080204" pitchFamily="34" charset="-128"/>
              </a:rPr>
              <a:t>reach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excellent</a:t>
            </a:r>
            <a:r>
              <a:rPr lang="de-DE" altLang="zh-CN" dirty="0">
                <a:ea typeface="ＭＳ Ｐゴシック" panose="020B0600070205080204" pitchFamily="34" charset="-128"/>
              </a:rPr>
              <a:t> </a:t>
            </a:r>
            <a:r>
              <a:rPr lang="de-DE" altLang="zh-CN" dirty="0" err="1">
                <a:ea typeface="ＭＳ Ｐゴシック" panose="020B0600070205080204" pitchFamily="34" charset="-128"/>
              </a:rPr>
              <a:t>diffusion</a:t>
            </a:r>
            <a:r>
              <a:rPr lang="de-DE" altLang="zh-CN" dirty="0">
                <a:ea typeface="ＭＳ Ｐゴシック" panose="020B0600070205080204" pitchFamily="34" charset="-128"/>
              </a:rPr>
              <a:t>: </a:t>
            </a:r>
            <a:r>
              <a:rPr lang="de-DE" altLang="zh-CN" b="1" dirty="0" err="1">
                <a:ea typeface="ＭＳ Ｐゴシック" panose="020B0600070205080204" pitchFamily="34" charset="-128"/>
              </a:rPr>
              <a:t>changing</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of</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one</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bit</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of</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plaintext</a:t>
            </a:r>
            <a:r>
              <a:rPr lang="de-DE" altLang="zh-CN" dirty="0">
                <a:ea typeface="ＭＳ Ｐゴシック" panose="020B0600070205080204" pitchFamily="34" charset="-128"/>
              </a:rPr>
              <a:t> </a:t>
            </a:r>
            <a:r>
              <a:rPr lang="de-DE" altLang="zh-CN" b="1" dirty="0" err="1">
                <a:ea typeface="ＭＳ Ｐゴシック" panose="020B0600070205080204" pitchFamily="34" charset="-128"/>
              </a:rPr>
              <a:t>results</a:t>
            </a:r>
            <a:r>
              <a:rPr lang="de-DE" altLang="zh-CN" dirty="0">
                <a:ea typeface="ＭＳ Ｐゴシック" panose="020B0600070205080204" pitchFamily="34" charset="-128"/>
              </a:rPr>
              <a:t> </a:t>
            </a:r>
            <a:r>
              <a:rPr lang="de-DE" altLang="zh-CN" i="1" dirty="0">
                <a:ea typeface="ＭＳ Ｐゴシック" panose="020B0600070205080204" pitchFamily="34" charset="-128"/>
              </a:rPr>
              <a:t>on </a:t>
            </a:r>
            <a:r>
              <a:rPr lang="de-DE" altLang="zh-CN" i="1" dirty="0" err="1">
                <a:ea typeface="ＭＳ Ｐゴシック" panose="020B0600070205080204" pitchFamily="34" charset="-128"/>
              </a:rPr>
              <a:t>average</a:t>
            </a:r>
            <a:r>
              <a:rPr lang="de-DE" altLang="zh-CN" dirty="0">
                <a:ea typeface="ＭＳ Ｐゴシック" panose="020B0600070205080204" pitchFamily="34" charset="-128"/>
              </a:rPr>
              <a:t> in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b="1" dirty="0" err="1">
                <a:ea typeface="ＭＳ Ｐゴシック" panose="020B0600070205080204" pitchFamily="34" charset="-128"/>
              </a:rPr>
              <a:t>change</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of</a:t>
            </a:r>
            <a:r>
              <a:rPr lang="de-DE" altLang="zh-CN" b="1" dirty="0">
                <a:ea typeface="ＭＳ Ｐゴシック" panose="020B0600070205080204" pitchFamily="34" charset="-128"/>
              </a:rPr>
              <a:t> half </a:t>
            </a:r>
            <a:r>
              <a:rPr lang="de-DE" altLang="zh-CN" b="1" dirty="0" err="1">
                <a:ea typeface="ＭＳ Ｐゴシック" panose="020B0600070205080204" pitchFamily="34" charset="-128"/>
              </a:rPr>
              <a:t>the</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output</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bits</a:t>
            </a:r>
            <a:r>
              <a:rPr lang="de-DE" altLang="zh-CN" dirty="0">
                <a:ea typeface="ＭＳ Ｐゴシック" panose="020B0600070205080204" pitchFamily="34" charset="-128"/>
              </a:rPr>
              <a:t>.</a:t>
            </a:r>
            <a:br>
              <a:rPr lang="de-DE" altLang="zh-CN" dirty="0">
                <a:ea typeface="ＭＳ Ｐゴシック" panose="020B0600070205080204" pitchFamily="34" charset="-128"/>
              </a:rPr>
            </a:br>
            <a:br>
              <a:rPr lang="de-DE" altLang="zh-CN" dirty="0">
                <a:ea typeface="ＭＳ Ｐゴシック" panose="020B0600070205080204" pitchFamily="34" charset="-128"/>
              </a:rPr>
            </a:br>
            <a:r>
              <a:rPr lang="de-DE" altLang="zh-CN" b="1" dirty="0" err="1">
                <a:ea typeface="ＭＳ Ｐゴシック" panose="020B0600070205080204" pitchFamily="34" charset="-128"/>
              </a:rPr>
              <a:t>Example</a:t>
            </a:r>
            <a:r>
              <a:rPr lang="de-DE" altLang="zh-CN" b="1" dirty="0">
                <a:ea typeface="ＭＳ Ｐゴシック" panose="020B0600070205080204" pitchFamily="34" charset="-128"/>
              </a:rPr>
              <a:t>:</a:t>
            </a:r>
            <a:endParaRPr lang="de-DE" altLang="zh-CN" sz="1400" b="1" i="1" dirty="0">
              <a:ea typeface="ＭＳ Ｐゴシック" panose="020B0600070205080204" pitchFamily="34" charset="-128"/>
            </a:endParaRPr>
          </a:p>
        </p:txBody>
      </p:sp>
      <p:pic>
        <p:nvPicPr>
          <p:cNvPr id="33797" name="Picture 4" descr="conf-diff">
            <a:extLst>
              <a:ext uri="{FF2B5EF4-FFF2-40B4-BE49-F238E27FC236}">
                <a16:creationId xmlns:a16="http://schemas.microsoft.com/office/drawing/2014/main" id="{6D4F759E-90C4-135C-16E7-F70DE376D0A6}"/>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68313" y="1196975"/>
            <a:ext cx="1095375" cy="4032250"/>
          </a:xfrm>
          <a:noFill/>
        </p:spPr>
      </p:pic>
      <p:pic>
        <p:nvPicPr>
          <p:cNvPr id="33798" name="Picture 6" descr="block_cipher_example">
            <a:extLst>
              <a:ext uri="{FF2B5EF4-FFF2-40B4-BE49-F238E27FC236}">
                <a16:creationId xmlns:a16="http://schemas.microsoft.com/office/drawing/2014/main" id="{EBD8E71B-9AA0-EF8A-04F0-E978B74606F7}"/>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662238" y="4221163"/>
            <a:ext cx="5573712" cy="695325"/>
          </a:xfrm>
          <a:noFill/>
        </p:spPr>
      </p:pic>
      <p:sp>
        <p:nvSpPr>
          <p:cNvPr id="33799" name="Line 10">
            <a:extLst>
              <a:ext uri="{FF2B5EF4-FFF2-40B4-BE49-F238E27FC236}">
                <a16:creationId xmlns:a16="http://schemas.microsoft.com/office/drawing/2014/main" id="{5FC5AB5A-D0DB-89E3-FF6D-D233BE95C026}"/>
              </a:ext>
            </a:extLst>
          </p:cNvPr>
          <p:cNvSpPr>
            <a:spLocks noChangeShapeType="1"/>
          </p:cNvSpPr>
          <p:nvPr/>
        </p:nvSpPr>
        <p:spPr bwMode="auto">
          <a:xfrm>
            <a:off x="3419475" y="4868863"/>
            <a:ext cx="0" cy="431800"/>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3800" name="Line 11">
            <a:extLst>
              <a:ext uri="{FF2B5EF4-FFF2-40B4-BE49-F238E27FC236}">
                <a16:creationId xmlns:a16="http://schemas.microsoft.com/office/drawing/2014/main" id="{D1C5D3D5-618F-B9FB-E241-431F73217B8C}"/>
              </a:ext>
            </a:extLst>
          </p:cNvPr>
          <p:cNvSpPr>
            <a:spLocks noChangeShapeType="1"/>
          </p:cNvSpPr>
          <p:nvPr/>
        </p:nvSpPr>
        <p:spPr bwMode="auto">
          <a:xfrm>
            <a:off x="7272338" y="4868863"/>
            <a:ext cx="0" cy="431800"/>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3801" name="Line 12">
            <a:extLst>
              <a:ext uri="{FF2B5EF4-FFF2-40B4-BE49-F238E27FC236}">
                <a16:creationId xmlns:a16="http://schemas.microsoft.com/office/drawing/2014/main" id="{92E40DC1-9AEF-358E-5E17-BCA7233A4C7F}"/>
              </a:ext>
            </a:extLst>
          </p:cNvPr>
          <p:cNvSpPr>
            <a:spLocks noChangeShapeType="1"/>
          </p:cNvSpPr>
          <p:nvPr/>
        </p:nvSpPr>
        <p:spPr bwMode="auto">
          <a:xfrm>
            <a:off x="7394575" y="4868863"/>
            <a:ext cx="0" cy="431800"/>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3802" name="Line 13">
            <a:extLst>
              <a:ext uri="{FF2B5EF4-FFF2-40B4-BE49-F238E27FC236}">
                <a16:creationId xmlns:a16="http://schemas.microsoft.com/office/drawing/2014/main" id="{F3DD82D5-DACF-7B47-DFBA-4693C17F470A}"/>
              </a:ext>
            </a:extLst>
          </p:cNvPr>
          <p:cNvSpPr>
            <a:spLocks noChangeShapeType="1"/>
          </p:cNvSpPr>
          <p:nvPr/>
        </p:nvSpPr>
        <p:spPr bwMode="auto">
          <a:xfrm>
            <a:off x="7621588" y="4868863"/>
            <a:ext cx="0" cy="431800"/>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3803" name="Line 14">
            <a:extLst>
              <a:ext uri="{FF2B5EF4-FFF2-40B4-BE49-F238E27FC236}">
                <a16:creationId xmlns:a16="http://schemas.microsoft.com/office/drawing/2014/main" id="{7F4E52B9-3287-FFC2-711D-9D0A49BE8B17}"/>
              </a:ext>
            </a:extLst>
          </p:cNvPr>
          <p:cNvSpPr>
            <a:spLocks noChangeShapeType="1"/>
          </p:cNvSpPr>
          <p:nvPr/>
        </p:nvSpPr>
        <p:spPr bwMode="auto">
          <a:xfrm>
            <a:off x="7927975" y="4868863"/>
            <a:ext cx="0" cy="431800"/>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3804" name="Line 15">
            <a:extLst>
              <a:ext uri="{FF2B5EF4-FFF2-40B4-BE49-F238E27FC236}">
                <a16:creationId xmlns:a16="http://schemas.microsoft.com/office/drawing/2014/main" id="{F365D801-E70B-50C8-21DB-F761C92544A8}"/>
              </a:ext>
            </a:extLst>
          </p:cNvPr>
          <p:cNvSpPr>
            <a:spLocks noChangeShapeType="1"/>
          </p:cNvSpPr>
          <p:nvPr/>
        </p:nvSpPr>
        <p:spPr bwMode="auto">
          <a:xfrm>
            <a:off x="8178800" y="4868863"/>
            <a:ext cx="0" cy="431800"/>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3805" name="Text Box 16">
            <a:extLst>
              <a:ext uri="{FF2B5EF4-FFF2-40B4-BE49-F238E27FC236}">
                <a16:creationId xmlns:a16="http://schemas.microsoft.com/office/drawing/2014/main" id="{16D2215D-C756-61F7-00C2-588FD5386C93}"/>
              </a:ext>
            </a:extLst>
          </p:cNvPr>
          <p:cNvSpPr txBox="1">
            <a:spLocks noChangeArrowheads="1"/>
          </p:cNvSpPr>
          <p:nvPr/>
        </p:nvSpPr>
        <p:spPr bwMode="auto">
          <a:xfrm>
            <a:off x="2771775" y="5373688"/>
            <a:ext cx="1257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de-DE" altLang="zh-CN" sz="1800">
                <a:solidFill>
                  <a:srgbClr val="FF0000"/>
                </a:solidFill>
              </a:rPr>
              <a:t>single bit flip</a:t>
            </a:r>
          </a:p>
        </p:txBody>
      </p:sp>
      <p:sp>
        <p:nvSpPr>
          <p:cNvPr id="33806" name="Text Box 17">
            <a:extLst>
              <a:ext uri="{FF2B5EF4-FFF2-40B4-BE49-F238E27FC236}">
                <a16:creationId xmlns:a16="http://schemas.microsoft.com/office/drawing/2014/main" id="{8D8B41C2-F83F-160E-F795-E9C45468A341}"/>
              </a:ext>
            </a:extLst>
          </p:cNvPr>
          <p:cNvSpPr txBox="1">
            <a:spLocks noChangeArrowheads="1"/>
          </p:cNvSpPr>
          <p:nvPr/>
        </p:nvSpPr>
        <p:spPr bwMode="auto">
          <a:xfrm>
            <a:off x="7019925" y="5373688"/>
            <a:ext cx="1333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de-DE" altLang="zh-CN" sz="1800">
                <a:solidFill>
                  <a:srgbClr val="FF0000"/>
                </a:solidFill>
              </a:rPr>
              <a:t>many bit flips</a:t>
            </a:r>
          </a:p>
        </p:txBody>
      </p:sp>
      <p:sp>
        <p:nvSpPr>
          <p:cNvPr id="33807" name="Line 18">
            <a:extLst>
              <a:ext uri="{FF2B5EF4-FFF2-40B4-BE49-F238E27FC236}">
                <a16:creationId xmlns:a16="http://schemas.microsoft.com/office/drawing/2014/main" id="{947AB111-7E47-176E-4C57-C8AECC8F8267}"/>
              </a:ext>
            </a:extLst>
          </p:cNvPr>
          <p:cNvSpPr>
            <a:spLocks noChangeShapeType="1"/>
          </p:cNvSpPr>
          <p:nvPr/>
        </p:nvSpPr>
        <p:spPr bwMode="auto">
          <a:xfrm>
            <a:off x="4211638" y="5516563"/>
            <a:ext cx="2592387" cy="0"/>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98ADC8-7A84-A343-85BD-A3DC8B44158F}"/>
              </a:ext>
            </a:extLst>
          </p:cNvPr>
          <p:cNvSpPr>
            <a:spLocks noGrp="1"/>
          </p:cNvSpPr>
          <p:nvPr>
            <p:ph type="title"/>
          </p:nvPr>
        </p:nvSpPr>
        <p:spPr>
          <a:xfrm>
            <a:off x="838200" y="76200"/>
            <a:ext cx="7696200" cy="516465"/>
          </a:xfrm>
        </p:spPr>
        <p:txBody>
          <a:bodyPr/>
          <a:lstStyle/>
          <a:p>
            <a:r>
              <a:rPr kumimoji="1" lang="en-US" altLang="zh-CN" sz="2600" dirty="0"/>
              <a:t>Design Paradigm: Substitution-Permutation Network</a:t>
            </a:r>
            <a:endParaRPr kumimoji="1" lang="zh-CN" altLang="en-US" sz="2600" dirty="0"/>
          </a:p>
        </p:txBody>
      </p:sp>
      <p:pic>
        <p:nvPicPr>
          <p:cNvPr id="6" name="图片 5">
            <a:extLst>
              <a:ext uri="{FF2B5EF4-FFF2-40B4-BE49-F238E27FC236}">
                <a16:creationId xmlns:a16="http://schemas.microsoft.com/office/drawing/2014/main" id="{570D2A08-006D-AE48-B86A-9FE3A57E7185}"/>
              </a:ext>
            </a:extLst>
          </p:cNvPr>
          <p:cNvPicPr>
            <a:picLocks noChangeAspect="1"/>
          </p:cNvPicPr>
          <p:nvPr/>
        </p:nvPicPr>
        <p:blipFill>
          <a:blip r:embed="rId2"/>
          <a:stretch>
            <a:fillRect/>
          </a:stretch>
        </p:blipFill>
        <p:spPr>
          <a:xfrm>
            <a:off x="1371599" y="873860"/>
            <a:ext cx="6301317" cy="5298339"/>
          </a:xfrm>
          <a:prstGeom prst="rect">
            <a:avLst/>
          </a:prstGeom>
        </p:spPr>
      </p:pic>
    </p:spTree>
    <p:extLst>
      <p:ext uri="{BB962C8B-B14F-4D97-AF65-F5344CB8AC3E}">
        <p14:creationId xmlns:p14="http://schemas.microsoft.com/office/powerpoint/2010/main" val="343752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B929EF-E1DB-774F-A7FB-DB532A1A5586}"/>
              </a:ext>
            </a:extLst>
          </p:cNvPr>
          <p:cNvSpPr>
            <a:spLocks noGrp="1"/>
          </p:cNvSpPr>
          <p:nvPr>
            <p:ph type="title"/>
          </p:nvPr>
        </p:nvSpPr>
        <p:spPr>
          <a:xfrm>
            <a:off x="457200" y="215372"/>
            <a:ext cx="8229600" cy="516465"/>
          </a:xfrm>
        </p:spPr>
        <p:txBody>
          <a:bodyPr/>
          <a:lstStyle/>
          <a:p>
            <a:r>
              <a:rPr kumimoji="1" lang="en-US" altLang="zh-CN" sz="2800" dirty="0"/>
              <a:t>Three Round of a Substitution-Permutation Network</a:t>
            </a:r>
            <a:endParaRPr kumimoji="1" lang="zh-CN" altLang="en-US" sz="2800" dirty="0"/>
          </a:p>
        </p:txBody>
      </p:sp>
      <p:pic>
        <p:nvPicPr>
          <p:cNvPr id="6" name="图片 5">
            <a:extLst>
              <a:ext uri="{FF2B5EF4-FFF2-40B4-BE49-F238E27FC236}">
                <a16:creationId xmlns:a16="http://schemas.microsoft.com/office/drawing/2014/main" id="{E755515D-E3BC-EA4F-93DA-899A655A6E9E}"/>
              </a:ext>
            </a:extLst>
          </p:cNvPr>
          <p:cNvPicPr>
            <a:picLocks noChangeAspect="1"/>
          </p:cNvPicPr>
          <p:nvPr/>
        </p:nvPicPr>
        <p:blipFill>
          <a:blip r:embed="rId3"/>
          <a:stretch>
            <a:fillRect/>
          </a:stretch>
        </p:blipFill>
        <p:spPr>
          <a:xfrm>
            <a:off x="2247900" y="838200"/>
            <a:ext cx="4648200" cy="5403036"/>
          </a:xfrm>
          <a:prstGeom prst="rect">
            <a:avLst/>
          </a:prstGeom>
        </p:spPr>
      </p:pic>
      <p:sp>
        <p:nvSpPr>
          <p:cNvPr id="3" name="文本框 2">
            <a:extLst>
              <a:ext uri="{FF2B5EF4-FFF2-40B4-BE49-F238E27FC236}">
                <a16:creationId xmlns:a16="http://schemas.microsoft.com/office/drawing/2014/main" id="{6C43A17B-8E0E-B2BD-25F1-48C0F74BC7DF}"/>
              </a:ext>
            </a:extLst>
          </p:cNvPr>
          <p:cNvSpPr txBox="1"/>
          <p:nvPr/>
        </p:nvSpPr>
        <p:spPr>
          <a:xfrm>
            <a:off x="539552" y="1340768"/>
            <a:ext cx="1944216" cy="1169551"/>
          </a:xfrm>
          <a:prstGeom prst="rect">
            <a:avLst/>
          </a:prstGeom>
          <a:noFill/>
        </p:spPr>
        <p:txBody>
          <a:bodyPr wrap="square">
            <a:spAutoFit/>
          </a:bodyPr>
          <a:lstStyle/>
          <a:p>
            <a:r>
              <a:rPr lang="de-DE" altLang="zh-CN" b="1" dirty="0" err="1">
                <a:solidFill>
                  <a:srgbClr val="FF0000"/>
                </a:solidFill>
                <a:ea typeface="ＭＳ Ｐゴシック" panose="020B0600070205080204" pitchFamily="34" charset="-128"/>
              </a:rPr>
              <a:t>Changing</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of</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one</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bit</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of</a:t>
            </a:r>
            <a:r>
              <a:rPr lang="de-DE" altLang="zh-CN" b="1" dirty="0">
                <a:solidFill>
                  <a:srgbClr val="FF0000"/>
                </a:solidFill>
                <a:ea typeface="ＭＳ Ｐゴシック" panose="020B0600070205080204" pitchFamily="34" charset="-128"/>
              </a:rPr>
              <a:t> input </a:t>
            </a:r>
            <a:r>
              <a:rPr lang="de-DE" altLang="zh-CN" b="1" dirty="0" err="1">
                <a:solidFill>
                  <a:srgbClr val="FF0000"/>
                </a:solidFill>
                <a:ea typeface="ＭＳ Ｐゴシック" panose="020B0600070205080204" pitchFamily="34" charset="-128"/>
              </a:rPr>
              <a:t>bits</a:t>
            </a:r>
            <a:r>
              <a:rPr lang="de-DE" altLang="zh-CN" dirty="0">
                <a:solidFill>
                  <a:srgbClr val="FF0000"/>
                </a:solidFill>
                <a:ea typeface="ＭＳ Ｐゴシック" panose="020B0600070205080204" pitchFamily="34" charset="-128"/>
              </a:rPr>
              <a:t> </a:t>
            </a:r>
            <a:r>
              <a:rPr lang="de-DE" altLang="zh-CN" b="1" dirty="0" err="1">
                <a:solidFill>
                  <a:srgbClr val="FF0000"/>
                </a:solidFill>
              </a:rPr>
              <a:t>results</a:t>
            </a:r>
            <a:r>
              <a:rPr lang="de-DE" altLang="zh-CN" b="1" dirty="0">
                <a:solidFill>
                  <a:srgbClr val="FF0000"/>
                </a:solidFill>
              </a:rPr>
              <a:t> in </a:t>
            </a:r>
            <a:r>
              <a:rPr lang="de-DE" altLang="zh-CN" b="1" dirty="0" err="1">
                <a:solidFill>
                  <a:srgbClr val="FF0000"/>
                </a:solidFill>
              </a:rPr>
              <a:t>the</a:t>
            </a:r>
            <a:r>
              <a:rPr lang="de-DE" altLang="zh-CN" b="1" dirty="0">
                <a:solidFill>
                  <a:srgbClr val="FF0000"/>
                </a:solidFill>
              </a:rPr>
              <a:t> </a:t>
            </a:r>
            <a:r>
              <a:rPr lang="de-DE" altLang="zh-CN" b="1" dirty="0" err="1">
                <a:solidFill>
                  <a:srgbClr val="FF0000"/>
                </a:solidFill>
                <a:ea typeface="ＭＳ Ｐゴシック" panose="020B0600070205080204" pitchFamily="34" charset="-128"/>
              </a:rPr>
              <a:t>change</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of</a:t>
            </a:r>
            <a:r>
              <a:rPr lang="de-DE" altLang="zh-CN" b="1" dirty="0">
                <a:solidFill>
                  <a:srgbClr val="FF0000"/>
                </a:solidFill>
                <a:ea typeface="ＭＳ Ｐゴシック" panose="020B0600070205080204" pitchFamily="34" charset="-128"/>
              </a:rPr>
              <a:t> at least </a:t>
            </a:r>
            <a:r>
              <a:rPr lang="de-DE" altLang="zh-CN" b="1" dirty="0" err="1">
                <a:solidFill>
                  <a:srgbClr val="FF0000"/>
                </a:solidFill>
                <a:ea typeface="ＭＳ Ｐゴシック" panose="020B0600070205080204" pitchFamily="34" charset="-128"/>
              </a:rPr>
              <a:t>two</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bits</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of</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the</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output</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bits</a:t>
            </a:r>
            <a:r>
              <a:rPr lang="de-DE" altLang="zh-CN" b="1" dirty="0">
                <a:solidFill>
                  <a:srgbClr val="FF0000"/>
                </a:solidFill>
                <a:ea typeface="ＭＳ Ｐゴシック" panose="020B0600070205080204" pitchFamily="34" charset="-128"/>
              </a:rPr>
              <a:t>.</a:t>
            </a:r>
            <a:endParaRPr lang="zh-CN" altLang="en-US" dirty="0">
              <a:solidFill>
                <a:srgbClr val="FF0000"/>
              </a:solidFill>
            </a:endParaRPr>
          </a:p>
        </p:txBody>
      </p:sp>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790F95ED-F5EB-9773-A8A1-E8EBD9C9CC81}"/>
                  </a:ext>
                </a:extLst>
              </p14:cNvPr>
              <p14:cNvContentPartPr/>
              <p14:nvPr/>
            </p14:nvContentPartPr>
            <p14:xfrm>
              <a:off x="3143520" y="1213920"/>
              <a:ext cx="2574360" cy="2470320"/>
            </p14:xfrm>
          </p:contentPart>
        </mc:Choice>
        <mc:Fallback xmlns="">
          <p:pic>
            <p:nvPicPr>
              <p:cNvPr id="4" name="墨迹 3">
                <a:extLst>
                  <a:ext uri="{FF2B5EF4-FFF2-40B4-BE49-F238E27FC236}">
                    <a16:creationId xmlns:a16="http://schemas.microsoft.com/office/drawing/2014/main" id="{790F95ED-F5EB-9773-A8A1-E8EBD9C9CC81}"/>
                  </a:ext>
                </a:extLst>
              </p:cNvPr>
              <p:cNvPicPr/>
              <p:nvPr/>
            </p:nvPicPr>
            <p:blipFill>
              <a:blip r:embed="rId5"/>
              <a:stretch>
                <a:fillRect/>
              </a:stretch>
            </p:blipFill>
            <p:spPr>
              <a:xfrm>
                <a:off x="3134160" y="1204560"/>
                <a:ext cx="2593080" cy="2489040"/>
              </a:xfrm>
              <a:prstGeom prst="rect">
                <a:avLst/>
              </a:prstGeom>
            </p:spPr>
          </p:pic>
        </mc:Fallback>
      </mc:AlternateContent>
    </p:spTree>
    <p:extLst>
      <p:ext uri="{BB962C8B-B14F-4D97-AF65-F5344CB8AC3E}">
        <p14:creationId xmlns:p14="http://schemas.microsoft.com/office/powerpoint/2010/main" val="324820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0338"/>
            <a:ext cx="8229600" cy="369332"/>
          </a:xfrm>
        </p:spPr>
        <p:txBody>
          <a:bodyPr wrap="square">
            <a:spAutoFit/>
          </a:bodyPr>
          <a:lstStyle/>
          <a:p>
            <a:r>
              <a:rPr lang="en-IN" altLang="en-US" sz="2400" dirty="0">
                <a:latin typeface="+mj-lt"/>
                <a:ea typeface="ヒラギノ角ゴ Pro W3" charset="-128"/>
              </a:rPr>
              <a:t>Avalanche Effect in DES: Change in Plaintext</a:t>
            </a:r>
            <a:endParaRPr lang="en-US" sz="2400" dirty="0">
              <a:latin typeface="+mj-lt"/>
            </a:endParaRPr>
          </a:p>
        </p:txBody>
      </p:sp>
      <p:pic>
        <p:nvPicPr>
          <p:cNvPr id="6" name="图片 5">
            <a:extLst>
              <a:ext uri="{FF2B5EF4-FFF2-40B4-BE49-F238E27FC236}">
                <a16:creationId xmlns:a16="http://schemas.microsoft.com/office/drawing/2014/main" id="{D1C4328D-80EB-1C4C-AE44-9B638F97DD74}"/>
              </a:ext>
            </a:extLst>
          </p:cNvPr>
          <p:cNvPicPr>
            <a:picLocks noChangeAspect="1"/>
          </p:cNvPicPr>
          <p:nvPr/>
        </p:nvPicPr>
        <p:blipFill>
          <a:blip r:embed="rId3"/>
          <a:stretch>
            <a:fillRect/>
          </a:stretch>
        </p:blipFill>
        <p:spPr>
          <a:xfrm>
            <a:off x="1143000" y="762000"/>
            <a:ext cx="6987164" cy="5645426"/>
          </a:xfrm>
          <a:prstGeom prst="rect">
            <a:avLst/>
          </a:prstGeom>
        </p:spPr>
      </p:pic>
    </p:spTree>
    <p:extLst>
      <p:ext uri="{BB962C8B-B14F-4D97-AF65-F5344CB8AC3E}">
        <p14:creationId xmlns:p14="http://schemas.microsoft.com/office/powerpoint/2010/main" val="3370125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2025"/>
            <a:ext cx="8229600" cy="369332"/>
          </a:xfrm>
        </p:spPr>
        <p:txBody>
          <a:bodyPr wrap="square">
            <a:spAutoFit/>
          </a:bodyPr>
          <a:lstStyle/>
          <a:p>
            <a:r>
              <a:rPr lang="en-IN" altLang="en-US" sz="2400" dirty="0">
                <a:latin typeface="+mj-lt"/>
                <a:ea typeface="ヒラギノ角ゴ Pro W3" charset="-128"/>
              </a:rPr>
              <a:t>Avalanche Effect in DES: Change in Key</a:t>
            </a:r>
            <a:endParaRPr lang="en-US" sz="2400" dirty="0">
              <a:latin typeface="+mj-lt"/>
            </a:endParaRPr>
          </a:p>
        </p:txBody>
      </p:sp>
      <p:pic>
        <p:nvPicPr>
          <p:cNvPr id="5" name="图片 4">
            <a:extLst>
              <a:ext uri="{FF2B5EF4-FFF2-40B4-BE49-F238E27FC236}">
                <a16:creationId xmlns:a16="http://schemas.microsoft.com/office/drawing/2014/main" id="{EAB1E3F9-1F2A-CF42-8186-5C8096F238EE}"/>
              </a:ext>
            </a:extLst>
          </p:cNvPr>
          <p:cNvPicPr>
            <a:picLocks noChangeAspect="1"/>
          </p:cNvPicPr>
          <p:nvPr/>
        </p:nvPicPr>
        <p:blipFill>
          <a:blip r:embed="rId3"/>
          <a:stretch>
            <a:fillRect/>
          </a:stretch>
        </p:blipFill>
        <p:spPr>
          <a:xfrm>
            <a:off x="1219200" y="661357"/>
            <a:ext cx="6987391" cy="5638800"/>
          </a:xfrm>
          <a:prstGeom prst="rect">
            <a:avLst/>
          </a:prstGeom>
        </p:spPr>
      </p:pic>
    </p:spTree>
    <p:extLst>
      <p:ext uri="{BB962C8B-B14F-4D97-AF65-F5344CB8AC3E}">
        <p14:creationId xmlns:p14="http://schemas.microsoft.com/office/powerpoint/2010/main" val="4187203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Foliennummernplatzhalter 3">
            <a:extLst>
              <a:ext uri="{FF2B5EF4-FFF2-40B4-BE49-F238E27FC236}">
                <a16:creationId xmlns:a16="http://schemas.microsoft.com/office/drawing/2014/main" id="{E2DBE4E3-B168-85E4-6776-523D64E4509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EC0E0D9-2868-AE4A-9269-04D2EB2E5C41}" type="slidenum">
              <a:rPr lang="de-DE" altLang="zh-CN" sz="900">
                <a:solidFill>
                  <a:srgbClr val="394073"/>
                </a:solidFill>
              </a:rPr>
              <a:pPr/>
              <a:t>12</a:t>
            </a:fld>
            <a:r>
              <a:rPr lang="de-DE" altLang="zh-CN" sz="900">
                <a:solidFill>
                  <a:srgbClr val="394073"/>
                </a:solidFill>
              </a:rPr>
              <a:t>/29</a:t>
            </a:r>
          </a:p>
        </p:txBody>
      </p:sp>
      <p:sp>
        <p:nvSpPr>
          <p:cNvPr id="35843" name="Rectangle 2">
            <a:extLst>
              <a:ext uri="{FF2B5EF4-FFF2-40B4-BE49-F238E27FC236}">
                <a16:creationId xmlns:a16="http://schemas.microsoft.com/office/drawing/2014/main" id="{DC8E9812-F676-477D-3BF9-DBBD799DC3F0}"/>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ea typeface="ＭＳ Ｐゴシック" panose="020B0600070205080204" pitchFamily="34" charset="-128"/>
              </a:rPr>
              <a:t>Content of this Chapter</a:t>
            </a:r>
          </a:p>
        </p:txBody>
      </p:sp>
      <p:sp>
        <p:nvSpPr>
          <p:cNvPr id="35844" name="Rectangle 3">
            <a:extLst>
              <a:ext uri="{FF2B5EF4-FFF2-40B4-BE49-F238E27FC236}">
                <a16:creationId xmlns:a16="http://schemas.microsoft.com/office/drawing/2014/main" id="{202FA0F9-EE04-9869-CCB4-5AF923DF08F9}"/>
              </a:ext>
            </a:extLst>
          </p:cNvPr>
          <p:cNvSpPr>
            <a:spLocks noGrp="1" noChangeArrowheads="1"/>
          </p:cNvSpPr>
          <p:nvPr>
            <p:ph type="body" idx="1"/>
          </p:nvPr>
        </p:nvSpPr>
        <p:spPr>
          <a:xfrm>
            <a:off x="539750" y="1844675"/>
            <a:ext cx="7394575" cy="2209800"/>
          </a:xfrm>
          <a:noFill/>
        </p:spPr>
        <p:txBody>
          <a:bodyPr/>
          <a:lstStyle/>
          <a:p>
            <a:pPr marL="342900" indent="-342900"/>
            <a:r>
              <a:rPr lang="de-DE" altLang="zh-CN" sz="2000">
                <a:ea typeface="ＭＳ Ｐゴシック" panose="020B0600070205080204" pitchFamily="34" charset="-128"/>
              </a:rPr>
              <a:t>Introduction to DES</a:t>
            </a:r>
          </a:p>
          <a:p>
            <a:pPr marL="342900" indent="-342900"/>
            <a:r>
              <a:rPr lang="de-DE" altLang="zh-CN" sz="2000" b="1">
                <a:ea typeface="ＭＳ Ｐゴシック" panose="020B0600070205080204" pitchFamily="34" charset="-128"/>
              </a:rPr>
              <a:t>Overview of the DES Algorithm</a:t>
            </a:r>
          </a:p>
          <a:p>
            <a:pPr marL="342900" indent="-342900"/>
            <a:r>
              <a:rPr lang="de-DE" altLang="zh-CN" sz="2000">
                <a:ea typeface="ＭＳ Ｐゴシック" panose="020B0600070205080204" pitchFamily="34" charset="-128"/>
              </a:rPr>
              <a:t>Internal Structure of DES</a:t>
            </a:r>
          </a:p>
          <a:p>
            <a:pPr marL="342900" indent="-342900"/>
            <a:r>
              <a:rPr lang="de-DE" altLang="zh-CN" sz="2000">
                <a:ea typeface="ＭＳ Ｐゴシック" panose="020B0600070205080204" pitchFamily="34" charset="-128"/>
              </a:rPr>
              <a:t>Decryption</a:t>
            </a:r>
          </a:p>
          <a:p>
            <a:pPr marL="342900" indent="-342900"/>
            <a:r>
              <a:rPr lang="de-DE" altLang="zh-CN" sz="2000">
                <a:ea typeface="ＭＳ Ｐゴシック" panose="020B0600070205080204" pitchFamily="34" charset="-128"/>
              </a:rPr>
              <a:t>Security of DES</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Foliennummernplatzhalter 4">
            <a:extLst>
              <a:ext uri="{FF2B5EF4-FFF2-40B4-BE49-F238E27FC236}">
                <a16:creationId xmlns:a16="http://schemas.microsoft.com/office/drawing/2014/main" id="{9791A757-507E-80DB-5F13-AB03FD68AFF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46904742-CFEE-874F-A2D3-0F5916B68F92}" type="slidenum">
              <a:rPr lang="de-DE" altLang="zh-CN" sz="900">
                <a:solidFill>
                  <a:srgbClr val="394073"/>
                </a:solidFill>
              </a:rPr>
              <a:pPr/>
              <a:t>13</a:t>
            </a:fld>
            <a:r>
              <a:rPr lang="de-DE" altLang="zh-CN" sz="900">
                <a:solidFill>
                  <a:srgbClr val="394073"/>
                </a:solidFill>
              </a:rPr>
              <a:t>/29</a:t>
            </a:r>
          </a:p>
        </p:txBody>
      </p:sp>
      <p:sp>
        <p:nvSpPr>
          <p:cNvPr id="37891" name="Rectangle 4">
            <a:extLst>
              <a:ext uri="{FF2B5EF4-FFF2-40B4-BE49-F238E27FC236}">
                <a16:creationId xmlns:a16="http://schemas.microsoft.com/office/drawing/2014/main" id="{B62C9F04-BC17-C150-FE6E-A693DC5A8BB9}"/>
              </a:ext>
            </a:extLst>
          </p:cNvPr>
          <p:cNvSpPr>
            <a:spLocks noGrp="1" noChangeArrowheads="1"/>
          </p:cNvSpPr>
          <p:nvPr>
            <p:ph type="title"/>
          </p:nvPr>
        </p:nvSpPr>
        <p:spPr/>
        <p:txBody>
          <a:bodyPr/>
          <a:lstStyle/>
          <a:p>
            <a:r>
              <a:rPr lang="de-DE" altLang="zh-CN">
                <a:ea typeface="ＭＳ Ｐゴシック" panose="020B0600070205080204" pitchFamily="34" charset="-128"/>
              </a:rPr>
              <a:t>Overview of the DES Algorithm</a:t>
            </a:r>
          </a:p>
        </p:txBody>
      </p:sp>
      <p:sp>
        <p:nvSpPr>
          <p:cNvPr id="37892" name="Rectangle 5">
            <a:extLst>
              <a:ext uri="{FF2B5EF4-FFF2-40B4-BE49-F238E27FC236}">
                <a16:creationId xmlns:a16="http://schemas.microsoft.com/office/drawing/2014/main" id="{60B63103-BED7-1623-3995-19433DFAF5B7}"/>
              </a:ext>
            </a:extLst>
          </p:cNvPr>
          <p:cNvSpPr>
            <a:spLocks noGrp="1" noChangeArrowheads="1"/>
          </p:cNvSpPr>
          <p:nvPr>
            <p:ph type="body" sz="half" idx="1"/>
          </p:nvPr>
        </p:nvSpPr>
        <p:spPr>
          <a:xfrm>
            <a:off x="323850" y="4365625"/>
            <a:ext cx="8424863" cy="1779588"/>
          </a:xfrm>
        </p:spPr>
        <p:txBody>
          <a:bodyPr/>
          <a:lstStyle/>
          <a:p>
            <a:r>
              <a:rPr lang="de-DE" altLang="zh-CN" b="1">
                <a:ea typeface="ＭＳ Ｐゴシック" panose="020B0600070205080204" pitchFamily="34" charset="-128"/>
              </a:rPr>
              <a:t>Encrypts blocks of size 64 bits.</a:t>
            </a:r>
          </a:p>
          <a:p>
            <a:r>
              <a:rPr lang="de-DE" altLang="zh-CN" b="1">
                <a:ea typeface="ＭＳ Ｐゴシック" panose="020B0600070205080204" pitchFamily="34" charset="-128"/>
              </a:rPr>
              <a:t>Uses a key of size 56 bits.</a:t>
            </a:r>
          </a:p>
          <a:p>
            <a:r>
              <a:rPr lang="de-DE" altLang="zh-CN">
                <a:ea typeface="ＭＳ Ｐゴシック" panose="020B0600070205080204" pitchFamily="34" charset="-128"/>
              </a:rPr>
              <a:t>Symmetric cipher: uses same key for encryption and decryption</a:t>
            </a:r>
          </a:p>
          <a:p>
            <a:r>
              <a:rPr lang="de-DE" altLang="zh-CN">
                <a:ea typeface="ＭＳ Ｐゴシック" panose="020B0600070205080204" pitchFamily="34" charset="-128"/>
              </a:rPr>
              <a:t>Uses 16 rounds which all perform the identical operation</a:t>
            </a:r>
          </a:p>
          <a:p>
            <a:r>
              <a:rPr lang="de-DE" altLang="zh-CN">
                <a:ea typeface="ＭＳ Ｐゴシック" panose="020B0600070205080204" pitchFamily="34" charset="-128"/>
              </a:rPr>
              <a:t>Different subkey in each round derived from main key</a:t>
            </a:r>
          </a:p>
        </p:txBody>
      </p:sp>
      <p:sp>
        <p:nvSpPr>
          <p:cNvPr id="37893" name="AutoShape 6">
            <a:extLst>
              <a:ext uri="{FF2B5EF4-FFF2-40B4-BE49-F238E27FC236}">
                <a16:creationId xmlns:a16="http://schemas.microsoft.com/office/drawing/2014/main" id="{79EA87A9-837E-F0F1-77C7-C2F09CCF267A}"/>
              </a:ext>
            </a:extLst>
          </p:cNvPr>
          <p:cNvSpPr>
            <a:spLocks noChangeArrowheads="1"/>
          </p:cNvSpPr>
          <p:nvPr/>
        </p:nvSpPr>
        <p:spPr bwMode="auto">
          <a:xfrm>
            <a:off x="2339975" y="3933825"/>
            <a:ext cx="1439863" cy="142875"/>
          </a:xfrm>
          <a:prstGeom prst="flowChartMagneticDrum">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pic>
        <p:nvPicPr>
          <p:cNvPr id="37894" name="Picture 41" descr="des_block">
            <a:extLst>
              <a:ext uri="{FF2B5EF4-FFF2-40B4-BE49-F238E27FC236}">
                <a16:creationId xmlns:a16="http://schemas.microsoft.com/office/drawing/2014/main" id="{E4F1005E-8A51-F6AD-19D5-66BEA70BC10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339975" y="1125538"/>
            <a:ext cx="2422525" cy="2592387"/>
          </a:xfrm>
          <a:noFill/>
        </p:spPr>
      </p:pic>
      <p:pic>
        <p:nvPicPr>
          <p:cNvPr id="37895" name="Picture 49" descr="des_princ">
            <a:extLst>
              <a:ext uri="{FF2B5EF4-FFF2-40B4-BE49-F238E27FC236}">
                <a16:creationId xmlns:a16="http://schemas.microsoft.com/office/drawing/2014/main" id="{6D3769DF-6A53-78EC-B156-82808B12AB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688" y="200025"/>
            <a:ext cx="2382837" cy="516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Line 51">
            <a:extLst>
              <a:ext uri="{FF2B5EF4-FFF2-40B4-BE49-F238E27FC236}">
                <a16:creationId xmlns:a16="http://schemas.microsoft.com/office/drawing/2014/main" id="{E13635CB-9B5F-E64F-D69E-D69E53189E23}"/>
              </a:ext>
            </a:extLst>
          </p:cNvPr>
          <p:cNvSpPr>
            <a:spLocks noChangeShapeType="1"/>
          </p:cNvSpPr>
          <p:nvPr/>
        </p:nvSpPr>
        <p:spPr bwMode="auto">
          <a:xfrm flipV="1">
            <a:off x="3995738" y="836613"/>
            <a:ext cx="2447925" cy="100806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7897" name="Line 52">
            <a:extLst>
              <a:ext uri="{FF2B5EF4-FFF2-40B4-BE49-F238E27FC236}">
                <a16:creationId xmlns:a16="http://schemas.microsoft.com/office/drawing/2014/main" id="{FB58AB7B-5212-F911-B02D-1CE619D63D9D}"/>
              </a:ext>
            </a:extLst>
          </p:cNvPr>
          <p:cNvSpPr>
            <a:spLocks noChangeShapeType="1"/>
          </p:cNvSpPr>
          <p:nvPr/>
        </p:nvSpPr>
        <p:spPr bwMode="auto">
          <a:xfrm>
            <a:off x="3924300" y="2924175"/>
            <a:ext cx="2519363" cy="18002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liennummernplatzhalter 5">
            <a:extLst>
              <a:ext uri="{FF2B5EF4-FFF2-40B4-BE49-F238E27FC236}">
                <a16:creationId xmlns:a16="http://schemas.microsoft.com/office/drawing/2014/main" id="{A4AD30B5-0CAD-74AB-8EA7-8C24D6D848E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932956F5-019A-2A4F-9CB6-98F19837C393}" type="slidenum">
              <a:rPr lang="de-DE" altLang="zh-CN" sz="900">
                <a:solidFill>
                  <a:srgbClr val="394073"/>
                </a:solidFill>
              </a:rPr>
              <a:pPr/>
              <a:t>14</a:t>
            </a:fld>
            <a:r>
              <a:rPr lang="de-DE" altLang="zh-CN" sz="900">
                <a:solidFill>
                  <a:srgbClr val="394073"/>
                </a:solidFill>
              </a:rPr>
              <a:t>/29</a:t>
            </a:r>
          </a:p>
        </p:txBody>
      </p:sp>
      <p:sp>
        <p:nvSpPr>
          <p:cNvPr id="39939" name="Rectangle 17">
            <a:extLst>
              <a:ext uri="{FF2B5EF4-FFF2-40B4-BE49-F238E27FC236}">
                <a16:creationId xmlns:a16="http://schemas.microsoft.com/office/drawing/2014/main" id="{05898AA7-CCC2-6804-D7C8-31D28BF415B5}"/>
              </a:ext>
            </a:extLst>
          </p:cNvPr>
          <p:cNvSpPr>
            <a:spLocks noChangeArrowheads="1"/>
          </p:cNvSpPr>
          <p:nvPr/>
        </p:nvSpPr>
        <p:spPr bwMode="auto">
          <a:xfrm>
            <a:off x="179388" y="4005263"/>
            <a:ext cx="8785225"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66700" indent="-266700">
              <a:defRPr sz="1400">
                <a:solidFill>
                  <a:schemeClr val="tx1"/>
                </a:solidFill>
                <a:latin typeface="Arial" panose="020B0604020202020204" pitchFamily="34" charset="0"/>
                <a:ea typeface="ＭＳ Ｐゴシック" panose="020B0600070205080204" pitchFamily="34" charset="-128"/>
              </a:defRPr>
            </a:lvl1pPr>
            <a:lvl2pPr marL="652463" indent="-26670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nSpc>
                <a:spcPct val="125000"/>
              </a:lnSpc>
              <a:spcBef>
                <a:spcPct val="25000"/>
              </a:spcBef>
              <a:buClr>
                <a:srgbClr val="007AC2"/>
              </a:buClr>
              <a:buSzPct val="120000"/>
              <a:buFontTx/>
              <a:buChar char="•"/>
            </a:pPr>
            <a:r>
              <a:rPr lang="de-DE" altLang="zh-CN" sz="1800"/>
              <a:t>Bitwise initial permutation, then 16 rounds</a:t>
            </a:r>
          </a:p>
          <a:p>
            <a:pPr lvl="1">
              <a:lnSpc>
                <a:spcPct val="125000"/>
              </a:lnSpc>
              <a:spcBef>
                <a:spcPct val="25000"/>
              </a:spcBef>
              <a:buClr>
                <a:srgbClr val="007AC2"/>
              </a:buClr>
              <a:buSzPct val="120000"/>
              <a:buFontTx/>
              <a:buAutoNum type="arabicPeriod"/>
            </a:pPr>
            <a:r>
              <a:rPr lang="de-DE" altLang="zh-CN" sz="1800"/>
              <a:t>Plaintext is split into 32-bit halves </a:t>
            </a:r>
            <a:r>
              <a:rPr lang="de-DE" altLang="zh-CN" sz="1800" i="1"/>
              <a:t>L</a:t>
            </a:r>
            <a:r>
              <a:rPr lang="de-DE" altLang="zh-CN" sz="1800" i="1" baseline="-25000"/>
              <a:t>i</a:t>
            </a:r>
            <a:r>
              <a:rPr lang="de-DE" altLang="zh-CN" sz="1800"/>
              <a:t> and </a:t>
            </a:r>
            <a:r>
              <a:rPr lang="de-DE" altLang="zh-CN" sz="1800" i="1"/>
              <a:t>R</a:t>
            </a:r>
            <a:r>
              <a:rPr lang="de-DE" altLang="zh-CN" sz="1800" i="1" baseline="-25000"/>
              <a:t>i</a:t>
            </a:r>
          </a:p>
          <a:p>
            <a:pPr lvl="1">
              <a:lnSpc>
                <a:spcPct val="125000"/>
              </a:lnSpc>
              <a:spcBef>
                <a:spcPct val="25000"/>
              </a:spcBef>
              <a:buClr>
                <a:srgbClr val="007AC2"/>
              </a:buClr>
              <a:buSzPct val="120000"/>
              <a:buFontTx/>
              <a:buAutoNum type="arabicPeriod"/>
            </a:pPr>
            <a:r>
              <a:rPr lang="de-DE" altLang="zh-CN" sz="1800" i="1"/>
              <a:t>R</a:t>
            </a:r>
            <a:r>
              <a:rPr lang="de-DE" altLang="zh-CN" sz="1800" i="1" baseline="-25000"/>
              <a:t>i</a:t>
            </a:r>
            <a:r>
              <a:rPr lang="de-DE" altLang="zh-CN" sz="1800"/>
              <a:t> is fed into the function </a:t>
            </a:r>
            <a:r>
              <a:rPr lang="de-DE" altLang="zh-CN" sz="1800" i="1"/>
              <a:t>f</a:t>
            </a:r>
            <a:r>
              <a:rPr lang="de-DE" altLang="zh-CN" sz="1800"/>
              <a:t>,</a:t>
            </a:r>
            <a:r>
              <a:rPr lang="de-DE" altLang="zh-CN" sz="1800" i="1"/>
              <a:t> </a:t>
            </a:r>
            <a:r>
              <a:rPr lang="de-DE" altLang="zh-CN" sz="1800"/>
              <a:t>the output of which is then XORed with </a:t>
            </a:r>
            <a:r>
              <a:rPr lang="de-DE" altLang="zh-CN" sz="1800" i="1"/>
              <a:t>L</a:t>
            </a:r>
            <a:r>
              <a:rPr lang="de-DE" altLang="zh-CN" sz="1800" i="1" baseline="-25000"/>
              <a:t>i</a:t>
            </a:r>
            <a:endParaRPr lang="de-DE" altLang="zh-CN" sz="1800" i="1"/>
          </a:p>
          <a:p>
            <a:pPr lvl="1">
              <a:lnSpc>
                <a:spcPct val="125000"/>
              </a:lnSpc>
              <a:spcBef>
                <a:spcPct val="25000"/>
              </a:spcBef>
              <a:buClr>
                <a:srgbClr val="007AC2"/>
              </a:buClr>
              <a:buSzPct val="120000"/>
              <a:buFontTx/>
              <a:buAutoNum type="arabicPeriod"/>
            </a:pPr>
            <a:r>
              <a:rPr lang="de-DE" altLang="zh-CN" sz="1800"/>
              <a:t>Left and right half are swapped</a:t>
            </a:r>
          </a:p>
          <a:p>
            <a:pPr>
              <a:lnSpc>
                <a:spcPct val="125000"/>
              </a:lnSpc>
              <a:spcBef>
                <a:spcPct val="25000"/>
              </a:spcBef>
              <a:buClr>
                <a:srgbClr val="007AC2"/>
              </a:buClr>
              <a:buSzPct val="120000"/>
              <a:buFontTx/>
              <a:buChar char="•"/>
            </a:pPr>
            <a:r>
              <a:rPr lang="de-DE" altLang="zh-CN" sz="1800"/>
              <a:t>Rounds can be expressed as:</a:t>
            </a:r>
          </a:p>
        </p:txBody>
      </p:sp>
      <p:pic>
        <p:nvPicPr>
          <p:cNvPr id="39940" name="Picture 13" descr="des_flow">
            <a:extLst>
              <a:ext uri="{FF2B5EF4-FFF2-40B4-BE49-F238E27FC236}">
                <a16:creationId xmlns:a16="http://schemas.microsoft.com/office/drawing/2014/main" id="{DD15197E-5D67-A88F-C2E3-AC2304EB976A}"/>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b="54919"/>
          <a:stretch>
            <a:fillRect/>
          </a:stretch>
        </p:blipFill>
        <p:spPr>
          <a:xfrm>
            <a:off x="3851275" y="333375"/>
            <a:ext cx="5113338" cy="3643313"/>
          </a:xfrm>
          <a:noFill/>
        </p:spPr>
      </p:pic>
      <p:sp>
        <p:nvSpPr>
          <p:cNvPr id="39941" name="Rectangle 2">
            <a:extLst>
              <a:ext uri="{FF2B5EF4-FFF2-40B4-BE49-F238E27FC236}">
                <a16:creationId xmlns:a16="http://schemas.microsoft.com/office/drawing/2014/main" id="{1FE5BDE8-51A4-33CB-C025-F34FEFF9C865}"/>
              </a:ext>
            </a:extLst>
          </p:cNvPr>
          <p:cNvSpPr>
            <a:spLocks noGrp="1" noChangeArrowheads="1"/>
          </p:cNvSpPr>
          <p:nvPr>
            <p:ph type="title"/>
          </p:nvPr>
        </p:nvSpPr>
        <p:spPr/>
        <p:txBody>
          <a:bodyPr/>
          <a:lstStyle/>
          <a:p>
            <a:r>
              <a:rPr lang="de-DE" altLang="zh-CN">
                <a:ea typeface="ＭＳ Ｐゴシック" panose="020B0600070205080204" pitchFamily="34" charset="-128"/>
              </a:rPr>
              <a:t>The DES Feistel Network (1)</a:t>
            </a:r>
          </a:p>
        </p:txBody>
      </p:sp>
      <p:sp>
        <p:nvSpPr>
          <p:cNvPr id="39942" name="Rectangle 3">
            <a:extLst>
              <a:ext uri="{FF2B5EF4-FFF2-40B4-BE49-F238E27FC236}">
                <a16:creationId xmlns:a16="http://schemas.microsoft.com/office/drawing/2014/main" id="{F81EB23B-B6DC-C1D4-3B33-40F344250F9D}"/>
              </a:ext>
            </a:extLst>
          </p:cNvPr>
          <p:cNvSpPr>
            <a:spLocks noGrp="1" noChangeArrowheads="1"/>
          </p:cNvSpPr>
          <p:nvPr>
            <p:ph type="body" sz="half" idx="1"/>
          </p:nvPr>
        </p:nvSpPr>
        <p:spPr>
          <a:xfrm>
            <a:off x="323850" y="1125538"/>
            <a:ext cx="4032250" cy="1439862"/>
          </a:xfrm>
        </p:spPr>
        <p:txBody>
          <a:bodyPr/>
          <a:lstStyle/>
          <a:p>
            <a:r>
              <a:rPr lang="de-DE" altLang="zh-CN" sz="1800">
                <a:ea typeface="ＭＳ Ｐゴシック" panose="020B0600070205080204" pitchFamily="34" charset="-128"/>
              </a:rPr>
              <a:t>DES structure is a </a:t>
            </a:r>
            <a:r>
              <a:rPr lang="de-DE" altLang="zh-CN" sz="1800" i="1">
                <a:ea typeface="ＭＳ Ｐゴシック" panose="020B0600070205080204" pitchFamily="34" charset="-128"/>
              </a:rPr>
              <a:t>Feistel network</a:t>
            </a:r>
            <a:br>
              <a:rPr lang="de-DE" altLang="zh-CN" sz="1800" i="1">
                <a:ea typeface="ＭＳ Ｐゴシック" panose="020B0600070205080204" pitchFamily="34" charset="-128"/>
              </a:rPr>
            </a:br>
            <a:endParaRPr lang="de-DE" altLang="zh-CN" sz="1800" i="1">
              <a:ea typeface="ＭＳ Ｐゴシック" panose="020B0600070205080204" pitchFamily="34" charset="-128"/>
            </a:endParaRPr>
          </a:p>
          <a:p>
            <a:r>
              <a:rPr lang="de-DE" altLang="zh-CN" sz="1800">
                <a:ea typeface="ＭＳ Ｐゴシック" panose="020B0600070205080204" pitchFamily="34" charset="-128"/>
              </a:rPr>
              <a:t>Advantage: encryption and decryption differ only in keyschedule</a:t>
            </a:r>
          </a:p>
        </p:txBody>
      </p:sp>
      <p:sp>
        <p:nvSpPr>
          <p:cNvPr id="39943" name="AutoShape 4">
            <a:extLst>
              <a:ext uri="{FF2B5EF4-FFF2-40B4-BE49-F238E27FC236}">
                <a16:creationId xmlns:a16="http://schemas.microsoft.com/office/drawing/2014/main" id="{73421C87-EDE2-A522-E1A0-C9C00B2D3B47}"/>
              </a:ext>
            </a:extLst>
          </p:cNvPr>
          <p:cNvSpPr>
            <a:spLocks noChangeArrowheads="1"/>
          </p:cNvSpPr>
          <p:nvPr/>
        </p:nvSpPr>
        <p:spPr bwMode="auto">
          <a:xfrm>
            <a:off x="2339975" y="3933825"/>
            <a:ext cx="1439863" cy="142875"/>
          </a:xfrm>
          <a:prstGeom prst="flowChartMagneticDrum">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pic>
        <p:nvPicPr>
          <p:cNvPr id="39944" name="Picture 14">
            <a:extLst>
              <a:ext uri="{FF2B5EF4-FFF2-40B4-BE49-F238E27FC236}">
                <a16:creationId xmlns:a16="http://schemas.microsoft.com/office/drawing/2014/main" id="{5B2004D4-232E-70A0-3F8F-3A398FD13DFB}"/>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067175" y="5661025"/>
            <a:ext cx="2563813" cy="814388"/>
          </a:xfrm>
          <a:noFill/>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Foliennummernplatzhalter 5">
            <a:extLst>
              <a:ext uri="{FF2B5EF4-FFF2-40B4-BE49-F238E27FC236}">
                <a16:creationId xmlns:a16="http://schemas.microsoft.com/office/drawing/2014/main" id="{580B1886-25D6-5160-DD4E-2FEDB288958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0BAEBBE-5B6C-4849-B4A1-34630FC863C0}" type="slidenum">
              <a:rPr lang="de-DE" altLang="zh-CN" sz="900">
                <a:solidFill>
                  <a:srgbClr val="394073"/>
                </a:solidFill>
              </a:rPr>
              <a:pPr/>
              <a:t>15</a:t>
            </a:fld>
            <a:r>
              <a:rPr lang="de-DE" altLang="zh-CN" sz="900">
                <a:solidFill>
                  <a:srgbClr val="394073"/>
                </a:solidFill>
              </a:rPr>
              <a:t>/29</a:t>
            </a:r>
          </a:p>
        </p:txBody>
      </p:sp>
      <p:pic>
        <p:nvPicPr>
          <p:cNvPr id="41987" name="Picture 3" descr="des_flow">
            <a:extLst>
              <a:ext uri="{FF2B5EF4-FFF2-40B4-BE49-F238E27FC236}">
                <a16:creationId xmlns:a16="http://schemas.microsoft.com/office/drawing/2014/main" id="{5D340232-A93A-A0EA-F636-B822C666E19D}"/>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t="49005"/>
          <a:stretch>
            <a:fillRect/>
          </a:stretch>
        </p:blipFill>
        <p:spPr>
          <a:xfrm>
            <a:off x="1043608" y="1789517"/>
            <a:ext cx="6192688" cy="4889166"/>
          </a:xfrm>
          <a:noFill/>
        </p:spPr>
      </p:pic>
      <p:sp>
        <p:nvSpPr>
          <p:cNvPr id="41988" name="Rectangle 4">
            <a:extLst>
              <a:ext uri="{FF2B5EF4-FFF2-40B4-BE49-F238E27FC236}">
                <a16:creationId xmlns:a16="http://schemas.microsoft.com/office/drawing/2014/main" id="{54665F79-1121-7097-A4C5-2439BAF5612E}"/>
              </a:ext>
            </a:extLst>
          </p:cNvPr>
          <p:cNvSpPr>
            <a:spLocks noGrp="1" noChangeArrowheads="1"/>
          </p:cNvSpPr>
          <p:nvPr>
            <p:ph type="title"/>
          </p:nvPr>
        </p:nvSpPr>
        <p:spPr/>
        <p:txBody>
          <a:bodyPr/>
          <a:lstStyle/>
          <a:p>
            <a:r>
              <a:rPr lang="de-DE" altLang="zh-CN">
                <a:ea typeface="ＭＳ Ｐゴシック" panose="020B0600070205080204" pitchFamily="34" charset="-128"/>
              </a:rPr>
              <a:t>The DES Feistel Network (2)</a:t>
            </a:r>
          </a:p>
        </p:txBody>
      </p:sp>
      <p:sp>
        <p:nvSpPr>
          <p:cNvPr id="41989" name="Rectangle 5">
            <a:extLst>
              <a:ext uri="{FF2B5EF4-FFF2-40B4-BE49-F238E27FC236}">
                <a16:creationId xmlns:a16="http://schemas.microsoft.com/office/drawing/2014/main" id="{D6999647-D925-C5DC-0354-31FDBA495532}"/>
              </a:ext>
            </a:extLst>
          </p:cNvPr>
          <p:cNvSpPr>
            <a:spLocks noGrp="1" noChangeArrowheads="1"/>
          </p:cNvSpPr>
          <p:nvPr>
            <p:ph type="body" sz="half" idx="1"/>
          </p:nvPr>
        </p:nvSpPr>
        <p:spPr>
          <a:xfrm>
            <a:off x="611188" y="981075"/>
            <a:ext cx="7561262" cy="685800"/>
          </a:xfrm>
        </p:spPr>
        <p:txBody>
          <a:bodyPr/>
          <a:lstStyle/>
          <a:p>
            <a:r>
              <a:rPr lang="de-DE" altLang="zh-CN" sz="1800">
                <a:ea typeface="ＭＳ Ｐゴシック" panose="020B0600070205080204" pitchFamily="34" charset="-128"/>
              </a:rPr>
              <a:t>L and R swapped again at the end of the cipher, i.e., after round 16</a:t>
            </a:r>
            <a:r>
              <a:rPr lang="de-DE" altLang="zh-CN" sz="1800" i="1">
                <a:ea typeface="ＭＳ Ｐゴシック" panose="020B0600070205080204" pitchFamily="34" charset="-128"/>
              </a:rPr>
              <a:t> </a:t>
            </a:r>
            <a:r>
              <a:rPr lang="de-DE" altLang="zh-CN" sz="1800">
                <a:ea typeface="ＭＳ Ｐゴシック" panose="020B0600070205080204" pitchFamily="34" charset="-128"/>
              </a:rPr>
              <a:t>followed by a final permutation</a:t>
            </a:r>
          </a:p>
        </p:txBody>
      </p:sp>
      <p:sp>
        <p:nvSpPr>
          <p:cNvPr id="41990" name="AutoShape 6">
            <a:extLst>
              <a:ext uri="{FF2B5EF4-FFF2-40B4-BE49-F238E27FC236}">
                <a16:creationId xmlns:a16="http://schemas.microsoft.com/office/drawing/2014/main" id="{D452AB54-CD07-C5FE-7E1C-8E4ECC28D1C9}"/>
              </a:ext>
            </a:extLst>
          </p:cNvPr>
          <p:cNvSpPr>
            <a:spLocks noChangeArrowheads="1"/>
          </p:cNvSpPr>
          <p:nvPr/>
        </p:nvSpPr>
        <p:spPr bwMode="auto">
          <a:xfrm>
            <a:off x="2339975" y="3933825"/>
            <a:ext cx="1439863" cy="142875"/>
          </a:xfrm>
          <a:prstGeom prst="flowChartMagneticDrum">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sz="180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liennummernplatzhalter 3">
            <a:extLst>
              <a:ext uri="{FF2B5EF4-FFF2-40B4-BE49-F238E27FC236}">
                <a16:creationId xmlns:a16="http://schemas.microsoft.com/office/drawing/2014/main" id="{646F3EFA-C27C-57F4-9B08-E7B873B57AA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F9944BC6-BA3A-2143-BCF6-5B6F250B889B}" type="slidenum">
              <a:rPr lang="de-DE" altLang="zh-CN" sz="900">
                <a:solidFill>
                  <a:srgbClr val="394073"/>
                </a:solidFill>
              </a:rPr>
              <a:pPr/>
              <a:t>16</a:t>
            </a:fld>
            <a:r>
              <a:rPr lang="de-DE" altLang="zh-CN" sz="900">
                <a:solidFill>
                  <a:srgbClr val="394073"/>
                </a:solidFill>
              </a:rPr>
              <a:t>/29</a:t>
            </a:r>
          </a:p>
        </p:txBody>
      </p:sp>
      <p:sp>
        <p:nvSpPr>
          <p:cNvPr id="44035" name="Rectangle 2">
            <a:extLst>
              <a:ext uri="{FF2B5EF4-FFF2-40B4-BE49-F238E27FC236}">
                <a16:creationId xmlns:a16="http://schemas.microsoft.com/office/drawing/2014/main" id="{E35DB859-EE3D-083D-88D3-221781BDC2BF}"/>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ea typeface="ＭＳ Ｐゴシック" panose="020B0600070205080204" pitchFamily="34" charset="-128"/>
              </a:rPr>
              <a:t>Content of this Chapter</a:t>
            </a:r>
          </a:p>
        </p:txBody>
      </p:sp>
      <p:sp>
        <p:nvSpPr>
          <p:cNvPr id="44036" name="Rectangle 3">
            <a:extLst>
              <a:ext uri="{FF2B5EF4-FFF2-40B4-BE49-F238E27FC236}">
                <a16:creationId xmlns:a16="http://schemas.microsoft.com/office/drawing/2014/main" id="{61790184-B99D-6C30-E962-27379246D9EE}"/>
              </a:ext>
            </a:extLst>
          </p:cNvPr>
          <p:cNvSpPr>
            <a:spLocks noGrp="1" noChangeArrowheads="1"/>
          </p:cNvSpPr>
          <p:nvPr>
            <p:ph type="body" idx="1"/>
          </p:nvPr>
        </p:nvSpPr>
        <p:spPr>
          <a:xfrm>
            <a:off x="539750" y="1844675"/>
            <a:ext cx="7394575" cy="2209800"/>
          </a:xfrm>
          <a:noFill/>
        </p:spPr>
        <p:txBody>
          <a:bodyPr/>
          <a:lstStyle/>
          <a:p>
            <a:pPr marL="342900" indent="-342900"/>
            <a:r>
              <a:rPr lang="de-DE" altLang="zh-CN" sz="2000">
                <a:ea typeface="ＭＳ Ｐゴシック" panose="020B0600070205080204" pitchFamily="34" charset="-128"/>
              </a:rPr>
              <a:t>Introduction to DES</a:t>
            </a:r>
          </a:p>
          <a:p>
            <a:pPr marL="342900" indent="-342900"/>
            <a:r>
              <a:rPr lang="de-DE" altLang="zh-CN" sz="2000">
                <a:ea typeface="ＭＳ Ｐゴシック" panose="020B0600070205080204" pitchFamily="34" charset="-128"/>
              </a:rPr>
              <a:t>Overview of the DES Algorithm</a:t>
            </a:r>
          </a:p>
          <a:p>
            <a:pPr marL="342900" indent="-342900"/>
            <a:r>
              <a:rPr lang="de-DE" altLang="zh-CN" sz="2000" b="1">
                <a:ea typeface="ＭＳ Ｐゴシック" panose="020B0600070205080204" pitchFamily="34" charset="-128"/>
              </a:rPr>
              <a:t>Internal Structure of DES</a:t>
            </a:r>
          </a:p>
          <a:p>
            <a:pPr marL="342900" indent="-342900"/>
            <a:r>
              <a:rPr lang="de-DE" altLang="zh-CN" sz="2000">
                <a:ea typeface="ＭＳ Ｐゴシック" panose="020B0600070205080204" pitchFamily="34" charset="-128"/>
              </a:rPr>
              <a:t>Decryption</a:t>
            </a:r>
          </a:p>
          <a:p>
            <a:pPr marL="342900" indent="-342900"/>
            <a:r>
              <a:rPr lang="de-DE" altLang="zh-CN" sz="2000">
                <a:ea typeface="ＭＳ Ｐゴシック" panose="020B0600070205080204" pitchFamily="34" charset="-128"/>
              </a:rPr>
              <a:t>Security of DES</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liennummernplatzhalter 5">
            <a:extLst>
              <a:ext uri="{FF2B5EF4-FFF2-40B4-BE49-F238E27FC236}">
                <a16:creationId xmlns:a16="http://schemas.microsoft.com/office/drawing/2014/main" id="{40634DC5-D911-394C-344B-025C6B192E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4EA48D76-2AA2-A647-BBAE-162C42218150}" type="slidenum">
              <a:rPr lang="de-DE" altLang="zh-CN" sz="900">
                <a:solidFill>
                  <a:srgbClr val="394073"/>
                </a:solidFill>
              </a:rPr>
              <a:pPr/>
              <a:t>17</a:t>
            </a:fld>
            <a:r>
              <a:rPr lang="de-DE" altLang="zh-CN" sz="900">
                <a:solidFill>
                  <a:srgbClr val="394073"/>
                </a:solidFill>
              </a:rPr>
              <a:t>/29</a:t>
            </a:r>
          </a:p>
        </p:txBody>
      </p:sp>
      <p:sp>
        <p:nvSpPr>
          <p:cNvPr id="46083" name="Rectangle 2">
            <a:extLst>
              <a:ext uri="{FF2B5EF4-FFF2-40B4-BE49-F238E27FC236}">
                <a16:creationId xmlns:a16="http://schemas.microsoft.com/office/drawing/2014/main" id="{54C50C4A-D2C4-0358-D582-48BC442A783A}"/>
              </a:ext>
            </a:extLst>
          </p:cNvPr>
          <p:cNvSpPr>
            <a:spLocks noGrp="1" noChangeArrowheads="1"/>
          </p:cNvSpPr>
          <p:nvPr>
            <p:ph type="title"/>
          </p:nvPr>
        </p:nvSpPr>
        <p:spPr/>
        <p:txBody>
          <a:bodyPr/>
          <a:lstStyle/>
          <a:p>
            <a:r>
              <a:rPr lang="de-DE" altLang="zh-CN">
                <a:ea typeface="ＭＳ Ｐゴシック" panose="020B0600070205080204" pitchFamily="34" charset="-128"/>
              </a:rPr>
              <a:t>Initial and Final Permutation</a:t>
            </a:r>
          </a:p>
        </p:txBody>
      </p:sp>
      <p:sp>
        <p:nvSpPr>
          <p:cNvPr id="46084" name="Rectangle 7">
            <a:extLst>
              <a:ext uri="{FF2B5EF4-FFF2-40B4-BE49-F238E27FC236}">
                <a16:creationId xmlns:a16="http://schemas.microsoft.com/office/drawing/2014/main" id="{4AC961AF-3ABD-3308-F67D-F2B219F13E6B}"/>
              </a:ext>
            </a:extLst>
          </p:cNvPr>
          <p:cNvSpPr>
            <a:spLocks noGrp="1" noChangeArrowheads="1"/>
          </p:cNvSpPr>
          <p:nvPr>
            <p:ph type="body" sz="half" idx="1"/>
          </p:nvPr>
        </p:nvSpPr>
        <p:spPr>
          <a:xfrm>
            <a:off x="2916238" y="908050"/>
            <a:ext cx="3382962" cy="1042988"/>
          </a:xfrm>
        </p:spPr>
        <p:txBody>
          <a:bodyPr/>
          <a:lstStyle/>
          <a:p>
            <a:r>
              <a:rPr lang="de-DE" altLang="zh-CN">
                <a:ea typeface="ＭＳ Ｐゴシック" panose="020B0600070205080204" pitchFamily="34" charset="-128"/>
              </a:rPr>
              <a:t>Bitwise Permutations.</a:t>
            </a:r>
          </a:p>
          <a:p>
            <a:r>
              <a:rPr lang="de-DE" altLang="zh-CN">
                <a:ea typeface="ＭＳ Ｐゴシック" panose="020B0600070205080204" pitchFamily="34" charset="-128"/>
              </a:rPr>
              <a:t>Inverse operations.</a:t>
            </a:r>
          </a:p>
          <a:p>
            <a:r>
              <a:rPr lang="de-DE" altLang="zh-CN">
                <a:ea typeface="ＭＳ Ｐゴシック" panose="020B0600070205080204" pitchFamily="34" charset="-128"/>
              </a:rPr>
              <a:t>Described by tables </a:t>
            </a:r>
            <a:r>
              <a:rPr lang="de-DE" altLang="zh-CN" i="1">
                <a:ea typeface="ＭＳ Ｐゴシック" panose="020B0600070205080204" pitchFamily="34" charset="-128"/>
              </a:rPr>
              <a:t>IP</a:t>
            </a:r>
            <a:r>
              <a:rPr lang="de-DE" altLang="zh-CN">
                <a:ea typeface="ＭＳ Ｐゴシック" panose="020B0600070205080204" pitchFamily="34" charset="-128"/>
              </a:rPr>
              <a:t> and </a:t>
            </a:r>
            <a:r>
              <a:rPr lang="de-DE" altLang="zh-CN" i="1">
                <a:ea typeface="ＭＳ Ｐゴシック" panose="020B0600070205080204" pitchFamily="34" charset="-128"/>
              </a:rPr>
              <a:t>IP</a:t>
            </a:r>
            <a:r>
              <a:rPr lang="de-DE" altLang="zh-CN" i="1" baseline="30000">
                <a:ea typeface="ＭＳ Ｐゴシック" panose="020B0600070205080204" pitchFamily="34" charset="-128"/>
              </a:rPr>
              <a:t>-1</a:t>
            </a:r>
            <a:r>
              <a:rPr lang="de-DE" altLang="zh-CN">
                <a:ea typeface="ＭＳ Ｐゴシック" panose="020B0600070205080204" pitchFamily="34" charset="-128"/>
              </a:rPr>
              <a:t>.</a:t>
            </a:r>
          </a:p>
        </p:txBody>
      </p:sp>
      <p:pic>
        <p:nvPicPr>
          <p:cNvPr id="46085" name="Picture 9" descr="ip">
            <a:extLst>
              <a:ext uri="{FF2B5EF4-FFF2-40B4-BE49-F238E27FC236}">
                <a16:creationId xmlns:a16="http://schemas.microsoft.com/office/drawing/2014/main" id="{63BE7708-D390-3EB3-AF58-B8682AC913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9800" y="4868863"/>
            <a:ext cx="3325813" cy="136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6" name="Text Box 10">
            <a:extLst>
              <a:ext uri="{FF2B5EF4-FFF2-40B4-BE49-F238E27FC236}">
                <a16:creationId xmlns:a16="http://schemas.microsoft.com/office/drawing/2014/main" id="{7AF806B9-F101-4FEE-62B2-29A44A97FA49}"/>
              </a:ext>
            </a:extLst>
          </p:cNvPr>
          <p:cNvSpPr txBox="1">
            <a:spLocks noChangeArrowheads="1"/>
          </p:cNvSpPr>
          <p:nvPr/>
        </p:nvSpPr>
        <p:spPr bwMode="auto">
          <a:xfrm>
            <a:off x="1763713" y="2211388"/>
            <a:ext cx="1828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de-DE" altLang="zh-CN" sz="1800"/>
              <a:t>Initial Permutation</a:t>
            </a:r>
          </a:p>
        </p:txBody>
      </p:sp>
      <p:sp>
        <p:nvSpPr>
          <p:cNvPr id="46087" name="Text Box 11">
            <a:extLst>
              <a:ext uri="{FF2B5EF4-FFF2-40B4-BE49-F238E27FC236}">
                <a16:creationId xmlns:a16="http://schemas.microsoft.com/office/drawing/2014/main" id="{FC6A35EB-AF05-3957-C62E-0A36502424AC}"/>
              </a:ext>
            </a:extLst>
          </p:cNvPr>
          <p:cNvSpPr txBox="1">
            <a:spLocks noChangeArrowheads="1"/>
          </p:cNvSpPr>
          <p:nvPr/>
        </p:nvSpPr>
        <p:spPr bwMode="auto">
          <a:xfrm>
            <a:off x="5219700" y="2211388"/>
            <a:ext cx="17907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de-DE" altLang="zh-CN" sz="1800"/>
              <a:t>Final Permutation</a:t>
            </a:r>
          </a:p>
        </p:txBody>
      </p:sp>
      <p:pic>
        <p:nvPicPr>
          <p:cNvPr id="46088" name="Picture 8" descr="fp">
            <a:extLst>
              <a:ext uri="{FF2B5EF4-FFF2-40B4-BE49-F238E27FC236}">
                <a16:creationId xmlns:a16="http://schemas.microsoft.com/office/drawing/2014/main" id="{90357F77-3A44-2DC8-E94D-5054086629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9825" y="4868863"/>
            <a:ext cx="3119438"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9" name="Picture 23">
            <a:extLst>
              <a:ext uri="{FF2B5EF4-FFF2-40B4-BE49-F238E27FC236}">
                <a16:creationId xmlns:a16="http://schemas.microsoft.com/office/drawing/2014/main" id="{68803F33-DCC9-400D-323B-3CEDC25CE28B}"/>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1763713" y="2714625"/>
            <a:ext cx="5256212" cy="1866900"/>
          </a:xfrm>
          <a:noFill/>
        </p:spPr>
      </p:pic>
      <p:sp>
        <p:nvSpPr>
          <p:cNvPr id="46090" name="Line 26">
            <a:extLst>
              <a:ext uri="{FF2B5EF4-FFF2-40B4-BE49-F238E27FC236}">
                <a16:creationId xmlns:a16="http://schemas.microsoft.com/office/drawing/2014/main" id="{287F8F63-CFC4-9FB4-8AFC-89B4350C8119}"/>
              </a:ext>
            </a:extLst>
          </p:cNvPr>
          <p:cNvSpPr>
            <a:spLocks noChangeShapeType="1"/>
          </p:cNvSpPr>
          <p:nvPr/>
        </p:nvSpPr>
        <p:spPr bwMode="auto">
          <a:xfrm>
            <a:off x="4500563" y="2060575"/>
            <a:ext cx="0" cy="43211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liennummernplatzhalter 4">
            <a:extLst>
              <a:ext uri="{FF2B5EF4-FFF2-40B4-BE49-F238E27FC236}">
                <a16:creationId xmlns:a16="http://schemas.microsoft.com/office/drawing/2014/main" id="{ABE666DA-3518-AA14-C7CE-66362FBF7DC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A162F3C3-728E-024E-BA04-81ECA94422AD}" type="slidenum">
              <a:rPr lang="de-DE" altLang="zh-CN" sz="900">
                <a:solidFill>
                  <a:srgbClr val="394073"/>
                </a:solidFill>
              </a:rPr>
              <a:pPr/>
              <a:t>18</a:t>
            </a:fld>
            <a:r>
              <a:rPr lang="de-DE" altLang="zh-CN" sz="900">
                <a:solidFill>
                  <a:srgbClr val="394073"/>
                </a:solidFill>
              </a:rPr>
              <a:t>/29</a:t>
            </a:r>
          </a:p>
        </p:txBody>
      </p:sp>
      <p:sp>
        <p:nvSpPr>
          <p:cNvPr id="48131" name="Rectangle 2">
            <a:extLst>
              <a:ext uri="{FF2B5EF4-FFF2-40B4-BE49-F238E27FC236}">
                <a16:creationId xmlns:a16="http://schemas.microsoft.com/office/drawing/2014/main" id="{D4C4FBD4-1B7E-D7AE-94BE-C28BE9620B6C}"/>
              </a:ext>
            </a:extLst>
          </p:cNvPr>
          <p:cNvSpPr>
            <a:spLocks noGrp="1" noChangeArrowheads="1"/>
          </p:cNvSpPr>
          <p:nvPr>
            <p:ph type="title"/>
          </p:nvPr>
        </p:nvSpPr>
        <p:spPr/>
        <p:txBody>
          <a:bodyPr/>
          <a:lstStyle/>
          <a:p>
            <a:r>
              <a:rPr lang="de-DE" altLang="zh-CN">
                <a:ea typeface="ＭＳ Ｐゴシック" panose="020B0600070205080204" pitchFamily="34" charset="-128"/>
              </a:rPr>
              <a:t>The f-Function</a:t>
            </a:r>
          </a:p>
        </p:txBody>
      </p:sp>
      <p:sp>
        <p:nvSpPr>
          <p:cNvPr id="48132" name="Rectangle 3">
            <a:extLst>
              <a:ext uri="{FF2B5EF4-FFF2-40B4-BE49-F238E27FC236}">
                <a16:creationId xmlns:a16="http://schemas.microsoft.com/office/drawing/2014/main" id="{B8169248-B13B-9304-20B2-E3A96E5CFEB6}"/>
              </a:ext>
            </a:extLst>
          </p:cNvPr>
          <p:cNvSpPr>
            <a:spLocks noGrp="1" noChangeArrowheads="1"/>
          </p:cNvSpPr>
          <p:nvPr>
            <p:ph type="body" sz="half" idx="1"/>
          </p:nvPr>
        </p:nvSpPr>
        <p:spPr>
          <a:xfrm>
            <a:off x="755650" y="1052513"/>
            <a:ext cx="4968875" cy="3313112"/>
          </a:xfrm>
        </p:spPr>
        <p:txBody>
          <a:bodyPr/>
          <a:lstStyle/>
          <a:p>
            <a:pPr marL="266700" indent="-266700"/>
            <a:r>
              <a:rPr lang="de-DE" altLang="zh-CN" sz="1800" b="1">
                <a:ea typeface="ＭＳ Ｐゴシック" panose="020B0600070205080204" pitchFamily="34" charset="-128"/>
              </a:rPr>
              <a:t>main operation of DES</a:t>
            </a:r>
          </a:p>
          <a:p>
            <a:pPr marL="266700" indent="-266700"/>
            <a:r>
              <a:rPr lang="de-DE" altLang="zh-CN" sz="1800" i="1">
                <a:ea typeface="ＭＳ Ｐゴシック" panose="020B0600070205080204" pitchFamily="34" charset="-128"/>
              </a:rPr>
              <a:t>f</a:t>
            </a:r>
            <a:r>
              <a:rPr lang="de-DE" altLang="zh-CN" sz="1800">
                <a:ea typeface="ＭＳ Ｐゴシック" panose="020B0600070205080204" pitchFamily="34" charset="-128"/>
              </a:rPr>
              <a:t>-Function inputs: </a:t>
            </a:r>
            <a:br>
              <a:rPr lang="de-DE" altLang="zh-CN" sz="1800">
                <a:ea typeface="ＭＳ Ｐゴシック" panose="020B0600070205080204" pitchFamily="34" charset="-128"/>
              </a:rPr>
            </a:br>
            <a:r>
              <a:rPr lang="de-DE" altLang="zh-CN" sz="1800" i="1">
                <a:ea typeface="ＭＳ Ｐゴシック" panose="020B0600070205080204" pitchFamily="34" charset="-128"/>
              </a:rPr>
              <a:t>R</a:t>
            </a:r>
            <a:r>
              <a:rPr lang="de-DE" altLang="zh-CN" sz="1800" i="1" baseline="-25000">
                <a:ea typeface="ＭＳ Ｐゴシック" panose="020B0600070205080204" pitchFamily="34" charset="-128"/>
              </a:rPr>
              <a:t>i-1</a:t>
            </a:r>
            <a:r>
              <a:rPr lang="de-DE" altLang="zh-CN" sz="1800">
                <a:ea typeface="ＭＳ Ｐゴシック" panose="020B0600070205080204" pitchFamily="34" charset="-128"/>
              </a:rPr>
              <a:t> and round key </a:t>
            </a:r>
            <a:r>
              <a:rPr lang="de-DE" altLang="zh-CN" sz="1800" i="1">
                <a:ea typeface="ＭＳ Ｐゴシック" panose="020B0600070205080204" pitchFamily="34" charset="-128"/>
              </a:rPr>
              <a:t>k</a:t>
            </a:r>
            <a:r>
              <a:rPr lang="de-DE" altLang="zh-CN" sz="1800" i="1" baseline="-25000">
                <a:ea typeface="ＭＳ Ｐゴシック" panose="020B0600070205080204" pitchFamily="34" charset="-128"/>
              </a:rPr>
              <a:t>i</a:t>
            </a:r>
          </a:p>
          <a:p>
            <a:pPr marL="652463" lvl="1" indent="-266700"/>
            <a:endParaRPr lang="de-DE" altLang="zh-CN" sz="1000" i="1" baseline="-25000">
              <a:ea typeface="ＭＳ Ｐゴシック" panose="020B0600070205080204" pitchFamily="34" charset="-128"/>
            </a:endParaRPr>
          </a:p>
          <a:p>
            <a:pPr marL="266700" indent="-266700"/>
            <a:r>
              <a:rPr lang="de-DE" altLang="zh-CN" sz="1800" b="1">
                <a:ea typeface="ＭＳ Ｐゴシック" panose="020B0600070205080204" pitchFamily="34" charset="-128"/>
              </a:rPr>
              <a:t>4 Steps</a:t>
            </a:r>
            <a:r>
              <a:rPr lang="de-DE" altLang="zh-CN" sz="1800">
                <a:ea typeface="ＭＳ Ｐゴシック" panose="020B0600070205080204" pitchFamily="34" charset="-128"/>
              </a:rPr>
              <a:t>:</a:t>
            </a:r>
          </a:p>
          <a:p>
            <a:pPr marL="652463" lvl="1" indent="-266700">
              <a:buFontTx/>
              <a:buAutoNum type="arabicPeriod"/>
            </a:pPr>
            <a:r>
              <a:rPr lang="de-DE" altLang="zh-CN" sz="1800">
                <a:ea typeface="ＭＳ Ｐゴシック" panose="020B0600070205080204" pitchFamily="34" charset="-128"/>
              </a:rPr>
              <a:t>Expansion </a:t>
            </a:r>
            <a:r>
              <a:rPr lang="de-DE" altLang="zh-CN" sz="1800" i="1">
                <a:ea typeface="ＭＳ Ｐゴシック" panose="020B0600070205080204" pitchFamily="34" charset="-128"/>
              </a:rPr>
              <a:t>E</a:t>
            </a:r>
          </a:p>
          <a:p>
            <a:pPr marL="652463" lvl="1" indent="-266700">
              <a:buFontTx/>
              <a:buAutoNum type="arabicPeriod"/>
            </a:pPr>
            <a:r>
              <a:rPr lang="de-DE" altLang="zh-CN" sz="1800">
                <a:ea typeface="ＭＳ Ｐゴシック" panose="020B0600070205080204" pitchFamily="34" charset="-128"/>
              </a:rPr>
              <a:t>XOR with round key</a:t>
            </a:r>
          </a:p>
          <a:p>
            <a:pPr marL="652463" lvl="1" indent="-266700">
              <a:buFontTx/>
              <a:buAutoNum type="arabicPeriod"/>
            </a:pPr>
            <a:r>
              <a:rPr lang="de-DE" altLang="zh-CN" sz="1800">
                <a:ea typeface="ＭＳ Ｐゴシック" panose="020B0600070205080204" pitchFamily="34" charset="-128"/>
              </a:rPr>
              <a:t>S-box substitution</a:t>
            </a:r>
          </a:p>
          <a:p>
            <a:pPr marL="652463" lvl="1" indent="-266700">
              <a:buFontTx/>
              <a:buAutoNum type="arabicPeriod"/>
            </a:pPr>
            <a:r>
              <a:rPr lang="de-DE" altLang="zh-CN" sz="1800">
                <a:ea typeface="ＭＳ Ｐゴシック" panose="020B0600070205080204" pitchFamily="34" charset="-128"/>
              </a:rPr>
              <a:t>Permutation</a:t>
            </a:r>
          </a:p>
        </p:txBody>
      </p:sp>
      <p:pic>
        <p:nvPicPr>
          <p:cNvPr id="48133" name="Picture 6" descr="core">
            <a:extLst>
              <a:ext uri="{FF2B5EF4-FFF2-40B4-BE49-F238E27FC236}">
                <a16:creationId xmlns:a16="http://schemas.microsoft.com/office/drawing/2014/main" id="{0B065D45-A64D-202D-2ADC-CBBE31DC174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003800" y="765175"/>
            <a:ext cx="3508375" cy="5106988"/>
          </a:xfrm>
          <a:noFill/>
        </p:spPr>
      </p:pic>
      <p:sp>
        <p:nvSpPr>
          <p:cNvPr id="48134" name="Line 8">
            <a:extLst>
              <a:ext uri="{FF2B5EF4-FFF2-40B4-BE49-F238E27FC236}">
                <a16:creationId xmlns:a16="http://schemas.microsoft.com/office/drawing/2014/main" id="{A7E60033-C03F-C8B2-E344-332F4E142EE5}"/>
              </a:ext>
            </a:extLst>
          </p:cNvPr>
          <p:cNvSpPr>
            <a:spLocks noChangeShapeType="1"/>
          </p:cNvSpPr>
          <p:nvPr/>
        </p:nvSpPr>
        <p:spPr bwMode="auto">
          <a:xfrm flipV="1">
            <a:off x="2987675" y="1773238"/>
            <a:ext cx="3024188" cy="1079500"/>
          </a:xfrm>
          <a:prstGeom prst="line">
            <a:avLst/>
          </a:prstGeom>
          <a:noFill/>
          <a:ln w="38100">
            <a:solidFill>
              <a:srgbClr val="007AC2"/>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48135" name="Line 9">
            <a:extLst>
              <a:ext uri="{FF2B5EF4-FFF2-40B4-BE49-F238E27FC236}">
                <a16:creationId xmlns:a16="http://schemas.microsoft.com/office/drawing/2014/main" id="{C99DC5C4-727D-4179-49E6-4E5A30826E5F}"/>
              </a:ext>
            </a:extLst>
          </p:cNvPr>
          <p:cNvSpPr>
            <a:spLocks noChangeShapeType="1"/>
          </p:cNvSpPr>
          <p:nvPr/>
        </p:nvSpPr>
        <p:spPr bwMode="auto">
          <a:xfrm flipV="1">
            <a:off x="3779838" y="2781300"/>
            <a:ext cx="2520950" cy="503238"/>
          </a:xfrm>
          <a:prstGeom prst="line">
            <a:avLst/>
          </a:prstGeom>
          <a:noFill/>
          <a:ln w="38100">
            <a:solidFill>
              <a:srgbClr val="007AC2"/>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48136" name="Line 10">
            <a:extLst>
              <a:ext uri="{FF2B5EF4-FFF2-40B4-BE49-F238E27FC236}">
                <a16:creationId xmlns:a16="http://schemas.microsoft.com/office/drawing/2014/main" id="{ED9D4EAD-B5B9-B91D-6E06-246FBC084E5F}"/>
              </a:ext>
            </a:extLst>
          </p:cNvPr>
          <p:cNvSpPr>
            <a:spLocks noChangeShapeType="1"/>
          </p:cNvSpPr>
          <p:nvPr/>
        </p:nvSpPr>
        <p:spPr bwMode="auto">
          <a:xfrm>
            <a:off x="3708400" y="3789363"/>
            <a:ext cx="1079500" cy="71437"/>
          </a:xfrm>
          <a:prstGeom prst="line">
            <a:avLst/>
          </a:prstGeom>
          <a:noFill/>
          <a:ln w="38100">
            <a:solidFill>
              <a:srgbClr val="007AC2"/>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48137" name="Line 11">
            <a:extLst>
              <a:ext uri="{FF2B5EF4-FFF2-40B4-BE49-F238E27FC236}">
                <a16:creationId xmlns:a16="http://schemas.microsoft.com/office/drawing/2014/main" id="{A26FA12F-16E7-520C-6B1E-22FAADBB8801}"/>
              </a:ext>
            </a:extLst>
          </p:cNvPr>
          <p:cNvSpPr>
            <a:spLocks noChangeShapeType="1"/>
          </p:cNvSpPr>
          <p:nvPr/>
        </p:nvSpPr>
        <p:spPr bwMode="auto">
          <a:xfrm>
            <a:off x="3059113" y="4365625"/>
            <a:ext cx="2808287" cy="792163"/>
          </a:xfrm>
          <a:prstGeom prst="line">
            <a:avLst/>
          </a:prstGeom>
          <a:noFill/>
          <a:ln w="38100">
            <a:solidFill>
              <a:srgbClr val="007AC2"/>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liennummernplatzhalter 4">
            <a:extLst>
              <a:ext uri="{FF2B5EF4-FFF2-40B4-BE49-F238E27FC236}">
                <a16:creationId xmlns:a16="http://schemas.microsoft.com/office/drawing/2014/main" id="{AD1E6347-9BE9-1C30-04F4-4D9FCCDFC46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603D253-BE23-C944-BFD1-3E27E0E8DA62}" type="slidenum">
              <a:rPr lang="de-DE" altLang="zh-CN" sz="900">
                <a:solidFill>
                  <a:srgbClr val="394073"/>
                </a:solidFill>
              </a:rPr>
              <a:pPr/>
              <a:t>19</a:t>
            </a:fld>
            <a:r>
              <a:rPr lang="de-DE" altLang="zh-CN" sz="900">
                <a:solidFill>
                  <a:srgbClr val="394073"/>
                </a:solidFill>
              </a:rPr>
              <a:t>/29</a:t>
            </a:r>
          </a:p>
        </p:txBody>
      </p:sp>
      <p:sp>
        <p:nvSpPr>
          <p:cNvPr id="50179" name="Rectangle 2">
            <a:extLst>
              <a:ext uri="{FF2B5EF4-FFF2-40B4-BE49-F238E27FC236}">
                <a16:creationId xmlns:a16="http://schemas.microsoft.com/office/drawing/2014/main" id="{7BD2D486-5FB0-A2F1-DAA0-C1733D243CF4}"/>
              </a:ext>
            </a:extLst>
          </p:cNvPr>
          <p:cNvSpPr>
            <a:spLocks noGrp="1" noChangeArrowheads="1"/>
          </p:cNvSpPr>
          <p:nvPr>
            <p:ph type="title"/>
          </p:nvPr>
        </p:nvSpPr>
        <p:spPr/>
        <p:txBody>
          <a:bodyPr/>
          <a:lstStyle/>
          <a:p>
            <a:r>
              <a:rPr lang="de-DE" altLang="zh-CN">
                <a:ea typeface="ＭＳ Ｐゴシック" panose="020B0600070205080204" pitchFamily="34" charset="-128"/>
              </a:rPr>
              <a:t>The Expansion Function E</a:t>
            </a:r>
          </a:p>
        </p:txBody>
      </p:sp>
      <p:sp>
        <p:nvSpPr>
          <p:cNvPr id="50180" name="Rectangle 3">
            <a:extLst>
              <a:ext uri="{FF2B5EF4-FFF2-40B4-BE49-F238E27FC236}">
                <a16:creationId xmlns:a16="http://schemas.microsoft.com/office/drawing/2014/main" id="{EA67E112-DDF9-2E25-DEB9-3D49E38CD8F0}"/>
              </a:ext>
            </a:extLst>
          </p:cNvPr>
          <p:cNvSpPr>
            <a:spLocks noGrp="1" noChangeArrowheads="1"/>
          </p:cNvSpPr>
          <p:nvPr>
            <p:ph type="body" sz="half" idx="1"/>
          </p:nvPr>
        </p:nvSpPr>
        <p:spPr>
          <a:xfrm>
            <a:off x="468313" y="908050"/>
            <a:ext cx="3024187" cy="1096963"/>
          </a:xfrm>
        </p:spPr>
        <p:txBody>
          <a:bodyPr/>
          <a:lstStyle/>
          <a:p>
            <a:pPr marL="652463" lvl="1" indent="-266700">
              <a:buFontTx/>
              <a:buAutoNum type="arabicPeriod"/>
            </a:pPr>
            <a:r>
              <a:rPr lang="de-DE" altLang="zh-CN" sz="1800" b="1">
                <a:ea typeface="ＭＳ Ｐゴシック" panose="020B0600070205080204" pitchFamily="34" charset="-128"/>
              </a:rPr>
              <a:t>Expansion </a:t>
            </a:r>
            <a:r>
              <a:rPr lang="de-DE" altLang="zh-CN" sz="1800" b="1" i="1">
                <a:ea typeface="ＭＳ Ｐゴシック" panose="020B0600070205080204" pitchFamily="34" charset="-128"/>
              </a:rPr>
              <a:t>E</a:t>
            </a:r>
          </a:p>
          <a:p>
            <a:pPr marL="652463" lvl="1" indent="-266700"/>
            <a:r>
              <a:rPr lang="de-DE" altLang="zh-CN" sz="1800" b="1">
                <a:ea typeface="ＭＳ Ｐゴシック" panose="020B0600070205080204" pitchFamily="34" charset="-128"/>
              </a:rPr>
              <a:t>main purpose: increases diffusion</a:t>
            </a:r>
          </a:p>
        </p:txBody>
      </p:sp>
      <p:pic>
        <p:nvPicPr>
          <p:cNvPr id="50181" name="Picture 4" descr="core">
            <a:extLst>
              <a:ext uri="{FF2B5EF4-FFF2-40B4-BE49-F238E27FC236}">
                <a16:creationId xmlns:a16="http://schemas.microsoft.com/office/drawing/2014/main" id="{F1F0FCEF-4DEC-29E3-D80F-74EF8916FC3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003800" y="765175"/>
            <a:ext cx="3508375" cy="5106988"/>
          </a:xfrm>
          <a:noFill/>
        </p:spPr>
      </p:pic>
      <p:sp>
        <p:nvSpPr>
          <p:cNvPr id="50182" name="Line 5">
            <a:extLst>
              <a:ext uri="{FF2B5EF4-FFF2-40B4-BE49-F238E27FC236}">
                <a16:creationId xmlns:a16="http://schemas.microsoft.com/office/drawing/2014/main" id="{B82807C7-A617-A87C-9395-BDFB01AC4647}"/>
              </a:ext>
            </a:extLst>
          </p:cNvPr>
          <p:cNvSpPr>
            <a:spLocks noChangeShapeType="1"/>
          </p:cNvSpPr>
          <p:nvPr/>
        </p:nvSpPr>
        <p:spPr bwMode="auto">
          <a:xfrm>
            <a:off x="2843213" y="1125538"/>
            <a:ext cx="3168650" cy="574675"/>
          </a:xfrm>
          <a:prstGeom prst="line">
            <a:avLst/>
          </a:prstGeom>
          <a:noFill/>
          <a:ln w="38100">
            <a:solidFill>
              <a:srgbClr val="007AC2"/>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pic>
        <p:nvPicPr>
          <p:cNvPr id="50183" name="Picture 11" descr="ep">
            <a:extLst>
              <a:ext uri="{FF2B5EF4-FFF2-40B4-BE49-F238E27FC236}">
                <a16:creationId xmlns:a16="http://schemas.microsoft.com/office/drawing/2014/main" id="{BBC2B9D5-942E-2D35-A15B-6B5FFA93D4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4797425"/>
            <a:ext cx="4367213"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Picture 15">
            <a:extLst>
              <a:ext uri="{FF2B5EF4-FFF2-40B4-BE49-F238E27FC236}">
                <a16:creationId xmlns:a16="http://schemas.microsoft.com/office/drawing/2014/main" id="{61D51CE6-91D7-A483-3471-19270A880C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2205038"/>
            <a:ext cx="167005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5" name="Line 16">
            <a:extLst>
              <a:ext uri="{FF2B5EF4-FFF2-40B4-BE49-F238E27FC236}">
                <a16:creationId xmlns:a16="http://schemas.microsoft.com/office/drawing/2014/main" id="{5EAEAE98-0203-443E-9E1F-B1E081BD6D8E}"/>
              </a:ext>
            </a:extLst>
          </p:cNvPr>
          <p:cNvSpPr>
            <a:spLocks noChangeShapeType="1"/>
          </p:cNvSpPr>
          <p:nvPr/>
        </p:nvSpPr>
        <p:spPr bwMode="auto">
          <a:xfrm flipH="1" flipV="1">
            <a:off x="7235825" y="1196975"/>
            <a:ext cx="504825" cy="71438"/>
          </a:xfrm>
          <a:prstGeom prst="line">
            <a:avLst/>
          </a:prstGeom>
          <a:noFill/>
          <a:ln w="38100">
            <a:solidFill>
              <a:srgbClr val="007AC2"/>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50186" name="Line 17">
            <a:extLst>
              <a:ext uri="{FF2B5EF4-FFF2-40B4-BE49-F238E27FC236}">
                <a16:creationId xmlns:a16="http://schemas.microsoft.com/office/drawing/2014/main" id="{69D227C3-6BDB-6D39-7D34-DC88EDED2071}"/>
              </a:ext>
            </a:extLst>
          </p:cNvPr>
          <p:cNvSpPr>
            <a:spLocks noChangeShapeType="1"/>
          </p:cNvSpPr>
          <p:nvPr/>
        </p:nvSpPr>
        <p:spPr bwMode="auto">
          <a:xfrm flipH="1">
            <a:off x="7164388" y="1916113"/>
            <a:ext cx="576262" cy="217487"/>
          </a:xfrm>
          <a:prstGeom prst="line">
            <a:avLst/>
          </a:prstGeom>
          <a:noFill/>
          <a:ln w="38100">
            <a:solidFill>
              <a:srgbClr val="007AC2"/>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50187" name="Text Box 18">
            <a:extLst>
              <a:ext uri="{FF2B5EF4-FFF2-40B4-BE49-F238E27FC236}">
                <a16:creationId xmlns:a16="http://schemas.microsoft.com/office/drawing/2014/main" id="{F19A55F3-1A50-7796-9F90-851F012CB39C}"/>
              </a:ext>
            </a:extLst>
          </p:cNvPr>
          <p:cNvSpPr txBox="1">
            <a:spLocks noChangeArrowheads="1"/>
          </p:cNvSpPr>
          <p:nvPr/>
        </p:nvSpPr>
        <p:spPr bwMode="auto">
          <a:xfrm>
            <a:off x="8101013" y="908050"/>
            <a:ext cx="338137"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de-DE" altLang="zh-CN" sz="9600">
                <a:solidFill>
                  <a:srgbClr val="007AC2"/>
                </a:solidFill>
              </a:rPr>
              <a:t>!</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liennummernplatzhalter 4">
            <a:extLst>
              <a:ext uri="{FF2B5EF4-FFF2-40B4-BE49-F238E27FC236}">
                <a16:creationId xmlns:a16="http://schemas.microsoft.com/office/drawing/2014/main" id="{376BC972-D18F-C8E9-54AA-94E5896288F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F380605-636F-D346-8551-B8EEB551B4D1}" type="slidenum">
              <a:rPr lang="de-DE" altLang="zh-CN" sz="900">
                <a:solidFill>
                  <a:srgbClr val="394073"/>
                </a:solidFill>
              </a:rPr>
              <a:pPr/>
              <a:t>20</a:t>
            </a:fld>
            <a:r>
              <a:rPr lang="de-DE" altLang="zh-CN" sz="900">
                <a:solidFill>
                  <a:srgbClr val="394073"/>
                </a:solidFill>
              </a:rPr>
              <a:t>/29</a:t>
            </a:r>
          </a:p>
        </p:txBody>
      </p:sp>
      <p:sp>
        <p:nvSpPr>
          <p:cNvPr id="52227" name="Rectangle 2">
            <a:extLst>
              <a:ext uri="{FF2B5EF4-FFF2-40B4-BE49-F238E27FC236}">
                <a16:creationId xmlns:a16="http://schemas.microsoft.com/office/drawing/2014/main" id="{221E14F4-7AE2-4143-65BC-3D37C6D44A38}"/>
              </a:ext>
            </a:extLst>
          </p:cNvPr>
          <p:cNvSpPr>
            <a:spLocks noGrp="1" noChangeArrowheads="1"/>
          </p:cNvSpPr>
          <p:nvPr>
            <p:ph type="title"/>
          </p:nvPr>
        </p:nvSpPr>
        <p:spPr/>
        <p:txBody>
          <a:bodyPr/>
          <a:lstStyle/>
          <a:p>
            <a:r>
              <a:rPr lang="de-DE" altLang="zh-CN">
                <a:ea typeface="ＭＳ Ｐゴシック" panose="020B0600070205080204" pitchFamily="34" charset="-128"/>
              </a:rPr>
              <a:t>Add Round Key</a:t>
            </a:r>
          </a:p>
        </p:txBody>
      </p:sp>
      <p:sp>
        <p:nvSpPr>
          <p:cNvPr id="52228" name="Rectangle 3">
            <a:extLst>
              <a:ext uri="{FF2B5EF4-FFF2-40B4-BE49-F238E27FC236}">
                <a16:creationId xmlns:a16="http://schemas.microsoft.com/office/drawing/2014/main" id="{687B5D0D-5C3B-B80F-3B65-EC9DD5AB92BB}"/>
              </a:ext>
            </a:extLst>
          </p:cNvPr>
          <p:cNvSpPr>
            <a:spLocks noGrp="1" noChangeArrowheads="1"/>
          </p:cNvSpPr>
          <p:nvPr>
            <p:ph type="body" sz="half" idx="1"/>
          </p:nvPr>
        </p:nvSpPr>
        <p:spPr>
          <a:xfrm>
            <a:off x="323850" y="1700213"/>
            <a:ext cx="4608513" cy="3359150"/>
          </a:xfrm>
        </p:spPr>
        <p:txBody>
          <a:bodyPr/>
          <a:lstStyle/>
          <a:p>
            <a:pPr marL="652463" lvl="1" indent="-266700">
              <a:buFontTx/>
              <a:buAutoNum type="arabicPeriod" startAt="2"/>
            </a:pPr>
            <a:r>
              <a:rPr lang="de-DE" altLang="zh-CN" sz="1800" b="1">
                <a:ea typeface="ＭＳ Ｐゴシック" panose="020B0600070205080204" pitchFamily="34" charset="-128"/>
              </a:rPr>
              <a:t>XOR Round Key</a:t>
            </a:r>
          </a:p>
          <a:p>
            <a:pPr marL="652463" lvl="1" indent="-266700">
              <a:buFontTx/>
              <a:buAutoNum type="arabicPeriod" startAt="2"/>
            </a:pPr>
            <a:endParaRPr lang="de-DE" altLang="zh-CN" sz="1800" b="1">
              <a:ea typeface="ＭＳ Ｐゴシック" panose="020B0600070205080204" pitchFamily="34" charset="-128"/>
            </a:endParaRPr>
          </a:p>
          <a:p>
            <a:pPr marL="652463" lvl="1" indent="-266700"/>
            <a:r>
              <a:rPr lang="de-DE" altLang="zh-CN" sz="1800" b="1">
                <a:ea typeface="ＭＳ Ｐゴシック" panose="020B0600070205080204" pitchFamily="34" charset="-128"/>
              </a:rPr>
              <a:t>Bitwise XOR of the round key and the output of the expansion function </a:t>
            </a:r>
            <a:r>
              <a:rPr lang="de-DE" altLang="zh-CN" sz="1800" b="1" i="1">
                <a:ea typeface="ＭＳ Ｐゴシック" panose="020B0600070205080204" pitchFamily="34" charset="-128"/>
              </a:rPr>
              <a:t>E</a:t>
            </a:r>
          </a:p>
          <a:p>
            <a:pPr marL="652463" lvl="1" indent="-266700"/>
            <a:endParaRPr lang="de-DE" altLang="zh-CN" sz="1800" b="1">
              <a:ea typeface="ＭＳ Ｐゴシック" panose="020B0600070205080204" pitchFamily="34" charset="-128"/>
            </a:endParaRPr>
          </a:p>
          <a:p>
            <a:pPr marL="652463" lvl="1" indent="-266700"/>
            <a:r>
              <a:rPr lang="de-DE" altLang="zh-CN" sz="1800" b="1">
                <a:ea typeface="ＭＳ Ｐゴシック" panose="020B0600070205080204" pitchFamily="34" charset="-128"/>
              </a:rPr>
              <a:t>Round keys are derived from the main key in the DES keyschedule (in a few slides)</a:t>
            </a:r>
          </a:p>
        </p:txBody>
      </p:sp>
      <p:pic>
        <p:nvPicPr>
          <p:cNvPr id="52229" name="Picture 4" descr="core">
            <a:extLst>
              <a:ext uri="{FF2B5EF4-FFF2-40B4-BE49-F238E27FC236}">
                <a16:creationId xmlns:a16="http://schemas.microsoft.com/office/drawing/2014/main" id="{39E22EEB-01A5-5697-AB0D-C2644675EBE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003800" y="765175"/>
            <a:ext cx="3508375" cy="5106988"/>
          </a:xfrm>
          <a:noFill/>
        </p:spPr>
      </p:pic>
      <p:sp>
        <p:nvSpPr>
          <p:cNvPr id="52230" name="Line 5">
            <a:extLst>
              <a:ext uri="{FF2B5EF4-FFF2-40B4-BE49-F238E27FC236}">
                <a16:creationId xmlns:a16="http://schemas.microsoft.com/office/drawing/2014/main" id="{4CD4A44C-81D7-38D5-DBC4-B8FDEE46711F}"/>
              </a:ext>
            </a:extLst>
          </p:cNvPr>
          <p:cNvSpPr>
            <a:spLocks noChangeShapeType="1"/>
          </p:cNvSpPr>
          <p:nvPr/>
        </p:nvSpPr>
        <p:spPr bwMode="auto">
          <a:xfrm>
            <a:off x="3132138" y="1989138"/>
            <a:ext cx="3384550" cy="719137"/>
          </a:xfrm>
          <a:prstGeom prst="line">
            <a:avLst/>
          </a:prstGeom>
          <a:noFill/>
          <a:ln w="38100">
            <a:solidFill>
              <a:srgbClr val="007AC2"/>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Foliennummernplatzhalter 4">
            <a:extLst>
              <a:ext uri="{FF2B5EF4-FFF2-40B4-BE49-F238E27FC236}">
                <a16:creationId xmlns:a16="http://schemas.microsoft.com/office/drawing/2014/main" id="{B3DA1CDA-F76E-E19C-E8CD-A25031950AD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DC597D42-5E8C-8C44-A380-6636488F66FE}" type="slidenum">
              <a:rPr lang="de-DE" altLang="zh-CN" sz="900">
                <a:solidFill>
                  <a:srgbClr val="394073"/>
                </a:solidFill>
              </a:rPr>
              <a:pPr/>
              <a:t>21</a:t>
            </a:fld>
            <a:r>
              <a:rPr lang="de-DE" altLang="zh-CN" sz="900">
                <a:solidFill>
                  <a:srgbClr val="394073"/>
                </a:solidFill>
              </a:rPr>
              <a:t>/29</a:t>
            </a:r>
          </a:p>
        </p:txBody>
      </p:sp>
      <p:sp>
        <p:nvSpPr>
          <p:cNvPr id="54275" name="Rectangle 2">
            <a:extLst>
              <a:ext uri="{FF2B5EF4-FFF2-40B4-BE49-F238E27FC236}">
                <a16:creationId xmlns:a16="http://schemas.microsoft.com/office/drawing/2014/main" id="{8285DB24-585D-7663-3498-F9ACAF2202F9}"/>
              </a:ext>
            </a:extLst>
          </p:cNvPr>
          <p:cNvSpPr>
            <a:spLocks noGrp="1" noChangeArrowheads="1"/>
          </p:cNvSpPr>
          <p:nvPr>
            <p:ph type="title"/>
          </p:nvPr>
        </p:nvSpPr>
        <p:spPr/>
        <p:txBody>
          <a:bodyPr/>
          <a:lstStyle/>
          <a:p>
            <a:r>
              <a:rPr lang="de-DE" altLang="zh-CN">
                <a:ea typeface="ＭＳ Ｐゴシック" panose="020B0600070205080204" pitchFamily="34" charset="-128"/>
              </a:rPr>
              <a:t>The DES S-Boxes</a:t>
            </a:r>
          </a:p>
        </p:txBody>
      </p:sp>
      <p:sp>
        <p:nvSpPr>
          <p:cNvPr id="54276" name="Rectangle 3">
            <a:extLst>
              <a:ext uri="{FF2B5EF4-FFF2-40B4-BE49-F238E27FC236}">
                <a16:creationId xmlns:a16="http://schemas.microsoft.com/office/drawing/2014/main" id="{547F2E33-A008-2C66-F4BA-AD8AE1F3BC37}"/>
              </a:ext>
            </a:extLst>
          </p:cNvPr>
          <p:cNvSpPr>
            <a:spLocks noGrp="1" noChangeArrowheads="1"/>
          </p:cNvSpPr>
          <p:nvPr>
            <p:ph type="body" sz="half" idx="1"/>
          </p:nvPr>
        </p:nvSpPr>
        <p:spPr>
          <a:xfrm>
            <a:off x="527050" y="836613"/>
            <a:ext cx="2965450" cy="342900"/>
          </a:xfrm>
        </p:spPr>
        <p:txBody>
          <a:bodyPr/>
          <a:lstStyle/>
          <a:p>
            <a:pPr marL="266700" indent="-266700">
              <a:buFontTx/>
              <a:buAutoNum type="arabicPeriod" startAt="3"/>
            </a:pPr>
            <a:r>
              <a:rPr lang="de-DE" altLang="zh-CN" sz="1800" b="1">
                <a:ea typeface="ＭＳ Ｐゴシック" panose="020B0600070205080204" pitchFamily="34" charset="-128"/>
              </a:rPr>
              <a:t>S-Box substitution</a:t>
            </a:r>
          </a:p>
        </p:txBody>
      </p:sp>
      <p:pic>
        <p:nvPicPr>
          <p:cNvPr id="54277" name="Picture 4" descr="core">
            <a:extLst>
              <a:ext uri="{FF2B5EF4-FFF2-40B4-BE49-F238E27FC236}">
                <a16:creationId xmlns:a16="http://schemas.microsoft.com/office/drawing/2014/main" id="{B3D79EDA-1C81-5764-2789-0B5E519DA16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292725" y="476250"/>
            <a:ext cx="3508375" cy="5106988"/>
          </a:xfrm>
          <a:noFill/>
        </p:spPr>
      </p:pic>
      <p:pic>
        <p:nvPicPr>
          <p:cNvPr id="54278" name="Picture 20">
            <a:extLst>
              <a:ext uri="{FF2B5EF4-FFF2-40B4-BE49-F238E27FC236}">
                <a16:creationId xmlns:a16="http://schemas.microsoft.com/office/drawing/2014/main" id="{1BE41189-C0C8-84D7-93C8-3F8EE37430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3725863"/>
            <a:ext cx="2952750"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9" name="Line 7">
            <a:extLst>
              <a:ext uri="{FF2B5EF4-FFF2-40B4-BE49-F238E27FC236}">
                <a16:creationId xmlns:a16="http://schemas.microsoft.com/office/drawing/2014/main" id="{CF37EFB5-16E7-67F7-F9FD-86ABC38DE845}"/>
              </a:ext>
            </a:extLst>
          </p:cNvPr>
          <p:cNvSpPr>
            <a:spLocks noChangeShapeType="1"/>
          </p:cNvSpPr>
          <p:nvPr/>
        </p:nvSpPr>
        <p:spPr bwMode="auto">
          <a:xfrm>
            <a:off x="3203575" y="1052513"/>
            <a:ext cx="2305050" cy="1655762"/>
          </a:xfrm>
          <a:prstGeom prst="line">
            <a:avLst/>
          </a:prstGeom>
          <a:noFill/>
          <a:ln w="38100">
            <a:solidFill>
              <a:srgbClr val="007AC2"/>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pic>
        <p:nvPicPr>
          <p:cNvPr id="54280" name="Picture 23">
            <a:extLst>
              <a:ext uri="{FF2B5EF4-FFF2-40B4-BE49-F238E27FC236}">
                <a16:creationId xmlns:a16="http://schemas.microsoft.com/office/drawing/2014/main" id="{976642CF-82B7-5F6A-16BF-B7DC4837A7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5308600"/>
            <a:ext cx="4535487"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1" name="Rectangle 24">
            <a:extLst>
              <a:ext uri="{FF2B5EF4-FFF2-40B4-BE49-F238E27FC236}">
                <a16:creationId xmlns:a16="http://schemas.microsoft.com/office/drawing/2014/main" id="{9C2EDB5B-36E5-8CFD-EB01-83721757643F}"/>
              </a:ext>
            </a:extLst>
          </p:cNvPr>
          <p:cNvSpPr>
            <a:spLocks noChangeArrowheads="1"/>
          </p:cNvSpPr>
          <p:nvPr/>
        </p:nvSpPr>
        <p:spPr bwMode="auto">
          <a:xfrm>
            <a:off x="611188" y="1268413"/>
            <a:ext cx="4608512"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66700" indent="-266700">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nSpc>
                <a:spcPct val="125000"/>
              </a:lnSpc>
              <a:spcBef>
                <a:spcPct val="25000"/>
              </a:spcBef>
              <a:buClr>
                <a:srgbClr val="007AC2"/>
              </a:buClr>
              <a:buSzPct val="120000"/>
              <a:buFontTx/>
              <a:buChar char="•"/>
            </a:pPr>
            <a:r>
              <a:rPr lang="de-DE" altLang="zh-CN" sz="1600" dirty="0"/>
              <a:t>Eight </a:t>
            </a:r>
            <a:r>
              <a:rPr lang="de-DE" altLang="zh-CN" sz="1600" dirty="0" err="1"/>
              <a:t>substitution</a:t>
            </a:r>
            <a:r>
              <a:rPr lang="de-DE" altLang="zh-CN" sz="1600" dirty="0"/>
              <a:t> </a:t>
            </a:r>
            <a:r>
              <a:rPr lang="de-DE" altLang="zh-CN" sz="1600" dirty="0" err="1"/>
              <a:t>tables</a:t>
            </a:r>
            <a:r>
              <a:rPr lang="de-DE" altLang="zh-CN" sz="1600" dirty="0"/>
              <a:t>.</a:t>
            </a:r>
          </a:p>
          <a:p>
            <a:pPr>
              <a:lnSpc>
                <a:spcPct val="125000"/>
              </a:lnSpc>
              <a:spcBef>
                <a:spcPct val="25000"/>
              </a:spcBef>
              <a:buClr>
                <a:srgbClr val="007AC2"/>
              </a:buClr>
              <a:buSzPct val="120000"/>
              <a:buFontTx/>
              <a:buChar char="•"/>
            </a:pPr>
            <a:r>
              <a:rPr lang="de-DE" altLang="zh-CN" sz="1600" dirty="0"/>
              <a:t>6 </a:t>
            </a:r>
            <a:r>
              <a:rPr lang="de-DE" altLang="zh-CN" sz="1600" dirty="0" err="1"/>
              <a:t>bits</a:t>
            </a:r>
            <a:r>
              <a:rPr lang="de-DE" altLang="zh-CN" sz="1600" dirty="0"/>
              <a:t> </a:t>
            </a:r>
            <a:r>
              <a:rPr lang="de-DE" altLang="zh-CN" sz="1600" dirty="0" err="1"/>
              <a:t>of</a:t>
            </a:r>
            <a:r>
              <a:rPr lang="de-DE" altLang="zh-CN" sz="1600" dirty="0"/>
              <a:t> input, 4 </a:t>
            </a:r>
            <a:r>
              <a:rPr lang="de-DE" altLang="zh-CN" sz="1600" dirty="0" err="1"/>
              <a:t>bits</a:t>
            </a:r>
            <a:r>
              <a:rPr lang="de-DE" altLang="zh-CN" sz="1600" dirty="0"/>
              <a:t> </a:t>
            </a:r>
            <a:r>
              <a:rPr lang="de-DE" altLang="zh-CN" sz="1600" dirty="0" err="1"/>
              <a:t>of</a:t>
            </a:r>
            <a:r>
              <a:rPr lang="de-DE" altLang="zh-CN" sz="1600" dirty="0"/>
              <a:t> </a:t>
            </a:r>
            <a:r>
              <a:rPr lang="de-DE" altLang="zh-CN" sz="1600" dirty="0" err="1"/>
              <a:t>output</a:t>
            </a:r>
            <a:r>
              <a:rPr lang="de-DE" altLang="zh-CN" sz="1600" dirty="0"/>
              <a:t>.</a:t>
            </a:r>
          </a:p>
          <a:p>
            <a:pPr>
              <a:lnSpc>
                <a:spcPct val="125000"/>
              </a:lnSpc>
              <a:spcBef>
                <a:spcPct val="25000"/>
              </a:spcBef>
              <a:buClr>
                <a:srgbClr val="007AC2"/>
              </a:buClr>
              <a:buSzPct val="120000"/>
              <a:buFontTx/>
              <a:buChar char="•"/>
            </a:pPr>
            <a:r>
              <a:rPr lang="de-DE" altLang="zh-CN" sz="1600" dirty="0"/>
              <a:t>Non-linear and </a:t>
            </a:r>
            <a:r>
              <a:rPr lang="de-DE" altLang="zh-CN" sz="1600" dirty="0" err="1"/>
              <a:t>resistant</a:t>
            </a:r>
            <a:r>
              <a:rPr lang="de-DE" altLang="zh-CN" sz="1600" dirty="0"/>
              <a:t> </a:t>
            </a:r>
            <a:r>
              <a:rPr lang="de-DE" altLang="zh-CN" sz="1600" dirty="0" err="1"/>
              <a:t>to</a:t>
            </a:r>
            <a:r>
              <a:rPr lang="de-DE" altLang="zh-CN" sz="1600" dirty="0"/>
              <a:t> differential </a:t>
            </a:r>
            <a:r>
              <a:rPr lang="de-DE" altLang="zh-CN" sz="1600" dirty="0" err="1"/>
              <a:t>cryptanalysis</a:t>
            </a:r>
            <a:r>
              <a:rPr lang="de-DE" altLang="zh-CN" sz="1600" dirty="0"/>
              <a:t>.</a:t>
            </a:r>
          </a:p>
          <a:p>
            <a:pPr>
              <a:lnSpc>
                <a:spcPct val="125000"/>
              </a:lnSpc>
              <a:spcBef>
                <a:spcPct val="25000"/>
              </a:spcBef>
              <a:buClr>
                <a:srgbClr val="007AC2"/>
              </a:buClr>
              <a:buSzPct val="120000"/>
              <a:buFontTx/>
              <a:buChar char="•"/>
            </a:pPr>
            <a:r>
              <a:rPr lang="de-DE" altLang="zh-CN" sz="1600" dirty="0" err="1"/>
              <a:t>Crucial</a:t>
            </a:r>
            <a:r>
              <a:rPr lang="de-DE" altLang="zh-CN" sz="1600" dirty="0"/>
              <a:t> </a:t>
            </a:r>
            <a:r>
              <a:rPr lang="de-DE" altLang="zh-CN" sz="1600" dirty="0" err="1"/>
              <a:t>element</a:t>
            </a:r>
            <a:r>
              <a:rPr lang="de-DE" altLang="zh-CN" sz="1600" dirty="0"/>
              <a:t> </a:t>
            </a:r>
            <a:r>
              <a:rPr lang="de-DE" altLang="zh-CN" sz="1600" dirty="0" err="1"/>
              <a:t>for</a:t>
            </a:r>
            <a:r>
              <a:rPr lang="de-DE" altLang="zh-CN" sz="1600" dirty="0"/>
              <a:t> DES </a:t>
            </a:r>
            <a:r>
              <a:rPr lang="de-DE" altLang="zh-CN" sz="1600" dirty="0" err="1"/>
              <a:t>security</a:t>
            </a:r>
            <a:r>
              <a:rPr lang="de-DE" altLang="zh-CN" sz="1600" dirty="0"/>
              <a:t>!</a:t>
            </a:r>
          </a:p>
          <a:p>
            <a:pPr>
              <a:lnSpc>
                <a:spcPct val="125000"/>
              </a:lnSpc>
              <a:spcBef>
                <a:spcPct val="25000"/>
              </a:spcBef>
              <a:buClr>
                <a:srgbClr val="007AC2"/>
              </a:buClr>
              <a:buSzPct val="120000"/>
              <a:buFontTx/>
              <a:buChar char="•"/>
            </a:pPr>
            <a:r>
              <a:rPr lang="de-DE" altLang="zh-CN" sz="1600" dirty="0"/>
              <a:t>Find all S-Box </a:t>
            </a:r>
            <a:r>
              <a:rPr lang="de-DE" altLang="zh-CN" sz="1600" dirty="0" err="1"/>
              <a:t>tables</a:t>
            </a:r>
            <a:r>
              <a:rPr lang="de-DE" altLang="zh-CN" sz="1600" dirty="0"/>
              <a:t> and S-Box design </a:t>
            </a:r>
            <a:r>
              <a:rPr lang="de-DE" altLang="zh-CN" sz="1600" dirty="0" err="1"/>
              <a:t>criteria</a:t>
            </a:r>
            <a:r>
              <a:rPr lang="de-DE" altLang="zh-CN" sz="1600" dirty="0"/>
              <a:t> in </a:t>
            </a:r>
            <a:r>
              <a:rPr lang="de-DE" altLang="zh-CN" sz="1600" i="1" dirty="0"/>
              <a:t>Understanding </a:t>
            </a:r>
            <a:r>
              <a:rPr lang="de-DE" altLang="zh-CN" sz="1600" i="1" dirty="0" err="1"/>
              <a:t>Cryptography</a:t>
            </a:r>
            <a:r>
              <a:rPr lang="de-DE" altLang="zh-CN" sz="1600" i="1" dirty="0"/>
              <a:t> </a:t>
            </a:r>
            <a:r>
              <a:rPr lang="de-DE" altLang="zh-CN" sz="1600" dirty="0"/>
              <a:t>Chapter 3.</a:t>
            </a:r>
            <a:endParaRPr lang="de-DE" altLang="zh-CN" sz="1800" dirty="0"/>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S-boxes</a:t>
            </a:r>
          </a:p>
        </p:txBody>
      </p:sp>
      <p:sp>
        <p:nvSpPr>
          <p:cNvPr id="3" name="Content Placeholder 2"/>
          <p:cNvSpPr>
            <a:spLocks noGrp="1"/>
          </p:cNvSpPr>
          <p:nvPr>
            <p:ph idx="1"/>
          </p:nvPr>
        </p:nvSpPr>
        <p:spPr>
          <a:xfrm>
            <a:off x="457200" y="2209800"/>
            <a:ext cx="8229600" cy="990600"/>
          </a:xfrm>
        </p:spPr>
        <p:txBody>
          <a:bodyPr/>
          <a:lstStyle/>
          <a:p>
            <a:pPr marL="0" indent="0" algn="ctr">
              <a:buNone/>
            </a:pPr>
            <a:r>
              <a:rPr lang="en-US" dirty="0"/>
              <a:t>S</a:t>
            </a:r>
            <a:r>
              <a:rPr lang="en-US" baseline="-25000" dirty="0"/>
              <a:t>i</a:t>
            </a:r>
            <a:r>
              <a:rPr lang="en-US" dirty="0"/>
              <a:t>: {0,1}</a:t>
            </a:r>
            <a:r>
              <a:rPr lang="en-US" baseline="30000" dirty="0"/>
              <a:t>6</a:t>
            </a:r>
            <a:r>
              <a:rPr lang="en-US" dirty="0"/>
              <a:t> ⟶ {0,1}</a:t>
            </a:r>
            <a:r>
              <a:rPr lang="en-US" baseline="30000" dirty="0"/>
              <a:t>4 </a:t>
            </a:r>
            <a:r>
              <a:rPr lang="en-US" dirty="0"/>
              <a:t> </a:t>
            </a:r>
          </a:p>
        </p:txBody>
      </p:sp>
      <p:pic>
        <p:nvPicPr>
          <p:cNvPr id="4" name="Content Placeholder 3"/>
          <p:cNvPicPr>
            <a:picLocks noChangeAspect="1"/>
          </p:cNvPicPr>
          <p:nvPr/>
        </p:nvPicPr>
        <p:blipFill rotWithShape="1">
          <a:blip r:embed="rId2"/>
          <a:srcRect l="-458" r="163"/>
          <a:stretch/>
        </p:blipFill>
        <p:spPr>
          <a:xfrm>
            <a:off x="990600" y="3505200"/>
            <a:ext cx="7338046" cy="1803400"/>
          </a:xfrm>
          <a:prstGeom prst="rect">
            <a:avLst/>
          </a:prstGeom>
        </p:spPr>
      </p:pic>
      <p:cxnSp>
        <p:nvCxnSpPr>
          <p:cNvPr id="5" name="Straight Connector 4"/>
          <p:cNvCxnSpPr/>
          <p:nvPr/>
        </p:nvCxnSpPr>
        <p:spPr>
          <a:xfrm>
            <a:off x="1143000" y="4127500"/>
            <a:ext cx="7086600" cy="0"/>
          </a:xfrm>
          <a:prstGeom prst="line">
            <a:avLst/>
          </a:prstGeom>
          <a:ln w="3810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2095500" y="3581400"/>
            <a:ext cx="0" cy="1676400"/>
          </a:xfrm>
          <a:prstGeom prst="line">
            <a:avLst/>
          </a:prstGeom>
          <a:ln w="38100" cmpd="sng">
            <a:solidFill>
              <a:schemeClr val="tx1"/>
            </a:solidFill>
          </a:ln>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8E3909AF-01BF-967A-12F7-3CB46D1B86AC}"/>
              </a:ext>
            </a:extLst>
          </p:cNvPr>
          <p:cNvSpPr txBox="1"/>
          <p:nvPr/>
        </p:nvSpPr>
        <p:spPr>
          <a:xfrm>
            <a:off x="1563279" y="1272570"/>
            <a:ext cx="6192688" cy="523220"/>
          </a:xfrm>
          <a:prstGeom prst="rect">
            <a:avLst/>
          </a:prstGeom>
          <a:noFill/>
        </p:spPr>
        <p:txBody>
          <a:bodyPr wrap="square">
            <a:spAutoFit/>
          </a:bodyPr>
          <a:lstStyle/>
          <a:p>
            <a:r>
              <a:rPr lang="de-DE" altLang="zh-CN" b="1" dirty="0" err="1">
                <a:solidFill>
                  <a:srgbClr val="FF0000"/>
                </a:solidFill>
                <a:ea typeface="ＭＳ Ｐゴシック" panose="020B0600070205080204" pitchFamily="34" charset="-128"/>
              </a:rPr>
              <a:t>Changing</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of</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one</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bit</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of</a:t>
            </a:r>
            <a:r>
              <a:rPr lang="de-DE" altLang="zh-CN" b="1" dirty="0">
                <a:solidFill>
                  <a:srgbClr val="FF0000"/>
                </a:solidFill>
                <a:ea typeface="ＭＳ Ｐゴシック" panose="020B0600070205080204" pitchFamily="34" charset="-128"/>
              </a:rPr>
              <a:t> input </a:t>
            </a:r>
            <a:r>
              <a:rPr lang="de-DE" altLang="zh-CN" b="1" dirty="0" err="1">
                <a:solidFill>
                  <a:srgbClr val="FF0000"/>
                </a:solidFill>
                <a:ea typeface="ＭＳ Ｐゴシック" panose="020B0600070205080204" pitchFamily="34" charset="-128"/>
              </a:rPr>
              <a:t>bits</a:t>
            </a:r>
            <a:r>
              <a:rPr lang="de-DE" altLang="zh-CN" dirty="0">
                <a:solidFill>
                  <a:srgbClr val="FF0000"/>
                </a:solidFill>
                <a:ea typeface="ＭＳ Ｐゴシック" panose="020B0600070205080204" pitchFamily="34" charset="-128"/>
              </a:rPr>
              <a:t> </a:t>
            </a:r>
            <a:r>
              <a:rPr lang="de-DE" altLang="zh-CN" b="1" dirty="0" err="1">
                <a:solidFill>
                  <a:srgbClr val="FF0000"/>
                </a:solidFill>
              </a:rPr>
              <a:t>results</a:t>
            </a:r>
            <a:r>
              <a:rPr lang="de-DE" altLang="zh-CN" b="1" dirty="0">
                <a:solidFill>
                  <a:srgbClr val="FF0000"/>
                </a:solidFill>
              </a:rPr>
              <a:t> in </a:t>
            </a:r>
            <a:r>
              <a:rPr lang="de-DE" altLang="zh-CN" b="1" dirty="0" err="1">
                <a:solidFill>
                  <a:srgbClr val="FF0000"/>
                </a:solidFill>
              </a:rPr>
              <a:t>the</a:t>
            </a:r>
            <a:r>
              <a:rPr lang="de-DE" altLang="zh-CN" b="1" dirty="0">
                <a:solidFill>
                  <a:srgbClr val="FF0000"/>
                </a:solidFill>
              </a:rPr>
              <a:t> </a:t>
            </a:r>
            <a:r>
              <a:rPr lang="de-DE" altLang="zh-CN" b="1" dirty="0" err="1">
                <a:solidFill>
                  <a:srgbClr val="FF0000"/>
                </a:solidFill>
                <a:ea typeface="ＭＳ Ｐゴシック" panose="020B0600070205080204" pitchFamily="34" charset="-128"/>
              </a:rPr>
              <a:t>change</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of</a:t>
            </a:r>
            <a:r>
              <a:rPr lang="de-DE" altLang="zh-CN" b="1" dirty="0">
                <a:solidFill>
                  <a:srgbClr val="FF0000"/>
                </a:solidFill>
                <a:ea typeface="ＭＳ Ｐゴシック" panose="020B0600070205080204" pitchFamily="34" charset="-128"/>
              </a:rPr>
              <a:t> at least </a:t>
            </a:r>
            <a:r>
              <a:rPr lang="de-DE" altLang="zh-CN" b="1" dirty="0" err="1">
                <a:solidFill>
                  <a:srgbClr val="FF0000"/>
                </a:solidFill>
                <a:ea typeface="ＭＳ Ｐゴシック" panose="020B0600070205080204" pitchFamily="34" charset="-128"/>
              </a:rPr>
              <a:t>two</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bits</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of</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the</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output</a:t>
            </a:r>
            <a:r>
              <a:rPr lang="de-DE" altLang="zh-CN" b="1" dirty="0">
                <a:solidFill>
                  <a:srgbClr val="FF0000"/>
                </a:solidFill>
                <a:ea typeface="ＭＳ Ｐゴシック" panose="020B0600070205080204" pitchFamily="34" charset="-128"/>
              </a:rPr>
              <a:t> </a:t>
            </a:r>
            <a:r>
              <a:rPr lang="de-DE" altLang="zh-CN" b="1" dirty="0" err="1">
                <a:solidFill>
                  <a:srgbClr val="FF0000"/>
                </a:solidFill>
                <a:ea typeface="ＭＳ Ｐゴシック" panose="020B0600070205080204" pitchFamily="34" charset="-128"/>
              </a:rPr>
              <a:t>bits</a:t>
            </a:r>
            <a:r>
              <a:rPr lang="de-DE" altLang="zh-CN" b="1" dirty="0">
                <a:solidFill>
                  <a:srgbClr val="FF0000"/>
                </a:solidFill>
                <a:ea typeface="ＭＳ Ｐゴシック" panose="020B0600070205080204" pitchFamily="34" charset="-128"/>
              </a:rPr>
              <a:t>.</a:t>
            </a:r>
            <a:endParaRPr lang="zh-CN" altLang="en-US" dirty="0">
              <a:solidFill>
                <a:srgbClr val="FF0000"/>
              </a:solidFill>
            </a:endParaRPr>
          </a:p>
        </p:txBody>
      </p:sp>
    </p:spTree>
    <p:extLst>
      <p:ext uri="{BB962C8B-B14F-4D97-AF65-F5344CB8AC3E}">
        <p14:creationId xmlns:p14="http://schemas.microsoft.com/office/powerpoint/2010/main" val="1085216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Foliennummernplatzhalter 4">
            <a:extLst>
              <a:ext uri="{FF2B5EF4-FFF2-40B4-BE49-F238E27FC236}">
                <a16:creationId xmlns:a16="http://schemas.microsoft.com/office/drawing/2014/main" id="{79A83A4F-A728-9232-219A-FA7E2D00B6D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C228C69B-3AAE-1445-B360-F550BD0E5015}" type="slidenum">
              <a:rPr lang="de-DE" altLang="zh-CN" sz="900">
                <a:solidFill>
                  <a:srgbClr val="394073"/>
                </a:solidFill>
              </a:rPr>
              <a:pPr/>
              <a:t>23</a:t>
            </a:fld>
            <a:r>
              <a:rPr lang="de-DE" altLang="zh-CN" sz="900">
                <a:solidFill>
                  <a:srgbClr val="394073"/>
                </a:solidFill>
              </a:rPr>
              <a:t>/29</a:t>
            </a:r>
          </a:p>
        </p:txBody>
      </p:sp>
      <p:pic>
        <p:nvPicPr>
          <p:cNvPr id="56323" name="Picture 4" descr="core">
            <a:extLst>
              <a:ext uri="{FF2B5EF4-FFF2-40B4-BE49-F238E27FC236}">
                <a16:creationId xmlns:a16="http://schemas.microsoft.com/office/drawing/2014/main" id="{921569E4-9A13-D8A9-2419-B83498D22AA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003800" y="765175"/>
            <a:ext cx="3508375" cy="5106988"/>
          </a:xfrm>
          <a:noFill/>
        </p:spPr>
      </p:pic>
      <p:sp>
        <p:nvSpPr>
          <p:cNvPr id="56324" name="Line 8">
            <a:extLst>
              <a:ext uri="{FF2B5EF4-FFF2-40B4-BE49-F238E27FC236}">
                <a16:creationId xmlns:a16="http://schemas.microsoft.com/office/drawing/2014/main" id="{1F9DC2D4-5F6C-2393-C5E8-6D1F5158CCE9}"/>
              </a:ext>
            </a:extLst>
          </p:cNvPr>
          <p:cNvSpPr>
            <a:spLocks noChangeShapeType="1"/>
          </p:cNvSpPr>
          <p:nvPr/>
        </p:nvSpPr>
        <p:spPr bwMode="auto">
          <a:xfrm>
            <a:off x="4140200" y="3429000"/>
            <a:ext cx="1944688" cy="1584325"/>
          </a:xfrm>
          <a:prstGeom prst="line">
            <a:avLst/>
          </a:prstGeom>
          <a:noFill/>
          <a:ln w="38100">
            <a:solidFill>
              <a:srgbClr val="007AC2"/>
            </a:solidFill>
            <a:round/>
            <a:headEnd/>
            <a:tailEnd type="arrow"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56325" name="Rectangle 2">
            <a:extLst>
              <a:ext uri="{FF2B5EF4-FFF2-40B4-BE49-F238E27FC236}">
                <a16:creationId xmlns:a16="http://schemas.microsoft.com/office/drawing/2014/main" id="{001C17D1-60FA-BB0B-B080-20981F4B6FDF}"/>
              </a:ext>
            </a:extLst>
          </p:cNvPr>
          <p:cNvSpPr>
            <a:spLocks noGrp="1" noChangeArrowheads="1"/>
          </p:cNvSpPr>
          <p:nvPr>
            <p:ph type="title"/>
          </p:nvPr>
        </p:nvSpPr>
        <p:spPr/>
        <p:txBody>
          <a:bodyPr/>
          <a:lstStyle/>
          <a:p>
            <a:r>
              <a:rPr lang="de-DE" altLang="zh-CN">
                <a:ea typeface="ＭＳ Ｐゴシック" panose="020B0600070205080204" pitchFamily="34" charset="-128"/>
              </a:rPr>
              <a:t>The Permutation P</a:t>
            </a:r>
          </a:p>
        </p:txBody>
      </p:sp>
      <p:sp>
        <p:nvSpPr>
          <p:cNvPr id="56326" name="Rectangle 3">
            <a:extLst>
              <a:ext uri="{FF2B5EF4-FFF2-40B4-BE49-F238E27FC236}">
                <a16:creationId xmlns:a16="http://schemas.microsoft.com/office/drawing/2014/main" id="{7197AD5C-26A6-CBE3-5793-88380351F379}"/>
              </a:ext>
            </a:extLst>
          </p:cNvPr>
          <p:cNvSpPr>
            <a:spLocks noGrp="1" noChangeArrowheads="1"/>
          </p:cNvSpPr>
          <p:nvPr>
            <p:ph type="body" sz="half" idx="1"/>
          </p:nvPr>
        </p:nvSpPr>
        <p:spPr>
          <a:xfrm>
            <a:off x="611188" y="855663"/>
            <a:ext cx="5113337" cy="2735262"/>
          </a:xfrm>
        </p:spPr>
        <p:txBody>
          <a:bodyPr/>
          <a:lstStyle/>
          <a:p>
            <a:pPr marL="266700" indent="-266700">
              <a:buFontTx/>
              <a:buAutoNum type="arabicPeriod" startAt="4"/>
            </a:pPr>
            <a:r>
              <a:rPr lang="de-DE" altLang="zh-CN" sz="1800" b="1" dirty="0">
                <a:ea typeface="ＭＳ Ｐゴシック" panose="020B0600070205080204" pitchFamily="34" charset="-128"/>
              </a:rPr>
              <a:t>Permutation P</a:t>
            </a:r>
          </a:p>
          <a:p>
            <a:pPr marL="652463" lvl="1" indent="-266700"/>
            <a:r>
              <a:rPr lang="de-DE" altLang="zh-CN" dirty="0" err="1">
                <a:ea typeface="ＭＳ Ｐゴシック" panose="020B0600070205080204" pitchFamily="34" charset="-128"/>
              </a:rPr>
              <a:t>Bitwise</a:t>
            </a:r>
            <a:r>
              <a:rPr lang="de-DE" altLang="zh-CN" dirty="0">
                <a:ea typeface="ＭＳ Ｐゴシック" panose="020B0600070205080204" pitchFamily="34" charset="-128"/>
              </a:rPr>
              <a:t> </a:t>
            </a:r>
            <a:r>
              <a:rPr lang="de-DE" altLang="zh-CN" dirty="0" err="1">
                <a:ea typeface="ＭＳ Ｐゴシック" panose="020B0600070205080204" pitchFamily="34" charset="-128"/>
              </a:rPr>
              <a:t>permutation</a:t>
            </a:r>
            <a:r>
              <a:rPr lang="de-DE" altLang="zh-CN" dirty="0">
                <a:ea typeface="ＭＳ Ｐゴシック" panose="020B0600070205080204" pitchFamily="34" charset="-128"/>
              </a:rPr>
              <a:t>.</a:t>
            </a:r>
          </a:p>
          <a:p>
            <a:pPr marL="652463" lvl="1" indent="-266700"/>
            <a:r>
              <a:rPr lang="de-DE" altLang="zh-CN" dirty="0" err="1">
                <a:ea typeface="ＭＳ Ｐゴシック" panose="020B0600070205080204" pitchFamily="34" charset="-128"/>
              </a:rPr>
              <a:t>Introduces</a:t>
            </a:r>
            <a:r>
              <a:rPr lang="de-DE" altLang="zh-CN" dirty="0">
                <a:ea typeface="ＭＳ Ｐゴシック" panose="020B0600070205080204" pitchFamily="34" charset="-128"/>
              </a:rPr>
              <a:t> </a:t>
            </a:r>
            <a:r>
              <a:rPr lang="de-DE" altLang="zh-CN" dirty="0" err="1">
                <a:ea typeface="ＭＳ Ｐゴシック" panose="020B0600070205080204" pitchFamily="34" charset="-128"/>
              </a:rPr>
              <a:t>diffusion</a:t>
            </a:r>
            <a:r>
              <a:rPr lang="de-DE" altLang="zh-CN" dirty="0">
                <a:ea typeface="ＭＳ Ｐゴシック" panose="020B0600070205080204" pitchFamily="34" charset="-128"/>
              </a:rPr>
              <a:t>.</a:t>
            </a:r>
          </a:p>
          <a:p>
            <a:pPr marL="652463" lvl="1" indent="-266700"/>
            <a:r>
              <a:rPr lang="de-DE" altLang="zh-CN" dirty="0">
                <a:solidFill>
                  <a:srgbClr val="FF0000"/>
                </a:solidFill>
                <a:ea typeface="ＭＳ Ｐゴシック" panose="020B0600070205080204" pitchFamily="34" charset="-128"/>
              </a:rPr>
              <a:t>Output </a:t>
            </a:r>
            <a:r>
              <a:rPr lang="de-DE" altLang="zh-CN" dirty="0" err="1">
                <a:solidFill>
                  <a:srgbClr val="FF0000"/>
                </a:solidFill>
                <a:ea typeface="ＭＳ Ｐゴシック" panose="020B0600070205080204" pitchFamily="34" charset="-128"/>
              </a:rPr>
              <a:t>bits</a:t>
            </a:r>
            <a:r>
              <a:rPr lang="de-DE" altLang="zh-CN" dirty="0">
                <a:solidFill>
                  <a:srgbClr val="FF0000"/>
                </a:solidFill>
                <a:ea typeface="ＭＳ Ｐゴシック" panose="020B0600070205080204" pitchFamily="34" charset="-128"/>
              </a:rPr>
              <a:t> </a:t>
            </a:r>
            <a:r>
              <a:rPr lang="de-DE" altLang="zh-CN" dirty="0" err="1">
                <a:solidFill>
                  <a:srgbClr val="FF0000"/>
                </a:solidFill>
                <a:ea typeface="ＭＳ Ｐゴシック" panose="020B0600070205080204" pitchFamily="34" charset="-128"/>
              </a:rPr>
              <a:t>of</a:t>
            </a:r>
            <a:r>
              <a:rPr lang="de-DE" altLang="zh-CN" dirty="0">
                <a:solidFill>
                  <a:srgbClr val="FF0000"/>
                </a:solidFill>
                <a:ea typeface="ＭＳ Ｐゴシック" panose="020B0600070205080204" pitchFamily="34" charset="-128"/>
              </a:rPr>
              <a:t> </a:t>
            </a:r>
            <a:r>
              <a:rPr lang="de-DE" altLang="zh-CN" dirty="0" err="1">
                <a:solidFill>
                  <a:srgbClr val="FF0000"/>
                </a:solidFill>
                <a:ea typeface="ＭＳ Ｐゴシック" panose="020B0600070205080204" pitchFamily="34" charset="-128"/>
              </a:rPr>
              <a:t>one</a:t>
            </a:r>
            <a:r>
              <a:rPr lang="de-DE" altLang="zh-CN" dirty="0">
                <a:solidFill>
                  <a:srgbClr val="FF0000"/>
                </a:solidFill>
                <a:ea typeface="ＭＳ Ｐゴシック" panose="020B0600070205080204" pitchFamily="34" charset="-128"/>
              </a:rPr>
              <a:t> S-Box </a:t>
            </a:r>
            <a:r>
              <a:rPr lang="de-DE" altLang="zh-CN" dirty="0" err="1">
                <a:solidFill>
                  <a:srgbClr val="FF0000"/>
                </a:solidFill>
                <a:ea typeface="ＭＳ Ｐゴシック" panose="020B0600070205080204" pitchFamily="34" charset="-128"/>
              </a:rPr>
              <a:t>effect</a:t>
            </a:r>
            <a:r>
              <a:rPr lang="de-DE" altLang="zh-CN" dirty="0">
                <a:solidFill>
                  <a:srgbClr val="FF0000"/>
                </a:solidFill>
                <a:ea typeface="ＭＳ Ｐゴシック" panose="020B0600070205080204" pitchFamily="34" charset="-128"/>
              </a:rPr>
              <a:t> </a:t>
            </a:r>
            <a:r>
              <a:rPr lang="de-DE" altLang="zh-CN" dirty="0" err="1">
                <a:solidFill>
                  <a:srgbClr val="FF0000"/>
                </a:solidFill>
                <a:ea typeface="ＭＳ Ｐゴシック" panose="020B0600070205080204" pitchFamily="34" charset="-128"/>
              </a:rPr>
              <a:t>several</a:t>
            </a:r>
            <a:r>
              <a:rPr lang="de-DE" altLang="zh-CN" dirty="0">
                <a:solidFill>
                  <a:srgbClr val="FF0000"/>
                </a:solidFill>
                <a:ea typeface="ＭＳ Ｐゴシック" panose="020B0600070205080204" pitchFamily="34" charset="-128"/>
              </a:rPr>
              <a:t> S-Boxes in </a:t>
            </a:r>
            <a:r>
              <a:rPr lang="de-DE" altLang="zh-CN" dirty="0" err="1">
                <a:solidFill>
                  <a:srgbClr val="FF0000"/>
                </a:solidFill>
                <a:ea typeface="ＭＳ Ｐゴシック" panose="020B0600070205080204" pitchFamily="34" charset="-128"/>
              </a:rPr>
              <a:t>next</a:t>
            </a:r>
            <a:r>
              <a:rPr lang="de-DE" altLang="zh-CN" dirty="0">
                <a:solidFill>
                  <a:srgbClr val="FF0000"/>
                </a:solidFill>
                <a:ea typeface="ＭＳ Ｐゴシック" panose="020B0600070205080204" pitchFamily="34" charset="-128"/>
              </a:rPr>
              <a:t> </a:t>
            </a:r>
            <a:r>
              <a:rPr lang="de-DE" altLang="zh-CN" dirty="0" err="1">
                <a:solidFill>
                  <a:srgbClr val="FF0000"/>
                </a:solidFill>
                <a:ea typeface="ＭＳ Ｐゴシック" panose="020B0600070205080204" pitchFamily="34" charset="-128"/>
              </a:rPr>
              <a:t>round</a:t>
            </a:r>
            <a:endParaRPr lang="de-DE" altLang="zh-CN" dirty="0">
              <a:solidFill>
                <a:srgbClr val="FF0000"/>
              </a:solidFill>
              <a:ea typeface="ＭＳ Ｐゴシック" panose="020B0600070205080204" pitchFamily="34" charset="-128"/>
            </a:endParaRPr>
          </a:p>
          <a:p>
            <a:pPr marL="652463" lvl="1" indent="-266700"/>
            <a:r>
              <a:rPr lang="de-DE" altLang="zh-CN" dirty="0">
                <a:ea typeface="ＭＳ Ｐゴシック" panose="020B0600070205080204" pitchFamily="34" charset="-128"/>
              </a:rPr>
              <a:t>Diffusion </a:t>
            </a:r>
            <a:r>
              <a:rPr lang="de-DE" altLang="zh-CN" dirty="0" err="1">
                <a:ea typeface="ＭＳ Ｐゴシック" panose="020B0600070205080204" pitchFamily="34" charset="-128"/>
              </a:rPr>
              <a:t>by</a:t>
            </a:r>
            <a:r>
              <a:rPr lang="de-DE" altLang="zh-CN" dirty="0">
                <a:ea typeface="ＭＳ Ｐゴシック" panose="020B0600070205080204" pitchFamily="34" charset="-128"/>
              </a:rPr>
              <a:t> E, S-Boxes and P </a:t>
            </a:r>
            <a:r>
              <a:rPr lang="de-DE" altLang="zh-CN" dirty="0" err="1">
                <a:ea typeface="ＭＳ Ｐゴシック" panose="020B0600070205080204" pitchFamily="34" charset="-128"/>
              </a:rPr>
              <a:t>guarantees</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that</a:t>
            </a:r>
            <a:r>
              <a:rPr lang="de-DE" altLang="zh-CN" dirty="0">
                <a:ea typeface="ＭＳ Ｐゴシック" panose="020B0600070205080204" pitchFamily="34" charset="-128"/>
              </a:rPr>
              <a:t> after Round 5 </a:t>
            </a:r>
            <a:r>
              <a:rPr lang="de-DE" altLang="zh-CN" dirty="0" err="1">
                <a:ea typeface="ＭＳ Ｐゴシック" panose="020B0600070205080204" pitchFamily="34" charset="-128"/>
              </a:rPr>
              <a:t>every</a:t>
            </a:r>
            <a:r>
              <a:rPr lang="de-DE" altLang="zh-CN" dirty="0">
                <a:ea typeface="ＭＳ Ｐゴシック" panose="020B0600070205080204" pitchFamily="34" charset="-128"/>
              </a:rPr>
              <a:t> </a:t>
            </a:r>
            <a:r>
              <a:rPr lang="de-DE" altLang="zh-CN" dirty="0" err="1">
                <a:ea typeface="ＭＳ Ｐゴシック" panose="020B0600070205080204" pitchFamily="34" charset="-128"/>
              </a:rPr>
              <a:t>bit</a:t>
            </a:r>
            <a:r>
              <a:rPr lang="de-DE" altLang="zh-CN" dirty="0">
                <a:ea typeface="ＭＳ Ｐゴシック" panose="020B0600070205080204" pitchFamily="34" charset="-128"/>
              </a:rPr>
              <a:t>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a </a:t>
            </a:r>
            <a:r>
              <a:rPr lang="de-DE" altLang="zh-CN" dirty="0" err="1">
                <a:ea typeface="ＭＳ Ｐゴシック" panose="020B0600070205080204" pitchFamily="34" charset="-128"/>
              </a:rPr>
              <a:t>function</a:t>
            </a:r>
            <a:r>
              <a:rPr lang="de-DE" altLang="zh-CN" dirty="0">
                <a:ea typeface="ＭＳ Ｐゴシック" panose="020B0600070205080204" pitchFamily="34" charset="-128"/>
              </a:rPr>
              <a: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a:t>
            </a:r>
            <a:r>
              <a:rPr lang="de-DE" altLang="zh-CN" dirty="0" err="1">
                <a:ea typeface="ＭＳ Ｐゴシック" panose="020B0600070205080204" pitchFamily="34" charset="-128"/>
              </a:rPr>
              <a:t>each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key</a:t>
            </a:r>
            <a:r>
              <a:rPr lang="de-DE" altLang="zh-CN" dirty="0">
                <a:ea typeface="ＭＳ Ｐゴシック" panose="020B0600070205080204" pitchFamily="34" charset="-128"/>
              </a:rPr>
              <a:t> </a:t>
            </a:r>
            <a:r>
              <a:rPr lang="de-DE" altLang="zh-CN" dirty="0" err="1">
                <a:ea typeface="ＭＳ Ｐゴシック" panose="020B0600070205080204" pitchFamily="34" charset="-128"/>
              </a:rPr>
              <a:t>bit</a:t>
            </a:r>
            <a:r>
              <a:rPr lang="de-DE" altLang="zh-CN" dirty="0">
                <a:ea typeface="ＭＳ Ｐゴシック" panose="020B0600070205080204" pitchFamily="34" charset="-128"/>
              </a:rPr>
              <a:t> and </a:t>
            </a:r>
            <a:r>
              <a:rPr lang="de-DE" altLang="zh-CN" dirty="0" err="1">
                <a:ea typeface="ＭＳ Ｐゴシック" panose="020B0600070205080204" pitchFamily="34" charset="-128"/>
              </a:rPr>
              <a:t>each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plaintext</a:t>
            </a:r>
            <a:r>
              <a:rPr lang="de-DE" altLang="zh-CN" dirty="0">
                <a:ea typeface="ＭＳ Ｐゴシック" panose="020B0600070205080204" pitchFamily="34" charset="-128"/>
              </a:rPr>
              <a:t> </a:t>
            </a:r>
            <a:r>
              <a:rPr lang="de-DE" altLang="zh-CN" dirty="0" err="1">
                <a:ea typeface="ＭＳ Ｐゴシック" panose="020B0600070205080204" pitchFamily="34" charset="-128"/>
              </a:rPr>
              <a:t>bit</a:t>
            </a:r>
            <a:r>
              <a:rPr lang="de-DE" altLang="zh-CN" dirty="0">
                <a:ea typeface="ＭＳ Ｐゴシック" panose="020B0600070205080204" pitchFamily="34" charset="-128"/>
              </a:rPr>
              <a:t>.</a:t>
            </a:r>
          </a:p>
        </p:txBody>
      </p:sp>
      <p:pic>
        <p:nvPicPr>
          <p:cNvPr id="56327" name="Picture 11">
            <a:extLst>
              <a:ext uri="{FF2B5EF4-FFF2-40B4-BE49-F238E27FC236}">
                <a16:creationId xmlns:a16="http://schemas.microsoft.com/office/drawing/2014/main" id="{259061FA-1AFA-7266-A325-890681E153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2675" y="3860800"/>
            <a:ext cx="2513013"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8" name="AutoShape 10">
            <a:extLst>
              <a:ext uri="{FF2B5EF4-FFF2-40B4-BE49-F238E27FC236}">
                <a16:creationId xmlns:a16="http://schemas.microsoft.com/office/drawing/2014/main" id="{9771F154-3BC4-298A-92BE-F7F8F666B9A3}"/>
              </a:ext>
            </a:extLst>
          </p:cNvPr>
          <p:cNvSpPr>
            <a:spLocks noChangeAspect="1" noChangeArrowheads="1"/>
          </p:cNvSpPr>
          <p:nvPr/>
        </p:nvSpPr>
        <p:spPr bwMode="auto">
          <a:xfrm>
            <a:off x="1042988" y="3860800"/>
            <a:ext cx="2592387"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endParaRPr lang="de-DE" altLang="zh-CN"/>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Foliennummernplatzhalter 4">
            <a:extLst>
              <a:ext uri="{FF2B5EF4-FFF2-40B4-BE49-F238E27FC236}">
                <a16:creationId xmlns:a16="http://schemas.microsoft.com/office/drawing/2014/main" id="{9EE6167B-D21C-260C-AD57-8D7774AB1E7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42AB9040-EDD7-8B4B-83B6-47CEA173AAB8}" type="slidenum">
              <a:rPr lang="de-DE" altLang="zh-CN" sz="900">
                <a:solidFill>
                  <a:srgbClr val="394073"/>
                </a:solidFill>
              </a:rPr>
              <a:pPr/>
              <a:t>24</a:t>
            </a:fld>
            <a:r>
              <a:rPr lang="de-DE" altLang="zh-CN" sz="900">
                <a:solidFill>
                  <a:srgbClr val="394073"/>
                </a:solidFill>
              </a:rPr>
              <a:t>/29</a:t>
            </a:r>
          </a:p>
        </p:txBody>
      </p:sp>
      <p:sp>
        <p:nvSpPr>
          <p:cNvPr id="58371" name="Rectangle 34">
            <a:extLst>
              <a:ext uri="{FF2B5EF4-FFF2-40B4-BE49-F238E27FC236}">
                <a16:creationId xmlns:a16="http://schemas.microsoft.com/office/drawing/2014/main" id="{126F82A1-B7FA-678D-2B8E-C0970B3321FD}"/>
              </a:ext>
            </a:extLst>
          </p:cNvPr>
          <p:cNvSpPr>
            <a:spLocks noGrp="1" noChangeArrowheads="1"/>
          </p:cNvSpPr>
          <p:nvPr>
            <p:ph type="title"/>
          </p:nvPr>
        </p:nvSpPr>
        <p:spPr/>
        <p:txBody>
          <a:bodyPr/>
          <a:lstStyle/>
          <a:p>
            <a:r>
              <a:rPr lang="en-US" altLang="zh-CN">
                <a:ea typeface="ＭＳ Ｐゴシック" panose="020B0600070205080204" pitchFamily="34" charset="-128"/>
              </a:rPr>
              <a:t>Key Schedule (1)</a:t>
            </a:r>
          </a:p>
        </p:txBody>
      </p:sp>
      <p:sp>
        <p:nvSpPr>
          <p:cNvPr id="58372" name="Rectangle 235">
            <a:extLst>
              <a:ext uri="{FF2B5EF4-FFF2-40B4-BE49-F238E27FC236}">
                <a16:creationId xmlns:a16="http://schemas.microsoft.com/office/drawing/2014/main" id="{42E7C9FA-44D5-472F-683E-A31696766130}"/>
              </a:ext>
            </a:extLst>
          </p:cNvPr>
          <p:cNvSpPr>
            <a:spLocks noGrp="1" noChangeArrowheads="1"/>
          </p:cNvSpPr>
          <p:nvPr>
            <p:ph type="body" sz="half" idx="1"/>
          </p:nvPr>
        </p:nvSpPr>
        <p:spPr>
          <a:xfrm>
            <a:off x="849313" y="1130300"/>
            <a:ext cx="6602412" cy="3435350"/>
          </a:xfrm>
          <a:noFill/>
        </p:spPr>
        <p:txBody>
          <a:bodyPr/>
          <a:lstStyle/>
          <a:p>
            <a:pPr marL="342900" indent="-342900"/>
            <a:r>
              <a:rPr lang="de-DE" altLang="zh-CN" dirty="0" err="1">
                <a:ea typeface="ＭＳ Ｐゴシック" panose="020B0600070205080204" pitchFamily="34" charset="-128"/>
              </a:rPr>
              <a:t>Derives</a:t>
            </a:r>
            <a:r>
              <a:rPr lang="de-DE" altLang="zh-CN" dirty="0">
                <a:ea typeface="ＭＳ Ｐゴシック" panose="020B0600070205080204" pitchFamily="34" charset="-128"/>
              </a:rPr>
              <a:t> 16 </a:t>
            </a:r>
            <a:r>
              <a:rPr lang="de-DE" altLang="zh-CN" dirty="0" err="1">
                <a:ea typeface="ＭＳ Ｐゴシック" panose="020B0600070205080204" pitchFamily="34" charset="-128"/>
              </a:rPr>
              <a:t>round</a:t>
            </a:r>
            <a:r>
              <a:rPr lang="de-DE" altLang="zh-CN" dirty="0">
                <a:ea typeface="ＭＳ Ｐゴシック" panose="020B0600070205080204" pitchFamily="34" charset="-128"/>
              </a:rPr>
              <a:t> </a:t>
            </a:r>
            <a:r>
              <a:rPr lang="de-DE" altLang="zh-CN" dirty="0" err="1">
                <a:ea typeface="ＭＳ Ｐゴシック" panose="020B0600070205080204" pitchFamily="34" charset="-128"/>
              </a:rPr>
              <a:t>keys</a:t>
            </a:r>
            <a:r>
              <a:rPr lang="de-DE" altLang="zh-CN" dirty="0">
                <a:ea typeface="ＭＳ Ｐゴシック" panose="020B0600070205080204" pitchFamily="34" charset="-128"/>
              </a:rPr>
              <a:t> (</a:t>
            </a:r>
            <a:r>
              <a:rPr lang="de-DE" altLang="zh-CN" dirty="0" err="1">
                <a:ea typeface="ＭＳ Ｐゴシック" panose="020B0600070205080204" pitchFamily="34" charset="-128"/>
              </a:rPr>
              <a:t>or</a:t>
            </a:r>
            <a:r>
              <a:rPr lang="de-DE" altLang="zh-CN" dirty="0">
                <a:ea typeface="ＭＳ Ｐゴシック" panose="020B0600070205080204" pitchFamily="34" charset="-128"/>
              </a:rPr>
              <a:t> </a:t>
            </a:r>
            <a:r>
              <a:rPr lang="de-DE" altLang="zh-CN" i="1" dirty="0" err="1">
                <a:ea typeface="ＭＳ Ｐゴシック" panose="020B0600070205080204" pitchFamily="34" charset="-128"/>
              </a:rPr>
              <a:t>subkeys</a:t>
            </a:r>
            <a:r>
              <a:rPr lang="de-DE" altLang="zh-CN" dirty="0">
                <a:ea typeface="ＭＳ Ｐゴシック" panose="020B0600070205080204" pitchFamily="34" charset="-128"/>
              </a:rPr>
              <a:t>) </a:t>
            </a:r>
            <a:r>
              <a:rPr lang="de-DE" altLang="zh-CN" i="1" dirty="0" err="1">
                <a:ea typeface="ＭＳ Ｐゴシック" panose="020B0600070205080204" pitchFamily="34" charset="-128"/>
              </a:rPr>
              <a:t>k</a:t>
            </a:r>
            <a:r>
              <a:rPr lang="de-DE" altLang="zh-CN" i="1" baseline="-25000" dirty="0" err="1">
                <a:ea typeface="ＭＳ Ｐゴシック" panose="020B0600070205080204" pitchFamily="34" charset="-128"/>
              </a:rPr>
              <a:t>i</a:t>
            </a:r>
            <a:r>
              <a:rPr lang="de-DE" altLang="zh-CN" dirty="0">
                <a:ea typeface="ＭＳ Ｐゴシック" panose="020B0600070205080204" pitchFamily="34" charset="-128"/>
              </a:rPr>
              <a: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48 </a:t>
            </a:r>
            <a:r>
              <a:rPr lang="de-DE" altLang="zh-CN" dirty="0" err="1">
                <a:ea typeface="ＭＳ Ｐゴシック" panose="020B0600070205080204" pitchFamily="34" charset="-128"/>
              </a:rPr>
              <a:t>bits</a:t>
            </a:r>
            <a:r>
              <a:rPr lang="de-DE" altLang="zh-CN" dirty="0">
                <a:ea typeface="ＭＳ Ｐゴシック" panose="020B0600070205080204" pitchFamily="34" charset="-128"/>
              </a:rPr>
              <a:t> </a:t>
            </a:r>
            <a:r>
              <a:rPr lang="de-DE" altLang="zh-CN" dirty="0" err="1">
                <a:ea typeface="ＭＳ Ｐゴシック" panose="020B0600070205080204" pitchFamily="34" charset="-128"/>
              </a:rPr>
              <a:t>each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from</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original 56 </a:t>
            </a:r>
            <a:r>
              <a:rPr lang="de-DE" altLang="zh-CN" dirty="0" err="1">
                <a:ea typeface="ＭＳ Ｐゴシック" panose="020B0600070205080204" pitchFamily="34" charset="-128"/>
              </a:rPr>
              <a:t>bit</a:t>
            </a:r>
            <a:r>
              <a:rPr lang="de-DE" altLang="zh-CN" dirty="0">
                <a:ea typeface="ＭＳ Ｐゴシック" panose="020B0600070205080204" pitchFamily="34" charset="-128"/>
              </a:rPr>
              <a:t> </a:t>
            </a:r>
            <a:r>
              <a:rPr lang="de-DE" altLang="zh-CN" dirty="0" err="1">
                <a:ea typeface="ＭＳ Ｐゴシック" panose="020B0600070205080204" pitchFamily="34" charset="-128"/>
              </a:rPr>
              <a:t>key</a:t>
            </a:r>
            <a:r>
              <a:rPr lang="de-DE" altLang="zh-CN" dirty="0">
                <a:ea typeface="ＭＳ Ｐゴシック" panose="020B0600070205080204" pitchFamily="34" charset="-128"/>
              </a:rPr>
              <a:t>.</a:t>
            </a:r>
          </a:p>
          <a:p>
            <a:pPr marL="342900" indent="-342900"/>
            <a:r>
              <a:rPr lang="de-DE" altLang="zh-CN" dirty="0">
                <a:ea typeface="ＭＳ Ｐゴシック" panose="020B0600070205080204" pitchFamily="34" charset="-128"/>
              </a:rPr>
              <a:t>The input </a:t>
            </a:r>
            <a:r>
              <a:rPr lang="de-DE" altLang="zh-CN" dirty="0" err="1">
                <a:ea typeface="ＭＳ Ｐゴシック" panose="020B0600070205080204" pitchFamily="34" charset="-128"/>
              </a:rPr>
              <a:t>key</a:t>
            </a:r>
            <a:r>
              <a:rPr lang="de-DE" altLang="zh-CN" dirty="0">
                <a:ea typeface="ＭＳ Ｐゴシック" panose="020B0600070205080204" pitchFamily="34" charset="-128"/>
              </a:rPr>
              <a:t> </a:t>
            </a:r>
            <a:r>
              <a:rPr lang="de-DE" altLang="zh-CN" dirty="0" err="1">
                <a:ea typeface="ＭＳ Ｐゴシック" panose="020B0600070205080204" pitchFamily="34" charset="-128"/>
              </a:rPr>
              <a:t>size</a:t>
            </a:r>
            <a:r>
              <a:rPr lang="de-DE" altLang="zh-CN" dirty="0">
                <a:ea typeface="ＭＳ Ｐゴシック" panose="020B0600070205080204" pitchFamily="34" charset="-128"/>
              </a:rPr>
              <a: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DES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64 </a:t>
            </a:r>
            <a:r>
              <a:rPr lang="de-DE" altLang="zh-CN" dirty="0" err="1">
                <a:ea typeface="ＭＳ Ｐゴシック" panose="020B0600070205080204" pitchFamily="34" charset="-128"/>
              </a:rPr>
              <a:t>bit</a:t>
            </a:r>
            <a:r>
              <a:rPr lang="de-DE" altLang="zh-CN" dirty="0">
                <a:ea typeface="ＭＳ Ｐゴシック" panose="020B0600070205080204" pitchFamily="34" charset="-128"/>
              </a:rPr>
              <a:t>: </a:t>
            </a:r>
            <a:r>
              <a:rPr lang="de-DE" altLang="zh-CN" b="1" dirty="0">
                <a:ea typeface="ＭＳ Ｐゴシック" panose="020B0600070205080204" pitchFamily="34" charset="-128"/>
              </a:rPr>
              <a:t>56 </a:t>
            </a:r>
            <a:r>
              <a:rPr lang="de-DE" altLang="zh-CN" b="1" dirty="0" err="1">
                <a:ea typeface="ＭＳ Ｐゴシック" panose="020B0600070205080204" pitchFamily="34" charset="-128"/>
              </a:rPr>
              <a:t>bit</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key</a:t>
            </a:r>
            <a:r>
              <a:rPr lang="de-DE" altLang="zh-CN" dirty="0">
                <a:ea typeface="ＭＳ Ｐゴシック" panose="020B0600070205080204" pitchFamily="34" charset="-128"/>
              </a:rPr>
              <a:t> and 8 </a:t>
            </a:r>
            <a:r>
              <a:rPr lang="de-DE" altLang="zh-CN" dirty="0" err="1">
                <a:ea typeface="ＭＳ Ｐゴシック" panose="020B0600070205080204" pitchFamily="34" charset="-128"/>
              </a:rPr>
              <a:t>bit</a:t>
            </a:r>
            <a:r>
              <a:rPr lang="de-DE" altLang="zh-CN" dirty="0">
                <a:ea typeface="ＭＳ Ｐゴシック" panose="020B0600070205080204" pitchFamily="34" charset="-128"/>
              </a:rPr>
              <a:t> </a:t>
            </a:r>
            <a:r>
              <a:rPr lang="de-DE" altLang="zh-CN" dirty="0" err="1">
                <a:ea typeface="ＭＳ Ｐゴシック" panose="020B0600070205080204" pitchFamily="34" charset="-128"/>
              </a:rPr>
              <a:t>parity</a:t>
            </a:r>
            <a:r>
              <a:rPr lang="de-DE" altLang="zh-CN" dirty="0">
                <a:ea typeface="ＭＳ Ｐゴシック" panose="020B0600070205080204" pitchFamily="34" charset="-128"/>
              </a:rPr>
              <a:t>:</a:t>
            </a:r>
            <a:br>
              <a:rPr lang="de-DE" altLang="zh-CN" dirty="0">
                <a:ea typeface="ＭＳ Ｐゴシック" panose="020B0600070205080204" pitchFamily="34" charset="-128"/>
              </a:rPr>
            </a:br>
            <a:endParaRPr lang="de-DE" altLang="zh-CN" dirty="0">
              <a:ea typeface="ＭＳ Ｐゴシック" panose="020B0600070205080204" pitchFamily="34" charset="-128"/>
            </a:endParaRPr>
          </a:p>
          <a:p>
            <a:pPr marL="342900" indent="-342900"/>
            <a:endParaRPr lang="de-DE" altLang="zh-CN" dirty="0">
              <a:ea typeface="ＭＳ Ｐゴシック" panose="020B0600070205080204" pitchFamily="34" charset="-128"/>
            </a:endParaRPr>
          </a:p>
          <a:p>
            <a:pPr marL="342900" indent="-342900"/>
            <a:endParaRPr lang="de-DE" altLang="zh-CN" dirty="0">
              <a:ea typeface="ＭＳ Ｐゴシック" panose="020B0600070205080204" pitchFamily="34" charset="-128"/>
            </a:endParaRPr>
          </a:p>
          <a:p>
            <a:pPr marL="342900" indent="-342900"/>
            <a:endParaRPr lang="de-DE" altLang="zh-CN" dirty="0">
              <a:ea typeface="ＭＳ Ｐゴシック" panose="020B0600070205080204" pitchFamily="34" charset="-128"/>
            </a:endParaRPr>
          </a:p>
          <a:p>
            <a:pPr marL="342900" indent="-342900"/>
            <a:endParaRPr lang="de-DE" altLang="zh-CN" dirty="0">
              <a:ea typeface="ＭＳ Ｐゴシック" panose="020B0600070205080204" pitchFamily="34" charset="-128"/>
            </a:endParaRPr>
          </a:p>
          <a:p>
            <a:pPr marL="342900" indent="-342900"/>
            <a:r>
              <a:rPr lang="de-DE" altLang="zh-CN" b="1" dirty="0">
                <a:ea typeface="ＭＳ Ｐゴシック" panose="020B0600070205080204" pitchFamily="34" charset="-128"/>
              </a:rPr>
              <a:t>Parity </a:t>
            </a:r>
            <a:r>
              <a:rPr lang="de-DE" altLang="zh-CN" b="1" dirty="0" err="1">
                <a:ea typeface="ＭＳ Ｐゴシック" panose="020B0600070205080204" pitchFamily="34" charset="-128"/>
              </a:rPr>
              <a:t>bits</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are</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removed</a:t>
            </a:r>
            <a:r>
              <a:rPr lang="de-DE" altLang="zh-CN" dirty="0">
                <a:ea typeface="ＭＳ Ｐゴシック" panose="020B0600070205080204" pitchFamily="34" charset="-128"/>
              </a:rPr>
              <a:t> in a </a:t>
            </a:r>
            <a:r>
              <a:rPr lang="de-DE" altLang="zh-CN" dirty="0" err="1">
                <a:ea typeface="ＭＳ Ｐゴシック" panose="020B0600070205080204" pitchFamily="34" charset="-128"/>
              </a:rPr>
              <a:t>first</a:t>
            </a:r>
            <a:r>
              <a:rPr lang="de-DE" altLang="zh-CN" dirty="0">
                <a:ea typeface="ＭＳ Ｐゴシック" panose="020B0600070205080204" pitchFamily="34" charset="-128"/>
              </a:rPr>
              <a:t> </a:t>
            </a:r>
            <a:r>
              <a:rPr lang="de-DE" altLang="zh-CN" b="1" dirty="0" err="1">
                <a:ea typeface="ＭＳ Ｐゴシック" panose="020B0600070205080204" pitchFamily="34" charset="-128"/>
              </a:rPr>
              <a:t>permuted</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choice</a:t>
            </a:r>
            <a:r>
              <a:rPr lang="de-DE" altLang="zh-CN" dirty="0">
                <a:ea typeface="ＭＳ Ｐゴシック" panose="020B0600070205080204" pitchFamily="34" charset="-128"/>
              </a:rPr>
              <a:t> </a:t>
            </a:r>
            <a:r>
              <a:rPr lang="de-DE" altLang="zh-CN" i="1" dirty="0">
                <a:ea typeface="ＭＳ Ｐゴシック" panose="020B0600070205080204" pitchFamily="34" charset="-128"/>
              </a:rPr>
              <a:t>PC-1</a:t>
            </a:r>
            <a:r>
              <a:rPr lang="de-DE" altLang="zh-CN" dirty="0">
                <a:ea typeface="ＭＳ Ｐゴシック" panose="020B0600070205080204" pitchFamily="34" charset="-128"/>
              </a:rPr>
              <a:t>:</a:t>
            </a:r>
            <a:br>
              <a:rPr lang="de-DE" altLang="zh-CN" dirty="0">
                <a:ea typeface="ＭＳ Ｐゴシック" panose="020B0600070205080204" pitchFamily="34" charset="-128"/>
              </a:rPr>
            </a:br>
            <a:r>
              <a:rPr lang="de-DE" altLang="zh-CN" dirty="0">
                <a:ea typeface="ＭＳ Ｐゴシック" panose="020B0600070205080204" pitchFamily="34" charset="-128"/>
              </a:rPr>
              <a:t>(</a:t>
            </a:r>
            <a:r>
              <a:rPr lang="de-DE" altLang="zh-CN" dirty="0" err="1">
                <a:ea typeface="ＭＳ Ｐゴシック" panose="020B0600070205080204" pitchFamily="34" charset="-128"/>
              </a:rPr>
              <a:t>note</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that</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dirty="0" err="1">
                <a:ea typeface="ＭＳ Ｐゴシック" panose="020B0600070205080204" pitchFamily="34" charset="-128"/>
              </a:rPr>
              <a:t>bits</a:t>
            </a:r>
            <a:r>
              <a:rPr lang="de-DE" altLang="zh-CN" dirty="0">
                <a:ea typeface="ＭＳ Ｐゴシック" panose="020B0600070205080204" pitchFamily="34" charset="-128"/>
              </a:rPr>
              <a:t> 8, 16, 24, 32, 40, 48, 56 and 64 </a:t>
            </a:r>
            <a:r>
              <a:rPr lang="de-DE" altLang="zh-CN" dirty="0" err="1">
                <a:ea typeface="ＭＳ Ｐゴシック" panose="020B0600070205080204" pitchFamily="34" charset="-128"/>
              </a:rPr>
              <a:t>are</a:t>
            </a:r>
            <a:r>
              <a:rPr lang="de-DE" altLang="zh-CN" dirty="0">
                <a:ea typeface="ＭＳ Ｐゴシック" panose="020B0600070205080204" pitchFamily="34" charset="-128"/>
              </a:rPr>
              <a:t> not </a:t>
            </a:r>
            <a:r>
              <a:rPr lang="de-DE" altLang="zh-CN" dirty="0" err="1">
                <a:ea typeface="ＭＳ Ｐゴシック" panose="020B0600070205080204" pitchFamily="34" charset="-128"/>
              </a:rPr>
              <a:t>used</a:t>
            </a:r>
            <a:r>
              <a:rPr lang="de-DE" altLang="zh-CN" dirty="0">
                <a:ea typeface="ＭＳ Ｐゴシック" panose="020B0600070205080204" pitchFamily="34" charset="-128"/>
              </a:rPr>
              <a:t> at all)</a:t>
            </a:r>
          </a:p>
        </p:txBody>
      </p:sp>
      <p:pic>
        <p:nvPicPr>
          <p:cNvPr id="58373" name="Picture 266">
            <a:extLst>
              <a:ext uri="{FF2B5EF4-FFF2-40B4-BE49-F238E27FC236}">
                <a16:creationId xmlns:a16="http://schemas.microsoft.com/office/drawing/2014/main" id="{43F8831D-8D5E-ED5F-8E34-391543561BA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413000" y="2309813"/>
            <a:ext cx="4175125" cy="1479550"/>
          </a:xfrm>
          <a:noFill/>
        </p:spPr>
      </p:pic>
      <p:pic>
        <p:nvPicPr>
          <p:cNvPr id="58374" name="Picture 270">
            <a:extLst>
              <a:ext uri="{FF2B5EF4-FFF2-40B4-BE49-F238E27FC236}">
                <a16:creationId xmlns:a16="http://schemas.microsoft.com/office/drawing/2014/main" id="{84165448-792E-4859-75CC-9F65FC16E9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4746625"/>
            <a:ext cx="1873250"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5" name="Text Box 9">
            <a:extLst>
              <a:ext uri="{FF2B5EF4-FFF2-40B4-BE49-F238E27FC236}">
                <a16:creationId xmlns:a16="http://schemas.microsoft.com/office/drawing/2014/main" id="{2AF2607D-EB1A-F3A1-8B40-4B9E8F8A5FB4}"/>
              </a:ext>
            </a:extLst>
          </p:cNvPr>
          <p:cNvSpPr txBox="1">
            <a:spLocks noChangeArrowheads="1"/>
          </p:cNvSpPr>
          <p:nvPr/>
        </p:nvSpPr>
        <p:spPr bwMode="auto">
          <a:xfrm>
            <a:off x="6021388" y="1341438"/>
            <a:ext cx="134937"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de-DE" altLang="zh-CN" sz="3200" b="1">
                <a:solidFill>
                  <a:srgbClr val="FF0000"/>
                </a:solidFill>
              </a:rPr>
              <a:t>!</a:t>
            </a:r>
          </a:p>
        </p:txBody>
      </p:sp>
      <p:sp>
        <p:nvSpPr>
          <p:cNvPr id="58376" name="Line 10">
            <a:extLst>
              <a:ext uri="{FF2B5EF4-FFF2-40B4-BE49-F238E27FC236}">
                <a16:creationId xmlns:a16="http://schemas.microsoft.com/office/drawing/2014/main" id="{2D1858CE-1A51-15DF-99D2-6E6651F90C41}"/>
              </a:ext>
            </a:extLst>
          </p:cNvPr>
          <p:cNvSpPr>
            <a:spLocks noChangeShapeType="1"/>
          </p:cNvSpPr>
          <p:nvPr/>
        </p:nvSpPr>
        <p:spPr bwMode="auto">
          <a:xfrm flipH="1">
            <a:off x="5651500" y="1628775"/>
            <a:ext cx="287338" cy="2159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58377" name="Oval 11">
            <a:extLst>
              <a:ext uri="{FF2B5EF4-FFF2-40B4-BE49-F238E27FC236}">
                <a16:creationId xmlns:a16="http://schemas.microsoft.com/office/drawing/2014/main" id="{2D7B8C3E-1F20-F292-97B3-BC749B1C6E65}"/>
              </a:ext>
            </a:extLst>
          </p:cNvPr>
          <p:cNvSpPr>
            <a:spLocks noChangeArrowheads="1"/>
          </p:cNvSpPr>
          <p:nvPr/>
        </p:nvSpPr>
        <p:spPr bwMode="auto">
          <a:xfrm>
            <a:off x="4643438" y="1714500"/>
            <a:ext cx="1004887" cy="4318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endParaRPr lang="de-DE" altLang="zh-CN">
              <a:solidFill>
                <a:srgbClr val="FF0000"/>
              </a:solidFill>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Foliennummernplatzhalter 4">
            <a:extLst>
              <a:ext uri="{FF2B5EF4-FFF2-40B4-BE49-F238E27FC236}">
                <a16:creationId xmlns:a16="http://schemas.microsoft.com/office/drawing/2014/main" id="{BAA7D7CA-FFA1-DF2A-B0EA-21D67489CE7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DC6EAF9-95F5-B54C-B0EE-91111C12EED9}" type="slidenum">
              <a:rPr lang="de-DE" altLang="zh-CN" sz="900">
                <a:solidFill>
                  <a:srgbClr val="394073"/>
                </a:solidFill>
              </a:rPr>
              <a:pPr/>
              <a:t>25</a:t>
            </a:fld>
            <a:r>
              <a:rPr lang="de-DE" altLang="zh-CN" sz="900">
                <a:solidFill>
                  <a:srgbClr val="394073"/>
                </a:solidFill>
              </a:rPr>
              <a:t>/29</a:t>
            </a:r>
          </a:p>
        </p:txBody>
      </p:sp>
      <p:pic>
        <p:nvPicPr>
          <p:cNvPr id="60419" name="Picture 7" descr="sched_flow">
            <a:extLst>
              <a:ext uri="{FF2B5EF4-FFF2-40B4-BE49-F238E27FC236}">
                <a16:creationId xmlns:a16="http://schemas.microsoft.com/office/drawing/2014/main" id="{0D2694A4-3292-F316-1318-DE3F3F18EBB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965700" y="339725"/>
            <a:ext cx="3927475" cy="5610225"/>
          </a:xfrm>
          <a:noFill/>
        </p:spPr>
      </p:pic>
      <p:sp>
        <p:nvSpPr>
          <p:cNvPr id="60420" name="Rectangle 2">
            <a:extLst>
              <a:ext uri="{FF2B5EF4-FFF2-40B4-BE49-F238E27FC236}">
                <a16:creationId xmlns:a16="http://schemas.microsoft.com/office/drawing/2014/main" id="{1963067D-6D40-81F4-E635-AB332D4D447B}"/>
              </a:ext>
            </a:extLst>
          </p:cNvPr>
          <p:cNvSpPr>
            <a:spLocks noGrp="1" noChangeArrowheads="1"/>
          </p:cNvSpPr>
          <p:nvPr>
            <p:ph type="title"/>
          </p:nvPr>
        </p:nvSpPr>
        <p:spPr/>
        <p:txBody>
          <a:bodyPr/>
          <a:lstStyle/>
          <a:p>
            <a:r>
              <a:rPr lang="en-US" altLang="zh-CN">
                <a:ea typeface="ＭＳ Ｐゴシック" panose="020B0600070205080204" pitchFamily="34" charset="-128"/>
              </a:rPr>
              <a:t>Key Schedule (2)</a:t>
            </a:r>
          </a:p>
        </p:txBody>
      </p:sp>
      <p:sp>
        <p:nvSpPr>
          <p:cNvPr id="60421" name="Rectangle 3">
            <a:extLst>
              <a:ext uri="{FF2B5EF4-FFF2-40B4-BE49-F238E27FC236}">
                <a16:creationId xmlns:a16="http://schemas.microsoft.com/office/drawing/2014/main" id="{2F6EBEED-8B88-BDEA-07B3-8EF885614155}"/>
              </a:ext>
            </a:extLst>
          </p:cNvPr>
          <p:cNvSpPr>
            <a:spLocks noGrp="1" noChangeArrowheads="1"/>
          </p:cNvSpPr>
          <p:nvPr>
            <p:ph type="body" sz="half" idx="1"/>
          </p:nvPr>
        </p:nvSpPr>
        <p:spPr>
          <a:xfrm>
            <a:off x="468313" y="836613"/>
            <a:ext cx="4967287" cy="5976937"/>
          </a:xfrm>
          <a:noFill/>
        </p:spPr>
        <p:txBody>
          <a:bodyPr/>
          <a:lstStyle/>
          <a:p>
            <a:pPr marL="342900" indent="-342900"/>
            <a:r>
              <a:rPr lang="de-DE" altLang="zh-CN" dirty="0">
                <a:ea typeface="ＭＳ Ｐゴシック" panose="020B0600070205080204" pitchFamily="34" charset="-128"/>
              </a:rPr>
              <a:t>Split </a:t>
            </a:r>
            <a:r>
              <a:rPr lang="de-DE" altLang="zh-CN" dirty="0" err="1">
                <a:ea typeface="ＭＳ Ｐゴシック" panose="020B0600070205080204" pitchFamily="34" charset="-128"/>
              </a:rPr>
              <a:t>key</a:t>
            </a:r>
            <a:r>
              <a:rPr lang="de-DE" altLang="zh-CN" dirty="0">
                <a:ea typeface="ＭＳ Ｐゴシック" panose="020B0600070205080204" pitchFamily="34" charset="-128"/>
              </a:rPr>
              <a:t> </a:t>
            </a:r>
            <a:r>
              <a:rPr lang="de-DE" altLang="zh-CN" dirty="0" err="1">
                <a:ea typeface="ＭＳ Ｐゴシック" panose="020B0600070205080204" pitchFamily="34" charset="-128"/>
              </a:rPr>
              <a:t>into</a:t>
            </a:r>
            <a:r>
              <a:rPr lang="de-DE" altLang="zh-CN" dirty="0">
                <a:ea typeface="ＭＳ Ｐゴシック" panose="020B0600070205080204" pitchFamily="34" charset="-128"/>
              </a:rPr>
              <a:t> 28-bit </a:t>
            </a:r>
            <a:r>
              <a:rPr lang="de-DE" altLang="zh-CN" dirty="0" err="1">
                <a:ea typeface="ＭＳ Ｐゴシック" panose="020B0600070205080204" pitchFamily="34" charset="-128"/>
              </a:rPr>
              <a:t>halves</a:t>
            </a:r>
            <a:r>
              <a:rPr lang="de-DE" altLang="zh-CN" dirty="0">
                <a:ea typeface="ＭＳ Ｐゴシック" panose="020B0600070205080204" pitchFamily="34" charset="-128"/>
              </a:rPr>
              <a:t> </a:t>
            </a:r>
            <a:r>
              <a:rPr lang="de-DE" altLang="zh-CN" i="1" dirty="0">
                <a:ea typeface="ＭＳ Ｐゴシック" panose="020B0600070205080204" pitchFamily="34" charset="-128"/>
              </a:rPr>
              <a:t>C</a:t>
            </a:r>
            <a:r>
              <a:rPr lang="de-DE" altLang="zh-CN" i="1" baseline="-25000" dirty="0">
                <a:ea typeface="ＭＳ Ｐゴシック" panose="020B0600070205080204" pitchFamily="34" charset="-128"/>
              </a:rPr>
              <a:t>0</a:t>
            </a:r>
            <a:r>
              <a:rPr lang="de-DE" altLang="zh-CN" dirty="0">
                <a:ea typeface="ＭＳ Ｐゴシック" panose="020B0600070205080204" pitchFamily="34" charset="-128"/>
              </a:rPr>
              <a:t> and </a:t>
            </a:r>
            <a:r>
              <a:rPr lang="de-DE" altLang="zh-CN" i="1" dirty="0">
                <a:ea typeface="ＭＳ Ｐゴシック" panose="020B0600070205080204" pitchFamily="34" charset="-128"/>
              </a:rPr>
              <a:t>D</a:t>
            </a:r>
            <a:r>
              <a:rPr lang="de-DE" altLang="zh-CN" i="1" baseline="-25000" dirty="0">
                <a:ea typeface="ＭＳ Ｐゴシック" panose="020B0600070205080204" pitchFamily="34" charset="-128"/>
              </a:rPr>
              <a:t>0</a:t>
            </a:r>
            <a:r>
              <a:rPr lang="de-DE" altLang="zh-CN" dirty="0">
                <a:ea typeface="ＭＳ Ｐゴシック" panose="020B0600070205080204" pitchFamily="34" charset="-128"/>
              </a:rPr>
              <a:t>.</a:t>
            </a:r>
          </a:p>
          <a:p>
            <a:pPr marL="342900" indent="-342900"/>
            <a:endParaRPr lang="de-DE" altLang="zh-CN" sz="1200" dirty="0">
              <a:ea typeface="ＭＳ Ｐゴシック" panose="020B0600070205080204" pitchFamily="34" charset="-128"/>
            </a:endParaRPr>
          </a:p>
          <a:p>
            <a:pPr marL="342900" indent="-342900"/>
            <a:r>
              <a:rPr lang="de-DE" altLang="zh-CN" dirty="0">
                <a:ea typeface="ＭＳ Ｐゴシック" panose="020B0600070205080204" pitchFamily="34" charset="-128"/>
              </a:rPr>
              <a:t>In </a:t>
            </a:r>
            <a:r>
              <a:rPr lang="de-DE" altLang="zh-CN" b="1" dirty="0" err="1">
                <a:ea typeface="ＭＳ Ｐゴシック" panose="020B0600070205080204" pitchFamily="34" charset="-128"/>
              </a:rPr>
              <a:t>rounds</a:t>
            </a:r>
            <a:r>
              <a:rPr lang="de-DE" altLang="zh-CN" b="1" dirty="0">
                <a:ea typeface="ＭＳ Ｐゴシック" panose="020B0600070205080204" pitchFamily="34" charset="-128"/>
              </a:rPr>
              <a:t> </a:t>
            </a:r>
            <a:r>
              <a:rPr lang="de-DE" altLang="zh-CN" b="1" i="1" dirty="0">
                <a:ea typeface="ＭＳ Ｐゴシック" panose="020B0600070205080204" pitchFamily="34" charset="-128"/>
              </a:rPr>
              <a:t>i</a:t>
            </a:r>
            <a:r>
              <a:rPr lang="de-DE" altLang="zh-CN" b="1" dirty="0">
                <a:ea typeface="ＭＳ Ｐゴシック" panose="020B0600070205080204" pitchFamily="34" charset="-128"/>
              </a:rPr>
              <a:t> = 1</a:t>
            </a:r>
            <a:r>
              <a:rPr lang="de-DE" altLang="zh-CN" b="1" i="1" dirty="0">
                <a:ea typeface="ＭＳ Ｐゴシック" panose="020B0600070205080204" pitchFamily="34" charset="-128"/>
              </a:rPr>
              <a:t>, </a:t>
            </a:r>
            <a:r>
              <a:rPr lang="de-DE" altLang="zh-CN" b="1" dirty="0">
                <a:ea typeface="ＭＳ Ｐゴシック" panose="020B0600070205080204" pitchFamily="34" charset="-128"/>
              </a:rPr>
              <a:t>2</a:t>
            </a:r>
            <a:r>
              <a:rPr lang="de-DE" altLang="zh-CN" b="1" i="1" dirty="0">
                <a:ea typeface="ＭＳ Ｐゴシック" panose="020B0600070205080204" pitchFamily="34" charset="-128"/>
              </a:rPr>
              <a:t>, </a:t>
            </a:r>
            <a:r>
              <a:rPr lang="de-DE" altLang="zh-CN" b="1" dirty="0">
                <a:ea typeface="ＭＳ Ｐゴシック" panose="020B0600070205080204" pitchFamily="34" charset="-128"/>
              </a:rPr>
              <a:t>9</a:t>
            </a:r>
            <a:r>
              <a:rPr lang="de-DE" altLang="zh-CN" b="1" i="1" dirty="0">
                <a:ea typeface="ＭＳ Ｐゴシック" panose="020B0600070205080204" pitchFamily="34" charset="-128"/>
              </a:rPr>
              <a:t> ,</a:t>
            </a:r>
            <a:r>
              <a:rPr lang="de-DE" altLang="zh-CN" b="1" dirty="0">
                <a:ea typeface="ＭＳ Ｐゴシック" panose="020B0600070205080204" pitchFamily="34" charset="-128"/>
              </a:rPr>
              <a:t>16,</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dirty="0" err="1">
                <a:ea typeface="ＭＳ Ｐゴシック" panose="020B0600070205080204" pitchFamily="34" charset="-128"/>
              </a:rPr>
              <a:t>two</a:t>
            </a:r>
            <a:r>
              <a:rPr lang="de-DE" altLang="zh-CN" dirty="0">
                <a:ea typeface="ＭＳ Ｐゴシック" panose="020B0600070205080204" pitchFamily="34" charset="-128"/>
              </a:rPr>
              <a:t> </a:t>
            </a:r>
            <a:r>
              <a:rPr lang="de-DE" altLang="zh-CN" dirty="0" err="1">
                <a:ea typeface="ＭＳ Ｐゴシック" panose="020B0600070205080204" pitchFamily="34" charset="-128"/>
              </a:rPr>
              <a:t>halves</a:t>
            </a:r>
            <a:r>
              <a:rPr lang="de-DE" altLang="zh-CN" dirty="0">
                <a:ea typeface="ＭＳ Ｐゴシック" panose="020B0600070205080204" pitchFamily="34" charset="-128"/>
              </a:rPr>
              <a:t> </a:t>
            </a:r>
            <a:r>
              <a:rPr lang="de-DE" altLang="zh-CN" dirty="0" err="1">
                <a:ea typeface="ＭＳ Ｐゴシック" panose="020B0600070205080204" pitchFamily="34" charset="-128"/>
              </a:rPr>
              <a:t>are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each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rotated</a:t>
            </a:r>
            <a:r>
              <a:rPr lang="de-DE" altLang="zh-CN" dirty="0">
                <a:ea typeface="ＭＳ Ｐゴシック" panose="020B0600070205080204" pitchFamily="34" charset="-128"/>
              </a:rPr>
              <a:t> </a:t>
            </a:r>
            <a:r>
              <a:rPr lang="de-DE" altLang="zh-CN" dirty="0" err="1">
                <a:ea typeface="ＭＳ Ｐゴシック" panose="020B0600070205080204" pitchFamily="34" charset="-128"/>
              </a:rPr>
              <a:t>left</a:t>
            </a:r>
            <a:r>
              <a:rPr lang="de-DE" altLang="zh-CN" dirty="0">
                <a:ea typeface="ＭＳ Ｐゴシック" panose="020B0600070205080204" pitchFamily="34" charset="-128"/>
              </a:rPr>
              <a:t> </a:t>
            </a:r>
            <a:r>
              <a:rPr lang="de-DE" altLang="zh-CN" dirty="0" err="1">
                <a:ea typeface="ＭＳ Ｐゴシック" panose="020B0600070205080204" pitchFamily="34" charset="-128"/>
              </a:rPr>
              <a:t>by</a:t>
            </a:r>
            <a:r>
              <a:rPr lang="de-DE" altLang="zh-CN" dirty="0">
                <a:ea typeface="ＭＳ Ｐゴシック" panose="020B0600070205080204" pitchFamily="34" charset="-128"/>
              </a:rPr>
              <a:t> </a:t>
            </a:r>
            <a:r>
              <a:rPr lang="de-DE" altLang="zh-CN" b="1" dirty="0" err="1">
                <a:ea typeface="ＭＳ Ｐゴシック" panose="020B0600070205080204" pitchFamily="34" charset="-128"/>
              </a:rPr>
              <a:t>one</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bit</a:t>
            </a:r>
            <a:r>
              <a:rPr lang="de-DE" altLang="zh-CN" dirty="0">
                <a:ea typeface="ＭＳ Ｐゴシック" panose="020B0600070205080204" pitchFamily="34" charset="-128"/>
              </a:rPr>
              <a:t>.</a:t>
            </a:r>
          </a:p>
          <a:p>
            <a:pPr marL="342900" indent="-342900"/>
            <a:endParaRPr lang="de-DE" altLang="zh-CN" sz="1200" dirty="0">
              <a:ea typeface="ＭＳ Ｐゴシック" panose="020B0600070205080204" pitchFamily="34" charset="-128"/>
            </a:endParaRPr>
          </a:p>
          <a:p>
            <a:pPr marL="342900" indent="-342900"/>
            <a:r>
              <a:rPr lang="de-DE" altLang="zh-CN" dirty="0">
                <a:ea typeface="ＭＳ Ｐゴシック" panose="020B0600070205080204" pitchFamily="34" charset="-128"/>
              </a:rPr>
              <a:t>In </a:t>
            </a:r>
            <a:r>
              <a:rPr lang="de-DE" altLang="zh-CN" b="1" dirty="0">
                <a:ea typeface="ＭＳ Ｐゴシック" panose="020B0600070205080204" pitchFamily="34" charset="-128"/>
              </a:rPr>
              <a:t>all </a:t>
            </a:r>
            <a:r>
              <a:rPr lang="de-DE" altLang="zh-CN" b="1" dirty="0" err="1">
                <a:ea typeface="ＭＳ Ｐゴシック" panose="020B0600070205080204" pitchFamily="34" charset="-128"/>
              </a:rPr>
              <a:t>other</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rounds</a:t>
            </a:r>
            <a:r>
              <a:rPr lang="de-DE" altLang="zh-CN" dirty="0">
                <a:ea typeface="ＭＳ Ｐゴシック" panose="020B0600070205080204" pitchFamily="34" charset="-128"/>
              </a:rPr>
              <a:t> </a:t>
            </a:r>
            <a:r>
              <a:rPr lang="de-DE" altLang="zh-CN" dirty="0" err="1">
                <a:ea typeface="ＭＳ Ｐゴシック" panose="020B0600070205080204" pitchFamily="34" charset="-128"/>
              </a:rPr>
              <a:t>where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dirty="0" err="1">
                <a:ea typeface="ＭＳ Ｐゴシック" panose="020B0600070205080204" pitchFamily="34" charset="-128"/>
              </a:rPr>
              <a:t>two</a:t>
            </a:r>
            <a:r>
              <a:rPr lang="de-DE" altLang="zh-CN" dirty="0">
                <a:ea typeface="ＭＳ Ｐゴシック" panose="020B0600070205080204" pitchFamily="34" charset="-128"/>
              </a:rPr>
              <a:t> </a:t>
            </a:r>
            <a:r>
              <a:rPr lang="de-DE" altLang="zh-CN" dirty="0" err="1">
                <a:ea typeface="ＭＳ Ｐゴシック" panose="020B0600070205080204" pitchFamily="34" charset="-128"/>
              </a:rPr>
              <a:t>halves</a:t>
            </a:r>
            <a:r>
              <a:rPr lang="de-DE" altLang="zh-CN" dirty="0">
                <a:ea typeface="ＭＳ Ｐゴシック" panose="020B0600070205080204" pitchFamily="34" charset="-128"/>
              </a:rPr>
              <a:t> </a:t>
            </a:r>
            <a:r>
              <a:rPr lang="de-DE" altLang="zh-CN" dirty="0" err="1">
                <a:ea typeface="ＭＳ Ｐゴシック" panose="020B0600070205080204" pitchFamily="34" charset="-128"/>
              </a:rPr>
              <a:t>are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each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rotated</a:t>
            </a:r>
            <a:r>
              <a:rPr lang="de-DE" altLang="zh-CN" dirty="0">
                <a:ea typeface="ＭＳ Ｐゴシック" panose="020B0600070205080204" pitchFamily="34" charset="-128"/>
              </a:rPr>
              <a:t> </a:t>
            </a:r>
            <a:r>
              <a:rPr lang="de-DE" altLang="zh-CN" dirty="0" err="1">
                <a:ea typeface="ＭＳ Ｐゴシック" panose="020B0600070205080204" pitchFamily="34" charset="-128"/>
              </a:rPr>
              <a:t>left</a:t>
            </a:r>
            <a:r>
              <a:rPr lang="de-DE" altLang="zh-CN" dirty="0">
                <a:ea typeface="ＭＳ Ｐゴシック" panose="020B0600070205080204" pitchFamily="34" charset="-128"/>
              </a:rPr>
              <a:t> </a:t>
            </a:r>
            <a:r>
              <a:rPr lang="de-DE" altLang="zh-CN" dirty="0" err="1">
                <a:ea typeface="ＭＳ Ｐゴシック" panose="020B0600070205080204" pitchFamily="34" charset="-128"/>
              </a:rPr>
              <a:t>by</a:t>
            </a:r>
            <a:r>
              <a:rPr lang="de-DE" altLang="zh-CN" dirty="0">
                <a:ea typeface="ＭＳ Ｐゴシック" panose="020B0600070205080204" pitchFamily="34" charset="-128"/>
              </a:rPr>
              <a:t> </a:t>
            </a:r>
            <a:r>
              <a:rPr lang="de-DE" altLang="zh-CN" b="1" dirty="0" err="1">
                <a:ea typeface="ＭＳ Ｐゴシック" panose="020B0600070205080204" pitchFamily="34" charset="-128"/>
              </a:rPr>
              <a:t>two</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bits</a:t>
            </a:r>
            <a:r>
              <a:rPr lang="de-DE" altLang="zh-CN" dirty="0">
                <a:ea typeface="ＭＳ Ｐゴシック" panose="020B0600070205080204" pitchFamily="34" charset="-128"/>
              </a:rPr>
              <a:t>.</a:t>
            </a:r>
          </a:p>
          <a:p>
            <a:pPr marL="342900" indent="-342900"/>
            <a:endParaRPr lang="de-DE" altLang="zh-CN" sz="1200" dirty="0">
              <a:ea typeface="ＭＳ Ｐゴシック" panose="020B0600070205080204" pitchFamily="34" charset="-128"/>
            </a:endParaRPr>
          </a:p>
          <a:p>
            <a:pPr marL="342900" indent="-342900"/>
            <a:r>
              <a:rPr lang="de-DE" altLang="zh-CN" i="1" dirty="0">
                <a:ea typeface="ＭＳ Ｐゴシック" panose="020B0600070205080204" pitchFamily="34" charset="-128"/>
              </a:rPr>
              <a:t>In </a:t>
            </a:r>
            <a:r>
              <a:rPr lang="de-DE" altLang="zh-CN" i="1" dirty="0" err="1">
                <a:ea typeface="ＭＳ Ｐゴシック" panose="020B0600070205080204" pitchFamily="34" charset="-128"/>
              </a:rPr>
              <a:t>each</a:t>
            </a:r>
            <a:r>
              <a:rPr lang="de-DE" altLang="zh-CN" i="1" dirty="0">
                <a:ea typeface="ＭＳ Ｐゴシック" panose="020B0600070205080204" pitchFamily="34" charset="-128"/>
              </a:rPr>
              <a:t> </a:t>
            </a:r>
            <a:r>
              <a:rPr lang="de-DE" altLang="zh-CN" i="1" dirty="0" err="1">
                <a:ea typeface="ＭＳ Ｐゴシック" panose="020B0600070205080204" pitchFamily="34" charset="-128"/>
              </a:rPr>
              <a:t>round</a:t>
            </a:r>
            <a:r>
              <a:rPr lang="de-DE" altLang="zh-CN" i="1" dirty="0">
                <a:ea typeface="ＭＳ Ｐゴシック" panose="020B0600070205080204" pitchFamily="34" charset="-128"/>
              </a:rPr>
              <a:t> i </a:t>
            </a:r>
            <a:r>
              <a:rPr lang="de-DE" altLang="zh-CN" i="1" dirty="0" err="1">
                <a:ea typeface="ＭＳ Ｐゴシック" panose="020B0600070205080204" pitchFamily="34" charset="-128"/>
              </a:rPr>
              <a:t>permuted</a:t>
            </a:r>
            <a:r>
              <a:rPr lang="de-DE" altLang="zh-CN" i="1" dirty="0">
                <a:ea typeface="ＭＳ Ｐゴシック" panose="020B0600070205080204" pitchFamily="34" charset="-128"/>
              </a:rPr>
              <a:t> </a:t>
            </a:r>
            <a:r>
              <a:rPr lang="de-DE" altLang="zh-CN" i="1" dirty="0" err="1">
                <a:ea typeface="ＭＳ Ｐゴシック" panose="020B0600070205080204" pitchFamily="34" charset="-128"/>
              </a:rPr>
              <a:t>choice</a:t>
            </a:r>
            <a:r>
              <a:rPr lang="de-DE" altLang="zh-CN" i="1" dirty="0">
                <a:ea typeface="ＭＳ Ｐゴシック" panose="020B0600070205080204" pitchFamily="34" charset="-128"/>
              </a:rPr>
              <a:t> </a:t>
            </a:r>
            <a:r>
              <a:rPr lang="de-DE" altLang="zh-CN" b="1" i="1" dirty="0">
                <a:ea typeface="ＭＳ Ｐゴシック" panose="020B0600070205080204" pitchFamily="34" charset="-128"/>
              </a:rPr>
              <a:t>PC-2</a:t>
            </a:r>
            <a:r>
              <a:rPr lang="de-DE" altLang="zh-CN" i="1" dirty="0">
                <a:ea typeface="ＭＳ Ｐゴシック" panose="020B0600070205080204" pitchFamily="34" charset="-128"/>
              </a:rPr>
              <a:t> </a:t>
            </a:r>
            <a:br>
              <a:rPr lang="de-DE" altLang="zh-CN" i="1" dirty="0">
                <a:ea typeface="ＭＳ Ｐゴシック" panose="020B0600070205080204" pitchFamily="34" charset="-128"/>
              </a:rPr>
            </a:br>
            <a:r>
              <a:rPr lang="de-DE" altLang="zh-CN" dirty="0" err="1">
                <a:ea typeface="ＭＳ Ｐゴシック" panose="020B0600070205080204" pitchFamily="34" charset="-128"/>
              </a:rPr>
              <a:t>selects</a:t>
            </a:r>
            <a:r>
              <a:rPr lang="de-DE" altLang="zh-CN" dirty="0">
                <a:ea typeface="ＭＳ Ｐゴシック" panose="020B0600070205080204" pitchFamily="34" charset="-128"/>
              </a:rPr>
              <a:t> a </a:t>
            </a:r>
            <a:r>
              <a:rPr lang="de-DE" altLang="zh-CN" dirty="0" err="1">
                <a:ea typeface="ＭＳ Ｐゴシック" panose="020B0600070205080204" pitchFamily="34" charset="-128"/>
              </a:rPr>
              <a:t>permuted</a:t>
            </a:r>
            <a:r>
              <a:rPr lang="de-DE" altLang="zh-CN" dirty="0">
                <a:ea typeface="ＭＳ Ｐゴシック" panose="020B0600070205080204" pitchFamily="34" charset="-128"/>
              </a:rPr>
              <a:t> </a:t>
            </a:r>
            <a:r>
              <a:rPr lang="de-DE" altLang="zh-CN" dirty="0" err="1">
                <a:ea typeface="ＭＳ Ｐゴシック" panose="020B0600070205080204" pitchFamily="34" charset="-128"/>
              </a:rPr>
              <a:t>subset</a:t>
            </a:r>
            <a:r>
              <a:rPr lang="de-DE" altLang="zh-CN" dirty="0">
                <a:ea typeface="ＭＳ Ｐゴシック" panose="020B0600070205080204" pitchFamily="34" charset="-128"/>
              </a:rPr>
              <a: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48 </a:t>
            </a:r>
            <a:r>
              <a:rPr lang="de-DE" altLang="zh-CN" dirty="0" err="1">
                <a:ea typeface="ＭＳ Ｐゴシック" panose="020B0600070205080204" pitchFamily="34" charset="-128"/>
              </a:rPr>
              <a:t>bits</a:t>
            </a:r>
            <a:r>
              <a:rPr lang="de-DE" altLang="zh-CN" dirty="0">
                <a:ea typeface="ＭＳ Ｐゴシック" panose="020B0600070205080204" pitchFamily="34" charset="-128"/>
              </a:rPr>
              <a: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a:t>
            </a:r>
            <a:r>
              <a:rPr lang="de-DE" altLang="zh-CN" i="1" dirty="0" err="1">
                <a:ea typeface="ＭＳ Ｐゴシック" panose="020B0600070205080204" pitchFamily="34" charset="-128"/>
              </a:rPr>
              <a:t>C</a:t>
            </a:r>
            <a:r>
              <a:rPr lang="de-DE" altLang="zh-CN" i="1" baseline="-25000" dirty="0" err="1">
                <a:ea typeface="ＭＳ Ｐゴシック" panose="020B0600070205080204" pitchFamily="34" charset="-128"/>
              </a:rPr>
              <a:t>i</a:t>
            </a:r>
            <a:r>
              <a:rPr lang="de-DE" altLang="zh-CN" baseline="-25000" dirty="0">
                <a:ea typeface="ＭＳ Ｐゴシック" panose="020B0600070205080204" pitchFamily="34" charset="-128"/>
              </a:rPr>
              <a:t> </a:t>
            </a:r>
            <a:r>
              <a:rPr lang="de-DE" altLang="zh-CN" dirty="0">
                <a:ea typeface="ＭＳ Ｐゴシック" panose="020B0600070205080204" pitchFamily="34" charset="-128"/>
              </a:rPr>
              <a:t>and </a:t>
            </a:r>
            <a:r>
              <a:rPr lang="de-DE" altLang="zh-CN" i="1" dirty="0">
                <a:ea typeface="ＭＳ Ｐゴシック" panose="020B0600070205080204" pitchFamily="34" charset="-128"/>
              </a:rPr>
              <a:t>D</a:t>
            </a:r>
            <a:r>
              <a:rPr lang="de-DE" altLang="zh-CN" i="1" baseline="-25000" dirty="0">
                <a:ea typeface="ＭＳ Ｐゴシック" panose="020B0600070205080204" pitchFamily="34" charset="-128"/>
              </a:rPr>
              <a:t>i </a:t>
            </a:r>
            <a:r>
              <a:rPr lang="de-DE" altLang="zh-CN" dirty="0" err="1">
                <a:ea typeface="ＭＳ Ｐゴシック" panose="020B0600070205080204" pitchFamily="34" charset="-128"/>
              </a:rPr>
              <a:t>as</a:t>
            </a:r>
            <a:r>
              <a:rPr lang="de-DE" altLang="zh-CN" dirty="0">
                <a:ea typeface="ＭＳ Ｐゴシック" panose="020B0600070205080204" pitchFamily="34" charset="-128"/>
              </a:rPr>
              <a:t> </a:t>
            </a:r>
            <a:r>
              <a:rPr lang="de-DE" altLang="zh-CN" dirty="0" err="1">
                <a:ea typeface="ＭＳ Ｐゴシック" panose="020B0600070205080204" pitchFamily="34" charset="-128"/>
              </a:rPr>
              <a:t>round</a:t>
            </a:r>
            <a:r>
              <a:rPr lang="de-DE" altLang="zh-CN" dirty="0">
                <a:ea typeface="ＭＳ Ｐゴシック" panose="020B0600070205080204" pitchFamily="34" charset="-128"/>
              </a:rPr>
              <a:t> </a:t>
            </a:r>
            <a:r>
              <a:rPr lang="de-DE" altLang="zh-CN" dirty="0" err="1">
                <a:ea typeface="ＭＳ Ｐゴシック" panose="020B0600070205080204" pitchFamily="34" charset="-128"/>
              </a:rPr>
              <a:t>key</a:t>
            </a:r>
            <a:r>
              <a:rPr lang="de-DE" altLang="zh-CN" dirty="0">
                <a:ea typeface="ＭＳ Ｐゴシック" panose="020B0600070205080204" pitchFamily="34" charset="-128"/>
              </a:rPr>
              <a:t> </a:t>
            </a:r>
            <a:r>
              <a:rPr lang="de-DE" altLang="zh-CN" i="1" dirty="0" err="1">
                <a:ea typeface="ＭＳ Ｐゴシック" panose="020B0600070205080204" pitchFamily="34" charset="-128"/>
              </a:rPr>
              <a:t>k</a:t>
            </a:r>
            <a:r>
              <a:rPr lang="de-DE" altLang="zh-CN" i="1" baseline="-25000" dirty="0" err="1">
                <a:ea typeface="ＭＳ Ｐゴシック" panose="020B0600070205080204" pitchFamily="34" charset="-128"/>
              </a:rPr>
              <a:t>i</a:t>
            </a:r>
            <a:r>
              <a:rPr lang="de-DE" altLang="zh-CN" dirty="0">
                <a:ea typeface="ＭＳ Ｐゴシック" panose="020B0600070205080204" pitchFamily="34" charset="-128"/>
              </a:rPr>
              <a:t>, i.e. </a:t>
            </a:r>
            <a:r>
              <a:rPr lang="de-DE" altLang="zh-CN" b="1" dirty="0" err="1">
                <a:ea typeface="ＭＳ Ｐゴシック" panose="020B0600070205080204" pitchFamily="34" charset="-128"/>
              </a:rPr>
              <a:t>each</a:t>
            </a:r>
            <a:r>
              <a:rPr lang="de-DE" altLang="zh-CN" b="1" dirty="0">
                <a:ea typeface="ＭＳ Ｐゴシック" panose="020B0600070205080204" pitchFamily="34" charset="-128"/>
              </a:rPr>
              <a:t> </a:t>
            </a:r>
            <a:r>
              <a:rPr lang="de-DE" altLang="zh-CN" b="1" i="1" dirty="0" err="1">
                <a:ea typeface="ＭＳ Ｐゴシック" panose="020B0600070205080204" pitchFamily="34" charset="-128"/>
              </a:rPr>
              <a:t>k</a:t>
            </a:r>
            <a:r>
              <a:rPr lang="de-DE" altLang="zh-CN" b="1" i="1" baseline="-25000" dirty="0" err="1">
                <a:ea typeface="ＭＳ Ｐゴシック" panose="020B0600070205080204" pitchFamily="34" charset="-128"/>
              </a:rPr>
              <a:t>i</a:t>
            </a:r>
            <a:r>
              <a:rPr lang="de-DE" altLang="zh-CN" b="1" i="1" dirty="0">
                <a:ea typeface="ＭＳ Ｐゴシック" panose="020B0600070205080204" pitchFamily="34" charset="-128"/>
              </a:rPr>
              <a:t> </a:t>
            </a:r>
            <a:r>
              <a:rPr lang="de-DE" altLang="zh-CN" b="1" dirty="0" err="1">
                <a:ea typeface="ＭＳ Ｐゴシック" panose="020B0600070205080204" pitchFamily="34" charset="-128"/>
              </a:rPr>
              <a:t>is</a:t>
            </a:r>
            <a:r>
              <a:rPr lang="de-DE" altLang="zh-CN" b="1" dirty="0">
                <a:ea typeface="ＭＳ Ｐゴシック" panose="020B0600070205080204" pitchFamily="34" charset="-128"/>
              </a:rPr>
              <a:t> a </a:t>
            </a:r>
            <a:r>
              <a:rPr lang="de-DE" altLang="zh-CN" b="1" dirty="0" err="1">
                <a:ea typeface="ＭＳ Ｐゴシック" panose="020B0600070205080204" pitchFamily="34" charset="-128"/>
              </a:rPr>
              <a:t>permutation</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of</a:t>
            </a:r>
            <a:r>
              <a:rPr lang="de-DE" altLang="zh-CN" b="1" dirty="0">
                <a:ea typeface="ＭＳ Ｐゴシック" panose="020B0600070205080204" pitchFamily="34" charset="-128"/>
              </a:rPr>
              <a:t> </a:t>
            </a:r>
            <a:r>
              <a:rPr lang="de-DE" altLang="zh-CN" b="1" i="1" dirty="0" err="1">
                <a:ea typeface="ＭＳ Ｐゴシック" panose="020B0600070205080204" pitchFamily="34" charset="-128"/>
              </a:rPr>
              <a:t>k</a:t>
            </a:r>
            <a:r>
              <a:rPr lang="de-DE" altLang="zh-CN" dirty="0">
                <a:ea typeface="ＭＳ Ｐゴシック" panose="020B0600070205080204" pitchFamily="34" charset="-128"/>
              </a:rPr>
              <a:t>!</a:t>
            </a:r>
          </a:p>
          <a:p>
            <a:pPr marL="342900" indent="-342900"/>
            <a:endParaRPr lang="de-DE" altLang="zh-CN" dirty="0">
              <a:ea typeface="ＭＳ Ｐゴシック" panose="020B0600070205080204" pitchFamily="34" charset="-128"/>
            </a:endParaRPr>
          </a:p>
          <a:p>
            <a:pPr marL="342900" indent="-342900"/>
            <a:endParaRPr lang="de-DE" altLang="zh-CN" dirty="0">
              <a:ea typeface="ＭＳ Ｐゴシック" panose="020B0600070205080204" pitchFamily="34" charset="-128"/>
            </a:endParaRPr>
          </a:p>
          <a:p>
            <a:pPr marL="342900" indent="-342900"/>
            <a:endParaRPr lang="de-DE" altLang="zh-CN" dirty="0">
              <a:ea typeface="ＭＳ Ｐゴシック" panose="020B0600070205080204" pitchFamily="34" charset="-128"/>
            </a:endParaRPr>
          </a:p>
          <a:p>
            <a:pPr marL="342900" indent="-342900"/>
            <a:endParaRPr lang="de-DE" altLang="zh-CN" dirty="0">
              <a:ea typeface="ＭＳ Ｐゴシック" panose="020B0600070205080204" pitchFamily="34" charset="-128"/>
            </a:endParaRPr>
          </a:p>
          <a:p>
            <a:pPr marL="342900" indent="-342900"/>
            <a:r>
              <a:rPr lang="de-DE" altLang="zh-CN" b="1" dirty="0">
                <a:ea typeface="ＭＳ Ｐゴシック" panose="020B0600070205080204" pitchFamily="34" charset="-128"/>
              </a:rPr>
              <a:t>Note:</a:t>
            </a:r>
            <a:r>
              <a:rPr lang="de-DE" altLang="zh-CN" dirty="0">
                <a:ea typeface="ＭＳ Ｐゴシック" panose="020B0600070205080204" pitchFamily="34" charset="-128"/>
              </a:rPr>
              <a:t> The total </a:t>
            </a:r>
            <a:r>
              <a:rPr lang="de-DE" altLang="zh-CN" dirty="0" err="1">
                <a:ea typeface="ＭＳ Ｐゴシック" panose="020B0600070205080204" pitchFamily="34" charset="-128"/>
              </a:rPr>
              <a:t>number</a:t>
            </a:r>
            <a:r>
              <a:rPr lang="de-DE" altLang="zh-CN" dirty="0">
                <a:ea typeface="ＭＳ Ｐゴシック" panose="020B0600070205080204" pitchFamily="34" charset="-128"/>
              </a:rPr>
              <a: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a:t>
            </a:r>
            <a:r>
              <a:rPr lang="de-DE" altLang="zh-CN" dirty="0" err="1">
                <a:ea typeface="ＭＳ Ｐゴシック" panose="020B0600070205080204" pitchFamily="34" charset="-128"/>
              </a:rPr>
              <a:t>rotations</a:t>
            </a:r>
            <a:r>
              <a:rPr lang="de-DE" altLang="zh-CN" dirty="0">
                <a:ea typeface="ＭＳ Ｐゴシック" panose="020B0600070205080204" pitchFamily="34" charset="-128"/>
              </a:rPr>
              <a:t>: </a:t>
            </a:r>
            <a:br>
              <a:rPr lang="de-DE" altLang="zh-CN" dirty="0">
                <a:ea typeface="ＭＳ Ｐゴシック" panose="020B0600070205080204" pitchFamily="34" charset="-128"/>
              </a:rPr>
            </a:br>
            <a:r>
              <a:rPr lang="de-DE" altLang="zh-CN" dirty="0">
                <a:ea typeface="ＭＳ Ｐゴシック" panose="020B0600070205080204" pitchFamily="34" charset="-128"/>
              </a:rPr>
              <a:t>4 x 1 + 12 x 2 = 28  </a:t>
            </a:r>
            <a:r>
              <a:rPr lang="en-US" altLang="zh-CN" sz="1400" dirty="0">
                <a:ea typeface="ＭＳ Ｐゴシック" panose="020B0600070205080204" pitchFamily="34" charset="-128"/>
                <a:sym typeface="Symbol" pitchFamily="2" charset="2"/>
              </a:rPr>
              <a:t></a:t>
            </a:r>
            <a:r>
              <a:rPr lang="de-DE" altLang="zh-CN" dirty="0">
                <a:ea typeface="ＭＳ Ｐゴシック" panose="020B0600070205080204" pitchFamily="34" charset="-128"/>
              </a:rPr>
              <a:t> </a:t>
            </a:r>
            <a:r>
              <a:rPr lang="de-DE" altLang="zh-CN" i="1" dirty="0">
                <a:ea typeface="ＭＳ Ｐゴシック" panose="020B0600070205080204" pitchFamily="34" charset="-128"/>
              </a:rPr>
              <a:t>D</a:t>
            </a:r>
            <a:r>
              <a:rPr lang="de-DE" altLang="zh-CN" i="1" baseline="-25000" dirty="0">
                <a:ea typeface="ＭＳ Ｐゴシック" panose="020B0600070205080204" pitchFamily="34" charset="-128"/>
              </a:rPr>
              <a:t>0</a:t>
            </a:r>
            <a:r>
              <a:rPr lang="de-DE" altLang="zh-CN" baseline="-25000" dirty="0">
                <a:ea typeface="ＭＳ Ｐゴシック" panose="020B0600070205080204" pitchFamily="34" charset="-128"/>
              </a:rPr>
              <a:t> </a:t>
            </a:r>
            <a:r>
              <a:rPr lang="de-DE" altLang="zh-CN" dirty="0">
                <a:ea typeface="ＭＳ Ｐゴシック" panose="020B0600070205080204" pitchFamily="34" charset="-128"/>
              </a:rPr>
              <a:t>= </a:t>
            </a:r>
            <a:r>
              <a:rPr lang="de-DE" altLang="zh-CN" i="1" dirty="0">
                <a:ea typeface="ＭＳ Ｐゴシック" panose="020B0600070205080204" pitchFamily="34" charset="-128"/>
              </a:rPr>
              <a:t>D</a:t>
            </a:r>
            <a:r>
              <a:rPr lang="de-DE" altLang="zh-CN" i="1" baseline="-25000" dirty="0">
                <a:ea typeface="ＭＳ Ｐゴシック" panose="020B0600070205080204" pitchFamily="34" charset="-128"/>
              </a:rPr>
              <a:t>16</a:t>
            </a:r>
            <a:r>
              <a:rPr lang="de-DE" altLang="zh-CN" dirty="0">
                <a:ea typeface="ＭＳ Ｐゴシック" panose="020B0600070205080204" pitchFamily="34" charset="-128"/>
              </a:rPr>
              <a:t> and </a:t>
            </a:r>
            <a:r>
              <a:rPr lang="de-DE" altLang="zh-CN" i="1" dirty="0">
                <a:ea typeface="ＭＳ Ｐゴシック" panose="020B0600070205080204" pitchFamily="34" charset="-128"/>
              </a:rPr>
              <a:t>C</a:t>
            </a:r>
            <a:r>
              <a:rPr lang="de-DE" altLang="zh-CN" i="1" baseline="-25000" dirty="0">
                <a:ea typeface="ＭＳ Ｐゴシック" panose="020B0600070205080204" pitchFamily="34" charset="-128"/>
              </a:rPr>
              <a:t>0</a:t>
            </a:r>
            <a:r>
              <a:rPr lang="de-DE" altLang="zh-CN" baseline="-25000" dirty="0">
                <a:ea typeface="ＭＳ Ｐゴシック" panose="020B0600070205080204" pitchFamily="34" charset="-128"/>
              </a:rPr>
              <a:t> </a:t>
            </a:r>
            <a:r>
              <a:rPr lang="de-DE" altLang="zh-CN" dirty="0">
                <a:ea typeface="ＭＳ Ｐゴシック" panose="020B0600070205080204" pitchFamily="34" charset="-128"/>
              </a:rPr>
              <a:t>= </a:t>
            </a:r>
            <a:r>
              <a:rPr lang="de-DE" altLang="zh-CN" i="1" dirty="0">
                <a:ea typeface="ＭＳ Ｐゴシック" panose="020B0600070205080204" pitchFamily="34" charset="-128"/>
              </a:rPr>
              <a:t>C</a:t>
            </a:r>
            <a:r>
              <a:rPr lang="de-DE" altLang="zh-CN" i="1" baseline="-25000" dirty="0">
                <a:ea typeface="ＭＳ Ｐゴシック" panose="020B0600070205080204" pitchFamily="34" charset="-128"/>
              </a:rPr>
              <a:t>16</a:t>
            </a:r>
            <a:r>
              <a:rPr lang="de-DE" altLang="zh-CN" dirty="0">
                <a:ea typeface="ＭＳ Ｐゴシック" panose="020B0600070205080204" pitchFamily="34" charset="-128"/>
              </a:rPr>
              <a:t>!</a:t>
            </a:r>
          </a:p>
          <a:p>
            <a:pPr marL="342900" indent="-342900"/>
            <a:endParaRPr lang="de-DE" altLang="zh-CN" dirty="0">
              <a:ea typeface="ＭＳ Ｐゴシック" panose="020B0600070205080204" pitchFamily="34" charset="-128"/>
            </a:endParaRPr>
          </a:p>
        </p:txBody>
      </p:sp>
      <p:pic>
        <p:nvPicPr>
          <p:cNvPr id="60422" name="Picture 11">
            <a:extLst>
              <a:ext uri="{FF2B5EF4-FFF2-40B4-BE49-F238E27FC236}">
                <a16:creationId xmlns:a16="http://schemas.microsoft.com/office/drawing/2014/main" id="{727B812B-F8B2-BF07-93E1-1E4BF713AF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4437063"/>
            <a:ext cx="1657350" cy="12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Foliennummernplatzhalter 3">
            <a:extLst>
              <a:ext uri="{FF2B5EF4-FFF2-40B4-BE49-F238E27FC236}">
                <a16:creationId xmlns:a16="http://schemas.microsoft.com/office/drawing/2014/main" id="{AC5FF8C1-DA16-83EA-83E1-4C576817C6A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2F200EB-4353-8548-A4F1-1C6081A8AD9D}" type="slidenum">
              <a:rPr lang="de-DE" altLang="zh-CN" sz="900">
                <a:solidFill>
                  <a:srgbClr val="394073"/>
                </a:solidFill>
              </a:rPr>
              <a:pPr/>
              <a:t>26</a:t>
            </a:fld>
            <a:r>
              <a:rPr lang="de-DE" altLang="zh-CN" sz="900">
                <a:solidFill>
                  <a:srgbClr val="394073"/>
                </a:solidFill>
              </a:rPr>
              <a:t>/29</a:t>
            </a:r>
          </a:p>
        </p:txBody>
      </p:sp>
      <p:sp>
        <p:nvSpPr>
          <p:cNvPr id="62467" name="Rectangle 2">
            <a:extLst>
              <a:ext uri="{FF2B5EF4-FFF2-40B4-BE49-F238E27FC236}">
                <a16:creationId xmlns:a16="http://schemas.microsoft.com/office/drawing/2014/main" id="{F003ADD2-847B-E6D0-83FE-EE21762F7CEA}"/>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ea typeface="ＭＳ Ｐゴシック" panose="020B0600070205080204" pitchFamily="34" charset="-128"/>
              </a:rPr>
              <a:t>Content of this Chapter</a:t>
            </a:r>
          </a:p>
        </p:txBody>
      </p:sp>
      <p:sp>
        <p:nvSpPr>
          <p:cNvPr id="62468" name="Rectangle 3">
            <a:extLst>
              <a:ext uri="{FF2B5EF4-FFF2-40B4-BE49-F238E27FC236}">
                <a16:creationId xmlns:a16="http://schemas.microsoft.com/office/drawing/2014/main" id="{29F92E74-C45B-8129-AC19-9EA12295722E}"/>
              </a:ext>
            </a:extLst>
          </p:cNvPr>
          <p:cNvSpPr>
            <a:spLocks noGrp="1" noChangeArrowheads="1"/>
          </p:cNvSpPr>
          <p:nvPr>
            <p:ph type="body" idx="1"/>
          </p:nvPr>
        </p:nvSpPr>
        <p:spPr>
          <a:xfrm>
            <a:off x="539750" y="1844675"/>
            <a:ext cx="7394575" cy="2209800"/>
          </a:xfrm>
          <a:noFill/>
        </p:spPr>
        <p:txBody>
          <a:bodyPr/>
          <a:lstStyle/>
          <a:p>
            <a:pPr marL="342900" indent="-342900"/>
            <a:r>
              <a:rPr lang="de-DE" altLang="zh-CN" sz="2000">
                <a:ea typeface="ＭＳ Ｐゴシック" panose="020B0600070205080204" pitchFamily="34" charset="-128"/>
              </a:rPr>
              <a:t>Introduction to DES</a:t>
            </a:r>
          </a:p>
          <a:p>
            <a:pPr marL="342900" indent="-342900"/>
            <a:r>
              <a:rPr lang="de-DE" altLang="zh-CN" sz="2000">
                <a:ea typeface="ＭＳ Ｐゴシック" panose="020B0600070205080204" pitchFamily="34" charset="-128"/>
              </a:rPr>
              <a:t>Overview of the DES Algorithm</a:t>
            </a:r>
          </a:p>
          <a:p>
            <a:pPr marL="342900" indent="-342900"/>
            <a:r>
              <a:rPr lang="de-DE" altLang="zh-CN" sz="2000">
                <a:ea typeface="ＭＳ Ｐゴシック" panose="020B0600070205080204" pitchFamily="34" charset="-128"/>
              </a:rPr>
              <a:t>Internal Structure of DES</a:t>
            </a:r>
          </a:p>
          <a:p>
            <a:pPr marL="342900" indent="-342900"/>
            <a:r>
              <a:rPr lang="de-DE" altLang="zh-CN" sz="2000" b="1">
                <a:ea typeface="ＭＳ Ｐゴシック" panose="020B0600070205080204" pitchFamily="34" charset="-128"/>
              </a:rPr>
              <a:t>Decryption</a:t>
            </a:r>
          </a:p>
          <a:p>
            <a:pPr marL="342900" indent="-342900"/>
            <a:r>
              <a:rPr lang="de-DE" altLang="zh-CN" sz="2000">
                <a:ea typeface="ＭＳ Ｐゴシック" panose="020B0600070205080204" pitchFamily="34" charset="-128"/>
              </a:rPr>
              <a:t>Security of DES</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Foliennummernplatzhalter 4">
            <a:extLst>
              <a:ext uri="{FF2B5EF4-FFF2-40B4-BE49-F238E27FC236}">
                <a16:creationId xmlns:a16="http://schemas.microsoft.com/office/drawing/2014/main" id="{84F27347-7027-20B3-D6B5-90E3EF48E2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C1C29176-9D1B-D543-B129-E0A90F338D44}" type="slidenum">
              <a:rPr lang="de-DE" altLang="zh-CN" sz="900">
                <a:solidFill>
                  <a:srgbClr val="394073"/>
                </a:solidFill>
              </a:rPr>
              <a:pPr/>
              <a:t>27</a:t>
            </a:fld>
            <a:r>
              <a:rPr lang="de-DE" altLang="zh-CN" sz="900">
                <a:solidFill>
                  <a:srgbClr val="394073"/>
                </a:solidFill>
              </a:rPr>
              <a:t>/29</a:t>
            </a:r>
          </a:p>
        </p:txBody>
      </p:sp>
      <p:pic>
        <p:nvPicPr>
          <p:cNvPr id="64515" name="Picture 10" descr="sched_flow_rev">
            <a:extLst>
              <a:ext uri="{FF2B5EF4-FFF2-40B4-BE49-F238E27FC236}">
                <a16:creationId xmlns:a16="http://schemas.microsoft.com/office/drawing/2014/main" id="{0EBFA7AC-01D1-308A-911E-DE16BC39A25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716463" y="333375"/>
            <a:ext cx="4167187" cy="5949950"/>
          </a:xfrm>
          <a:noFill/>
        </p:spPr>
      </p:pic>
      <p:sp>
        <p:nvSpPr>
          <p:cNvPr id="64516" name="Rectangle 6">
            <a:extLst>
              <a:ext uri="{FF2B5EF4-FFF2-40B4-BE49-F238E27FC236}">
                <a16:creationId xmlns:a16="http://schemas.microsoft.com/office/drawing/2014/main" id="{DAE06007-0C79-205F-3C64-B6F909263124}"/>
              </a:ext>
            </a:extLst>
          </p:cNvPr>
          <p:cNvSpPr>
            <a:spLocks noGrp="1" noChangeArrowheads="1"/>
          </p:cNvSpPr>
          <p:nvPr>
            <p:ph type="title"/>
          </p:nvPr>
        </p:nvSpPr>
        <p:spPr/>
        <p:txBody>
          <a:bodyPr/>
          <a:lstStyle/>
          <a:p>
            <a:r>
              <a:rPr lang="de-DE" altLang="zh-CN">
                <a:ea typeface="ＭＳ Ｐゴシック" panose="020B0600070205080204" pitchFamily="34" charset="-128"/>
              </a:rPr>
              <a:t>Decryption </a:t>
            </a:r>
          </a:p>
        </p:txBody>
      </p:sp>
      <p:sp>
        <p:nvSpPr>
          <p:cNvPr id="64517" name="Rectangle 7">
            <a:extLst>
              <a:ext uri="{FF2B5EF4-FFF2-40B4-BE49-F238E27FC236}">
                <a16:creationId xmlns:a16="http://schemas.microsoft.com/office/drawing/2014/main" id="{A90CCB91-BE22-2C14-5D63-AA7D958C059B}"/>
              </a:ext>
            </a:extLst>
          </p:cNvPr>
          <p:cNvSpPr>
            <a:spLocks noGrp="1" noChangeArrowheads="1"/>
          </p:cNvSpPr>
          <p:nvPr>
            <p:ph type="body" sz="half" idx="1"/>
          </p:nvPr>
        </p:nvSpPr>
        <p:spPr>
          <a:xfrm>
            <a:off x="468313" y="620713"/>
            <a:ext cx="4175125" cy="5976937"/>
          </a:xfrm>
        </p:spPr>
        <p:txBody>
          <a:bodyPr/>
          <a:lstStyle/>
          <a:p>
            <a:r>
              <a:rPr lang="de-DE" altLang="zh-CN">
                <a:ea typeface="ＭＳ Ｐゴシック" panose="020B0600070205080204" pitchFamily="34" charset="-128"/>
              </a:rPr>
              <a:t>In </a:t>
            </a:r>
            <a:r>
              <a:rPr lang="de-DE" altLang="zh-CN" b="1">
                <a:ea typeface="ＭＳ Ｐゴシック" panose="020B0600070205080204" pitchFamily="34" charset="-128"/>
              </a:rPr>
              <a:t>Feistel ciphers</a:t>
            </a:r>
            <a:r>
              <a:rPr lang="de-DE" altLang="zh-CN">
                <a:ea typeface="ＭＳ Ｐゴシック" panose="020B0600070205080204" pitchFamily="34" charset="-128"/>
              </a:rPr>
              <a:t> only the keyschedule has to be modified for decryption.</a:t>
            </a:r>
          </a:p>
          <a:p>
            <a:r>
              <a:rPr lang="de-DE" altLang="zh-CN">
                <a:ea typeface="ＭＳ Ｐゴシック" panose="020B0600070205080204" pitchFamily="34" charset="-128"/>
              </a:rPr>
              <a:t>Generate the same 16 round keys in reverse order. </a:t>
            </a:r>
            <a:br>
              <a:rPr lang="de-DE" altLang="zh-CN">
                <a:ea typeface="ＭＳ Ｐゴシック" panose="020B0600070205080204" pitchFamily="34" charset="-128"/>
              </a:rPr>
            </a:br>
            <a:r>
              <a:rPr lang="de-DE" altLang="zh-CN">
                <a:ea typeface="ＭＳ Ｐゴシック" panose="020B0600070205080204" pitchFamily="34" charset="-128"/>
              </a:rPr>
              <a:t>(for a detailed discussion on why this works see </a:t>
            </a:r>
            <a:r>
              <a:rPr lang="de-DE" altLang="zh-CN" i="1">
                <a:ea typeface="ＭＳ Ｐゴシック" panose="020B0600070205080204" pitchFamily="34" charset="-128"/>
              </a:rPr>
              <a:t>Understanding Crptography</a:t>
            </a:r>
            <a:r>
              <a:rPr lang="de-DE" altLang="zh-CN">
                <a:ea typeface="ＭＳ Ｐゴシック" panose="020B0600070205080204" pitchFamily="34" charset="-128"/>
              </a:rPr>
              <a:t> Chapter 3)</a:t>
            </a:r>
            <a:br>
              <a:rPr lang="de-DE" altLang="zh-CN">
                <a:ea typeface="ＭＳ Ｐゴシック" panose="020B0600070205080204" pitchFamily="34" charset="-128"/>
              </a:rPr>
            </a:br>
            <a:endParaRPr lang="de-DE" altLang="zh-CN" sz="800">
              <a:ea typeface="ＭＳ Ｐゴシック" panose="020B0600070205080204" pitchFamily="34" charset="-128"/>
            </a:endParaRPr>
          </a:p>
          <a:p>
            <a:r>
              <a:rPr lang="de-DE" altLang="zh-CN" b="1">
                <a:ea typeface="ＭＳ Ｐゴシック" panose="020B0600070205080204" pitchFamily="34" charset="-128"/>
              </a:rPr>
              <a:t>Reversed key schedule:</a:t>
            </a:r>
            <a:br>
              <a:rPr lang="de-DE" altLang="zh-CN" b="1">
                <a:ea typeface="ＭＳ Ｐゴシック" panose="020B0600070205080204" pitchFamily="34" charset="-128"/>
              </a:rPr>
            </a:br>
            <a:r>
              <a:rPr lang="de-DE" altLang="zh-CN">
                <a:ea typeface="ＭＳ Ｐゴシック" panose="020B0600070205080204" pitchFamily="34" charset="-128"/>
              </a:rPr>
              <a:t>As </a:t>
            </a:r>
            <a:r>
              <a:rPr lang="de-DE" altLang="zh-CN" i="1">
                <a:ea typeface="ＭＳ Ｐゴシック" panose="020B0600070205080204" pitchFamily="34" charset="-128"/>
              </a:rPr>
              <a:t>D</a:t>
            </a:r>
            <a:r>
              <a:rPr lang="de-DE" altLang="zh-CN" i="1" baseline="-25000">
                <a:ea typeface="ＭＳ Ｐゴシック" panose="020B0600070205080204" pitchFamily="34" charset="-128"/>
              </a:rPr>
              <a:t>0</a:t>
            </a:r>
            <a:r>
              <a:rPr lang="de-DE" altLang="zh-CN">
                <a:ea typeface="ＭＳ Ｐゴシック" panose="020B0600070205080204" pitchFamily="34" charset="-128"/>
              </a:rPr>
              <a:t>=</a:t>
            </a:r>
            <a:r>
              <a:rPr lang="de-DE" altLang="zh-CN" i="1">
                <a:ea typeface="ＭＳ Ｐゴシック" panose="020B0600070205080204" pitchFamily="34" charset="-128"/>
              </a:rPr>
              <a:t>D</a:t>
            </a:r>
            <a:r>
              <a:rPr lang="de-DE" altLang="zh-CN" i="1" baseline="-25000">
                <a:ea typeface="ＭＳ Ｐゴシック" panose="020B0600070205080204" pitchFamily="34" charset="-128"/>
              </a:rPr>
              <a:t>16</a:t>
            </a:r>
            <a:r>
              <a:rPr lang="de-DE" altLang="zh-CN">
                <a:ea typeface="ＭＳ Ｐゴシック" panose="020B0600070205080204" pitchFamily="34" charset="-128"/>
              </a:rPr>
              <a:t> and </a:t>
            </a:r>
            <a:r>
              <a:rPr lang="de-DE" altLang="zh-CN" i="1">
                <a:ea typeface="ＭＳ Ｐゴシック" panose="020B0600070205080204" pitchFamily="34" charset="-128"/>
              </a:rPr>
              <a:t>C</a:t>
            </a:r>
            <a:r>
              <a:rPr lang="de-DE" altLang="zh-CN" i="1" baseline="-25000">
                <a:ea typeface="ＭＳ Ｐゴシック" panose="020B0600070205080204" pitchFamily="34" charset="-128"/>
              </a:rPr>
              <a:t>0</a:t>
            </a:r>
            <a:r>
              <a:rPr lang="de-DE" altLang="zh-CN">
                <a:ea typeface="ＭＳ Ｐゴシック" panose="020B0600070205080204" pitchFamily="34" charset="-128"/>
              </a:rPr>
              <a:t>=</a:t>
            </a:r>
            <a:r>
              <a:rPr lang="de-DE" altLang="zh-CN" i="1">
                <a:ea typeface="ＭＳ Ｐゴシック" panose="020B0600070205080204" pitchFamily="34" charset="-128"/>
              </a:rPr>
              <a:t>C</a:t>
            </a:r>
            <a:r>
              <a:rPr lang="de-DE" altLang="zh-CN" i="1" baseline="-25000">
                <a:ea typeface="ＭＳ Ｐゴシック" panose="020B0600070205080204" pitchFamily="34" charset="-128"/>
              </a:rPr>
              <a:t>16</a:t>
            </a:r>
            <a:r>
              <a:rPr lang="de-DE" altLang="zh-CN">
                <a:ea typeface="ＭＳ Ｐゴシック" panose="020B0600070205080204" pitchFamily="34" charset="-128"/>
              </a:rPr>
              <a:t> the first round key can be generated by applying </a:t>
            </a:r>
            <a:r>
              <a:rPr lang="de-DE" altLang="zh-CN" i="1">
                <a:ea typeface="ＭＳ Ｐゴシック" panose="020B0600070205080204" pitchFamily="34" charset="-128"/>
              </a:rPr>
              <a:t>PC-2</a:t>
            </a:r>
            <a:r>
              <a:rPr lang="de-DE" altLang="zh-CN">
                <a:ea typeface="ＭＳ Ｐゴシック" panose="020B0600070205080204" pitchFamily="34" charset="-128"/>
              </a:rPr>
              <a:t> right after </a:t>
            </a:r>
            <a:r>
              <a:rPr lang="de-DE" altLang="zh-CN" i="1">
                <a:ea typeface="ＭＳ Ｐゴシック" panose="020B0600070205080204" pitchFamily="34" charset="-128"/>
              </a:rPr>
              <a:t>PC-1 </a:t>
            </a:r>
            <a:r>
              <a:rPr lang="de-DE" altLang="zh-CN">
                <a:ea typeface="ＭＳ Ｐゴシック" panose="020B0600070205080204" pitchFamily="34" charset="-128"/>
              </a:rPr>
              <a:t>(no rotation here!).</a:t>
            </a:r>
            <a:br>
              <a:rPr lang="de-DE" altLang="zh-CN">
                <a:ea typeface="ＭＳ Ｐゴシック" panose="020B0600070205080204" pitchFamily="34" charset="-128"/>
              </a:rPr>
            </a:br>
            <a:r>
              <a:rPr lang="de-DE" altLang="zh-CN">
                <a:ea typeface="ＭＳ Ｐゴシック" panose="020B0600070205080204" pitchFamily="34" charset="-128"/>
              </a:rPr>
              <a:t>All other rotations of </a:t>
            </a:r>
            <a:r>
              <a:rPr lang="de-DE" altLang="zh-CN" i="1">
                <a:ea typeface="ＭＳ Ｐゴシック" panose="020B0600070205080204" pitchFamily="34" charset="-128"/>
              </a:rPr>
              <a:t>C</a:t>
            </a:r>
            <a:r>
              <a:rPr lang="de-DE" altLang="zh-CN">
                <a:ea typeface="ＭＳ Ｐゴシック" panose="020B0600070205080204" pitchFamily="34" charset="-128"/>
              </a:rPr>
              <a:t> and </a:t>
            </a:r>
            <a:r>
              <a:rPr lang="de-DE" altLang="zh-CN" i="1">
                <a:ea typeface="ＭＳ Ｐゴシック" panose="020B0600070205080204" pitchFamily="34" charset="-128"/>
              </a:rPr>
              <a:t>D</a:t>
            </a:r>
            <a:r>
              <a:rPr lang="de-DE" altLang="zh-CN">
                <a:ea typeface="ＭＳ Ｐゴシック" panose="020B0600070205080204" pitchFamily="34" charset="-128"/>
              </a:rPr>
              <a:t> can be reversed to reproduce the other round keys resulting in:</a:t>
            </a:r>
          </a:p>
          <a:p>
            <a:pPr lvl="1"/>
            <a:r>
              <a:rPr lang="de-DE" altLang="zh-CN">
                <a:ea typeface="ＭＳ Ｐゴシック" panose="020B0600070205080204" pitchFamily="34" charset="-128"/>
              </a:rPr>
              <a:t>No rotation in round 1.</a:t>
            </a:r>
          </a:p>
          <a:p>
            <a:pPr lvl="1"/>
            <a:r>
              <a:rPr lang="de-DE" altLang="zh-CN">
                <a:ea typeface="ＭＳ Ｐゴシック" panose="020B0600070205080204" pitchFamily="34" charset="-128"/>
              </a:rPr>
              <a:t>One bit rotation </a:t>
            </a:r>
            <a:r>
              <a:rPr lang="de-DE" altLang="zh-CN" b="1">
                <a:ea typeface="ＭＳ Ｐゴシック" panose="020B0600070205080204" pitchFamily="34" charset="-128"/>
              </a:rPr>
              <a:t>to the right</a:t>
            </a:r>
            <a:r>
              <a:rPr lang="de-DE" altLang="zh-CN">
                <a:ea typeface="ＭＳ Ｐゴシック" panose="020B0600070205080204" pitchFamily="34" charset="-128"/>
              </a:rPr>
              <a:t> in rounds 2, 9 and 16.</a:t>
            </a:r>
          </a:p>
          <a:p>
            <a:pPr lvl="1"/>
            <a:r>
              <a:rPr lang="de-DE" altLang="zh-CN">
                <a:ea typeface="ＭＳ Ｐゴシック" panose="020B0600070205080204" pitchFamily="34" charset="-128"/>
              </a:rPr>
              <a:t>Two bit rotations </a:t>
            </a:r>
            <a:r>
              <a:rPr lang="de-DE" altLang="zh-CN" b="1">
                <a:ea typeface="ＭＳ Ｐゴシック" panose="020B0600070205080204" pitchFamily="34" charset="-128"/>
              </a:rPr>
              <a:t>to the right</a:t>
            </a:r>
            <a:r>
              <a:rPr lang="de-DE" altLang="zh-CN">
                <a:ea typeface="ＭＳ Ｐゴシック" panose="020B0600070205080204" pitchFamily="34" charset="-128"/>
              </a:rPr>
              <a:t> in all other rounds.</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core idea – </a:t>
            </a:r>
            <a:r>
              <a:rPr lang="en-US" dirty="0" err="1"/>
              <a:t>Feistel</a:t>
            </a:r>
            <a:r>
              <a:rPr lang="en-US" dirty="0"/>
              <a:t> Network</a:t>
            </a:r>
          </a:p>
        </p:txBody>
      </p:sp>
      <p:sp>
        <p:nvSpPr>
          <p:cNvPr id="3" name="Content Placeholder 2"/>
          <p:cNvSpPr>
            <a:spLocks noGrp="1"/>
          </p:cNvSpPr>
          <p:nvPr>
            <p:ph idx="1"/>
          </p:nvPr>
        </p:nvSpPr>
        <p:spPr>
          <a:xfrm>
            <a:off x="457200" y="1905000"/>
            <a:ext cx="8229600" cy="1219200"/>
          </a:xfrm>
        </p:spPr>
        <p:txBody>
          <a:bodyPr>
            <a:normAutofit/>
          </a:bodyPr>
          <a:lstStyle/>
          <a:p>
            <a:pPr marL="0" indent="0">
              <a:buNone/>
            </a:pPr>
            <a:r>
              <a:rPr lang="en-US" dirty="0"/>
              <a:t>Given functions    f</a:t>
            </a:r>
            <a:r>
              <a:rPr lang="en-US" baseline="-25000" dirty="0"/>
              <a:t>1</a:t>
            </a:r>
            <a:r>
              <a:rPr lang="en-US" dirty="0"/>
              <a:t>, …, </a:t>
            </a:r>
            <a:r>
              <a:rPr lang="en-US" dirty="0" err="1"/>
              <a:t>f</a:t>
            </a:r>
            <a:r>
              <a:rPr lang="en-US" baseline="-25000" dirty="0" err="1"/>
              <a:t>d</a:t>
            </a:r>
            <a:r>
              <a:rPr lang="en-US" dirty="0"/>
              <a:t>:   {0,1}</a:t>
            </a:r>
            <a:r>
              <a:rPr lang="en-US" baseline="30000" dirty="0"/>
              <a:t>n</a:t>
            </a:r>
            <a:r>
              <a:rPr lang="en-US" dirty="0"/>
              <a:t>  ⟶  {0,1}</a:t>
            </a:r>
            <a:r>
              <a:rPr lang="en-US" baseline="30000" dirty="0"/>
              <a:t>n</a:t>
            </a:r>
            <a:r>
              <a:rPr lang="en-US" dirty="0"/>
              <a:t>    </a:t>
            </a:r>
          </a:p>
          <a:p>
            <a:pPr marL="0" indent="0">
              <a:spcBef>
                <a:spcPts val="2376"/>
              </a:spcBef>
              <a:buNone/>
            </a:pPr>
            <a:r>
              <a:rPr lang="en-US" dirty="0"/>
              <a:t>Goal:    build invertible function   F: {0,1}</a:t>
            </a:r>
            <a:r>
              <a:rPr lang="en-US" baseline="30000" dirty="0"/>
              <a:t>2n</a:t>
            </a:r>
            <a:r>
              <a:rPr lang="en-US" dirty="0"/>
              <a:t>  ⟶  {0,1}</a:t>
            </a:r>
            <a:r>
              <a:rPr lang="en-US" baseline="30000" dirty="0"/>
              <a:t>2n</a:t>
            </a:r>
            <a:r>
              <a:rPr lang="en-US" dirty="0"/>
              <a:t> </a:t>
            </a:r>
          </a:p>
        </p:txBody>
      </p:sp>
      <p:sp>
        <p:nvSpPr>
          <p:cNvPr id="64" name="TextBox 63"/>
          <p:cNvSpPr txBox="1"/>
          <p:nvPr/>
        </p:nvSpPr>
        <p:spPr>
          <a:xfrm>
            <a:off x="2057401" y="5181601"/>
            <a:ext cx="1596411"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In symbols:</a:t>
            </a:r>
          </a:p>
        </p:txBody>
      </p:sp>
      <p:grpSp>
        <p:nvGrpSpPr>
          <p:cNvPr id="17" name="Group 16"/>
          <p:cNvGrpSpPr/>
          <p:nvPr/>
        </p:nvGrpSpPr>
        <p:grpSpPr>
          <a:xfrm>
            <a:off x="609602" y="3276600"/>
            <a:ext cx="7848599" cy="1817132"/>
            <a:chOff x="609601" y="2419350"/>
            <a:chExt cx="7848599" cy="1817132"/>
          </a:xfrm>
        </p:grpSpPr>
        <p:sp>
          <p:nvSpPr>
            <p:cNvPr id="11" name="TextBox 10"/>
            <p:cNvSpPr txBox="1"/>
            <p:nvPr/>
          </p:nvSpPr>
          <p:spPr>
            <a:xfrm>
              <a:off x="774333" y="3867150"/>
              <a:ext cx="684803"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input</a:t>
              </a:r>
            </a:p>
          </p:txBody>
        </p:sp>
        <p:sp>
          <p:nvSpPr>
            <p:cNvPr id="63" name="TextBox 62"/>
            <p:cNvSpPr txBox="1"/>
            <p:nvPr/>
          </p:nvSpPr>
          <p:spPr>
            <a:xfrm>
              <a:off x="7632333" y="3867150"/>
              <a:ext cx="825867"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output</a:t>
              </a:r>
            </a:p>
          </p:txBody>
        </p:sp>
        <p:sp>
          <p:nvSpPr>
            <p:cNvPr id="51" name="Rectangle 50"/>
            <p:cNvSpPr/>
            <p:nvPr/>
          </p:nvSpPr>
          <p:spPr>
            <a:xfrm>
              <a:off x="60960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d-1</a:t>
              </a:r>
            </a:p>
          </p:txBody>
        </p:sp>
        <p:sp>
          <p:nvSpPr>
            <p:cNvPr id="52" name="Rectangle 51"/>
            <p:cNvSpPr/>
            <p:nvPr/>
          </p:nvSpPr>
          <p:spPr>
            <a:xfrm>
              <a:off x="60960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d-1</a:t>
              </a:r>
            </a:p>
          </p:txBody>
        </p:sp>
        <p:sp>
          <p:nvSpPr>
            <p:cNvPr id="62" name="Rectangle 61"/>
            <p:cNvSpPr/>
            <p:nvPr/>
          </p:nvSpPr>
          <p:spPr>
            <a:xfrm>
              <a:off x="77724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d</a:t>
              </a:r>
            </a:p>
          </p:txBody>
        </p:sp>
        <p:sp>
          <p:nvSpPr>
            <p:cNvPr id="65" name="Rectangle 64"/>
            <p:cNvSpPr/>
            <p:nvPr/>
          </p:nvSpPr>
          <p:spPr>
            <a:xfrm>
              <a:off x="77724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L</a:t>
              </a:r>
              <a:r>
                <a:rPr lang="en-US" sz="1800" baseline="-25000" dirty="0" err="1">
                  <a:solidFill>
                    <a:srgbClr val="0000FF"/>
                  </a:solidFill>
                  <a:latin typeface="Calibri"/>
                </a:rPr>
                <a:t>d</a:t>
              </a:r>
              <a:endParaRPr lang="en-US" sz="1800" baseline="-25000" dirty="0">
                <a:solidFill>
                  <a:srgbClr val="0000FF"/>
                </a:solidFill>
                <a:latin typeface="Calibri"/>
              </a:endParaRPr>
            </a:p>
          </p:txBody>
        </p:sp>
        <p:sp>
          <p:nvSpPr>
            <p:cNvPr id="66" name="Rectangle 65"/>
            <p:cNvSpPr/>
            <p:nvPr/>
          </p:nvSpPr>
          <p:spPr>
            <a:xfrm>
              <a:off x="914400" y="2495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0</a:t>
              </a:r>
            </a:p>
          </p:txBody>
        </p:sp>
        <p:sp>
          <p:nvSpPr>
            <p:cNvPr id="67" name="Rectangle 66"/>
            <p:cNvSpPr/>
            <p:nvPr/>
          </p:nvSpPr>
          <p:spPr>
            <a:xfrm>
              <a:off x="914400" y="31813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0</a:t>
              </a:r>
            </a:p>
          </p:txBody>
        </p:sp>
        <p:sp>
          <p:nvSpPr>
            <p:cNvPr id="68" name="TextBox 67"/>
            <p:cNvSpPr txBox="1"/>
            <p:nvPr/>
          </p:nvSpPr>
          <p:spPr>
            <a:xfrm rot="5400000">
              <a:off x="444296" y="2596322"/>
              <a:ext cx="723275"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n-bits</a:t>
              </a:r>
            </a:p>
          </p:txBody>
        </p:sp>
        <p:sp>
          <p:nvSpPr>
            <p:cNvPr id="69" name="TextBox 68"/>
            <p:cNvSpPr txBox="1"/>
            <p:nvPr/>
          </p:nvSpPr>
          <p:spPr>
            <a:xfrm rot="5400000">
              <a:off x="432629" y="3397046"/>
              <a:ext cx="723275"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n-bits</a:t>
              </a:r>
            </a:p>
          </p:txBody>
        </p:sp>
        <p:sp>
          <p:nvSpPr>
            <p:cNvPr id="70" name="Rectangle 69"/>
            <p:cNvSpPr/>
            <p:nvPr/>
          </p:nvSpPr>
          <p:spPr>
            <a:xfrm>
              <a:off x="25908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1</a:t>
              </a:r>
            </a:p>
          </p:txBody>
        </p:sp>
        <p:sp>
          <p:nvSpPr>
            <p:cNvPr id="71" name="Rectangle 70"/>
            <p:cNvSpPr/>
            <p:nvPr/>
          </p:nvSpPr>
          <p:spPr>
            <a:xfrm>
              <a:off x="25908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1</a:t>
              </a:r>
            </a:p>
          </p:txBody>
        </p:sp>
        <p:sp>
          <p:nvSpPr>
            <p:cNvPr id="72" name="TextBox 71"/>
            <p:cNvSpPr txBox="1"/>
            <p:nvPr/>
          </p:nvSpPr>
          <p:spPr>
            <a:xfrm flipV="1">
              <a:off x="1600200" y="3470017"/>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73" name="Straight Connector 72"/>
            <p:cNvCxnSpPr/>
            <p:nvPr/>
          </p:nvCxnSpPr>
          <p:spPr>
            <a:xfrm flipV="1">
              <a:off x="1295400" y="27080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flipV="1">
              <a:off x="1295400" y="36986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p:cNvCxnSpPr>
              <a:stCxn id="72" idx="3"/>
            </p:cNvCxnSpPr>
            <p:nvPr/>
          </p:nvCxnSpPr>
          <p:spPr>
            <a:xfrm flipV="1">
              <a:off x="2091040" y="3698617"/>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a:endCxn id="71" idx="1"/>
            </p:cNvCxnSpPr>
            <p:nvPr/>
          </p:nvCxnSpPr>
          <p:spPr>
            <a:xfrm flipV="1">
              <a:off x="2209800" y="28223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a:endCxn id="70" idx="1"/>
            </p:cNvCxnSpPr>
            <p:nvPr/>
          </p:nvCxnSpPr>
          <p:spPr>
            <a:xfrm>
              <a:off x="2209800" y="27080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1524000" y="29366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1</a:t>
              </a:r>
            </a:p>
          </p:txBody>
        </p:sp>
        <p:cxnSp>
          <p:nvCxnSpPr>
            <p:cNvPr id="79" name="Straight Arrow Connector 78"/>
            <p:cNvCxnSpPr/>
            <p:nvPr/>
          </p:nvCxnSpPr>
          <p:spPr>
            <a:xfrm>
              <a:off x="1752600" y="27080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p:nvPr/>
          </p:nvCxnSpPr>
          <p:spPr>
            <a:xfrm>
              <a:off x="1752600" y="33176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42672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2</a:t>
              </a:r>
            </a:p>
          </p:txBody>
        </p:sp>
        <p:sp>
          <p:nvSpPr>
            <p:cNvPr id="82" name="Rectangle 81"/>
            <p:cNvSpPr/>
            <p:nvPr/>
          </p:nvSpPr>
          <p:spPr>
            <a:xfrm>
              <a:off x="42672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2</a:t>
              </a:r>
            </a:p>
          </p:txBody>
        </p:sp>
        <p:sp>
          <p:nvSpPr>
            <p:cNvPr id="83" name="TextBox 82"/>
            <p:cNvSpPr txBox="1"/>
            <p:nvPr/>
          </p:nvSpPr>
          <p:spPr>
            <a:xfrm flipV="1">
              <a:off x="3276600" y="3470017"/>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84" name="Straight Connector 83"/>
            <p:cNvCxnSpPr/>
            <p:nvPr/>
          </p:nvCxnSpPr>
          <p:spPr>
            <a:xfrm flipV="1">
              <a:off x="2971800" y="27080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5" name="Straight Connector 84"/>
            <p:cNvCxnSpPr/>
            <p:nvPr/>
          </p:nvCxnSpPr>
          <p:spPr>
            <a:xfrm flipV="1">
              <a:off x="2971800" y="36986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Straight Connector 85"/>
            <p:cNvCxnSpPr>
              <a:stCxn id="83" idx="3"/>
            </p:cNvCxnSpPr>
            <p:nvPr/>
          </p:nvCxnSpPr>
          <p:spPr>
            <a:xfrm flipV="1">
              <a:off x="3767440" y="3698617"/>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a:endCxn id="82" idx="1"/>
            </p:cNvCxnSpPr>
            <p:nvPr/>
          </p:nvCxnSpPr>
          <p:spPr>
            <a:xfrm flipV="1">
              <a:off x="3886200" y="28223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a:endCxn id="81" idx="1"/>
            </p:cNvCxnSpPr>
            <p:nvPr/>
          </p:nvCxnSpPr>
          <p:spPr>
            <a:xfrm>
              <a:off x="3886200" y="27080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3200400" y="29366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2</a:t>
              </a:r>
            </a:p>
          </p:txBody>
        </p:sp>
        <p:cxnSp>
          <p:nvCxnSpPr>
            <p:cNvPr id="90" name="Straight Arrow Connector 89"/>
            <p:cNvCxnSpPr/>
            <p:nvPr/>
          </p:nvCxnSpPr>
          <p:spPr>
            <a:xfrm>
              <a:off x="3429000" y="27080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p:nvPr/>
          </p:nvCxnSpPr>
          <p:spPr>
            <a:xfrm>
              <a:off x="3429000" y="33176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5181600" y="2876550"/>
              <a:ext cx="724878" cy="830997"/>
            </a:xfrm>
            <a:prstGeom prst="rect">
              <a:avLst/>
            </a:prstGeom>
            <a:noFill/>
          </p:spPr>
          <p:txBody>
            <a:bodyPr wrap="none" rtlCol="0">
              <a:spAutoFit/>
            </a:bodyPr>
            <a:lstStyle/>
            <a:p>
              <a:pPr eaLnBrk="1" fontAlgn="auto" hangingPunct="1">
                <a:spcBef>
                  <a:spcPts val="0"/>
                </a:spcBef>
                <a:spcAft>
                  <a:spcPts val="0"/>
                </a:spcAft>
              </a:pPr>
              <a:r>
                <a:rPr lang="en-US" sz="4800" b="1" dirty="0">
                  <a:solidFill>
                    <a:prstClr val="black"/>
                  </a:solidFill>
                  <a:latin typeface="Calibri"/>
                  <a:ea typeface="+mn-ea"/>
                </a:rPr>
                <a:t>⋯</a:t>
              </a:r>
            </a:p>
          </p:txBody>
        </p:sp>
        <p:sp>
          <p:nvSpPr>
            <p:cNvPr id="93" name="TextBox 92"/>
            <p:cNvSpPr txBox="1"/>
            <p:nvPr/>
          </p:nvSpPr>
          <p:spPr>
            <a:xfrm flipV="1">
              <a:off x="6781800" y="3546217"/>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94" name="Straight Connector 93"/>
            <p:cNvCxnSpPr/>
            <p:nvPr/>
          </p:nvCxnSpPr>
          <p:spPr>
            <a:xfrm flipV="1">
              <a:off x="6477000" y="27842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5" name="Straight Connector 94"/>
            <p:cNvCxnSpPr/>
            <p:nvPr/>
          </p:nvCxnSpPr>
          <p:spPr>
            <a:xfrm flipV="1">
              <a:off x="6477000" y="37748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p:cNvCxnSpPr>
              <a:stCxn id="93" idx="3"/>
            </p:cNvCxnSpPr>
            <p:nvPr/>
          </p:nvCxnSpPr>
          <p:spPr>
            <a:xfrm flipV="1">
              <a:off x="7272640" y="3774817"/>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p:nvPr/>
          </p:nvCxnSpPr>
          <p:spPr>
            <a:xfrm flipV="1">
              <a:off x="7391400" y="28985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p:nvPr/>
          </p:nvCxnSpPr>
          <p:spPr>
            <a:xfrm>
              <a:off x="7391400" y="27842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6705600" y="30128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f</a:t>
              </a:r>
              <a:r>
                <a:rPr lang="en-US" sz="1800" baseline="-25000" dirty="0" err="1">
                  <a:solidFill>
                    <a:srgbClr val="0000FF"/>
                  </a:solidFill>
                  <a:latin typeface="Calibri"/>
                </a:rPr>
                <a:t>d</a:t>
              </a:r>
              <a:endParaRPr lang="en-US" sz="1800" baseline="-25000" dirty="0">
                <a:solidFill>
                  <a:srgbClr val="0000FF"/>
                </a:solidFill>
                <a:latin typeface="Calibri"/>
              </a:endParaRPr>
            </a:p>
          </p:txBody>
        </p:sp>
        <p:cxnSp>
          <p:nvCxnSpPr>
            <p:cNvPr id="100" name="Straight Arrow Connector 99"/>
            <p:cNvCxnSpPr/>
            <p:nvPr/>
          </p:nvCxnSpPr>
          <p:spPr>
            <a:xfrm>
              <a:off x="6934200" y="27842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p:nvPr/>
          </p:nvCxnSpPr>
          <p:spPr>
            <a:xfrm>
              <a:off x="6934200" y="33938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977280" y="4990050"/>
              <a:ext cx="2693880" cy="829800"/>
            </p14:xfrm>
          </p:contentPart>
        </mc:Choice>
        <mc:Fallback xmlns="">
          <p:pic>
            <p:nvPicPr>
              <p:cNvPr id="4" name="Ink 3"/>
              <p:cNvPicPr/>
              <p:nvPr/>
            </p:nvPicPr>
            <p:blipFill>
              <a:blip r:embed="rId3"/>
              <a:stretch>
                <a:fillRect/>
              </a:stretch>
            </p:blipFill>
            <p:spPr>
              <a:xfrm>
                <a:off x="3967920" y="4980690"/>
                <a:ext cx="2712600" cy="848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9174E902-571C-2D35-DACB-435C52FC1488}"/>
                  </a:ext>
                </a:extLst>
              </p14:cNvPr>
              <p14:cNvContentPartPr/>
              <p14:nvPr/>
            </p14:nvContentPartPr>
            <p14:xfrm>
              <a:off x="1540440" y="4739130"/>
              <a:ext cx="5812560" cy="598320"/>
            </p14:xfrm>
          </p:contentPart>
        </mc:Choice>
        <mc:Fallback xmlns="">
          <p:pic>
            <p:nvPicPr>
              <p:cNvPr id="5" name="墨迹 4">
                <a:extLst>
                  <a:ext uri="{FF2B5EF4-FFF2-40B4-BE49-F238E27FC236}">
                    <a16:creationId xmlns:a16="http://schemas.microsoft.com/office/drawing/2014/main" id="{9174E902-571C-2D35-DACB-435C52FC1488}"/>
                  </a:ext>
                </a:extLst>
              </p:cNvPr>
              <p:cNvPicPr/>
              <p:nvPr/>
            </p:nvPicPr>
            <p:blipFill>
              <a:blip r:embed="rId5"/>
              <a:stretch>
                <a:fillRect/>
              </a:stretch>
            </p:blipFill>
            <p:spPr>
              <a:xfrm>
                <a:off x="1531080" y="4729770"/>
                <a:ext cx="5831280" cy="617040"/>
              </a:xfrm>
              <a:prstGeom prst="rect">
                <a:avLst/>
              </a:prstGeom>
            </p:spPr>
          </p:pic>
        </mc:Fallback>
      </mc:AlternateContent>
    </p:spTree>
    <p:extLst>
      <p:ext uri="{BB962C8B-B14F-4D97-AF65-F5344CB8AC3E}">
        <p14:creationId xmlns:p14="http://schemas.microsoft.com/office/powerpoint/2010/main" val="2107383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Content Placeholder 46"/>
          <p:cNvSpPr>
            <a:spLocks noGrp="1"/>
          </p:cNvSpPr>
          <p:nvPr>
            <p:ph idx="1"/>
          </p:nvPr>
        </p:nvSpPr>
        <p:spPr>
          <a:xfrm>
            <a:off x="457200" y="3048000"/>
            <a:ext cx="8229600" cy="1371600"/>
          </a:xfrm>
        </p:spPr>
        <p:txBody>
          <a:bodyPr/>
          <a:lstStyle/>
          <a:p>
            <a:pPr marL="0" indent="0">
              <a:buNone/>
            </a:pPr>
            <a:r>
              <a:rPr lang="en-US" b="1" dirty="0"/>
              <a:t>Claim</a:t>
            </a:r>
            <a:r>
              <a:rPr lang="en-US" dirty="0"/>
              <a:t>:   for all    f</a:t>
            </a:r>
            <a:r>
              <a:rPr lang="en-US" baseline="-25000" dirty="0"/>
              <a:t>1</a:t>
            </a:r>
            <a:r>
              <a:rPr lang="en-US" dirty="0"/>
              <a:t>, …, </a:t>
            </a:r>
            <a:r>
              <a:rPr lang="en-US" dirty="0" err="1"/>
              <a:t>f</a:t>
            </a:r>
            <a:r>
              <a:rPr lang="en-US" baseline="-25000" dirty="0" err="1"/>
              <a:t>d</a:t>
            </a:r>
            <a:r>
              <a:rPr lang="en-US" dirty="0"/>
              <a:t>:   {0,1}</a:t>
            </a:r>
            <a:r>
              <a:rPr lang="en-US" baseline="30000" dirty="0"/>
              <a:t>n</a:t>
            </a:r>
            <a:r>
              <a:rPr lang="en-US" dirty="0"/>
              <a:t>  ⟶  {0,1}</a:t>
            </a:r>
            <a:r>
              <a:rPr lang="en-US" baseline="30000" dirty="0"/>
              <a:t>n</a:t>
            </a:r>
            <a:r>
              <a:rPr lang="en-US" dirty="0"/>
              <a:t> </a:t>
            </a:r>
          </a:p>
          <a:p>
            <a:pPr marL="0" indent="0">
              <a:buNone/>
            </a:pPr>
            <a:r>
              <a:rPr lang="en-US" dirty="0"/>
              <a:t>	</a:t>
            </a:r>
            <a:r>
              <a:rPr lang="en-US" dirty="0" err="1"/>
              <a:t>Feistel</a:t>
            </a:r>
            <a:r>
              <a:rPr lang="en-US" dirty="0"/>
              <a:t> network    F: {0,1}</a:t>
            </a:r>
            <a:r>
              <a:rPr lang="en-US" baseline="30000" dirty="0"/>
              <a:t>2n</a:t>
            </a:r>
            <a:r>
              <a:rPr lang="en-US" dirty="0"/>
              <a:t>  ⟶  {0,1}</a:t>
            </a:r>
            <a:r>
              <a:rPr lang="en-US" baseline="30000" dirty="0"/>
              <a:t>2n</a:t>
            </a:r>
            <a:r>
              <a:rPr lang="en-US" dirty="0"/>
              <a:t>    is invertible</a:t>
            </a:r>
          </a:p>
          <a:p>
            <a:pPr marL="0" indent="0">
              <a:buNone/>
            </a:pPr>
            <a:r>
              <a:rPr lang="en-US" dirty="0"/>
              <a:t>Proof:   construct inverse</a:t>
            </a:r>
          </a:p>
        </p:txBody>
      </p:sp>
      <p:sp>
        <p:nvSpPr>
          <p:cNvPr id="48" name="Rectangle 47"/>
          <p:cNvSpPr/>
          <p:nvPr/>
        </p:nvSpPr>
        <p:spPr>
          <a:xfrm>
            <a:off x="1066800" y="44958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i-1</a:t>
            </a:r>
          </a:p>
        </p:txBody>
      </p:sp>
      <p:sp>
        <p:nvSpPr>
          <p:cNvPr id="49" name="Rectangle 48"/>
          <p:cNvSpPr/>
          <p:nvPr/>
        </p:nvSpPr>
        <p:spPr>
          <a:xfrm>
            <a:off x="1066800" y="51816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i-1</a:t>
            </a:r>
          </a:p>
        </p:txBody>
      </p:sp>
      <p:sp>
        <p:nvSpPr>
          <p:cNvPr id="50" name="Rectangle 49"/>
          <p:cNvSpPr/>
          <p:nvPr/>
        </p:nvSpPr>
        <p:spPr>
          <a:xfrm>
            <a:off x="2743200" y="44958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R</a:t>
            </a:r>
            <a:r>
              <a:rPr lang="en-US" sz="1800" baseline="-25000" dirty="0" err="1">
                <a:solidFill>
                  <a:srgbClr val="0000FF"/>
                </a:solidFill>
                <a:latin typeface="Calibri"/>
              </a:rPr>
              <a:t>i</a:t>
            </a:r>
            <a:endParaRPr lang="en-US" sz="1800" baseline="-25000" dirty="0">
              <a:solidFill>
                <a:srgbClr val="0000FF"/>
              </a:solidFill>
              <a:latin typeface="Calibri"/>
            </a:endParaRPr>
          </a:p>
        </p:txBody>
      </p:sp>
      <p:sp>
        <p:nvSpPr>
          <p:cNvPr id="51" name="Rectangle 50"/>
          <p:cNvSpPr/>
          <p:nvPr/>
        </p:nvSpPr>
        <p:spPr>
          <a:xfrm>
            <a:off x="2743200" y="51816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i</a:t>
            </a:r>
          </a:p>
        </p:txBody>
      </p:sp>
      <p:sp>
        <p:nvSpPr>
          <p:cNvPr id="52" name="TextBox 51"/>
          <p:cNvSpPr txBox="1"/>
          <p:nvPr/>
        </p:nvSpPr>
        <p:spPr>
          <a:xfrm flipV="1">
            <a:off x="1752600" y="5410201"/>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53" name="Straight Connector 52"/>
          <p:cNvCxnSpPr/>
          <p:nvPr/>
        </p:nvCxnSpPr>
        <p:spPr>
          <a:xfrm flipV="1">
            <a:off x="1447800" y="4648200"/>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flipV="1">
            <a:off x="1447800" y="5638800"/>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52" idx="3"/>
          </p:cNvCxnSpPr>
          <p:nvPr/>
        </p:nvCxnSpPr>
        <p:spPr>
          <a:xfrm flipV="1">
            <a:off x="2243440" y="5638800"/>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a:endCxn id="51" idx="1"/>
          </p:cNvCxnSpPr>
          <p:nvPr/>
        </p:nvCxnSpPr>
        <p:spPr>
          <a:xfrm flipV="1">
            <a:off x="2362200" y="4762500"/>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a:endCxn id="50" idx="1"/>
          </p:cNvCxnSpPr>
          <p:nvPr/>
        </p:nvCxnSpPr>
        <p:spPr>
          <a:xfrm>
            <a:off x="2362200" y="4648200"/>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676400" y="4876800"/>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i</a:t>
            </a:r>
          </a:p>
        </p:txBody>
      </p:sp>
      <p:cxnSp>
        <p:nvCxnSpPr>
          <p:cNvPr id="59" name="Straight Arrow Connector 58"/>
          <p:cNvCxnSpPr/>
          <p:nvPr/>
        </p:nvCxnSpPr>
        <p:spPr>
          <a:xfrm>
            <a:off x="1905000" y="4648200"/>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a:off x="1905000" y="5257800"/>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79" name="Group 78"/>
          <p:cNvGrpSpPr/>
          <p:nvPr/>
        </p:nvGrpSpPr>
        <p:grpSpPr>
          <a:xfrm>
            <a:off x="3657600" y="4724400"/>
            <a:ext cx="1524000" cy="533400"/>
            <a:chOff x="3657600" y="3867150"/>
            <a:chExt cx="1524000" cy="533400"/>
          </a:xfrm>
        </p:grpSpPr>
        <p:sp>
          <p:nvSpPr>
            <p:cNvPr id="75" name="Right Arrow 74"/>
            <p:cNvSpPr/>
            <p:nvPr/>
          </p:nvSpPr>
          <p:spPr>
            <a:xfrm>
              <a:off x="3657600" y="4248150"/>
              <a:ext cx="1524000" cy="1524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pPr>
              <a:endParaRPr lang="en-US" sz="1800">
                <a:solidFill>
                  <a:prstClr val="white"/>
                </a:solidFill>
                <a:latin typeface="Calibri"/>
              </a:endParaRPr>
            </a:p>
          </p:txBody>
        </p:sp>
        <p:sp>
          <p:nvSpPr>
            <p:cNvPr id="76" name="TextBox 75"/>
            <p:cNvSpPr txBox="1"/>
            <p:nvPr/>
          </p:nvSpPr>
          <p:spPr>
            <a:xfrm>
              <a:off x="3962400" y="3867150"/>
              <a:ext cx="863638"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inverse</a:t>
              </a:r>
            </a:p>
          </p:txBody>
        </p:sp>
      </p:grpSp>
      <p:cxnSp>
        <p:nvCxnSpPr>
          <p:cNvPr id="3" name="Straight Connector 2"/>
          <p:cNvCxnSpPr/>
          <p:nvPr/>
        </p:nvCxnSpPr>
        <p:spPr>
          <a:xfrm>
            <a:off x="0" y="3048000"/>
            <a:ext cx="9144000" cy="0"/>
          </a:xfrm>
          <a:prstGeom prst="line">
            <a:avLst/>
          </a:prstGeom>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867400" y="4572001"/>
            <a:ext cx="2024162" cy="1061829"/>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R</a:t>
            </a:r>
            <a:r>
              <a:rPr lang="en-US" sz="2400" baseline="-25000" dirty="0">
                <a:solidFill>
                  <a:prstClr val="black"/>
                </a:solidFill>
                <a:latin typeface="Calibri"/>
                <a:ea typeface="+mn-ea"/>
              </a:rPr>
              <a:t>i-1</a:t>
            </a:r>
            <a:r>
              <a:rPr lang="en-US" sz="2400" dirty="0">
                <a:solidFill>
                  <a:prstClr val="black"/>
                </a:solidFill>
                <a:latin typeface="Calibri"/>
                <a:ea typeface="+mn-ea"/>
              </a:rPr>
              <a:t> = L</a:t>
            </a:r>
            <a:r>
              <a:rPr lang="en-US" sz="2400" baseline="-25000" dirty="0">
                <a:solidFill>
                  <a:prstClr val="black"/>
                </a:solidFill>
                <a:latin typeface="Calibri"/>
                <a:ea typeface="+mn-ea"/>
              </a:rPr>
              <a:t>i</a:t>
            </a:r>
          </a:p>
          <a:p>
            <a:pPr eaLnBrk="1" fontAlgn="auto" hangingPunct="1">
              <a:spcBef>
                <a:spcPts val="1800"/>
              </a:spcBef>
              <a:spcAft>
                <a:spcPts val="0"/>
              </a:spcAft>
            </a:pPr>
            <a:r>
              <a:rPr lang="en-US" sz="2400" dirty="0">
                <a:solidFill>
                  <a:prstClr val="black"/>
                </a:solidFill>
                <a:latin typeface="Calibri"/>
                <a:ea typeface="+mn-ea"/>
              </a:rPr>
              <a:t>L</a:t>
            </a:r>
            <a:r>
              <a:rPr lang="en-US" sz="2400" baseline="-25000" dirty="0">
                <a:solidFill>
                  <a:prstClr val="black"/>
                </a:solidFill>
                <a:latin typeface="Calibri"/>
                <a:ea typeface="+mn-ea"/>
              </a:rPr>
              <a:t>i-1</a:t>
            </a:r>
            <a:r>
              <a:rPr lang="en-US" sz="2400" dirty="0">
                <a:solidFill>
                  <a:prstClr val="black"/>
                </a:solidFill>
                <a:latin typeface="Calibri"/>
                <a:ea typeface="+mn-ea"/>
              </a:rPr>
              <a:t> = f</a:t>
            </a:r>
            <a:r>
              <a:rPr lang="en-US" sz="2400" baseline="-25000" dirty="0">
                <a:solidFill>
                  <a:prstClr val="black"/>
                </a:solidFill>
                <a:latin typeface="Calibri"/>
                <a:ea typeface="+mn-ea"/>
              </a:rPr>
              <a:t>i</a:t>
            </a:r>
            <a:r>
              <a:rPr lang="en-US" sz="2400" dirty="0">
                <a:solidFill>
                  <a:prstClr val="black"/>
                </a:solidFill>
                <a:latin typeface="Calibri"/>
                <a:ea typeface="+mn-ea"/>
              </a:rPr>
              <a:t>(L</a:t>
            </a:r>
            <a:r>
              <a:rPr lang="en-US" sz="2400" baseline="-25000" dirty="0">
                <a:solidFill>
                  <a:prstClr val="black"/>
                </a:solidFill>
                <a:latin typeface="Calibri"/>
                <a:ea typeface="+mn-ea"/>
              </a:rPr>
              <a:t>i</a:t>
            </a:r>
            <a:r>
              <a:rPr lang="en-US" sz="2400" dirty="0">
                <a:solidFill>
                  <a:prstClr val="black"/>
                </a:solidFill>
                <a:latin typeface="Calibri"/>
                <a:ea typeface="+mn-ea"/>
              </a:rPr>
              <a:t>) ⨁  </a:t>
            </a:r>
            <a:r>
              <a:rPr lang="en-US" sz="2400" dirty="0" err="1">
                <a:solidFill>
                  <a:prstClr val="black"/>
                </a:solidFill>
                <a:latin typeface="Calibri"/>
                <a:ea typeface="+mn-ea"/>
              </a:rPr>
              <a:t>R</a:t>
            </a:r>
            <a:r>
              <a:rPr lang="en-US" sz="2400" baseline="-25000" dirty="0" err="1">
                <a:solidFill>
                  <a:prstClr val="black"/>
                </a:solidFill>
                <a:latin typeface="Calibri"/>
                <a:ea typeface="+mn-ea"/>
              </a:rPr>
              <a:t>i</a:t>
            </a:r>
            <a:endParaRPr lang="en-US" sz="2400" baseline="-25000" dirty="0">
              <a:solidFill>
                <a:prstClr val="black"/>
              </a:solidFill>
              <a:latin typeface="Calibri"/>
              <a:ea typeface="+mn-ea"/>
            </a:endParaRPr>
          </a:p>
        </p:txBody>
      </p:sp>
      <p:sp>
        <p:nvSpPr>
          <p:cNvPr id="80" name="Rectangle 79"/>
          <p:cNvSpPr/>
          <p:nvPr/>
        </p:nvSpPr>
        <p:spPr>
          <a:xfrm>
            <a:off x="6553200" y="5181600"/>
            <a:ext cx="1600200" cy="533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pPr>
            <a:endParaRPr lang="en-US" sz="1800">
              <a:solidFill>
                <a:prstClr val="white"/>
              </a:solidFill>
              <a:latin typeface="Calibri"/>
            </a:endParaRPr>
          </a:p>
        </p:txBody>
      </p:sp>
      <p:grpSp>
        <p:nvGrpSpPr>
          <p:cNvPr id="65" name="Group 64"/>
          <p:cNvGrpSpPr/>
          <p:nvPr/>
        </p:nvGrpSpPr>
        <p:grpSpPr>
          <a:xfrm>
            <a:off x="609602" y="914400"/>
            <a:ext cx="7848599" cy="1817132"/>
            <a:chOff x="609601" y="2419350"/>
            <a:chExt cx="7848599" cy="1817132"/>
          </a:xfrm>
        </p:grpSpPr>
        <p:sp>
          <p:nvSpPr>
            <p:cNvPr id="66" name="TextBox 65"/>
            <p:cNvSpPr txBox="1"/>
            <p:nvPr/>
          </p:nvSpPr>
          <p:spPr>
            <a:xfrm>
              <a:off x="774333" y="3867150"/>
              <a:ext cx="684803"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input</a:t>
              </a:r>
            </a:p>
          </p:txBody>
        </p:sp>
        <p:sp>
          <p:nvSpPr>
            <p:cNvPr id="67" name="TextBox 66"/>
            <p:cNvSpPr txBox="1"/>
            <p:nvPr/>
          </p:nvSpPr>
          <p:spPr>
            <a:xfrm>
              <a:off x="7632333" y="3867150"/>
              <a:ext cx="825867"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output</a:t>
              </a:r>
            </a:p>
          </p:txBody>
        </p:sp>
        <p:sp>
          <p:nvSpPr>
            <p:cNvPr id="68" name="Rectangle 67"/>
            <p:cNvSpPr/>
            <p:nvPr/>
          </p:nvSpPr>
          <p:spPr>
            <a:xfrm>
              <a:off x="60960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d-1</a:t>
              </a:r>
            </a:p>
          </p:txBody>
        </p:sp>
        <p:sp>
          <p:nvSpPr>
            <p:cNvPr id="69" name="Rectangle 68"/>
            <p:cNvSpPr/>
            <p:nvPr/>
          </p:nvSpPr>
          <p:spPr>
            <a:xfrm>
              <a:off x="60960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d-1</a:t>
              </a:r>
            </a:p>
          </p:txBody>
        </p:sp>
        <p:sp>
          <p:nvSpPr>
            <p:cNvPr id="70" name="Rectangle 69"/>
            <p:cNvSpPr/>
            <p:nvPr/>
          </p:nvSpPr>
          <p:spPr>
            <a:xfrm>
              <a:off x="77724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d</a:t>
              </a:r>
            </a:p>
          </p:txBody>
        </p:sp>
        <p:sp>
          <p:nvSpPr>
            <p:cNvPr id="71" name="Rectangle 70"/>
            <p:cNvSpPr/>
            <p:nvPr/>
          </p:nvSpPr>
          <p:spPr>
            <a:xfrm>
              <a:off x="77724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L</a:t>
              </a:r>
              <a:r>
                <a:rPr lang="en-US" sz="1800" baseline="-25000" dirty="0" err="1">
                  <a:solidFill>
                    <a:srgbClr val="0000FF"/>
                  </a:solidFill>
                  <a:latin typeface="Calibri"/>
                </a:rPr>
                <a:t>d</a:t>
              </a:r>
              <a:endParaRPr lang="en-US" sz="1800" baseline="-25000" dirty="0">
                <a:solidFill>
                  <a:srgbClr val="0000FF"/>
                </a:solidFill>
                <a:latin typeface="Calibri"/>
              </a:endParaRPr>
            </a:p>
          </p:txBody>
        </p:sp>
        <p:sp>
          <p:nvSpPr>
            <p:cNvPr id="72" name="Rectangle 71"/>
            <p:cNvSpPr/>
            <p:nvPr/>
          </p:nvSpPr>
          <p:spPr>
            <a:xfrm>
              <a:off x="914400" y="2495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0</a:t>
              </a:r>
            </a:p>
          </p:txBody>
        </p:sp>
        <p:sp>
          <p:nvSpPr>
            <p:cNvPr id="73" name="Rectangle 72"/>
            <p:cNvSpPr/>
            <p:nvPr/>
          </p:nvSpPr>
          <p:spPr>
            <a:xfrm>
              <a:off x="914400" y="31813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0</a:t>
              </a:r>
            </a:p>
          </p:txBody>
        </p:sp>
        <p:sp>
          <p:nvSpPr>
            <p:cNvPr id="78" name="TextBox 77"/>
            <p:cNvSpPr txBox="1"/>
            <p:nvPr/>
          </p:nvSpPr>
          <p:spPr>
            <a:xfrm rot="5400000">
              <a:off x="444296" y="2596322"/>
              <a:ext cx="723275"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n-bits</a:t>
              </a:r>
            </a:p>
          </p:txBody>
        </p:sp>
        <p:sp>
          <p:nvSpPr>
            <p:cNvPr id="81" name="TextBox 80"/>
            <p:cNvSpPr txBox="1"/>
            <p:nvPr/>
          </p:nvSpPr>
          <p:spPr>
            <a:xfrm rot="5400000">
              <a:off x="432629" y="3397046"/>
              <a:ext cx="723275"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n-bits</a:t>
              </a:r>
            </a:p>
          </p:txBody>
        </p:sp>
        <p:sp>
          <p:nvSpPr>
            <p:cNvPr id="82" name="Rectangle 81"/>
            <p:cNvSpPr/>
            <p:nvPr/>
          </p:nvSpPr>
          <p:spPr>
            <a:xfrm>
              <a:off x="25908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1</a:t>
              </a:r>
            </a:p>
          </p:txBody>
        </p:sp>
        <p:sp>
          <p:nvSpPr>
            <p:cNvPr id="83" name="Rectangle 82"/>
            <p:cNvSpPr/>
            <p:nvPr/>
          </p:nvSpPr>
          <p:spPr>
            <a:xfrm>
              <a:off x="25908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1</a:t>
              </a:r>
            </a:p>
          </p:txBody>
        </p:sp>
        <p:sp>
          <p:nvSpPr>
            <p:cNvPr id="84" name="TextBox 83"/>
            <p:cNvSpPr txBox="1"/>
            <p:nvPr/>
          </p:nvSpPr>
          <p:spPr>
            <a:xfrm flipV="1">
              <a:off x="1600200" y="3470017"/>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85" name="Straight Connector 84"/>
            <p:cNvCxnSpPr/>
            <p:nvPr/>
          </p:nvCxnSpPr>
          <p:spPr>
            <a:xfrm flipV="1">
              <a:off x="1295400" y="27080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flipV="1">
              <a:off x="1295400" y="36986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Straight Connector 86"/>
            <p:cNvCxnSpPr>
              <a:stCxn id="84" idx="3"/>
            </p:cNvCxnSpPr>
            <p:nvPr/>
          </p:nvCxnSpPr>
          <p:spPr>
            <a:xfrm flipV="1">
              <a:off x="2091040" y="3698617"/>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a:endCxn id="83" idx="1"/>
            </p:cNvCxnSpPr>
            <p:nvPr/>
          </p:nvCxnSpPr>
          <p:spPr>
            <a:xfrm flipV="1">
              <a:off x="2209800" y="28223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9" name="Straight Arrow Connector 88"/>
            <p:cNvCxnSpPr>
              <a:endCxn id="82" idx="1"/>
            </p:cNvCxnSpPr>
            <p:nvPr/>
          </p:nvCxnSpPr>
          <p:spPr>
            <a:xfrm>
              <a:off x="2209800" y="27080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524000" y="29366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1</a:t>
              </a:r>
            </a:p>
          </p:txBody>
        </p:sp>
        <p:cxnSp>
          <p:nvCxnSpPr>
            <p:cNvPr id="91" name="Straight Arrow Connector 90"/>
            <p:cNvCxnSpPr/>
            <p:nvPr/>
          </p:nvCxnSpPr>
          <p:spPr>
            <a:xfrm>
              <a:off x="1752600" y="27080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a:off x="1752600" y="33176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42672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2</a:t>
              </a:r>
            </a:p>
          </p:txBody>
        </p:sp>
        <p:sp>
          <p:nvSpPr>
            <p:cNvPr id="94" name="Rectangle 93"/>
            <p:cNvSpPr/>
            <p:nvPr/>
          </p:nvSpPr>
          <p:spPr>
            <a:xfrm>
              <a:off x="42672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2</a:t>
              </a:r>
            </a:p>
          </p:txBody>
        </p:sp>
        <p:sp>
          <p:nvSpPr>
            <p:cNvPr id="95" name="TextBox 94"/>
            <p:cNvSpPr txBox="1"/>
            <p:nvPr/>
          </p:nvSpPr>
          <p:spPr>
            <a:xfrm flipV="1">
              <a:off x="3276600" y="3470017"/>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96" name="Straight Connector 95"/>
            <p:cNvCxnSpPr/>
            <p:nvPr/>
          </p:nvCxnSpPr>
          <p:spPr>
            <a:xfrm flipV="1">
              <a:off x="2971800" y="27080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Straight Connector 96"/>
            <p:cNvCxnSpPr/>
            <p:nvPr/>
          </p:nvCxnSpPr>
          <p:spPr>
            <a:xfrm flipV="1">
              <a:off x="2971800" y="36986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8" name="Straight Connector 97"/>
            <p:cNvCxnSpPr>
              <a:stCxn id="95" idx="3"/>
            </p:cNvCxnSpPr>
            <p:nvPr/>
          </p:nvCxnSpPr>
          <p:spPr>
            <a:xfrm flipV="1">
              <a:off x="3767440" y="3698617"/>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endCxn id="94" idx="1"/>
            </p:cNvCxnSpPr>
            <p:nvPr/>
          </p:nvCxnSpPr>
          <p:spPr>
            <a:xfrm flipV="1">
              <a:off x="3886200" y="28223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a:endCxn id="93" idx="1"/>
            </p:cNvCxnSpPr>
            <p:nvPr/>
          </p:nvCxnSpPr>
          <p:spPr>
            <a:xfrm>
              <a:off x="3886200" y="27080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3200400" y="29366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2</a:t>
              </a:r>
            </a:p>
          </p:txBody>
        </p:sp>
        <p:cxnSp>
          <p:nvCxnSpPr>
            <p:cNvPr id="102" name="Straight Arrow Connector 101"/>
            <p:cNvCxnSpPr/>
            <p:nvPr/>
          </p:nvCxnSpPr>
          <p:spPr>
            <a:xfrm>
              <a:off x="3429000" y="27080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p:nvPr/>
          </p:nvCxnSpPr>
          <p:spPr>
            <a:xfrm>
              <a:off x="3429000" y="33176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5181600" y="2876550"/>
              <a:ext cx="724878" cy="830997"/>
            </a:xfrm>
            <a:prstGeom prst="rect">
              <a:avLst/>
            </a:prstGeom>
            <a:noFill/>
          </p:spPr>
          <p:txBody>
            <a:bodyPr wrap="none" rtlCol="0">
              <a:spAutoFit/>
            </a:bodyPr>
            <a:lstStyle/>
            <a:p>
              <a:pPr eaLnBrk="1" fontAlgn="auto" hangingPunct="1">
                <a:spcBef>
                  <a:spcPts val="0"/>
                </a:spcBef>
                <a:spcAft>
                  <a:spcPts val="0"/>
                </a:spcAft>
              </a:pPr>
              <a:r>
                <a:rPr lang="en-US" sz="4800" b="1" dirty="0">
                  <a:solidFill>
                    <a:prstClr val="black"/>
                  </a:solidFill>
                  <a:latin typeface="Calibri"/>
                  <a:ea typeface="+mn-ea"/>
                </a:rPr>
                <a:t>⋯</a:t>
              </a:r>
            </a:p>
          </p:txBody>
        </p:sp>
        <p:sp>
          <p:nvSpPr>
            <p:cNvPr id="105" name="TextBox 104"/>
            <p:cNvSpPr txBox="1"/>
            <p:nvPr/>
          </p:nvSpPr>
          <p:spPr>
            <a:xfrm flipV="1">
              <a:off x="6781800" y="3546217"/>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106" name="Straight Connector 105"/>
            <p:cNvCxnSpPr/>
            <p:nvPr/>
          </p:nvCxnSpPr>
          <p:spPr>
            <a:xfrm flipV="1">
              <a:off x="6477000" y="27842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V="1">
              <a:off x="6477000" y="37748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8" name="Straight Connector 107"/>
            <p:cNvCxnSpPr>
              <a:stCxn id="105" idx="3"/>
            </p:cNvCxnSpPr>
            <p:nvPr/>
          </p:nvCxnSpPr>
          <p:spPr>
            <a:xfrm flipV="1">
              <a:off x="7272640" y="3774817"/>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9" name="Straight Arrow Connector 108"/>
            <p:cNvCxnSpPr/>
            <p:nvPr/>
          </p:nvCxnSpPr>
          <p:spPr>
            <a:xfrm flipV="1">
              <a:off x="7391400" y="28985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0" name="Straight Arrow Connector 109"/>
            <p:cNvCxnSpPr/>
            <p:nvPr/>
          </p:nvCxnSpPr>
          <p:spPr>
            <a:xfrm>
              <a:off x="7391400" y="27842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1" name="Oval 110"/>
            <p:cNvSpPr/>
            <p:nvPr/>
          </p:nvSpPr>
          <p:spPr>
            <a:xfrm>
              <a:off x="6705600" y="30128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f</a:t>
              </a:r>
              <a:r>
                <a:rPr lang="en-US" sz="1800" baseline="-25000" dirty="0" err="1">
                  <a:solidFill>
                    <a:srgbClr val="0000FF"/>
                  </a:solidFill>
                  <a:latin typeface="Calibri"/>
                </a:rPr>
                <a:t>d</a:t>
              </a:r>
              <a:endParaRPr lang="en-US" sz="1800" baseline="-25000" dirty="0">
                <a:solidFill>
                  <a:srgbClr val="0000FF"/>
                </a:solidFill>
                <a:latin typeface="Calibri"/>
              </a:endParaRPr>
            </a:p>
          </p:txBody>
        </p:sp>
        <p:cxnSp>
          <p:nvCxnSpPr>
            <p:cNvPr id="112" name="Straight Arrow Connector 111"/>
            <p:cNvCxnSpPr/>
            <p:nvPr/>
          </p:nvCxnSpPr>
          <p:spPr>
            <a:xfrm>
              <a:off x="6934200" y="27842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3" name="Straight Arrow Connector 112"/>
            <p:cNvCxnSpPr/>
            <p:nvPr/>
          </p:nvCxnSpPr>
          <p:spPr>
            <a:xfrm>
              <a:off x="6934200" y="33938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10624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4"/>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80" grpId="0" animBg="1"/>
      <p:bldP spid="80"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Content Placeholder 46"/>
          <p:cNvSpPr>
            <a:spLocks noGrp="1"/>
          </p:cNvSpPr>
          <p:nvPr>
            <p:ph idx="1"/>
          </p:nvPr>
        </p:nvSpPr>
        <p:spPr>
          <a:xfrm>
            <a:off x="457200" y="3048000"/>
            <a:ext cx="8229600" cy="1371600"/>
          </a:xfrm>
        </p:spPr>
        <p:txBody>
          <a:bodyPr/>
          <a:lstStyle/>
          <a:p>
            <a:pPr marL="0" indent="0">
              <a:buNone/>
            </a:pPr>
            <a:r>
              <a:rPr lang="en-US" b="1" dirty="0"/>
              <a:t>Claim</a:t>
            </a:r>
            <a:r>
              <a:rPr lang="en-US" dirty="0"/>
              <a:t>:   for all    f</a:t>
            </a:r>
            <a:r>
              <a:rPr lang="en-US" baseline="-25000" dirty="0"/>
              <a:t>1</a:t>
            </a:r>
            <a:r>
              <a:rPr lang="en-US" dirty="0"/>
              <a:t>, …, </a:t>
            </a:r>
            <a:r>
              <a:rPr lang="en-US" dirty="0" err="1"/>
              <a:t>f</a:t>
            </a:r>
            <a:r>
              <a:rPr lang="en-US" baseline="-25000" dirty="0" err="1"/>
              <a:t>d</a:t>
            </a:r>
            <a:r>
              <a:rPr lang="en-US" dirty="0"/>
              <a:t>:   {0,1}</a:t>
            </a:r>
            <a:r>
              <a:rPr lang="en-US" baseline="30000" dirty="0"/>
              <a:t>n</a:t>
            </a:r>
            <a:r>
              <a:rPr lang="en-US" dirty="0"/>
              <a:t>  ⟶  {0,1}</a:t>
            </a:r>
            <a:r>
              <a:rPr lang="en-US" baseline="30000" dirty="0"/>
              <a:t>n</a:t>
            </a:r>
            <a:r>
              <a:rPr lang="en-US" dirty="0"/>
              <a:t> </a:t>
            </a:r>
          </a:p>
          <a:p>
            <a:pPr marL="0" indent="0">
              <a:buNone/>
            </a:pPr>
            <a:r>
              <a:rPr lang="en-US" dirty="0"/>
              <a:t>	</a:t>
            </a:r>
            <a:r>
              <a:rPr lang="en-US" dirty="0" err="1"/>
              <a:t>Feistel</a:t>
            </a:r>
            <a:r>
              <a:rPr lang="en-US" dirty="0"/>
              <a:t> network    F: {0,1}</a:t>
            </a:r>
            <a:r>
              <a:rPr lang="en-US" baseline="30000" dirty="0"/>
              <a:t>2n</a:t>
            </a:r>
            <a:r>
              <a:rPr lang="en-US" dirty="0"/>
              <a:t>  ⟶  {0,1}</a:t>
            </a:r>
            <a:r>
              <a:rPr lang="en-US" baseline="30000" dirty="0"/>
              <a:t>2n</a:t>
            </a:r>
            <a:r>
              <a:rPr lang="en-US" dirty="0"/>
              <a:t>    is invertible</a:t>
            </a:r>
          </a:p>
          <a:p>
            <a:pPr marL="0" indent="0">
              <a:buNone/>
            </a:pPr>
            <a:r>
              <a:rPr lang="en-US" dirty="0"/>
              <a:t>Proof:   construct inverse</a:t>
            </a:r>
          </a:p>
        </p:txBody>
      </p:sp>
      <p:sp>
        <p:nvSpPr>
          <p:cNvPr id="48" name="Rectangle 47"/>
          <p:cNvSpPr/>
          <p:nvPr/>
        </p:nvSpPr>
        <p:spPr>
          <a:xfrm>
            <a:off x="1066800" y="44958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i-1</a:t>
            </a:r>
          </a:p>
        </p:txBody>
      </p:sp>
      <p:sp>
        <p:nvSpPr>
          <p:cNvPr id="49" name="Rectangle 48"/>
          <p:cNvSpPr/>
          <p:nvPr/>
        </p:nvSpPr>
        <p:spPr>
          <a:xfrm>
            <a:off x="1066800" y="51816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i-1</a:t>
            </a:r>
          </a:p>
        </p:txBody>
      </p:sp>
      <p:sp>
        <p:nvSpPr>
          <p:cNvPr id="50" name="Rectangle 49"/>
          <p:cNvSpPr/>
          <p:nvPr/>
        </p:nvSpPr>
        <p:spPr>
          <a:xfrm>
            <a:off x="2743200" y="44958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R</a:t>
            </a:r>
            <a:r>
              <a:rPr lang="en-US" sz="1800" baseline="-25000" dirty="0" err="1">
                <a:solidFill>
                  <a:srgbClr val="0000FF"/>
                </a:solidFill>
                <a:latin typeface="Calibri"/>
              </a:rPr>
              <a:t>i</a:t>
            </a:r>
            <a:endParaRPr lang="en-US" sz="1800" baseline="-25000" dirty="0">
              <a:solidFill>
                <a:srgbClr val="0000FF"/>
              </a:solidFill>
              <a:latin typeface="Calibri"/>
            </a:endParaRPr>
          </a:p>
        </p:txBody>
      </p:sp>
      <p:sp>
        <p:nvSpPr>
          <p:cNvPr id="51" name="Rectangle 50"/>
          <p:cNvSpPr/>
          <p:nvPr/>
        </p:nvSpPr>
        <p:spPr>
          <a:xfrm>
            <a:off x="2743200" y="51816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i</a:t>
            </a:r>
          </a:p>
        </p:txBody>
      </p:sp>
      <p:sp>
        <p:nvSpPr>
          <p:cNvPr id="52" name="TextBox 51"/>
          <p:cNvSpPr txBox="1"/>
          <p:nvPr/>
        </p:nvSpPr>
        <p:spPr>
          <a:xfrm flipV="1">
            <a:off x="1752600" y="5410201"/>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53" name="Straight Connector 52"/>
          <p:cNvCxnSpPr/>
          <p:nvPr/>
        </p:nvCxnSpPr>
        <p:spPr>
          <a:xfrm flipV="1">
            <a:off x="1447800" y="4648200"/>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flipV="1">
            <a:off x="1447800" y="5638800"/>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52" idx="3"/>
          </p:cNvCxnSpPr>
          <p:nvPr/>
        </p:nvCxnSpPr>
        <p:spPr>
          <a:xfrm flipV="1">
            <a:off x="2243440" y="5638800"/>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a:endCxn id="51" idx="1"/>
          </p:cNvCxnSpPr>
          <p:nvPr/>
        </p:nvCxnSpPr>
        <p:spPr>
          <a:xfrm flipV="1">
            <a:off x="2362200" y="4762500"/>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a:endCxn id="50" idx="1"/>
          </p:cNvCxnSpPr>
          <p:nvPr/>
        </p:nvCxnSpPr>
        <p:spPr>
          <a:xfrm>
            <a:off x="2362200" y="4648200"/>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676400" y="4876800"/>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i</a:t>
            </a:r>
          </a:p>
        </p:txBody>
      </p:sp>
      <p:cxnSp>
        <p:nvCxnSpPr>
          <p:cNvPr id="59" name="Straight Arrow Connector 58"/>
          <p:cNvCxnSpPr/>
          <p:nvPr/>
        </p:nvCxnSpPr>
        <p:spPr>
          <a:xfrm>
            <a:off x="1905000" y="4648200"/>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a:off x="1905000" y="5257800"/>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79" name="Group 78"/>
          <p:cNvGrpSpPr/>
          <p:nvPr/>
        </p:nvGrpSpPr>
        <p:grpSpPr>
          <a:xfrm>
            <a:off x="3657600" y="4724400"/>
            <a:ext cx="1524000" cy="533400"/>
            <a:chOff x="3657600" y="3867150"/>
            <a:chExt cx="1524000" cy="533400"/>
          </a:xfrm>
        </p:grpSpPr>
        <p:sp>
          <p:nvSpPr>
            <p:cNvPr id="75" name="Right Arrow 74"/>
            <p:cNvSpPr/>
            <p:nvPr/>
          </p:nvSpPr>
          <p:spPr>
            <a:xfrm>
              <a:off x="3657600" y="4248150"/>
              <a:ext cx="1524000" cy="1524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eaLnBrk="1" fontAlgn="auto" hangingPunct="1">
                <a:spcBef>
                  <a:spcPts val="0"/>
                </a:spcBef>
                <a:spcAft>
                  <a:spcPts val="0"/>
                </a:spcAft>
              </a:pPr>
              <a:endParaRPr lang="en-US" sz="1800">
                <a:solidFill>
                  <a:prstClr val="white"/>
                </a:solidFill>
                <a:latin typeface="Calibri"/>
              </a:endParaRPr>
            </a:p>
          </p:txBody>
        </p:sp>
        <p:sp>
          <p:nvSpPr>
            <p:cNvPr id="76" name="TextBox 75"/>
            <p:cNvSpPr txBox="1"/>
            <p:nvPr/>
          </p:nvSpPr>
          <p:spPr>
            <a:xfrm>
              <a:off x="3962400" y="3867150"/>
              <a:ext cx="863638"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inverse</a:t>
              </a:r>
            </a:p>
          </p:txBody>
        </p:sp>
      </p:grpSp>
      <p:cxnSp>
        <p:nvCxnSpPr>
          <p:cNvPr id="3" name="Straight Connector 2"/>
          <p:cNvCxnSpPr/>
          <p:nvPr/>
        </p:nvCxnSpPr>
        <p:spPr>
          <a:xfrm>
            <a:off x="0" y="3048000"/>
            <a:ext cx="9144000"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65" name="Group 64"/>
          <p:cNvGrpSpPr/>
          <p:nvPr/>
        </p:nvGrpSpPr>
        <p:grpSpPr>
          <a:xfrm>
            <a:off x="609602" y="914400"/>
            <a:ext cx="7848599" cy="1817132"/>
            <a:chOff x="609601" y="2419350"/>
            <a:chExt cx="7848599" cy="1817132"/>
          </a:xfrm>
        </p:grpSpPr>
        <p:sp>
          <p:nvSpPr>
            <p:cNvPr id="66" name="TextBox 65"/>
            <p:cNvSpPr txBox="1"/>
            <p:nvPr/>
          </p:nvSpPr>
          <p:spPr>
            <a:xfrm>
              <a:off x="774333" y="3867150"/>
              <a:ext cx="684803"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input</a:t>
              </a:r>
            </a:p>
          </p:txBody>
        </p:sp>
        <p:sp>
          <p:nvSpPr>
            <p:cNvPr id="67" name="TextBox 66"/>
            <p:cNvSpPr txBox="1"/>
            <p:nvPr/>
          </p:nvSpPr>
          <p:spPr>
            <a:xfrm>
              <a:off x="7632333" y="3867150"/>
              <a:ext cx="825867"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output</a:t>
              </a:r>
            </a:p>
          </p:txBody>
        </p:sp>
        <p:sp>
          <p:nvSpPr>
            <p:cNvPr id="68" name="Rectangle 67"/>
            <p:cNvSpPr/>
            <p:nvPr/>
          </p:nvSpPr>
          <p:spPr>
            <a:xfrm>
              <a:off x="60960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d-1</a:t>
              </a:r>
            </a:p>
          </p:txBody>
        </p:sp>
        <p:sp>
          <p:nvSpPr>
            <p:cNvPr id="69" name="Rectangle 68"/>
            <p:cNvSpPr/>
            <p:nvPr/>
          </p:nvSpPr>
          <p:spPr>
            <a:xfrm>
              <a:off x="60960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d-1</a:t>
              </a:r>
            </a:p>
          </p:txBody>
        </p:sp>
        <p:sp>
          <p:nvSpPr>
            <p:cNvPr id="70" name="Rectangle 69"/>
            <p:cNvSpPr/>
            <p:nvPr/>
          </p:nvSpPr>
          <p:spPr>
            <a:xfrm>
              <a:off x="77724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d</a:t>
              </a:r>
            </a:p>
          </p:txBody>
        </p:sp>
        <p:sp>
          <p:nvSpPr>
            <p:cNvPr id="71" name="Rectangle 70"/>
            <p:cNvSpPr/>
            <p:nvPr/>
          </p:nvSpPr>
          <p:spPr>
            <a:xfrm>
              <a:off x="77724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L</a:t>
              </a:r>
              <a:r>
                <a:rPr lang="en-US" sz="1800" baseline="-25000" dirty="0" err="1">
                  <a:solidFill>
                    <a:srgbClr val="0000FF"/>
                  </a:solidFill>
                  <a:latin typeface="Calibri"/>
                </a:rPr>
                <a:t>d</a:t>
              </a:r>
              <a:endParaRPr lang="en-US" sz="1800" baseline="-25000" dirty="0">
                <a:solidFill>
                  <a:srgbClr val="0000FF"/>
                </a:solidFill>
                <a:latin typeface="Calibri"/>
              </a:endParaRPr>
            </a:p>
          </p:txBody>
        </p:sp>
        <p:sp>
          <p:nvSpPr>
            <p:cNvPr id="72" name="Rectangle 71"/>
            <p:cNvSpPr/>
            <p:nvPr/>
          </p:nvSpPr>
          <p:spPr>
            <a:xfrm>
              <a:off x="914400" y="2495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0</a:t>
              </a:r>
            </a:p>
          </p:txBody>
        </p:sp>
        <p:sp>
          <p:nvSpPr>
            <p:cNvPr id="73" name="Rectangle 72"/>
            <p:cNvSpPr/>
            <p:nvPr/>
          </p:nvSpPr>
          <p:spPr>
            <a:xfrm>
              <a:off x="914400" y="31813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0</a:t>
              </a:r>
            </a:p>
          </p:txBody>
        </p:sp>
        <p:sp>
          <p:nvSpPr>
            <p:cNvPr id="78" name="TextBox 77"/>
            <p:cNvSpPr txBox="1"/>
            <p:nvPr/>
          </p:nvSpPr>
          <p:spPr>
            <a:xfrm rot="5400000">
              <a:off x="444296" y="2596322"/>
              <a:ext cx="723275"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n-bits</a:t>
              </a:r>
            </a:p>
          </p:txBody>
        </p:sp>
        <p:sp>
          <p:nvSpPr>
            <p:cNvPr id="81" name="TextBox 80"/>
            <p:cNvSpPr txBox="1"/>
            <p:nvPr/>
          </p:nvSpPr>
          <p:spPr>
            <a:xfrm rot="5400000">
              <a:off x="432629" y="3397046"/>
              <a:ext cx="723275"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n-bits</a:t>
              </a:r>
            </a:p>
          </p:txBody>
        </p:sp>
        <p:sp>
          <p:nvSpPr>
            <p:cNvPr id="82" name="Rectangle 81"/>
            <p:cNvSpPr/>
            <p:nvPr/>
          </p:nvSpPr>
          <p:spPr>
            <a:xfrm>
              <a:off x="25908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1</a:t>
              </a:r>
            </a:p>
          </p:txBody>
        </p:sp>
        <p:sp>
          <p:nvSpPr>
            <p:cNvPr id="83" name="Rectangle 82"/>
            <p:cNvSpPr/>
            <p:nvPr/>
          </p:nvSpPr>
          <p:spPr>
            <a:xfrm>
              <a:off x="25908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1</a:t>
              </a:r>
            </a:p>
          </p:txBody>
        </p:sp>
        <p:sp>
          <p:nvSpPr>
            <p:cNvPr id="84" name="TextBox 83"/>
            <p:cNvSpPr txBox="1"/>
            <p:nvPr/>
          </p:nvSpPr>
          <p:spPr>
            <a:xfrm flipV="1">
              <a:off x="1600200" y="3470017"/>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85" name="Straight Connector 84"/>
            <p:cNvCxnSpPr/>
            <p:nvPr/>
          </p:nvCxnSpPr>
          <p:spPr>
            <a:xfrm flipV="1">
              <a:off x="1295400" y="27080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flipV="1">
              <a:off x="1295400" y="36986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Straight Connector 86"/>
            <p:cNvCxnSpPr>
              <a:stCxn id="84" idx="3"/>
            </p:cNvCxnSpPr>
            <p:nvPr/>
          </p:nvCxnSpPr>
          <p:spPr>
            <a:xfrm flipV="1">
              <a:off x="2091040" y="3698617"/>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a:endCxn id="83" idx="1"/>
            </p:cNvCxnSpPr>
            <p:nvPr/>
          </p:nvCxnSpPr>
          <p:spPr>
            <a:xfrm flipV="1">
              <a:off x="2209800" y="28223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9" name="Straight Arrow Connector 88"/>
            <p:cNvCxnSpPr>
              <a:endCxn id="82" idx="1"/>
            </p:cNvCxnSpPr>
            <p:nvPr/>
          </p:nvCxnSpPr>
          <p:spPr>
            <a:xfrm>
              <a:off x="2209800" y="27080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524000" y="29366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1</a:t>
              </a:r>
            </a:p>
          </p:txBody>
        </p:sp>
        <p:cxnSp>
          <p:nvCxnSpPr>
            <p:cNvPr id="91" name="Straight Arrow Connector 90"/>
            <p:cNvCxnSpPr/>
            <p:nvPr/>
          </p:nvCxnSpPr>
          <p:spPr>
            <a:xfrm>
              <a:off x="1752600" y="27080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a:off x="1752600" y="33176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4267200" y="25717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2</a:t>
              </a:r>
            </a:p>
          </p:txBody>
        </p:sp>
        <p:sp>
          <p:nvSpPr>
            <p:cNvPr id="94" name="Rectangle 93"/>
            <p:cNvSpPr/>
            <p:nvPr/>
          </p:nvSpPr>
          <p:spPr>
            <a:xfrm>
              <a:off x="4267200" y="325755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2</a:t>
              </a:r>
            </a:p>
          </p:txBody>
        </p:sp>
        <p:sp>
          <p:nvSpPr>
            <p:cNvPr id="95" name="TextBox 94"/>
            <p:cNvSpPr txBox="1"/>
            <p:nvPr/>
          </p:nvSpPr>
          <p:spPr>
            <a:xfrm flipV="1">
              <a:off x="3276600" y="3470017"/>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96" name="Straight Connector 95"/>
            <p:cNvCxnSpPr/>
            <p:nvPr/>
          </p:nvCxnSpPr>
          <p:spPr>
            <a:xfrm flipV="1">
              <a:off x="2971800" y="27080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Straight Connector 96"/>
            <p:cNvCxnSpPr/>
            <p:nvPr/>
          </p:nvCxnSpPr>
          <p:spPr>
            <a:xfrm flipV="1">
              <a:off x="2971800" y="36986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8" name="Straight Connector 97"/>
            <p:cNvCxnSpPr>
              <a:stCxn id="95" idx="3"/>
            </p:cNvCxnSpPr>
            <p:nvPr/>
          </p:nvCxnSpPr>
          <p:spPr>
            <a:xfrm flipV="1">
              <a:off x="3767440" y="3698617"/>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a:endCxn id="94" idx="1"/>
            </p:cNvCxnSpPr>
            <p:nvPr/>
          </p:nvCxnSpPr>
          <p:spPr>
            <a:xfrm flipV="1">
              <a:off x="3886200" y="28223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a:endCxn id="93" idx="1"/>
            </p:cNvCxnSpPr>
            <p:nvPr/>
          </p:nvCxnSpPr>
          <p:spPr>
            <a:xfrm>
              <a:off x="3886200" y="27080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3200400" y="29366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2</a:t>
              </a:r>
            </a:p>
          </p:txBody>
        </p:sp>
        <p:cxnSp>
          <p:nvCxnSpPr>
            <p:cNvPr id="102" name="Straight Arrow Connector 101"/>
            <p:cNvCxnSpPr/>
            <p:nvPr/>
          </p:nvCxnSpPr>
          <p:spPr>
            <a:xfrm>
              <a:off x="3429000" y="27080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3" name="Straight Arrow Connector 102"/>
            <p:cNvCxnSpPr/>
            <p:nvPr/>
          </p:nvCxnSpPr>
          <p:spPr>
            <a:xfrm>
              <a:off x="3429000" y="33176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5181600" y="2876550"/>
              <a:ext cx="724878" cy="830997"/>
            </a:xfrm>
            <a:prstGeom prst="rect">
              <a:avLst/>
            </a:prstGeom>
            <a:noFill/>
          </p:spPr>
          <p:txBody>
            <a:bodyPr wrap="none" rtlCol="0">
              <a:spAutoFit/>
            </a:bodyPr>
            <a:lstStyle/>
            <a:p>
              <a:pPr eaLnBrk="1" fontAlgn="auto" hangingPunct="1">
                <a:spcBef>
                  <a:spcPts val="0"/>
                </a:spcBef>
                <a:spcAft>
                  <a:spcPts val="0"/>
                </a:spcAft>
              </a:pPr>
              <a:r>
                <a:rPr lang="en-US" sz="4800" b="1" dirty="0">
                  <a:solidFill>
                    <a:prstClr val="black"/>
                  </a:solidFill>
                  <a:latin typeface="Calibri"/>
                  <a:ea typeface="+mn-ea"/>
                </a:rPr>
                <a:t>⋯</a:t>
              </a:r>
            </a:p>
          </p:txBody>
        </p:sp>
        <p:sp>
          <p:nvSpPr>
            <p:cNvPr id="105" name="TextBox 104"/>
            <p:cNvSpPr txBox="1"/>
            <p:nvPr/>
          </p:nvSpPr>
          <p:spPr>
            <a:xfrm flipV="1">
              <a:off x="6781800" y="3546217"/>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106" name="Straight Connector 105"/>
            <p:cNvCxnSpPr/>
            <p:nvPr/>
          </p:nvCxnSpPr>
          <p:spPr>
            <a:xfrm flipV="1">
              <a:off x="6477000" y="2784217"/>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V="1">
              <a:off x="6477000" y="3774817"/>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8" name="Straight Connector 107"/>
            <p:cNvCxnSpPr>
              <a:stCxn id="105" idx="3"/>
            </p:cNvCxnSpPr>
            <p:nvPr/>
          </p:nvCxnSpPr>
          <p:spPr>
            <a:xfrm flipV="1">
              <a:off x="7272640" y="3774817"/>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9" name="Straight Arrow Connector 108"/>
            <p:cNvCxnSpPr/>
            <p:nvPr/>
          </p:nvCxnSpPr>
          <p:spPr>
            <a:xfrm flipV="1">
              <a:off x="7391400" y="2898517"/>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0" name="Straight Arrow Connector 109"/>
            <p:cNvCxnSpPr/>
            <p:nvPr/>
          </p:nvCxnSpPr>
          <p:spPr>
            <a:xfrm>
              <a:off x="7391400" y="2784217"/>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1" name="Oval 110"/>
            <p:cNvSpPr/>
            <p:nvPr/>
          </p:nvSpPr>
          <p:spPr>
            <a:xfrm>
              <a:off x="6705600" y="3012817"/>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f</a:t>
              </a:r>
              <a:r>
                <a:rPr lang="en-US" sz="1800" baseline="-25000" dirty="0" err="1">
                  <a:solidFill>
                    <a:srgbClr val="0000FF"/>
                  </a:solidFill>
                  <a:latin typeface="Calibri"/>
                </a:rPr>
                <a:t>d</a:t>
              </a:r>
              <a:endParaRPr lang="en-US" sz="1800" baseline="-25000" dirty="0">
                <a:solidFill>
                  <a:srgbClr val="0000FF"/>
                </a:solidFill>
                <a:latin typeface="Calibri"/>
              </a:endParaRPr>
            </a:p>
          </p:txBody>
        </p:sp>
        <p:cxnSp>
          <p:nvCxnSpPr>
            <p:cNvPr id="112" name="Straight Arrow Connector 111"/>
            <p:cNvCxnSpPr/>
            <p:nvPr/>
          </p:nvCxnSpPr>
          <p:spPr>
            <a:xfrm>
              <a:off x="6934200" y="27842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3" name="Straight Arrow Connector 112"/>
            <p:cNvCxnSpPr/>
            <p:nvPr/>
          </p:nvCxnSpPr>
          <p:spPr>
            <a:xfrm>
              <a:off x="6934200" y="3393817"/>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
        <p:nvSpPr>
          <p:cNvPr id="77" name="Rectangle 76"/>
          <p:cNvSpPr/>
          <p:nvPr/>
        </p:nvSpPr>
        <p:spPr>
          <a:xfrm>
            <a:off x="5562600" y="44196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R</a:t>
            </a:r>
            <a:r>
              <a:rPr lang="en-US" sz="1800" baseline="-25000" dirty="0" err="1">
                <a:solidFill>
                  <a:srgbClr val="0000FF"/>
                </a:solidFill>
                <a:latin typeface="Calibri"/>
              </a:rPr>
              <a:t>i</a:t>
            </a:r>
            <a:endParaRPr lang="en-US" sz="1800" baseline="-25000" dirty="0">
              <a:solidFill>
                <a:srgbClr val="0000FF"/>
              </a:solidFill>
              <a:latin typeface="Calibri"/>
            </a:endParaRPr>
          </a:p>
        </p:txBody>
      </p:sp>
      <p:sp>
        <p:nvSpPr>
          <p:cNvPr id="114" name="Rectangle 113"/>
          <p:cNvSpPr/>
          <p:nvPr/>
        </p:nvSpPr>
        <p:spPr>
          <a:xfrm>
            <a:off x="5562600" y="51054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i</a:t>
            </a:r>
          </a:p>
        </p:txBody>
      </p:sp>
      <p:sp>
        <p:nvSpPr>
          <p:cNvPr id="115" name="Rectangle 114"/>
          <p:cNvSpPr/>
          <p:nvPr/>
        </p:nvSpPr>
        <p:spPr>
          <a:xfrm>
            <a:off x="7239000" y="44196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i-1</a:t>
            </a:r>
          </a:p>
        </p:txBody>
      </p:sp>
      <p:sp>
        <p:nvSpPr>
          <p:cNvPr id="116" name="Rectangle 115"/>
          <p:cNvSpPr/>
          <p:nvPr/>
        </p:nvSpPr>
        <p:spPr>
          <a:xfrm>
            <a:off x="7239000" y="5105400"/>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i-1</a:t>
            </a:r>
          </a:p>
        </p:txBody>
      </p:sp>
      <p:sp>
        <p:nvSpPr>
          <p:cNvPr id="117" name="TextBox 116"/>
          <p:cNvSpPr txBox="1"/>
          <p:nvPr/>
        </p:nvSpPr>
        <p:spPr>
          <a:xfrm>
            <a:off x="6248400" y="4419601"/>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118" name="Straight Connector 117"/>
          <p:cNvCxnSpPr/>
          <p:nvPr/>
        </p:nvCxnSpPr>
        <p:spPr>
          <a:xfrm>
            <a:off x="5943600" y="5643265"/>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9" name="Straight Connector 118"/>
          <p:cNvCxnSpPr/>
          <p:nvPr/>
        </p:nvCxnSpPr>
        <p:spPr>
          <a:xfrm>
            <a:off x="5943600" y="4652665"/>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0" name="Straight Connector 119"/>
          <p:cNvCxnSpPr>
            <a:stCxn id="117" idx="3"/>
          </p:cNvCxnSpPr>
          <p:nvPr/>
        </p:nvCxnSpPr>
        <p:spPr>
          <a:xfrm>
            <a:off x="6739240" y="4650433"/>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121" name="Straight Arrow Connector 120"/>
          <p:cNvCxnSpPr/>
          <p:nvPr/>
        </p:nvCxnSpPr>
        <p:spPr>
          <a:xfrm>
            <a:off x="6858000" y="4652665"/>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2" name="Straight Arrow Connector 121"/>
          <p:cNvCxnSpPr/>
          <p:nvPr/>
        </p:nvCxnSpPr>
        <p:spPr>
          <a:xfrm flipV="1">
            <a:off x="6858000" y="4843165"/>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3" name="Oval 122"/>
          <p:cNvSpPr/>
          <p:nvPr/>
        </p:nvSpPr>
        <p:spPr>
          <a:xfrm>
            <a:off x="6172200" y="5033665"/>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i</a:t>
            </a:r>
          </a:p>
        </p:txBody>
      </p:sp>
      <p:cxnSp>
        <p:nvCxnSpPr>
          <p:cNvPr id="124" name="Straight Arrow Connector 123"/>
          <p:cNvCxnSpPr/>
          <p:nvPr/>
        </p:nvCxnSpPr>
        <p:spPr>
          <a:xfrm flipV="1">
            <a:off x="6400800" y="541466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5" name="Straight Arrow Connector 124"/>
          <p:cNvCxnSpPr/>
          <p:nvPr/>
        </p:nvCxnSpPr>
        <p:spPr>
          <a:xfrm flipV="1">
            <a:off x="6400800" y="480506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47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Decryption circuit</a:t>
            </a:r>
          </a:p>
        </p:txBody>
      </p:sp>
      <p:sp>
        <p:nvSpPr>
          <p:cNvPr id="3" name="Content Placeholder 2"/>
          <p:cNvSpPr>
            <a:spLocks noGrp="1"/>
          </p:cNvSpPr>
          <p:nvPr>
            <p:ph idx="1"/>
          </p:nvPr>
        </p:nvSpPr>
        <p:spPr>
          <a:xfrm>
            <a:off x="457200" y="3352800"/>
            <a:ext cx="8534400" cy="2647950"/>
          </a:xfrm>
        </p:spPr>
        <p:txBody>
          <a:bodyPr/>
          <a:lstStyle/>
          <a:p>
            <a:r>
              <a:rPr lang="en-US" dirty="0"/>
              <a:t>Inversion is basically the same circuit, </a:t>
            </a:r>
            <a:br>
              <a:rPr lang="en-US" dirty="0"/>
            </a:br>
            <a:r>
              <a:rPr lang="en-US" dirty="0"/>
              <a:t>	with  f</a:t>
            </a:r>
            <a:r>
              <a:rPr lang="en-US" baseline="-25000" dirty="0"/>
              <a:t>1</a:t>
            </a:r>
            <a:r>
              <a:rPr lang="en-US" dirty="0"/>
              <a:t>, …, </a:t>
            </a:r>
            <a:r>
              <a:rPr lang="en-US" dirty="0" err="1"/>
              <a:t>f</a:t>
            </a:r>
            <a:r>
              <a:rPr lang="en-US" baseline="-25000" dirty="0" err="1"/>
              <a:t>d</a:t>
            </a:r>
            <a:r>
              <a:rPr lang="en-US" dirty="0"/>
              <a:t>  applied in reverse order</a:t>
            </a:r>
          </a:p>
          <a:p>
            <a:pPr>
              <a:spcBef>
                <a:spcPts val="2376"/>
              </a:spcBef>
            </a:pPr>
            <a:r>
              <a:rPr lang="en-US" dirty="0"/>
              <a:t>General method for building invertible functions (block ciphers) from arbitrary functions.      </a:t>
            </a:r>
          </a:p>
          <a:p>
            <a:pPr>
              <a:spcBef>
                <a:spcPts val="2376"/>
              </a:spcBef>
            </a:pPr>
            <a:r>
              <a:rPr lang="en-US" dirty="0"/>
              <a:t>Used in many block ciphers … but not AES</a:t>
            </a:r>
          </a:p>
        </p:txBody>
      </p:sp>
      <p:grpSp>
        <p:nvGrpSpPr>
          <p:cNvPr id="47" name="Group 46"/>
          <p:cNvGrpSpPr/>
          <p:nvPr/>
        </p:nvGrpSpPr>
        <p:grpSpPr>
          <a:xfrm>
            <a:off x="609602" y="1600200"/>
            <a:ext cx="7543799" cy="1535668"/>
            <a:chOff x="609601" y="742950"/>
            <a:chExt cx="7543799" cy="1535668"/>
          </a:xfrm>
        </p:grpSpPr>
        <p:sp>
          <p:nvSpPr>
            <p:cNvPr id="4" name="Rectangle 3"/>
            <p:cNvSpPr/>
            <p:nvPr/>
          </p:nvSpPr>
          <p:spPr>
            <a:xfrm>
              <a:off x="6096000" y="9070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1</a:t>
              </a:r>
            </a:p>
          </p:txBody>
        </p:sp>
        <p:sp>
          <p:nvSpPr>
            <p:cNvPr id="5" name="Rectangle 4"/>
            <p:cNvSpPr/>
            <p:nvPr/>
          </p:nvSpPr>
          <p:spPr>
            <a:xfrm>
              <a:off x="6096000" y="15928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1</a:t>
              </a:r>
            </a:p>
          </p:txBody>
        </p:sp>
        <p:sp>
          <p:nvSpPr>
            <p:cNvPr id="6" name="Rectangle 5"/>
            <p:cNvSpPr/>
            <p:nvPr/>
          </p:nvSpPr>
          <p:spPr>
            <a:xfrm>
              <a:off x="7772400" y="9070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0</a:t>
              </a:r>
            </a:p>
          </p:txBody>
        </p:sp>
        <p:sp>
          <p:nvSpPr>
            <p:cNvPr id="7" name="Rectangle 6"/>
            <p:cNvSpPr/>
            <p:nvPr/>
          </p:nvSpPr>
          <p:spPr>
            <a:xfrm>
              <a:off x="7772400" y="15928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0</a:t>
              </a:r>
            </a:p>
          </p:txBody>
        </p:sp>
        <p:sp>
          <p:nvSpPr>
            <p:cNvPr id="8" name="Rectangle 7"/>
            <p:cNvSpPr/>
            <p:nvPr/>
          </p:nvSpPr>
          <p:spPr>
            <a:xfrm>
              <a:off x="914400" y="8308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d</a:t>
              </a:r>
            </a:p>
          </p:txBody>
        </p:sp>
        <p:sp>
          <p:nvSpPr>
            <p:cNvPr id="9" name="Rectangle 8"/>
            <p:cNvSpPr/>
            <p:nvPr/>
          </p:nvSpPr>
          <p:spPr>
            <a:xfrm>
              <a:off x="914400" y="15166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L</a:t>
              </a:r>
              <a:r>
                <a:rPr lang="en-US" sz="1800" baseline="-25000" dirty="0" err="1">
                  <a:solidFill>
                    <a:srgbClr val="0000FF"/>
                  </a:solidFill>
                  <a:latin typeface="Calibri"/>
                </a:rPr>
                <a:t>d</a:t>
              </a:r>
              <a:endParaRPr lang="en-US" sz="1800" baseline="-25000" dirty="0">
                <a:solidFill>
                  <a:srgbClr val="0000FF"/>
                </a:solidFill>
                <a:latin typeface="Calibri"/>
              </a:endParaRPr>
            </a:p>
          </p:txBody>
        </p:sp>
        <p:sp>
          <p:nvSpPr>
            <p:cNvPr id="11" name="TextBox 10"/>
            <p:cNvSpPr txBox="1"/>
            <p:nvPr/>
          </p:nvSpPr>
          <p:spPr>
            <a:xfrm rot="5400000">
              <a:off x="444296" y="931590"/>
              <a:ext cx="723275"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n-bits</a:t>
              </a:r>
            </a:p>
          </p:txBody>
        </p:sp>
        <p:sp>
          <p:nvSpPr>
            <p:cNvPr id="12" name="TextBox 11"/>
            <p:cNvSpPr txBox="1"/>
            <p:nvPr/>
          </p:nvSpPr>
          <p:spPr>
            <a:xfrm rot="5400000">
              <a:off x="432629" y="1732314"/>
              <a:ext cx="723275" cy="369332"/>
            </a:xfrm>
            <a:prstGeom prst="rect">
              <a:avLst/>
            </a:prstGeom>
            <a:noFill/>
          </p:spPr>
          <p:txBody>
            <a:bodyPr wrap="none" rtlCol="0">
              <a:spAutoFit/>
            </a:bodyPr>
            <a:lstStyle/>
            <a:p>
              <a:pPr eaLnBrk="1" fontAlgn="auto" hangingPunct="1">
                <a:spcBef>
                  <a:spcPts val="0"/>
                </a:spcBef>
                <a:spcAft>
                  <a:spcPts val="0"/>
                </a:spcAft>
              </a:pPr>
              <a:r>
                <a:rPr lang="en-US" sz="1800" dirty="0">
                  <a:solidFill>
                    <a:prstClr val="black"/>
                  </a:solidFill>
                  <a:latin typeface="Calibri"/>
                  <a:ea typeface="+mn-ea"/>
                </a:rPr>
                <a:t>n-bits</a:t>
              </a:r>
            </a:p>
          </p:txBody>
        </p:sp>
        <p:sp>
          <p:nvSpPr>
            <p:cNvPr id="13" name="Rectangle 12"/>
            <p:cNvSpPr/>
            <p:nvPr/>
          </p:nvSpPr>
          <p:spPr>
            <a:xfrm>
              <a:off x="2590800" y="9070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d-1</a:t>
              </a:r>
            </a:p>
          </p:txBody>
        </p:sp>
        <p:sp>
          <p:nvSpPr>
            <p:cNvPr id="14" name="Rectangle 13"/>
            <p:cNvSpPr/>
            <p:nvPr/>
          </p:nvSpPr>
          <p:spPr>
            <a:xfrm>
              <a:off x="2590800" y="15928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d-1</a:t>
              </a:r>
            </a:p>
          </p:txBody>
        </p:sp>
        <p:sp>
          <p:nvSpPr>
            <p:cNvPr id="15" name="TextBox 14"/>
            <p:cNvSpPr txBox="1"/>
            <p:nvPr/>
          </p:nvSpPr>
          <p:spPr>
            <a:xfrm>
              <a:off x="1600200" y="742950"/>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16" name="Straight Connector 15"/>
            <p:cNvCxnSpPr/>
            <p:nvPr/>
          </p:nvCxnSpPr>
          <p:spPr>
            <a:xfrm>
              <a:off x="1295400" y="1966615"/>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1295400" y="976015"/>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a:stCxn id="15" idx="3"/>
            </p:cNvCxnSpPr>
            <p:nvPr/>
          </p:nvCxnSpPr>
          <p:spPr>
            <a:xfrm>
              <a:off x="2091040" y="973783"/>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endCxn id="14" idx="1"/>
            </p:cNvCxnSpPr>
            <p:nvPr/>
          </p:nvCxnSpPr>
          <p:spPr>
            <a:xfrm>
              <a:off x="2209800" y="976015"/>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endCxn id="13" idx="1"/>
            </p:cNvCxnSpPr>
            <p:nvPr/>
          </p:nvCxnSpPr>
          <p:spPr>
            <a:xfrm flipV="1">
              <a:off x="2209800" y="1166515"/>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524000" y="1357015"/>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err="1">
                  <a:solidFill>
                    <a:srgbClr val="0000FF"/>
                  </a:solidFill>
                  <a:latin typeface="Calibri"/>
                </a:rPr>
                <a:t>f</a:t>
              </a:r>
              <a:r>
                <a:rPr lang="en-US" sz="1800" baseline="-25000" dirty="0" err="1">
                  <a:solidFill>
                    <a:srgbClr val="0000FF"/>
                  </a:solidFill>
                  <a:latin typeface="Calibri"/>
                </a:rPr>
                <a:t>d</a:t>
              </a:r>
              <a:endParaRPr lang="en-US" sz="1800" baseline="-25000" dirty="0">
                <a:solidFill>
                  <a:srgbClr val="0000FF"/>
                </a:solidFill>
                <a:latin typeface="Calibri"/>
              </a:endParaRPr>
            </a:p>
          </p:txBody>
        </p:sp>
        <p:cxnSp>
          <p:nvCxnSpPr>
            <p:cNvPr id="22" name="Straight Arrow Connector 21"/>
            <p:cNvCxnSpPr/>
            <p:nvPr/>
          </p:nvCxnSpPr>
          <p:spPr>
            <a:xfrm flipV="1">
              <a:off x="1752600" y="17380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V="1">
              <a:off x="1752600" y="11284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267200" y="9070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R</a:t>
              </a:r>
              <a:r>
                <a:rPr lang="en-US" sz="1800" baseline="-25000" dirty="0">
                  <a:solidFill>
                    <a:srgbClr val="0000FF"/>
                  </a:solidFill>
                  <a:latin typeface="Calibri"/>
                </a:rPr>
                <a:t>d-2</a:t>
              </a:r>
            </a:p>
          </p:txBody>
        </p:sp>
        <p:sp>
          <p:nvSpPr>
            <p:cNvPr id="25" name="Rectangle 24"/>
            <p:cNvSpPr/>
            <p:nvPr/>
          </p:nvSpPr>
          <p:spPr>
            <a:xfrm>
              <a:off x="4267200" y="1592818"/>
              <a:ext cx="381000" cy="685800"/>
            </a:xfrm>
            <a:prstGeom prst="rect">
              <a:avLst/>
            </a:prstGeom>
            <a:solidFill>
              <a:srgbClr val="D9D9D9"/>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L</a:t>
              </a:r>
              <a:r>
                <a:rPr lang="en-US" sz="1800" baseline="-25000" dirty="0">
                  <a:solidFill>
                    <a:srgbClr val="0000FF"/>
                  </a:solidFill>
                  <a:latin typeface="Calibri"/>
                </a:rPr>
                <a:t>d-2</a:t>
              </a:r>
            </a:p>
          </p:txBody>
        </p:sp>
        <p:sp>
          <p:nvSpPr>
            <p:cNvPr id="26" name="TextBox 25"/>
            <p:cNvSpPr txBox="1"/>
            <p:nvPr/>
          </p:nvSpPr>
          <p:spPr>
            <a:xfrm>
              <a:off x="3276600" y="742950"/>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27" name="Straight Connector 26"/>
            <p:cNvCxnSpPr/>
            <p:nvPr/>
          </p:nvCxnSpPr>
          <p:spPr>
            <a:xfrm>
              <a:off x="2971800" y="1966615"/>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2971800" y="976015"/>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26" idx="3"/>
            </p:cNvCxnSpPr>
            <p:nvPr/>
          </p:nvCxnSpPr>
          <p:spPr>
            <a:xfrm>
              <a:off x="3767440" y="973783"/>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endCxn id="25" idx="1"/>
            </p:cNvCxnSpPr>
            <p:nvPr/>
          </p:nvCxnSpPr>
          <p:spPr>
            <a:xfrm>
              <a:off x="3886200" y="976015"/>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endCxn id="24" idx="1"/>
            </p:cNvCxnSpPr>
            <p:nvPr/>
          </p:nvCxnSpPr>
          <p:spPr>
            <a:xfrm flipV="1">
              <a:off x="3886200" y="1166515"/>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3200400" y="1357015"/>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d-1</a:t>
              </a:r>
            </a:p>
          </p:txBody>
        </p:sp>
        <p:cxnSp>
          <p:nvCxnSpPr>
            <p:cNvPr id="33" name="Straight Arrow Connector 32"/>
            <p:cNvCxnSpPr/>
            <p:nvPr/>
          </p:nvCxnSpPr>
          <p:spPr>
            <a:xfrm flipV="1">
              <a:off x="3429000" y="17380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flipV="1">
              <a:off x="3429000" y="11284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181600" y="1211818"/>
              <a:ext cx="724878" cy="830997"/>
            </a:xfrm>
            <a:prstGeom prst="rect">
              <a:avLst/>
            </a:prstGeom>
            <a:noFill/>
          </p:spPr>
          <p:txBody>
            <a:bodyPr wrap="none" rtlCol="0">
              <a:spAutoFit/>
            </a:bodyPr>
            <a:lstStyle/>
            <a:p>
              <a:pPr eaLnBrk="1" fontAlgn="auto" hangingPunct="1">
                <a:spcBef>
                  <a:spcPts val="0"/>
                </a:spcBef>
                <a:spcAft>
                  <a:spcPts val="0"/>
                </a:spcAft>
              </a:pPr>
              <a:r>
                <a:rPr lang="en-US" sz="4800" b="1" dirty="0">
                  <a:solidFill>
                    <a:prstClr val="black"/>
                  </a:solidFill>
                  <a:latin typeface="Calibri"/>
                  <a:ea typeface="+mn-ea"/>
                </a:rPr>
                <a:t>⋯</a:t>
              </a:r>
            </a:p>
          </p:txBody>
        </p:sp>
        <p:sp>
          <p:nvSpPr>
            <p:cNvPr id="36" name="TextBox 35"/>
            <p:cNvSpPr txBox="1"/>
            <p:nvPr/>
          </p:nvSpPr>
          <p:spPr>
            <a:xfrm>
              <a:off x="6781800" y="819150"/>
              <a:ext cx="490840" cy="461665"/>
            </a:xfrm>
            <a:prstGeom prst="rect">
              <a:avLst/>
            </a:prstGeom>
            <a:noFill/>
          </p:spPr>
          <p:txBody>
            <a:bodyPr wrap="none" rtlCol="0">
              <a:spAutoFit/>
            </a:bodyPr>
            <a:lstStyle/>
            <a:p>
              <a:pPr eaLnBrk="1" fontAlgn="auto" hangingPunct="1">
                <a:spcBef>
                  <a:spcPts val="0"/>
                </a:spcBef>
                <a:spcAft>
                  <a:spcPts val="0"/>
                </a:spcAft>
              </a:pPr>
              <a:r>
                <a:rPr lang="en-US" sz="2400" dirty="0">
                  <a:solidFill>
                    <a:prstClr val="black"/>
                  </a:solidFill>
                  <a:latin typeface="Calibri"/>
                  <a:ea typeface="+mn-ea"/>
                </a:rPr>
                <a:t>⊕</a:t>
              </a:r>
            </a:p>
          </p:txBody>
        </p:sp>
        <p:cxnSp>
          <p:nvCxnSpPr>
            <p:cNvPr id="37" name="Straight Connector 36"/>
            <p:cNvCxnSpPr/>
            <p:nvPr/>
          </p:nvCxnSpPr>
          <p:spPr>
            <a:xfrm>
              <a:off x="6477000" y="2042815"/>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6477000" y="1052215"/>
              <a:ext cx="304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p:cNvCxnSpPr>
              <a:stCxn id="36" idx="3"/>
            </p:cNvCxnSpPr>
            <p:nvPr/>
          </p:nvCxnSpPr>
          <p:spPr>
            <a:xfrm>
              <a:off x="7272640" y="1049983"/>
              <a:ext cx="118760" cy="223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7391400" y="1052215"/>
              <a:ext cx="381000" cy="876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V="1">
              <a:off x="7391400" y="1242715"/>
              <a:ext cx="381000" cy="8001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6705600" y="1433215"/>
              <a:ext cx="457200" cy="38100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lIns="0" rIns="0" rtlCol="0" anchor="ctr"/>
            <a:lstStyle/>
            <a:p>
              <a:pPr algn="ctr" eaLnBrk="1" fontAlgn="auto" hangingPunct="1">
                <a:spcBef>
                  <a:spcPts val="0"/>
                </a:spcBef>
                <a:spcAft>
                  <a:spcPts val="0"/>
                </a:spcAft>
              </a:pPr>
              <a:r>
                <a:rPr lang="en-US" sz="1800" dirty="0">
                  <a:solidFill>
                    <a:srgbClr val="0000FF"/>
                  </a:solidFill>
                  <a:latin typeface="Calibri"/>
                </a:rPr>
                <a:t>f</a:t>
              </a:r>
              <a:r>
                <a:rPr lang="en-US" sz="1800" baseline="-25000" dirty="0">
                  <a:solidFill>
                    <a:srgbClr val="0000FF"/>
                  </a:solidFill>
                  <a:latin typeface="Calibri"/>
                </a:rPr>
                <a:t>1</a:t>
              </a:r>
            </a:p>
          </p:txBody>
        </p:sp>
        <p:cxnSp>
          <p:nvCxnSpPr>
            <p:cNvPr id="43" name="Straight Arrow Connector 42"/>
            <p:cNvCxnSpPr/>
            <p:nvPr/>
          </p:nvCxnSpPr>
          <p:spPr>
            <a:xfrm flipV="1">
              <a:off x="6934200" y="18142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V="1">
              <a:off x="6934200" y="1204615"/>
              <a:ext cx="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1606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Foliennummernplatzhalter 3">
            <a:extLst>
              <a:ext uri="{FF2B5EF4-FFF2-40B4-BE49-F238E27FC236}">
                <a16:creationId xmlns:a16="http://schemas.microsoft.com/office/drawing/2014/main" id="{0443752C-AED5-252F-7A0E-A15B3D080D6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98D78CA5-4AAA-E544-A34B-66C495472F0B}" type="slidenum">
              <a:rPr lang="de-DE" altLang="zh-CN" sz="900">
                <a:solidFill>
                  <a:srgbClr val="394073"/>
                </a:solidFill>
              </a:rPr>
              <a:pPr/>
              <a:t>32</a:t>
            </a:fld>
            <a:r>
              <a:rPr lang="de-DE" altLang="zh-CN" sz="900">
                <a:solidFill>
                  <a:srgbClr val="394073"/>
                </a:solidFill>
              </a:rPr>
              <a:t>/29</a:t>
            </a:r>
          </a:p>
        </p:txBody>
      </p:sp>
      <p:sp>
        <p:nvSpPr>
          <p:cNvPr id="66563" name="Rectangle 2">
            <a:extLst>
              <a:ext uri="{FF2B5EF4-FFF2-40B4-BE49-F238E27FC236}">
                <a16:creationId xmlns:a16="http://schemas.microsoft.com/office/drawing/2014/main" id="{30B24EA2-0C65-139D-4778-7CC5AA29DEA7}"/>
              </a:ext>
            </a:extLst>
          </p:cNvPr>
          <p:cNvSpPr>
            <a:spLocks noGrp="1" noChangeArrowheads="1"/>
          </p:cNvSpPr>
          <p:nvPr>
            <p:ph type="title"/>
          </p:nvPr>
        </p:nvSpPr>
        <p:spPr>
          <a:xfrm>
            <a:off x="471488" y="322263"/>
            <a:ext cx="8204200" cy="515937"/>
          </a:xfrm>
        </p:spPr>
        <p:txBody>
          <a:bodyPr/>
          <a:lstStyle/>
          <a:p>
            <a:pPr>
              <a:buFont typeface="Webdings" pitchFamily="2" charset="2"/>
              <a:buNone/>
            </a:pPr>
            <a:r>
              <a:rPr lang="de-DE" altLang="zh-CN" sz="2800">
                <a:ea typeface="ＭＳ Ｐゴシック" panose="020B0600070205080204" pitchFamily="34" charset="-128"/>
              </a:rPr>
              <a:t>Content of this Chapter</a:t>
            </a:r>
          </a:p>
        </p:txBody>
      </p:sp>
      <p:sp>
        <p:nvSpPr>
          <p:cNvPr id="66564" name="Rectangle 3">
            <a:extLst>
              <a:ext uri="{FF2B5EF4-FFF2-40B4-BE49-F238E27FC236}">
                <a16:creationId xmlns:a16="http://schemas.microsoft.com/office/drawing/2014/main" id="{E2C7082F-5121-FAEB-C2F0-3785C34526E4}"/>
              </a:ext>
            </a:extLst>
          </p:cNvPr>
          <p:cNvSpPr>
            <a:spLocks noGrp="1" noChangeArrowheads="1"/>
          </p:cNvSpPr>
          <p:nvPr>
            <p:ph type="body" idx="1"/>
          </p:nvPr>
        </p:nvSpPr>
        <p:spPr>
          <a:xfrm>
            <a:off x="539750" y="1844675"/>
            <a:ext cx="7394575" cy="2667000"/>
          </a:xfrm>
          <a:noFill/>
        </p:spPr>
        <p:txBody>
          <a:bodyPr/>
          <a:lstStyle/>
          <a:p>
            <a:pPr marL="342900" indent="-342900"/>
            <a:r>
              <a:rPr lang="de-DE" altLang="zh-CN" sz="2000">
                <a:ea typeface="ＭＳ Ｐゴシック" panose="020B0600070205080204" pitchFamily="34" charset="-128"/>
              </a:rPr>
              <a:t>Introduction to DES</a:t>
            </a:r>
          </a:p>
          <a:p>
            <a:pPr marL="342900" indent="-342900"/>
            <a:r>
              <a:rPr lang="de-DE" altLang="zh-CN" sz="2000">
                <a:ea typeface="ＭＳ Ｐゴシック" panose="020B0600070205080204" pitchFamily="34" charset="-128"/>
              </a:rPr>
              <a:t>Overview of the DES Algorithm</a:t>
            </a:r>
          </a:p>
          <a:p>
            <a:pPr marL="342900" indent="-342900"/>
            <a:r>
              <a:rPr lang="de-DE" altLang="zh-CN" sz="2000">
                <a:ea typeface="ＭＳ Ｐゴシック" panose="020B0600070205080204" pitchFamily="34" charset="-128"/>
              </a:rPr>
              <a:t>Internal Structure of DES</a:t>
            </a:r>
          </a:p>
          <a:p>
            <a:pPr marL="342900" indent="-342900"/>
            <a:r>
              <a:rPr lang="de-DE" altLang="zh-CN" sz="2000">
                <a:ea typeface="ＭＳ Ｐゴシック" panose="020B0600070205080204" pitchFamily="34" charset="-128"/>
              </a:rPr>
              <a:t>Decryption</a:t>
            </a:r>
          </a:p>
          <a:p>
            <a:pPr marL="342900" indent="-342900"/>
            <a:r>
              <a:rPr lang="de-DE" altLang="zh-CN" sz="2000" b="1">
                <a:ea typeface="ＭＳ Ｐゴシック" panose="020B0600070205080204" pitchFamily="34" charset="-128"/>
              </a:rPr>
              <a:t>Security of DES</a:t>
            </a:r>
          </a:p>
          <a:p>
            <a:pPr marL="342900" indent="-342900">
              <a:buFontTx/>
              <a:buNone/>
            </a:pPr>
            <a:endParaRPr lang="de-DE" altLang="zh-CN" sz="2000">
              <a:ea typeface="ＭＳ Ｐゴシック" panose="020B0600070205080204" pitchFamily="34" charset="-128"/>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Foliennummernplatzhalter 3">
            <a:extLst>
              <a:ext uri="{FF2B5EF4-FFF2-40B4-BE49-F238E27FC236}">
                <a16:creationId xmlns:a16="http://schemas.microsoft.com/office/drawing/2014/main" id="{8C3C339A-40C8-E4D6-A119-17048164A79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1F0A85C9-F4AD-244F-AC0F-7E07EAC2FDF3}" type="slidenum">
              <a:rPr lang="de-DE" altLang="zh-CN" sz="900">
                <a:solidFill>
                  <a:srgbClr val="394073"/>
                </a:solidFill>
              </a:rPr>
              <a:pPr/>
              <a:t>33</a:t>
            </a:fld>
            <a:r>
              <a:rPr lang="de-DE" altLang="zh-CN" sz="900">
                <a:solidFill>
                  <a:srgbClr val="394073"/>
                </a:solidFill>
              </a:rPr>
              <a:t>/29</a:t>
            </a:r>
          </a:p>
        </p:txBody>
      </p:sp>
      <p:sp>
        <p:nvSpPr>
          <p:cNvPr id="68611" name="Rectangle 6">
            <a:extLst>
              <a:ext uri="{FF2B5EF4-FFF2-40B4-BE49-F238E27FC236}">
                <a16:creationId xmlns:a16="http://schemas.microsoft.com/office/drawing/2014/main" id="{EE3D64DD-9699-1EF5-8AD1-13AE7A875998}"/>
              </a:ext>
            </a:extLst>
          </p:cNvPr>
          <p:cNvSpPr>
            <a:spLocks noGrp="1" noChangeArrowheads="1"/>
          </p:cNvSpPr>
          <p:nvPr>
            <p:ph type="title"/>
          </p:nvPr>
        </p:nvSpPr>
        <p:spPr/>
        <p:txBody>
          <a:bodyPr/>
          <a:lstStyle/>
          <a:p>
            <a:r>
              <a:rPr lang="de-DE" altLang="zh-CN">
                <a:ea typeface="ＭＳ Ｐゴシック" panose="020B0600070205080204" pitchFamily="34" charset="-128"/>
              </a:rPr>
              <a:t>Security of DES</a:t>
            </a:r>
          </a:p>
        </p:txBody>
      </p:sp>
      <p:sp>
        <p:nvSpPr>
          <p:cNvPr id="68612" name="Rectangle 7">
            <a:extLst>
              <a:ext uri="{FF2B5EF4-FFF2-40B4-BE49-F238E27FC236}">
                <a16:creationId xmlns:a16="http://schemas.microsoft.com/office/drawing/2014/main" id="{23A4B13A-221D-5282-E33E-1E2D051D5BB6}"/>
              </a:ext>
            </a:extLst>
          </p:cNvPr>
          <p:cNvSpPr>
            <a:spLocks noGrp="1" noChangeArrowheads="1"/>
          </p:cNvSpPr>
          <p:nvPr>
            <p:ph type="body" idx="1"/>
          </p:nvPr>
        </p:nvSpPr>
        <p:spPr>
          <a:xfrm>
            <a:off x="395288" y="1196975"/>
            <a:ext cx="7467600" cy="4660900"/>
          </a:xfrm>
        </p:spPr>
        <p:txBody>
          <a:bodyPr/>
          <a:lstStyle/>
          <a:p>
            <a:pPr marL="304800" indent="-304800"/>
            <a:r>
              <a:rPr lang="de-DE" altLang="zh-CN" b="1" dirty="0">
                <a:ea typeface="ＭＳ Ｐゴシック" panose="020B0600070205080204" pitchFamily="34" charset="-128"/>
              </a:rPr>
              <a:t>After </a:t>
            </a:r>
            <a:r>
              <a:rPr lang="de-DE" altLang="zh-CN" b="1" dirty="0" err="1">
                <a:ea typeface="ＭＳ Ｐゴシック" panose="020B0600070205080204" pitchFamily="34" charset="-128"/>
              </a:rPr>
              <a:t>proposal</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of</a:t>
            </a:r>
            <a:r>
              <a:rPr lang="de-DE" altLang="zh-CN" b="1" dirty="0">
                <a:ea typeface="ＭＳ Ｐゴシック" panose="020B0600070205080204" pitchFamily="34" charset="-128"/>
              </a:rPr>
              <a:t> DES </a:t>
            </a:r>
            <a:r>
              <a:rPr lang="de-DE" altLang="zh-CN" b="1" dirty="0" err="1">
                <a:ea typeface="ＭＳ Ｐゴシック" panose="020B0600070205080204" pitchFamily="34" charset="-128"/>
              </a:rPr>
              <a:t>two</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major</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criticisms</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arose</a:t>
            </a:r>
            <a:r>
              <a:rPr lang="de-DE" altLang="zh-CN" b="1" dirty="0">
                <a:ea typeface="ＭＳ Ｐゴシック" panose="020B0600070205080204" pitchFamily="34" charset="-128"/>
              </a:rPr>
              <a:t>:</a:t>
            </a:r>
          </a:p>
          <a:p>
            <a:pPr marL="690563" lvl="1" indent="-304800">
              <a:buFontTx/>
              <a:buAutoNum type="arabicPeriod"/>
            </a:pPr>
            <a:r>
              <a:rPr lang="de-DE" altLang="zh-CN" dirty="0">
                <a:ea typeface="ＭＳ Ｐゴシック" panose="020B0600070205080204" pitchFamily="34" charset="-128"/>
              </a:rPr>
              <a:t>Key </a:t>
            </a:r>
            <a:r>
              <a:rPr lang="de-DE" altLang="zh-CN" dirty="0" err="1">
                <a:ea typeface="ＭＳ Ｐゴシック" panose="020B0600070205080204" pitchFamily="34" charset="-128"/>
              </a:rPr>
              <a:t>space</a:t>
            </a:r>
            <a:r>
              <a:rPr lang="de-DE" altLang="zh-CN" dirty="0">
                <a:ea typeface="ＭＳ Ｐゴシック" panose="020B0600070205080204" pitchFamily="34" charset="-128"/>
              </a:rPr>
              <a:t>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a:t>
            </a:r>
            <a:r>
              <a:rPr lang="de-DE" altLang="zh-CN" dirty="0" err="1">
                <a:ea typeface="ＭＳ Ｐゴシック" panose="020B0600070205080204" pitchFamily="34" charset="-128"/>
              </a:rPr>
              <a:t>too</a:t>
            </a:r>
            <a:r>
              <a:rPr lang="de-DE" altLang="zh-CN" dirty="0">
                <a:ea typeface="ＭＳ Ｐゴシック" panose="020B0600070205080204" pitchFamily="34" charset="-128"/>
              </a:rPr>
              <a:t> </a:t>
            </a:r>
            <a:r>
              <a:rPr lang="de-DE" altLang="zh-CN" dirty="0" err="1">
                <a:ea typeface="ＭＳ Ｐゴシック" panose="020B0600070205080204" pitchFamily="34" charset="-128"/>
              </a:rPr>
              <a:t>small</a:t>
            </a:r>
            <a:r>
              <a:rPr lang="de-DE" altLang="zh-CN" dirty="0">
                <a:ea typeface="ＭＳ Ｐゴシック" panose="020B0600070205080204" pitchFamily="34" charset="-128"/>
              </a:rPr>
              <a:t> (2</a:t>
            </a:r>
            <a:r>
              <a:rPr lang="de-DE" altLang="zh-CN" baseline="30000" dirty="0">
                <a:ea typeface="ＭＳ Ｐゴシック" panose="020B0600070205080204" pitchFamily="34" charset="-128"/>
              </a:rPr>
              <a:t>56</a:t>
            </a:r>
            <a:r>
              <a:rPr lang="de-DE" altLang="zh-CN" dirty="0">
                <a:ea typeface="ＭＳ Ｐゴシック" panose="020B0600070205080204" pitchFamily="34" charset="-128"/>
              </a:rPr>
              <a:t> </a:t>
            </a:r>
            <a:r>
              <a:rPr lang="de-DE" altLang="zh-CN" dirty="0" err="1">
                <a:ea typeface="ＭＳ Ｐゴシック" panose="020B0600070205080204" pitchFamily="34" charset="-128"/>
              </a:rPr>
              <a:t>keys</a:t>
            </a:r>
            <a:r>
              <a:rPr lang="de-DE" altLang="zh-CN" dirty="0">
                <a:ea typeface="ＭＳ Ｐゴシック" panose="020B0600070205080204" pitchFamily="34" charset="-128"/>
              </a:rPr>
              <a:t>)</a:t>
            </a:r>
          </a:p>
          <a:p>
            <a:pPr marL="690563" lvl="1" indent="-304800">
              <a:buFontTx/>
              <a:buAutoNum type="arabicPeriod"/>
            </a:pPr>
            <a:r>
              <a:rPr lang="de-DE" altLang="zh-CN" dirty="0">
                <a:ea typeface="ＭＳ Ｐゴシック" panose="020B0600070205080204" pitchFamily="34" charset="-128"/>
              </a:rPr>
              <a:t>S-box design </a:t>
            </a:r>
            <a:r>
              <a:rPr lang="de-DE" altLang="zh-CN" dirty="0" err="1">
                <a:ea typeface="ＭＳ Ｐゴシック" panose="020B0600070205080204" pitchFamily="34" charset="-128"/>
              </a:rPr>
              <a:t>criteria</a:t>
            </a:r>
            <a:r>
              <a:rPr lang="de-DE" altLang="zh-CN" dirty="0">
                <a:ea typeface="ＭＳ Ｐゴシック" panose="020B0600070205080204" pitchFamily="34" charset="-128"/>
              </a:rPr>
              <a:t> </a:t>
            </a:r>
            <a:r>
              <a:rPr lang="de-DE" altLang="zh-CN" dirty="0" err="1">
                <a:ea typeface="ＭＳ Ｐゴシック" panose="020B0600070205080204" pitchFamily="34" charset="-128"/>
              </a:rPr>
              <a:t>have</a:t>
            </a:r>
            <a:r>
              <a:rPr lang="de-DE" altLang="zh-CN" dirty="0">
                <a:ea typeface="ＭＳ Ｐゴシック" panose="020B0600070205080204" pitchFamily="34" charset="-128"/>
              </a:rPr>
              <a:t> </a:t>
            </a:r>
            <a:r>
              <a:rPr lang="de-DE" altLang="zh-CN" dirty="0" err="1">
                <a:ea typeface="ＭＳ Ｐゴシック" panose="020B0600070205080204" pitchFamily="34" charset="-128"/>
              </a:rPr>
              <a:t>been</a:t>
            </a:r>
            <a:r>
              <a:rPr lang="de-DE" altLang="zh-CN" dirty="0">
                <a:ea typeface="ＭＳ Ｐゴシック" panose="020B0600070205080204" pitchFamily="34" charset="-128"/>
              </a:rPr>
              <a:t> </a:t>
            </a:r>
            <a:r>
              <a:rPr lang="de-DE" altLang="zh-CN" dirty="0" err="1">
                <a:ea typeface="ＭＳ Ｐゴシック" panose="020B0600070205080204" pitchFamily="34" charset="-128"/>
              </a:rPr>
              <a:t>kept</a:t>
            </a:r>
            <a:r>
              <a:rPr lang="de-DE" altLang="zh-CN" dirty="0">
                <a:ea typeface="ＭＳ Ｐゴシック" panose="020B0600070205080204" pitchFamily="34" charset="-128"/>
              </a:rPr>
              <a:t> </a:t>
            </a:r>
            <a:r>
              <a:rPr lang="de-DE" altLang="zh-CN" dirty="0" err="1">
                <a:ea typeface="ＭＳ Ｐゴシック" panose="020B0600070205080204" pitchFamily="34" charset="-128"/>
              </a:rPr>
              <a:t>secret</a:t>
            </a:r>
            <a:r>
              <a:rPr lang="de-DE" altLang="zh-CN" dirty="0">
                <a:ea typeface="ＭＳ Ｐゴシック" panose="020B0600070205080204" pitchFamily="34" charset="-128"/>
              </a:rPr>
              <a:t>: Are </a:t>
            </a:r>
            <a:r>
              <a:rPr lang="de-DE" altLang="zh-CN" dirty="0" err="1">
                <a:ea typeface="ＭＳ Ｐゴシック" panose="020B0600070205080204" pitchFamily="34" charset="-128"/>
              </a:rPr>
              <a:t>there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any</a:t>
            </a:r>
            <a:r>
              <a:rPr lang="de-DE" altLang="zh-CN" dirty="0">
                <a:ea typeface="ＭＳ Ｐゴシック" panose="020B0600070205080204" pitchFamily="34" charset="-128"/>
              </a:rPr>
              <a:t> </a:t>
            </a:r>
            <a:r>
              <a:rPr lang="de-DE" altLang="zh-CN" dirty="0" err="1">
                <a:ea typeface="ＭＳ Ｐゴシック" panose="020B0600070205080204" pitchFamily="34" charset="-128"/>
              </a:rPr>
              <a:t>hidden</a:t>
            </a:r>
            <a:r>
              <a:rPr lang="de-DE" altLang="zh-CN" dirty="0">
                <a:ea typeface="ＭＳ Ｐゴシック" panose="020B0600070205080204" pitchFamily="34" charset="-128"/>
              </a:rPr>
              <a:t> </a:t>
            </a:r>
            <a:r>
              <a:rPr lang="de-DE" altLang="zh-CN" dirty="0" err="1">
                <a:ea typeface="ＭＳ Ｐゴシック" panose="020B0600070205080204" pitchFamily="34" charset="-128"/>
              </a:rPr>
              <a:t>analytical</a:t>
            </a:r>
            <a:r>
              <a:rPr lang="de-DE" altLang="zh-CN" dirty="0">
                <a:ea typeface="ＭＳ Ｐゴシック" panose="020B0600070205080204" pitchFamily="34" charset="-128"/>
              </a:rPr>
              <a:t> </a:t>
            </a:r>
            <a:r>
              <a:rPr lang="de-DE" altLang="zh-CN" dirty="0" err="1">
                <a:ea typeface="ＭＳ Ｐゴシック" panose="020B0600070205080204" pitchFamily="34" charset="-128"/>
              </a:rPr>
              <a:t>attacks</a:t>
            </a:r>
            <a:r>
              <a:rPr lang="de-DE" altLang="zh-CN" dirty="0">
                <a:ea typeface="ＭＳ Ｐゴシック" panose="020B0600070205080204" pitchFamily="34" charset="-128"/>
              </a:rPr>
              <a:t> (</a:t>
            </a:r>
            <a:r>
              <a:rPr lang="de-DE" altLang="zh-CN" i="1" dirty="0" err="1">
                <a:ea typeface="ＭＳ Ｐゴシック" panose="020B0600070205080204" pitchFamily="34" charset="-128"/>
              </a:rPr>
              <a:t>backdoors</a:t>
            </a:r>
            <a:r>
              <a:rPr lang="de-DE" altLang="zh-CN" dirty="0">
                <a:ea typeface="ＭＳ Ｐゴシック" panose="020B0600070205080204" pitchFamily="34" charset="-128"/>
              </a:rPr>
              <a:t>), </a:t>
            </a:r>
            <a:r>
              <a:rPr lang="de-DE" altLang="zh-CN" dirty="0" err="1">
                <a:ea typeface="ＭＳ Ｐゴシック" panose="020B0600070205080204" pitchFamily="34" charset="-128"/>
              </a:rPr>
              <a:t>only</a:t>
            </a:r>
            <a:r>
              <a:rPr lang="de-DE" altLang="zh-CN" dirty="0">
                <a:ea typeface="ＭＳ Ｐゴシック" panose="020B0600070205080204" pitchFamily="34" charset="-128"/>
              </a:rPr>
              <a:t> </a:t>
            </a:r>
            <a:r>
              <a:rPr lang="de-DE" altLang="zh-CN" dirty="0" err="1">
                <a:ea typeface="ＭＳ Ｐゴシック" panose="020B0600070205080204" pitchFamily="34" charset="-128"/>
              </a:rPr>
              <a:t>known</a:t>
            </a:r>
            <a:r>
              <a:rPr lang="de-DE" altLang="zh-CN" dirty="0">
                <a:ea typeface="ＭＳ Ｐゴシック" panose="020B0600070205080204" pitchFamily="34" charset="-128"/>
              </a:rPr>
              <a:t> </a:t>
            </a:r>
            <a:r>
              <a:rPr lang="de-DE" altLang="zh-CN" dirty="0" err="1">
                <a:ea typeface="ＭＳ Ｐゴシック" panose="020B0600070205080204" pitchFamily="34" charset="-128"/>
              </a:rPr>
              <a:t>to</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NSA?</a:t>
            </a:r>
          </a:p>
          <a:p>
            <a:pPr marL="690563" lvl="1" indent="-304800">
              <a:buFontTx/>
              <a:buAutoNum type="arabicPeriod"/>
            </a:pPr>
            <a:endParaRPr lang="de-DE" altLang="zh-CN" dirty="0">
              <a:ea typeface="ＭＳ Ｐゴシック" panose="020B0600070205080204" pitchFamily="34" charset="-128"/>
            </a:endParaRPr>
          </a:p>
          <a:p>
            <a:pPr marL="304800" indent="-304800"/>
            <a:r>
              <a:rPr lang="de-DE" altLang="zh-CN" b="1" dirty="0">
                <a:ea typeface="ＭＳ Ｐゴシック" panose="020B0600070205080204" pitchFamily="34" charset="-128"/>
              </a:rPr>
              <a:t>Analytical </a:t>
            </a:r>
            <a:r>
              <a:rPr lang="de-DE" altLang="zh-CN" b="1" dirty="0" err="1">
                <a:ea typeface="ＭＳ Ｐゴシック" panose="020B0600070205080204" pitchFamily="34" charset="-128"/>
              </a:rPr>
              <a:t>Attacks</a:t>
            </a:r>
            <a:r>
              <a:rPr lang="de-DE" altLang="zh-CN" b="1" dirty="0">
                <a:ea typeface="ＭＳ Ｐゴシック" panose="020B0600070205080204" pitchFamily="34" charset="-128"/>
              </a:rPr>
              <a:t>: </a:t>
            </a:r>
            <a:r>
              <a:rPr lang="de-DE" altLang="zh-CN" dirty="0">
                <a:ea typeface="ＭＳ Ｐゴシック" panose="020B0600070205080204" pitchFamily="34" charset="-128"/>
              </a:rPr>
              <a:t>DES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a:t>
            </a:r>
            <a:r>
              <a:rPr lang="de-DE" altLang="zh-CN" dirty="0" err="1">
                <a:ea typeface="ＭＳ Ｐゴシック" panose="020B0600070205080204" pitchFamily="34" charset="-128"/>
              </a:rPr>
              <a:t>highly</a:t>
            </a:r>
            <a:r>
              <a:rPr lang="de-DE" altLang="zh-CN" dirty="0">
                <a:ea typeface="ＭＳ Ｐゴシック" panose="020B0600070205080204" pitchFamily="34" charset="-128"/>
              </a:rPr>
              <a:t> resistent </a:t>
            </a:r>
            <a:r>
              <a:rPr lang="de-DE" altLang="zh-CN" dirty="0" err="1">
                <a:ea typeface="ＭＳ Ｐゴシック" panose="020B0600070205080204" pitchFamily="34" charset="-128"/>
              </a:rPr>
              <a:t>to</a:t>
            </a:r>
            <a:r>
              <a:rPr lang="de-DE" altLang="zh-CN" dirty="0">
                <a:ea typeface="ＭＳ Ｐゴシック" panose="020B0600070205080204" pitchFamily="34" charset="-128"/>
              </a:rPr>
              <a:t> </a:t>
            </a:r>
            <a:r>
              <a:rPr lang="de-DE" altLang="zh-CN" dirty="0" err="1">
                <a:ea typeface="ＭＳ Ｐゴシック" panose="020B0600070205080204" pitchFamily="34" charset="-128"/>
              </a:rPr>
              <a:t>both</a:t>
            </a:r>
            <a:r>
              <a:rPr lang="de-DE" altLang="zh-CN" dirty="0">
                <a:ea typeface="ＭＳ Ｐゴシック" panose="020B0600070205080204" pitchFamily="34" charset="-128"/>
              </a:rPr>
              <a:t> </a:t>
            </a:r>
            <a:r>
              <a:rPr lang="de-DE" altLang="zh-CN" i="1" dirty="0">
                <a:ea typeface="ＭＳ Ｐゴシック" panose="020B0600070205080204" pitchFamily="34" charset="-128"/>
              </a:rPr>
              <a:t>differential</a:t>
            </a:r>
            <a:r>
              <a:rPr lang="de-DE" altLang="zh-CN" dirty="0">
                <a:ea typeface="ＭＳ Ｐゴシック" panose="020B0600070205080204" pitchFamily="34" charset="-128"/>
              </a:rPr>
              <a:t> and </a:t>
            </a:r>
            <a:r>
              <a:rPr lang="de-DE" altLang="zh-CN" i="1" dirty="0">
                <a:ea typeface="ＭＳ Ｐゴシック" panose="020B0600070205080204" pitchFamily="34" charset="-128"/>
              </a:rPr>
              <a:t>linear </a:t>
            </a:r>
            <a:r>
              <a:rPr lang="de-DE" altLang="zh-CN" i="1" dirty="0" err="1">
                <a:ea typeface="ＭＳ Ｐゴシック" panose="020B0600070205080204" pitchFamily="34" charset="-128"/>
              </a:rPr>
              <a:t>cryptanalysis</a:t>
            </a:r>
            <a:r>
              <a:rPr lang="de-DE" altLang="zh-CN" dirty="0">
                <a:ea typeface="ＭＳ Ｐゴシック" panose="020B0600070205080204" pitchFamily="34" charset="-128"/>
              </a:rPr>
              <a:t>, </a:t>
            </a:r>
            <a:r>
              <a:rPr lang="de-DE" altLang="zh-CN" dirty="0" err="1">
                <a:ea typeface="ＭＳ Ｐゴシック" panose="020B0600070205080204" pitchFamily="34" charset="-128"/>
              </a:rPr>
              <a:t>which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have</a:t>
            </a:r>
            <a:r>
              <a:rPr lang="de-DE" altLang="zh-CN" dirty="0">
                <a:ea typeface="ＭＳ Ｐゴシック" panose="020B0600070205080204" pitchFamily="34" charset="-128"/>
              </a:rPr>
              <a:t> </a:t>
            </a:r>
            <a:r>
              <a:rPr lang="de-DE" altLang="zh-CN" dirty="0" err="1">
                <a:ea typeface="ＭＳ Ｐゴシック" panose="020B0600070205080204" pitchFamily="34" charset="-128"/>
              </a:rPr>
              <a:t>been</a:t>
            </a:r>
            <a:r>
              <a:rPr lang="de-DE" altLang="zh-CN" dirty="0">
                <a:ea typeface="ＭＳ Ｐゴシック" panose="020B0600070205080204" pitchFamily="34" charset="-128"/>
              </a:rPr>
              <a:t> </a:t>
            </a:r>
            <a:r>
              <a:rPr lang="de-DE" altLang="zh-CN" dirty="0" err="1">
                <a:ea typeface="ＭＳ Ｐゴシック" panose="020B0600070205080204" pitchFamily="34" charset="-128"/>
              </a:rPr>
              <a:t>published</a:t>
            </a:r>
            <a:r>
              <a:rPr lang="de-DE" altLang="zh-CN" dirty="0">
                <a:ea typeface="ＭＳ Ｐゴシック" panose="020B0600070205080204" pitchFamily="34" charset="-128"/>
              </a:rPr>
              <a:t> </a:t>
            </a:r>
            <a:r>
              <a:rPr lang="de-DE" altLang="zh-CN" dirty="0" err="1">
                <a:ea typeface="ＭＳ Ｐゴシック" panose="020B0600070205080204" pitchFamily="34" charset="-128"/>
              </a:rPr>
              <a:t>years</a:t>
            </a:r>
            <a:r>
              <a:rPr lang="de-DE" altLang="zh-CN" dirty="0">
                <a:ea typeface="ＭＳ Ｐゴシック" panose="020B0600070205080204" pitchFamily="34" charset="-128"/>
              </a:rPr>
              <a:t> </a:t>
            </a:r>
            <a:r>
              <a:rPr lang="de-DE" altLang="zh-CN" dirty="0" err="1">
                <a:ea typeface="ＭＳ Ｐゴシック" panose="020B0600070205080204" pitchFamily="34" charset="-128"/>
              </a:rPr>
              <a:t>later</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than</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DES. This </a:t>
            </a:r>
            <a:r>
              <a:rPr lang="de-DE" altLang="zh-CN" dirty="0" err="1">
                <a:ea typeface="ＭＳ Ｐゴシック" panose="020B0600070205080204" pitchFamily="34" charset="-128"/>
              </a:rPr>
              <a:t>means</a:t>
            </a:r>
            <a:r>
              <a:rPr lang="de-DE" altLang="zh-CN" dirty="0">
                <a:ea typeface="ＭＳ Ｐゴシック" panose="020B0600070205080204" pitchFamily="34" charset="-128"/>
              </a:rPr>
              <a:t> IBM and NSA </a:t>
            </a:r>
            <a:r>
              <a:rPr lang="de-DE" altLang="zh-CN" dirty="0" err="1">
                <a:ea typeface="ＭＳ Ｐゴシック" panose="020B0600070205080204" pitchFamily="34" charset="-128"/>
              </a:rPr>
              <a:t>had</a:t>
            </a:r>
            <a:r>
              <a:rPr lang="de-DE" altLang="zh-CN" dirty="0">
                <a:ea typeface="ＭＳ Ｐゴシック" panose="020B0600070205080204" pitchFamily="34" charset="-128"/>
              </a:rPr>
              <a:t> </a:t>
            </a:r>
            <a:r>
              <a:rPr lang="de-DE" altLang="zh-CN" dirty="0" err="1">
                <a:ea typeface="ＭＳ Ｐゴシック" panose="020B0600070205080204" pitchFamily="34" charset="-128"/>
              </a:rPr>
              <a:t>been</a:t>
            </a:r>
            <a:r>
              <a:rPr lang="de-DE" altLang="zh-CN" dirty="0">
                <a:ea typeface="ＭＳ Ｐゴシック" panose="020B0600070205080204" pitchFamily="34" charset="-128"/>
              </a:rPr>
              <a:t> </a:t>
            </a:r>
            <a:r>
              <a:rPr lang="de-DE" altLang="zh-CN" dirty="0" err="1">
                <a:ea typeface="ＭＳ Ｐゴシック" panose="020B0600070205080204" pitchFamily="34" charset="-128"/>
              </a:rPr>
              <a:t>aware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these</a:t>
            </a:r>
            <a:r>
              <a:rPr lang="de-DE" altLang="zh-CN" dirty="0">
                <a:ea typeface="ＭＳ Ｐゴシック" panose="020B0600070205080204" pitchFamily="34" charset="-128"/>
              </a:rPr>
              <a:t> </a:t>
            </a:r>
            <a:r>
              <a:rPr lang="de-DE" altLang="zh-CN" dirty="0" err="1">
                <a:ea typeface="ＭＳ Ｐゴシック" panose="020B0600070205080204" pitchFamily="34" charset="-128"/>
              </a:rPr>
              <a:t>attacks</a:t>
            </a:r>
            <a:r>
              <a:rPr lang="de-DE" altLang="zh-CN" dirty="0">
                <a:ea typeface="ＭＳ Ｐゴシック" panose="020B0600070205080204" pitchFamily="34" charset="-128"/>
              </a:rPr>
              <a:t> </a:t>
            </a:r>
            <a:r>
              <a:rPr lang="de-DE" altLang="zh-CN" dirty="0" err="1">
                <a:ea typeface="ＭＳ Ｐゴシック" panose="020B0600070205080204" pitchFamily="34" charset="-128"/>
              </a:rPr>
              <a:t>for</a:t>
            </a:r>
            <a:r>
              <a:rPr lang="de-DE" altLang="zh-CN" dirty="0">
                <a:ea typeface="ＭＳ Ｐゴシック" panose="020B0600070205080204" pitchFamily="34" charset="-128"/>
              </a:rPr>
              <a:t> 15 </a:t>
            </a:r>
            <a:r>
              <a:rPr lang="de-DE" altLang="zh-CN" dirty="0" err="1">
                <a:ea typeface="ＭＳ Ｐゴシック" panose="020B0600070205080204" pitchFamily="34" charset="-128"/>
              </a:rPr>
              <a:t>years</a:t>
            </a:r>
            <a:r>
              <a:rPr lang="de-DE" altLang="zh-CN" dirty="0">
                <a:ea typeface="ＭＳ Ｐゴシック" panose="020B0600070205080204" pitchFamily="34" charset="-128"/>
              </a:rPr>
              <a:t>!</a:t>
            </a:r>
            <a:br>
              <a:rPr lang="de-DE" altLang="zh-CN" dirty="0">
                <a:ea typeface="ＭＳ Ｐゴシック" panose="020B0600070205080204" pitchFamily="34" charset="-128"/>
              </a:rPr>
            </a:br>
            <a:r>
              <a:rPr lang="de-DE" altLang="zh-CN" dirty="0">
                <a:ea typeface="ＭＳ Ｐゴシック" panose="020B0600070205080204" pitchFamily="34" charset="-128"/>
              </a:rPr>
              <a:t>So </a:t>
            </a:r>
            <a:r>
              <a:rPr lang="de-DE" altLang="zh-CN" dirty="0" err="1">
                <a:ea typeface="ＭＳ Ｐゴシック" panose="020B0600070205080204" pitchFamily="34" charset="-128"/>
              </a:rPr>
              <a:t>far</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there</a:t>
            </a:r>
            <a:r>
              <a:rPr lang="de-DE" altLang="zh-CN" dirty="0">
                <a:ea typeface="ＭＳ Ｐゴシック" panose="020B0600070205080204" pitchFamily="34" charset="-128"/>
              </a:rPr>
              <a:t>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a:t>
            </a:r>
            <a:r>
              <a:rPr lang="de-DE" altLang="zh-CN" dirty="0" err="1">
                <a:ea typeface="ＭＳ Ｐゴシック" panose="020B0600070205080204" pitchFamily="34" charset="-128"/>
              </a:rPr>
              <a:t>no</a:t>
            </a:r>
            <a:r>
              <a:rPr lang="de-DE" altLang="zh-CN" dirty="0">
                <a:ea typeface="ＭＳ Ｐゴシック" panose="020B0600070205080204" pitchFamily="34" charset="-128"/>
              </a:rPr>
              <a:t> </a:t>
            </a:r>
            <a:r>
              <a:rPr lang="de-DE" altLang="zh-CN" dirty="0" err="1">
                <a:ea typeface="ＭＳ Ｐゴシック" panose="020B0600070205080204" pitchFamily="34" charset="-128"/>
              </a:rPr>
              <a:t>known</a:t>
            </a:r>
            <a:r>
              <a:rPr lang="de-DE" altLang="zh-CN" dirty="0">
                <a:ea typeface="ＭＳ Ｐゴシック" panose="020B0600070205080204" pitchFamily="34" charset="-128"/>
              </a:rPr>
              <a:t> </a:t>
            </a:r>
            <a:r>
              <a:rPr lang="de-DE" altLang="zh-CN" dirty="0" err="1">
                <a:ea typeface="ＭＳ Ｐゴシック" panose="020B0600070205080204" pitchFamily="34" charset="-128"/>
              </a:rPr>
              <a:t>analytical</a:t>
            </a:r>
            <a:r>
              <a:rPr lang="de-DE" altLang="zh-CN" dirty="0">
                <a:ea typeface="ＭＳ Ｐゴシック" panose="020B0600070205080204" pitchFamily="34" charset="-128"/>
              </a:rPr>
              <a:t> </a:t>
            </a:r>
            <a:r>
              <a:rPr lang="de-DE" altLang="zh-CN" dirty="0" err="1">
                <a:ea typeface="ＭＳ Ｐゴシック" panose="020B0600070205080204" pitchFamily="34" charset="-128"/>
              </a:rPr>
              <a:t>attack</a:t>
            </a:r>
            <a:r>
              <a:rPr lang="de-DE" altLang="zh-CN" dirty="0">
                <a:ea typeface="ＭＳ Ｐゴシック" panose="020B0600070205080204" pitchFamily="34" charset="-128"/>
              </a:rPr>
              <a:t> </a:t>
            </a:r>
            <a:r>
              <a:rPr lang="de-DE" altLang="zh-CN" dirty="0" err="1">
                <a:ea typeface="ＭＳ Ｐゴシック" panose="020B0600070205080204" pitchFamily="34" charset="-128"/>
              </a:rPr>
              <a:t>which</a:t>
            </a:r>
            <a:r>
              <a:rPr lang="de-DE" altLang="zh-CN" dirty="0">
                <a:ea typeface="ＭＳ Ｐゴシック" panose="020B0600070205080204" pitchFamily="34" charset="-128"/>
              </a:rPr>
              <a:t> </a:t>
            </a:r>
            <a:r>
              <a:rPr lang="de-DE" altLang="zh-CN" dirty="0" err="1">
                <a:ea typeface="ＭＳ Ｐゴシック" panose="020B0600070205080204" pitchFamily="34" charset="-128"/>
              </a:rPr>
              <a:t>breaks</a:t>
            </a:r>
            <a:r>
              <a:rPr lang="de-DE" altLang="zh-CN" dirty="0">
                <a:ea typeface="ＭＳ Ｐゴシック" panose="020B0600070205080204" pitchFamily="34" charset="-128"/>
              </a:rPr>
              <a:t> DES in </a:t>
            </a:r>
            <a:r>
              <a:rPr lang="de-DE" altLang="zh-CN" dirty="0" err="1">
                <a:ea typeface="ＭＳ Ｐゴシック" panose="020B0600070205080204" pitchFamily="34" charset="-128"/>
              </a:rPr>
              <a:t>realistic</a:t>
            </a:r>
            <a:r>
              <a:rPr lang="de-DE" altLang="zh-CN" dirty="0">
                <a:ea typeface="ＭＳ Ｐゴシック" panose="020B0600070205080204" pitchFamily="34" charset="-128"/>
              </a:rPr>
              <a:t> </a:t>
            </a:r>
            <a:r>
              <a:rPr lang="de-DE" altLang="zh-CN" dirty="0" err="1">
                <a:ea typeface="ＭＳ Ｐゴシック" panose="020B0600070205080204" pitchFamily="34" charset="-128"/>
              </a:rPr>
              <a:t>scenarios</a:t>
            </a:r>
            <a:r>
              <a:rPr lang="de-DE" altLang="zh-CN" dirty="0">
                <a:ea typeface="ＭＳ Ｐゴシック" panose="020B0600070205080204" pitchFamily="34" charset="-128"/>
              </a:rPr>
              <a:t>.</a:t>
            </a:r>
          </a:p>
          <a:p>
            <a:pPr marL="304800" indent="-304800"/>
            <a:endParaRPr lang="de-DE" altLang="zh-CN" dirty="0">
              <a:ea typeface="ＭＳ Ｐゴシック" panose="020B0600070205080204" pitchFamily="34" charset="-128"/>
            </a:endParaRPr>
          </a:p>
          <a:p>
            <a:pPr marL="304800" indent="-304800"/>
            <a:r>
              <a:rPr lang="de-DE" altLang="zh-CN" b="1" dirty="0">
                <a:ea typeface="ＭＳ Ｐゴシック" panose="020B0600070205080204" pitchFamily="34" charset="-128"/>
              </a:rPr>
              <a:t>Exhaustive </a:t>
            </a:r>
            <a:r>
              <a:rPr lang="de-DE" altLang="zh-CN" b="1" dirty="0" err="1">
                <a:ea typeface="ＭＳ Ｐゴシック" panose="020B0600070205080204" pitchFamily="34" charset="-128"/>
              </a:rPr>
              <a:t>key</a:t>
            </a:r>
            <a:r>
              <a:rPr lang="de-DE" altLang="zh-CN" b="1" dirty="0">
                <a:ea typeface="ＭＳ Ｐゴシック" panose="020B0600070205080204" pitchFamily="34" charset="-128"/>
              </a:rPr>
              <a:t> </a:t>
            </a:r>
            <a:r>
              <a:rPr lang="de-DE" altLang="zh-CN" b="1" dirty="0" err="1">
                <a:ea typeface="ＭＳ Ｐゴシック" panose="020B0600070205080204" pitchFamily="34" charset="-128"/>
              </a:rPr>
              <a:t>search</a:t>
            </a:r>
            <a:r>
              <a:rPr lang="de-DE" altLang="zh-CN" b="1" dirty="0">
                <a:ea typeface="ＭＳ Ｐゴシック" panose="020B0600070205080204" pitchFamily="34" charset="-128"/>
              </a:rPr>
              <a:t>:</a:t>
            </a:r>
            <a:r>
              <a:rPr lang="de-DE" altLang="zh-CN" dirty="0">
                <a:ea typeface="ＭＳ Ｐゴシック" panose="020B0600070205080204" pitchFamily="34" charset="-128"/>
              </a:rPr>
              <a:t> </a:t>
            </a:r>
            <a:r>
              <a:rPr lang="de-DE" altLang="zh-CN" dirty="0" err="1">
                <a:ea typeface="ＭＳ Ｐゴシック" panose="020B0600070205080204" pitchFamily="34" charset="-128"/>
              </a:rPr>
              <a:t>For</a:t>
            </a:r>
            <a:r>
              <a:rPr lang="de-DE" altLang="zh-CN" dirty="0">
                <a:ea typeface="ＭＳ Ｐゴシック" panose="020B0600070205080204" pitchFamily="34" charset="-128"/>
              </a:rPr>
              <a:t> a </a:t>
            </a:r>
            <a:r>
              <a:rPr lang="de-DE" altLang="zh-CN" dirty="0" err="1">
                <a:ea typeface="ＭＳ Ｐゴシック" panose="020B0600070205080204" pitchFamily="34" charset="-128"/>
              </a:rPr>
              <a:t>given</a:t>
            </a:r>
            <a:r>
              <a:rPr lang="de-DE" altLang="zh-CN" dirty="0">
                <a:ea typeface="ＭＳ Ｐゴシック" panose="020B0600070205080204" pitchFamily="34" charset="-128"/>
              </a:rPr>
              <a:t> pair </a:t>
            </a:r>
            <a:r>
              <a:rPr lang="de-DE" altLang="zh-CN" dirty="0" err="1">
                <a:ea typeface="ＭＳ Ｐゴシック" panose="020B0600070205080204" pitchFamily="34" charset="-128"/>
              </a:rPr>
              <a:t>of</a:t>
            </a:r>
            <a:r>
              <a:rPr lang="de-DE" altLang="zh-CN" dirty="0">
                <a:ea typeface="ＭＳ Ｐゴシック" panose="020B0600070205080204" pitchFamily="34" charset="-128"/>
              </a:rPr>
              <a:t> </a:t>
            </a:r>
            <a:r>
              <a:rPr lang="de-DE" altLang="zh-CN" dirty="0" err="1">
                <a:ea typeface="ＭＳ Ｐゴシック" panose="020B0600070205080204" pitchFamily="34" charset="-128"/>
              </a:rPr>
              <a:t>plaintext-ciphertext</a:t>
            </a:r>
            <a:r>
              <a:rPr lang="de-DE" altLang="zh-CN" dirty="0">
                <a:ea typeface="ＭＳ Ｐゴシック" panose="020B0600070205080204" pitchFamily="34" charset="-128"/>
              </a:rPr>
              <a:t> (</a:t>
            </a:r>
            <a:r>
              <a:rPr lang="de-DE" altLang="zh-CN" i="1" dirty="0">
                <a:ea typeface="ＭＳ Ｐゴシック" panose="020B0600070205080204" pitchFamily="34" charset="-128"/>
              </a:rPr>
              <a:t>x</a:t>
            </a:r>
            <a:r>
              <a:rPr lang="de-DE" altLang="zh-CN" dirty="0">
                <a:ea typeface="ＭＳ Ｐゴシック" panose="020B0600070205080204" pitchFamily="34" charset="-128"/>
              </a:rPr>
              <a:t>, </a:t>
            </a:r>
            <a:r>
              <a:rPr lang="de-DE" altLang="zh-CN" i="1" dirty="0" err="1">
                <a:ea typeface="ＭＳ Ｐゴシック" panose="020B0600070205080204" pitchFamily="34" charset="-128"/>
              </a:rPr>
              <a:t>y</a:t>
            </a:r>
            <a:r>
              <a:rPr lang="de-DE" altLang="zh-CN" dirty="0">
                <a:ea typeface="ＭＳ Ｐゴシック" panose="020B0600070205080204" pitchFamily="34" charset="-128"/>
              </a:rPr>
              <a:t>) </a:t>
            </a:r>
            <a:r>
              <a:rPr lang="de-DE" altLang="zh-CN" dirty="0" err="1">
                <a:ea typeface="ＭＳ Ｐゴシック" panose="020B0600070205080204" pitchFamily="34" charset="-128"/>
              </a:rPr>
              <a:t>test</a:t>
            </a:r>
            <a:r>
              <a:rPr lang="de-DE" altLang="zh-CN" dirty="0">
                <a:ea typeface="ＭＳ Ｐゴシック" panose="020B0600070205080204" pitchFamily="34" charset="-128"/>
              </a:rPr>
              <a:t> all 2</a:t>
            </a:r>
            <a:r>
              <a:rPr lang="de-DE" altLang="zh-CN" baseline="30000" dirty="0">
                <a:ea typeface="ＭＳ Ｐゴシック" panose="020B0600070205080204" pitchFamily="34" charset="-128"/>
              </a:rPr>
              <a:t>56</a:t>
            </a:r>
            <a:r>
              <a:rPr lang="de-DE" altLang="zh-CN" dirty="0">
                <a:ea typeface="ＭＳ Ｐゴシック" panose="020B0600070205080204" pitchFamily="34" charset="-128"/>
              </a:rPr>
              <a:t> </a:t>
            </a:r>
            <a:r>
              <a:rPr lang="de-DE" altLang="zh-CN" dirty="0" err="1">
                <a:ea typeface="ＭＳ Ｐゴシック" panose="020B0600070205080204" pitchFamily="34" charset="-128"/>
              </a:rPr>
              <a:t>keys</a:t>
            </a:r>
            <a:r>
              <a:rPr lang="de-DE" altLang="zh-CN" dirty="0">
                <a:ea typeface="ＭＳ Ｐゴシック" panose="020B0600070205080204" pitchFamily="34" charset="-128"/>
              </a:rPr>
              <a:t> </a:t>
            </a:r>
            <a:r>
              <a:rPr lang="de-DE" altLang="zh-CN" dirty="0" err="1">
                <a:ea typeface="ＭＳ Ｐゴシック" panose="020B0600070205080204" pitchFamily="34" charset="-128"/>
              </a:rPr>
              <a:t>until</a:t>
            </a:r>
            <a:r>
              <a:rPr lang="de-DE" altLang="zh-CN" dirty="0">
                <a:ea typeface="ＭＳ Ｐゴシック" panose="020B0600070205080204" pitchFamily="34" charset="-128"/>
              </a:rPr>
              <a:t> </a:t>
            </a:r>
            <a:r>
              <a:rPr lang="de-DE" altLang="zh-CN" dirty="0" err="1">
                <a:ea typeface="ＭＳ Ｐゴシック" panose="020B0600070205080204" pitchFamily="34" charset="-128"/>
              </a:rPr>
              <a:t>the</a:t>
            </a:r>
            <a:r>
              <a:rPr lang="de-DE" altLang="zh-CN" dirty="0">
                <a:ea typeface="ＭＳ Ｐゴシック" panose="020B0600070205080204" pitchFamily="34" charset="-128"/>
              </a:rPr>
              <a:t> </a:t>
            </a:r>
            <a:r>
              <a:rPr lang="de-DE" altLang="zh-CN" dirty="0" err="1">
                <a:ea typeface="ＭＳ Ｐゴシック" panose="020B0600070205080204" pitchFamily="34" charset="-128"/>
              </a:rPr>
              <a:t>condition</a:t>
            </a:r>
            <a:r>
              <a:rPr lang="de-DE" altLang="zh-CN" dirty="0">
                <a:ea typeface="ＭＳ Ｐゴシック" panose="020B0600070205080204" pitchFamily="34" charset="-128"/>
              </a:rPr>
              <a:t> DES</a:t>
            </a:r>
            <a:r>
              <a:rPr lang="de-DE" altLang="zh-CN" i="1" baseline="-25000" dirty="0">
                <a:ea typeface="ＭＳ Ｐゴシック" panose="020B0600070205080204" pitchFamily="34" charset="-128"/>
              </a:rPr>
              <a:t>k</a:t>
            </a:r>
            <a:r>
              <a:rPr lang="de-DE" altLang="zh-CN" baseline="30000" dirty="0">
                <a:ea typeface="ＭＳ Ｐゴシック" panose="020B0600070205080204" pitchFamily="34" charset="-128"/>
              </a:rPr>
              <a:t>-1</a:t>
            </a:r>
            <a:r>
              <a:rPr lang="de-DE" altLang="zh-CN" dirty="0">
                <a:ea typeface="ＭＳ Ｐゴシック" panose="020B0600070205080204" pitchFamily="34" charset="-128"/>
              </a:rPr>
              <a:t>(</a:t>
            </a:r>
            <a:r>
              <a:rPr lang="de-DE" altLang="zh-CN" i="1" dirty="0" err="1">
                <a:ea typeface="ＭＳ Ｐゴシック" panose="020B0600070205080204" pitchFamily="34" charset="-128"/>
              </a:rPr>
              <a:t>y</a:t>
            </a:r>
            <a:r>
              <a:rPr lang="de-DE" altLang="zh-CN" dirty="0">
                <a:ea typeface="ＭＳ Ｐゴシック" panose="020B0600070205080204" pitchFamily="34" charset="-128"/>
              </a:rPr>
              <a:t>)=</a:t>
            </a:r>
            <a:r>
              <a:rPr lang="de-DE" altLang="zh-CN" i="1" dirty="0">
                <a:ea typeface="ＭＳ Ｐゴシック" panose="020B0600070205080204" pitchFamily="34" charset="-128"/>
              </a:rPr>
              <a:t>x</a:t>
            </a:r>
            <a:r>
              <a:rPr lang="de-DE" altLang="zh-CN" dirty="0">
                <a:ea typeface="ＭＳ Ｐゴシック" panose="020B0600070205080204" pitchFamily="34" charset="-128"/>
              </a:rPr>
              <a:t> </a:t>
            </a:r>
            <a:r>
              <a:rPr lang="de-DE" altLang="zh-CN" dirty="0" err="1">
                <a:ea typeface="ＭＳ Ｐゴシック" panose="020B0600070205080204" pitchFamily="34" charset="-128"/>
              </a:rPr>
              <a:t>is</a:t>
            </a:r>
            <a:r>
              <a:rPr lang="de-DE" altLang="zh-CN" dirty="0">
                <a:ea typeface="ＭＳ Ｐゴシック" panose="020B0600070205080204" pitchFamily="34" charset="-128"/>
              </a:rPr>
              <a:t> </a:t>
            </a:r>
            <a:r>
              <a:rPr lang="de-DE" altLang="zh-CN" dirty="0" err="1">
                <a:ea typeface="ＭＳ Ｐゴシック" panose="020B0600070205080204" pitchFamily="34" charset="-128"/>
              </a:rPr>
              <a:t>fulfilled</a:t>
            </a:r>
            <a:r>
              <a:rPr lang="de-DE" altLang="zh-CN" dirty="0">
                <a:ea typeface="ＭＳ Ｐゴシック" panose="020B0600070205080204" pitchFamily="34" charset="-128"/>
              </a:rPr>
              <a:t>. </a:t>
            </a:r>
            <a:br>
              <a:rPr lang="de-DE" altLang="zh-CN" dirty="0">
                <a:ea typeface="ＭＳ Ｐゴシック" panose="020B0600070205080204" pitchFamily="34" charset="-128"/>
              </a:rPr>
            </a:br>
            <a:r>
              <a:rPr lang="de-DE" altLang="zh-CN" dirty="0">
                <a:ea typeface="ＭＳ Ｐゴシック" panose="020B0600070205080204" pitchFamily="34" charset="-128"/>
              </a:rPr>
              <a:t> </a:t>
            </a:r>
            <a:r>
              <a:rPr lang="en-US" altLang="zh-CN" dirty="0">
                <a:ea typeface="ＭＳ Ｐゴシック" panose="020B0600070205080204" pitchFamily="34" charset="-128"/>
                <a:sym typeface="Symbol" pitchFamily="2" charset="2"/>
              </a:rPr>
              <a:t> Relatively easy given today</a:t>
            </a:r>
            <a:r>
              <a:rPr lang="ja-JP" altLang="en-US">
                <a:ea typeface="ＭＳ Ｐゴシック" panose="020B0600070205080204" pitchFamily="34" charset="-128"/>
                <a:sym typeface="Symbol" pitchFamily="2" charset="2"/>
              </a:rPr>
              <a:t>’</a:t>
            </a:r>
            <a:r>
              <a:rPr lang="en-US" altLang="ja-JP" dirty="0">
                <a:ea typeface="ＭＳ Ｐゴシック" panose="020B0600070205080204" pitchFamily="34" charset="-128"/>
                <a:sym typeface="Symbol" pitchFamily="2" charset="2"/>
              </a:rPr>
              <a:t>s computer technology!</a:t>
            </a:r>
            <a:endParaRPr lang="de-DE" altLang="zh-CN" dirty="0">
              <a:ea typeface="ＭＳ Ｐゴシック" panose="020B0600070205080204" pitchFamily="34" charset="-128"/>
              <a:sym typeface="Symbol" pitchFamily="2" charset="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Foliennummernplatzhalter 4">
            <a:extLst>
              <a:ext uri="{FF2B5EF4-FFF2-40B4-BE49-F238E27FC236}">
                <a16:creationId xmlns:a16="http://schemas.microsoft.com/office/drawing/2014/main" id="{756D23D7-394A-3E14-CF23-4B61DFDF196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7379A21-3FF0-7441-8DE9-160AB2031B21}" type="slidenum">
              <a:rPr lang="de-DE" altLang="zh-CN" sz="900">
                <a:solidFill>
                  <a:srgbClr val="394073"/>
                </a:solidFill>
              </a:rPr>
              <a:pPr/>
              <a:t>34</a:t>
            </a:fld>
            <a:r>
              <a:rPr lang="de-DE" altLang="zh-CN" sz="900">
                <a:solidFill>
                  <a:srgbClr val="394073"/>
                </a:solidFill>
              </a:rPr>
              <a:t>/29</a:t>
            </a:r>
          </a:p>
        </p:txBody>
      </p:sp>
      <p:sp>
        <p:nvSpPr>
          <p:cNvPr id="70659" name="Rectangle 2">
            <a:extLst>
              <a:ext uri="{FF2B5EF4-FFF2-40B4-BE49-F238E27FC236}">
                <a16:creationId xmlns:a16="http://schemas.microsoft.com/office/drawing/2014/main" id="{52373D1A-0777-F6C3-3D28-0378EDA61304}"/>
              </a:ext>
            </a:extLst>
          </p:cNvPr>
          <p:cNvSpPr>
            <a:spLocks noGrp="1" noChangeArrowheads="1"/>
          </p:cNvSpPr>
          <p:nvPr>
            <p:ph type="title"/>
          </p:nvPr>
        </p:nvSpPr>
        <p:spPr/>
        <p:txBody>
          <a:bodyPr/>
          <a:lstStyle/>
          <a:p>
            <a:r>
              <a:rPr lang="de-DE" altLang="zh-CN">
                <a:ea typeface="ＭＳ Ｐゴシック" panose="020B0600070205080204" pitchFamily="34" charset="-128"/>
              </a:rPr>
              <a:t>History of Attacks on DES</a:t>
            </a:r>
          </a:p>
        </p:txBody>
      </p:sp>
      <p:graphicFrame>
        <p:nvGraphicFramePr>
          <p:cNvPr id="28718" name="Group 46">
            <a:extLst>
              <a:ext uri="{FF2B5EF4-FFF2-40B4-BE49-F238E27FC236}">
                <a16:creationId xmlns:a16="http://schemas.microsoft.com/office/drawing/2014/main" id="{20AFB32C-ED39-CD79-EC4A-4F61330EE6E9}"/>
              </a:ext>
            </a:extLst>
          </p:cNvPr>
          <p:cNvGraphicFramePr>
            <a:graphicFrameLocks noGrp="1"/>
          </p:cNvGraphicFramePr>
          <p:nvPr>
            <p:ph sz="half" idx="2"/>
            <p:extLst>
              <p:ext uri="{D42A27DB-BD31-4B8C-83A1-F6EECF244321}">
                <p14:modId xmlns:p14="http://schemas.microsoft.com/office/powerpoint/2010/main" val="438782058"/>
              </p:ext>
            </p:extLst>
          </p:nvPr>
        </p:nvGraphicFramePr>
        <p:xfrm>
          <a:off x="251618" y="322263"/>
          <a:ext cx="8640763" cy="6475470"/>
        </p:xfrm>
        <a:graphic>
          <a:graphicData uri="http://schemas.openxmlformats.org/drawingml/2006/table">
            <a:tbl>
              <a:tblPr/>
              <a:tblGrid>
                <a:gridCol w="1171575">
                  <a:extLst>
                    <a:ext uri="{9D8B030D-6E8A-4147-A177-3AD203B41FA5}">
                      <a16:colId xmlns:a16="http://schemas.microsoft.com/office/drawing/2014/main" val="20000"/>
                    </a:ext>
                  </a:extLst>
                </a:gridCol>
                <a:gridCol w="7469188">
                  <a:extLst>
                    <a:ext uri="{9D8B030D-6E8A-4147-A177-3AD203B41FA5}">
                      <a16:colId xmlns:a16="http://schemas.microsoft.com/office/drawing/2014/main" val="20001"/>
                    </a:ext>
                  </a:extLst>
                </a:gridCol>
              </a:tblGrid>
              <a:tr h="386259">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dirty="0">
                          <a:ln>
                            <a:noFill/>
                          </a:ln>
                          <a:solidFill>
                            <a:schemeClr val="tx1"/>
                          </a:solidFill>
                          <a:effectLst/>
                          <a:latin typeface="Arial" charset="0"/>
                        </a:rPr>
                        <a:t>Year</a:t>
                      </a:r>
                    </a:p>
                  </a:txBody>
                  <a:tcPr marT="48215" marB="48215" horzOverflow="overflow">
                    <a:lnL>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tc>
                  <a:txBody>
                    <a:bodyPr/>
                    <a:lstStyle/>
                    <a:p>
                      <a:pPr marL="0" marR="0" lvl="0" indent="0" algn="l" defTabSz="914400" rtl="0" eaLnBrk="0" fontAlgn="base" latinLnBrk="0" hangingPunct="0">
                        <a:lnSpc>
                          <a:spcPct val="125000"/>
                        </a:lnSpc>
                        <a:spcBef>
                          <a:spcPct val="50000"/>
                        </a:spcBef>
                        <a:spcAft>
                          <a:spcPct val="0"/>
                        </a:spcAft>
                        <a:buClr>
                          <a:srgbClr val="007AC2"/>
                        </a:buClr>
                        <a:buSzPct val="120000"/>
                        <a:buFontTx/>
                        <a:buNone/>
                        <a:tabLst/>
                      </a:pPr>
                      <a:r>
                        <a:rPr kumimoji="0" lang="de-DE" sz="1700" b="0" i="0" u="none" strike="noStrike" cap="none" normalizeH="0" baseline="0" dirty="0" err="1">
                          <a:ln>
                            <a:noFill/>
                          </a:ln>
                          <a:solidFill>
                            <a:schemeClr val="tx1"/>
                          </a:solidFill>
                          <a:effectLst/>
                          <a:latin typeface="Arial" charset="0"/>
                        </a:rPr>
                        <a:t>Proposed</a:t>
                      </a:r>
                      <a:r>
                        <a:rPr kumimoji="0" lang="de-DE" sz="1700" b="0" i="0" u="none" strike="noStrike" cap="none" normalizeH="0" baseline="0" dirty="0">
                          <a:ln>
                            <a:noFill/>
                          </a:ln>
                          <a:solidFill>
                            <a:schemeClr val="tx1"/>
                          </a:solidFill>
                          <a:effectLst/>
                          <a:latin typeface="Arial" charset="0"/>
                        </a:rPr>
                        <a:t>/ </a:t>
                      </a:r>
                      <a:r>
                        <a:rPr kumimoji="0" lang="de-DE" sz="1700" b="0" i="0" u="none" strike="noStrike" cap="none" normalizeH="0" baseline="0" dirty="0" err="1">
                          <a:ln>
                            <a:noFill/>
                          </a:ln>
                          <a:solidFill>
                            <a:schemeClr val="tx1"/>
                          </a:solidFill>
                          <a:effectLst/>
                          <a:latin typeface="Arial" charset="0"/>
                        </a:rPr>
                        <a:t>implemented</a:t>
                      </a:r>
                      <a:r>
                        <a:rPr kumimoji="0" lang="de-DE" sz="1700" b="0" i="0" u="none" strike="noStrike" cap="none" normalizeH="0" baseline="0" dirty="0">
                          <a:ln>
                            <a:noFill/>
                          </a:ln>
                          <a:solidFill>
                            <a:schemeClr val="tx1"/>
                          </a:solidFill>
                          <a:effectLst/>
                          <a:latin typeface="Arial" charset="0"/>
                        </a:rPr>
                        <a:t> DES </a:t>
                      </a:r>
                      <a:r>
                        <a:rPr kumimoji="0" lang="de-DE" sz="1700" b="0" i="0" u="none" strike="noStrike" cap="none" normalizeH="0" baseline="0" dirty="0" err="1">
                          <a:ln>
                            <a:noFill/>
                          </a:ln>
                          <a:solidFill>
                            <a:schemeClr val="tx1"/>
                          </a:solidFill>
                          <a:effectLst/>
                          <a:latin typeface="Arial" charset="0"/>
                        </a:rPr>
                        <a:t>Attack</a:t>
                      </a:r>
                      <a:endParaRPr kumimoji="0" lang="de-DE" sz="1700" b="0" i="0" u="none" strike="noStrike" cap="none" normalizeH="0" baseline="0" dirty="0">
                        <a:ln>
                          <a:noFill/>
                        </a:ln>
                        <a:solidFill>
                          <a:schemeClr val="tx1"/>
                        </a:solidFill>
                        <a:effectLst/>
                        <a:latin typeface="Arial" charset="0"/>
                      </a:endParaRPr>
                    </a:p>
                  </a:txBody>
                  <a:tcPr marT="48215" marB="48215" horzOverflow="overflow">
                    <a:lnL w="12700"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extLst>
                  <a:ext uri="{0D108BD9-81ED-4DB2-BD59-A6C34878D82A}">
                    <a16:rowId xmlns:a16="http://schemas.microsoft.com/office/drawing/2014/main" val="10000"/>
                  </a:ext>
                </a:extLst>
              </a:tr>
              <a:tr h="386259">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1977</a:t>
                      </a:r>
                    </a:p>
                  </a:txBody>
                  <a:tcPr marT="48215" marB="48215"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tc>
                  <a:txBody>
                    <a:bodyPr/>
                    <a:lstStyle/>
                    <a:p>
                      <a:pPr marL="0" marR="0" lvl="0" indent="0" algn="l" defTabSz="914400" rtl="0" eaLnBrk="0" fontAlgn="base" latinLnBrk="0" hangingPunct="0">
                        <a:lnSpc>
                          <a:spcPct val="125000"/>
                        </a:lnSpc>
                        <a:spcBef>
                          <a:spcPct val="50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Diffie &amp; Hellman, (under-)estimate the costs of a key search machine</a:t>
                      </a:r>
                    </a:p>
                  </a:txBody>
                  <a:tcPr marT="48215" marB="48215"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extLst>
                  <a:ext uri="{0D108BD9-81ED-4DB2-BD59-A6C34878D82A}">
                    <a16:rowId xmlns:a16="http://schemas.microsoft.com/office/drawing/2014/main" val="10001"/>
                  </a:ext>
                </a:extLst>
              </a:tr>
              <a:tr h="386259">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1990</a:t>
                      </a:r>
                    </a:p>
                  </a:txBody>
                  <a:tcPr marT="48215" marB="48215"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tc>
                  <a:txBody>
                    <a:bodyPr/>
                    <a:lstStyle/>
                    <a:p>
                      <a:pPr marL="0" marR="0" lvl="0" indent="0" algn="l" defTabSz="914400" rtl="0" eaLnBrk="0" fontAlgn="base" latinLnBrk="0" hangingPunct="0">
                        <a:lnSpc>
                          <a:spcPct val="125000"/>
                        </a:lnSpc>
                        <a:spcBef>
                          <a:spcPct val="50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Biham &amp; Shamir propose differential cryptanalysis (2</a:t>
                      </a:r>
                      <a:r>
                        <a:rPr kumimoji="0" lang="de-DE" sz="1700" b="0" i="0" u="none" strike="noStrike" cap="none" normalizeH="0" baseline="30000">
                          <a:ln>
                            <a:noFill/>
                          </a:ln>
                          <a:solidFill>
                            <a:schemeClr val="tx1"/>
                          </a:solidFill>
                          <a:effectLst/>
                          <a:latin typeface="Arial" charset="0"/>
                        </a:rPr>
                        <a:t>47 </a:t>
                      </a:r>
                      <a:r>
                        <a:rPr kumimoji="0" lang="de-DE" sz="1700" b="0" i="0" u="none" strike="noStrike" cap="none" normalizeH="0" baseline="0">
                          <a:ln>
                            <a:noFill/>
                          </a:ln>
                          <a:solidFill>
                            <a:schemeClr val="tx1"/>
                          </a:solidFill>
                          <a:effectLst/>
                          <a:latin typeface="Arial" charset="0"/>
                        </a:rPr>
                        <a:t>chosen ciphertexts)</a:t>
                      </a:r>
                    </a:p>
                  </a:txBody>
                  <a:tcPr marT="48215" marB="48215"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extLst>
                  <a:ext uri="{0D108BD9-81ED-4DB2-BD59-A6C34878D82A}">
                    <a16:rowId xmlns:a16="http://schemas.microsoft.com/office/drawing/2014/main" val="10002"/>
                  </a:ext>
                </a:extLst>
              </a:tr>
              <a:tr h="707694">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1993</a:t>
                      </a:r>
                    </a:p>
                  </a:txBody>
                  <a:tcPr marT="48215" marB="48215"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tc>
                  <a:txBody>
                    <a:bodyPr/>
                    <a:lstStyle/>
                    <a:p>
                      <a:pPr marL="0" marR="0" lvl="0" indent="0" algn="l" defTabSz="914400" rtl="0" eaLnBrk="0" fontAlgn="base" latinLnBrk="0" hangingPunct="0">
                        <a:lnSpc>
                          <a:spcPct val="125000"/>
                        </a:lnSpc>
                        <a:spcBef>
                          <a:spcPct val="50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Mike Wiener proposes design of a very efficient key search machine: </a:t>
                      </a:r>
                      <a:br>
                        <a:rPr kumimoji="0" lang="de-DE" sz="1700" b="0" i="0" u="none" strike="noStrike" cap="none" normalizeH="0" baseline="0">
                          <a:ln>
                            <a:noFill/>
                          </a:ln>
                          <a:solidFill>
                            <a:schemeClr val="tx1"/>
                          </a:solidFill>
                          <a:effectLst/>
                          <a:latin typeface="Arial" charset="0"/>
                        </a:rPr>
                      </a:br>
                      <a:r>
                        <a:rPr kumimoji="0" lang="de-DE" sz="1700" b="0" i="0" u="none" strike="noStrike" cap="none" normalizeH="0" baseline="0">
                          <a:ln>
                            <a:noFill/>
                          </a:ln>
                          <a:solidFill>
                            <a:schemeClr val="tx1"/>
                          </a:solidFill>
                          <a:effectLst/>
                          <a:latin typeface="Arial" charset="0"/>
                        </a:rPr>
                        <a:t>Average search requires 36h. Costs: $1.000.000</a:t>
                      </a:r>
                    </a:p>
                  </a:txBody>
                  <a:tcPr marT="48215" marB="48215"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extLst>
                  <a:ext uri="{0D108BD9-81ED-4DB2-BD59-A6C34878D82A}">
                    <a16:rowId xmlns:a16="http://schemas.microsoft.com/office/drawing/2014/main" val="10003"/>
                  </a:ext>
                </a:extLst>
              </a:tr>
              <a:tr h="386259">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1993</a:t>
                      </a:r>
                    </a:p>
                  </a:txBody>
                  <a:tcPr marT="48215" marB="48215"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tc>
                  <a:txBody>
                    <a:bodyPr/>
                    <a:lstStyle/>
                    <a:p>
                      <a:pPr marL="0" marR="0" lvl="0" indent="0" algn="l" defTabSz="914400" rtl="0" eaLnBrk="0" fontAlgn="base" latinLnBrk="0" hangingPunct="0">
                        <a:lnSpc>
                          <a:spcPct val="125000"/>
                        </a:lnSpc>
                        <a:spcBef>
                          <a:spcPct val="50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Matsui proposes linear cryptanalysis  (2</a:t>
                      </a:r>
                      <a:r>
                        <a:rPr kumimoji="0" lang="de-DE" sz="1700" b="0" i="0" u="none" strike="noStrike" cap="none" normalizeH="0" baseline="30000">
                          <a:ln>
                            <a:noFill/>
                          </a:ln>
                          <a:solidFill>
                            <a:schemeClr val="tx1"/>
                          </a:solidFill>
                          <a:effectLst/>
                          <a:latin typeface="Arial" charset="0"/>
                        </a:rPr>
                        <a:t>43</a:t>
                      </a:r>
                      <a:r>
                        <a:rPr kumimoji="0" lang="de-DE" sz="1700" b="0" i="0" u="none" strike="noStrike" cap="none" normalizeH="0" baseline="0">
                          <a:ln>
                            <a:noFill/>
                          </a:ln>
                          <a:solidFill>
                            <a:schemeClr val="tx1"/>
                          </a:solidFill>
                          <a:effectLst/>
                          <a:latin typeface="Arial" charset="0"/>
                        </a:rPr>
                        <a:t> chosen ciphertexts)</a:t>
                      </a:r>
                    </a:p>
                  </a:txBody>
                  <a:tcPr marT="48215" marB="48215"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extLst>
                  <a:ext uri="{0D108BD9-81ED-4DB2-BD59-A6C34878D82A}">
                    <a16:rowId xmlns:a16="http://schemas.microsoft.com/office/drawing/2014/main" val="10004"/>
                  </a:ext>
                </a:extLst>
              </a:tr>
              <a:tr h="386259">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Jun. 1997</a:t>
                      </a:r>
                    </a:p>
                  </a:txBody>
                  <a:tcPr marT="48215" marB="48215"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DES Challenge I broken, 4.5 months of distributed search</a:t>
                      </a:r>
                    </a:p>
                  </a:txBody>
                  <a:tcPr marT="48215" marB="48215"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extLst>
                  <a:ext uri="{0D108BD9-81ED-4DB2-BD59-A6C34878D82A}">
                    <a16:rowId xmlns:a16="http://schemas.microsoft.com/office/drawing/2014/main" val="10005"/>
                  </a:ext>
                </a:extLst>
              </a:tr>
              <a:tr h="386259">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Feb. 1998</a:t>
                      </a:r>
                    </a:p>
                  </a:txBody>
                  <a:tcPr marT="48215" marB="48215"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tc>
                  <a:txBody>
                    <a:bodyPr/>
                    <a:lstStyle/>
                    <a:p>
                      <a:pPr marL="0" marR="0" lvl="0" indent="0" algn="l" defTabSz="914400" rtl="0" eaLnBrk="0" fontAlgn="base" latinLnBrk="0" hangingPunct="0">
                        <a:lnSpc>
                          <a:spcPct val="125000"/>
                        </a:lnSpc>
                        <a:spcBef>
                          <a:spcPct val="50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DES Challenge II--1 broken, 39 days (distributed search)</a:t>
                      </a:r>
                    </a:p>
                  </a:txBody>
                  <a:tcPr marT="48215" marB="48215"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extLst>
                  <a:ext uri="{0D108BD9-81ED-4DB2-BD59-A6C34878D82A}">
                    <a16:rowId xmlns:a16="http://schemas.microsoft.com/office/drawing/2014/main" val="10006"/>
                  </a:ext>
                </a:extLst>
              </a:tr>
              <a:tr h="1029130">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Jul. 1998</a:t>
                      </a:r>
                    </a:p>
                  </a:txBody>
                  <a:tcPr marT="48215" marB="48215"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DES Challenge II--2 broken, key search machine </a:t>
                      </a:r>
                      <a:r>
                        <a:rPr kumimoji="0" lang="de-DE" sz="1700" b="0" i="1" u="none" strike="noStrike" cap="none" normalizeH="0" baseline="0">
                          <a:ln>
                            <a:noFill/>
                          </a:ln>
                          <a:solidFill>
                            <a:schemeClr val="tx1"/>
                          </a:solidFill>
                          <a:effectLst/>
                          <a:latin typeface="Arial" charset="0"/>
                        </a:rPr>
                        <a:t>Deep Crack </a:t>
                      </a:r>
                      <a:r>
                        <a:rPr kumimoji="0" lang="de-DE" sz="1700" b="0" i="0" u="none" strike="noStrike" cap="none" normalizeH="0" baseline="0">
                          <a:ln>
                            <a:noFill/>
                          </a:ln>
                          <a:solidFill>
                            <a:schemeClr val="tx1"/>
                          </a:solidFill>
                          <a:effectLst/>
                          <a:latin typeface="Arial" charset="0"/>
                        </a:rPr>
                        <a:t>built by the Electronic Frontier Foundation (EFF): 1800 ASICs with 24 search engines each, </a:t>
                      </a:r>
                      <a:br>
                        <a:rPr kumimoji="0" lang="de-DE" sz="1700" b="0" i="0" u="none" strike="noStrike" cap="none" normalizeH="0" baseline="0">
                          <a:ln>
                            <a:noFill/>
                          </a:ln>
                          <a:solidFill>
                            <a:schemeClr val="tx1"/>
                          </a:solidFill>
                          <a:effectLst/>
                          <a:latin typeface="Arial" charset="0"/>
                        </a:rPr>
                      </a:br>
                      <a:r>
                        <a:rPr kumimoji="0" lang="de-DE" sz="1700" b="0" i="0" u="none" strike="noStrike" cap="none" normalizeH="0" baseline="0">
                          <a:ln>
                            <a:noFill/>
                          </a:ln>
                          <a:solidFill>
                            <a:schemeClr val="tx1"/>
                          </a:solidFill>
                          <a:effectLst/>
                          <a:latin typeface="Arial" charset="0"/>
                        </a:rPr>
                        <a:t>Costs: $250 000, 15 days average search time (required 56h for the Challenge)</a:t>
                      </a:r>
                    </a:p>
                  </a:txBody>
                  <a:tcPr marT="48215" marB="48215"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extLst>
                  <a:ext uri="{0D108BD9-81ED-4DB2-BD59-A6C34878D82A}">
                    <a16:rowId xmlns:a16="http://schemas.microsoft.com/office/drawing/2014/main" val="10007"/>
                  </a:ext>
                </a:extLst>
              </a:tr>
              <a:tr h="707694">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Jan. 1999</a:t>
                      </a:r>
                    </a:p>
                  </a:txBody>
                  <a:tcPr marT="48215" marB="48215"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DES Challenge III broken in 22h 15min </a:t>
                      </a:r>
                      <a:br>
                        <a:rPr kumimoji="0" lang="de-DE" sz="1700" b="0" i="0" u="none" strike="noStrike" cap="none" normalizeH="0" baseline="0">
                          <a:ln>
                            <a:noFill/>
                          </a:ln>
                          <a:solidFill>
                            <a:schemeClr val="tx1"/>
                          </a:solidFill>
                          <a:effectLst/>
                          <a:latin typeface="Arial" charset="0"/>
                        </a:rPr>
                      </a:br>
                      <a:r>
                        <a:rPr kumimoji="0" lang="de-DE" sz="1700" b="0" i="0" u="none" strike="noStrike" cap="none" normalizeH="0" baseline="0">
                          <a:ln>
                            <a:noFill/>
                          </a:ln>
                          <a:solidFill>
                            <a:schemeClr val="tx1"/>
                          </a:solidFill>
                          <a:effectLst/>
                          <a:latin typeface="Arial" charset="0"/>
                        </a:rPr>
                        <a:t>(distributed search assisted by </a:t>
                      </a:r>
                      <a:r>
                        <a:rPr kumimoji="0" lang="de-DE" sz="1700" b="0" i="1" u="none" strike="noStrike" cap="none" normalizeH="0" baseline="0">
                          <a:ln>
                            <a:noFill/>
                          </a:ln>
                          <a:solidFill>
                            <a:schemeClr val="tx1"/>
                          </a:solidFill>
                          <a:effectLst/>
                          <a:latin typeface="Arial" charset="0"/>
                        </a:rPr>
                        <a:t>Deep Crack</a:t>
                      </a:r>
                      <a:r>
                        <a:rPr kumimoji="0" lang="de-DE" sz="1700" b="0" i="0" u="none" strike="noStrike" cap="none" normalizeH="0" baseline="0">
                          <a:ln>
                            <a:noFill/>
                          </a:ln>
                          <a:solidFill>
                            <a:schemeClr val="tx1"/>
                          </a:solidFill>
                          <a:effectLst/>
                          <a:latin typeface="Arial" charset="0"/>
                        </a:rPr>
                        <a:t>)</a:t>
                      </a:r>
                    </a:p>
                  </a:txBody>
                  <a:tcPr marT="48215" marB="48215"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alpha val="50195"/>
                      </a:schemeClr>
                    </a:solidFill>
                  </a:tcPr>
                </a:tc>
                <a:extLst>
                  <a:ext uri="{0D108BD9-81ED-4DB2-BD59-A6C34878D82A}">
                    <a16:rowId xmlns:a16="http://schemas.microsoft.com/office/drawing/2014/main" val="10008"/>
                  </a:ext>
                </a:extLst>
              </a:tr>
              <a:tr h="1029130">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a:ln>
                            <a:noFill/>
                          </a:ln>
                          <a:solidFill>
                            <a:schemeClr val="tx1"/>
                          </a:solidFill>
                          <a:effectLst/>
                          <a:latin typeface="Arial" charset="0"/>
                        </a:rPr>
                        <a:t>2006-2008</a:t>
                      </a:r>
                    </a:p>
                  </a:txBody>
                  <a:tcPr marT="48215" marB="48215"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chemeClr val="bg1">
                        <a:alpha val="50195"/>
                      </a:schemeClr>
                    </a:solid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700" b="0" i="0" u="none" strike="noStrike" cap="none" normalizeH="0" baseline="0" dirty="0" err="1">
                          <a:ln>
                            <a:noFill/>
                          </a:ln>
                          <a:solidFill>
                            <a:schemeClr val="tx1"/>
                          </a:solidFill>
                          <a:effectLst/>
                          <a:latin typeface="Arial" charset="0"/>
                        </a:rPr>
                        <a:t>Reconfigurable</a:t>
                      </a:r>
                      <a:r>
                        <a:rPr kumimoji="0" lang="de-DE" sz="1700" b="0" i="0" u="none" strike="noStrike" cap="none" normalizeH="0" baseline="0" dirty="0">
                          <a:ln>
                            <a:noFill/>
                          </a:ln>
                          <a:solidFill>
                            <a:schemeClr val="tx1"/>
                          </a:solidFill>
                          <a:effectLst/>
                          <a:latin typeface="Arial" charset="0"/>
                        </a:rPr>
                        <a:t> </a:t>
                      </a:r>
                      <a:r>
                        <a:rPr kumimoji="0" lang="de-DE" sz="1700" b="0" i="0" u="none" strike="noStrike" cap="none" normalizeH="0" baseline="0" dirty="0" err="1">
                          <a:ln>
                            <a:noFill/>
                          </a:ln>
                          <a:solidFill>
                            <a:schemeClr val="tx1"/>
                          </a:solidFill>
                          <a:effectLst/>
                          <a:latin typeface="Arial" charset="0"/>
                        </a:rPr>
                        <a:t>key</a:t>
                      </a:r>
                      <a:r>
                        <a:rPr kumimoji="0" lang="de-DE" sz="1700" b="0" i="0" u="none" strike="noStrike" cap="none" normalizeH="0" baseline="0" dirty="0">
                          <a:ln>
                            <a:noFill/>
                          </a:ln>
                          <a:solidFill>
                            <a:schemeClr val="tx1"/>
                          </a:solidFill>
                          <a:effectLst/>
                          <a:latin typeface="Arial" charset="0"/>
                        </a:rPr>
                        <a:t> </a:t>
                      </a:r>
                      <a:r>
                        <a:rPr kumimoji="0" lang="de-DE" sz="1700" b="0" i="0" u="none" strike="noStrike" cap="none" normalizeH="0" baseline="0" dirty="0" err="1">
                          <a:ln>
                            <a:noFill/>
                          </a:ln>
                          <a:solidFill>
                            <a:schemeClr val="tx1"/>
                          </a:solidFill>
                          <a:effectLst/>
                          <a:latin typeface="Arial" charset="0"/>
                        </a:rPr>
                        <a:t>search</a:t>
                      </a:r>
                      <a:r>
                        <a:rPr kumimoji="0" lang="de-DE" sz="1700" b="0" i="0" u="none" strike="noStrike" cap="none" normalizeH="0" baseline="0" dirty="0">
                          <a:ln>
                            <a:noFill/>
                          </a:ln>
                          <a:solidFill>
                            <a:schemeClr val="tx1"/>
                          </a:solidFill>
                          <a:effectLst/>
                          <a:latin typeface="Arial" charset="0"/>
                        </a:rPr>
                        <a:t> </a:t>
                      </a:r>
                      <a:r>
                        <a:rPr kumimoji="0" lang="de-DE" sz="1700" b="0" i="0" u="none" strike="noStrike" cap="none" normalizeH="0" baseline="0" dirty="0" err="1">
                          <a:ln>
                            <a:noFill/>
                          </a:ln>
                          <a:solidFill>
                            <a:schemeClr val="tx1"/>
                          </a:solidFill>
                          <a:effectLst/>
                          <a:latin typeface="Arial" charset="0"/>
                        </a:rPr>
                        <a:t>machine</a:t>
                      </a:r>
                      <a:r>
                        <a:rPr kumimoji="0" lang="de-DE" sz="1700" b="0" i="0" u="none" strike="noStrike" cap="none" normalizeH="0" baseline="0" dirty="0">
                          <a:ln>
                            <a:noFill/>
                          </a:ln>
                          <a:solidFill>
                            <a:schemeClr val="tx1"/>
                          </a:solidFill>
                          <a:effectLst/>
                          <a:latin typeface="Arial" charset="0"/>
                        </a:rPr>
                        <a:t> </a:t>
                      </a:r>
                      <a:r>
                        <a:rPr kumimoji="0" lang="de-DE" sz="1700" b="0" i="1" u="none" strike="noStrike" cap="none" normalizeH="0" baseline="0" dirty="0">
                          <a:ln>
                            <a:noFill/>
                          </a:ln>
                          <a:solidFill>
                            <a:schemeClr val="tx1"/>
                          </a:solidFill>
                          <a:effectLst/>
                          <a:latin typeface="Arial" charset="0"/>
                        </a:rPr>
                        <a:t>COPACOBANA</a:t>
                      </a:r>
                      <a:r>
                        <a:rPr kumimoji="0" lang="de-DE" sz="1700" b="0" i="0" u="none" strike="noStrike" cap="none" normalizeH="0" baseline="0" dirty="0">
                          <a:ln>
                            <a:noFill/>
                          </a:ln>
                          <a:solidFill>
                            <a:schemeClr val="tx1"/>
                          </a:solidFill>
                          <a:effectLst/>
                          <a:latin typeface="Arial" charset="0"/>
                        </a:rPr>
                        <a:t> </a:t>
                      </a:r>
                      <a:r>
                        <a:rPr kumimoji="0" lang="de-DE" sz="1700" b="0" i="0" u="none" strike="noStrike" cap="none" normalizeH="0" baseline="0" dirty="0" err="1">
                          <a:ln>
                            <a:noFill/>
                          </a:ln>
                          <a:solidFill>
                            <a:schemeClr val="tx1"/>
                          </a:solidFill>
                          <a:effectLst/>
                          <a:latin typeface="Arial" charset="0"/>
                        </a:rPr>
                        <a:t>developed</a:t>
                      </a:r>
                      <a:r>
                        <a:rPr kumimoji="0" lang="de-DE" sz="1700" b="0" i="0" u="none" strike="noStrike" cap="none" normalizeH="0" baseline="0" dirty="0">
                          <a:ln>
                            <a:noFill/>
                          </a:ln>
                          <a:solidFill>
                            <a:schemeClr val="tx1"/>
                          </a:solidFill>
                          <a:effectLst/>
                          <a:latin typeface="Arial" charset="0"/>
                        </a:rPr>
                        <a:t> at </a:t>
                      </a:r>
                      <a:r>
                        <a:rPr kumimoji="0" lang="de-DE" sz="1700" b="0" i="0" u="none" strike="noStrike" cap="none" normalizeH="0" baseline="0" dirty="0" err="1">
                          <a:ln>
                            <a:noFill/>
                          </a:ln>
                          <a:solidFill>
                            <a:schemeClr val="tx1"/>
                          </a:solidFill>
                          <a:effectLst/>
                          <a:latin typeface="Arial" charset="0"/>
                        </a:rPr>
                        <a:t>the</a:t>
                      </a:r>
                      <a:r>
                        <a:rPr kumimoji="0" lang="de-DE" sz="1700" b="0" i="0" u="none" strike="noStrike" cap="none" normalizeH="0" baseline="0" dirty="0">
                          <a:ln>
                            <a:noFill/>
                          </a:ln>
                          <a:solidFill>
                            <a:schemeClr val="tx1"/>
                          </a:solidFill>
                          <a:effectLst/>
                          <a:latin typeface="Arial" charset="0"/>
                        </a:rPr>
                        <a:t> </a:t>
                      </a:r>
                      <a:r>
                        <a:rPr kumimoji="0" lang="de-DE" sz="1700" b="0" i="0" u="none" strike="noStrike" cap="none" normalizeH="0" baseline="0" dirty="0" err="1">
                          <a:ln>
                            <a:noFill/>
                          </a:ln>
                          <a:solidFill>
                            <a:schemeClr val="tx1"/>
                          </a:solidFill>
                          <a:effectLst/>
                          <a:latin typeface="Arial" charset="0"/>
                        </a:rPr>
                        <a:t>Universities</a:t>
                      </a:r>
                      <a:r>
                        <a:rPr kumimoji="0" lang="de-DE" sz="1700" b="0" i="0" u="none" strike="noStrike" cap="none" normalizeH="0" baseline="0" dirty="0">
                          <a:ln>
                            <a:noFill/>
                          </a:ln>
                          <a:solidFill>
                            <a:schemeClr val="tx1"/>
                          </a:solidFill>
                          <a:effectLst/>
                          <a:latin typeface="Arial" charset="0"/>
                        </a:rPr>
                        <a:t> in Bochum and Kiel (Germany), </a:t>
                      </a:r>
                      <a:r>
                        <a:rPr kumimoji="0" lang="de-DE" sz="1700" b="0" i="0" u="none" strike="noStrike" cap="none" normalizeH="0" baseline="0" dirty="0" err="1">
                          <a:ln>
                            <a:noFill/>
                          </a:ln>
                          <a:solidFill>
                            <a:schemeClr val="tx1"/>
                          </a:solidFill>
                          <a:effectLst/>
                          <a:latin typeface="Arial" charset="0"/>
                        </a:rPr>
                        <a:t>uses</a:t>
                      </a:r>
                      <a:r>
                        <a:rPr kumimoji="0" lang="de-DE" sz="1700" b="0" i="0" u="none" strike="noStrike" cap="none" normalizeH="0" baseline="0" dirty="0">
                          <a:ln>
                            <a:noFill/>
                          </a:ln>
                          <a:solidFill>
                            <a:schemeClr val="tx1"/>
                          </a:solidFill>
                          <a:effectLst/>
                          <a:latin typeface="Arial" charset="0"/>
                        </a:rPr>
                        <a:t> 120 FPGAs </a:t>
                      </a:r>
                      <a:r>
                        <a:rPr kumimoji="0" lang="de-DE" sz="1700" b="0" i="0" u="none" strike="noStrike" cap="none" normalizeH="0" baseline="0" dirty="0" err="1">
                          <a:ln>
                            <a:noFill/>
                          </a:ln>
                          <a:solidFill>
                            <a:schemeClr val="tx1"/>
                          </a:solidFill>
                          <a:effectLst/>
                          <a:latin typeface="Arial" charset="0"/>
                        </a:rPr>
                        <a:t>to</a:t>
                      </a:r>
                      <a:r>
                        <a:rPr kumimoji="0" lang="de-DE" sz="1700" b="0" i="0" u="none" strike="noStrike" cap="none" normalizeH="0" baseline="0" dirty="0">
                          <a:ln>
                            <a:noFill/>
                          </a:ln>
                          <a:solidFill>
                            <a:schemeClr val="tx1"/>
                          </a:solidFill>
                          <a:effectLst/>
                          <a:latin typeface="Arial" charset="0"/>
                        </a:rPr>
                        <a:t> break DES in 6.4 </a:t>
                      </a:r>
                      <a:r>
                        <a:rPr kumimoji="0" lang="de-DE" sz="1700" b="0" i="0" u="none" strike="noStrike" cap="none" normalizeH="0" baseline="0" dirty="0" err="1">
                          <a:ln>
                            <a:noFill/>
                          </a:ln>
                          <a:solidFill>
                            <a:schemeClr val="tx1"/>
                          </a:solidFill>
                          <a:effectLst/>
                          <a:latin typeface="Arial" charset="0"/>
                        </a:rPr>
                        <a:t>days</a:t>
                      </a:r>
                      <a:r>
                        <a:rPr kumimoji="0" lang="de-DE" sz="1700" b="0" i="0" u="none" strike="noStrike" cap="none" normalizeH="0" baseline="0" dirty="0">
                          <a:ln>
                            <a:noFill/>
                          </a:ln>
                          <a:solidFill>
                            <a:schemeClr val="tx1"/>
                          </a:solidFill>
                          <a:effectLst/>
                          <a:latin typeface="Arial" charset="0"/>
                        </a:rPr>
                        <a:t> (</a:t>
                      </a:r>
                      <a:r>
                        <a:rPr kumimoji="0" lang="de-DE" sz="1700" b="0" i="0" u="none" strike="noStrike" cap="none" normalizeH="0" baseline="0" dirty="0" err="1">
                          <a:ln>
                            <a:noFill/>
                          </a:ln>
                          <a:solidFill>
                            <a:schemeClr val="tx1"/>
                          </a:solidFill>
                          <a:effectLst/>
                          <a:latin typeface="Arial" charset="0"/>
                        </a:rPr>
                        <a:t>avg</a:t>
                      </a:r>
                      <a:r>
                        <a:rPr kumimoji="0" lang="de-DE" sz="1700" b="0" i="0" u="none" strike="noStrike" cap="none" normalizeH="0" baseline="0" dirty="0">
                          <a:ln>
                            <a:noFill/>
                          </a:ln>
                          <a:solidFill>
                            <a:schemeClr val="tx1"/>
                          </a:solidFill>
                          <a:effectLst/>
                          <a:latin typeface="Arial" charset="0"/>
                        </a:rPr>
                        <a:t>.) at a </a:t>
                      </a:r>
                      <a:r>
                        <a:rPr kumimoji="0" lang="de-DE" sz="1700" b="0" i="0" u="none" strike="noStrike" cap="none" normalizeH="0" baseline="0" dirty="0" err="1">
                          <a:ln>
                            <a:noFill/>
                          </a:ln>
                          <a:solidFill>
                            <a:schemeClr val="tx1"/>
                          </a:solidFill>
                          <a:effectLst/>
                          <a:latin typeface="Arial" charset="0"/>
                        </a:rPr>
                        <a:t>cost</a:t>
                      </a:r>
                      <a:r>
                        <a:rPr kumimoji="0" lang="de-DE" sz="1700" b="0" i="0" u="none" strike="noStrike" cap="none" normalizeH="0" baseline="0" dirty="0">
                          <a:ln>
                            <a:noFill/>
                          </a:ln>
                          <a:solidFill>
                            <a:schemeClr val="tx1"/>
                          </a:solidFill>
                          <a:effectLst/>
                          <a:latin typeface="Arial" charset="0"/>
                        </a:rPr>
                        <a:t> of $10 000.</a:t>
                      </a:r>
                    </a:p>
                  </a:txBody>
                  <a:tcPr marT="48215" marB="48215"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alpha val="50195"/>
                      </a:schemeClr>
                    </a:solidFill>
                  </a:tcPr>
                </a:tc>
                <a:extLst>
                  <a:ext uri="{0D108BD9-81ED-4DB2-BD59-A6C34878D82A}">
                    <a16:rowId xmlns:a16="http://schemas.microsoft.com/office/drawing/2014/main" val="10009"/>
                  </a:ext>
                </a:extLst>
              </a:tr>
            </a:tbl>
          </a:graphicData>
        </a:graphic>
      </p:graphicFrame>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Foliennummernplatzhalter 5">
            <a:extLst>
              <a:ext uri="{FF2B5EF4-FFF2-40B4-BE49-F238E27FC236}">
                <a16:creationId xmlns:a16="http://schemas.microsoft.com/office/drawing/2014/main" id="{1090FAD7-C3A9-0F15-E684-5066CE02D4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FCDEBCE5-250E-2646-A0AA-3072AB6CBE17}" type="slidenum">
              <a:rPr lang="de-DE" altLang="zh-CN" sz="900">
                <a:solidFill>
                  <a:srgbClr val="394073"/>
                </a:solidFill>
              </a:rPr>
              <a:pPr/>
              <a:t>35</a:t>
            </a:fld>
            <a:r>
              <a:rPr lang="de-DE" altLang="zh-CN" sz="900">
                <a:solidFill>
                  <a:srgbClr val="394073"/>
                </a:solidFill>
              </a:rPr>
              <a:t>/29</a:t>
            </a:r>
          </a:p>
        </p:txBody>
      </p:sp>
      <p:sp>
        <p:nvSpPr>
          <p:cNvPr id="72707" name="Rectangle 59">
            <a:extLst>
              <a:ext uri="{FF2B5EF4-FFF2-40B4-BE49-F238E27FC236}">
                <a16:creationId xmlns:a16="http://schemas.microsoft.com/office/drawing/2014/main" id="{D6B284B6-3B51-F499-39DC-50E167EAA263}"/>
              </a:ext>
            </a:extLst>
          </p:cNvPr>
          <p:cNvSpPr>
            <a:spLocks noChangeArrowheads="1"/>
          </p:cNvSpPr>
          <p:nvPr/>
        </p:nvSpPr>
        <p:spPr bwMode="auto">
          <a:xfrm>
            <a:off x="395288" y="1196975"/>
            <a:ext cx="7467600" cy="484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04800" indent="-304800">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nSpc>
                <a:spcPct val="125000"/>
              </a:lnSpc>
              <a:spcBef>
                <a:spcPct val="25000"/>
              </a:spcBef>
              <a:buClr>
                <a:srgbClr val="007AC2"/>
              </a:buClr>
              <a:buSzPct val="120000"/>
              <a:buFontTx/>
              <a:buChar char="•"/>
            </a:pPr>
            <a:r>
              <a:rPr lang="de-DE" altLang="zh-CN" sz="1600"/>
              <a:t>Triple encryption using DES is often used in practice to extend the effective key length of DES to 112. For more info on multiple encryption and effective key lengths see Chapter 5 of </a:t>
            </a:r>
            <a:r>
              <a:rPr lang="de-DE" altLang="zh-CN" sz="1600" i="1"/>
              <a:t>Understanding Cryptography.</a:t>
            </a:r>
          </a:p>
          <a:p>
            <a:pPr>
              <a:lnSpc>
                <a:spcPct val="125000"/>
              </a:lnSpc>
              <a:spcBef>
                <a:spcPct val="25000"/>
              </a:spcBef>
              <a:buClr>
                <a:srgbClr val="007AC2"/>
              </a:buClr>
              <a:buSzPct val="120000"/>
              <a:buFontTx/>
              <a:buChar char="•"/>
            </a:pPr>
            <a:endParaRPr lang="de-DE" altLang="zh-CN" sz="1600" i="1"/>
          </a:p>
          <a:p>
            <a:pPr>
              <a:lnSpc>
                <a:spcPct val="125000"/>
              </a:lnSpc>
              <a:spcBef>
                <a:spcPct val="25000"/>
              </a:spcBef>
              <a:buClr>
                <a:srgbClr val="007AC2"/>
              </a:buClr>
              <a:buSzPct val="120000"/>
              <a:buFontTx/>
              <a:buChar char="•"/>
            </a:pPr>
            <a:endParaRPr lang="de-DE" altLang="zh-CN" sz="1600" i="1"/>
          </a:p>
          <a:p>
            <a:pPr>
              <a:lnSpc>
                <a:spcPct val="125000"/>
              </a:lnSpc>
              <a:spcBef>
                <a:spcPct val="25000"/>
              </a:spcBef>
              <a:buClr>
                <a:srgbClr val="007AC2"/>
              </a:buClr>
              <a:buSzPct val="120000"/>
              <a:buFontTx/>
              <a:buChar char="•"/>
            </a:pPr>
            <a:endParaRPr lang="de-DE" altLang="zh-CN" sz="1600" i="1"/>
          </a:p>
          <a:p>
            <a:pPr>
              <a:lnSpc>
                <a:spcPct val="125000"/>
              </a:lnSpc>
              <a:spcBef>
                <a:spcPct val="25000"/>
              </a:spcBef>
              <a:buClr>
                <a:srgbClr val="007AC2"/>
              </a:buClr>
              <a:buSzPct val="120000"/>
              <a:buFontTx/>
              <a:buChar char="•"/>
            </a:pPr>
            <a:endParaRPr lang="de-DE" altLang="zh-CN" sz="1600" i="1"/>
          </a:p>
          <a:p>
            <a:pPr>
              <a:lnSpc>
                <a:spcPct val="125000"/>
              </a:lnSpc>
              <a:spcBef>
                <a:spcPct val="25000"/>
              </a:spcBef>
              <a:buClr>
                <a:srgbClr val="007AC2"/>
              </a:buClr>
              <a:buSzPct val="120000"/>
              <a:buFontTx/>
              <a:buChar char="•"/>
            </a:pPr>
            <a:endParaRPr lang="de-DE" altLang="zh-CN" sz="1600" i="1"/>
          </a:p>
          <a:p>
            <a:pPr>
              <a:lnSpc>
                <a:spcPct val="125000"/>
              </a:lnSpc>
              <a:spcBef>
                <a:spcPct val="25000"/>
              </a:spcBef>
              <a:buClr>
                <a:srgbClr val="007AC2"/>
              </a:buClr>
              <a:buSzPct val="120000"/>
              <a:buFontTx/>
              <a:buChar char="•"/>
            </a:pPr>
            <a:endParaRPr lang="de-DE" altLang="zh-CN" sz="1600" i="1"/>
          </a:p>
          <a:p>
            <a:pPr>
              <a:lnSpc>
                <a:spcPct val="125000"/>
              </a:lnSpc>
              <a:spcBef>
                <a:spcPct val="25000"/>
              </a:spcBef>
              <a:buClr>
                <a:srgbClr val="007AC2"/>
              </a:buClr>
              <a:buSzPct val="120000"/>
              <a:buFontTx/>
              <a:buChar char="•"/>
            </a:pPr>
            <a:r>
              <a:rPr lang="de-DE" altLang="zh-CN" sz="1600"/>
              <a:t>Alternative version of </a:t>
            </a:r>
            <a:r>
              <a:rPr lang="de-DE" altLang="zh-CN" sz="1600" i="1"/>
              <a:t>3DES:</a:t>
            </a:r>
            <a:br>
              <a:rPr lang="de-DE" altLang="zh-CN" sz="1600" i="1"/>
            </a:br>
            <a:br>
              <a:rPr lang="de-DE" altLang="zh-CN" sz="1600" i="1"/>
            </a:br>
            <a:r>
              <a:rPr lang="de-DE" altLang="zh-CN" sz="1600"/>
              <a:t>Advantage: choosing </a:t>
            </a:r>
            <a:r>
              <a:rPr lang="de-DE" altLang="zh-CN" sz="1600" i="1"/>
              <a:t>k</a:t>
            </a:r>
            <a:r>
              <a:rPr lang="de-DE" altLang="zh-CN" sz="1600" i="1" baseline="-25000"/>
              <a:t>1</a:t>
            </a:r>
            <a:r>
              <a:rPr lang="de-DE" altLang="zh-CN" sz="1600"/>
              <a:t>=</a:t>
            </a:r>
            <a:r>
              <a:rPr lang="de-DE" altLang="zh-CN" sz="1600" i="1"/>
              <a:t>k</a:t>
            </a:r>
            <a:r>
              <a:rPr lang="de-DE" altLang="zh-CN" sz="1600" i="1" baseline="-25000"/>
              <a:t>2</a:t>
            </a:r>
            <a:r>
              <a:rPr lang="de-DE" altLang="zh-CN" sz="1600"/>
              <a:t>=</a:t>
            </a:r>
            <a:r>
              <a:rPr lang="de-DE" altLang="zh-CN" sz="1600" i="1"/>
              <a:t>k</a:t>
            </a:r>
            <a:r>
              <a:rPr lang="de-DE" altLang="zh-CN" sz="1600" i="1" baseline="-25000"/>
              <a:t>3</a:t>
            </a:r>
            <a:r>
              <a:rPr lang="de-DE" altLang="zh-CN" sz="1600"/>
              <a:t> performs single DES encryption.</a:t>
            </a:r>
          </a:p>
          <a:p>
            <a:pPr>
              <a:lnSpc>
                <a:spcPct val="125000"/>
              </a:lnSpc>
              <a:spcBef>
                <a:spcPct val="25000"/>
              </a:spcBef>
              <a:buClr>
                <a:srgbClr val="007AC2"/>
              </a:buClr>
              <a:buSzPct val="120000"/>
              <a:buFontTx/>
              <a:buChar char="•"/>
            </a:pPr>
            <a:r>
              <a:rPr lang="de-DE" altLang="zh-CN" sz="1600"/>
              <a:t>No practical attack known today.</a:t>
            </a:r>
          </a:p>
          <a:p>
            <a:pPr>
              <a:lnSpc>
                <a:spcPct val="125000"/>
              </a:lnSpc>
              <a:spcBef>
                <a:spcPct val="25000"/>
              </a:spcBef>
              <a:buClr>
                <a:srgbClr val="007AC2"/>
              </a:buClr>
              <a:buSzPct val="120000"/>
              <a:buFontTx/>
              <a:buChar char="•"/>
            </a:pPr>
            <a:r>
              <a:rPr lang="de-DE" altLang="zh-CN" sz="1600"/>
              <a:t>Used in many legacy applications, i.e., in banking systems.</a:t>
            </a:r>
            <a:endParaRPr lang="de-DE" altLang="zh-CN" sz="1600" b="1"/>
          </a:p>
        </p:txBody>
      </p:sp>
      <p:sp>
        <p:nvSpPr>
          <p:cNvPr id="72708" name="Rectangle 2">
            <a:extLst>
              <a:ext uri="{FF2B5EF4-FFF2-40B4-BE49-F238E27FC236}">
                <a16:creationId xmlns:a16="http://schemas.microsoft.com/office/drawing/2014/main" id="{4C62E748-4FB5-4BD7-9751-C9345A236874}"/>
              </a:ext>
            </a:extLst>
          </p:cNvPr>
          <p:cNvSpPr>
            <a:spLocks noGrp="1" noChangeArrowheads="1"/>
          </p:cNvSpPr>
          <p:nvPr>
            <p:ph type="title"/>
          </p:nvPr>
        </p:nvSpPr>
        <p:spPr/>
        <p:txBody>
          <a:bodyPr/>
          <a:lstStyle/>
          <a:p>
            <a:r>
              <a:rPr lang="de-DE" altLang="zh-CN">
                <a:ea typeface="ＭＳ Ｐゴシック" panose="020B0600070205080204" pitchFamily="34" charset="-128"/>
              </a:rPr>
              <a:t>Triple DES – 3DES</a:t>
            </a:r>
          </a:p>
        </p:txBody>
      </p:sp>
      <p:pic>
        <p:nvPicPr>
          <p:cNvPr id="72709" name="Picture 55">
            <a:extLst>
              <a:ext uri="{FF2B5EF4-FFF2-40B4-BE49-F238E27FC236}">
                <a16:creationId xmlns:a16="http://schemas.microsoft.com/office/drawing/2014/main" id="{09E37DC5-2E58-93E6-409B-51D1E6B64F16}"/>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979613" y="2751138"/>
            <a:ext cx="4392612" cy="1398587"/>
          </a:xfrm>
          <a:noFill/>
        </p:spPr>
      </p:pic>
      <p:pic>
        <p:nvPicPr>
          <p:cNvPr id="72710" name="Picture 54">
            <a:extLst>
              <a:ext uri="{FF2B5EF4-FFF2-40B4-BE49-F238E27FC236}">
                <a16:creationId xmlns:a16="http://schemas.microsoft.com/office/drawing/2014/main" id="{3A4860DD-9476-D31E-6A6B-F4E2738CCABF}"/>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2700338" y="2397125"/>
            <a:ext cx="2967037" cy="311150"/>
          </a:xfrm>
        </p:spPr>
      </p:pic>
      <p:pic>
        <p:nvPicPr>
          <p:cNvPr id="72711" name="Picture 57">
            <a:extLst>
              <a:ext uri="{FF2B5EF4-FFF2-40B4-BE49-F238E27FC236}">
                <a16:creationId xmlns:a16="http://schemas.microsoft.com/office/drawing/2014/main" id="{CE91F54C-F4A6-DE30-F176-732AA959864F}"/>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3476625" y="4364038"/>
            <a:ext cx="2967038" cy="433387"/>
          </a:xfrm>
          <a:noFill/>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Foliennummernplatzhalter 4">
            <a:extLst>
              <a:ext uri="{FF2B5EF4-FFF2-40B4-BE49-F238E27FC236}">
                <a16:creationId xmlns:a16="http://schemas.microsoft.com/office/drawing/2014/main" id="{58693BF4-3F80-EA7E-5B7B-8A21AC09D35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9F02D18-702A-9649-BE6A-3110BA204BF7}" type="slidenum">
              <a:rPr lang="de-DE" altLang="zh-CN" sz="900">
                <a:solidFill>
                  <a:srgbClr val="394073"/>
                </a:solidFill>
              </a:rPr>
              <a:pPr/>
              <a:t>36</a:t>
            </a:fld>
            <a:r>
              <a:rPr lang="de-DE" altLang="zh-CN" sz="900">
                <a:solidFill>
                  <a:srgbClr val="394073"/>
                </a:solidFill>
              </a:rPr>
              <a:t>/29</a:t>
            </a:r>
          </a:p>
        </p:txBody>
      </p:sp>
      <p:sp>
        <p:nvSpPr>
          <p:cNvPr id="74754" name="Fußzeilenplatzhalter 5">
            <a:extLst>
              <a:ext uri="{FF2B5EF4-FFF2-40B4-BE49-F238E27FC236}">
                <a16:creationId xmlns:a16="http://schemas.microsoft.com/office/drawing/2014/main" id="{7C00839C-7FC4-9A99-F37D-0DFD5D4F5A7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de-DE" altLang="zh-CN" sz="1000"/>
              <a:t>Chapter 3 of </a:t>
            </a:r>
            <a:r>
              <a:rPr lang="de-DE" altLang="zh-CN" sz="1000" i="1"/>
              <a:t>Understanding Cryptography</a:t>
            </a:r>
            <a:r>
              <a:rPr lang="de-DE" altLang="zh-CN" sz="1000"/>
              <a:t> by Christof Paar and Jan Pelzl</a:t>
            </a:r>
          </a:p>
        </p:txBody>
      </p:sp>
      <p:sp>
        <p:nvSpPr>
          <p:cNvPr id="74755" name="Rectangle 4">
            <a:extLst>
              <a:ext uri="{FF2B5EF4-FFF2-40B4-BE49-F238E27FC236}">
                <a16:creationId xmlns:a16="http://schemas.microsoft.com/office/drawing/2014/main" id="{FC565C59-07B0-1DB9-B899-BF7A68C18E54}"/>
              </a:ext>
            </a:extLst>
          </p:cNvPr>
          <p:cNvSpPr>
            <a:spLocks noGrp="1" noChangeArrowheads="1"/>
          </p:cNvSpPr>
          <p:nvPr>
            <p:ph type="title"/>
          </p:nvPr>
        </p:nvSpPr>
        <p:spPr/>
        <p:txBody>
          <a:bodyPr/>
          <a:lstStyle/>
          <a:p>
            <a:r>
              <a:rPr lang="de-DE" altLang="zh-CN">
                <a:ea typeface="ＭＳ Ｐゴシック" panose="020B0600070205080204" pitchFamily="34" charset="-128"/>
              </a:rPr>
              <a:t>Alternatives to DES</a:t>
            </a:r>
          </a:p>
        </p:txBody>
      </p:sp>
      <p:graphicFrame>
        <p:nvGraphicFramePr>
          <p:cNvPr id="510033" name="Group 81">
            <a:extLst>
              <a:ext uri="{FF2B5EF4-FFF2-40B4-BE49-F238E27FC236}">
                <a16:creationId xmlns:a16="http://schemas.microsoft.com/office/drawing/2014/main" id="{12E6F477-7DE0-5480-C2DC-6EDAF2280BF5}"/>
              </a:ext>
            </a:extLst>
          </p:cNvPr>
          <p:cNvGraphicFramePr>
            <a:graphicFrameLocks noGrp="1"/>
          </p:cNvGraphicFramePr>
          <p:nvPr>
            <p:ph sz="half" idx="2"/>
          </p:nvPr>
        </p:nvGraphicFramePr>
        <p:xfrm>
          <a:off x="468313" y="1341438"/>
          <a:ext cx="7632700" cy="3492500"/>
        </p:xfrm>
        <a:graphic>
          <a:graphicData uri="http://schemas.openxmlformats.org/drawingml/2006/table">
            <a:tbl>
              <a:tblPr/>
              <a:tblGrid>
                <a:gridCol w="1655762">
                  <a:extLst>
                    <a:ext uri="{9D8B030D-6E8A-4147-A177-3AD203B41FA5}">
                      <a16:colId xmlns:a16="http://schemas.microsoft.com/office/drawing/2014/main" val="20000"/>
                    </a:ext>
                  </a:extLst>
                </a:gridCol>
                <a:gridCol w="982663">
                  <a:extLst>
                    <a:ext uri="{9D8B030D-6E8A-4147-A177-3AD203B41FA5}">
                      <a16:colId xmlns:a16="http://schemas.microsoft.com/office/drawing/2014/main" val="20001"/>
                    </a:ext>
                  </a:extLst>
                </a:gridCol>
                <a:gridCol w="1903412">
                  <a:extLst>
                    <a:ext uri="{9D8B030D-6E8A-4147-A177-3AD203B41FA5}">
                      <a16:colId xmlns:a16="http://schemas.microsoft.com/office/drawing/2014/main" val="20002"/>
                    </a:ext>
                  </a:extLst>
                </a:gridCol>
                <a:gridCol w="3090863">
                  <a:extLst>
                    <a:ext uri="{9D8B030D-6E8A-4147-A177-3AD203B41FA5}">
                      <a16:colId xmlns:a16="http://schemas.microsoft.com/office/drawing/2014/main" val="20003"/>
                    </a:ext>
                  </a:extLst>
                </a:gridCol>
              </a:tblGrid>
              <a:tr h="398457">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dirty="0" err="1">
                          <a:ln>
                            <a:noFill/>
                          </a:ln>
                          <a:solidFill>
                            <a:schemeClr val="tx1"/>
                          </a:solidFill>
                          <a:effectLst/>
                          <a:latin typeface="Arial" charset="0"/>
                        </a:rPr>
                        <a:t>Algorithm</a:t>
                      </a:r>
                      <a:endParaRPr kumimoji="0" lang="de-DE" sz="1600" b="0" i="0" u="none" strike="noStrike" cap="none" normalizeH="0" baseline="0" dirty="0">
                        <a:ln>
                          <a:noFill/>
                        </a:ln>
                        <a:solidFill>
                          <a:schemeClr val="tx1"/>
                        </a:solidFill>
                        <a:effectLst/>
                        <a:latin typeface="Arial" charset="0"/>
                      </a:endParaRPr>
                    </a:p>
                  </a:txBody>
                  <a:tcPr marL="90000" marR="90000" marT="46807" marB="46807" anchor="ctr" anchorCtr="1"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I/O Bit</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key lengths</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remarks</a:t>
                      </a:r>
                    </a:p>
                  </a:txBody>
                  <a:tcPr marL="90000" marR="90000" marT="46807" marB="46807" anchor="ctr" anchorCtr="1"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3301">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AES / Rijndael</a:t>
                      </a:r>
                    </a:p>
                  </a:txBody>
                  <a:tcPr marL="90000" marR="90000" marT="46807" marB="46807" anchor="ctr" anchorCtr="1"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128/192/256</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DES ''replacement'', </a:t>
                      </a:r>
                      <a:br>
                        <a:rPr kumimoji="0" lang="de-DE" sz="1600" b="0" i="0" u="none" strike="noStrike" cap="none" normalizeH="0" baseline="0">
                          <a:ln>
                            <a:noFill/>
                          </a:ln>
                          <a:solidFill>
                            <a:schemeClr val="tx1"/>
                          </a:solidFill>
                          <a:effectLst/>
                          <a:latin typeface="Arial" charset="0"/>
                        </a:rPr>
                      </a:br>
                      <a:r>
                        <a:rPr kumimoji="0" lang="de-DE" sz="1600" b="0" i="0" u="none" strike="noStrike" cap="none" normalizeH="0" baseline="0">
                          <a:ln>
                            <a:noFill/>
                          </a:ln>
                          <a:solidFill>
                            <a:schemeClr val="tx1"/>
                          </a:solidFill>
                          <a:effectLst/>
                          <a:latin typeface="Arial" charset="0"/>
                        </a:rPr>
                        <a:t>worldwide used standard</a:t>
                      </a:r>
                    </a:p>
                  </a:txBody>
                  <a:tcPr marL="90000" marR="90000" marT="46807" marB="46807" anchor="ctr" anchorCtr="1"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57">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Triple DES</a:t>
                      </a:r>
                    </a:p>
                  </a:txBody>
                  <a:tcPr marL="90000" marR="90000" marT="46807" marB="46807"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64</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112 (effective)</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conservative choice</a:t>
                      </a:r>
                    </a:p>
                  </a:txBody>
                  <a:tcPr marL="90000" marR="90000" marT="46807" marB="46807"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457">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Mars</a:t>
                      </a:r>
                    </a:p>
                  </a:txBody>
                  <a:tcPr marL="90000" marR="90000" marT="46807" marB="46807"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128/192/256</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AES finalist</a:t>
                      </a:r>
                    </a:p>
                  </a:txBody>
                  <a:tcPr marL="90000" marR="90000" marT="46807" marB="46807"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57">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RC6</a:t>
                      </a:r>
                    </a:p>
                  </a:txBody>
                  <a:tcPr marL="90000" marR="90000" marT="46807" marB="46807"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128/192/256</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AES finalist</a:t>
                      </a:r>
                    </a:p>
                  </a:txBody>
                  <a:tcPr marL="90000" marR="90000" marT="46807" marB="46807"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8457">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Serpent</a:t>
                      </a:r>
                    </a:p>
                  </a:txBody>
                  <a:tcPr marL="90000" marR="90000" marT="46807" marB="46807"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128/192/256</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AES finalist</a:t>
                      </a:r>
                    </a:p>
                  </a:txBody>
                  <a:tcPr marL="90000" marR="90000" marT="46807" marB="46807"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8457">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Twofish</a:t>
                      </a:r>
                    </a:p>
                  </a:txBody>
                  <a:tcPr marL="90000" marR="90000" marT="46807" marB="46807"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128/192/256</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AES finalist</a:t>
                      </a:r>
                    </a:p>
                  </a:txBody>
                  <a:tcPr marL="90000" marR="90000" marT="46807" marB="46807"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8457">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IDEA</a:t>
                      </a:r>
                    </a:p>
                  </a:txBody>
                  <a:tcPr marL="90000" marR="90000" marT="46807" marB="46807"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64</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a:ln>
                            <a:noFill/>
                          </a:ln>
                          <a:solidFill>
                            <a:schemeClr val="tx1"/>
                          </a:solidFill>
                          <a:effectLst/>
                          <a:latin typeface="Arial" charset="0"/>
                        </a:rPr>
                        <a:t>128</a:t>
                      </a:r>
                    </a:p>
                  </a:txBody>
                  <a:tcPr marL="90000" marR="90000" marT="46807" marB="4680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0" fontAlgn="base" latinLnBrk="0" hangingPunct="0">
                        <a:lnSpc>
                          <a:spcPct val="125000"/>
                        </a:lnSpc>
                        <a:spcBef>
                          <a:spcPct val="25000"/>
                        </a:spcBef>
                        <a:spcAft>
                          <a:spcPct val="0"/>
                        </a:spcAft>
                        <a:buClr>
                          <a:srgbClr val="007AC2"/>
                        </a:buClr>
                        <a:buSzPct val="120000"/>
                        <a:buFontTx/>
                        <a:buNone/>
                        <a:tabLst/>
                      </a:pPr>
                      <a:r>
                        <a:rPr kumimoji="0" lang="de-DE" sz="1600" b="0" i="0" u="none" strike="noStrike" cap="none" normalizeH="0" baseline="0" dirty="0">
                          <a:ln>
                            <a:noFill/>
                          </a:ln>
                          <a:solidFill>
                            <a:schemeClr val="tx1"/>
                          </a:solidFill>
                          <a:effectLst/>
                          <a:latin typeface="Arial" charset="0"/>
                        </a:rPr>
                        <a:t>(</a:t>
                      </a:r>
                      <a:r>
                        <a:rPr kumimoji="0" lang="de-DE" sz="1600" b="0" i="0" u="none" strike="noStrike" cap="none" normalizeH="0" baseline="0" dirty="0" err="1">
                          <a:ln>
                            <a:noFill/>
                          </a:ln>
                          <a:solidFill>
                            <a:schemeClr val="tx1"/>
                          </a:solidFill>
                          <a:effectLst/>
                          <a:latin typeface="Arial" charset="0"/>
                        </a:rPr>
                        <a:t>Patented</a:t>
                      </a:r>
                      <a:r>
                        <a:rPr kumimoji="0" lang="de-DE" sz="1600" b="0" i="0" u="none" strike="noStrike" cap="none" normalizeH="0" baseline="0" dirty="0">
                          <a:ln>
                            <a:noFill/>
                          </a:ln>
                          <a:solidFill>
                            <a:schemeClr val="tx1"/>
                          </a:solidFill>
                          <a:effectLst/>
                          <a:latin typeface="Arial" charset="0"/>
                        </a:rPr>
                        <a:t> </a:t>
                      </a:r>
                      <a:r>
                        <a:rPr kumimoji="0" lang="de-DE" sz="1600" b="0" i="0" u="none" strike="noStrike" cap="none" normalizeH="0" baseline="0" dirty="0" err="1">
                          <a:ln>
                            <a:noFill/>
                          </a:ln>
                          <a:solidFill>
                            <a:schemeClr val="tx1"/>
                          </a:solidFill>
                          <a:effectLst/>
                          <a:latin typeface="Arial" charset="0"/>
                        </a:rPr>
                        <a:t>till</a:t>
                      </a:r>
                      <a:r>
                        <a:rPr kumimoji="0" lang="de-DE" sz="1600" b="0" i="0" u="none" strike="noStrike" cap="none" normalizeH="0" baseline="0" dirty="0">
                          <a:ln>
                            <a:noFill/>
                          </a:ln>
                          <a:solidFill>
                            <a:schemeClr val="tx1"/>
                          </a:solidFill>
                          <a:effectLst/>
                          <a:latin typeface="Arial" charset="0"/>
                        </a:rPr>
                        <a:t> 2011)</a:t>
                      </a:r>
                    </a:p>
                  </a:txBody>
                  <a:tcPr marL="90000" marR="90000" marT="46807" marB="46807"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Foliennummernplatzhalter 3">
            <a:extLst>
              <a:ext uri="{FF2B5EF4-FFF2-40B4-BE49-F238E27FC236}">
                <a16:creationId xmlns:a16="http://schemas.microsoft.com/office/drawing/2014/main" id="{BC537DD9-8D5C-B456-0DD5-F8E430C9682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7D0F3A51-61BD-124E-A51D-F6D863737E3B}" type="slidenum">
              <a:rPr lang="de-DE" altLang="zh-CN" sz="900">
                <a:solidFill>
                  <a:srgbClr val="394073"/>
                </a:solidFill>
              </a:rPr>
              <a:pPr/>
              <a:t>37</a:t>
            </a:fld>
            <a:r>
              <a:rPr lang="de-DE" altLang="zh-CN" sz="900">
                <a:solidFill>
                  <a:srgbClr val="394073"/>
                </a:solidFill>
              </a:rPr>
              <a:t>/29</a:t>
            </a:r>
          </a:p>
        </p:txBody>
      </p:sp>
      <p:sp>
        <p:nvSpPr>
          <p:cNvPr id="76803" name="Rectangle 2">
            <a:extLst>
              <a:ext uri="{FF2B5EF4-FFF2-40B4-BE49-F238E27FC236}">
                <a16:creationId xmlns:a16="http://schemas.microsoft.com/office/drawing/2014/main" id="{21E74F0F-D80A-3413-D7A1-601175FE8968}"/>
              </a:ext>
            </a:extLst>
          </p:cNvPr>
          <p:cNvSpPr>
            <a:spLocks noGrp="1" noChangeArrowheads="1"/>
          </p:cNvSpPr>
          <p:nvPr>
            <p:ph type="title"/>
          </p:nvPr>
        </p:nvSpPr>
        <p:spPr/>
        <p:txBody>
          <a:bodyPr/>
          <a:lstStyle/>
          <a:p>
            <a:r>
              <a:rPr lang="de-DE" altLang="zh-CN">
                <a:ea typeface="ＭＳ Ｐゴシック" panose="020B0600070205080204" pitchFamily="34" charset="-128"/>
              </a:rPr>
              <a:t>Lessons Learned</a:t>
            </a:r>
          </a:p>
        </p:txBody>
      </p:sp>
      <p:sp>
        <p:nvSpPr>
          <p:cNvPr id="76804" name="Rectangle 3">
            <a:extLst>
              <a:ext uri="{FF2B5EF4-FFF2-40B4-BE49-F238E27FC236}">
                <a16:creationId xmlns:a16="http://schemas.microsoft.com/office/drawing/2014/main" id="{C6CD2401-A74D-8EB9-76DC-2A95C3C70024}"/>
              </a:ext>
            </a:extLst>
          </p:cNvPr>
          <p:cNvSpPr>
            <a:spLocks noGrp="1" noChangeArrowheads="1"/>
          </p:cNvSpPr>
          <p:nvPr>
            <p:ph type="body" idx="1"/>
          </p:nvPr>
        </p:nvSpPr>
        <p:spPr>
          <a:xfrm>
            <a:off x="755650" y="1128713"/>
            <a:ext cx="7632700" cy="4532312"/>
          </a:xfrm>
        </p:spPr>
        <p:txBody>
          <a:bodyPr/>
          <a:lstStyle/>
          <a:p>
            <a:r>
              <a:rPr lang="en-US" altLang="zh-CN">
                <a:ea typeface="ＭＳ Ｐゴシック" panose="020B0600070205080204" pitchFamily="34" charset="-128"/>
              </a:rPr>
              <a:t>DES was the dominant symmetric encryption algorithm from the mid-1970s to the mid-1990s. Since 56-bit keys are no longer secure, the Advanced Encryption Standard (AES) was created.</a:t>
            </a:r>
          </a:p>
          <a:p>
            <a:endParaRPr lang="en-US" altLang="zh-CN" sz="1000">
              <a:ea typeface="ＭＳ Ｐゴシック" panose="020B0600070205080204" pitchFamily="34" charset="-128"/>
            </a:endParaRPr>
          </a:p>
          <a:p>
            <a:r>
              <a:rPr lang="en-US" altLang="zh-CN">
                <a:ea typeface="ＭＳ Ｐゴシック" panose="020B0600070205080204" pitchFamily="34" charset="-128"/>
              </a:rPr>
              <a:t>Standard DES with 56-bit key length can be broken relatively easily nowadays through an exhaustive key search.</a:t>
            </a:r>
          </a:p>
          <a:p>
            <a:endParaRPr lang="en-US" altLang="zh-CN" sz="1000">
              <a:ea typeface="ＭＳ Ｐゴシック" panose="020B0600070205080204" pitchFamily="34" charset="-128"/>
            </a:endParaRPr>
          </a:p>
          <a:p>
            <a:r>
              <a:rPr lang="en-US" altLang="zh-CN">
                <a:ea typeface="ＭＳ Ｐゴシック" panose="020B0600070205080204" pitchFamily="34" charset="-128"/>
              </a:rPr>
              <a:t>DES is quite robust against known analytical attacks: In practice it is very difficult to break the cipher with differential or linear cryptanalysis.</a:t>
            </a:r>
          </a:p>
          <a:p>
            <a:endParaRPr lang="en-US" altLang="zh-CN" sz="1000">
              <a:ea typeface="ＭＳ Ｐゴシック" panose="020B0600070205080204" pitchFamily="34" charset="-128"/>
            </a:endParaRPr>
          </a:p>
          <a:p>
            <a:r>
              <a:rPr lang="en-US" altLang="zh-CN">
                <a:ea typeface="ＭＳ Ｐゴシック" panose="020B0600070205080204" pitchFamily="34" charset="-128"/>
              </a:rPr>
              <a:t>By encrypting with DES three times in a row, triple DES (3DES) is created, against which no practical attack is currently known.</a:t>
            </a:r>
          </a:p>
          <a:p>
            <a:endParaRPr lang="en-US" altLang="zh-CN" sz="1000">
              <a:ea typeface="ＭＳ Ｐゴシック" panose="020B0600070205080204" pitchFamily="34" charset="-128"/>
            </a:endParaRPr>
          </a:p>
          <a:p>
            <a:r>
              <a:rPr lang="en-US" altLang="zh-CN">
                <a:ea typeface="ＭＳ Ｐゴシック" panose="020B0600070205080204" pitchFamily="34" charset="-128"/>
              </a:rPr>
              <a:t>The </a:t>
            </a:r>
            <a:r>
              <a:rPr lang="ja-JP" altLang="en-US">
                <a:ea typeface="ＭＳ Ｐゴシック" panose="020B0600070205080204" pitchFamily="34" charset="-128"/>
              </a:rPr>
              <a:t>“</a:t>
            </a:r>
            <a:r>
              <a:rPr lang="en-US" altLang="ja-JP">
                <a:ea typeface="ＭＳ Ｐゴシック" panose="020B0600070205080204" pitchFamily="34" charset="-128"/>
              </a:rPr>
              <a:t>default</a:t>
            </a:r>
            <a:r>
              <a:rPr lang="ja-JP" altLang="en-US">
                <a:ea typeface="ＭＳ Ｐゴシック" panose="020B0600070205080204" pitchFamily="34" charset="-128"/>
              </a:rPr>
              <a:t>”</a:t>
            </a:r>
            <a:r>
              <a:rPr lang="en-US" altLang="ja-JP">
                <a:ea typeface="ＭＳ Ｐゴシック" panose="020B0600070205080204" pitchFamily="34" charset="-128"/>
              </a:rPr>
              <a:t> symmetric cipher is nowadays often AES. In addition, the other four AES finalist ciphers all seem very secure and efficient.</a:t>
            </a:r>
            <a:endParaRPr lang="en-US" altLang="zh-CN">
              <a:ea typeface="ＭＳ Ｐゴシック" panose="020B0600070205080204" pitchFamily="34" charset="-128"/>
            </a:endParaRP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84"/>
  <p:tag name="DEFAULTHEIGHT" val="319"/>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Folie 1 - &amp;quot;  Understanding Cryptography – A Textbook for Students and Practitioners&amp;#x0D;&amp;#x0A;by Christof Paar and Jan Pelzl&amp;#x0D;&amp;#x0A;&amp;#x0D;&amp;#x0A;www.crypto&quot;/&gt;&lt;property id=&quot;20307&quot; value=&quot;368&quot;/&gt;&lt;/object&gt;&lt;object type=&quot;3&quot; unique_id=&quot;10005&quot;&gt;&lt;property id=&quot;20148&quot; value=&quot;5&quot;/&gt;&lt;property id=&quot;20300&quot; value=&quot;Folie 2 - &amp;quot;Some legal stuff (sorry): Terms of Use &amp;quot;&quot;/&gt;&lt;property id=&quot;20307&quot; value=&quot;415&quot;/&gt;&lt;/object&gt;&lt;object type=&quot;3&quot; unique_id=&quot;10006&quot;&gt;&lt;property id=&quot;20148&quot; value=&quot;5&quot;/&gt;&lt;property id=&quot;20300&quot; value=&quot;Folie 3 - &amp;quot;Content of this Chapter&amp;quot;&quot;/&gt;&lt;property id=&quot;20307&quot; value=&quot;261&quot;/&gt;&lt;/object&gt;&lt;object type=&quot;3&quot; unique_id=&quot;10007&quot;&gt;&lt;property id=&quot;20148&quot; value=&quot;5&quot;/&gt;&lt;property id=&quot;20300&quot; value=&quot;Folie 4 - &amp;quot;Content of this Chapter&amp;quot;&quot;/&gt;&lt;property id=&quot;20307&quot; value=&quot;442&quot;/&gt;&lt;/object&gt;&lt;object type=&quot;3&quot; unique_id=&quot;10009&quot;&gt;&lt;property id=&quot;20148&quot; value=&quot;5&quot;/&gt;&lt;property id=&quot;20300&quot; value=&quot;Folie 5 - &amp;quot;Classification of DES in the Field of Cryptology&amp;quot;&quot;/&gt;&lt;property id=&quot;20307&quot; value=&quot;394&quot;/&gt;&lt;/object&gt;&lt;object type=&quot;3&quot; unique_id=&quot;10010&quot;&gt;&lt;property id=&quot;20148&quot; value=&quot;5&quot;/&gt;&lt;property id=&quot;20300&quot; value=&quot;Folie 6 - &amp;quot;DES Facts&amp;quot;&quot;/&gt;&lt;property id=&quot;20307&quot; value=&quot;265&quot;/&gt;&lt;/object&gt;&lt;object type=&quot;3&quot; unique_id=&quot;10011&quot;&gt;&lt;property id=&quot;20148&quot; value=&quot;5&quot;/&gt;&lt;property id=&quot;20300&quot; value=&quot;Folie 7 - &amp;quot;Block Cipher Primitives: Confusion and Diffusion&amp;quot;&quot;/&gt;&lt;property id=&quot;20307&quot; value=&quot;444&quot;/&gt;&lt;/object&gt;&lt;object type=&quot;3&quot; unique_id=&quot;10012&quot;&gt;&lt;property id=&quot;20148&quot; value=&quot;5&quot;/&gt;&lt;property id=&quot;20300&quot; value=&quot;Folie 8 - &amp;quot;Product Ciphers&amp;quot;&quot;/&gt;&lt;property id=&quot;20307&quot; value=&quot;445&quot;/&gt;&lt;/object&gt;&lt;object type=&quot;3&quot; unique_id=&quot;10013&quot;&gt;&lt;property id=&quot;20148&quot; value=&quot;5&quot;/&gt;&lt;property id=&quot;20300&quot; value=&quot;Folie 9 - &amp;quot;Content of this Chapter&amp;quot;&quot;/&gt;&lt;property id=&quot;20307&quot; value=&quot;443&quot;/&gt;&lt;/object&gt;&lt;object type=&quot;3&quot; unique_id=&quot;10014&quot;&gt;&lt;property id=&quot;20148&quot; value=&quot;5&quot;/&gt;&lt;property id=&quot;20300&quot; value=&quot;Folie 10 - &amp;quot;Overview of the DES Algorithm&amp;quot;&quot;/&gt;&lt;property id=&quot;20307&quot; value=&quot;266&quot;/&gt;&lt;/object&gt;&lt;object type=&quot;3&quot; unique_id=&quot;10015&quot;&gt;&lt;property id=&quot;20148&quot; value=&quot;5&quot;/&gt;&lt;property id=&quot;20300&quot; value=&quot;Folie 11 - &amp;quot;The DES Feistel Network (1)&amp;quot;&quot;/&gt;&lt;property id=&quot;20307&quot; value=&quot;446&quot;/&gt;&lt;/object&gt;&lt;object type=&quot;3&quot; unique_id=&quot;10016&quot;&gt;&lt;property id=&quot;20148&quot; value=&quot;5&quot;/&gt;&lt;property id=&quot;20300&quot; value=&quot;Folie 12 - &amp;quot;The DES Feistel Network (2)&amp;quot;&quot;/&gt;&lt;property id=&quot;20307&quot; value=&quot;447&quot;/&gt;&lt;/object&gt;&lt;object type=&quot;3&quot; unique_id=&quot;10017&quot;&gt;&lt;property id=&quot;20148&quot; value=&quot;5&quot;/&gt;&lt;property id=&quot;20300&quot; value=&quot;Folie 13 - &amp;quot;Content of this Chapter&amp;quot;&quot;/&gt;&lt;property id=&quot;20307&quot; value=&quot;448&quot;/&gt;&lt;/object&gt;&lt;object type=&quot;3&quot; unique_id=&quot;10018&quot;&gt;&lt;property id=&quot;20148&quot; value=&quot;5&quot;/&gt;&lt;property id=&quot;20300&quot; value=&quot;Folie 14 - &amp;quot;Initial and Final Permutation&amp;quot;&quot;/&gt;&lt;property id=&quot;20307&quot; value=&quot;422&quot;/&gt;&lt;/object&gt;&lt;object type=&quot;3&quot; unique_id=&quot;10019&quot;&gt;&lt;property id=&quot;20148&quot; value=&quot;5&quot;/&gt;&lt;property id=&quot;20300&quot; value=&quot;Folie 15 - &amp;quot;The f-Function&amp;quot;&quot;/&gt;&lt;property id=&quot;20307&quot; value=&quot;419&quot;/&gt;&lt;/object&gt;&lt;object type=&quot;3&quot; unique_id=&quot;10020&quot;&gt;&lt;property id=&quot;20148&quot; value=&quot;5&quot;/&gt;&lt;property id=&quot;20300&quot; value=&quot;Folie 16 - &amp;quot;The Expansion Function E&amp;quot;&quot;/&gt;&lt;property id=&quot;20307&quot; value=&quot;449&quot;/&gt;&lt;/object&gt;&lt;object type=&quot;3&quot; unique_id=&quot;10021&quot;&gt;&lt;property id=&quot;20148&quot; value=&quot;5&quot;/&gt;&lt;property id=&quot;20300&quot; value=&quot;Folie 18 - &amp;quot;The DES S-Boxes&amp;quot;&quot;/&gt;&lt;property id=&quot;20307&quot; value=&quot;450&quot;/&gt;&lt;/object&gt;&lt;object type=&quot;3&quot; unique_id=&quot;10022&quot;&gt;&lt;property id=&quot;20148&quot; value=&quot;5&quot;/&gt;&lt;property id=&quot;20300&quot; value=&quot;Folie 19 - &amp;quot;The Permutation P&amp;quot;&quot;/&gt;&lt;property id=&quot;20307&quot; value=&quot;451&quot;/&gt;&lt;/object&gt;&lt;object type=&quot;3&quot; unique_id=&quot;10023&quot;&gt;&lt;property id=&quot;20148&quot; value=&quot;5&quot;/&gt;&lt;property id=&quot;20300&quot; value=&quot;Folie 20 - &amp;quot;Key Schedule (1)&amp;quot;&quot;/&gt;&lt;property id=&quot;20307&quot; value=&quot;270&quot;/&gt;&lt;/object&gt;&lt;object type=&quot;3&quot; unique_id=&quot;10025&quot;&gt;&lt;property id=&quot;20148&quot; value=&quot;5&quot;/&gt;&lt;property id=&quot;20300&quot; value=&quot;Folie 23 - &amp;quot;Decryption &amp;quot;&quot;/&gt;&lt;property id=&quot;20307&quot; value=&quot;271&quot;/&gt;&lt;/object&gt;&lt;object type=&quot;3&quot; unique_id=&quot;10026&quot;&gt;&lt;property id=&quot;20148&quot; value=&quot;5&quot;/&gt;&lt;property id=&quot;20300&quot; value=&quot;Folie 25 - &amp;quot;Security of DES&amp;quot;&quot;/&gt;&lt;property id=&quot;20307&quot; value=&quot;272&quot;/&gt;&lt;/object&gt;&lt;object type=&quot;3&quot; unique_id=&quot;10028&quot;&gt;&lt;property id=&quot;20148&quot; value=&quot;5&quot;/&gt;&lt;property id=&quot;20300&quot; value=&quot;Folie 26 - &amp;quot;History of Attacks on DES&amp;quot;&quot;/&gt;&lt;property id=&quot;20307&quot; value=&quot;428&quot;/&gt;&lt;/object&gt;&lt;object type=&quot;3&quot; unique_id=&quot;10029&quot;&gt;&lt;property id=&quot;20148&quot; value=&quot;5&quot;/&gt;&lt;property id=&quot;20300&quot; value=&quot;Folie 28 - &amp;quot;Alternatives to DES&amp;quot;&quot;/&gt;&lt;property id=&quot;20307&quot; value=&quot;273&quot;/&gt;&lt;/object&gt;&lt;object type=&quot;3&quot; unique_id=&quot;10042&quot;&gt;&lt;property id=&quot;20148&quot; value=&quot;5&quot;/&gt;&lt;property id=&quot;20300&quot; value=&quot;Folie 29 - &amp;quot;Lessons Learned&amp;quot;&quot;/&gt;&lt;property id=&quot;20307&quot; value=&quot;441&quot;/&gt;&lt;/object&gt;&lt;object type=&quot;3&quot; unique_id=&quot;10289&quot;&gt;&lt;property id=&quot;20148&quot; value=&quot;5&quot;/&gt;&lt;property id=&quot;20300&quot; value=&quot;Folie 17 - &amp;quot;Add Round Key&amp;quot;&quot;/&gt;&lt;property id=&quot;20307&quot; value=&quot;452&quot;/&gt;&lt;/object&gt;&lt;object type=&quot;3&quot; unique_id=&quot;10290&quot;&gt;&lt;property id=&quot;20148&quot; value=&quot;5&quot;/&gt;&lt;property id=&quot;20300&quot; value=&quot;Folie 21 - &amp;quot;Key Schedule (2)&amp;quot;&quot;/&gt;&lt;property id=&quot;20307&quot; value=&quot;453&quot;/&gt;&lt;/object&gt;&lt;object type=&quot;3&quot; unique_id=&quot;10291&quot;&gt;&lt;property id=&quot;20148&quot; value=&quot;5&quot;/&gt;&lt;property id=&quot;20300&quot; value=&quot;Folie 22 - &amp;quot;Content of this Chapter&amp;quot;&quot;/&gt;&lt;property id=&quot;20307&quot; value=&quot;454&quot;/&gt;&lt;/object&gt;&lt;object type=&quot;3&quot; unique_id=&quot;10292&quot;&gt;&lt;property id=&quot;20148&quot; value=&quot;5&quot;/&gt;&lt;property id=&quot;20300&quot; value=&quot;Folie 24 - &amp;quot;Content of this Chapter&amp;quot;&quot;/&gt;&lt;property id=&quot;20307&quot; value=&quot;455&quot;/&gt;&lt;/object&gt;&lt;object type=&quot;3&quot; unique_id=&quot;10293&quot;&gt;&lt;property id=&quot;20148&quot; value=&quot;5&quot;/&gt;&lt;property id=&quot;20300&quot; value=&quot;Folie 27 - &amp;quot;Triple DES – 3DES&amp;quot;&quot;/&gt;&lt;property id=&quot;20307&quot; value=&quot;456&quot;/&gt;&lt;/object&gt;&lt;/object&gt;&lt;/object&gt;&lt;/database&gt;"/>
  <p:tag name="SECTOMILLISECCONVERTED" val="1"/>
</p:tagLst>
</file>

<file path=ppt/theme/theme1.xml><?xml version="1.0" encoding="utf-8"?>
<a:theme xmlns:a="http://schemas.openxmlformats.org/drawingml/2006/main" name="Folienvorlage2">
  <a:themeElements>
    <a:clrScheme name="Folienvorlage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Folienvorlage2">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Folienvorlage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olienvorlage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Folienvorlage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olienvorlage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olienvorlage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olienvorlage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Folienvorlage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Folienvorlage2</Template>
  <TotalTime>1005</TotalTime>
  <Words>2814</Words>
  <Application>Microsoft Macintosh PowerPoint</Application>
  <PresentationFormat>全屏显示(4:3)</PresentationFormat>
  <Paragraphs>449</Paragraphs>
  <Slides>37</Slides>
  <Notes>31</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37</vt:i4>
      </vt:variant>
    </vt:vector>
  </HeadingPairs>
  <TitlesOfParts>
    <vt:vector size="44" baseType="lpstr">
      <vt:lpstr>ＭＳ Ｐゴシック</vt:lpstr>
      <vt:lpstr>Arial</vt:lpstr>
      <vt:lpstr>Calibri</vt:lpstr>
      <vt:lpstr>Times New Roman</vt:lpstr>
      <vt:lpstr>Webdings</vt:lpstr>
      <vt:lpstr>Folienvorlage2</vt:lpstr>
      <vt:lpstr>1_Lecture</vt:lpstr>
      <vt:lpstr>    Chapter 3 – The Data Encryption Standard (DES) </vt:lpstr>
      <vt:lpstr>Content of this Chapter</vt:lpstr>
      <vt:lpstr>Content of this Chapter</vt:lpstr>
      <vt:lpstr>Classification of DES in the Field of Cryptology</vt:lpstr>
      <vt:lpstr>DES Facts</vt:lpstr>
      <vt:lpstr>Block Cipher Primitives: Confusion and Diffusion</vt:lpstr>
      <vt:lpstr>Product Ciphers</vt:lpstr>
      <vt:lpstr>Design Paradigm: Substitution-Permutation Network</vt:lpstr>
      <vt:lpstr>Three Round of a Substitution-Permutation Network</vt:lpstr>
      <vt:lpstr>Avalanche Effect in DES: Change in Plaintext</vt:lpstr>
      <vt:lpstr>Avalanche Effect in DES: Change in Key</vt:lpstr>
      <vt:lpstr>Content of this Chapter</vt:lpstr>
      <vt:lpstr>Overview of the DES Algorithm</vt:lpstr>
      <vt:lpstr>The DES Feistel Network (1)</vt:lpstr>
      <vt:lpstr>The DES Feistel Network (2)</vt:lpstr>
      <vt:lpstr>Content of this Chapter</vt:lpstr>
      <vt:lpstr>Initial and Final Permutation</vt:lpstr>
      <vt:lpstr>The f-Function</vt:lpstr>
      <vt:lpstr>The Expansion Function E</vt:lpstr>
      <vt:lpstr>Add Round Key</vt:lpstr>
      <vt:lpstr>The DES S-Boxes</vt:lpstr>
      <vt:lpstr>The S-boxes</vt:lpstr>
      <vt:lpstr>The Permutation P</vt:lpstr>
      <vt:lpstr>Key Schedule (1)</vt:lpstr>
      <vt:lpstr>Key Schedule (2)</vt:lpstr>
      <vt:lpstr>Content of this Chapter</vt:lpstr>
      <vt:lpstr>Decryption </vt:lpstr>
      <vt:lpstr>DES:  core idea – Feistel Network</vt:lpstr>
      <vt:lpstr>PowerPoint 演示文稿</vt:lpstr>
      <vt:lpstr>PowerPoint 演示文稿</vt:lpstr>
      <vt:lpstr>Decryption circuit</vt:lpstr>
      <vt:lpstr>Content of this Chapter</vt:lpstr>
      <vt:lpstr>Security of DES</vt:lpstr>
      <vt:lpstr>History of Attacks on DES</vt:lpstr>
      <vt:lpstr>Triple DES – 3DES</vt:lpstr>
      <vt:lpstr>Alternatives to DES</vt:lpstr>
      <vt:lpstr>Lessons Learned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subject>Auswertung</dc:subject>
  <dc:creator>Jan Pelzl</dc:creator>
  <cp:lastModifiedBy>Jing Liu</cp:lastModifiedBy>
  <cp:revision>517</cp:revision>
  <cp:lastPrinted>2003-07-29T11:52:19Z</cp:lastPrinted>
  <dcterms:created xsi:type="dcterms:W3CDTF">2004-07-26T14:24:04Z</dcterms:created>
  <dcterms:modified xsi:type="dcterms:W3CDTF">2024-09-30T00:35:33Z</dcterms:modified>
</cp:coreProperties>
</file>